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bf083084a4cf4f24" /><Relationship Type="http://schemas.openxmlformats.org/officeDocument/2006/relationships/extended-properties" Target="/docProps/app.xml" Id="R84d9e333fbcf4ef2" /><Relationship Type="http://schemas.openxmlformats.org/officeDocument/2006/relationships/officeDocument" Target="/ppt/presentation.xml" Id="Re134ca3a372b44b5" /></Relationships>
</file>

<file path=ppt/presentation.xml><?xml version="1.0" encoding="utf-8"?>
<p:presentation xmlns:p="http://schemas.openxmlformats.org/presentationml/2006/main">
  <p:sldMasterIdLst>
    <p:sldMasterId xmlns:r="http://schemas.openxmlformats.org/officeDocument/2006/relationships" id="2147483648" r:id="R84eadb1f28fb4f83"/>
  </p:sldMasterIdLst>
  <p:notesMasterIdLst>
    <p:notesMasterId xmlns:r="http://schemas.openxmlformats.org/officeDocument/2006/relationships" r:id="Rbb5a737ac96e4e2e"/>
  </p:notesMasterIdLst>
  <p:sldIdLst>
    <p:sldId xmlns:r="http://schemas.openxmlformats.org/officeDocument/2006/relationships" id="256" r:id="Rc24eb59950c44ee0"/>
    <p:sldId xmlns:r="http://schemas.openxmlformats.org/officeDocument/2006/relationships" id="257" r:id="R2d45e1aa99d44cd3"/>
    <p:sldId xmlns:r="http://schemas.openxmlformats.org/officeDocument/2006/relationships" id="258" r:id="Ra602d9409b0540ac"/>
    <p:sldId xmlns:r="http://schemas.openxmlformats.org/officeDocument/2006/relationships" id="259" r:id="R584dae359adf4e6d"/>
    <p:sldId xmlns:r="http://schemas.openxmlformats.org/officeDocument/2006/relationships" id="260" r:id="R5584d0b387364a25"/>
    <p:sldId xmlns:r="http://schemas.openxmlformats.org/officeDocument/2006/relationships" id="261" r:id="R0005c2f09afd4d02"/>
    <p:sldId xmlns:r="http://schemas.openxmlformats.org/officeDocument/2006/relationships" id="262" r:id="Rcbb3b518b73a4b1f"/>
    <p:sldId xmlns:r="http://schemas.openxmlformats.org/officeDocument/2006/relationships" id="263" r:id="R8c2f4c57c4aa42f2"/>
    <p:sldId xmlns:r="http://schemas.openxmlformats.org/officeDocument/2006/relationships" id="264" r:id="R3406378ac5e04ded"/>
    <p:sldId xmlns:r="http://schemas.openxmlformats.org/officeDocument/2006/relationships" id="265" r:id="R0d0fbcf3f8b247ca"/>
    <p:sldId xmlns:r="http://schemas.openxmlformats.org/officeDocument/2006/relationships" id="266" r:id="R4aac9c09e5084085"/>
    <p:sldId xmlns:r="http://schemas.openxmlformats.org/officeDocument/2006/relationships" id="267" r:id="Rf1679ce93c00476b"/>
    <p:sldId xmlns:r="http://schemas.openxmlformats.org/officeDocument/2006/relationships" id="268" r:id="R2d48222bee424bc4"/>
    <p:sldId xmlns:r="http://schemas.openxmlformats.org/officeDocument/2006/relationships" id="269" r:id="R55ef97810cbd47ff"/>
    <p:sldId xmlns:r="http://schemas.openxmlformats.org/officeDocument/2006/relationships" id="270" r:id="R5b04dac1fedd45d1"/>
    <p:sldId xmlns:r="http://schemas.openxmlformats.org/officeDocument/2006/relationships" id="271" r:id="R0ba4dd63a8e0424f"/>
    <p:sldId xmlns:r="http://schemas.openxmlformats.org/officeDocument/2006/relationships" id="272" r:id="Rf80513c7dd9f4b41"/>
    <p:sldId xmlns:r="http://schemas.openxmlformats.org/officeDocument/2006/relationships" id="273" r:id="R2b0e803465894db2"/>
    <p:sldId xmlns:r="http://schemas.openxmlformats.org/officeDocument/2006/relationships" id="274" r:id="Re2334d2cb9df4e26"/>
    <p:sldId xmlns:r="http://schemas.openxmlformats.org/officeDocument/2006/relationships" id="275" r:id="Rdef1ef7e0456422c"/>
    <p:sldId xmlns:r="http://schemas.openxmlformats.org/officeDocument/2006/relationships" id="276" r:id="Rdedd7b6c6a9541e1"/>
    <p:sldId xmlns:r="http://schemas.openxmlformats.org/officeDocument/2006/relationships" id="277" r:id="R847d273b30094202"/>
    <p:sldId xmlns:r="http://schemas.openxmlformats.org/officeDocument/2006/relationships" id="278" r:id="Ra9767f1e497c4e52"/>
    <p:sldId xmlns:r="http://schemas.openxmlformats.org/officeDocument/2006/relationships" id="279" r:id="Re02342af6b1a4a54"/>
    <p:sldId xmlns:r="http://schemas.openxmlformats.org/officeDocument/2006/relationships" id="280" r:id="R897e8dfeda064186"/>
    <p:sldId xmlns:r="http://schemas.openxmlformats.org/officeDocument/2006/relationships" id="281" r:id="Ra60abe02309f49c7"/>
    <p:sldId xmlns:r="http://schemas.openxmlformats.org/officeDocument/2006/relationships" id="282" r:id="R8ecbb2ba50a6440a"/>
    <p:sldId xmlns:r="http://schemas.openxmlformats.org/officeDocument/2006/relationships" id="283" r:id="R8a82106dd1584e6a"/>
    <p:sldId xmlns:r="http://schemas.openxmlformats.org/officeDocument/2006/relationships" id="284" r:id="R4251e48241c84bcc"/>
    <p:sldId xmlns:r="http://schemas.openxmlformats.org/officeDocument/2006/relationships" id="285" r:id="R716da1e59de94c20"/>
    <p:sldId xmlns:r="http://schemas.openxmlformats.org/officeDocument/2006/relationships" id="286" r:id="R3a4d66a95baa438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1c41c1c0404f6a" /><Relationship Type="http://schemas.openxmlformats.org/officeDocument/2006/relationships/slideMaster" Target="/ppt/slideMasters/slideMaster1.xml" Id="R84eadb1f28fb4f83" /><Relationship Type="http://schemas.openxmlformats.org/officeDocument/2006/relationships/notesMaster" Target="/ppt/notesMasters/notesMaster1.xml" Id="Rbb5a737ac96e4e2e" /><Relationship Type="http://schemas.openxmlformats.org/officeDocument/2006/relationships/presProps" Target="/ppt/presProps.xml" Id="R99730b4710824fb7" /><Relationship Type="http://schemas.openxmlformats.org/officeDocument/2006/relationships/tableStyles" Target="/ppt/tableStyles.xml" Id="R8d9272cc61764984" /><Relationship Type="http://schemas.openxmlformats.org/officeDocument/2006/relationships/slide" Target="/ppt/slides/slide1.xml" Id="Rc24eb59950c44ee0" /><Relationship Type="http://schemas.openxmlformats.org/officeDocument/2006/relationships/slide" Target="/ppt/slides/slide2.xml" Id="R2d45e1aa99d44cd3" /><Relationship Type="http://schemas.openxmlformats.org/officeDocument/2006/relationships/slide" Target="/ppt/slides/slide3.xml" Id="Ra602d9409b0540ac" /><Relationship Type="http://schemas.openxmlformats.org/officeDocument/2006/relationships/slide" Target="/ppt/slides/slide4.xml" Id="R584dae359adf4e6d" /><Relationship Type="http://schemas.openxmlformats.org/officeDocument/2006/relationships/slide" Target="/ppt/slides/slide5.xml" Id="R5584d0b387364a25" /><Relationship Type="http://schemas.openxmlformats.org/officeDocument/2006/relationships/slide" Target="/ppt/slides/slide6.xml" Id="R0005c2f09afd4d02" /><Relationship Type="http://schemas.openxmlformats.org/officeDocument/2006/relationships/slide" Target="/ppt/slides/slide7.xml" Id="Rcbb3b518b73a4b1f" /><Relationship Type="http://schemas.openxmlformats.org/officeDocument/2006/relationships/slide" Target="/ppt/slides/slide8.xml" Id="R8c2f4c57c4aa42f2" /><Relationship Type="http://schemas.openxmlformats.org/officeDocument/2006/relationships/slide" Target="/ppt/slides/slide9.xml" Id="R3406378ac5e04ded" /><Relationship Type="http://schemas.openxmlformats.org/officeDocument/2006/relationships/slide" Target="/ppt/slides/slide10.xml" Id="R0d0fbcf3f8b247ca" /><Relationship Type="http://schemas.openxmlformats.org/officeDocument/2006/relationships/slide" Target="/ppt/slides/slide11.xml" Id="R4aac9c09e5084085" /><Relationship Type="http://schemas.openxmlformats.org/officeDocument/2006/relationships/slide" Target="/ppt/slides/slide12.xml" Id="Rf1679ce93c00476b" /><Relationship Type="http://schemas.openxmlformats.org/officeDocument/2006/relationships/slide" Target="/ppt/slides/slide13.xml" Id="R2d48222bee424bc4" /><Relationship Type="http://schemas.openxmlformats.org/officeDocument/2006/relationships/slide" Target="/ppt/slides/slide14.xml" Id="R55ef97810cbd47ff" /><Relationship Type="http://schemas.openxmlformats.org/officeDocument/2006/relationships/slide" Target="/ppt/slides/slide15.xml" Id="R5b04dac1fedd45d1" /><Relationship Type="http://schemas.openxmlformats.org/officeDocument/2006/relationships/slide" Target="/ppt/slides/slide16.xml" Id="R0ba4dd63a8e0424f" /><Relationship Type="http://schemas.openxmlformats.org/officeDocument/2006/relationships/slide" Target="/ppt/slides/slide17.xml" Id="Rf80513c7dd9f4b41" /><Relationship Type="http://schemas.openxmlformats.org/officeDocument/2006/relationships/slide" Target="/ppt/slides/slide18.xml" Id="R2b0e803465894db2" /><Relationship Type="http://schemas.openxmlformats.org/officeDocument/2006/relationships/slide" Target="/ppt/slides/slide19.xml" Id="Re2334d2cb9df4e26" /><Relationship Type="http://schemas.openxmlformats.org/officeDocument/2006/relationships/slide" Target="/ppt/slides/slide20.xml" Id="Rdef1ef7e0456422c" /><Relationship Type="http://schemas.openxmlformats.org/officeDocument/2006/relationships/slide" Target="/ppt/slides/slide21.xml" Id="Rdedd7b6c6a9541e1" /><Relationship Type="http://schemas.openxmlformats.org/officeDocument/2006/relationships/slide" Target="/ppt/slides/slide22.xml" Id="R847d273b30094202" /><Relationship Type="http://schemas.openxmlformats.org/officeDocument/2006/relationships/slide" Target="/ppt/slides/slide23.xml" Id="Ra9767f1e497c4e52" /><Relationship Type="http://schemas.openxmlformats.org/officeDocument/2006/relationships/slide" Target="/ppt/slides/slide24.xml" Id="Re02342af6b1a4a54" /><Relationship Type="http://schemas.openxmlformats.org/officeDocument/2006/relationships/slide" Target="/ppt/slides/slide25.xml" Id="R897e8dfeda064186" /><Relationship Type="http://schemas.openxmlformats.org/officeDocument/2006/relationships/slide" Target="/ppt/slides/slide26.xml" Id="Ra60abe02309f49c7" /><Relationship Type="http://schemas.openxmlformats.org/officeDocument/2006/relationships/slide" Target="/ppt/slides/slide27.xml" Id="R8ecbb2ba50a6440a" /><Relationship Type="http://schemas.openxmlformats.org/officeDocument/2006/relationships/slide" Target="/ppt/slides/slide28.xml" Id="R8a82106dd1584e6a" /><Relationship Type="http://schemas.openxmlformats.org/officeDocument/2006/relationships/slide" Target="/ppt/slides/slide29.xml" Id="R4251e48241c84bcc" /><Relationship Type="http://schemas.openxmlformats.org/officeDocument/2006/relationships/slide" Target="/ppt/slides/slide30.xml" Id="R716da1e59de94c20" /><Relationship Type="http://schemas.openxmlformats.org/officeDocument/2006/relationships/slide" Target="/ppt/slides/slide31.xml" Id="R3a4d66a95baa438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8488798d8924a3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8a6a7cbdef4853" /><Relationship Type="http://schemas.openxmlformats.org/officeDocument/2006/relationships/notesMaster" Target="/ppt/notesMasters/notesMaster1.xml" Id="Rd223880fe9d245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50bcdb30047141a4" /><Relationship Type="http://schemas.openxmlformats.org/officeDocument/2006/relationships/notesMaster" Target="/ppt/notesMasters/notesMaster1.xml" Id="R571c2fb829bc4b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ad25d042aa94f9a" /><Relationship Type="http://schemas.openxmlformats.org/officeDocument/2006/relationships/notesMaster" Target="/ppt/notesMasters/notesMaster1.xml" Id="R6ba589180262436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186ec627bd4c80" /><Relationship Type="http://schemas.openxmlformats.org/officeDocument/2006/relationships/notesMaster" Target="/ppt/notesMasters/notesMaster1.xml" Id="Rb6ee0970c3cc4b10" /></Relationships>
</file>

<file path=ppt/notesSlides/_rels/notesSlide5.xml.rels>&#65279;<?xml version="1.0" encoding="utf-8"?><Relationships xmlns="http://schemas.openxmlformats.org/package/2006/relationships"><Relationship Type="http://schemas.openxmlformats.org/officeDocument/2006/relationships/slide" Target="/ppt/slides/slide5.xml" Id="Rf6c93283cb8e4ab6" /><Relationship Type="http://schemas.openxmlformats.org/officeDocument/2006/relationships/notesMaster" Target="/ppt/notesMasters/notesMaster1.xml" Id="R3a13e736ef1d44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d6fdbe70a084862" /><Relationship Type="http://schemas.openxmlformats.org/officeDocument/2006/relationships/notesMaster" Target="/ppt/notesMasters/notesMaster1.xml" Id="Rc6ead00352bb417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4795d772e0b4a7d" /><Relationship Type="http://schemas.openxmlformats.org/officeDocument/2006/relationships/notesMaster" Target="/ppt/notesMasters/notesMaster1.xml" Id="Raca287b9bbdb4e33"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166292b64b47d7" /><Relationship Type="http://schemas.openxmlformats.org/officeDocument/2006/relationships/notesMaster" Target="/ppt/notesMasters/notesMaster1.xml" Id="R94fbe0c12ad245a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f0fbd95628349e8" /><Relationship Type="http://schemas.openxmlformats.org/officeDocument/2006/relationships/notesMaster" Target="/ppt/notesMasters/notesMaster1.xml" Id="Re3cd36cdfbd944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2cc76e596ac474a" /><Relationship Type="http://schemas.openxmlformats.org/officeDocument/2006/relationships/notesMaster" Target="/ppt/notesMasters/notesMaster1.xml" Id="R276ea72021834b7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0a585b378fb4784" /><Relationship Type="http://schemas.openxmlformats.org/officeDocument/2006/relationships/notesMaster" Target="/ppt/notesMasters/notesMaster1.xml" Id="R7c5f3262c1654d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b4c922648344626" /><Relationship Type="http://schemas.openxmlformats.org/officeDocument/2006/relationships/notesMaster" Target="/ppt/notesMasters/notesMaster1.xml" Id="R26b86320068c49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3968a9e894b4df8" /><Relationship Type="http://schemas.openxmlformats.org/officeDocument/2006/relationships/notesMaster" Target="/ppt/notesMasters/notesMaster1.xml" Id="R37a1c2f206514fc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b2a83606b34b70" /><Relationship Type="http://schemas.openxmlformats.org/officeDocument/2006/relationships/notesMaster" Target="/ppt/notesMasters/notesMaster1.xml" Id="Rcec7ff96a0074d9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ca36591b4d44aa8" /><Relationship Type="http://schemas.openxmlformats.org/officeDocument/2006/relationships/notesMaster" Target="/ppt/notesMasters/notesMaster1.xml" Id="R15304032bca049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7b5d8e6d684f43" /><Relationship Type="http://schemas.openxmlformats.org/officeDocument/2006/relationships/notesMaster" Target="/ppt/notesMasters/notesMaster1.xml" Id="Re91db7e18b0c4f5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04a76050c6f4db6" /><Relationship Type="http://schemas.openxmlformats.org/officeDocument/2006/relationships/notesMaster" Target="/ppt/notesMasters/notesMaster1.xml" Id="R7646b60a1f3a4b9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8966e7c0f024756" /><Relationship Type="http://schemas.openxmlformats.org/officeDocument/2006/relationships/notesMaster" Target="/ppt/notesMasters/notesMaster1.xml" Id="Ra9cff444dac34e5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b59f3711de4eff" /><Relationship Type="http://schemas.openxmlformats.org/officeDocument/2006/relationships/notesMaster" Target="/ppt/notesMasters/notesMaster1.xml" Id="Rd2d2e4e88d0748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00965385d814e8a" /><Relationship Type="http://schemas.openxmlformats.org/officeDocument/2006/relationships/notesMaster" Target="/ppt/notesMasters/notesMaster1.xml" Id="R33ed8a8d2a1f4e0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c6f6448c02c467a" /><Relationship Type="http://schemas.openxmlformats.org/officeDocument/2006/relationships/notesMaster" Target="/ppt/notesMasters/notesMaster1.xml" Id="R1fab433d740e43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9a3b05350064e91" /><Relationship Type="http://schemas.openxmlformats.org/officeDocument/2006/relationships/notesMaster" Target="/ppt/notesMasters/notesMaster1.xml" Id="R1724c156fe7341b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351d720dbd34574" /><Relationship Type="http://schemas.openxmlformats.org/officeDocument/2006/relationships/notesMaster" Target="/ppt/notesMasters/notesMaster1.xml" Id="R50118f9be69d478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7b4c9f3ec7445b1" /><Relationship Type="http://schemas.openxmlformats.org/officeDocument/2006/relationships/notesMaster" Target="/ppt/notesMasters/notesMaster1.xml" Id="Rc749c6b81f0b4eb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755d18cc9a94c5e" /><Relationship Type="http://schemas.openxmlformats.org/officeDocument/2006/relationships/notesMaster" Target="/ppt/notesMasters/notesMaster1.xml" Id="Ra784ff3202df461a"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c026fc4a0fb40ad" /><Relationship Type="http://schemas.openxmlformats.org/officeDocument/2006/relationships/notesMaster" Target="/ppt/notesMasters/notesMaster1.xml" Id="Rcee93aca6fe947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9d5782901e84280" /><Relationship Type="http://schemas.openxmlformats.org/officeDocument/2006/relationships/notesMaster" Target="/ppt/notesMasters/notesMaster1.xml" Id="Rc32877a01b3e460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16ea4d4f4b14db5" /><Relationship Type="http://schemas.openxmlformats.org/officeDocument/2006/relationships/notesMaster" Target="/ppt/notesMasters/notesMaster1.xml" Id="R3f908fd5bab6477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41bf3f9af8e406f" /><Relationship Type="http://schemas.openxmlformats.org/officeDocument/2006/relationships/notesMaster" Target="/ppt/notesMasters/notesMaster1.xml" Id="Ra938960746f24d9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f58557b20d145f7" /><Relationship Type="http://schemas.openxmlformats.org/officeDocument/2006/relationships/notesMaster" Target="/ppt/notesMasters/notesMaster1.xml" Id="R07b63c694e784d8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d909162bd794c2e" /><Relationship Type="http://schemas.openxmlformats.org/officeDocument/2006/relationships/notesMaster" Target="/ppt/notesMasters/notesMaster1.xml" Id="R4cc37f540c6743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0–1 minutes (1 minutes)</a:t>
            </a:r>
          </a:p>
          <a:p xmlns:a="http://schemas.openxmlformats.org/drawingml/2006/main">
            <a:r>
              <a:t/>
            </a:r>
          </a:p>
          <a:p xmlns:a="http://schemas.openxmlformats.org/drawingml/2006/main">
            <a:r>
              <a:t>Welcome students. Today prepares you to collect useful evidence and write the four reports required this semester. Ask: If two groups report different frequencies for the same apparatus, what information would help you decide whether either result is trustworthy? Take two brief answers. Explain that the session includes a tour of all six experiments, a detailed report walkthrough, and a short exercise. The report template and syllabus are available on the course site.</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1–1.5 minutes (0.5 minutes)</a:t>
            </a:r>
          </a:p>
          <a:p xmlns:a="http://schemas.openxmlformats.org/drawingml/2006/main">
            <a:r>
              <a:t/>
            </a:r>
          </a:p>
          <a:p xmlns:a="http://schemas.openxmlformats.org/drawingml/2006/main">
            <a:r>
              <a:t>Connect the four stages to the opening question. A believable number needs a measurement method, units, a model with stated assumptions, and an estimate of what might change the conclusion. The report is the record of that reasoning.</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1.5–2 minutes (0.5 minutes)</a:t>
            </a:r>
          </a:p>
          <a:p xmlns:a="http://schemas.openxmlformats.org/drawingml/2006/main">
            <a:r>
              <a:t/>
            </a:r>
          </a:p>
          <a:p xmlns:a="http://schemas.openxmlformats.org/drawingml/2006/main">
            <a:r>
              <a:t>Preview the timing. Tell students that the six experiment introductions are conceptual previews. Detailed procedures and pre-lab requirements come with each experiment. Reserve the exercise time so students practice the distinction between reporting an observation and explaining it.</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 minutes (2 minutes)</a:t>
            </a:r>
          </a:p>
          <a:p xmlns:a="http://schemas.openxmlformats.org/drawingml/2006/main">
            <a:r>
              <a:t/>
            </a:r>
          </a:p>
          <a:p xmlns:a="http://schemas.openxmlformats.org/drawingml/2006/main">
            <a:r>
              <a:t>Introduce the two GTAs, Yuyuan Zhang and Nazila Emamdoost. Ask students to check their own section and GTA in Canvas. September 9 is a one-time Wednesday orientation. Regular theory meetings are on Mondays. There is no regular Wednesday theory meeting. Explain the difference between the 50-minute theory meeting and the scheduled laboratory section. General questions belong in lecture, individual questions in office hours, and email is appropriate when those options are not practical.</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4–6 minutes (2 minutes)</a:t>
            </a:r>
          </a:p>
          <a:p xmlns:a="http://schemas.openxmlformats.org/drawingml/2006/main">
            <a:r>
              <a:t/>
            </a:r>
          </a:p>
          <a:p xmlns:a="http://schemas.openxmlformats.org/drawingml/2006/main">
            <a:r>
              <a:t>Reports account for 75% of the course grade, six pre-labs account for 20%, and participation accounts for 5%. There are four report submissions, not six separate reports. Each combined report should connect its two experiments. Distinguish these course weights from the report rubric: the rubric allocates ten equally weighted criteria within each report. Pre-labs prepare the theory and analysis needed for a productive lab session. Report dates are tentative and Canvas carries updates.</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6–7 minutes (1 minutes)</a:t>
            </a:r>
          </a:p>
          <a:p xmlns:a="http://schemas.openxmlformats.org/drawingml/2006/main">
            <a:r>
              <a:t/>
            </a:r>
          </a:p>
          <a:p xmlns:a="http://schemas.openxmlformats.org/drawingml/2006/main">
            <a:r>
              <a:t>Walk through a concrete example: before the pendulum lab, establish the equation and expected period. During the lab, record the initial angle, geometry, frame rate, and motion. Afterward, keep raw data unchanged and use a traceable analysis to generate the report figures. Check at least one data set before leaving the laboratory so a missing file or poor recording does not become a report-writing problem.</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7–8 minutes (1 minutes)</a:t>
            </a:r>
          </a:p>
          <a:p xmlns:a="http://schemas.openxmlformats.org/drawingml/2006/main">
            <a:r>
              <a:t/>
            </a:r>
          </a:p>
          <a:p xmlns:a="http://schemas.openxmlformats.org/drawingml/2006/main">
            <a:r>
              <a:t>Use the Fall 2026 numbering. Lab 6 is the radiometer. Older course files use Lab 6 for a different apparatus, so direct students to the current Canvas release. The sequence begins with the reliability of measurements, continues through simple and coupled dynamics, and ends with rotation driven by thermal effects. The next six slides describe the measurement question and report evidence for each experiment.</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8–10 minutes (2 minutes)</a:t>
            </a:r>
          </a:p>
          <a:p xmlns:a="http://schemas.openxmlformats.org/drawingml/2006/main">
            <a:r>
              <a:t/>
            </a:r>
          </a:p>
          <a:p xmlns:a="http://schemas.openxmlformats.org/drawingml/2006/main">
            <a:r>
              <a:t>Explain that the sensor produces a time signal but the computer stores only selected samples. For an illustrative 100 Hz tone, 150 samples per second can make it appear as a 50 Hz component, while 1000 samples per second represents the oscillation much better. Ask whether taking more samples at the same inadequate sampling rate removes aliasing. It does not. A longer record gives finer FFT-bin spacing, while a sufficiently high sample rate addresses the sampling limit. Keep sampling rate and record length distinct. The report should compare traces and spectra with axes, units, and acquisition settings. This is a preview, not a substitute for the released procedure.</a:t>
            </a:r>
          </a:p>
          <a:p xmlns:a="http://schemas.openxmlformats.org/drawingml/2006/main">
            <a:r>
              <a:t/>
            </a:r>
          </a:p>
          <a:p xmlns:a="http://schemas.openxmlformats.org/drawingml/2006/main">
            <a:r>
              <a:t>SOURCE: LAB1_MIE402.pdf</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10–12 minutes (2 minutes)</a:t>
            </a:r>
          </a:p>
          <a:p xmlns:a="http://schemas.openxmlformats.org/drawingml/2006/main">
            <a:r>
              <a:t/>
            </a:r>
          </a:p>
          <a:p xmlns:a="http://schemas.openxmlformats.org/drawingml/2006/main">
            <a:r>
              <a:t>The actual pendulum contains distributed mass, so do not automatically use the point-mass formula with the rod length. Identify the moment of inertia about the pivot and the center-of-mass distance. For small angular displacement in radians, sin(theta) is approximately theta. Ask students what could change at larger release angles: the linear approximation, and therefore the predicted period. The supplied procedure uses several release-angle ranges and video tracking. Compare the correct initial conditions in the experiment and simulation. A decrease in amplitude can indicate losses absent from the ideal undamped equation. Save the video calibration and angle convention.</a:t>
            </a:r>
          </a:p>
          <a:p xmlns:a="http://schemas.openxmlformats.org/drawingml/2006/main">
            <a:r>
              <a:t/>
            </a:r>
          </a:p>
          <a:p xmlns:a="http://schemas.openxmlformats.org/drawingml/2006/main">
            <a:r>
              <a:t>SOURCE: LAB2_MIE402.pdf</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12–14 minutes (2 minutes)</a:t>
            </a:r>
          </a:p>
          <a:p xmlns:a="http://schemas.openxmlformats.org/drawingml/2006/main">
            <a:r>
              <a:t/>
            </a:r>
          </a:p>
          <a:p xmlns:a="http://schemas.openxmlformats.org/drawingml/2006/main">
            <a:r>
              <a:t>A second angle introduces coupling: the motion of one link influences the other. At small amplitudes, students can look for coupled oscillatory behavior and multiple characteristic frequencies. At larger amplitudes, nonlinear behavior makes a single sinusoidal description inadequate and trajectories can become sensitive to initial conditions. Avoid promising that every trial is chaotic. Ask whether a late mismatch between measured and simulated trajectories automatically means a numerical solver is wrong. Possible causes include a small initial-angle mismatch, uncertain mass properties, unmodeled friction, and image-tracking error. The report should show both angles with clear definitions and time alignment.</a:t>
            </a:r>
          </a:p>
          <a:p xmlns:a="http://schemas.openxmlformats.org/drawingml/2006/main">
            <a:r>
              <a:t/>
            </a:r>
          </a:p>
          <a:p xmlns:a="http://schemas.openxmlformats.org/drawingml/2006/main">
            <a:r>
              <a:t>SOURCE: LAB3_MIE402.pdf</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14–16 minutes (2 minutes)</a:t>
            </a:r>
          </a:p>
          <a:p xmlns:a="http://schemas.openxmlformats.org/drawingml/2006/main">
            <a:r>
              <a:t/>
            </a:r>
          </a:p>
          <a:p xmlns:a="http://schemas.openxmlformats.org/drawingml/2006/main">
            <a:r>
              <a:t>Use the terms carefully. A free response starts from an initial condition without continued excitation. The oscillation period primarily reflects mass and stiffness, while the envelope decay reflects damping. Ask students to predict what happens when mass increases while stiffness stays fixed: the natural frequency decreases. Keep the effective system stiffness consistent with the spring arrangement. For an underdamped response, the peak spacing gives the damped frequency. A logarithmic decrement can estimate damping when the viscous model and clean peak data are appropriate. Students should explain how they selected peaks, removed equilibrium offsets, and compared multiple configurations.</a:t>
            </a:r>
          </a:p>
          <a:p xmlns:a="http://schemas.openxmlformats.org/drawingml/2006/main">
            <a:r>
              <a:t/>
            </a:r>
          </a:p>
          <a:p xmlns:a="http://schemas.openxmlformats.org/drawingml/2006/main">
            <a:r>
              <a:t>SOURCE: LAB4_MIE402.pdf</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16–18 minutes (2 minutes)</a:t>
            </a:r>
          </a:p>
          <a:p xmlns:a="http://schemas.openxmlformats.org/drawingml/2006/main">
            <a:r>
              <a:t/>
            </a:r>
          </a:p>
          <a:p xmlns:a="http://schemas.openxmlformats.org/drawingml/2006/main">
            <a:r>
              <a:t>Explain the difference between free decay and sustained forcing. Near resonance, a lightly damped system can respond strongly. Ask why a measurement immediately after changing excitation frequency might be misleading: transient motion remains. The supplied apparatus includes motion of a spring attachment, so students must identify whether they measure force or base displacement and choose the matching input-output model. Record input amplitude at every frequency rather than assuming it remains constant. For the combined report, use the Lab 4 estimates as an independent check on the Lab 5 response wherever the configuration is the same. Document changes to springs, mass, or damping before comparing parameters.</a:t>
            </a:r>
          </a:p>
          <a:p xmlns:a="http://schemas.openxmlformats.org/drawingml/2006/main">
            <a:r>
              <a:t/>
            </a:r>
          </a:p>
          <a:p xmlns:a="http://schemas.openxmlformats.org/drawingml/2006/main">
            <a:r>
              <a:t>SOURCE: LAB5_MIE402.pdf</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18–20 minutes (2 minutes)</a:t>
            </a:r>
          </a:p>
          <a:p xmlns:a="http://schemas.openxmlformats.org/drawingml/2006/main">
            <a:r>
              <a:t/>
            </a:r>
          </a:p>
          <a:p xmlns:a="http://schemas.openxmlformats.org/drawingml/2006/main">
            <a:r>
              <a:t>The black and reflective vane surfaces interact differently with radiation. Temperature differences and rarefied-gas transport generate the observed torque. Ordinary photon-pressure reasoning does not explain the typical Crookes radiometer rotation. Keep the first lecture focused on the measurable output: cumulative angle and an average slope over a stated interval. Differentiating noisy frame-by-frame angles can produce misleading speed spikes. Use the same elapsed-time window when comparing cases and record whether later runs start warm. The available module discusses thermal slowdown and an optional first-order rotational model. Do not demand a precise Knudsen number from an unknown internal gas pressure. Follow the released procedure and instructor guidance for lamp placement and glass handling.</a:t>
            </a:r>
          </a:p>
          <a:p xmlns:a="http://schemas.openxmlformats.org/drawingml/2006/main">
            <a:r>
              <a:t/>
            </a:r>
          </a:p>
          <a:p xmlns:a="http://schemas.openxmlformats.org/drawingml/2006/main">
            <a:r>
              <a:t>SOURCE: Radiometer Test/Crookes_Radiometer_Laboratory_Module__Rarefied_Gas_Transport__Light_Driven_Rotation__and_Video_Based_RPM_Measurement.pdf</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20–22 minutes (2 minutes)</a:t>
            </a:r>
          </a:p>
          <a:p xmlns:a="http://schemas.openxmlformats.org/drawingml/2006/main">
            <a:r>
              <a:t/>
            </a:r>
          </a:p>
          <a:p xmlns:a="http://schemas.openxmlformats.org/drawingml/2006/main">
            <a:r>
              <a:t>Open the actual report template or point students to its download link. Explain the reader: someone with relevant undergraduate background who was not present during the experiment. The report must answer what you studied, how you measured it, what happened, how it compares with a prediction, and what the comparison means. References are required, including the lecture notes at minimum. An appendix is optional and cannot replace evidence needed for the main conclusion. Explain the difference between the report outline and the grading rubric: having each section earns only one of the ten rubric categories.</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22–24 minutes (2 minutes)</a:t>
            </a:r>
          </a:p>
          <a:p xmlns:a="http://schemas.openxmlformats.org/drawingml/2006/main">
            <a:r>
              <a:t/>
            </a:r>
          </a:p>
          <a:p xmlns:a="http://schemas.openxmlformats.org/drawingml/2006/main">
            <a:r>
              <a:t>The template provides section-level allocations, including a maximum of ten lines for the abstract. The numbered main sections total eight pages, with three of those pages reserved for results and figures. Do not announce an invented overall page limit that includes the cover and references. Do not assume a combined report doubles the allocation. Follow the stated limit for each assignment. These lengths encourage selection: include the evidence needed for the claim, rather than every plot generated. Remind students to put group members in alphabetical order by last name as directed by the cover template.</a:t>
            </a:r>
          </a:p>
          <a:p xmlns:a="http://schemas.openxmlformats.org/drawingml/2006/main">
            <a:r>
              <a:t/>
            </a:r>
          </a:p>
          <a:p xmlns:a="http://schemas.openxmlformats.org/drawingml/2006/main">
            <a:r>
              <a:t>SOURCE: Template for MIE 402 Report.docx</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24–26 minutes (2 minutes)</a:t>
            </a:r>
          </a:p>
          <a:p xmlns:a="http://schemas.openxmlformats.org/drawingml/2006/main">
            <a:r>
              <a:t/>
            </a:r>
          </a:p>
          <a:p xmlns:a="http://schemas.openxmlformats.org/drawingml/2006/main">
            <a:r>
              <a:t>An introduction should establish the experiment and the relevant theory without copying a textbook chapter. For a pendulum, identify the angle convention, inertia, geometry, and the approximation under test. The method should describe what the group actually did. Include sensor or camera settings and calibration, not every button pressed. Show how measured quantities become the reported quantity: pixels become position, position becomes angle, and peak times become period. State how many runs you made and what changed between them. If you filtered data, explain the filter and its possible effect. Keep original data and scripts so every final figure has a traceable origin.</a:t>
            </a:r>
          </a:p>
          <a:p xmlns:a="http://schemas.openxmlformats.org/drawingml/2006/main">
            <a:r>
              <a:t/>
            </a:r>
          </a:p>
          <a:p xmlns:a="http://schemas.openxmlformats.org/drawingml/2006/main">
            <a:r>
              <a:t>SOURCE: Template for MIE 402 Report.docx</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26–28 minutes (2 minutes)</a:t>
            </a:r>
          </a:p>
          <a:p xmlns:a="http://schemas.openxmlformats.org/drawingml/2006/main">
            <a:r>
              <a:t/>
            </a:r>
          </a:p>
          <a:p xmlns:a="http://schemas.openxmlformats.org/drawingml/2006/main">
            <a:r>
              <a:t>Read the three parts aloud and identify the role of each. A useful abstract tells the reader the purpose, what was done, the most important numerical result, and the implication. It should be written after the analysis and conclusions so the numbers agree across the report. The values here are invented for teaching, not a result from this course apparatus. A two-percent difference by itself does not prove agreement within uncertainty. If your actual report supports an uncertainty statement, include it precisely. Avoid an abstract that only lists activities, such as saying that a pendulum was released and graphs were plotted.</a:t>
            </a:r>
          </a:p>
          <a:p xmlns:a="http://schemas.openxmlformats.org/drawingml/2006/main">
            <a:r>
              <a:t/>
            </a:r>
          </a:p>
          <a:p xmlns:a="http://schemas.openxmlformats.org/drawingml/2006/main">
            <a:r>
              <a:t>SOURCE: Template for MIE 402 Report.docx</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28–29 minutes (1 minutes)</a:t>
            </a:r>
          </a:p>
          <a:p xmlns:a="http://schemas.openxmlformats.org/drawingml/2006/main">
            <a:r>
              <a:t/>
            </a:r>
          </a:p>
          <a:p xmlns:a="http://schemas.openxmlformats.org/drawingml/2006/main">
            <a:r>
              <a:t>Results present what happened. A plot of a simulated trajectory alone cannot stand in for the measured response of a physical experiment. Identify processing without hiding its effect. Explain the trend and point to the relevant figure rather than saying only that the results are shown below. Save causal explanations for the Discussion, while keeping enough context for the reader to understand each measurement.</a:t>
            </a:r>
          </a:p>
          <a:p xmlns:a="http://schemas.openxmlformats.org/drawingml/2006/main">
            <a:r>
              <a:t/>
            </a:r>
          </a:p>
          <a:p xmlns:a="http://schemas.openxmlformats.org/drawingml/2006/main">
            <a:r>
              <a:t>SOURCE: Template for MIE 402 Report.docx</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29–30 minutes (1 minutes)</a:t>
            </a:r>
          </a:p>
          <a:p xmlns:a="http://schemas.openxmlformats.org/drawingml/2006/main">
            <a:r>
              <a:t/>
            </a:r>
          </a:p>
          <a:p xmlns:a="http://schemas.openxmlformats.org/drawingml/2006/main">
            <a:r>
              <a:t>Use the syllabus export rule when preparing the final report. The older template mentions copying a figure, but the final result must still be a clean, readable figure without application-window chrome. A figure needs context: the apparatus or case, acquisition settings where relevant, and the distinction between experiment and prediction. Color alone may be insufficient, so combine color with markers or line styles. Verify quality in the PDF because a figure that looks fine in the editor can become tiny or rasterized on export.</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30–32 minutes (2 minutes)</a:t>
            </a:r>
          </a:p>
          <a:p xmlns:a="http://schemas.openxmlformats.org/drawingml/2006/main">
            <a:r>
              <a:t/>
            </a:r>
          </a:p>
          <a:p xmlns:a="http://schemas.openxmlformats.org/drawingml/2006/main">
            <a:r>
              <a:t>This is a deliberately simplified teaching figure using synthetic data. Both series use the same time origin and angle convention. The model is 5 cos(2 pi 1.50 t) degrees. The synthetic signal is 5 exp(-0.45 t) cos(2 pi 1.47 t) degrees, sampled at 50 Hz. Ask students to identify one observed difference before proposing a cause. The decaying envelope is visible, and a slight phase drift grows over time. The caption states the conditions, the axes include units, and the legend identifies both series. A good figure supports a specific statement. It does not, by itself, establish why a discrepancy occurred.</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32–34 minutes (2 minutes)</a:t>
            </a:r>
          </a:p>
          <a:p xmlns:a="http://schemas.openxmlformats.org/drawingml/2006/main">
            <a:r>
              <a:t/>
            </a:r>
          </a:p>
          <a:p xmlns:a="http://schemas.openxmlformats.org/drawingml/2006/main">
            <a:r>
              <a:t>Return to the 1.47 Hz versus 1.50 Hz example. The absolute difference is 0.03 Hz and the relative discrepancy is two percent using the predicted value as the reference. A single number can miss a time-dependent mismatch, so also inspect an overlay or residual where appropriate. Do not repeatedly shift a simulation or tune parameters without reporting that choice. If damping was estimated from the same decay record used for the comparison, describe the result as a fitted-model agreement. An independent trial or a different response can test how well the fitted parameters generalize. The equations belong in the Introduction and the solution procedure and parameter values belong in the Comparison.</a:t>
            </a:r>
          </a:p>
          <a:p xmlns:a="http://schemas.openxmlformats.org/drawingml/2006/main">
            <a:r>
              <a:t/>
            </a:r>
          </a:p>
          <a:p xmlns:a="http://schemas.openxmlformats.org/drawingml/2006/main">
            <a:r>
              <a:t>SOURCE: Template for MIE 402 Report.docx</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34–36 minutes (2 minutes)</a:t>
            </a:r>
          </a:p>
          <a:p xmlns:a="http://schemas.openxmlformats.org/drawingml/2006/main">
            <a:r>
              <a:t/>
            </a:r>
          </a:p>
          <a:p xmlns:a="http://schemas.openxmlformats.org/drawingml/2006/main">
            <a:r>
              <a:t>Ask whether a two-percent discrepancy is acceptable. The answer depends on the measurement and model uncertainty and the intended use. If two independent standard uncertainties were 0.02 Hz each, their combined standard uncertainty would be sqrt(0.02 squared plus 0.02 squared), about 0.028 Hz. The 0.03 Hz discrepancy would be about 1.1 combined standard uncertainties. This is a classroom illustration, not a formal acceptance criterion. A plus/minus value must state whether it is instrument resolution, run-to-run standard deviation, uncertainty of a mean, or a confidence interval. Timing several cycles can reduce the relative effect of endpoint timing error, but it does not remove a biased clock or incorrect length calibration.</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36–38 minutes (2 minutes)</a:t>
            </a:r>
          </a:p>
          <a:p xmlns:a="http://schemas.openxmlformats.org/drawingml/2006/main">
            <a:r>
              <a:t/>
            </a:r>
          </a:p>
          <a:p xmlns:a="http://schemas.openxmlformats.org/drawingml/2006/main">
            <a:r>
              <a:t>Explain why this paragraph is stronger than saying the experiment differed because of human error. It describes a visible feature, proposes a mechanism consistent with that feature, and identifies a further check. Plausibility is not proof. Students should explain the direction and scale of an effect where possible. A wrong frame rate changes time and frequency estimates. A length-calibration error changes positions or inferred model parameters. A delayed time origin changes phase. Random tracking scatter has a different signature from systematic drift. Discuss whether the evidence supports the model over the tested range and where that conclusion stops.</a:t>
            </a:r>
          </a:p>
          <a:p xmlns:a="http://schemas.openxmlformats.org/drawingml/2006/main">
            <a:r>
              <a:t/>
            </a:r>
          </a:p>
          <a:p xmlns:a="http://schemas.openxmlformats.org/drawingml/2006/main">
            <a:r>
              <a:t>SOURCE: Template for MIE 402 Report.docx</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38–39 minutes (1 minutes)</a:t>
            </a:r>
          </a:p>
          <a:p xmlns:a="http://schemas.openxmlformats.org/drawingml/2006/main">
            <a:r>
              <a:t/>
            </a:r>
          </a:p>
          <a:p xmlns:a="http://schemas.openxmlformats.org/drawingml/2006/main">
            <a:r>
              <a:t>A conclusion should agree with the abstract and the figures. Do not introduce new results for the first time here. Mention what the experiment established within its tested range and what a repeat experiment should improve. The reference list is required, and the report needs in-text citations that connect borrowed equations, methods, or images to their sources. Appendices have no stated page limit but should be selective. The reader should be able to follow and evaluate the main argument without opening them.</a:t>
            </a:r>
          </a:p>
          <a:p xmlns:a="http://schemas.openxmlformats.org/drawingml/2006/main">
            <a:r>
              <a:t/>
            </a:r>
          </a:p>
          <a:p xmlns:a="http://schemas.openxmlformats.org/drawingml/2006/main">
            <a:r>
              <a:t>SOURCE: Template for MIE 402 Report.docx</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39–40 minutes (1 minutes)</a:t>
            </a:r>
          </a:p>
          <a:p xmlns:a="http://schemas.openxmlformats.org/drawingml/2006/main">
            <a:r>
              <a:t/>
            </a:r>
          </a:p>
          <a:p xmlns:a="http://schemas.openxmlformats.org/drawingml/2006/main">
            <a:r>
              <a:t>Students often produce a combined report by joining two independent documents. A more useful structure has one common objective and conclusion, with clearly labeled subsections for the experiment-specific methods and results. For the pendulums, compare what coupling and larger motions do to model agreement. For the cart experiments, test whether parameters estimated from a free decay help explain the forced response. The comparison is valid only when students account for any changed spring arrangement, damping, or mass. The assignment-specific page limit still controls.</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40–42 minutes (2 minutes)</a:t>
            </a:r>
          </a:p>
          <a:p xmlns:a="http://schemas.openxmlformats.org/drawingml/2006/main">
            <a:r>
              <a:t/>
            </a:r>
          </a:p>
          <a:p xmlns:a="http://schemas.openxmlformats.org/drawingml/2006/main">
            <a:r>
              <a:t>Read the rubric as ten separate ten-percent items, even though this slide groups them into five rows. Completing all section headings accounts for only ten percent of a report. Formatting and figure quality matter, but so do the abstract, analysis, theory, experiment description, comparison, discussion, and meaningful results. Ask students to choose the weakest category in a report that has beautiful figures but no explanation of how frequency was estimated. The answer should include data analysis and potentially meaningful results. Use the rubric as a review checklist, not an invitation to repeat the same material in several sections.</a:t>
            </a:r>
          </a:p>
          <a:p xmlns:a="http://schemas.openxmlformats.org/drawingml/2006/main">
            <a:r>
              <a:t/>
            </a:r>
          </a:p>
          <a:p xmlns:a="http://schemas.openxmlformats.org/drawingml/2006/main">
            <a:r>
              <a:t>SOURCE: Syllabus_MIE402_Fall26_6Labs.pdf</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42–43 minutes (1 minutes)</a:t>
            </a:r>
          </a:p>
          <a:p xmlns:a="http://schemas.openxmlformats.org/drawingml/2006/main">
            <a:r>
              <a:t/>
            </a:r>
          </a:p>
          <a:p xmlns:a="http://schemas.openxmlformats.org/drawingml/2006/main">
            <a:r>
              <a:t>State the policy as written in the syllabus without inventing an additional penalty or AI rule. Any pre-lab or report may include a brief oral verification. Students should be able to explain their model, processing choices, and conclusions. Make-ups require instructor or GTA availability and the correct equipment. Notify the instructor within the first two weeks about approved schedule conflicts or accommodation needs. Canvas is the submission system and the place for section-specific updates.</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43–46 minutes (3 minutes)</a:t>
            </a:r>
          </a:p>
          <a:p xmlns:a="http://schemas.openxmlformats.org/drawingml/2006/main">
            <a:r>
              <a:t/>
            </a:r>
          </a:p>
          <a:p xmlns:a="http://schemas.openxmlformats.org/drawingml/2006/main">
            <a:r>
              <a:t>Give students 45 seconds to work individually, 75 seconds to compare with a neighbor, and 60 seconds to share. Keep the debrief on the following slide hidden until they finish. Ask for one rewritten sentence, one missing uncertainty item, and one targeted check. Circulate or pause so the room actually has working time. If students finish early, ask whether agreement is independent when the model frequency was fitted to the same measured record. The objective is to practice a defensible claim, not to find a predetermined explanation for the discrepancy.</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46–48 minutes (2 minutes)</a:t>
            </a:r>
          </a:p>
          <a:p xmlns:a="http://schemas.openxmlformats.org/drawingml/2006/main">
            <a:r>
              <a:t/>
            </a:r>
          </a:p>
          <a:p xmlns:a="http://schemas.openxmlformats.org/drawingml/2006/main">
            <a:r>
              <a:t>Invite a student to read their sentence, then compare it with the example. Emphasize that two percent is a calculated discrepancy, not a universal pass criterion. A valid discussion separates what the data demonstrate from possible explanations. A check should target a mechanism that could change the result. For example, confirming the camera frame rate tests a timing-scale error. Repeating the estimate on several intervals tests stability of the estimate. These are more useful than a promise to be more careful. If time permits, ask which portions belong in Results, Comparison, and Discussion.</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48–49 minutes (1 minutes)</a:t>
            </a:r>
          </a:p>
          <a:p xmlns:a="http://schemas.openxmlformats.org/drawingml/2006/main">
            <a:r>
              <a:t/>
            </a:r>
          </a:p>
          <a:p xmlns:a="http://schemas.openxmlformats.org/drawingml/2006/main">
            <a:r>
              <a:t>Point to the current syllabus and remind students that the schedule is tentative. There is no laboratory during the first two weeks. The first laboratory week is September 21 through 25. The Lab 1 report is due October 5 at 11:59 PM. The other report dates in the syllabus are November 2 for Labs 2 and 3, December 7 for Labs 4 and 5, and December 14 for Lab 6. The syllabus places the December 7 due-date text in a November row, so read the explicit date and follow Canvas updates.</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49–50 minutes (1 minutes)</a:t>
            </a:r>
          </a:p>
          <a:p xmlns:a="http://schemas.openxmlformats.org/drawingml/2006/main">
            <a:r>
              <a:t/>
            </a:r>
          </a:p>
          <a:p xmlns:a="http://schemas.openxmlformats.org/drawingml/2006/main">
            <a:r>
              <a:t>Close with one student answer to the opening trust question. A complete answer can mention the sampling rate, record duration, calibration, analysis method, model assumptions, and uncertainty. Ask students to locate the syllabus and report template before the next meeting. Remind them that public course materials are on GitHub and submissions, deadlines updates, and grades stay in Canvas. Leave any remaining seconds for a practical question about the first laboratory.</a:t>
            </a:r>
          </a:p>
          <a:p xmlns:a="http://schemas.openxmlformats.org/drawingml/2006/main">
            <a:r>
              <a:t/>
            </a:r>
          </a:p>
          <a:p xmlns:a="http://schemas.openxmlformats.org/drawingml/2006/main">
            <a:r>
              <a:t>SOURCE: Syllabus_MIE402_Fall26_6Labs.pdf and supplied Lecture 01</a:t>
            </a:r>
          </a:p>
          <a:p xmlns:a="http://schemas.openxmlformats.org/drawingml/2006/main">
            <a:r>
              <a:t>Report instructions: Template for MIE 402 Report.docx. Teaching examples labeled illustrative use invented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40c22f9f2a340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2960a3b94942f6" /><Relationship Type="http://schemas.openxmlformats.org/officeDocument/2006/relationships/slideLayout" Target="/ppt/slideLayouts/slideLayout1.xml" Id="Rfd598a04274c42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98a04274c42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1242f8df3a4cfc" /><Relationship Type="http://schemas.openxmlformats.org/officeDocument/2006/relationships/notesSlide" Target="/ppt/notesSlides/notesSlide1.xml" Id="Rdfac9ff2b17a479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a2e32fa9854ba2" /><Relationship Type="http://schemas.openxmlformats.org/officeDocument/2006/relationships/notesSlide" Target="/ppt/notesSlides/notesSlide2.xml" Id="Ree1b747b40d04b6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c1d2da0aacf4d5a" /><Relationship Type="http://schemas.openxmlformats.org/officeDocument/2006/relationships/notesSlide" Target="/ppt/notesSlides/notesSlide3.xml" Id="Rc3f91e81000443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a487a72102d4a48" /><Relationship Type="http://schemas.openxmlformats.org/officeDocument/2006/relationships/notesSlide" Target="/ppt/notesSlides/notesSlide4.xml" Id="R5b4c14ad12444b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03a17050eba4cc8" /><Relationship Type="http://schemas.openxmlformats.org/officeDocument/2006/relationships/chart" Target="/ppt/slides/charts/chart1.xml" Id="R5b20d49ecc3b47d7" /><Relationship Type="http://schemas.openxmlformats.org/officeDocument/2006/relationships/notesSlide" Target="/ppt/notesSlides/notesSlide5.xml" Id="R96a1751a995345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df6d665bbf404b" /><Relationship Type="http://schemas.openxmlformats.org/officeDocument/2006/relationships/notesSlide" Target="/ppt/notesSlides/notesSlide6.xml" Id="R4651c64815e148c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b8b8821596c4bf9" /><Relationship Type="http://schemas.openxmlformats.org/officeDocument/2006/relationships/notesSlide" Target="/ppt/notesSlides/notesSlide7.xml" Id="Rf51692c6b4eb4f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30eef83e95349cc" /><Relationship Type="http://schemas.openxmlformats.org/officeDocument/2006/relationships/notesSlide" Target="/ppt/notesSlides/notesSlide8.xml" Id="R66424766dcfd484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31b4910974e4ff6" /><Relationship Type="http://schemas.openxmlformats.org/officeDocument/2006/relationships/notesSlide" Target="/ppt/notesSlides/notesSlide9.xml" Id="R22421545df574e4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b85994d4094916" /><Relationship Type="http://schemas.openxmlformats.org/officeDocument/2006/relationships/notesSlide" Target="/ppt/notesSlides/notesSlide10.xml" Id="R780a90e4b12c47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30a71babe8a481d" /><Relationship Type="http://schemas.openxmlformats.org/officeDocument/2006/relationships/notesSlide" Target="/ppt/notesSlides/notesSlide11.xml" Id="Ree7de94e16fa45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0f1d7889364ee9" /><Relationship Type="http://schemas.openxmlformats.org/officeDocument/2006/relationships/notesSlide" Target="/ppt/notesSlides/notesSlide12.xml" Id="R9bf967b51c044c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dbaf01e9a7c42d6" /><Relationship Type="http://schemas.openxmlformats.org/officeDocument/2006/relationships/notesSlide" Target="/ppt/notesSlides/notesSlide13.xml" Id="Rd04b9ce444854a5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5ddce3525b6466a" /><Relationship Type="http://schemas.openxmlformats.org/officeDocument/2006/relationships/notesSlide" Target="/ppt/notesSlides/notesSlide14.xml" Id="R6503558c731a4c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7e012fbe8644da" /><Relationship Type="http://schemas.openxmlformats.org/officeDocument/2006/relationships/notesSlide" Target="/ppt/notesSlides/notesSlide15.xml" Id="R05404b70ef7047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64780991ea54308" /><Relationship Type="http://schemas.openxmlformats.org/officeDocument/2006/relationships/notesSlide" Target="/ppt/notesSlides/notesSlide16.xml" Id="R27421691897d4d4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8d78033a7fd4454" /><Relationship Type="http://schemas.openxmlformats.org/officeDocument/2006/relationships/notesSlide" Target="/ppt/notesSlides/notesSlide17.xml" Id="R55f274bc4d9c45c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bca6f75f6ea24c64" /><Relationship Type="http://schemas.openxmlformats.org/officeDocument/2006/relationships/notesSlide" Target="/ppt/notesSlides/notesSlide18.xml" Id="R0d68d667a2314a3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072522b0f34137" /><Relationship Type="http://schemas.openxmlformats.org/officeDocument/2006/relationships/notesSlide" Target="/ppt/notesSlides/notesSlide19.xml" Id="R595fe60e51a540e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c38b22dc9da4f6c" /><Relationship Type="http://schemas.openxmlformats.org/officeDocument/2006/relationships/chart" Target="/ppt/slides/charts/chart2.xml" Id="Rd44ab79741a7453d" /><Relationship Type="http://schemas.openxmlformats.org/officeDocument/2006/relationships/notesSlide" Target="/ppt/notesSlides/notesSlide20.xml" Id="R3cbdba7746374c1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c2b9017aa924cde" /><Relationship Type="http://schemas.openxmlformats.org/officeDocument/2006/relationships/notesSlide" Target="/ppt/notesSlides/notesSlide21.xml" Id="Re0e8ea4c3a0f46a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be03c6650e5440d8" /><Relationship Type="http://schemas.openxmlformats.org/officeDocument/2006/relationships/notesSlide" Target="/ppt/notesSlides/notesSlide22.xml" Id="R1ec429d34f11445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735883000cb44b1" /><Relationship Type="http://schemas.openxmlformats.org/officeDocument/2006/relationships/notesSlide" Target="/ppt/notesSlides/notesSlide23.xml" Id="R286eac2d7070438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367cc2a786d4a0d" /><Relationship Type="http://schemas.openxmlformats.org/officeDocument/2006/relationships/notesSlide" Target="/ppt/notesSlides/notesSlide24.xml" Id="R89c172fc132e4ed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a4a610dfcfa84abc" /><Relationship Type="http://schemas.openxmlformats.org/officeDocument/2006/relationships/notesSlide" Target="/ppt/notesSlides/notesSlide25.xml" Id="Rbe6a039c49d6437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7c9235959b24a28" /><Relationship Type="http://schemas.openxmlformats.org/officeDocument/2006/relationships/notesSlide" Target="/ppt/notesSlides/notesSlide26.xml" Id="Rcfc3aa311b5d4bc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e9d8887510740fe" /><Relationship Type="http://schemas.openxmlformats.org/officeDocument/2006/relationships/notesSlide" Target="/ppt/notesSlides/notesSlide27.xml" Id="R1a57ebb37de34cf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77c6908d44d4d05" /><Relationship Type="http://schemas.openxmlformats.org/officeDocument/2006/relationships/notesSlide" Target="/ppt/notesSlides/notesSlide28.xml" Id="R36a7659e931b42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c6dd5ddea1547d3" /><Relationship Type="http://schemas.openxmlformats.org/officeDocument/2006/relationships/notesSlide" Target="/ppt/notesSlides/notesSlide29.xml" Id="R2d48325499364c3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c26539a3aa1b474d" /><Relationship Type="http://schemas.openxmlformats.org/officeDocument/2006/relationships/notesSlide" Target="/ppt/notesSlides/notesSlide30.xml" Id="R28d7797aac2e4df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b158594033d4320" /><Relationship Type="http://schemas.openxmlformats.org/officeDocument/2006/relationships/notesSlide" Target="/ppt/notesSlides/notesSlide31.xml" Id="R7906eb85300c4b0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Weight</c:v>
          </c:tx>
          <c:spPr>
            <a:solidFill xmlns:a="http://schemas.openxmlformats.org/drawingml/2006/main">
              <a:srgbClr val="881C1C"/>
            </a:solidFill>
          </c:spPr>
          <c:cat>
            <c:strRef>
              <c:f>'Chart Data'!$A$2:$A$7</c:f>
              <c:strCache>
                <c:ptCount val="6"/>
                <c:pt idx="0">
                  <c:v>Pre-labs</c:v>
                </c:pt>
                <c:pt idx="1">
                  <c:v>Lab 1 report</c:v>
                </c:pt>
                <c:pt idx="2">
                  <c:v>Labs 2+3</c:v>
                </c:pt>
                <c:pt idx="3">
                  <c:v>Labs 4+5</c:v>
                </c:pt>
                <c:pt idx="4">
                  <c:v>Lab 6 report</c:v>
                </c:pt>
                <c:pt idx="5">
                  <c:v>Participation</c:v>
                </c:pt>
              </c:strCache>
            </c:strRef>
          </c:cat>
          <c:val>
            <c:numRef>
              <c:f>'Chart Data'!$B$2:$B$7</c:f>
              <c:numCache>
                <c:formatCode>General</c:formatCode>
                <c:ptCount val="6"/>
                <c:pt idx="0">
                  <c:v>20</c:v>
                </c:pt>
                <c:pt idx="1">
                  <c:v>10</c:v>
                </c:pt>
                <c:pt idx="2">
                  <c:v>25</c:v>
                </c:pt>
                <c:pt idx="3">
                  <c:v>25</c:v>
                </c:pt>
                <c:pt idx="4">
                  <c:v>15</c:v>
                </c:pt>
                <c:pt idx="5">
                  <c:v>5</c:v>
                </c:pt>
              </c:numCache>
            </c:numRef>
          </c:val>
        </c:ser>
        <c:dLbls>
          <c:txPr>
            <a:bodyPr xmlns:a="http://schemas.openxmlformats.org/drawingml/2006/main" anchorCtr="1"/>
            <a:lstStyle xmlns:a="http://schemas.openxmlformats.org/drawingml/2006/main"/>
            <a:p xmlns:a="http://schemas.openxmlformats.org/drawingml/2006/main">
              <a:pPr>
                <a:defRPr sz="1200" b="1">
                  <a:solidFill>
                    <a:srgbClr val="111111"/>
                  </a:solidFill>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majorGridlines>
          <c:spPr>
            <a:ln xmlns:a="http://schemas.openxmlformats.org/drawingml/2006/main" w="9525">
              <a:solidFill>
                <a:srgbClr val="E0E0E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6368"/>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8CBD0"/>
            </a:solidFill>
            <a:prstDash val="solid"/>
          </a:ln>
        </c:spPr>
        <c:txPr>
          <a:bodyPr xmlns:a="http://schemas.openxmlformats.org/drawingml/2006/main" anchorCtr="1"/>
          <a:lstStyle xmlns:a="http://schemas.openxmlformats.org/drawingml/2006/main"/>
          <a:p xmlns:a="http://schemas.openxmlformats.org/drawingml/2006/main">
            <a:pPr>
              <a:defRPr sz="1200">
                <a:solidFill>
                  <a:srgbClr val="111111"/>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Undamped model</c:v>
          </c:tx>
          <c:spPr>
            <a:ln xmlns:a="http://schemas.openxmlformats.org/drawingml/2006/main" w="23813">
              <a:solidFill>
                <a:srgbClr val="881C1C"/>
              </a:solidFill>
            </a:ln>
          </c:spPr>
          <c:marker>
            <c:symbol val="none"/>
          </c:marker>
          <c:xVal>
            <c:numRef>
              <c:f>'Chart Data'!$A$2:$A$102</c:f>
              <c:numCache>
                <c:formatCode>General</c:formatCode>
                <c:ptCount val="10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numCache>
            </c:numRef>
          </c:xVal>
          <c:yVal>
            <c:numRef>
              <c:f>'Chart Data'!$B$2:$B$102</c:f>
              <c:numCache>
                <c:formatCode>0</c:formatCode>
                <c:ptCount val="101"/>
                <c:pt idx="0">
                  <c:v>5</c:v>
                </c:pt>
                <c:pt idx="1">
                  <c:v>4.911436</c:v>
                </c:pt>
                <c:pt idx="2">
                  <c:v>4.648882</c:v>
                </c:pt>
                <c:pt idx="3">
                  <c:v>4.22164</c:v>
                </c:pt>
                <c:pt idx="4">
                  <c:v>3.644843</c:v>
                </c:pt>
                <c:pt idx="5">
                  <c:v>2.938926</c:v>
                </c:pt>
                <c:pt idx="6">
                  <c:v>2.128896</c:v>
                </c:pt>
                <c:pt idx="7">
                  <c:v>1.243449</c:v>
                </c:pt>
                <c:pt idx="8">
                  <c:v>0.313953</c:v>
                </c:pt>
                <c:pt idx="9">
                  <c:v>-0.626666</c:v>
                </c:pt>
                <c:pt idx="10">
                  <c:v>-1.545085</c:v>
                </c:pt>
                <c:pt idx="11">
                  <c:v>-2.408768</c:v>
                </c:pt>
                <c:pt idx="12">
                  <c:v>-3.18712</c:v>
                </c:pt>
                <c:pt idx="13">
                  <c:v>-3.852566</c:v>
                </c:pt>
                <c:pt idx="14">
                  <c:v>-4.381533</c:v>
                </c:pt>
                <c:pt idx="15">
                  <c:v>-4.755283</c:v>
                </c:pt>
                <c:pt idx="16">
                  <c:v>-4.960574</c:v>
                </c:pt>
                <c:pt idx="17">
                  <c:v>-4.990134</c:v>
                </c:pt>
                <c:pt idx="18">
                  <c:v>-4.842916</c:v>
                </c:pt>
                <c:pt idx="19">
                  <c:v>-4.524135</c:v>
                </c:pt>
                <c:pt idx="20">
                  <c:v>-4.045085</c:v>
                </c:pt>
                <c:pt idx="21">
                  <c:v>-3.422736</c:v>
                </c:pt>
                <c:pt idx="22">
                  <c:v>-2.679134</c:v>
                </c:pt>
                <c:pt idx="23">
                  <c:v>-1.840623</c:v>
                </c:pt>
                <c:pt idx="24">
                  <c:v>-0.936907</c:v>
                </c:pt>
                <c:pt idx="25">
                  <c:v>-0</c:v>
                </c:pt>
                <c:pt idx="26">
                  <c:v>0.936907</c:v>
                </c:pt>
                <c:pt idx="27">
                  <c:v>1.840623</c:v>
                </c:pt>
                <c:pt idx="28">
                  <c:v>2.679134</c:v>
                </c:pt>
                <c:pt idx="29">
                  <c:v>3.422736</c:v>
                </c:pt>
                <c:pt idx="30">
                  <c:v>4.045085</c:v>
                </c:pt>
                <c:pt idx="31">
                  <c:v>4.524135</c:v>
                </c:pt>
                <c:pt idx="32">
                  <c:v>4.842916</c:v>
                </c:pt>
                <c:pt idx="33">
                  <c:v>4.990134</c:v>
                </c:pt>
                <c:pt idx="34">
                  <c:v>4.960574</c:v>
                </c:pt>
                <c:pt idx="35">
                  <c:v>4.755283</c:v>
                </c:pt>
                <c:pt idx="36">
                  <c:v>4.381533</c:v>
                </c:pt>
                <c:pt idx="37">
                  <c:v>3.852566</c:v>
                </c:pt>
                <c:pt idx="38">
                  <c:v>3.18712</c:v>
                </c:pt>
                <c:pt idx="39">
                  <c:v>2.408768</c:v>
                </c:pt>
                <c:pt idx="40">
                  <c:v>1.545085</c:v>
                </c:pt>
                <c:pt idx="41">
                  <c:v>0.626666</c:v>
                </c:pt>
                <c:pt idx="42">
                  <c:v>-0.313953</c:v>
                </c:pt>
                <c:pt idx="43">
                  <c:v>-1.243449</c:v>
                </c:pt>
                <c:pt idx="44">
                  <c:v>-2.128896</c:v>
                </c:pt>
                <c:pt idx="45">
                  <c:v>-2.938926</c:v>
                </c:pt>
                <c:pt idx="46">
                  <c:v>-3.644843</c:v>
                </c:pt>
                <c:pt idx="47">
                  <c:v>-4.22164</c:v>
                </c:pt>
                <c:pt idx="48">
                  <c:v>-4.648882</c:v>
                </c:pt>
                <c:pt idx="49">
                  <c:v>-4.911436</c:v>
                </c:pt>
                <c:pt idx="50">
                  <c:v>-5</c:v>
                </c:pt>
                <c:pt idx="51">
                  <c:v>-4.911436</c:v>
                </c:pt>
                <c:pt idx="52">
                  <c:v>-4.648882</c:v>
                </c:pt>
                <c:pt idx="53">
                  <c:v>-4.22164</c:v>
                </c:pt>
                <c:pt idx="54">
                  <c:v>-3.644843</c:v>
                </c:pt>
                <c:pt idx="55">
                  <c:v>-2.938926</c:v>
                </c:pt>
                <c:pt idx="56">
                  <c:v>-2.128896</c:v>
                </c:pt>
                <c:pt idx="57">
                  <c:v>-1.243449</c:v>
                </c:pt>
                <c:pt idx="58">
                  <c:v>-0.313953</c:v>
                </c:pt>
                <c:pt idx="59">
                  <c:v>0.626666</c:v>
                </c:pt>
                <c:pt idx="60">
                  <c:v>1.545085</c:v>
                </c:pt>
                <c:pt idx="61">
                  <c:v>2.408768</c:v>
                </c:pt>
                <c:pt idx="62">
                  <c:v>3.18712</c:v>
                </c:pt>
                <c:pt idx="63">
                  <c:v>3.852566</c:v>
                </c:pt>
                <c:pt idx="64">
                  <c:v>4.381533</c:v>
                </c:pt>
                <c:pt idx="65">
                  <c:v>4.755283</c:v>
                </c:pt>
                <c:pt idx="66">
                  <c:v>4.960574</c:v>
                </c:pt>
                <c:pt idx="67">
                  <c:v>4.990134</c:v>
                </c:pt>
                <c:pt idx="68">
                  <c:v>4.842916</c:v>
                </c:pt>
                <c:pt idx="69">
                  <c:v>4.524135</c:v>
                </c:pt>
                <c:pt idx="70">
                  <c:v>4.045085</c:v>
                </c:pt>
                <c:pt idx="71">
                  <c:v>3.422736</c:v>
                </c:pt>
                <c:pt idx="72">
                  <c:v>2.679134</c:v>
                </c:pt>
                <c:pt idx="73">
                  <c:v>1.840623</c:v>
                </c:pt>
                <c:pt idx="74">
                  <c:v>0.936907</c:v>
                </c:pt>
                <c:pt idx="75">
                  <c:v>0</c:v>
                </c:pt>
                <c:pt idx="76">
                  <c:v>-0.936907</c:v>
                </c:pt>
                <c:pt idx="77">
                  <c:v>-1.840623</c:v>
                </c:pt>
                <c:pt idx="78">
                  <c:v>-2.679134</c:v>
                </c:pt>
                <c:pt idx="79">
                  <c:v>-3.422736</c:v>
                </c:pt>
                <c:pt idx="80">
                  <c:v>-4.045085</c:v>
                </c:pt>
                <c:pt idx="81">
                  <c:v>-4.524135</c:v>
                </c:pt>
                <c:pt idx="82">
                  <c:v>-4.842916</c:v>
                </c:pt>
                <c:pt idx="83">
                  <c:v>-4.990134</c:v>
                </c:pt>
                <c:pt idx="84">
                  <c:v>-4.960574</c:v>
                </c:pt>
                <c:pt idx="85">
                  <c:v>-4.755283</c:v>
                </c:pt>
                <c:pt idx="86">
                  <c:v>-4.381533</c:v>
                </c:pt>
                <c:pt idx="87">
                  <c:v>-3.852566</c:v>
                </c:pt>
                <c:pt idx="88">
                  <c:v>-3.18712</c:v>
                </c:pt>
                <c:pt idx="89">
                  <c:v>-2.408768</c:v>
                </c:pt>
                <c:pt idx="90">
                  <c:v>-1.545085</c:v>
                </c:pt>
                <c:pt idx="91">
                  <c:v>-0.626666</c:v>
                </c:pt>
                <c:pt idx="92">
                  <c:v>0.313953</c:v>
                </c:pt>
                <c:pt idx="93">
                  <c:v>1.243449</c:v>
                </c:pt>
                <c:pt idx="94">
                  <c:v>2.128896</c:v>
                </c:pt>
                <c:pt idx="95">
                  <c:v>2.938926</c:v>
                </c:pt>
                <c:pt idx="96">
                  <c:v>3.644843</c:v>
                </c:pt>
                <c:pt idx="97">
                  <c:v>4.22164</c:v>
                </c:pt>
                <c:pt idx="98">
                  <c:v>4.648882</c:v>
                </c:pt>
                <c:pt idx="99">
                  <c:v>4.911436</c:v>
                </c:pt>
                <c:pt idx="100">
                  <c:v>5</c:v>
                </c:pt>
              </c:numCache>
            </c:numRef>
          </c:yVal>
        </c:ser>
        <c:ser>
          <c:idx val="1"/>
          <c:order val="1"/>
          <c:tx>
            <c:v>Synthetic signal</c:v>
          </c:tx>
          <c:spPr>
            <a:ln xmlns:a="http://schemas.openxmlformats.org/drawingml/2006/main" w="23813">
              <a:solidFill>
                <a:srgbClr val="286BB0"/>
              </a:solidFill>
            </a:ln>
          </c:spPr>
          <c:marker>
            <c:symbol val="none"/>
          </c:marker>
          <c:xVal>
            <c:numRef>
              <c:f>'Chart Data'!$C$2:$C$102</c:f>
              <c:numCache>
                <c:formatCode>General</c:formatCode>
                <c:ptCount val="101"/>
                <c:pt idx="0">
                  <c:v>0</c:v>
                </c:pt>
                <c:pt idx="1">
                  <c:v>0.02</c:v>
                </c:pt>
                <c:pt idx="2">
                  <c:v>0.04</c:v>
                </c:pt>
                <c:pt idx="3">
                  <c:v>0.06</c:v>
                </c:pt>
                <c:pt idx="4">
                  <c:v>0.08</c:v>
                </c:pt>
                <c:pt idx="5">
                  <c:v>0.1</c:v>
                </c:pt>
                <c:pt idx="6">
                  <c:v>0.12</c:v>
                </c:pt>
                <c:pt idx="7">
                  <c:v>0.14</c:v>
                </c:pt>
                <c:pt idx="8">
                  <c:v>0.16</c:v>
                </c:pt>
                <c:pt idx="9">
                  <c:v>0.18</c:v>
                </c:pt>
                <c:pt idx="10">
                  <c:v>0.2</c:v>
                </c:pt>
                <c:pt idx="11">
                  <c:v>0.22</c:v>
                </c:pt>
                <c:pt idx="12">
                  <c:v>0.24</c:v>
                </c:pt>
                <c:pt idx="13">
                  <c:v>0.26</c:v>
                </c:pt>
                <c:pt idx="14">
                  <c:v>0.28</c:v>
                </c:pt>
                <c:pt idx="15">
                  <c:v>0.3</c:v>
                </c:pt>
                <c:pt idx="16">
                  <c:v>0.32</c:v>
                </c:pt>
                <c:pt idx="17">
                  <c:v>0.34</c:v>
                </c:pt>
                <c:pt idx="18">
                  <c:v>0.36</c:v>
                </c:pt>
                <c:pt idx="19">
                  <c:v>0.38</c:v>
                </c:pt>
                <c:pt idx="20">
                  <c:v>0.4</c:v>
                </c:pt>
                <c:pt idx="21">
                  <c:v>0.42</c:v>
                </c:pt>
                <c:pt idx="22">
                  <c:v>0.44</c:v>
                </c:pt>
                <c:pt idx="23">
                  <c:v>0.46</c:v>
                </c:pt>
                <c:pt idx="24">
                  <c:v>0.48</c:v>
                </c:pt>
                <c:pt idx="25">
                  <c:v>0.5</c:v>
                </c:pt>
                <c:pt idx="26">
                  <c:v>0.52</c:v>
                </c:pt>
                <c:pt idx="27">
                  <c:v>0.54</c:v>
                </c:pt>
                <c:pt idx="28">
                  <c:v>0.56</c:v>
                </c:pt>
                <c:pt idx="29">
                  <c:v>0.58</c:v>
                </c:pt>
                <c:pt idx="30">
                  <c:v>0.6</c:v>
                </c:pt>
                <c:pt idx="31">
                  <c:v>0.62</c:v>
                </c:pt>
                <c:pt idx="32">
                  <c:v>0.64</c:v>
                </c:pt>
                <c:pt idx="33">
                  <c:v>0.66</c:v>
                </c:pt>
                <c:pt idx="34">
                  <c:v>0.68</c:v>
                </c:pt>
                <c:pt idx="35">
                  <c:v>0.7</c:v>
                </c:pt>
                <c:pt idx="36">
                  <c:v>0.72</c:v>
                </c:pt>
                <c:pt idx="37">
                  <c:v>0.74</c:v>
                </c:pt>
                <c:pt idx="38">
                  <c:v>0.76</c:v>
                </c:pt>
                <c:pt idx="39">
                  <c:v>0.78</c:v>
                </c:pt>
                <c:pt idx="40">
                  <c:v>0.8</c:v>
                </c:pt>
                <c:pt idx="41">
                  <c:v>0.82</c:v>
                </c:pt>
                <c:pt idx="42">
                  <c:v>0.84</c:v>
                </c:pt>
                <c:pt idx="43">
                  <c:v>0.86</c:v>
                </c:pt>
                <c:pt idx="44">
                  <c:v>0.88</c:v>
                </c:pt>
                <c:pt idx="45">
                  <c:v>0.9</c:v>
                </c:pt>
                <c:pt idx="46">
                  <c:v>0.92</c:v>
                </c:pt>
                <c:pt idx="47">
                  <c:v>0.94</c:v>
                </c:pt>
                <c:pt idx="48">
                  <c:v>0.96</c:v>
                </c:pt>
                <c:pt idx="49">
                  <c:v>0.98</c:v>
                </c:pt>
                <c:pt idx="50">
                  <c:v>1</c:v>
                </c:pt>
                <c:pt idx="51">
                  <c:v>1.02</c:v>
                </c:pt>
                <c:pt idx="52">
                  <c:v>1.04</c:v>
                </c:pt>
                <c:pt idx="53">
                  <c:v>1.06</c:v>
                </c:pt>
                <c:pt idx="54">
                  <c:v>1.08</c:v>
                </c:pt>
                <c:pt idx="55">
                  <c:v>1.1</c:v>
                </c:pt>
                <c:pt idx="56">
                  <c:v>1.12</c:v>
                </c:pt>
                <c:pt idx="57">
                  <c:v>1.14</c:v>
                </c:pt>
                <c:pt idx="58">
                  <c:v>1.16</c:v>
                </c:pt>
                <c:pt idx="59">
                  <c:v>1.18</c:v>
                </c:pt>
                <c:pt idx="60">
                  <c:v>1.2</c:v>
                </c:pt>
                <c:pt idx="61">
                  <c:v>1.22</c:v>
                </c:pt>
                <c:pt idx="62">
                  <c:v>1.24</c:v>
                </c:pt>
                <c:pt idx="63">
                  <c:v>1.26</c:v>
                </c:pt>
                <c:pt idx="64">
                  <c:v>1.28</c:v>
                </c:pt>
                <c:pt idx="65">
                  <c:v>1.3</c:v>
                </c:pt>
                <c:pt idx="66">
                  <c:v>1.32</c:v>
                </c:pt>
                <c:pt idx="67">
                  <c:v>1.34</c:v>
                </c:pt>
                <c:pt idx="68">
                  <c:v>1.36</c:v>
                </c:pt>
                <c:pt idx="69">
                  <c:v>1.38</c:v>
                </c:pt>
                <c:pt idx="70">
                  <c:v>1.4</c:v>
                </c:pt>
                <c:pt idx="71">
                  <c:v>1.42</c:v>
                </c:pt>
                <c:pt idx="72">
                  <c:v>1.44</c:v>
                </c:pt>
                <c:pt idx="73">
                  <c:v>1.46</c:v>
                </c:pt>
                <c:pt idx="74">
                  <c:v>1.48</c:v>
                </c:pt>
                <c:pt idx="75">
                  <c:v>1.5</c:v>
                </c:pt>
                <c:pt idx="76">
                  <c:v>1.52</c:v>
                </c:pt>
                <c:pt idx="77">
                  <c:v>1.54</c:v>
                </c:pt>
                <c:pt idx="78">
                  <c:v>1.56</c:v>
                </c:pt>
                <c:pt idx="79">
                  <c:v>1.58</c:v>
                </c:pt>
                <c:pt idx="80">
                  <c:v>1.6</c:v>
                </c:pt>
                <c:pt idx="81">
                  <c:v>1.62</c:v>
                </c:pt>
                <c:pt idx="82">
                  <c:v>1.64</c:v>
                </c:pt>
                <c:pt idx="83">
                  <c:v>1.66</c:v>
                </c:pt>
                <c:pt idx="84">
                  <c:v>1.68</c:v>
                </c:pt>
                <c:pt idx="85">
                  <c:v>1.7</c:v>
                </c:pt>
                <c:pt idx="86">
                  <c:v>1.72</c:v>
                </c:pt>
                <c:pt idx="87">
                  <c:v>1.74</c:v>
                </c:pt>
                <c:pt idx="88">
                  <c:v>1.76</c:v>
                </c:pt>
                <c:pt idx="89">
                  <c:v>1.78</c:v>
                </c:pt>
                <c:pt idx="90">
                  <c:v>1.8</c:v>
                </c:pt>
                <c:pt idx="91">
                  <c:v>1.82</c:v>
                </c:pt>
                <c:pt idx="92">
                  <c:v>1.84</c:v>
                </c:pt>
                <c:pt idx="93">
                  <c:v>1.86</c:v>
                </c:pt>
                <c:pt idx="94">
                  <c:v>1.88</c:v>
                </c:pt>
                <c:pt idx="95">
                  <c:v>1.9</c:v>
                </c:pt>
                <c:pt idx="96">
                  <c:v>1.92</c:v>
                </c:pt>
                <c:pt idx="97">
                  <c:v>1.94</c:v>
                </c:pt>
                <c:pt idx="98">
                  <c:v>1.96</c:v>
                </c:pt>
                <c:pt idx="99">
                  <c:v>1.98</c:v>
                </c:pt>
                <c:pt idx="100">
                  <c:v>2</c:v>
                </c:pt>
              </c:numCache>
            </c:numRef>
          </c:xVal>
          <c:yVal>
            <c:numRef>
              <c:f>'Chart Data'!$D$2:$D$102</c:f>
              <c:numCache>
                <c:formatCode>0</c:formatCode>
                <c:ptCount val="101"/>
                <c:pt idx="0">
                  <c:v>5</c:v>
                </c:pt>
                <c:pt idx="1">
                  <c:v>4.870897</c:v>
                </c:pt>
                <c:pt idx="2">
                  <c:v>4.579452</c:v>
                </c:pt>
                <c:pt idx="3">
                  <c:v>4.13841</c:v>
                </c:pt>
                <c:pt idx="4">
                  <c:v>3.56535</c:v>
                </c:pt>
                <c:pt idx="5">
                  <c:v>2.881996</c:v>
                </c:pt>
                <c:pt idx="6">
                  <c:v>2.113415</c:v>
                </c:pt>
                <c:pt idx="7">
                  <c:v>1.287107</c:v>
                </c:pt>
                <c:pt idx="8">
                  <c:v>0.432032</c:v>
                </c:pt>
                <c:pt idx="9">
                  <c:v>-0.422392</c:v>
                </c:pt>
                <c:pt idx="10">
                  <c:v>-1.247296</c:v>
                </c:pt>
                <c:pt idx="11">
                  <c:v>-2.015324</c:v>
                </c:pt>
                <c:pt idx="12">
                  <c:v>-2.701529</c:v>
                </c:pt>
                <c:pt idx="13">
                  <c:v>-3.284176</c:v>
                </c:pt>
                <c:pt idx="14">
                  <c:v>-3.745417</c:v>
                </c:pt>
                <c:pt idx="15">
                  <c:v>-4.071827</c:v>
                </c:pt>
                <c:pt idx="16">
                  <c:v>-4.254778</c:v>
                </c:pt>
                <c:pt idx="17">
                  <c:v>-4.290645</c:v>
                </c:pt>
                <c:pt idx="18">
                  <c:v>-4.18084</c:v>
                </c:pt>
                <c:pt idx="19">
                  <c:v>-3.931673</c:v>
                </c:pt>
                <c:pt idx="20">
                  <c:v>-3.554052</c:v>
                </c:pt>
                <c:pt idx="21">
                  <c:v>-3.063033</c:v>
                </c:pt>
                <c:pt idx="22">
                  <c:v>-2.477236</c:v>
                </c:pt>
                <c:pt idx="23">
                  <c:v>-1.818154</c:v>
                </c:pt>
                <c:pt idx="24">
                  <c:v>-1.109372</c:v>
                </c:pt>
                <c:pt idx="25">
                  <c:v>-0.375735</c:v>
                </c:pt>
                <c:pt idx="26">
                  <c:v>0.357515</c:v>
                </c:pt>
                <c:pt idx="27">
                  <c:v>1.065601</c:v>
                </c:pt>
                <c:pt idx="28">
                  <c:v>1.725035</c:v>
                </c:pt>
                <c:pt idx="29">
                  <c:v>2.314396</c:v>
                </c:pt>
                <c:pt idx="30">
                  <c:v>2.815012</c:v>
                </c:pt>
                <c:pt idx="31">
                  <c:v>3.211544</c:v>
                </c:pt>
                <c:pt idx="32">
                  <c:v>3.492446</c:v>
                </c:pt>
                <c:pt idx="33">
                  <c:v>3.650285</c:v>
                </c:pt>
                <c:pt idx="34">
                  <c:v>3.681921</c:v>
                </c:pt>
                <c:pt idx="35">
                  <c:v>3.588537</c:v>
                </c:pt>
                <c:pt idx="36">
                  <c:v>3.375518</c:v>
                </c:pt>
                <c:pt idx="37">
                  <c:v>3.0522</c:v>
                </c:pt>
                <c:pt idx="38">
                  <c:v>2.631479</c:v>
                </c:pt>
                <c:pt idx="39">
                  <c:v>2.129314</c:v>
                </c:pt>
                <c:pt idx="40">
                  <c:v>1.564132</c:v>
                </c:pt>
                <c:pt idx="41">
                  <c:v>0.956161</c:v>
                </c:pt>
                <c:pt idx="42">
                  <c:v>0.326716</c:v>
                </c:pt>
                <c:pt idx="43">
                  <c:v>-0.302545</c:v>
                </c:pt>
                <c:pt idx="44">
                  <c:v>-0.910353</c:v>
                </c:pt>
                <c:pt idx="45">
                  <c:v>-1.476547</c:v>
                </c:pt>
                <c:pt idx="46">
                  <c:v>-1.982731</c:v>
                </c:pt>
                <c:pt idx="47">
                  <c:v>-2.412864</c:v>
                </c:pt>
                <c:pt idx="48">
                  <c:v>-2.753764</c:v>
                </c:pt>
                <c:pt idx="49">
                  <c:v>-2.9955</c:v>
                </c:pt>
                <c:pt idx="50">
                  <c:v>-3.13167</c:v>
                </c:pt>
                <c:pt idx="51">
                  <c:v>-3.159554</c:v>
                </c:pt>
                <c:pt idx="52">
                  <c:v>-3.080141</c:v>
                </c:pt>
                <c:pt idx="53">
                  <c:v>-2.898029</c:v>
                </c:pt>
                <c:pt idx="54">
                  <c:v>-2.621207</c:v>
                </c:pt>
                <c:pt idx="55">
                  <c:v>-2.260721</c:v>
                </c:pt>
                <c:pt idx="56">
                  <c:v>-1.830249</c:v>
                </c:pt>
                <c:pt idx="57">
                  <c:v>-1.345589</c:v>
                </c:pt>
                <c:pt idx="58">
                  <c:v>-0.824092</c:v>
                </c:pt>
                <c:pt idx="59">
                  <c:v>-0.284042</c:v>
                </c:pt>
                <c:pt idx="60">
                  <c:v>0.255976</c:v>
                </c:pt>
                <c:pt idx="61">
                  <c:v>0.777707</c:v>
                </c:pt>
                <c:pt idx="62">
                  <c:v>1.263844</c:v>
                </c:pt>
                <c:pt idx="63">
                  <c:v>1.698587</c:v>
                </c:pt>
                <c:pt idx="64">
                  <c:v>2.06816</c:v>
                </c:pt>
                <c:pt idx="65">
                  <c:v>2.361232</c:v>
                </c:pt>
                <c:pt idx="66">
                  <c:v>2.569261</c:v>
                </c:pt>
                <c:pt idx="67">
                  <c:v>2.686733</c:v>
                </c:pt>
                <c:pt idx="68">
                  <c:v>2.711292</c:v>
                </c:pt>
                <c:pt idx="69">
                  <c:v>2.643766</c:v>
                </c:pt>
                <c:pt idx="70">
                  <c:v>2.48808</c:v>
                </c:pt>
                <c:pt idx="71">
                  <c:v>2.251069</c:v>
                </c:pt>
                <c:pt idx="72">
                  <c:v>1.942195</c:v>
                </c:pt>
                <c:pt idx="73">
                  <c:v>1.573181</c:v>
                </c:pt>
                <c:pt idx="74">
                  <c:v>1.157573</c:v>
                </c:pt>
                <c:pt idx="75">
                  <c:v>0.710251</c:v>
                </c:pt>
                <c:pt idx="76">
                  <c:v>0.2469</c:v>
                </c:pt>
                <c:pt idx="77">
                  <c:v>-0.21653</c:v>
                </c:pt>
                <c:pt idx="78">
                  <c:v>-0.664374</c:v>
                </c:pt>
                <c:pt idx="79">
                  <c:v>-1.081772</c:v>
                </c:pt>
                <c:pt idx="80">
                  <c:v>-1.455158</c:v>
                </c:pt>
                <c:pt idx="81">
                  <c:v>-1.772696</c:v>
                </c:pt>
                <c:pt idx="82">
                  <c:v>-2.024648</c:v>
                </c:pt>
                <c:pt idx="83">
                  <c:v>-2.203669</c:v>
                </c:pt>
                <c:pt idx="84">
                  <c:v>-2.305007</c:v>
                </c:pt>
                <c:pt idx="85">
                  <c:v>-2.326624</c:v>
                </c:pt>
                <c:pt idx="86">
                  <c:v>-2.26921</c:v>
                </c:pt>
                <c:pt idx="87">
                  <c:v>-2.136117</c:v>
                </c:pt>
                <c:pt idx="88">
                  <c:v>-1.933193</c:v>
                </c:pt>
                <c:pt idx="89">
                  <c:v>-1.668543</c:v>
                </c:pt>
                <c:pt idx="90">
                  <c:v>-1.352213</c:v>
                </c:pt>
                <c:pt idx="91">
                  <c:v>-0.99582</c:v>
                </c:pt>
                <c:pt idx="92">
                  <c:v>-0.612123</c:v>
                </c:pt>
                <c:pt idx="93">
                  <c:v>-0.21458</c:v>
                </c:pt>
                <c:pt idx="94">
                  <c:v>0.183125</c:v>
                </c:pt>
                <c:pt idx="95">
                  <c:v>0.567545</c:v>
                </c:pt>
                <c:pt idx="96">
                  <c:v>0.925923</c:v>
                </c:pt>
                <c:pt idx="97">
                  <c:v>1.24661</c:v>
                </c:pt>
                <c:pt idx="98">
                  <c:v>1.519438</c:v>
                </c:pt>
                <c:pt idx="99">
                  <c:v>1.736039</c:v>
                </c:pt>
                <c:pt idx="100">
                  <c:v>1.890095</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6"/>
          <c:min val="-6"/>
        </c:scaling>
        <c:delete val="0"/>
        <c:axPos val="l"/>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Angle (degrees)</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Calibri"/>
                <a:ea typeface="Calibri"/>
                <a:cs typeface="Calibri"/>
              </a:defRPr>
            </a:pPr>
          </a:p>
        </c:txPr>
        <c:crossAx val="48650112"/>
        <c:majorUnit val="2"/>
      </c:valAx>
      <c:valAx>
        <c:axId val="48650112"/>
        <c:scaling>
          <c:orientation val="minMax"/>
          <c:max val="2"/>
          <c:min val="0"/>
        </c:scaling>
        <c:delete val="0"/>
        <c:axPos val="b"/>
        <c:title>
          <c:tx>
            <c:rich>
              <a:bodyPr xmlns:a="http://schemas.openxmlformats.org/drawingml/2006/main"/>
              <a:lstStyle xmlns:a="http://schemas.openxmlformats.org/drawingml/2006/main"/>
              <a:p xmlns:a="http://schemas.openxmlformats.org/drawingml/2006/main">
                <a:r>
                  <a:rPr sz="1650">
                    <a:latin typeface="Calibri"/>
                    <a:ea typeface="Calibri"/>
                    <a:cs typeface="Calibri"/>
                  </a:rPr>
                  <a:t>Time (s)</a:t>
                </a:r>
              </a:p>
            </c:rich>
          </c:tx>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Calibri"/>
                <a:ea typeface="Calibri"/>
                <a:cs typeface="Calibri"/>
              </a:defRPr>
            </a:pPr>
          </a:p>
        </c:txPr>
        <c:crossAx val="48672768"/>
        <c:majorUnit val="0.5"/>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650">
              <a:latin typeface="Calibri"/>
              <a:ea typeface="Calibri"/>
              <a:cs typeface="Calibri"/>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cover-eyebrow">
            <a:extLst xmlns:a="http://schemas.openxmlformats.org/drawingml/2006/main">
              <a:ext uri="{FF2B5EF4-FFF2-40B4-BE49-F238E27FC236}">
                <a16:creationId xmlns:a16="http://schemas.microsoft.com/office/drawing/2014/main" id="{07CCA154-061D-43B2-9E75-74A1DBD6735B}"/>
              </a:ext>
            </a:extLst>
          </p:cNvPr>
          <p:cNvSpPr>
            <a:spLocks xmlns:a="http://schemas.openxmlformats.org/drawingml/2006/main" noGrp="1"/>
          </p:cNvSpPr>
          <p:nvPr/>
        </p:nvSpPr>
        <p:spPr>
          <a:xfrm xmlns:a="http://schemas.openxmlformats.org/drawingml/2006/main">
            <a:off x="400050" y="361950"/>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350" b="1">
                <a:solidFill>
                  <a:srgbClr val="881C1C"/>
                </a:solidFill>
              </a:defRPr>
            </a:pPr>
            <a:r>
              <a:rPr sz="1350" b="1">
                <a:solidFill>
                  <a:srgbClr val="881C1C"/>
                </a:solidFill>
              </a:rPr>
              <a:t>MIE 402 | MECHANICAL ENGINEERING LABORATORY II</a:t>
            </a:r>
          </a:p>
        </p:txBody>
      </p:sp>
      <p:sp>
        <p:nvSpPr>
          <p:cNvPr id="2" name="rule-2">
            <a:extLst xmlns:a="http://schemas.openxmlformats.org/drawingml/2006/main">
              <a:ext uri="{FF2B5EF4-FFF2-40B4-BE49-F238E27FC236}">
                <a16:creationId xmlns:a16="http://schemas.microsoft.com/office/drawing/2014/main" id="{C8183F92-A60E-4697-AC66-F89EF230CD52}"/>
              </a:ext>
            </a:extLst>
          </p:cNvPr>
          <p:cNvSpPr>
            <a:spLocks xmlns:a="http://schemas.openxmlformats.org/drawingml/2006/main" noGrp="1"/>
          </p:cNvSpPr>
          <p:nvPr/>
        </p:nvSpPr>
        <p:spPr>
          <a:xfrm xmlns:a="http://schemas.openxmlformats.org/drawingml/2006/main">
            <a:off x="400050" y="933450"/>
            <a:ext cx="11391900" cy="0"/>
          </a:xfrm>
          <a:prstGeom xmlns:a="http://schemas.openxmlformats.org/drawingml/2006/main" prst="line">
            <a:avLst/>
          </a:prstGeom>
          <a:noFill xmlns:a="http://schemas.openxmlformats.org/drawingml/2006/main"/>
          <a:ln xmlns:a="http://schemas.openxmlformats.org/drawingml/2006/main" w="38100">
            <a:solidFill>
              <a:srgbClr val="881C1C"/>
            </a:solidFill>
            <a:prstDash val="solid"/>
          </a:ln>
        </p:spPr>
      </p:sp>
      <p:sp>
        <p:nvSpPr>
          <p:cNvPr id="3" name="cover-title">
            <a:extLst xmlns:a="http://schemas.openxmlformats.org/drawingml/2006/main">
              <a:ext uri="{FF2B5EF4-FFF2-40B4-BE49-F238E27FC236}">
                <a16:creationId xmlns:a16="http://schemas.microsoft.com/office/drawing/2014/main" id="{92E2F6F8-A0AE-4D1C-95B2-1759E0B1DD64}"/>
              </a:ext>
            </a:extLst>
          </p:cNvPr>
          <p:cNvSpPr>
            <a:spLocks xmlns:a="http://schemas.openxmlformats.org/drawingml/2006/main" noGrp="1"/>
          </p:cNvSpPr>
          <p:nvPr/>
        </p:nvSpPr>
        <p:spPr>
          <a:xfrm xmlns:a="http://schemas.openxmlformats.org/drawingml/2006/main">
            <a:off x="400050" y="1809750"/>
            <a:ext cx="98107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5400" b="1">
                <a:solidFill>
                  <a:srgbClr val="111111"/>
                </a:solidFill>
              </a:defRPr>
            </a:pPr>
            <a:r>
              <a:rPr sz="5400" b="1">
                <a:solidFill>
                  <a:srgbClr val="111111"/>
                </a:solidFill>
              </a:rPr>
              <a:t>Orientation and</a:t>
            </a:r>
          </a:p>
          <a:p xmlns:a="http://schemas.openxmlformats.org/drawingml/2006/main">
            <a:pPr algn="l">
              <a:buNone/>
              <a:defRPr sz="5400" b="1">
                <a:solidFill>
                  <a:srgbClr val="111111"/>
                </a:solidFill>
              </a:defRPr>
            </a:pPr>
            <a:r>
              <a:rPr sz="5400" b="1">
                <a:solidFill>
                  <a:srgbClr val="111111"/>
                </a:solidFill>
              </a:rPr>
              <a:t>report writing</a:t>
            </a:r>
          </a:p>
        </p:txBody>
      </p:sp>
      <p:sp>
        <p:nvSpPr>
          <p:cNvPr id="4" name="cover-subtitle">
            <a:extLst xmlns:a="http://schemas.openxmlformats.org/drawingml/2006/main">
              <a:ext uri="{FF2B5EF4-FFF2-40B4-BE49-F238E27FC236}">
                <a16:creationId xmlns:a16="http://schemas.microsoft.com/office/drawing/2014/main" id="{31E795B9-C3DD-427C-9BCD-FDE0E5D1991C}"/>
              </a:ext>
            </a:extLst>
          </p:cNvPr>
          <p:cNvSpPr>
            <a:spLocks xmlns:a="http://schemas.openxmlformats.org/drawingml/2006/main" noGrp="1"/>
          </p:cNvSpPr>
          <p:nvPr/>
        </p:nvSpPr>
        <p:spPr>
          <a:xfrm xmlns:a="http://schemas.openxmlformats.org/drawingml/2006/main">
            <a:off x="400050" y="4857750"/>
            <a:ext cx="72390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100" b="0">
                <a:solidFill>
                  <a:srgbClr val="5F6368"/>
                </a:solidFill>
              </a:defRPr>
            </a:pPr>
            <a:r>
              <a:rPr sz="2100" b="0">
                <a:solidFill>
                  <a:srgbClr val="5F6368"/>
                </a:solidFill>
              </a:rPr>
              <a:t>Fall 2026 · Prof. Ehsan Roohi
September 9, 2026</a:t>
            </a:r>
          </a:p>
        </p:txBody>
      </p:sp>
      <p:sp>
        <p:nvSpPr>
          <p:cNvPr id="5" name="cover-accent">
            <a:extLst xmlns:a="http://schemas.openxmlformats.org/drawingml/2006/main">
              <a:ext uri="{FF2B5EF4-FFF2-40B4-BE49-F238E27FC236}">
                <a16:creationId xmlns:a16="http://schemas.microsoft.com/office/drawing/2014/main" id="{EEA7F8B8-14D8-4984-9E3E-D97C0418CC7C}"/>
              </a:ext>
            </a:extLst>
          </p:cNvPr>
          <p:cNvSpPr>
            <a:spLocks xmlns:a="http://schemas.openxmlformats.org/drawingml/2006/main" noGrp="1"/>
          </p:cNvSpPr>
          <p:nvPr/>
        </p:nvSpPr>
        <p:spPr>
          <a:xfrm xmlns:a="http://schemas.openxmlformats.org/drawingml/2006/main">
            <a:off x="9696450" y="4171950"/>
            <a:ext cx="2095500" cy="1809750"/>
          </a:xfrm>
          <a:prstGeom xmlns:a="http://schemas.openxmlformats.org/drawingml/2006/main" prst="rect">
            <a:avLst/>
          </a:prstGeom>
          <a:solidFill xmlns:a="http://schemas.openxmlformats.org/drawingml/2006/main">
            <a:srgbClr val="EAF5FB"/>
          </a:solidFill>
          <a:ln xmlns:a="http://schemas.openxmlformats.org/drawingml/2006/main" w="9525">
            <a:solidFill>
              <a:srgbClr val="C8CBD0"/>
            </a:solidFill>
            <a:prstDash val="solid"/>
          </a:ln>
        </p:spPr>
      </p:sp>
      <p:sp>
        <p:nvSpPr>
          <p:cNvPr id="6" name="cover-accent-text">
            <a:extLst xmlns:a="http://schemas.openxmlformats.org/drawingml/2006/main">
              <a:ext uri="{FF2B5EF4-FFF2-40B4-BE49-F238E27FC236}">
                <a16:creationId xmlns:a16="http://schemas.microsoft.com/office/drawing/2014/main" id="{5B1D3538-51CC-423E-9352-4B3335A179CC}"/>
              </a:ext>
            </a:extLst>
          </p:cNvPr>
          <p:cNvSpPr>
            <a:spLocks xmlns:a="http://schemas.openxmlformats.org/drawingml/2006/main" noGrp="1"/>
          </p:cNvSpPr>
          <p:nvPr/>
        </p:nvSpPr>
        <p:spPr>
          <a:xfrm xmlns:a="http://schemas.openxmlformats.org/drawingml/2006/main">
            <a:off x="9944100" y="4514850"/>
            <a:ext cx="1619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100000"/>
          </a:bodyPr>
          <a:lstStyle xmlns:a="http://schemas.openxmlformats.org/drawingml/2006/main"/>
          <a:p xmlns:a="http://schemas.openxmlformats.org/drawingml/2006/main">
            <a:pPr algn="ctr">
              <a:buNone/>
              <a:defRPr sz="1800" b="1">
                <a:solidFill>
                  <a:srgbClr val="881C1C"/>
                </a:solidFill>
              </a:defRPr>
            </a:pPr>
            <a:r>
              <a:rPr sz="1800" b="1">
                <a:solidFill>
                  <a:srgbClr val="881C1C"/>
                </a:solidFill>
              </a:rPr>
              <a:t>MEASURE</a:t>
            </a:r>
          </a:p>
          <a:p xmlns:a="http://schemas.openxmlformats.org/drawingml/2006/main">
            <a:pPr algn="ctr">
              <a:buNone/>
              <a:defRPr sz="1800" b="1">
                <a:solidFill>
                  <a:srgbClr val="881C1C"/>
                </a:solidFill>
              </a:defRPr>
            </a:pPr>
            <a:r>
              <a:rPr sz="1800" b="1">
                <a:solidFill>
                  <a:srgbClr val="881C1C"/>
                </a:solidFill>
              </a:rPr>
              <a:t>MODEL</a:t>
            </a:r>
          </a:p>
          <a:p xmlns:a="http://schemas.openxmlformats.org/drawingml/2006/main">
            <a:pPr algn="ctr">
              <a:buNone/>
              <a:defRPr sz="1800" b="1">
                <a:solidFill>
                  <a:srgbClr val="881C1C"/>
                </a:solidFill>
              </a:defRPr>
            </a:pPr>
            <a:r>
              <a:rPr sz="1800" b="1">
                <a:solidFill>
                  <a:srgbClr val="881C1C"/>
                </a:solidFill>
              </a:rPr>
              <a:t>COMPARE</a:t>
            </a:r>
          </a:p>
        </p:txBody>
      </p:sp>
    </p:spTree>
    <p:extLst>
      <p:ext uri="{BB962C8B-B14F-4D97-AF65-F5344CB8AC3E}">
        <p14:creationId xmlns:p14="http://schemas.microsoft.com/office/powerpoint/2010/main" val="27437730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2">
            <a:extLst xmlns:a="http://schemas.openxmlformats.org/drawingml/2006/main">
              <a:ext uri="{FF2B5EF4-FFF2-40B4-BE49-F238E27FC236}">
                <a16:creationId xmlns:a16="http://schemas.microsoft.com/office/drawing/2014/main" id="{0CD79189-BE79-4B57-9B69-E1E91F784A1B}"/>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2">
            <a:extLst xmlns:a="http://schemas.openxmlformats.org/drawingml/2006/main">
              <a:ext uri="{FF2B5EF4-FFF2-40B4-BE49-F238E27FC236}">
                <a16:creationId xmlns:a16="http://schemas.microsoft.com/office/drawing/2014/main" id="{7DA198F7-8586-439C-9223-FC1A3B350E56}"/>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Experimental evidence and engineering judgment</a:t>
            </a:r>
          </a:p>
        </p:txBody>
      </p:sp>
      <p:sp>
        <p:nvSpPr>
          <p:cNvPr id="3" name="rule-9">
            <a:extLst xmlns:a="http://schemas.openxmlformats.org/drawingml/2006/main">
              <a:ext uri="{FF2B5EF4-FFF2-40B4-BE49-F238E27FC236}">
                <a16:creationId xmlns:a16="http://schemas.microsoft.com/office/drawing/2014/main" id="{59396C87-4CA4-4AED-B24A-44C02D269198}"/>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2">
            <a:extLst xmlns:a="http://schemas.openxmlformats.org/drawingml/2006/main">
              <a:ext uri="{FF2B5EF4-FFF2-40B4-BE49-F238E27FC236}">
                <a16:creationId xmlns:a16="http://schemas.microsoft.com/office/drawing/2014/main" id="{9881EAB1-4903-4A22-A957-EA88966E05CE}"/>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2</a:t>
            </a:r>
          </a:p>
        </p:txBody>
      </p:sp>
      <p:sp>
        <p:nvSpPr>
          <p:cNvPr id="5" name="course-stage-number-1">
            <a:extLst xmlns:a="http://schemas.openxmlformats.org/drawingml/2006/main">
              <a:ext uri="{FF2B5EF4-FFF2-40B4-BE49-F238E27FC236}">
                <a16:creationId xmlns:a16="http://schemas.microsoft.com/office/drawing/2014/main" id="{24E615C2-937B-4D53-B6BC-F6A443938D98}"/>
              </a:ext>
            </a:extLst>
          </p:cNvPr>
          <p:cNvSpPr>
            <a:spLocks xmlns:a="http://schemas.openxmlformats.org/drawingml/2006/main" noGrp="1"/>
          </p:cNvSpPr>
          <p:nvPr/>
        </p:nvSpPr>
        <p:spPr>
          <a:xfrm xmlns:a="http://schemas.openxmlformats.org/drawingml/2006/main">
            <a:off x="514350" y="2000250"/>
            <a:ext cx="628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01</a:t>
            </a:r>
          </a:p>
        </p:txBody>
      </p:sp>
      <p:sp>
        <p:nvSpPr>
          <p:cNvPr id="6" name="course-stage-title-1">
            <a:extLst xmlns:a="http://schemas.openxmlformats.org/drawingml/2006/main">
              <a:ext uri="{FF2B5EF4-FFF2-40B4-BE49-F238E27FC236}">
                <a16:creationId xmlns:a16="http://schemas.microsoft.com/office/drawing/2014/main" id="{220B31F5-AA51-4BF4-A622-4756E890AACB}"/>
              </a:ext>
            </a:extLst>
          </p:cNvPr>
          <p:cNvSpPr>
            <a:spLocks xmlns:a="http://schemas.openxmlformats.org/drawingml/2006/main" noGrp="1"/>
          </p:cNvSpPr>
          <p:nvPr/>
        </p:nvSpPr>
        <p:spPr>
          <a:xfrm xmlns:a="http://schemas.openxmlformats.org/drawingml/2006/main">
            <a:off x="514350" y="25717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2025" b="1">
                <a:solidFill>
                  <a:srgbClr val="111111"/>
                </a:solidFill>
              </a:defRPr>
            </a:pPr>
            <a:r>
              <a:rPr sz="2025" b="1">
                <a:solidFill>
                  <a:srgbClr val="111111"/>
                </a:solidFill>
              </a:rPr>
              <a:t>OBSERVE</a:t>
            </a:r>
          </a:p>
        </p:txBody>
      </p:sp>
      <p:sp>
        <p:nvSpPr>
          <p:cNvPr id="7" name="course-stage-body-1">
            <a:extLst xmlns:a="http://schemas.openxmlformats.org/drawingml/2006/main">
              <a:ext uri="{FF2B5EF4-FFF2-40B4-BE49-F238E27FC236}">
                <a16:creationId xmlns:a16="http://schemas.microsoft.com/office/drawing/2014/main" id="{626A45BE-87F4-4E62-9AAD-9C9CE00E925C}"/>
              </a:ext>
            </a:extLst>
          </p:cNvPr>
          <p:cNvSpPr>
            <a:spLocks xmlns:a="http://schemas.openxmlformats.org/drawingml/2006/main" noGrp="1"/>
          </p:cNvSpPr>
          <p:nvPr/>
        </p:nvSpPr>
        <p:spPr>
          <a:xfrm xmlns:a="http://schemas.openxmlformats.org/drawingml/2006/main">
            <a:off x="514350" y="3181350"/>
            <a:ext cx="238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0">
                <a:solidFill>
                  <a:srgbClr val="5F6368"/>
                </a:solidFill>
              </a:defRPr>
            </a:pPr>
            <a:r>
              <a:rPr sz="1650" b="0">
                <a:solidFill>
                  <a:srgbClr val="5F6368"/>
                </a:solidFill>
              </a:rPr>
              <a:t>See the physical behavior worth explaining</a:t>
            </a:r>
          </a:p>
        </p:txBody>
      </p:sp>
      <p:sp>
        <p:nvSpPr>
          <p:cNvPr id="8" name="text-14">
            <a:extLst xmlns:a="http://schemas.openxmlformats.org/drawingml/2006/main">
              <a:ext uri="{FF2B5EF4-FFF2-40B4-BE49-F238E27FC236}">
                <a16:creationId xmlns:a16="http://schemas.microsoft.com/office/drawing/2014/main" id="{6E05E867-0A7C-4170-B9E3-441F546C26BA}"/>
              </a:ext>
            </a:extLst>
          </p:cNvPr>
          <p:cNvSpPr>
            <a:spLocks xmlns:a="http://schemas.openxmlformats.org/drawingml/2006/main" noGrp="1"/>
          </p:cNvSpPr>
          <p:nvPr/>
        </p:nvSpPr>
        <p:spPr>
          <a:xfrm xmlns:a="http://schemas.openxmlformats.org/drawingml/2006/main">
            <a:off x="2876550" y="26289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8889"/>
          </a:bodyPr>
          <a:lstStyle xmlns:a="http://schemas.openxmlformats.org/drawingml/2006/main"/>
          <a:p xmlns:a="http://schemas.openxmlformats.org/drawingml/2006/main">
            <a:pPr algn="l">
              <a:buNone/>
              <a:defRPr sz="2250" b="1">
                <a:solidFill>
                  <a:srgbClr val="3D8DFF"/>
                </a:solidFill>
              </a:defRPr>
            </a:pPr>
            <a:r>
              <a:rPr sz="2250" b="1">
                <a:solidFill>
                  <a:srgbClr val="3D8DFF"/>
                </a:solidFill>
              </a:rPr>
              <a:t>→</a:t>
            </a:r>
          </a:p>
        </p:txBody>
      </p:sp>
      <p:sp>
        <p:nvSpPr>
          <p:cNvPr id="9" name="course-stage-number-2">
            <a:extLst xmlns:a="http://schemas.openxmlformats.org/drawingml/2006/main">
              <a:ext uri="{FF2B5EF4-FFF2-40B4-BE49-F238E27FC236}">
                <a16:creationId xmlns:a16="http://schemas.microsoft.com/office/drawing/2014/main" id="{B1555BCE-E07B-4814-ADD2-BAE57CC72215}"/>
              </a:ext>
            </a:extLst>
          </p:cNvPr>
          <p:cNvSpPr>
            <a:spLocks xmlns:a="http://schemas.openxmlformats.org/drawingml/2006/main" noGrp="1"/>
          </p:cNvSpPr>
          <p:nvPr/>
        </p:nvSpPr>
        <p:spPr>
          <a:xfrm xmlns:a="http://schemas.openxmlformats.org/drawingml/2006/main">
            <a:off x="3371850" y="2000250"/>
            <a:ext cx="628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02</a:t>
            </a:r>
          </a:p>
        </p:txBody>
      </p:sp>
      <p:sp>
        <p:nvSpPr>
          <p:cNvPr id="10" name="course-stage-title-2">
            <a:extLst xmlns:a="http://schemas.openxmlformats.org/drawingml/2006/main">
              <a:ext uri="{FF2B5EF4-FFF2-40B4-BE49-F238E27FC236}">
                <a16:creationId xmlns:a16="http://schemas.microsoft.com/office/drawing/2014/main" id="{95D81F73-AF87-497E-B213-BC8E58DAD21F}"/>
              </a:ext>
            </a:extLst>
          </p:cNvPr>
          <p:cNvSpPr>
            <a:spLocks xmlns:a="http://schemas.openxmlformats.org/drawingml/2006/main" noGrp="1"/>
          </p:cNvSpPr>
          <p:nvPr/>
        </p:nvSpPr>
        <p:spPr>
          <a:xfrm xmlns:a="http://schemas.openxmlformats.org/drawingml/2006/main">
            <a:off x="3371850" y="25717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2025" b="1">
                <a:solidFill>
                  <a:srgbClr val="111111"/>
                </a:solidFill>
              </a:defRPr>
            </a:pPr>
            <a:r>
              <a:rPr sz="2025" b="1">
                <a:solidFill>
                  <a:srgbClr val="111111"/>
                </a:solidFill>
              </a:rPr>
              <a:t>MEASURE</a:t>
            </a:r>
          </a:p>
        </p:txBody>
      </p:sp>
      <p:sp>
        <p:nvSpPr>
          <p:cNvPr id="11" name="course-stage-body-2">
            <a:extLst xmlns:a="http://schemas.openxmlformats.org/drawingml/2006/main">
              <a:ext uri="{FF2B5EF4-FFF2-40B4-BE49-F238E27FC236}">
                <a16:creationId xmlns:a16="http://schemas.microsoft.com/office/drawing/2014/main" id="{040A4EEC-372A-44CE-8680-DD2C2108B0CA}"/>
              </a:ext>
            </a:extLst>
          </p:cNvPr>
          <p:cNvSpPr>
            <a:spLocks xmlns:a="http://schemas.openxmlformats.org/drawingml/2006/main" noGrp="1"/>
          </p:cNvSpPr>
          <p:nvPr/>
        </p:nvSpPr>
        <p:spPr>
          <a:xfrm xmlns:a="http://schemas.openxmlformats.org/drawingml/2006/main">
            <a:off x="3371850" y="3181350"/>
            <a:ext cx="238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0">
                <a:solidFill>
                  <a:srgbClr val="5F6368"/>
                </a:solidFill>
              </a:defRPr>
            </a:pPr>
            <a:r>
              <a:rPr sz="1650" b="0">
                <a:solidFill>
                  <a:srgbClr val="5F6368"/>
                </a:solidFill>
              </a:rPr>
              <a:t>Acquire data with a deliberate measurement system</a:t>
            </a:r>
          </a:p>
        </p:txBody>
      </p:sp>
      <p:sp>
        <p:nvSpPr>
          <p:cNvPr id="12" name="text-18">
            <a:extLst xmlns:a="http://schemas.openxmlformats.org/drawingml/2006/main">
              <a:ext uri="{FF2B5EF4-FFF2-40B4-BE49-F238E27FC236}">
                <a16:creationId xmlns:a16="http://schemas.microsoft.com/office/drawing/2014/main" id="{4323D1E8-3F12-4884-A91F-B0CDFF62AA68}"/>
              </a:ext>
            </a:extLst>
          </p:cNvPr>
          <p:cNvSpPr>
            <a:spLocks xmlns:a="http://schemas.openxmlformats.org/drawingml/2006/main" noGrp="1"/>
          </p:cNvSpPr>
          <p:nvPr/>
        </p:nvSpPr>
        <p:spPr>
          <a:xfrm xmlns:a="http://schemas.openxmlformats.org/drawingml/2006/main">
            <a:off x="5734050" y="26289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8889"/>
          </a:bodyPr>
          <a:lstStyle xmlns:a="http://schemas.openxmlformats.org/drawingml/2006/main"/>
          <a:p xmlns:a="http://schemas.openxmlformats.org/drawingml/2006/main">
            <a:pPr algn="l">
              <a:buNone/>
              <a:defRPr sz="2250" b="1">
                <a:solidFill>
                  <a:srgbClr val="3D8DFF"/>
                </a:solidFill>
              </a:defRPr>
            </a:pPr>
            <a:r>
              <a:rPr sz="2250" b="1">
                <a:solidFill>
                  <a:srgbClr val="3D8DFF"/>
                </a:solidFill>
              </a:rPr>
              <a:t>→</a:t>
            </a:r>
          </a:p>
        </p:txBody>
      </p:sp>
      <p:sp>
        <p:nvSpPr>
          <p:cNvPr id="13" name="course-stage-number-3">
            <a:extLst xmlns:a="http://schemas.openxmlformats.org/drawingml/2006/main">
              <a:ext uri="{FF2B5EF4-FFF2-40B4-BE49-F238E27FC236}">
                <a16:creationId xmlns:a16="http://schemas.microsoft.com/office/drawing/2014/main" id="{A20B6C06-FABE-4212-B8A1-0B4847E7642D}"/>
              </a:ext>
            </a:extLst>
          </p:cNvPr>
          <p:cNvSpPr>
            <a:spLocks xmlns:a="http://schemas.openxmlformats.org/drawingml/2006/main" noGrp="1"/>
          </p:cNvSpPr>
          <p:nvPr/>
        </p:nvSpPr>
        <p:spPr>
          <a:xfrm xmlns:a="http://schemas.openxmlformats.org/drawingml/2006/main">
            <a:off x="6229350" y="2000250"/>
            <a:ext cx="628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03</a:t>
            </a:r>
          </a:p>
        </p:txBody>
      </p:sp>
      <p:sp>
        <p:nvSpPr>
          <p:cNvPr id="14" name="course-stage-title-3">
            <a:extLst xmlns:a="http://schemas.openxmlformats.org/drawingml/2006/main">
              <a:ext uri="{FF2B5EF4-FFF2-40B4-BE49-F238E27FC236}">
                <a16:creationId xmlns:a16="http://schemas.microsoft.com/office/drawing/2014/main" id="{A8595548-3FE9-4876-9DE8-EA19D5EFB022}"/>
              </a:ext>
            </a:extLst>
          </p:cNvPr>
          <p:cNvSpPr>
            <a:spLocks xmlns:a="http://schemas.openxmlformats.org/drawingml/2006/main" noGrp="1"/>
          </p:cNvSpPr>
          <p:nvPr/>
        </p:nvSpPr>
        <p:spPr>
          <a:xfrm xmlns:a="http://schemas.openxmlformats.org/drawingml/2006/main">
            <a:off x="6229350" y="25717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2025" b="1">
                <a:solidFill>
                  <a:srgbClr val="111111"/>
                </a:solidFill>
              </a:defRPr>
            </a:pPr>
            <a:r>
              <a:rPr sz="2025" b="1">
                <a:solidFill>
                  <a:srgbClr val="111111"/>
                </a:solidFill>
              </a:rPr>
              <a:t>COMPARE</a:t>
            </a:r>
          </a:p>
        </p:txBody>
      </p:sp>
      <p:sp>
        <p:nvSpPr>
          <p:cNvPr id="15" name="course-stage-body-3">
            <a:extLst xmlns:a="http://schemas.openxmlformats.org/drawingml/2006/main">
              <a:ext uri="{FF2B5EF4-FFF2-40B4-BE49-F238E27FC236}">
                <a16:creationId xmlns:a16="http://schemas.microsoft.com/office/drawing/2014/main" id="{FB81FECD-08D7-472A-86E5-AB23ACC9AF5A}"/>
              </a:ext>
            </a:extLst>
          </p:cNvPr>
          <p:cNvSpPr>
            <a:spLocks xmlns:a="http://schemas.openxmlformats.org/drawingml/2006/main" noGrp="1"/>
          </p:cNvSpPr>
          <p:nvPr/>
        </p:nvSpPr>
        <p:spPr>
          <a:xfrm xmlns:a="http://schemas.openxmlformats.org/drawingml/2006/main">
            <a:off x="6229350" y="3181350"/>
            <a:ext cx="238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0">
                <a:solidFill>
                  <a:srgbClr val="5F6368"/>
                </a:solidFill>
              </a:defRPr>
            </a:pPr>
            <a:r>
              <a:rPr sz="1650" b="0">
                <a:solidFill>
                  <a:srgbClr val="5F6368"/>
                </a:solidFill>
              </a:rPr>
              <a:t>Test data against theory and models</a:t>
            </a:r>
          </a:p>
        </p:txBody>
      </p:sp>
      <p:sp>
        <p:nvSpPr>
          <p:cNvPr id="16" name="text-22">
            <a:extLst xmlns:a="http://schemas.openxmlformats.org/drawingml/2006/main">
              <a:ext uri="{FF2B5EF4-FFF2-40B4-BE49-F238E27FC236}">
                <a16:creationId xmlns:a16="http://schemas.microsoft.com/office/drawing/2014/main" id="{A4D40B2C-BF5F-4AD1-8239-5B6EC6426078}"/>
              </a:ext>
            </a:extLst>
          </p:cNvPr>
          <p:cNvSpPr>
            <a:spLocks xmlns:a="http://schemas.openxmlformats.org/drawingml/2006/main" noGrp="1"/>
          </p:cNvSpPr>
          <p:nvPr/>
        </p:nvSpPr>
        <p:spPr>
          <a:xfrm xmlns:a="http://schemas.openxmlformats.org/drawingml/2006/main">
            <a:off x="8591550" y="262890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8889"/>
          </a:bodyPr>
          <a:lstStyle xmlns:a="http://schemas.openxmlformats.org/drawingml/2006/main"/>
          <a:p xmlns:a="http://schemas.openxmlformats.org/drawingml/2006/main">
            <a:pPr algn="l">
              <a:buNone/>
              <a:defRPr sz="2250" b="1">
                <a:solidFill>
                  <a:srgbClr val="3D8DFF"/>
                </a:solidFill>
              </a:defRPr>
            </a:pPr>
            <a:r>
              <a:rPr sz="2250" b="1">
                <a:solidFill>
                  <a:srgbClr val="3D8DFF"/>
                </a:solidFill>
              </a:rPr>
              <a:t>→</a:t>
            </a:r>
          </a:p>
        </p:txBody>
      </p:sp>
      <p:sp>
        <p:nvSpPr>
          <p:cNvPr id="17" name="course-stage-number-4">
            <a:extLst xmlns:a="http://schemas.openxmlformats.org/drawingml/2006/main">
              <a:ext uri="{FF2B5EF4-FFF2-40B4-BE49-F238E27FC236}">
                <a16:creationId xmlns:a16="http://schemas.microsoft.com/office/drawing/2014/main" id="{56F4BD6F-7029-45F9-B42B-F322DD72810B}"/>
              </a:ext>
            </a:extLst>
          </p:cNvPr>
          <p:cNvSpPr>
            <a:spLocks xmlns:a="http://schemas.openxmlformats.org/drawingml/2006/main" noGrp="1"/>
          </p:cNvSpPr>
          <p:nvPr/>
        </p:nvSpPr>
        <p:spPr>
          <a:xfrm xmlns:a="http://schemas.openxmlformats.org/drawingml/2006/main">
            <a:off x="9086850" y="2000250"/>
            <a:ext cx="6286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04</a:t>
            </a:r>
          </a:p>
        </p:txBody>
      </p:sp>
      <p:sp>
        <p:nvSpPr>
          <p:cNvPr id="18" name="course-stage-title-4">
            <a:extLst xmlns:a="http://schemas.openxmlformats.org/drawingml/2006/main">
              <a:ext uri="{FF2B5EF4-FFF2-40B4-BE49-F238E27FC236}">
                <a16:creationId xmlns:a16="http://schemas.microsoft.com/office/drawing/2014/main" id="{82C82877-6E8F-4E34-875B-A82D1EF32A9A}"/>
              </a:ext>
            </a:extLst>
          </p:cNvPr>
          <p:cNvSpPr>
            <a:spLocks xmlns:a="http://schemas.openxmlformats.org/drawingml/2006/main" noGrp="1"/>
          </p:cNvSpPr>
          <p:nvPr/>
        </p:nvSpPr>
        <p:spPr>
          <a:xfrm xmlns:a="http://schemas.openxmlformats.org/drawingml/2006/main">
            <a:off x="9086850" y="2571750"/>
            <a:ext cx="228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2025" b="1">
                <a:solidFill>
                  <a:srgbClr val="111111"/>
                </a:solidFill>
              </a:defRPr>
            </a:pPr>
            <a:r>
              <a:rPr sz="2025" b="1">
                <a:solidFill>
                  <a:srgbClr val="111111"/>
                </a:solidFill>
              </a:rPr>
              <a:t>COMMUNICATE</a:t>
            </a:r>
          </a:p>
        </p:txBody>
      </p:sp>
      <p:sp>
        <p:nvSpPr>
          <p:cNvPr id="19" name="course-stage-body-4">
            <a:extLst xmlns:a="http://schemas.openxmlformats.org/drawingml/2006/main">
              <a:ext uri="{FF2B5EF4-FFF2-40B4-BE49-F238E27FC236}">
                <a16:creationId xmlns:a16="http://schemas.microsoft.com/office/drawing/2014/main" id="{91FC9888-D291-46E8-8395-CFC6A4C27CC2}"/>
              </a:ext>
            </a:extLst>
          </p:cNvPr>
          <p:cNvSpPr>
            <a:spLocks xmlns:a="http://schemas.openxmlformats.org/drawingml/2006/main" noGrp="1"/>
          </p:cNvSpPr>
          <p:nvPr/>
        </p:nvSpPr>
        <p:spPr>
          <a:xfrm xmlns:a="http://schemas.openxmlformats.org/drawingml/2006/main">
            <a:off x="9086850" y="3181350"/>
            <a:ext cx="238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0">
                <a:solidFill>
                  <a:srgbClr val="5F6368"/>
                </a:solidFill>
              </a:defRPr>
            </a:pPr>
            <a:r>
              <a:rPr sz="1650" b="0">
                <a:solidFill>
                  <a:srgbClr val="5F6368"/>
                </a:solidFill>
              </a:rPr>
              <a:t>Write a report another engineer can trust</a:t>
            </a:r>
          </a:p>
        </p:txBody>
      </p:sp>
      <p:sp>
        <p:nvSpPr>
          <p:cNvPr id="20" name="course-purpose-callout">
            <a:extLst xmlns:a="http://schemas.openxmlformats.org/drawingml/2006/main">
              <a:ext uri="{FF2B5EF4-FFF2-40B4-BE49-F238E27FC236}">
                <a16:creationId xmlns:a16="http://schemas.microsoft.com/office/drawing/2014/main" id="{83B761D0-C698-4773-8DE2-EE4C74984054}"/>
              </a:ext>
            </a:extLst>
          </p:cNvPr>
          <p:cNvSpPr>
            <a:spLocks xmlns:a="http://schemas.openxmlformats.org/drawingml/2006/main" noGrp="1"/>
          </p:cNvSpPr>
          <p:nvPr/>
        </p:nvSpPr>
        <p:spPr>
          <a:xfrm xmlns:a="http://schemas.openxmlformats.org/drawingml/2006/main">
            <a:off x="514350" y="5191125"/>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75" b="1">
                <a:solidFill>
                  <a:srgbClr val="881C1C"/>
                </a:solidFill>
              </a:defRPr>
            </a:pPr>
            <a:r>
              <a:rPr sz="1875" b="1">
                <a:solidFill>
                  <a:srgbClr val="881C1C"/>
                </a:solidFill>
              </a:rPr>
              <a:t>The goal is not merely to collect numbers. The goal is to make a claim that the data support.</a:t>
            </a:r>
          </a:p>
        </p:txBody>
      </p:sp>
    </p:spTree>
    <p:extLst>
      <p:ext uri="{BB962C8B-B14F-4D97-AF65-F5344CB8AC3E}">
        <p14:creationId xmlns:p14="http://schemas.microsoft.com/office/powerpoint/2010/main" val="6630018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eyebrow-3">
            <a:extLst xmlns:a="http://schemas.openxmlformats.org/drawingml/2006/main">
              <a:ext uri="{FF2B5EF4-FFF2-40B4-BE49-F238E27FC236}">
                <a16:creationId xmlns:a16="http://schemas.microsoft.com/office/drawing/2014/main" id="{13AAA48B-85F9-4CF2-BA7E-B4C1A24DED83}"/>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3">
            <a:extLst xmlns:a="http://schemas.openxmlformats.org/drawingml/2006/main">
              <a:ext uri="{FF2B5EF4-FFF2-40B4-BE49-F238E27FC236}">
                <a16:creationId xmlns:a16="http://schemas.microsoft.com/office/drawing/2014/main" id="{7462F47F-A0A1-49CC-A8A1-AE461550F397}"/>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Today’s 50-minute session</a:t>
            </a:r>
          </a:p>
        </p:txBody>
      </p:sp>
      <p:sp>
        <p:nvSpPr>
          <p:cNvPr id="3" name="rule-29">
            <a:extLst xmlns:a="http://schemas.openxmlformats.org/drawingml/2006/main">
              <a:ext uri="{FF2B5EF4-FFF2-40B4-BE49-F238E27FC236}">
                <a16:creationId xmlns:a16="http://schemas.microsoft.com/office/drawing/2014/main" id="{68E5C90F-0D26-4093-ACA1-45DDB30FF86A}"/>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3">
            <a:extLst xmlns:a="http://schemas.openxmlformats.org/drawingml/2006/main">
              <a:ext uri="{FF2B5EF4-FFF2-40B4-BE49-F238E27FC236}">
                <a16:creationId xmlns:a16="http://schemas.microsoft.com/office/drawing/2014/main" id="{8E5709FE-B29E-4F5E-9592-129C89ECB631}"/>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3</a:t>
            </a:r>
          </a:p>
        </p:txBody>
      </p:sp>
      <p:sp>
        <p:nvSpPr>
          <p:cNvPr id="5" name="rule-31">
            <a:extLst xmlns:a="http://schemas.openxmlformats.org/drawingml/2006/main">
              <a:ext uri="{FF2B5EF4-FFF2-40B4-BE49-F238E27FC236}">
                <a16:creationId xmlns:a16="http://schemas.microsoft.com/office/drawing/2014/main" id="{264D863E-6E23-4A8A-B7F1-978D7AF6CEEB}"/>
              </a:ext>
            </a:extLst>
          </p:cNvPr>
          <p:cNvSpPr>
            <a:spLocks xmlns:a="http://schemas.openxmlformats.org/drawingml/2006/main" noGrp="1"/>
          </p:cNvSpPr>
          <p:nvPr/>
        </p:nvSpPr>
        <p:spPr>
          <a:xfrm xmlns:a="http://schemas.openxmlformats.org/drawingml/2006/main">
            <a:off x="514350" y="2286000"/>
            <a:ext cx="10668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6" name="text-32">
            <a:extLst xmlns:a="http://schemas.openxmlformats.org/drawingml/2006/main">
              <a:ext uri="{FF2B5EF4-FFF2-40B4-BE49-F238E27FC236}">
                <a16:creationId xmlns:a16="http://schemas.microsoft.com/office/drawing/2014/main" id="{98FFDF9B-A609-4419-B030-07641D05E271}"/>
              </a:ext>
            </a:extLst>
          </p:cNvPr>
          <p:cNvSpPr>
            <a:spLocks xmlns:a="http://schemas.openxmlformats.org/drawingml/2006/main" noGrp="1"/>
          </p:cNvSpPr>
          <p:nvPr/>
        </p:nvSpPr>
        <p:spPr>
          <a:xfrm xmlns:a="http://schemas.openxmlformats.org/drawingml/2006/main">
            <a:off x="514350" y="17335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01</a:t>
            </a:r>
          </a:p>
        </p:txBody>
      </p:sp>
      <p:sp>
        <p:nvSpPr>
          <p:cNvPr id="7" name="text-33">
            <a:extLst xmlns:a="http://schemas.openxmlformats.org/drawingml/2006/main">
              <a:ext uri="{FF2B5EF4-FFF2-40B4-BE49-F238E27FC236}">
                <a16:creationId xmlns:a16="http://schemas.microsoft.com/office/drawing/2014/main" id="{097770D9-9D86-4AB6-A56C-4496B9FCFF3C}"/>
              </a:ext>
            </a:extLst>
          </p:cNvPr>
          <p:cNvSpPr>
            <a:spLocks xmlns:a="http://schemas.openxmlformats.org/drawingml/2006/main" noGrp="1"/>
          </p:cNvSpPr>
          <p:nvPr/>
        </p:nvSpPr>
        <p:spPr>
          <a:xfrm xmlns:a="http://schemas.openxmlformats.org/drawingml/2006/main">
            <a:off x="1428750" y="1733550"/>
            <a:ext cx="923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950" b="1">
                <a:solidFill>
                  <a:srgbClr val="111111"/>
                </a:solidFill>
              </a:defRPr>
            </a:pPr>
            <a:r>
              <a:rPr sz="1950" b="1">
                <a:solidFill>
                  <a:srgbClr val="111111"/>
                </a:solidFill>
              </a:rPr>
              <a:t>0–8 min: course organization and workflow</a:t>
            </a:r>
          </a:p>
        </p:txBody>
      </p:sp>
      <p:sp>
        <p:nvSpPr>
          <p:cNvPr id="8" name="rule-34">
            <a:extLst xmlns:a="http://schemas.openxmlformats.org/drawingml/2006/main">
              <a:ext uri="{FF2B5EF4-FFF2-40B4-BE49-F238E27FC236}">
                <a16:creationId xmlns:a16="http://schemas.microsoft.com/office/drawing/2014/main" id="{5D25527B-56A0-4799-9962-E38D0208D6C9}"/>
              </a:ext>
            </a:extLst>
          </p:cNvPr>
          <p:cNvSpPr>
            <a:spLocks xmlns:a="http://schemas.openxmlformats.org/drawingml/2006/main" noGrp="1"/>
          </p:cNvSpPr>
          <p:nvPr/>
        </p:nvSpPr>
        <p:spPr>
          <a:xfrm xmlns:a="http://schemas.openxmlformats.org/drawingml/2006/main">
            <a:off x="514350" y="3086100"/>
            <a:ext cx="10668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9" name="text-35">
            <a:extLst xmlns:a="http://schemas.openxmlformats.org/drawingml/2006/main">
              <a:ext uri="{FF2B5EF4-FFF2-40B4-BE49-F238E27FC236}">
                <a16:creationId xmlns:a16="http://schemas.microsoft.com/office/drawing/2014/main" id="{98112266-9E0E-421B-B681-4886F2073175}"/>
              </a:ext>
            </a:extLst>
          </p:cNvPr>
          <p:cNvSpPr>
            <a:spLocks xmlns:a="http://schemas.openxmlformats.org/drawingml/2006/main" noGrp="1"/>
          </p:cNvSpPr>
          <p:nvPr/>
        </p:nvSpPr>
        <p:spPr>
          <a:xfrm xmlns:a="http://schemas.openxmlformats.org/drawingml/2006/main">
            <a:off x="514350" y="25336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02</a:t>
            </a:r>
          </a:p>
        </p:txBody>
      </p:sp>
      <p:sp>
        <p:nvSpPr>
          <p:cNvPr id="10" name="text-36">
            <a:extLst xmlns:a="http://schemas.openxmlformats.org/drawingml/2006/main">
              <a:ext uri="{FF2B5EF4-FFF2-40B4-BE49-F238E27FC236}">
                <a16:creationId xmlns:a16="http://schemas.microsoft.com/office/drawing/2014/main" id="{B8F1DAD0-C264-4DE8-97F0-0F77F0DEC22C}"/>
              </a:ext>
            </a:extLst>
          </p:cNvPr>
          <p:cNvSpPr>
            <a:spLocks xmlns:a="http://schemas.openxmlformats.org/drawingml/2006/main" noGrp="1"/>
          </p:cNvSpPr>
          <p:nvPr/>
        </p:nvSpPr>
        <p:spPr>
          <a:xfrm xmlns:a="http://schemas.openxmlformats.org/drawingml/2006/main">
            <a:off x="1428750" y="2533650"/>
            <a:ext cx="923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950" b="0">
                <a:solidFill>
                  <a:srgbClr val="111111"/>
                </a:solidFill>
              </a:defRPr>
            </a:pPr>
            <a:r>
              <a:rPr sz="1950" b="0">
                <a:solidFill>
                  <a:srgbClr val="111111"/>
                </a:solidFill>
              </a:rPr>
              <a:t>8–20 min: six experiments and their evidence</a:t>
            </a:r>
          </a:p>
        </p:txBody>
      </p:sp>
      <p:sp>
        <p:nvSpPr>
          <p:cNvPr id="11" name="rule-37">
            <a:extLst xmlns:a="http://schemas.openxmlformats.org/drawingml/2006/main">
              <a:ext uri="{FF2B5EF4-FFF2-40B4-BE49-F238E27FC236}">
                <a16:creationId xmlns:a16="http://schemas.microsoft.com/office/drawing/2014/main" id="{0BB012AE-A849-4573-B6D1-50CA28CCEFB5}"/>
              </a:ext>
            </a:extLst>
          </p:cNvPr>
          <p:cNvSpPr>
            <a:spLocks xmlns:a="http://schemas.openxmlformats.org/drawingml/2006/main" noGrp="1"/>
          </p:cNvSpPr>
          <p:nvPr/>
        </p:nvSpPr>
        <p:spPr>
          <a:xfrm xmlns:a="http://schemas.openxmlformats.org/drawingml/2006/main">
            <a:off x="514350" y="3886200"/>
            <a:ext cx="10668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12" name="text-38">
            <a:extLst xmlns:a="http://schemas.openxmlformats.org/drawingml/2006/main">
              <a:ext uri="{FF2B5EF4-FFF2-40B4-BE49-F238E27FC236}">
                <a16:creationId xmlns:a16="http://schemas.microsoft.com/office/drawing/2014/main" id="{8FA711F0-5D87-470E-B348-D2681832EC50}"/>
              </a:ext>
            </a:extLst>
          </p:cNvPr>
          <p:cNvSpPr>
            <a:spLocks xmlns:a="http://schemas.openxmlformats.org/drawingml/2006/main" noGrp="1"/>
          </p:cNvSpPr>
          <p:nvPr/>
        </p:nvSpPr>
        <p:spPr>
          <a:xfrm xmlns:a="http://schemas.openxmlformats.org/drawingml/2006/main">
            <a:off x="514350" y="33337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03</a:t>
            </a:r>
          </a:p>
        </p:txBody>
      </p:sp>
      <p:sp>
        <p:nvSpPr>
          <p:cNvPr id="13" name="text-39">
            <a:extLst xmlns:a="http://schemas.openxmlformats.org/drawingml/2006/main">
              <a:ext uri="{FF2B5EF4-FFF2-40B4-BE49-F238E27FC236}">
                <a16:creationId xmlns:a16="http://schemas.microsoft.com/office/drawing/2014/main" id="{266B95F5-0C61-4906-9D48-28C3A499D633}"/>
              </a:ext>
            </a:extLst>
          </p:cNvPr>
          <p:cNvSpPr>
            <a:spLocks xmlns:a="http://schemas.openxmlformats.org/drawingml/2006/main" noGrp="1"/>
          </p:cNvSpPr>
          <p:nvPr/>
        </p:nvSpPr>
        <p:spPr>
          <a:xfrm xmlns:a="http://schemas.openxmlformats.org/drawingml/2006/main">
            <a:off x="1428750" y="3333750"/>
            <a:ext cx="923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950" b="0">
                <a:solidFill>
                  <a:srgbClr val="111111"/>
                </a:solidFill>
              </a:defRPr>
            </a:pPr>
            <a:r>
              <a:rPr sz="1950" b="0">
                <a:solidFill>
                  <a:srgbClr val="111111"/>
                </a:solidFill>
              </a:rPr>
              <a:t>20–42 min: report writing and comparison</a:t>
            </a:r>
          </a:p>
        </p:txBody>
      </p:sp>
      <p:sp>
        <p:nvSpPr>
          <p:cNvPr id="14" name="rule-40">
            <a:extLst xmlns:a="http://schemas.openxmlformats.org/drawingml/2006/main">
              <a:ext uri="{FF2B5EF4-FFF2-40B4-BE49-F238E27FC236}">
                <a16:creationId xmlns:a16="http://schemas.microsoft.com/office/drawing/2014/main" id="{520AE694-E9AA-4816-86CA-C9EC29795AD1}"/>
              </a:ext>
            </a:extLst>
          </p:cNvPr>
          <p:cNvSpPr>
            <a:spLocks xmlns:a="http://schemas.openxmlformats.org/drawingml/2006/main" noGrp="1"/>
          </p:cNvSpPr>
          <p:nvPr/>
        </p:nvSpPr>
        <p:spPr>
          <a:xfrm xmlns:a="http://schemas.openxmlformats.org/drawingml/2006/main">
            <a:off x="514350" y="4686300"/>
            <a:ext cx="10668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15" name="text-41">
            <a:extLst xmlns:a="http://schemas.openxmlformats.org/drawingml/2006/main">
              <a:ext uri="{FF2B5EF4-FFF2-40B4-BE49-F238E27FC236}">
                <a16:creationId xmlns:a16="http://schemas.microsoft.com/office/drawing/2014/main" id="{771FD701-7066-49E9-8AF4-ACC062A96B43}"/>
              </a:ext>
            </a:extLst>
          </p:cNvPr>
          <p:cNvSpPr>
            <a:spLocks xmlns:a="http://schemas.openxmlformats.org/drawingml/2006/main" noGrp="1"/>
          </p:cNvSpPr>
          <p:nvPr/>
        </p:nvSpPr>
        <p:spPr>
          <a:xfrm xmlns:a="http://schemas.openxmlformats.org/drawingml/2006/main">
            <a:off x="514350" y="41338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04</a:t>
            </a:r>
          </a:p>
        </p:txBody>
      </p:sp>
      <p:sp>
        <p:nvSpPr>
          <p:cNvPr id="16" name="text-42">
            <a:extLst xmlns:a="http://schemas.openxmlformats.org/drawingml/2006/main">
              <a:ext uri="{FF2B5EF4-FFF2-40B4-BE49-F238E27FC236}">
                <a16:creationId xmlns:a16="http://schemas.microsoft.com/office/drawing/2014/main" id="{2C3E1E1B-57D2-4F25-BF3A-3F03C1B059B5}"/>
              </a:ext>
            </a:extLst>
          </p:cNvPr>
          <p:cNvSpPr>
            <a:spLocks xmlns:a="http://schemas.openxmlformats.org/drawingml/2006/main" noGrp="1"/>
          </p:cNvSpPr>
          <p:nvPr/>
        </p:nvSpPr>
        <p:spPr>
          <a:xfrm xmlns:a="http://schemas.openxmlformats.org/drawingml/2006/main">
            <a:off x="1428750" y="4133850"/>
            <a:ext cx="923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950" b="0">
                <a:solidFill>
                  <a:srgbClr val="111111"/>
                </a:solidFill>
              </a:defRPr>
            </a:pPr>
            <a:r>
              <a:rPr sz="1950" b="0">
                <a:solidFill>
                  <a:srgbClr val="111111"/>
                </a:solidFill>
              </a:rPr>
              <a:t>42–48 min: policies and report exercise</a:t>
            </a:r>
          </a:p>
        </p:txBody>
      </p:sp>
      <p:sp>
        <p:nvSpPr>
          <p:cNvPr id="17" name="rule-43">
            <a:extLst xmlns:a="http://schemas.openxmlformats.org/drawingml/2006/main">
              <a:ext uri="{FF2B5EF4-FFF2-40B4-BE49-F238E27FC236}">
                <a16:creationId xmlns:a16="http://schemas.microsoft.com/office/drawing/2014/main" id="{69BEE141-3AEF-46E8-9D6D-3FD96D64E0C7}"/>
              </a:ext>
            </a:extLst>
          </p:cNvPr>
          <p:cNvSpPr>
            <a:spLocks xmlns:a="http://schemas.openxmlformats.org/drawingml/2006/main" noGrp="1"/>
          </p:cNvSpPr>
          <p:nvPr/>
        </p:nvSpPr>
        <p:spPr>
          <a:xfrm xmlns:a="http://schemas.openxmlformats.org/drawingml/2006/main">
            <a:off x="514350" y="5486400"/>
            <a:ext cx="10668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18" name="text-44">
            <a:extLst xmlns:a="http://schemas.openxmlformats.org/drawingml/2006/main">
              <a:ext uri="{FF2B5EF4-FFF2-40B4-BE49-F238E27FC236}">
                <a16:creationId xmlns:a16="http://schemas.microsoft.com/office/drawing/2014/main" id="{462657DF-A0B1-4157-9B25-115A188292A1}"/>
              </a:ext>
            </a:extLst>
          </p:cNvPr>
          <p:cNvSpPr>
            <a:spLocks xmlns:a="http://schemas.openxmlformats.org/drawingml/2006/main" noGrp="1"/>
          </p:cNvSpPr>
          <p:nvPr/>
        </p:nvSpPr>
        <p:spPr>
          <a:xfrm xmlns:a="http://schemas.openxmlformats.org/drawingml/2006/main">
            <a:off x="514350" y="4933950"/>
            <a:ext cx="685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05</a:t>
            </a:r>
          </a:p>
        </p:txBody>
      </p:sp>
      <p:sp>
        <p:nvSpPr>
          <p:cNvPr id="19" name="text-45">
            <a:extLst xmlns:a="http://schemas.openxmlformats.org/drawingml/2006/main">
              <a:ext uri="{FF2B5EF4-FFF2-40B4-BE49-F238E27FC236}">
                <a16:creationId xmlns:a16="http://schemas.microsoft.com/office/drawing/2014/main" id="{F4DABD3E-7503-497E-A0CD-E4D065715CBB}"/>
              </a:ext>
            </a:extLst>
          </p:cNvPr>
          <p:cNvSpPr>
            <a:spLocks xmlns:a="http://schemas.openxmlformats.org/drawingml/2006/main" noGrp="1"/>
          </p:cNvSpPr>
          <p:nvPr/>
        </p:nvSpPr>
        <p:spPr>
          <a:xfrm xmlns:a="http://schemas.openxmlformats.org/drawingml/2006/main">
            <a:off x="1428750" y="4933950"/>
            <a:ext cx="9239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950" b="0">
                <a:solidFill>
                  <a:srgbClr val="111111"/>
                </a:solidFill>
              </a:defRPr>
            </a:pPr>
            <a:r>
              <a:rPr sz="1950" b="0">
                <a:solidFill>
                  <a:srgbClr val="111111"/>
                </a:solidFill>
              </a:rPr>
              <a:t>48–50 min: first dates and preparation</a:t>
            </a:r>
          </a:p>
        </p:txBody>
      </p:sp>
    </p:spTree>
    <p:extLst>
      <p:ext uri="{BB962C8B-B14F-4D97-AF65-F5344CB8AC3E}">
        <p14:creationId xmlns:p14="http://schemas.microsoft.com/office/powerpoint/2010/main" val="14357910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eyebrow-4">
            <a:extLst xmlns:a="http://schemas.openxmlformats.org/drawingml/2006/main">
              <a:ext uri="{FF2B5EF4-FFF2-40B4-BE49-F238E27FC236}">
                <a16:creationId xmlns:a16="http://schemas.microsoft.com/office/drawing/2014/main" id="{35883216-BB68-4D75-8684-C23D67A5D6C3}"/>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4">
            <a:extLst xmlns:a="http://schemas.openxmlformats.org/drawingml/2006/main">
              <a:ext uri="{FF2B5EF4-FFF2-40B4-BE49-F238E27FC236}">
                <a16:creationId xmlns:a16="http://schemas.microsoft.com/office/drawing/2014/main" id="{AEF868FF-8C87-475E-960A-19C5CD5F10D2}"/>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People, places, and weekly rhythm</a:t>
            </a:r>
          </a:p>
        </p:txBody>
      </p:sp>
      <p:sp>
        <p:nvSpPr>
          <p:cNvPr id="3" name="rule-48">
            <a:extLst xmlns:a="http://schemas.openxmlformats.org/drawingml/2006/main">
              <a:ext uri="{FF2B5EF4-FFF2-40B4-BE49-F238E27FC236}">
                <a16:creationId xmlns:a16="http://schemas.microsoft.com/office/drawing/2014/main" id="{F98282E8-C95F-4F21-BB8B-102C4FD80973}"/>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4">
            <a:extLst xmlns:a="http://schemas.openxmlformats.org/drawingml/2006/main">
              <a:ext uri="{FF2B5EF4-FFF2-40B4-BE49-F238E27FC236}">
                <a16:creationId xmlns:a16="http://schemas.microsoft.com/office/drawing/2014/main" id="{493FB7A9-31C8-4C5F-B49A-BCDD9CDF2CDB}"/>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4</a:t>
            </a:r>
          </a:p>
        </p:txBody>
      </p:sp>
      <p:sp>
        <p:nvSpPr>
          <p:cNvPr id="5" name="text-50">
            <a:extLst xmlns:a="http://schemas.openxmlformats.org/drawingml/2006/main">
              <a:ext uri="{FF2B5EF4-FFF2-40B4-BE49-F238E27FC236}">
                <a16:creationId xmlns:a16="http://schemas.microsoft.com/office/drawing/2014/main" id="{9E80834B-AE70-416C-9B53-D5341B824A71}"/>
              </a:ext>
            </a:extLst>
          </p:cNvPr>
          <p:cNvSpPr>
            <a:spLocks xmlns:a="http://schemas.openxmlformats.org/drawingml/2006/main" noGrp="1"/>
          </p:cNvSpPr>
          <p:nvPr/>
        </p:nvSpPr>
        <p:spPr>
          <a:xfrm xmlns:a="http://schemas.openxmlformats.org/drawingml/2006/main">
            <a:off x="514350" y="16954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00" b="1">
                <a:solidFill>
                  <a:srgbClr val="881C1C"/>
                </a:solidFill>
              </a:defRPr>
            </a:pPr>
            <a:r>
              <a:rPr sz="1500" b="1">
                <a:solidFill>
                  <a:srgbClr val="881C1C"/>
                </a:solidFill>
              </a:rPr>
              <a:t>COURSE TEAM</a:t>
            </a:r>
          </a:p>
        </p:txBody>
      </p:sp>
      <p:sp>
        <p:nvSpPr>
          <p:cNvPr id="6" name="course-team">
            <a:extLst xmlns:a="http://schemas.openxmlformats.org/drawingml/2006/main">
              <a:ext uri="{FF2B5EF4-FFF2-40B4-BE49-F238E27FC236}">
                <a16:creationId xmlns:a16="http://schemas.microsoft.com/office/drawing/2014/main" id="{919659B7-13D7-4838-8E86-366810204F63}"/>
              </a:ext>
            </a:extLst>
          </p:cNvPr>
          <p:cNvSpPr>
            <a:spLocks xmlns:a="http://schemas.openxmlformats.org/drawingml/2006/main" noGrp="1"/>
          </p:cNvSpPr>
          <p:nvPr/>
        </p:nvSpPr>
        <p:spPr>
          <a:xfrm xmlns:a="http://schemas.openxmlformats.org/drawingml/2006/main">
            <a:off x="514350" y="2133600"/>
            <a:ext cx="371475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75" b="0">
                <a:solidFill>
                  <a:srgbClr val="111111"/>
                </a:solidFill>
              </a:defRPr>
            </a:pPr>
            <a:r>
              <a:rPr sz="1875" b="0">
                <a:solidFill>
                  <a:srgbClr val="111111"/>
                </a:solidFill>
              </a:rPr>
              <a:t>Prof. Ehsan Roohi</a:t>
            </a:r>
          </a:p>
          <a:p xmlns:a="http://schemas.openxmlformats.org/drawingml/2006/main">
            <a:pPr algn="l">
              <a:buNone/>
              <a:defRPr sz="1875" b="0">
                <a:solidFill>
                  <a:srgbClr val="111111"/>
                </a:solidFill>
              </a:defRPr>
            </a:pPr>
            <a:r>
              <a:rPr sz="1875" b="0">
                <a:solidFill>
                  <a:srgbClr val="111111"/>
                </a:solidFill>
              </a:rPr>
              <a:t>Yuyuan Zhang</a:t>
            </a:r>
          </a:p>
          <a:p xmlns:a="http://schemas.openxmlformats.org/drawingml/2006/main">
            <a:pPr algn="l">
              <a:buNone/>
              <a:defRPr sz="1875" b="0">
                <a:solidFill>
                  <a:srgbClr val="111111"/>
                </a:solidFill>
              </a:defRPr>
            </a:pPr>
            <a:r>
              <a:rPr sz="1875" b="0">
                <a:solidFill>
                  <a:srgbClr val="111111"/>
                </a:solidFill>
              </a:rPr>
              <a:t>Nazila Emamdoost</a:t>
            </a:r>
          </a:p>
        </p:txBody>
      </p:sp>
      <p:sp>
        <p:nvSpPr>
          <p:cNvPr id="7" name="text-52">
            <a:extLst xmlns:a="http://schemas.openxmlformats.org/drawingml/2006/main">
              <a:ext uri="{FF2B5EF4-FFF2-40B4-BE49-F238E27FC236}">
                <a16:creationId xmlns:a16="http://schemas.microsoft.com/office/drawing/2014/main" id="{DC90A1CB-4001-4B4A-A26B-D63CB088AF06}"/>
              </a:ext>
            </a:extLst>
          </p:cNvPr>
          <p:cNvSpPr>
            <a:spLocks xmlns:a="http://schemas.openxmlformats.org/drawingml/2006/main" noGrp="1"/>
          </p:cNvSpPr>
          <p:nvPr/>
        </p:nvSpPr>
        <p:spPr>
          <a:xfrm xmlns:a="http://schemas.openxmlformats.org/drawingml/2006/main">
            <a:off x="4629150" y="16954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00" b="1">
                <a:solidFill>
                  <a:srgbClr val="881C1C"/>
                </a:solidFill>
              </a:defRPr>
            </a:pPr>
            <a:r>
              <a:rPr sz="1500" b="1">
                <a:solidFill>
                  <a:srgbClr val="881C1C"/>
                </a:solidFill>
              </a:rPr>
              <a:t>WEEKLY RHYTHM</a:t>
            </a:r>
          </a:p>
        </p:txBody>
      </p:sp>
      <p:sp>
        <p:nvSpPr>
          <p:cNvPr id="8" name="text-53">
            <a:extLst xmlns:a="http://schemas.openxmlformats.org/drawingml/2006/main">
              <a:ext uri="{FF2B5EF4-FFF2-40B4-BE49-F238E27FC236}">
                <a16:creationId xmlns:a16="http://schemas.microsoft.com/office/drawing/2014/main" id="{264BAE28-29E8-419D-A188-C8EACEB49A4F}"/>
              </a:ext>
            </a:extLst>
          </p:cNvPr>
          <p:cNvSpPr>
            <a:spLocks xmlns:a="http://schemas.openxmlformats.org/drawingml/2006/main" noGrp="1"/>
          </p:cNvSpPr>
          <p:nvPr/>
        </p:nvSpPr>
        <p:spPr>
          <a:xfrm xmlns:a="http://schemas.openxmlformats.org/drawingml/2006/main">
            <a:off x="4629150" y="213360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75" b="1">
                <a:solidFill>
                  <a:srgbClr val="881C1C"/>
                </a:solidFill>
              </a:defRPr>
            </a:pPr>
            <a:r>
              <a:rPr sz="1575" b="1">
                <a:solidFill>
                  <a:srgbClr val="881C1C"/>
                </a:solidFill>
              </a:rPr>
              <a:t>MON</a:t>
            </a:r>
          </a:p>
        </p:txBody>
      </p:sp>
      <p:sp>
        <p:nvSpPr>
          <p:cNvPr id="9" name="text-54">
            <a:extLst xmlns:a="http://schemas.openxmlformats.org/drawingml/2006/main">
              <a:ext uri="{FF2B5EF4-FFF2-40B4-BE49-F238E27FC236}">
                <a16:creationId xmlns:a16="http://schemas.microsoft.com/office/drawing/2014/main" id="{B6C5CD34-21BD-4812-A114-5D3A4CDC5BC2}"/>
              </a:ext>
            </a:extLst>
          </p:cNvPr>
          <p:cNvSpPr>
            <a:spLocks xmlns:a="http://schemas.openxmlformats.org/drawingml/2006/main" noGrp="1"/>
          </p:cNvSpPr>
          <p:nvPr/>
        </p:nvSpPr>
        <p:spPr>
          <a:xfrm xmlns:a="http://schemas.openxmlformats.org/drawingml/2006/main">
            <a:off x="5810250" y="2133600"/>
            <a:ext cx="533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0">
                <a:solidFill>
                  <a:srgbClr val="111111"/>
                </a:solidFill>
              </a:defRPr>
            </a:pPr>
            <a:r>
              <a:rPr sz="1725" b="0">
                <a:solidFill>
                  <a:srgbClr val="111111"/>
                </a:solidFill>
              </a:rPr>
              <a:t>Theory • 12:20–1:10 PM</a:t>
            </a:r>
          </a:p>
          <a:p xmlns:a="http://schemas.openxmlformats.org/drawingml/2006/main">
            <a:pPr algn="l">
              <a:buNone/>
              <a:defRPr sz="1725" b="0">
                <a:solidFill>
                  <a:srgbClr val="111111"/>
                </a:solidFill>
              </a:defRPr>
            </a:pPr>
            <a:r>
              <a:rPr sz="1725" b="0">
                <a:solidFill>
                  <a:srgbClr val="111111"/>
                </a:solidFill>
              </a:rPr>
              <a:t>Hasbrouck Laboratory 134</a:t>
            </a:r>
          </a:p>
        </p:txBody>
      </p:sp>
      <p:sp>
        <p:nvSpPr>
          <p:cNvPr id="10" name="text-55">
            <a:extLst xmlns:a="http://schemas.openxmlformats.org/drawingml/2006/main">
              <a:ext uri="{FF2B5EF4-FFF2-40B4-BE49-F238E27FC236}">
                <a16:creationId xmlns:a16="http://schemas.microsoft.com/office/drawing/2014/main" id="{2811E7CC-233C-4E61-944F-CDAA23FFDD5E}"/>
              </a:ext>
            </a:extLst>
          </p:cNvPr>
          <p:cNvSpPr>
            <a:spLocks xmlns:a="http://schemas.openxmlformats.org/drawingml/2006/main" noGrp="1"/>
          </p:cNvSpPr>
          <p:nvPr/>
        </p:nvSpPr>
        <p:spPr>
          <a:xfrm xmlns:a="http://schemas.openxmlformats.org/drawingml/2006/main">
            <a:off x="4629150" y="327660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75" b="1">
                <a:solidFill>
                  <a:srgbClr val="881C1C"/>
                </a:solidFill>
              </a:defRPr>
            </a:pPr>
            <a:r>
              <a:rPr sz="1575" b="1">
                <a:solidFill>
                  <a:srgbClr val="881C1C"/>
                </a:solidFill>
              </a:rPr>
              <a:t>TUE–FRI</a:t>
            </a:r>
          </a:p>
        </p:txBody>
      </p:sp>
      <p:sp>
        <p:nvSpPr>
          <p:cNvPr id="11" name="text-56">
            <a:extLst xmlns:a="http://schemas.openxmlformats.org/drawingml/2006/main">
              <a:ext uri="{FF2B5EF4-FFF2-40B4-BE49-F238E27FC236}">
                <a16:creationId xmlns:a16="http://schemas.microsoft.com/office/drawing/2014/main" id="{FC5DD867-E87B-4F95-9E96-2E4B479C3F56}"/>
              </a:ext>
            </a:extLst>
          </p:cNvPr>
          <p:cNvSpPr>
            <a:spLocks xmlns:a="http://schemas.openxmlformats.org/drawingml/2006/main" noGrp="1"/>
          </p:cNvSpPr>
          <p:nvPr/>
        </p:nvSpPr>
        <p:spPr>
          <a:xfrm xmlns:a="http://schemas.openxmlformats.org/drawingml/2006/main">
            <a:off x="5810250" y="3276600"/>
            <a:ext cx="533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0">
                <a:solidFill>
                  <a:srgbClr val="111111"/>
                </a:solidFill>
              </a:defRPr>
            </a:pPr>
            <a:r>
              <a:rPr sz="1725" b="0">
                <a:solidFill>
                  <a:srgbClr val="111111"/>
                </a:solidFill>
              </a:rPr>
              <a:t>Laboratory sections</a:t>
            </a:r>
          </a:p>
          <a:p xmlns:a="http://schemas.openxmlformats.org/drawingml/2006/main">
            <a:pPr algn="l">
              <a:buNone/>
              <a:defRPr sz="1725" b="0">
                <a:solidFill>
                  <a:srgbClr val="111111"/>
                </a:solidFill>
              </a:defRPr>
            </a:pPr>
            <a:r>
              <a:rPr sz="1725" b="0">
                <a:solidFill>
                  <a:srgbClr val="111111"/>
                </a:solidFill>
              </a:rPr>
              <a:t>Gunness Laboratory 5</a:t>
            </a:r>
          </a:p>
        </p:txBody>
      </p:sp>
      <p:sp>
        <p:nvSpPr>
          <p:cNvPr id="12" name="text-57">
            <a:extLst xmlns:a="http://schemas.openxmlformats.org/drawingml/2006/main">
              <a:ext uri="{FF2B5EF4-FFF2-40B4-BE49-F238E27FC236}">
                <a16:creationId xmlns:a16="http://schemas.microsoft.com/office/drawing/2014/main" id="{27C2452C-9FE6-43D8-93C1-86B28808F2AE}"/>
              </a:ext>
            </a:extLst>
          </p:cNvPr>
          <p:cNvSpPr>
            <a:spLocks xmlns:a="http://schemas.openxmlformats.org/drawingml/2006/main" noGrp="1"/>
          </p:cNvSpPr>
          <p:nvPr/>
        </p:nvSpPr>
        <p:spPr>
          <a:xfrm xmlns:a="http://schemas.openxmlformats.org/drawingml/2006/main">
            <a:off x="4629150" y="441960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75" b="1">
                <a:solidFill>
                  <a:srgbClr val="881C1C"/>
                </a:solidFill>
              </a:defRPr>
            </a:pPr>
            <a:r>
              <a:rPr sz="1575" b="1">
                <a:solidFill>
                  <a:srgbClr val="881C1C"/>
                </a:solidFill>
              </a:rPr>
              <a:t>FRI</a:t>
            </a:r>
          </a:p>
        </p:txBody>
      </p:sp>
      <p:sp>
        <p:nvSpPr>
          <p:cNvPr id="13" name="text-58">
            <a:extLst xmlns:a="http://schemas.openxmlformats.org/drawingml/2006/main">
              <a:ext uri="{FF2B5EF4-FFF2-40B4-BE49-F238E27FC236}">
                <a16:creationId xmlns:a16="http://schemas.microsoft.com/office/drawing/2014/main" id="{35F995AA-F215-4960-953C-253B9B706A1D}"/>
              </a:ext>
            </a:extLst>
          </p:cNvPr>
          <p:cNvSpPr>
            <a:spLocks xmlns:a="http://schemas.openxmlformats.org/drawingml/2006/main" noGrp="1"/>
          </p:cNvSpPr>
          <p:nvPr/>
        </p:nvSpPr>
        <p:spPr>
          <a:xfrm xmlns:a="http://schemas.openxmlformats.org/drawingml/2006/main">
            <a:off x="5810250" y="4419600"/>
            <a:ext cx="5334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0">
                <a:solidFill>
                  <a:srgbClr val="111111"/>
                </a:solidFill>
              </a:defRPr>
            </a:pPr>
            <a:r>
              <a:rPr sz="1725" b="0">
                <a:solidFill>
                  <a:srgbClr val="111111"/>
                </a:solidFill>
              </a:rPr>
              <a:t>Office hours • 12:20–1:10 PM</a:t>
            </a:r>
          </a:p>
          <a:p xmlns:a="http://schemas.openxmlformats.org/drawingml/2006/main">
            <a:pPr algn="l">
              <a:buNone/>
              <a:defRPr sz="1725" b="0">
                <a:solidFill>
                  <a:srgbClr val="111111"/>
                </a:solidFill>
              </a:defRPr>
            </a:pPr>
            <a:r>
              <a:rPr sz="1725" b="0">
                <a:solidFill>
                  <a:srgbClr val="111111"/>
                </a:solidFill>
              </a:rPr>
              <a:t>Gunness Laboratory 1</a:t>
            </a:r>
          </a:p>
        </p:txBody>
      </p:sp>
      <p:sp>
        <p:nvSpPr>
          <p:cNvPr id="14" name="text-59">
            <a:extLst xmlns:a="http://schemas.openxmlformats.org/drawingml/2006/main">
              <a:ext uri="{FF2B5EF4-FFF2-40B4-BE49-F238E27FC236}">
                <a16:creationId xmlns:a16="http://schemas.microsoft.com/office/drawing/2014/main" id="{929A243A-2205-4D7B-A19D-D31E91CC868A}"/>
              </a:ext>
            </a:extLst>
          </p:cNvPr>
          <p:cNvSpPr>
            <a:spLocks xmlns:a="http://schemas.openxmlformats.org/drawingml/2006/main" noGrp="1"/>
          </p:cNvSpPr>
          <p:nvPr/>
        </p:nvSpPr>
        <p:spPr>
          <a:xfrm xmlns:a="http://schemas.openxmlformats.org/drawingml/2006/main">
            <a:off x="514350" y="533400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1">
                <a:solidFill>
                  <a:srgbClr val="5F6368"/>
                </a:solidFill>
              </a:defRPr>
            </a:pPr>
            <a:r>
              <a:rPr sz="1725" b="1">
                <a:solidFill>
                  <a:srgbClr val="5F6368"/>
                </a:solidFill>
              </a:rPr>
              <a:t>Check Canvas for your assigned section, GTA, and any section-specific updates.</a:t>
            </a:r>
          </a:p>
        </p:txBody>
      </p:sp>
    </p:spTree>
    <p:extLst>
      <p:ext uri="{BB962C8B-B14F-4D97-AF65-F5344CB8AC3E}">
        <p14:creationId xmlns:p14="http://schemas.microsoft.com/office/powerpoint/2010/main" val="10796696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yebrow-7">
            <a:extLst xmlns:a="http://schemas.openxmlformats.org/drawingml/2006/main">
              <a:ext uri="{FF2B5EF4-FFF2-40B4-BE49-F238E27FC236}">
                <a16:creationId xmlns:a16="http://schemas.microsoft.com/office/drawing/2014/main" id="{CDD7E390-501A-4AE8-B95C-7A3DEF657AC9}"/>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7">
            <a:extLst xmlns:a="http://schemas.openxmlformats.org/drawingml/2006/main">
              <a:ext uri="{FF2B5EF4-FFF2-40B4-BE49-F238E27FC236}">
                <a16:creationId xmlns:a16="http://schemas.microsoft.com/office/drawing/2014/main" id="{E2D94639-1376-4672-9815-4EB0D8A95DA0}"/>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Course grading</a:t>
            </a:r>
          </a:p>
        </p:txBody>
      </p:sp>
      <p:sp>
        <p:nvSpPr>
          <p:cNvPr id="3" name="rule-86">
            <a:extLst xmlns:a="http://schemas.openxmlformats.org/drawingml/2006/main">
              <a:ext uri="{FF2B5EF4-FFF2-40B4-BE49-F238E27FC236}">
                <a16:creationId xmlns:a16="http://schemas.microsoft.com/office/drawing/2014/main" id="{F3B7997C-3854-4F97-9F08-6B1B0C7EF880}"/>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7">
            <a:extLst xmlns:a="http://schemas.openxmlformats.org/drawingml/2006/main">
              <a:ext uri="{FF2B5EF4-FFF2-40B4-BE49-F238E27FC236}">
                <a16:creationId xmlns:a16="http://schemas.microsoft.com/office/drawing/2014/main" id="{C957F195-25E9-4C72-95D8-616A2A594491}"/>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5</a:t>
            </a:r>
          </a:p>
        </p:txBody>
      </p:sp>
      <p:graphicFrame>
        <p:nvGraphicFramePr>
          <p:cNvPr id="15" name="Chart"/>
          <p:cNvGraphicFramePr/>
          <p:nvPr/>
        </p:nvGraphicFramePr>
        <p:xfrm>
          <a:off xmlns:a="http://schemas.openxmlformats.org/drawingml/2006/main" x="514350" y="1714500"/>
          <a:ext xmlns:a="http://schemas.openxmlformats.org/drawingml/2006/main" cx="6858000" cy="4095750"/>
        </p:xfrm>
        <a:graphic xmlns:a="http://schemas.openxmlformats.org/drawingml/2006/main">
          <a:graphicData uri="http://schemas.openxmlformats.org/drawingml/2006/chart">
            <c:chart xmlns:r="http://schemas.openxmlformats.org/officeDocument/2006/relationships" xmlns:c="http://schemas.openxmlformats.org/drawingml/2006/chart" r:id="R5b20d49ecc3b47d7"/>
          </a:graphicData>
        </a:graphic>
      </p:graphicFrame>
      <p:sp>
        <p:nvSpPr>
          <p:cNvPr id="6" name="text-88">
            <a:extLst xmlns:a="http://schemas.openxmlformats.org/drawingml/2006/main">
              <a:ext uri="{FF2B5EF4-FFF2-40B4-BE49-F238E27FC236}">
                <a16:creationId xmlns:a16="http://schemas.microsoft.com/office/drawing/2014/main" id="{477D3F3E-70DF-4339-BD5C-6B4036522212}"/>
              </a:ext>
            </a:extLst>
          </p:cNvPr>
          <p:cNvSpPr>
            <a:spLocks xmlns:a="http://schemas.openxmlformats.org/drawingml/2006/main" noGrp="1"/>
          </p:cNvSpPr>
          <p:nvPr/>
        </p:nvSpPr>
        <p:spPr>
          <a:xfrm xmlns:a="http://schemas.openxmlformats.org/drawingml/2006/main">
            <a:off x="8096250" y="2000250"/>
            <a:ext cx="2571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4350" b="1">
                <a:solidFill>
                  <a:srgbClr val="881C1C"/>
                </a:solidFill>
              </a:defRPr>
            </a:pPr>
            <a:r>
              <a:rPr sz="4350" b="1">
                <a:solidFill>
                  <a:srgbClr val="881C1C"/>
                </a:solidFill>
              </a:rPr>
              <a:t>100%</a:t>
            </a:r>
          </a:p>
        </p:txBody>
      </p:sp>
      <p:sp>
        <p:nvSpPr>
          <p:cNvPr id="7" name="text-89">
            <a:extLst xmlns:a="http://schemas.openxmlformats.org/drawingml/2006/main">
              <a:ext uri="{FF2B5EF4-FFF2-40B4-BE49-F238E27FC236}">
                <a16:creationId xmlns:a16="http://schemas.microsoft.com/office/drawing/2014/main" id="{48079E57-C2AA-4524-B2BC-9CA44C6CECB8}"/>
              </a:ext>
            </a:extLst>
          </p:cNvPr>
          <p:cNvSpPr>
            <a:spLocks xmlns:a="http://schemas.openxmlformats.org/drawingml/2006/main" noGrp="1"/>
          </p:cNvSpPr>
          <p:nvPr/>
        </p:nvSpPr>
        <p:spPr>
          <a:xfrm xmlns:a="http://schemas.openxmlformats.org/drawingml/2006/main">
            <a:off x="8001000" y="306705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875" b="1">
                <a:solidFill>
                  <a:srgbClr val="111111"/>
                </a:solidFill>
              </a:defRPr>
            </a:pPr>
            <a:r>
              <a:rPr sz="1875" b="1">
                <a:solidFill>
                  <a:srgbClr val="111111"/>
                </a:solidFill>
              </a:rPr>
              <a:t>Preparation + reports + participation</a:t>
            </a:r>
          </a:p>
        </p:txBody>
      </p:sp>
      <p:sp>
        <p:nvSpPr>
          <p:cNvPr id="8" name="text-90">
            <a:extLst xmlns:a="http://schemas.openxmlformats.org/drawingml/2006/main">
              <a:ext uri="{FF2B5EF4-FFF2-40B4-BE49-F238E27FC236}">
                <a16:creationId xmlns:a16="http://schemas.microsoft.com/office/drawing/2014/main" id="{C63570DE-6EC5-4520-BDF7-048FEA6BE744}"/>
              </a:ext>
            </a:extLst>
          </p:cNvPr>
          <p:cNvSpPr>
            <a:spLocks xmlns:a="http://schemas.openxmlformats.org/drawingml/2006/main" noGrp="1"/>
          </p:cNvSpPr>
          <p:nvPr/>
        </p:nvSpPr>
        <p:spPr>
          <a:xfrm xmlns:a="http://schemas.openxmlformats.org/drawingml/2006/main">
            <a:off x="7905750" y="4381500"/>
            <a:ext cx="304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650" b="0">
                <a:solidFill>
                  <a:srgbClr val="5F6368"/>
                </a:solidFill>
              </a:defRPr>
            </a:pPr>
            <a:r>
              <a:rPr sz="1650" b="0">
                <a:solidFill>
                  <a:srgbClr val="5F6368"/>
                </a:solidFill>
              </a:rPr>
              <a:t>The combined reports reward synthesis across related experiments.</a:t>
            </a:r>
          </a:p>
        </p:txBody>
      </p:sp>
    </p:spTree>
    <p:extLst>
      <p:ext uri="{BB962C8B-B14F-4D97-AF65-F5344CB8AC3E}">
        <p14:creationId xmlns:p14="http://schemas.microsoft.com/office/powerpoint/2010/main" val="20879890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eyebrow-5">
            <a:extLst xmlns:a="http://schemas.openxmlformats.org/drawingml/2006/main">
              <a:ext uri="{FF2B5EF4-FFF2-40B4-BE49-F238E27FC236}">
                <a16:creationId xmlns:a16="http://schemas.microsoft.com/office/drawing/2014/main" id="{1A94AD8E-FC9D-4F86-BCB8-0AD44E813351}"/>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5">
            <a:extLst xmlns:a="http://schemas.openxmlformats.org/drawingml/2006/main">
              <a:ext uri="{FF2B5EF4-FFF2-40B4-BE49-F238E27FC236}">
                <a16:creationId xmlns:a16="http://schemas.microsoft.com/office/drawing/2014/main" id="{2293A022-F7F1-44F4-8FBB-2776F1043C8D}"/>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The laboratory workflow</a:t>
            </a:r>
          </a:p>
        </p:txBody>
      </p:sp>
      <p:sp>
        <p:nvSpPr>
          <p:cNvPr id="3" name="rule-62">
            <a:extLst xmlns:a="http://schemas.openxmlformats.org/drawingml/2006/main">
              <a:ext uri="{FF2B5EF4-FFF2-40B4-BE49-F238E27FC236}">
                <a16:creationId xmlns:a16="http://schemas.microsoft.com/office/drawing/2014/main" id="{7B847A16-6070-42C3-AB9A-26A6B5BE924D}"/>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5">
            <a:extLst xmlns:a="http://schemas.openxmlformats.org/drawingml/2006/main">
              <a:ext uri="{FF2B5EF4-FFF2-40B4-BE49-F238E27FC236}">
                <a16:creationId xmlns:a16="http://schemas.microsoft.com/office/drawing/2014/main" id="{42133AD2-CFF3-483A-86EF-E34A1C3726B6}"/>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6</a:t>
            </a:r>
          </a:p>
        </p:txBody>
      </p:sp>
      <p:sp>
        <p:nvSpPr>
          <p:cNvPr id="5" name="workflow-stage-1">
            <a:extLst xmlns:a="http://schemas.openxmlformats.org/drawingml/2006/main">
              <a:ext uri="{FF2B5EF4-FFF2-40B4-BE49-F238E27FC236}">
                <a16:creationId xmlns:a16="http://schemas.microsoft.com/office/drawing/2014/main" id="{F14EE9A9-ACC9-4BFB-89CA-E699D131657D}"/>
              </a:ext>
            </a:extLst>
          </p:cNvPr>
          <p:cNvSpPr>
            <a:spLocks xmlns:a="http://schemas.openxmlformats.org/drawingml/2006/main" noGrp="1"/>
          </p:cNvSpPr>
          <p:nvPr/>
        </p:nvSpPr>
        <p:spPr>
          <a:xfrm xmlns:a="http://schemas.openxmlformats.org/drawingml/2006/main">
            <a:off x="514350" y="2238375"/>
            <a:ext cx="2305050" cy="2333625"/>
          </a:xfrm>
          <a:prstGeom xmlns:a="http://schemas.openxmlformats.org/drawingml/2006/main" prst="rect">
            <a:avLst/>
          </a:prstGeom>
          <a:solidFill xmlns:a="http://schemas.openxmlformats.org/drawingml/2006/main">
            <a:srgbClr val="F1F1F1"/>
          </a:solidFill>
          <a:ln xmlns:a="http://schemas.openxmlformats.org/drawingml/2006/main" w="9525">
            <a:solidFill>
              <a:srgbClr val="C8CBD0"/>
            </a:solidFill>
            <a:prstDash val="solid"/>
          </a:ln>
        </p:spPr>
      </p:sp>
      <p:sp>
        <p:nvSpPr>
          <p:cNvPr id="6" name="text-65">
            <a:extLst xmlns:a="http://schemas.openxmlformats.org/drawingml/2006/main">
              <a:ext uri="{FF2B5EF4-FFF2-40B4-BE49-F238E27FC236}">
                <a16:creationId xmlns:a16="http://schemas.microsoft.com/office/drawing/2014/main" id="{A4EFA9EF-1581-4F40-A1CE-5A1EEA19CB27}"/>
              </a:ext>
            </a:extLst>
          </p:cNvPr>
          <p:cNvSpPr>
            <a:spLocks xmlns:a="http://schemas.openxmlformats.org/drawingml/2006/main" noGrp="1"/>
          </p:cNvSpPr>
          <p:nvPr/>
        </p:nvSpPr>
        <p:spPr>
          <a:xfrm xmlns:a="http://schemas.openxmlformats.org/drawingml/2006/main">
            <a:off x="685800" y="24765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00" b="1">
                <a:solidFill>
                  <a:srgbClr val="881C1C"/>
                </a:solidFill>
              </a:defRPr>
            </a:pPr>
            <a:r>
              <a:rPr sz="1800" b="1">
                <a:solidFill>
                  <a:srgbClr val="881C1C"/>
                </a:solidFill>
              </a:rPr>
              <a:t>PRE-LAB</a:t>
            </a:r>
          </a:p>
        </p:txBody>
      </p:sp>
      <p:sp>
        <p:nvSpPr>
          <p:cNvPr id="7" name="text-66">
            <a:extLst xmlns:a="http://schemas.openxmlformats.org/drawingml/2006/main">
              <a:ext uri="{FF2B5EF4-FFF2-40B4-BE49-F238E27FC236}">
                <a16:creationId xmlns:a16="http://schemas.microsoft.com/office/drawing/2014/main" id="{911975F2-438E-4EAF-9F8C-420F70B191CE}"/>
              </a:ext>
            </a:extLst>
          </p:cNvPr>
          <p:cNvSpPr>
            <a:spLocks xmlns:a="http://schemas.openxmlformats.org/drawingml/2006/main" noGrp="1"/>
          </p:cNvSpPr>
          <p:nvPr/>
        </p:nvSpPr>
        <p:spPr>
          <a:xfrm xmlns:a="http://schemas.openxmlformats.org/drawingml/2006/main">
            <a:off x="685800" y="3143250"/>
            <a:ext cx="1952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75" b="0">
                <a:solidFill>
                  <a:srgbClr val="5F6368"/>
                </a:solidFill>
              </a:defRPr>
            </a:pPr>
            <a:r>
              <a:rPr sz="1575" b="0">
                <a:solidFill>
                  <a:srgbClr val="5F6368"/>
                </a:solidFill>
              </a:rPr>
              <a:t>Build the theory and analysis tools before arriving</a:t>
            </a:r>
          </a:p>
        </p:txBody>
      </p:sp>
      <p:sp>
        <p:nvSpPr>
          <p:cNvPr id="8" name="text-67">
            <a:extLst xmlns:a="http://schemas.openxmlformats.org/drawingml/2006/main">
              <a:ext uri="{FF2B5EF4-FFF2-40B4-BE49-F238E27FC236}">
                <a16:creationId xmlns:a16="http://schemas.microsoft.com/office/drawing/2014/main" id="{22248092-0FF2-48B5-BCC1-6677BB1EC5D6}"/>
              </a:ext>
            </a:extLst>
          </p:cNvPr>
          <p:cNvSpPr>
            <a:spLocks xmlns:a="http://schemas.openxmlformats.org/drawingml/2006/main" noGrp="1"/>
          </p:cNvSpPr>
          <p:nvPr/>
        </p:nvSpPr>
        <p:spPr>
          <a:xfrm xmlns:a="http://schemas.openxmlformats.org/drawingml/2006/main">
            <a:off x="2847975" y="3143250"/>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2250" b="1">
                <a:solidFill>
                  <a:srgbClr val="111111"/>
                </a:solidFill>
              </a:defRPr>
            </a:pPr>
            <a:r>
              <a:rPr sz="2250" b="1">
                <a:solidFill>
                  <a:srgbClr val="111111"/>
                </a:solidFill>
              </a:rPr>
              <a:t>→</a:t>
            </a:r>
          </a:p>
        </p:txBody>
      </p:sp>
      <p:sp>
        <p:nvSpPr>
          <p:cNvPr id="9" name="workflow-stage-2">
            <a:extLst xmlns:a="http://schemas.openxmlformats.org/drawingml/2006/main">
              <a:ext uri="{FF2B5EF4-FFF2-40B4-BE49-F238E27FC236}">
                <a16:creationId xmlns:a16="http://schemas.microsoft.com/office/drawing/2014/main" id="{4CF2B2D4-C867-47B3-8E40-D967A76336E9}"/>
              </a:ext>
            </a:extLst>
          </p:cNvPr>
          <p:cNvSpPr>
            <a:spLocks xmlns:a="http://schemas.openxmlformats.org/drawingml/2006/main" noGrp="1"/>
          </p:cNvSpPr>
          <p:nvPr/>
        </p:nvSpPr>
        <p:spPr>
          <a:xfrm xmlns:a="http://schemas.openxmlformats.org/drawingml/2006/main">
            <a:off x="3333750" y="2238375"/>
            <a:ext cx="2305050" cy="2333625"/>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10" name="text-69">
            <a:extLst xmlns:a="http://schemas.openxmlformats.org/drawingml/2006/main">
              <a:ext uri="{FF2B5EF4-FFF2-40B4-BE49-F238E27FC236}">
                <a16:creationId xmlns:a16="http://schemas.microsoft.com/office/drawing/2014/main" id="{2BF357A3-8FCD-424C-9AE7-32E1888AE795}"/>
              </a:ext>
            </a:extLst>
          </p:cNvPr>
          <p:cNvSpPr>
            <a:spLocks xmlns:a="http://schemas.openxmlformats.org/drawingml/2006/main" noGrp="1"/>
          </p:cNvSpPr>
          <p:nvPr/>
        </p:nvSpPr>
        <p:spPr>
          <a:xfrm xmlns:a="http://schemas.openxmlformats.org/drawingml/2006/main">
            <a:off x="3505200" y="24765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00" b="1">
                <a:solidFill>
                  <a:srgbClr val="3D8DFF"/>
                </a:solidFill>
              </a:defRPr>
            </a:pPr>
            <a:r>
              <a:rPr sz="1800" b="1">
                <a:solidFill>
                  <a:srgbClr val="3D8DFF"/>
                </a:solidFill>
              </a:rPr>
              <a:t>LAB</a:t>
            </a:r>
          </a:p>
        </p:txBody>
      </p:sp>
      <p:sp>
        <p:nvSpPr>
          <p:cNvPr id="11" name="text-70">
            <a:extLst xmlns:a="http://schemas.openxmlformats.org/drawingml/2006/main">
              <a:ext uri="{FF2B5EF4-FFF2-40B4-BE49-F238E27FC236}">
                <a16:creationId xmlns:a16="http://schemas.microsoft.com/office/drawing/2014/main" id="{5D775E31-7146-468F-8E97-BF7A9C88CFEF}"/>
              </a:ext>
            </a:extLst>
          </p:cNvPr>
          <p:cNvSpPr>
            <a:spLocks xmlns:a="http://schemas.openxmlformats.org/drawingml/2006/main" noGrp="1"/>
          </p:cNvSpPr>
          <p:nvPr/>
        </p:nvSpPr>
        <p:spPr>
          <a:xfrm xmlns:a="http://schemas.openxmlformats.org/drawingml/2006/main">
            <a:off x="3505200" y="3143250"/>
            <a:ext cx="1952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75" b="0">
                <a:solidFill>
                  <a:srgbClr val="5F6368"/>
                </a:solidFill>
              </a:defRPr>
            </a:pPr>
            <a:r>
              <a:rPr sz="1575" b="0">
                <a:solidFill>
                  <a:srgbClr val="5F6368"/>
                </a:solidFill>
              </a:rPr>
              <a:t>Acquire data, check quality, and document the method</a:t>
            </a:r>
          </a:p>
        </p:txBody>
      </p:sp>
      <p:sp>
        <p:nvSpPr>
          <p:cNvPr id="12" name="text-71">
            <a:extLst xmlns:a="http://schemas.openxmlformats.org/drawingml/2006/main">
              <a:ext uri="{FF2B5EF4-FFF2-40B4-BE49-F238E27FC236}">
                <a16:creationId xmlns:a16="http://schemas.microsoft.com/office/drawing/2014/main" id="{9318D97F-C0CF-4F37-AE49-59DEC8D86EAD}"/>
              </a:ext>
            </a:extLst>
          </p:cNvPr>
          <p:cNvSpPr>
            <a:spLocks xmlns:a="http://schemas.openxmlformats.org/drawingml/2006/main" noGrp="1"/>
          </p:cNvSpPr>
          <p:nvPr/>
        </p:nvSpPr>
        <p:spPr>
          <a:xfrm xmlns:a="http://schemas.openxmlformats.org/drawingml/2006/main">
            <a:off x="5667375" y="3143250"/>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2250" b="1">
                <a:solidFill>
                  <a:srgbClr val="111111"/>
                </a:solidFill>
              </a:defRPr>
            </a:pPr>
            <a:r>
              <a:rPr sz="2250" b="1">
                <a:solidFill>
                  <a:srgbClr val="111111"/>
                </a:solidFill>
              </a:rPr>
              <a:t>→</a:t>
            </a:r>
          </a:p>
        </p:txBody>
      </p:sp>
      <p:sp>
        <p:nvSpPr>
          <p:cNvPr id="13" name="workflow-stage-3">
            <a:extLst xmlns:a="http://schemas.openxmlformats.org/drawingml/2006/main">
              <a:ext uri="{FF2B5EF4-FFF2-40B4-BE49-F238E27FC236}">
                <a16:creationId xmlns:a16="http://schemas.microsoft.com/office/drawing/2014/main" id="{A7FA340E-52D3-443B-8791-33BB17A32E94}"/>
              </a:ext>
            </a:extLst>
          </p:cNvPr>
          <p:cNvSpPr>
            <a:spLocks xmlns:a="http://schemas.openxmlformats.org/drawingml/2006/main" noGrp="1"/>
          </p:cNvSpPr>
          <p:nvPr/>
        </p:nvSpPr>
        <p:spPr>
          <a:xfrm xmlns:a="http://schemas.openxmlformats.org/drawingml/2006/main">
            <a:off x="6153150" y="2238375"/>
            <a:ext cx="2305050" cy="2333625"/>
          </a:xfrm>
          <a:prstGeom xmlns:a="http://schemas.openxmlformats.org/drawingml/2006/main" prst="rect">
            <a:avLst/>
          </a:prstGeom>
          <a:solidFill xmlns:a="http://schemas.openxmlformats.org/drawingml/2006/main">
            <a:srgbClr val="F1F1F1"/>
          </a:solidFill>
          <a:ln xmlns:a="http://schemas.openxmlformats.org/drawingml/2006/main" w="9525">
            <a:solidFill>
              <a:srgbClr val="C8CBD0"/>
            </a:solidFill>
            <a:prstDash val="solid"/>
          </a:ln>
        </p:spPr>
      </p:sp>
      <p:sp>
        <p:nvSpPr>
          <p:cNvPr id="14" name="text-73">
            <a:extLst xmlns:a="http://schemas.openxmlformats.org/drawingml/2006/main">
              <a:ext uri="{FF2B5EF4-FFF2-40B4-BE49-F238E27FC236}">
                <a16:creationId xmlns:a16="http://schemas.microsoft.com/office/drawing/2014/main" id="{13F8044D-B0D8-4CCB-A917-800D6E0C967A}"/>
              </a:ext>
            </a:extLst>
          </p:cNvPr>
          <p:cNvSpPr>
            <a:spLocks xmlns:a="http://schemas.openxmlformats.org/drawingml/2006/main" noGrp="1"/>
          </p:cNvSpPr>
          <p:nvPr/>
        </p:nvSpPr>
        <p:spPr>
          <a:xfrm xmlns:a="http://schemas.openxmlformats.org/drawingml/2006/main">
            <a:off x="6324600" y="24765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00" b="1">
                <a:solidFill>
                  <a:srgbClr val="881C1C"/>
                </a:solidFill>
              </a:defRPr>
            </a:pPr>
            <a:r>
              <a:rPr sz="1800" b="1">
                <a:solidFill>
                  <a:srgbClr val="881C1C"/>
                </a:solidFill>
              </a:rPr>
              <a:t>ANALYSIS</a:t>
            </a:r>
          </a:p>
        </p:txBody>
      </p:sp>
      <p:sp>
        <p:nvSpPr>
          <p:cNvPr id="15" name="text-74">
            <a:extLst xmlns:a="http://schemas.openxmlformats.org/drawingml/2006/main">
              <a:ext uri="{FF2B5EF4-FFF2-40B4-BE49-F238E27FC236}">
                <a16:creationId xmlns:a16="http://schemas.microsoft.com/office/drawing/2014/main" id="{0C0EA588-F33A-495B-92D6-94D416BCCC7C}"/>
              </a:ext>
            </a:extLst>
          </p:cNvPr>
          <p:cNvSpPr>
            <a:spLocks xmlns:a="http://schemas.openxmlformats.org/drawingml/2006/main" noGrp="1"/>
          </p:cNvSpPr>
          <p:nvPr/>
        </p:nvSpPr>
        <p:spPr>
          <a:xfrm xmlns:a="http://schemas.openxmlformats.org/drawingml/2006/main">
            <a:off x="6324600" y="3143250"/>
            <a:ext cx="1952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75" b="0">
                <a:solidFill>
                  <a:srgbClr val="5F6368"/>
                </a:solidFill>
              </a:defRPr>
            </a:pPr>
            <a:r>
              <a:rPr sz="1575" b="0">
                <a:solidFill>
                  <a:srgbClr val="5F6368"/>
                </a:solidFill>
              </a:rPr>
              <a:t>Process data, quantify uncertainty, compare cases</a:t>
            </a:r>
          </a:p>
        </p:txBody>
      </p:sp>
      <p:sp>
        <p:nvSpPr>
          <p:cNvPr id="16" name="text-75">
            <a:extLst xmlns:a="http://schemas.openxmlformats.org/drawingml/2006/main">
              <a:ext uri="{FF2B5EF4-FFF2-40B4-BE49-F238E27FC236}">
                <a16:creationId xmlns:a16="http://schemas.microsoft.com/office/drawing/2014/main" id="{44AE7FE8-EEB0-453E-B718-05C174DB001C}"/>
              </a:ext>
            </a:extLst>
          </p:cNvPr>
          <p:cNvSpPr>
            <a:spLocks xmlns:a="http://schemas.openxmlformats.org/drawingml/2006/main" noGrp="1"/>
          </p:cNvSpPr>
          <p:nvPr/>
        </p:nvSpPr>
        <p:spPr>
          <a:xfrm xmlns:a="http://schemas.openxmlformats.org/drawingml/2006/main">
            <a:off x="8486775" y="3143250"/>
            <a:ext cx="4381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2250" b="1">
                <a:solidFill>
                  <a:srgbClr val="111111"/>
                </a:solidFill>
              </a:defRPr>
            </a:pPr>
            <a:r>
              <a:rPr sz="2250" b="1">
                <a:solidFill>
                  <a:srgbClr val="111111"/>
                </a:solidFill>
              </a:rPr>
              <a:t>→</a:t>
            </a:r>
          </a:p>
        </p:txBody>
      </p:sp>
      <p:sp>
        <p:nvSpPr>
          <p:cNvPr id="17" name="workflow-stage-4">
            <a:extLst xmlns:a="http://schemas.openxmlformats.org/drawingml/2006/main">
              <a:ext uri="{FF2B5EF4-FFF2-40B4-BE49-F238E27FC236}">
                <a16:creationId xmlns:a16="http://schemas.microsoft.com/office/drawing/2014/main" id="{CA803D2C-3827-453B-B3BB-8B7CD343D637}"/>
              </a:ext>
            </a:extLst>
          </p:cNvPr>
          <p:cNvSpPr>
            <a:spLocks xmlns:a="http://schemas.openxmlformats.org/drawingml/2006/main" noGrp="1"/>
          </p:cNvSpPr>
          <p:nvPr/>
        </p:nvSpPr>
        <p:spPr>
          <a:xfrm xmlns:a="http://schemas.openxmlformats.org/drawingml/2006/main">
            <a:off x="8972550" y="2238375"/>
            <a:ext cx="2305050" cy="2333625"/>
          </a:xfrm>
          <a:prstGeom xmlns:a="http://schemas.openxmlformats.org/drawingml/2006/main" prst="rect">
            <a:avLst/>
          </a:prstGeom>
          <a:solidFill xmlns:a="http://schemas.openxmlformats.org/drawingml/2006/main">
            <a:srgbClr val="F1F1F1"/>
          </a:solidFill>
          <a:ln xmlns:a="http://schemas.openxmlformats.org/drawingml/2006/main" w="9525">
            <a:solidFill>
              <a:srgbClr val="C8CBD0"/>
            </a:solidFill>
            <a:prstDash val="solid"/>
          </a:ln>
        </p:spPr>
      </p:sp>
      <p:sp>
        <p:nvSpPr>
          <p:cNvPr id="18" name="text-77">
            <a:extLst xmlns:a="http://schemas.openxmlformats.org/drawingml/2006/main">
              <a:ext uri="{FF2B5EF4-FFF2-40B4-BE49-F238E27FC236}">
                <a16:creationId xmlns:a16="http://schemas.microsoft.com/office/drawing/2014/main" id="{F6DE8090-1D93-4303-8161-D898F19C2801}"/>
              </a:ext>
            </a:extLst>
          </p:cNvPr>
          <p:cNvSpPr>
            <a:spLocks xmlns:a="http://schemas.openxmlformats.org/drawingml/2006/main" noGrp="1"/>
          </p:cNvSpPr>
          <p:nvPr/>
        </p:nvSpPr>
        <p:spPr>
          <a:xfrm xmlns:a="http://schemas.openxmlformats.org/drawingml/2006/main">
            <a:off x="9144000" y="2476500"/>
            <a:ext cx="1952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00" b="1">
                <a:solidFill>
                  <a:srgbClr val="881C1C"/>
                </a:solidFill>
              </a:defRPr>
            </a:pPr>
            <a:r>
              <a:rPr sz="1800" b="1">
                <a:solidFill>
                  <a:srgbClr val="881C1C"/>
                </a:solidFill>
              </a:rPr>
              <a:t>REPORT</a:t>
            </a:r>
          </a:p>
        </p:txBody>
      </p:sp>
      <p:sp>
        <p:nvSpPr>
          <p:cNvPr id="19" name="text-78">
            <a:extLst xmlns:a="http://schemas.openxmlformats.org/drawingml/2006/main">
              <a:ext uri="{FF2B5EF4-FFF2-40B4-BE49-F238E27FC236}">
                <a16:creationId xmlns:a16="http://schemas.microsoft.com/office/drawing/2014/main" id="{463F6600-3D14-4AEB-8981-AB7A858D4568}"/>
              </a:ext>
            </a:extLst>
          </p:cNvPr>
          <p:cNvSpPr>
            <a:spLocks xmlns:a="http://schemas.openxmlformats.org/drawingml/2006/main" noGrp="1"/>
          </p:cNvSpPr>
          <p:nvPr/>
        </p:nvSpPr>
        <p:spPr>
          <a:xfrm xmlns:a="http://schemas.openxmlformats.org/drawingml/2006/main">
            <a:off x="9144000" y="3143250"/>
            <a:ext cx="1952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75" b="0">
                <a:solidFill>
                  <a:srgbClr val="5F6368"/>
                </a:solidFill>
              </a:defRPr>
            </a:pPr>
            <a:r>
              <a:rPr sz="1575" b="0">
                <a:solidFill>
                  <a:srgbClr val="5F6368"/>
                </a:solidFill>
              </a:rPr>
              <a:t>Make a clear claim and support it with evidence</a:t>
            </a:r>
          </a:p>
        </p:txBody>
      </p:sp>
      <p:sp>
        <p:nvSpPr>
          <p:cNvPr id="20" name="text-79">
            <a:extLst xmlns:a="http://schemas.openxmlformats.org/drawingml/2006/main">
              <a:ext uri="{FF2B5EF4-FFF2-40B4-BE49-F238E27FC236}">
                <a16:creationId xmlns:a16="http://schemas.microsoft.com/office/drawing/2014/main" id="{2AF563B5-ED71-426E-B98C-A21D7B989AF9}"/>
              </a:ext>
            </a:extLst>
          </p:cNvPr>
          <p:cNvSpPr>
            <a:spLocks xmlns:a="http://schemas.openxmlformats.org/drawingml/2006/main" noGrp="1"/>
          </p:cNvSpPr>
          <p:nvPr/>
        </p:nvSpPr>
        <p:spPr>
          <a:xfrm xmlns:a="http://schemas.openxmlformats.org/drawingml/2006/main">
            <a:off x="514350" y="5219700"/>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75" b="1">
                <a:solidFill>
                  <a:srgbClr val="881C1C"/>
                </a:solidFill>
              </a:defRPr>
            </a:pPr>
            <a:r>
              <a:rPr sz="1875" b="1">
                <a:solidFill>
                  <a:srgbClr val="881C1C"/>
                </a:solidFill>
              </a:rPr>
              <a:t>Pre-labs are due before your own laboratory section begins.</a:t>
            </a:r>
          </a:p>
        </p:txBody>
      </p:sp>
    </p:spTree>
    <p:extLst>
      <p:ext uri="{BB962C8B-B14F-4D97-AF65-F5344CB8AC3E}">
        <p14:creationId xmlns:p14="http://schemas.microsoft.com/office/powerpoint/2010/main" val="1470851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eyebrow-6">
            <a:extLst xmlns:a="http://schemas.openxmlformats.org/drawingml/2006/main">
              <a:ext uri="{FF2B5EF4-FFF2-40B4-BE49-F238E27FC236}">
                <a16:creationId xmlns:a16="http://schemas.microsoft.com/office/drawing/2014/main" id="{21D06FEB-6F47-4FD7-A6EF-00D2C5F324FA}"/>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6">
            <a:extLst xmlns:a="http://schemas.openxmlformats.org/drawingml/2006/main">
              <a:ext uri="{FF2B5EF4-FFF2-40B4-BE49-F238E27FC236}">
                <a16:creationId xmlns:a16="http://schemas.microsoft.com/office/drawing/2014/main" id="{8AA6822A-BE6C-4365-AB80-5EB4A352235E}"/>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Six experiments and four reports</a:t>
            </a:r>
          </a:p>
        </p:txBody>
      </p:sp>
      <p:sp>
        <p:nvSpPr>
          <p:cNvPr id="3" name="rule-82">
            <a:extLst xmlns:a="http://schemas.openxmlformats.org/drawingml/2006/main">
              <a:ext uri="{FF2B5EF4-FFF2-40B4-BE49-F238E27FC236}">
                <a16:creationId xmlns:a16="http://schemas.microsoft.com/office/drawing/2014/main" id="{5C5B64BA-9FBF-4A50-BC46-135ED8BDA10A}"/>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6">
            <a:extLst xmlns:a="http://schemas.openxmlformats.org/drawingml/2006/main">
              <a:ext uri="{FF2B5EF4-FFF2-40B4-BE49-F238E27FC236}">
                <a16:creationId xmlns:a16="http://schemas.microsoft.com/office/drawing/2014/main" id="{C03206CB-9037-47F3-B2EF-CE0F435B458B}"/>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7</a:t>
            </a:r>
          </a:p>
        </p:txBody>
      </p:sp>
      <p:graphicFrame>
        <p:nvGraphicFramePr>
          <p:cNvPr id="12" name=""/>
          <p:cNvGraphicFramePr/>
          <p:nvPr/>
        </p:nvGraphicFramePr>
        <p:xfrm>
          <a:off xmlns:a="http://schemas.openxmlformats.org/drawingml/2006/main" x="514350" y="1714500"/>
          <a:ext xmlns:a="http://schemas.openxmlformats.org/drawingml/2006/main" cx="10668000" cy="4095750"/>
        </p:xfrm>
        <a:graphic xmlns:a="http://schemas.openxmlformats.org/drawingml/2006/main">
          <a:graphicData uri="http://schemas.openxmlformats.org/drawingml/2006/table">
            <a:tbl>
              <a:tblPr/>
              <a:tblGrid>
                <a:gridCol w="857250"/>
                <a:gridCol w="3238500"/>
                <a:gridCol w="4476750"/>
                <a:gridCol w="2095500"/>
              </a:tblGrid>
              <a:tr h="585107">
                <a:tc>
                  <a:txBody>
                    <a:bodyPr/>
                    <a:lstStyle/>
                    <a:p>
                      <a:r>
                        <a:rPr sz="1350" b="1">
                          <a:solidFill>
                            <a:srgbClr val="FFFFFF"/>
                          </a:solidFill>
                        </a:rPr>
                        <a:t>Lab</a:t>
                      </a:r>
                    </a:p>
                  </a:txBody>
                  <a:tcPr marL="91440" marR="91440" marT="45720" marB="45720">
                    <a:solidFill>
                      <a:srgbClr val="881C1C"/>
                    </a:solidFill>
                  </a:tcPr>
                </a:tc>
                <a:tc>
                  <a:txBody>
                    <a:bodyPr/>
                    <a:lstStyle/>
                    <a:p>
                      <a:r>
                        <a:rPr sz="1350" b="1">
                          <a:solidFill>
                            <a:srgbClr val="FFFFFF"/>
                          </a:solidFill>
                        </a:rPr>
                        <a:t>Experiment</a:t>
                      </a:r>
                    </a:p>
                  </a:txBody>
                  <a:tcPr marL="91440" marR="91440" marT="45720" marB="45720">
                    <a:solidFill>
                      <a:srgbClr val="881C1C"/>
                    </a:solidFill>
                  </a:tcPr>
                </a:tc>
                <a:tc>
                  <a:txBody>
                    <a:bodyPr/>
                    <a:lstStyle/>
                    <a:p>
                      <a:r>
                        <a:rPr sz="1350" b="1">
                          <a:solidFill>
                            <a:srgbClr val="FFFFFF"/>
                          </a:solidFill>
                        </a:rPr>
                        <a:t>Primary focus</a:t>
                      </a:r>
                    </a:p>
                  </a:txBody>
                  <a:tcPr marL="91440" marR="91440" marT="45720" marB="45720">
                    <a:solidFill>
                      <a:srgbClr val="881C1C"/>
                    </a:solidFill>
                  </a:tcPr>
                </a:tc>
                <a:tc>
                  <a:txBody>
                    <a:bodyPr/>
                    <a:lstStyle/>
                    <a:p>
                      <a:r>
                        <a:rPr sz="1350" b="1">
                          <a:solidFill>
                            <a:srgbClr val="FFFFFF"/>
                          </a:solidFill>
                        </a:rPr>
                        <a:t>Report</a:t>
                      </a:r>
                    </a:p>
                  </a:txBody>
                  <a:tcPr marL="91440" marR="91440" marT="45720" marB="45720">
                    <a:solidFill>
                      <a:srgbClr val="881C1C"/>
                    </a:solidFill>
                  </a:tcPr>
                </a:tc>
              </a:tr>
              <a:tr h="585107">
                <a:tc>
                  <a:txBody>
                    <a:bodyPr/>
                    <a:lstStyle/>
                    <a:p>
                      <a:r>
                        <a:rPr sz="1275" b="0">
                          <a:solidFill>
                            <a:srgbClr val="111111"/>
                          </a:solidFill>
                        </a:rPr>
                        <a:t>1</a:t>
                      </a:r>
                    </a:p>
                  </a:txBody>
                  <a:tcPr marL="91440" marR="91440" marT="45720" marB="45720">
                    <a:solidFill>
                      <a:srgbClr val="FFFFFF"/>
                    </a:solidFill>
                  </a:tcPr>
                </a:tc>
                <a:tc>
                  <a:txBody>
                    <a:bodyPr/>
                    <a:lstStyle/>
                    <a:p>
                      <a:r>
                        <a:rPr sz="1275" b="0">
                          <a:solidFill>
                            <a:srgbClr val="111111"/>
                          </a:solidFill>
                        </a:rPr>
                        <a:t>Dynamic data sampling</a:t>
                      </a:r>
                    </a:p>
                  </a:txBody>
                  <a:tcPr marL="91440" marR="91440" marT="45720" marB="45720">
                    <a:solidFill>
                      <a:srgbClr val="FFFFFF"/>
                    </a:solidFill>
                  </a:tcPr>
                </a:tc>
                <a:tc>
                  <a:txBody>
                    <a:bodyPr/>
                    <a:lstStyle/>
                    <a:p>
                      <a:r>
                        <a:rPr sz="1275" b="0">
                          <a:solidFill>
                            <a:srgbClr val="111111"/>
                          </a:solidFill>
                        </a:rPr>
                        <a:t>Sampling, aliasing, spectra</a:t>
                      </a:r>
                    </a:p>
                  </a:txBody>
                  <a:tcPr marL="91440" marR="91440" marT="45720" marB="45720">
                    <a:solidFill>
                      <a:srgbClr val="FFFFFF"/>
                    </a:solidFill>
                  </a:tcPr>
                </a:tc>
                <a:tc>
                  <a:txBody>
                    <a:bodyPr/>
                    <a:lstStyle/>
                    <a:p>
                      <a:r>
                        <a:rPr sz="1275" b="0">
                          <a:solidFill>
                            <a:srgbClr val="111111"/>
                          </a:solidFill>
                        </a:rPr>
                        <a:t>Lab 1</a:t>
                      </a:r>
                    </a:p>
                  </a:txBody>
                  <a:tcPr marL="91440" marR="91440" marT="45720" marB="45720">
                    <a:solidFill>
                      <a:srgbClr val="FFFFFF"/>
                    </a:solidFill>
                  </a:tcPr>
                </a:tc>
              </a:tr>
              <a:tr h="585107">
                <a:tc>
                  <a:txBody>
                    <a:bodyPr/>
                    <a:lstStyle/>
                    <a:p>
                      <a:r>
                        <a:rPr sz="1275" b="0">
                          <a:solidFill>
                            <a:srgbClr val="111111"/>
                          </a:solidFill>
                        </a:rPr>
                        <a:t>2</a:t>
                      </a:r>
                    </a:p>
                  </a:txBody>
                  <a:tcPr marL="91440" marR="91440" marT="45720" marB="45720">
                    <a:solidFill>
                      <a:srgbClr val="F7F7F7"/>
                    </a:solidFill>
                  </a:tcPr>
                </a:tc>
                <a:tc>
                  <a:txBody>
                    <a:bodyPr/>
                    <a:lstStyle/>
                    <a:p>
                      <a:r>
                        <a:rPr sz="1275" b="0">
                          <a:solidFill>
                            <a:srgbClr val="111111"/>
                          </a:solidFill>
                        </a:rPr>
                        <a:t>Single pendulum</a:t>
                      </a:r>
                    </a:p>
                  </a:txBody>
                  <a:tcPr marL="91440" marR="91440" marT="45720" marB="45720">
                    <a:solidFill>
                      <a:srgbClr val="F7F7F7"/>
                    </a:solidFill>
                  </a:tcPr>
                </a:tc>
                <a:tc>
                  <a:txBody>
                    <a:bodyPr/>
                    <a:lstStyle/>
                    <a:p>
                      <a:r>
                        <a:rPr sz="1275" b="0">
                          <a:solidFill>
                            <a:srgbClr val="111111"/>
                          </a:solidFill>
                        </a:rPr>
                        <a:t>Dynamic response, model–data</a:t>
                      </a:r>
                    </a:p>
                  </a:txBody>
                  <a:tcPr marL="91440" marR="91440" marT="45720" marB="45720">
                    <a:solidFill>
                      <a:srgbClr val="F7F7F7"/>
                    </a:solidFill>
                  </a:tcPr>
                </a:tc>
                <a:tc>
                  <a:txBody>
                    <a:bodyPr/>
                    <a:lstStyle/>
                    <a:p>
                      <a:r>
                        <a:rPr sz="1275" b="0">
                          <a:solidFill>
                            <a:srgbClr val="111111"/>
                          </a:solidFill>
                        </a:rPr>
                        <a:t>Labs 2+3</a:t>
                      </a:r>
                    </a:p>
                  </a:txBody>
                  <a:tcPr marL="91440" marR="91440" marT="45720" marB="45720">
                    <a:solidFill>
                      <a:srgbClr val="F7F7F7"/>
                    </a:solidFill>
                  </a:tcPr>
                </a:tc>
              </a:tr>
              <a:tr h="585107">
                <a:tc>
                  <a:txBody>
                    <a:bodyPr/>
                    <a:lstStyle/>
                    <a:p>
                      <a:r>
                        <a:rPr sz="1275" b="0">
                          <a:solidFill>
                            <a:srgbClr val="111111"/>
                          </a:solidFill>
                        </a:rPr>
                        <a:t>3</a:t>
                      </a:r>
                    </a:p>
                  </a:txBody>
                  <a:tcPr marL="91440" marR="91440" marT="45720" marB="45720">
                    <a:solidFill>
                      <a:srgbClr val="FFFFFF"/>
                    </a:solidFill>
                  </a:tcPr>
                </a:tc>
                <a:tc>
                  <a:txBody>
                    <a:bodyPr/>
                    <a:lstStyle/>
                    <a:p>
                      <a:r>
                        <a:rPr sz="1275" b="0">
                          <a:solidFill>
                            <a:srgbClr val="111111"/>
                          </a:solidFill>
                        </a:rPr>
                        <a:t>Double pendulum</a:t>
                      </a:r>
                    </a:p>
                  </a:txBody>
                  <a:tcPr marL="91440" marR="91440" marT="45720" marB="45720">
                    <a:solidFill>
                      <a:srgbClr val="FFFFFF"/>
                    </a:solidFill>
                  </a:tcPr>
                </a:tc>
                <a:tc>
                  <a:txBody>
                    <a:bodyPr/>
                    <a:lstStyle/>
                    <a:p>
                      <a:r>
                        <a:rPr sz="1275" b="0">
                          <a:solidFill>
                            <a:srgbClr val="111111"/>
                          </a:solidFill>
                        </a:rPr>
                        <a:t>Coupled and nonlinear motion</a:t>
                      </a:r>
                    </a:p>
                  </a:txBody>
                  <a:tcPr marL="91440" marR="91440" marT="45720" marB="45720">
                    <a:solidFill>
                      <a:srgbClr val="FFFFFF"/>
                    </a:solidFill>
                  </a:tcPr>
                </a:tc>
                <a:tc>
                  <a:txBody>
                    <a:bodyPr/>
                    <a:lstStyle/>
                    <a:p>
                      <a:r>
                        <a:rPr sz="1275" b="0">
                          <a:solidFill>
                            <a:srgbClr val="111111"/>
                          </a:solidFill>
                        </a:rPr>
                        <a:t>Labs 2+3</a:t>
                      </a:r>
                    </a:p>
                  </a:txBody>
                  <a:tcPr marL="91440" marR="91440" marT="45720" marB="45720">
                    <a:solidFill>
                      <a:srgbClr val="FFFFFF"/>
                    </a:solidFill>
                  </a:tcPr>
                </a:tc>
              </a:tr>
              <a:tr h="585107">
                <a:tc>
                  <a:txBody>
                    <a:bodyPr/>
                    <a:lstStyle/>
                    <a:p>
                      <a:r>
                        <a:rPr sz="1275" b="0">
                          <a:solidFill>
                            <a:srgbClr val="111111"/>
                          </a:solidFill>
                        </a:rPr>
                        <a:t>4</a:t>
                      </a:r>
                    </a:p>
                  </a:txBody>
                  <a:tcPr marL="91440" marR="91440" marT="45720" marB="45720">
                    <a:solidFill>
                      <a:srgbClr val="F7F7F7"/>
                    </a:solidFill>
                  </a:tcPr>
                </a:tc>
                <a:tc>
                  <a:txBody>
                    <a:bodyPr/>
                    <a:lstStyle/>
                    <a:p>
                      <a:r>
                        <a:rPr sz="1275" b="0">
                          <a:solidFill>
                            <a:srgbClr val="111111"/>
                          </a:solidFill>
                        </a:rPr>
                        <a:t>1-DOF free response</a:t>
                      </a:r>
                    </a:p>
                  </a:txBody>
                  <a:tcPr marL="91440" marR="91440" marT="45720" marB="45720">
                    <a:solidFill>
                      <a:srgbClr val="F7F7F7"/>
                    </a:solidFill>
                  </a:tcPr>
                </a:tc>
                <a:tc>
                  <a:txBody>
                    <a:bodyPr/>
                    <a:lstStyle/>
                    <a:p>
                      <a:r>
                        <a:rPr sz="1275" b="0">
                          <a:solidFill>
                            <a:srgbClr val="111111"/>
                          </a:solidFill>
                        </a:rPr>
                        <a:t>Natural frequency, damping</a:t>
                      </a:r>
                    </a:p>
                  </a:txBody>
                  <a:tcPr marL="91440" marR="91440" marT="45720" marB="45720">
                    <a:solidFill>
                      <a:srgbClr val="F7F7F7"/>
                    </a:solidFill>
                  </a:tcPr>
                </a:tc>
                <a:tc>
                  <a:txBody>
                    <a:bodyPr/>
                    <a:lstStyle/>
                    <a:p>
                      <a:r>
                        <a:rPr sz="1275" b="0">
                          <a:solidFill>
                            <a:srgbClr val="111111"/>
                          </a:solidFill>
                        </a:rPr>
                        <a:t>Labs 4+5</a:t>
                      </a:r>
                    </a:p>
                  </a:txBody>
                  <a:tcPr marL="91440" marR="91440" marT="45720" marB="45720">
                    <a:solidFill>
                      <a:srgbClr val="F7F7F7"/>
                    </a:solidFill>
                  </a:tcPr>
                </a:tc>
              </a:tr>
              <a:tr h="585107">
                <a:tc>
                  <a:txBody>
                    <a:bodyPr/>
                    <a:lstStyle/>
                    <a:p>
                      <a:r>
                        <a:rPr sz="1275" b="0">
                          <a:solidFill>
                            <a:srgbClr val="111111"/>
                          </a:solidFill>
                        </a:rPr>
                        <a:t>5</a:t>
                      </a:r>
                    </a:p>
                  </a:txBody>
                  <a:tcPr marL="91440" marR="91440" marT="45720" marB="45720">
                    <a:solidFill>
                      <a:srgbClr val="FFFFFF"/>
                    </a:solidFill>
                  </a:tcPr>
                </a:tc>
                <a:tc>
                  <a:txBody>
                    <a:bodyPr/>
                    <a:lstStyle/>
                    <a:p>
                      <a:r>
                        <a:rPr sz="1275" b="0">
                          <a:solidFill>
                            <a:srgbClr val="111111"/>
                          </a:solidFill>
                        </a:rPr>
                        <a:t>1-DOF forced response</a:t>
                      </a:r>
                    </a:p>
                  </a:txBody>
                  <a:tcPr marL="91440" marR="91440" marT="45720" marB="45720">
                    <a:solidFill>
                      <a:srgbClr val="FFFFFF"/>
                    </a:solidFill>
                  </a:tcPr>
                </a:tc>
                <a:tc>
                  <a:txBody>
                    <a:bodyPr/>
                    <a:lstStyle/>
                    <a:p>
                      <a:r>
                        <a:rPr sz="1275" b="0">
                          <a:solidFill>
                            <a:srgbClr val="111111"/>
                          </a:solidFill>
                        </a:rPr>
                        <a:t>Resonance, frequency response</a:t>
                      </a:r>
                    </a:p>
                  </a:txBody>
                  <a:tcPr marL="91440" marR="91440" marT="45720" marB="45720">
                    <a:solidFill>
                      <a:srgbClr val="FFFFFF"/>
                    </a:solidFill>
                  </a:tcPr>
                </a:tc>
                <a:tc>
                  <a:txBody>
                    <a:bodyPr/>
                    <a:lstStyle/>
                    <a:p>
                      <a:r>
                        <a:rPr sz="1275" b="0">
                          <a:solidFill>
                            <a:srgbClr val="111111"/>
                          </a:solidFill>
                        </a:rPr>
                        <a:t>Labs 4+5</a:t>
                      </a:r>
                    </a:p>
                  </a:txBody>
                  <a:tcPr marL="91440" marR="91440" marT="45720" marB="45720">
                    <a:solidFill>
                      <a:srgbClr val="FFFFFF"/>
                    </a:solidFill>
                  </a:tcPr>
                </a:tc>
              </a:tr>
              <a:tr h="585107">
                <a:tc>
                  <a:txBody>
                    <a:bodyPr/>
                    <a:lstStyle/>
                    <a:p>
                      <a:r>
                        <a:rPr sz="1275" b="0">
                          <a:solidFill>
                            <a:srgbClr val="111111"/>
                          </a:solidFill>
                        </a:rPr>
                        <a:t>6</a:t>
                      </a:r>
                    </a:p>
                  </a:txBody>
                  <a:tcPr marL="91440" marR="91440" marT="45720" marB="45720">
                    <a:solidFill>
                      <a:srgbClr val="F7F7F7"/>
                    </a:solidFill>
                  </a:tcPr>
                </a:tc>
                <a:tc>
                  <a:txBody>
                    <a:bodyPr/>
                    <a:lstStyle/>
                    <a:p>
                      <a:r>
                        <a:rPr sz="1275" b="0">
                          <a:solidFill>
                            <a:srgbClr val="111111"/>
                          </a:solidFill>
                        </a:rPr>
                        <a:t>Radiometer</a:t>
                      </a:r>
                    </a:p>
                  </a:txBody>
                  <a:tcPr marL="91440" marR="91440" marT="45720" marB="45720">
                    <a:solidFill>
                      <a:srgbClr val="F7F7F7"/>
                    </a:solidFill>
                  </a:tcPr>
                </a:tc>
                <a:tc>
                  <a:txBody>
                    <a:bodyPr/>
                    <a:lstStyle/>
                    <a:p>
                      <a:r>
                        <a:rPr sz="1275" b="0">
                          <a:solidFill>
                            <a:srgbClr val="111111"/>
                          </a:solidFill>
                        </a:rPr>
                        <a:t>Movement measurement</a:t>
                      </a:r>
                    </a:p>
                  </a:txBody>
                  <a:tcPr marL="91440" marR="91440" marT="45720" marB="45720">
                    <a:solidFill>
                      <a:srgbClr val="F7F7F7"/>
                    </a:solidFill>
                  </a:tcPr>
                </a:tc>
                <a:tc>
                  <a:txBody>
                    <a:bodyPr/>
                    <a:lstStyle/>
                    <a:p>
                      <a:r>
                        <a:rPr sz="1275" b="0">
                          <a:solidFill>
                            <a:srgbClr val="111111"/>
                          </a:solidFill>
                        </a:rPr>
                        <a:t>Lab 6</a:t>
                      </a:r>
                    </a:p>
                  </a:txBody>
                  <a:tcPr marL="91440" marR="91440" marT="45720" marB="45720">
                    <a:solidFill>
                      <a:srgbClr val="F7F7F7"/>
                    </a:solidFill>
                  </a:tcPr>
                </a:tc>
              </a:tr>
            </a:tbl>
          </a:graphicData>
        </a:graphic>
      </p:graphicFrame>
    </p:spTree>
    <p:extLst>
      <p:ext uri="{BB962C8B-B14F-4D97-AF65-F5344CB8AC3E}">
        <p14:creationId xmlns:p14="http://schemas.microsoft.com/office/powerpoint/2010/main" val="1502777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rse">
            <a:extLst xmlns:a="http://schemas.openxmlformats.org/drawingml/2006/main">
              <a:ext uri="{FF2B5EF4-FFF2-40B4-BE49-F238E27FC236}">
                <a16:creationId xmlns:a16="http://schemas.microsoft.com/office/drawing/2014/main" id="{644075A0-A121-47C0-B59B-6FE7CE555F63}"/>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06F683C6-9F5C-4A40-889B-186FB927BA66}"/>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1: Sampling and frequency analysis</a:t>
            </a:r>
          </a:p>
        </p:txBody>
      </p:sp>
      <p:sp>
        <p:nvSpPr>
          <p:cNvPr id="3" name="body">
            <a:extLst xmlns:a="http://schemas.openxmlformats.org/drawingml/2006/main">
              <a:ext uri="{FF2B5EF4-FFF2-40B4-BE49-F238E27FC236}">
                <a16:creationId xmlns:a16="http://schemas.microsoft.com/office/drawing/2014/main" id="{CA703D9D-9A44-4F4E-A32B-A8E80147A69C}"/>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Question</a:t>
            </a:r>
          </a:p>
        </p:txBody>
      </p:sp>
      <p:sp>
        <p:nvSpPr>
          <p:cNvPr id="4" name="body">
            <a:extLst xmlns:a="http://schemas.openxmlformats.org/drawingml/2006/main">
              <a:ext uri="{FF2B5EF4-FFF2-40B4-BE49-F238E27FC236}">
                <a16:creationId xmlns:a16="http://schemas.microsoft.com/office/drawing/2014/main" id="{2A6D6B89-83AE-48ED-A356-80373E69781A}"/>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How can the same sound produce different sampled signals?</a:t>
            </a:r>
          </a:p>
        </p:txBody>
      </p:sp>
      <p:sp>
        <p:nvSpPr>
          <p:cNvPr id="5" name="body">
            <a:extLst xmlns:a="http://schemas.openxmlformats.org/drawingml/2006/main">
              <a:ext uri="{FF2B5EF4-FFF2-40B4-BE49-F238E27FC236}">
                <a16:creationId xmlns:a16="http://schemas.microsoft.com/office/drawing/2014/main" id="{23269B9A-57BC-48CA-9659-B5DA3092F03A}"/>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Measurement</a:t>
            </a:r>
          </a:p>
        </p:txBody>
      </p:sp>
      <p:sp>
        <p:nvSpPr>
          <p:cNvPr id="6" name="body">
            <a:extLst xmlns:a="http://schemas.openxmlformats.org/drawingml/2006/main">
              <a:ext uri="{FF2B5EF4-FFF2-40B4-BE49-F238E27FC236}">
                <a16:creationId xmlns:a16="http://schemas.microsoft.com/office/drawing/2014/main" id="{325A329A-C525-485E-B657-E60EB34F384A}"/>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Record microphone voltage and the sampling rate. Compare time traces and spectra.</a:t>
            </a:r>
          </a:p>
        </p:txBody>
      </p:sp>
      <p:sp>
        <p:nvSpPr>
          <p:cNvPr id="7" name="body">
            <a:extLst xmlns:a="http://schemas.openxmlformats.org/drawingml/2006/main">
              <a:ext uri="{FF2B5EF4-FFF2-40B4-BE49-F238E27FC236}">
                <a16:creationId xmlns:a16="http://schemas.microsoft.com/office/drawing/2014/main" id="{5B3D8BC8-D37F-4750-8327-1137604A0A47}"/>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Report evidence</a:t>
            </a:r>
          </a:p>
        </p:txBody>
      </p:sp>
      <p:sp>
        <p:nvSpPr>
          <p:cNvPr id="8" name="body">
            <a:extLst xmlns:a="http://schemas.openxmlformats.org/drawingml/2006/main">
              <a:ext uri="{FF2B5EF4-FFF2-40B4-BE49-F238E27FC236}">
                <a16:creationId xmlns:a16="http://schemas.microsoft.com/office/drawing/2014/main" id="{EAF7E2B9-CB69-46D1-AC4A-77E4AE9CB47A}"/>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Show how sample rate and record duration affect the inferred frequency. Identify aliasing.</a:t>
            </a:r>
          </a:p>
        </p:txBody>
      </p:sp>
      <p:sp>
        <p:nvSpPr>
          <p:cNvPr id="9" name="equation">
            <a:extLst xmlns:a="http://schemas.openxmlformats.org/drawingml/2006/main">
              <a:ext uri="{FF2B5EF4-FFF2-40B4-BE49-F238E27FC236}">
                <a16:creationId xmlns:a16="http://schemas.microsoft.com/office/drawing/2014/main" id="{2B898752-80CA-463A-8C9D-B3097EE3AEC2}"/>
              </a:ext>
            </a:extLst>
          </p:cNvPr>
          <p:cNvSpPr>
            <a:spLocks xmlns:a="http://schemas.openxmlformats.org/drawingml/2006/main" noGrp="1"/>
          </p:cNvSpPr>
          <p:nvPr/>
        </p:nvSpPr>
        <p:spPr>
          <a:xfrm xmlns:a="http://schemas.openxmlformats.org/drawingml/2006/main">
            <a:off x="495300" y="54768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1C1C"/>
                </a:solidFill>
                <a:latin typeface="Calibri"/>
                <a:ea typeface="Calibri"/>
                <a:cs typeface="Calibri"/>
              </a:defRPr>
            </a:pPr>
            <a:r>
              <a:rPr sz="2250" b="1">
                <a:solidFill>
                  <a:srgbClr val="881C1C"/>
                </a:solidFill>
                <a:latin typeface="Calibri"/>
                <a:ea typeface="Calibri"/>
                <a:cs typeface="Calibri"/>
              </a:rPr>
              <a:t>fₛ &gt; 2 fmax      Δf = fₛ / N = 1 / Trecord</a:t>
            </a:r>
          </a:p>
        </p:txBody>
      </p:sp>
      <p:sp>
        <p:nvSpPr>
          <p:cNvPr id="10" name="footnote">
            <a:extLst xmlns:a="http://schemas.openxmlformats.org/drawingml/2006/main">
              <a:ext uri="{FF2B5EF4-FFF2-40B4-BE49-F238E27FC236}">
                <a16:creationId xmlns:a16="http://schemas.microsoft.com/office/drawing/2014/main" id="{BE36D5BC-1CF0-47EE-9283-89E45E4A55DB}"/>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The Nyquist condition assumes a band-limited input. Practical acquisition needs filtering and margin.</a:t>
            </a:r>
          </a:p>
        </p:txBody>
      </p:sp>
      <p:sp>
        <p:nvSpPr>
          <p:cNvPr id="11" name="page">
            <a:extLst xmlns:a="http://schemas.openxmlformats.org/drawingml/2006/main">
              <a:ext uri="{FF2B5EF4-FFF2-40B4-BE49-F238E27FC236}">
                <a16:creationId xmlns:a16="http://schemas.microsoft.com/office/drawing/2014/main" id="{0E80DC56-D88D-4B35-8674-C86B275A5D62}"/>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8</a:t>
            </a:r>
          </a:p>
        </p:txBody>
      </p:sp>
    </p:spTree>
    <p:extLst>
      <p:ext uri="{BB962C8B-B14F-4D97-AF65-F5344CB8AC3E}">
        <p14:creationId xmlns:p14="http://schemas.microsoft.com/office/powerpoint/2010/main" val="171549583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rse">
            <a:extLst xmlns:a="http://schemas.openxmlformats.org/drawingml/2006/main">
              <a:ext uri="{FF2B5EF4-FFF2-40B4-BE49-F238E27FC236}">
                <a16:creationId xmlns:a16="http://schemas.microsoft.com/office/drawing/2014/main" id="{70EA9162-D344-4AAB-8115-422AC8D04F87}"/>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431DF7C7-56D6-4B9E-A0DF-F4FA2F0EF44D}"/>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2: Single pendulum</a:t>
            </a:r>
          </a:p>
        </p:txBody>
      </p:sp>
      <p:sp>
        <p:nvSpPr>
          <p:cNvPr id="3" name="body">
            <a:extLst xmlns:a="http://schemas.openxmlformats.org/drawingml/2006/main">
              <a:ext uri="{FF2B5EF4-FFF2-40B4-BE49-F238E27FC236}">
                <a16:creationId xmlns:a16="http://schemas.microsoft.com/office/drawing/2014/main" id="{23AA244F-2C5B-4390-8A6F-6A89ED4E6C5B}"/>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Question</a:t>
            </a:r>
          </a:p>
        </p:txBody>
      </p:sp>
      <p:sp>
        <p:nvSpPr>
          <p:cNvPr id="4" name="body">
            <a:extLst xmlns:a="http://schemas.openxmlformats.org/drawingml/2006/main">
              <a:ext uri="{FF2B5EF4-FFF2-40B4-BE49-F238E27FC236}">
                <a16:creationId xmlns:a16="http://schemas.microsoft.com/office/drawing/2014/main" id="{7DCC54F8-1BD8-42FE-B643-C36F0A9A6B02}"/>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When does a small-angle model predict the measured motion?</a:t>
            </a:r>
          </a:p>
        </p:txBody>
      </p:sp>
      <p:sp>
        <p:nvSpPr>
          <p:cNvPr id="5" name="body">
            <a:extLst xmlns:a="http://schemas.openxmlformats.org/drawingml/2006/main">
              <a:ext uri="{FF2B5EF4-FFF2-40B4-BE49-F238E27FC236}">
                <a16:creationId xmlns:a16="http://schemas.microsoft.com/office/drawing/2014/main" id="{430B9C3A-3753-4089-B42C-2CE53B25FCFE}"/>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Measurement</a:t>
            </a:r>
          </a:p>
        </p:txBody>
      </p:sp>
      <p:sp>
        <p:nvSpPr>
          <p:cNvPr id="6" name="body">
            <a:extLst xmlns:a="http://schemas.openxmlformats.org/drawingml/2006/main">
              <a:ext uri="{FF2B5EF4-FFF2-40B4-BE49-F238E27FC236}">
                <a16:creationId xmlns:a16="http://schemas.microsoft.com/office/drawing/2014/main" id="{3120E00C-AD74-4B2C-9377-6852D7DB57D2}"/>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Track angle from video. Record geometry, mass properties, frame rate, and release angle.</a:t>
            </a:r>
          </a:p>
        </p:txBody>
      </p:sp>
      <p:sp>
        <p:nvSpPr>
          <p:cNvPr id="7" name="body">
            <a:extLst xmlns:a="http://schemas.openxmlformats.org/drawingml/2006/main">
              <a:ext uri="{FF2B5EF4-FFF2-40B4-BE49-F238E27FC236}">
                <a16:creationId xmlns:a16="http://schemas.microsoft.com/office/drawing/2014/main" id="{F1DF01C3-9477-4CE2-999F-2531590283B0}"/>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Report evidence</a:t>
            </a:r>
          </a:p>
        </p:txBody>
      </p:sp>
      <p:sp>
        <p:nvSpPr>
          <p:cNvPr id="8" name="body">
            <a:extLst xmlns:a="http://schemas.openxmlformats.org/drawingml/2006/main">
              <a:ext uri="{FF2B5EF4-FFF2-40B4-BE49-F238E27FC236}">
                <a16:creationId xmlns:a16="http://schemas.microsoft.com/office/drawing/2014/main" id="{90B82DBF-D6C9-4709-B039-CD944D1C2880}"/>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Compare measured and predicted angle histories and periods for small and larger releases.</a:t>
            </a:r>
          </a:p>
        </p:txBody>
      </p:sp>
      <p:sp>
        <p:nvSpPr>
          <p:cNvPr id="9" name="equation">
            <a:extLst xmlns:a="http://schemas.openxmlformats.org/drawingml/2006/main">
              <a:ext uri="{FF2B5EF4-FFF2-40B4-BE49-F238E27FC236}">
                <a16:creationId xmlns:a16="http://schemas.microsoft.com/office/drawing/2014/main" id="{358BB9E5-7D71-4EC7-8D7E-8B42F661A143}"/>
              </a:ext>
            </a:extLst>
          </p:cNvPr>
          <p:cNvSpPr>
            <a:spLocks xmlns:a="http://schemas.openxmlformats.org/drawingml/2006/main" noGrp="1"/>
          </p:cNvSpPr>
          <p:nvPr/>
        </p:nvSpPr>
        <p:spPr>
          <a:xfrm xmlns:a="http://schemas.openxmlformats.org/drawingml/2006/main">
            <a:off x="495300" y="54768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1C1C"/>
                </a:solidFill>
                <a:latin typeface="Calibri"/>
                <a:ea typeface="Calibri"/>
                <a:cs typeface="Calibri"/>
              </a:defRPr>
            </a:pPr>
            <a:r>
              <a:rPr sz="2250" b="1">
                <a:solidFill>
                  <a:srgbClr val="881C1C"/>
                </a:solidFill>
                <a:latin typeface="Calibri"/>
                <a:ea typeface="Calibri"/>
                <a:cs typeface="Calibri"/>
              </a:rPr>
              <a:t>Iₚ θ̈ + m g d sin θ = 0      Tsmall = 2π √(Iₚ / m g d)</a:t>
            </a:r>
          </a:p>
        </p:txBody>
      </p:sp>
      <p:sp>
        <p:nvSpPr>
          <p:cNvPr id="10" name="footnote">
            <a:extLst xmlns:a="http://schemas.openxmlformats.org/drawingml/2006/main">
              <a:ext uri="{FF2B5EF4-FFF2-40B4-BE49-F238E27FC236}">
                <a16:creationId xmlns:a16="http://schemas.microsoft.com/office/drawing/2014/main" id="{73A54F28-7210-4E89-82EE-5598033EABDD}"/>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Iₚ is inertia about the pivot. d is the pivot-to-center-of-mass distance. The model neglects losses.</a:t>
            </a:r>
          </a:p>
        </p:txBody>
      </p:sp>
      <p:sp>
        <p:nvSpPr>
          <p:cNvPr id="11" name="page">
            <a:extLst xmlns:a="http://schemas.openxmlformats.org/drawingml/2006/main">
              <a:ext uri="{FF2B5EF4-FFF2-40B4-BE49-F238E27FC236}">
                <a16:creationId xmlns:a16="http://schemas.microsoft.com/office/drawing/2014/main" id="{2ED32C72-DFFB-49FE-8682-80958773A14B}"/>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9</a:t>
            </a:r>
          </a:p>
        </p:txBody>
      </p:sp>
    </p:spTree>
    <p:extLst>
      <p:ext uri="{BB962C8B-B14F-4D97-AF65-F5344CB8AC3E}">
        <p14:creationId xmlns:p14="http://schemas.microsoft.com/office/powerpoint/2010/main" val="2289074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00044A58-CD51-47A7-927B-846CAA370E34}"/>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F95E1EA2-6B4C-4401-8BCC-9598BD0E14AF}"/>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3: Double pendulum</a:t>
            </a:r>
          </a:p>
        </p:txBody>
      </p:sp>
      <p:sp>
        <p:nvSpPr>
          <p:cNvPr id="3" name="body">
            <a:extLst xmlns:a="http://schemas.openxmlformats.org/drawingml/2006/main">
              <a:ext uri="{FF2B5EF4-FFF2-40B4-BE49-F238E27FC236}">
                <a16:creationId xmlns:a16="http://schemas.microsoft.com/office/drawing/2014/main" id="{FF15A17A-59D6-40FC-81F5-289B7AABE51B}"/>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Question</a:t>
            </a:r>
          </a:p>
        </p:txBody>
      </p:sp>
      <p:sp>
        <p:nvSpPr>
          <p:cNvPr id="4" name="body">
            <a:extLst xmlns:a="http://schemas.openxmlformats.org/drawingml/2006/main">
              <a:ext uri="{FF2B5EF4-FFF2-40B4-BE49-F238E27FC236}">
                <a16:creationId xmlns:a16="http://schemas.microsoft.com/office/drawing/2014/main" id="{4A9947C8-E9EF-47AC-A903-76354FF9E931}"/>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How does coupling change the motion of two connected bodies?</a:t>
            </a:r>
          </a:p>
        </p:txBody>
      </p:sp>
      <p:sp>
        <p:nvSpPr>
          <p:cNvPr id="5" name="body">
            <a:extLst xmlns:a="http://schemas.openxmlformats.org/drawingml/2006/main">
              <a:ext uri="{FF2B5EF4-FFF2-40B4-BE49-F238E27FC236}">
                <a16:creationId xmlns:a16="http://schemas.microsoft.com/office/drawing/2014/main" id="{83B6A5AB-113E-4A04-993D-375DC3C532E7}"/>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Measurement</a:t>
            </a:r>
          </a:p>
        </p:txBody>
      </p:sp>
      <p:sp>
        <p:nvSpPr>
          <p:cNvPr id="6" name="body">
            <a:extLst xmlns:a="http://schemas.openxmlformats.org/drawingml/2006/main">
              <a:ext uri="{FF2B5EF4-FFF2-40B4-BE49-F238E27FC236}">
                <a16:creationId xmlns:a16="http://schemas.microsoft.com/office/drawing/2014/main" id="{DA631368-8596-472A-B854-1C9779230F07}"/>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Track both angles and record both initial angles and release conditions.</a:t>
            </a:r>
          </a:p>
        </p:txBody>
      </p:sp>
      <p:sp>
        <p:nvSpPr>
          <p:cNvPr id="7" name="body">
            <a:extLst xmlns:a="http://schemas.openxmlformats.org/drawingml/2006/main">
              <a:ext uri="{FF2B5EF4-FFF2-40B4-BE49-F238E27FC236}">
                <a16:creationId xmlns:a16="http://schemas.microsoft.com/office/drawing/2014/main" id="{38094D53-1AFD-4558-A5E9-93B3880A9C1B}"/>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Report evidence</a:t>
            </a:r>
          </a:p>
        </p:txBody>
      </p:sp>
      <p:sp>
        <p:nvSpPr>
          <p:cNvPr id="8" name="body">
            <a:extLst xmlns:a="http://schemas.openxmlformats.org/drawingml/2006/main">
              <a:ext uri="{FF2B5EF4-FFF2-40B4-BE49-F238E27FC236}">
                <a16:creationId xmlns:a16="http://schemas.microsoft.com/office/drawing/2014/main" id="{B63CB462-DBE5-402F-9986-7C990B7CA825}"/>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Overlay measured and simulated angle histories. Compare small and large motions and their spectra.</a:t>
            </a:r>
          </a:p>
        </p:txBody>
      </p:sp>
      <p:sp>
        <p:nvSpPr>
          <p:cNvPr id="9" name="footnote">
            <a:extLst xmlns:a="http://schemas.openxmlformats.org/drawingml/2006/main">
              <a:ext uri="{FF2B5EF4-FFF2-40B4-BE49-F238E27FC236}">
                <a16:creationId xmlns:a16="http://schemas.microsoft.com/office/drawing/2014/main" id="{178021EB-FF37-4E2A-8420-2448A037161E}"/>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Trajectory divergence alone does not establish chaos. Check initial conditions, tracking, and model assumptions.</a:t>
            </a:r>
          </a:p>
        </p:txBody>
      </p:sp>
      <p:sp>
        <p:nvSpPr>
          <p:cNvPr id="10" name="page">
            <a:extLst xmlns:a="http://schemas.openxmlformats.org/drawingml/2006/main">
              <a:ext uri="{FF2B5EF4-FFF2-40B4-BE49-F238E27FC236}">
                <a16:creationId xmlns:a16="http://schemas.microsoft.com/office/drawing/2014/main" id="{24D76FF0-B4FA-4799-8DC2-D2685099399F}"/>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10</a:t>
            </a:r>
          </a:p>
        </p:txBody>
      </p:sp>
    </p:spTree>
    <p:extLst>
      <p:ext uri="{BB962C8B-B14F-4D97-AF65-F5344CB8AC3E}">
        <p14:creationId xmlns:p14="http://schemas.microsoft.com/office/powerpoint/2010/main" val="14747946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rse">
            <a:extLst xmlns:a="http://schemas.openxmlformats.org/drawingml/2006/main">
              <a:ext uri="{FF2B5EF4-FFF2-40B4-BE49-F238E27FC236}">
                <a16:creationId xmlns:a16="http://schemas.microsoft.com/office/drawing/2014/main" id="{6BDA7AEE-BF4F-4966-BB9E-C6069DE91979}"/>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10D7D722-153B-4908-B968-E509CFF0D6AF}"/>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4: Free response of a 1-DOF system</a:t>
            </a:r>
          </a:p>
        </p:txBody>
      </p:sp>
      <p:sp>
        <p:nvSpPr>
          <p:cNvPr id="3" name="body">
            <a:extLst xmlns:a="http://schemas.openxmlformats.org/drawingml/2006/main">
              <a:ext uri="{FF2B5EF4-FFF2-40B4-BE49-F238E27FC236}">
                <a16:creationId xmlns:a16="http://schemas.microsoft.com/office/drawing/2014/main" id="{9BF153E3-793B-43D2-A24C-20062CE3BD9B}"/>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Question</a:t>
            </a:r>
          </a:p>
        </p:txBody>
      </p:sp>
      <p:sp>
        <p:nvSpPr>
          <p:cNvPr id="4" name="body">
            <a:extLst xmlns:a="http://schemas.openxmlformats.org/drawingml/2006/main">
              <a:ext uri="{FF2B5EF4-FFF2-40B4-BE49-F238E27FC236}">
                <a16:creationId xmlns:a16="http://schemas.microsoft.com/office/drawing/2014/main" id="{543BF15C-3667-4FD5-BC62-087E36B256E0}"/>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What do oscillation period and amplitude decay reveal about the system?</a:t>
            </a:r>
          </a:p>
        </p:txBody>
      </p:sp>
      <p:sp>
        <p:nvSpPr>
          <p:cNvPr id="5" name="body">
            <a:extLst xmlns:a="http://schemas.openxmlformats.org/drawingml/2006/main">
              <a:ext uri="{FF2B5EF4-FFF2-40B4-BE49-F238E27FC236}">
                <a16:creationId xmlns:a16="http://schemas.microsoft.com/office/drawing/2014/main" id="{A25B9CFC-060C-4BC3-85FE-645998705482}"/>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Measurement</a:t>
            </a:r>
          </a:p>
        </p:txBody>
      </p:sp>
      <p:sp>
        <p:nvSpPr>
          <p:cNvPr id="6" name="body">
            <a:extLst xmlns:a="http://schemas.openxmlformats.org/drawingml/2006/main">
              <a:ext uri="{FF2B5EF4-FFF2-40B4-BE49-F238E27FC236}">
                <a16:creationId xmlns:a16="http://schemas.microsoft.com/office/drawing/2014/main" id="{663556F3-07E5-4BB5-A903-70CC6259D312}"/>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Displace the cart and release it. Measure mass, effective stiffness, and displacement versus time.</a:t>
            </a:r>
          </a:p>
        </p:txBody>
      </p:sp>
      <p:sp>
        <p:nvSpPr>
          <p:cNvPr id="7" name="body">
            <a:extLst xmlns:a="http://schemas.openxmlformats.org/drawingml/2006/main">
              <a:ext uri="{FF2B5EF4-FFF2-40B4-BE49-F238E27FC236}">
                <a16:creationId xmlns:a16="http://schemas.microsoft.com/office/drawing/2014/main" id="{565FA018-1B15-412E-9A8B-FED546CF61E5}"/>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Report evidence</a:t>
            </a:r>
          </a:p>
        </p:txBody>
      </p:sp>
      <p:sp>
        <p:nvSpPr>
          <p:cNvPr id="8" name="body">
            <a:extLst xmlns:a="http://schemas.openxmlformats.org/drawingml/2006/main">
              <a:ext uri="{FF2B5EF4-FFF2-40B4-BE49-F238E27FC236}">
                <a16:creationId xmlns:a16="http://schemas.microsoft.com/office/drawing/2014/main" id="{8B448933-B6DE-4236-AE2F-9C79CAACF0FC}"/>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Estimate natural frequency and damping. Compare cases with changed mass, springs, or damping.</a:t>
            </a:r>
          </a:p>
        </p:txBody>
      </p:sp>
      <p:sp>
        <p:nvSpPr>
          <p:cNvPr id="9" name="equation">
            <a:extLst xmlns:a="http://schemas.openxmlformats.org/drawingml/2006/main">
              <a:ext uri="{FF2B5EF4-FFF2-40B4-BE49-F238E27FC236}">
                <a16:creationId xmlns:a16="http://schemas.microsoft.com/office/drawing/2014/main" id="{DB2991A2-8E42-41EF-9E83-30C046FF1274}"/>
              </a:ext>
            </a:extLst>
          </p:cNvPr>
          <p:cNvSpPr>
            <a:spLocks xmlns:a="http://schemas.openxmlformats.org/drawingml/2006/main" noGrp="1"/>
          </p:cNvSpPr>
          <p:nvPr/>
        </p:nvSpPr>
        <p:spPr>
          <a:xfrm xmlns:a="http://schemas.openxmlformats.org/drawingml/2006/main">
            <a:off x="495300" y="54768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1C1C"/>
                </a:solidFill>
                <a:latin typeface="Calibri"/>
                <a:ea typeface="Calibri"/>
                <a:cs typeface="Calibri"/>
              </a:defRPr>
            </a:pPr>
            <a:r>
              <a:rPr sz="2250" b="1">
                <a:solidFill>
                  <a:srgbClr val="881C1C"/>
                </a:solidFill>
                <a:latin typeface="Calibri"/>
                <a:ea typeface="Calibri"/>
                <a:cs typeface="Calibri"/>
              </a:rPr>
              <a:t>m ẍ + c ẋ + k x = 0      ωn = √(k / m)      ζ = c / (2√(k m))</a:t>
            </a:r>
          </a:p>
        </p:txBody>
      </p:sp>
      <p:sp>
        <p:nvSpPr>
          <p:cNvPr id="10" name="footnote">
            <a:extLst xmlns:a="http://schemas.openxmlformats.org/drawingml/2006/main">
              <a:ext uri="{FF2B5EF4-FFF2-40B4-BE49-F238E27FC236}">
                <a16:creationId xmlns:a16="http://schemas.microsoft.com/office/drawing/2014/main" id="{5CA0BBDC-B898-4949-8FB5-583F7ADEFAEF}"/>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For an underdamped viscous model, ωd = ωn √(1 − ζ²). Natural and damped frequency differ.</a:t>
            </a:r>
          </a:p>
        </p:txBody>
      </p:sp>
      <p:sp>
        <p:nvSpPr>
          <p:cNvPr id="11" name="page">
            <a:extLst xmlns:a="http://schemas.openxmlformats.org/drawingml/2006/main">
              <a:ext uri="{FF2B5EF4-FFF2-40B4-BE49-F238E27FC236}">
                <a16:creationId xmlns:a16="http://schemas.microsoft.com/office/drawing/2014/main" id="{95768914-A788-4985-87BA-A1F167DF660C}"/>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11</a:t>
            </a:r>
          </a:p>
        </p:txBody>
      </p:sp>
    </p:spTree>
    <p:extLst>
      <p:ext uri="{BB962C8B-B14F-4D97-AF65-F5344CB8AC3E}">
        <p14:creationId xmlns:p14="http://schemas.microsoft.com/office/powerpoint/2010/main" val="9806670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rse">
            <a:extLst xmlns:a="http://schemas.openxmlformats.org/drawingml/2006/main">
              <a:ext uri="{FF2B5EF4-FFF2-40B4-BE49-F238E27FC236}">
                <a16:creationId xmlns:a16="http://schemas.microsoft.com/office/drawing/2014/main" id="{DE6F55F2-4D58-4FB5-9F00-AFDE81E152AA}"/>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CF3B351A-BA80-447B-9CFB-45667D9EB56D}"/>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5: Forced response of a 1-DOF system</a:t>
            </a:r>
          </a:p>
        </p:txBody>
      </p:sp>
      <p:sp>
        <p:nvSpPr>
          <p:cNvPr id="3" name="body">
            <a:extLst xmlns:a="http://schemas.openxmlformats.org/drawingml/2006/main">
              <a:ext uri="{FF2B5EF4-FFF2-40B4-BE49-F238E27FC236}">
                <a16:creationId xmlns:a16="http://schemas.microsoft.com/office/drawing/2014/main" id="{AB88E571-6C6E-4BF1-95BA-C68D6249798D}"/>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Question</a:t>
            </a:r>
          </a:p>
        </p:txBody>
      </p:sp>
      <p:sp>
        <p:nvSpPr>
          <p:cNvPr id="4" name="body">
            <a:extLst xmlns:a="http://schemas.openxmlformats.org/drawingml/2006/main">
              <a:ext uri="{FF2B5EF4-FFF2-40B4-BE49-F238E27FC236}">
                <a16:creationId xmlns:a16="http://schemas.microsoft.com/office/drawing/2014/main" id="{A2E44955-6832-4698-A014-9859849FB83B}"/>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How does excitation frequency affect response amplitude and phase?</a:t>
            </a:r>
          </a:p>
        </p:txBody>
      </p:sp>
      <p:sp>
        <p:nvSpPr>
          <p:cNvPr id="5" name="body">
            <a:extLst xmlns:a="http://schemas.openxmlformats.org/drawingml/2006/main">
              <a:ext uri="{FF2B5EF4-FFF2-40B4-BE49-F238E27FC236}">
                <a16:creationId xmlns:a16="http://schemas.microsoft.com/office/drawing/2014/main" id="{DB0BFC76-20D8-4713-855B-3004946B526C}"/>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Measurement</a:t>
            </a:r>
          </a:p>
        </p:txBody>
      </p:sp>
      <p:sp>
        <p:nvSpPr>
          <p:cNvPr id="6" name="body">
            <a:extLst xmlns:a="http://schemas.openxmlformats.org/drawingml/2006/main">
              <a:ext uri="{FF2B5EF4-FFF2-40B4-BE49-F238E27FC236}">
                <a16:creationId xmlns:a16="http://schemas.microsoft.com/office/drawing/2014/main" id="{4939B6D3-A825-45E4-95B5-771B345F9431}"/>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Apply the assigned impulse and harmonic inputs. Record input motion or force and the cart response.</a:t>
            </a:r>
          </a:p>
        </p:txBody>
      </p:sp>
      <p:sp>
        <p:nvSpPr>
          <p:cNvPr id="7" name="body">
            <a:extLst xmlns:a="http://schemas.openxmlformats.org/drawingml/2006/main">
              <a:ext uri="{FF2B5EF4-FFF2-40B4-BE49-F238E27FC236}">
                <a16:creationId xmlns:a16="http://schemas.microsoft.com/office/drawing/2014/main" id="{96440966-89FB-41C9-B2E6-D10202357A56}"/>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Report evidence</a:t>
            </a:r>
          </a:p>
        </p:txBody>
      </p:sp>
      <p:sp>
        <p:nvSpPr>
          <p:cNvPr id="8" name="body">
            <a:extLst xmlns:a="http://schemas.openxmlformats.org/drawingml/2006/main">
              <a:ext uri="{FF2B5EF4-FFF2-40B4-BE49-F238E27FC236}">
                <a16:creationId xmlns:a16="http://schemas.microsoft.com/office/drawing/2014/main" id="{F01CFEED-A748-41EF-A57C-AAD9B5EBF2C9}"/>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Separate the transient from the periodic response. Plot amplitude or gain against excitation frequency.</a:t>
            </a:r>
          </a:p>
        </p:txBody>
      </p:sp>
      <p:sp>
        <p:nvSpPr>
          <p:cNvPr id="9" name="equation">
            <a:extLst xmlns:a="http://schemas.openxmlformats.org/drawingml/2006/main">
              <a:ext uri="{FF2B5EF4-FFF2-40B4-BE49-F238E27FC236}">
                <a16:creationId xmlns:a16="http://schemas.microsoft.com/office/drawing/2014/main" id="{F155AFB4-E2D4-4C78-B710-3A1985B775A3}"/>
              </a:ext>
            </a:extLst>
          </p:cNvPr>
          <p:cNvSpPr>
            <a:spLocks xmlns:a="http://schemas.openxmlformats.org/drawingml/2006/main" noGrp="1"/>
          </p:cNvSpPr>
          <p:nvPr/>
        </p:nvSpPr>
        <p:spPr>
          <a:xfrm xmlns:a="http://schemas.openxmlformats.org/drawingml/2006/main">
            <a:off x="495300" y="54768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1C1C"/>
                </a:solidFill>
                <a:latin typeface="Calibri"/>
                <a:ea typeface="Calibri"/>
                <a:cs typeface="Calibri"/>
              </a:defRPr>
            </a:pPr>
            <a:r>
              <a:rPr sz="2250" b="1">
                <a:solidFill>
                  <a:srgbClr val="881C1C"/>
                </a:solidFill>
                <a:latin typeface="Calibri"/>
                <a:ea typeface="Calibri"/>
                <a:cs typeface="Calibri"/>
              </a:rPr>
              <a:t>m ẍ + c ẋ + k x = F(t)</a:t>
            </a:r>
          </a:p>
        </p:txBody>
      </p:sp>
      <p:sp>
        <p:nvSpPr>
          <p:cNvPr id="10" name="footnote">
            <a:extLst xmlns:a="http://schemas.openxmlformats.org/drawingml/2006/main">
              <a:ext uri="{FF2B5EF4-FFF2-40B4-BE49-F238E27FC236}">
                <a16:creationId xmlns:a16="http://schemas.microsoft.com/office/drawing/2014/main" id="{9D39C1C5-2238-4BE9-B0CA-3B92F20CA8F3}"/>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This is the force-input model. A moving spring attachment requires the corresponding base-motion input model.</a:t>
            </a:r>
          </a:p>
        </p:txBody>
      </p:sp>
      <p:sp>
        <p:nvSpPr>
          <p:cNvPr id="11" name="page">
            <a:extLst xmlns:a="http://schemas.openxmlformats.org/drawingml/2006/main">
              <a:ext uri="{FF2B5EF4-FFF2-40B4-BE49-F238E27FC236}">
                <a16:creationId xmlns:a16="http://schemas.microsoft.com/office/drawing/2014/main" id="{98D72619-9B68-464F-84D9-AB28BECCC168}"/>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12</a:t>
            </a:r>
          </a:p>
        </p:txBody>
      </p:sp>
    </p:spTree>
    <p:extLst>
      <p:ext uri="{BB962C8B-B14F-4D97-AF65-F5344CB8AC3E}">
        <p14:creationId xmlns:p14="http://schemas.microsoft.com/office/powerpoint/2010/main" val="7025130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rse">
            <a:extLst xmlns:a="http://schemas.openxmlformats.org/drawingml/2006/main">
              <a:ext uri="{FF2B5EF4-FFF2-40B4-BE49-F238E27FC236}">
                <a16:creationId xmlns:a16="http://schemas.microsoft.com/office/drawing/2014/main" id="{B7EEA936-68ED-4F13-B233-D1DABD52A839}"/>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2EA4A7EA-FCF1-4967-B490-4B7D15C7D143}"/>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Lab 6: Radiometer rotation</a:t>
            </a:r>
          </a:p>
        </p:txBody>
      </p:sp>
      <p:sp>
        <p:nvSpPr>
          <p:cNvPr id="3" name="body">
            <a:extLst xmlns:a="http://schemas.openxmlformats.org/drawingml/2006/main">
              <a:ext uri="{FF2B5EF4-FFF2-40B4-BE49-F238E27FC236}">
                <a16:creationId xmlns:a16="http://schemas.microsoft.com/office/drawing/2014/main" id="{4E0BD7B1-FE99-420D-AD5A-B30BE96CBFA1}"/>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Question</a:t>
            </a:r>
          </a:p>
        </p:txBody>
      </p:sp>
      <p:sp>
        <p:nvSpPr>
          <p:cNvPr id="4" name="body">
            <a:extLst xmlns:a="http://schemas.openxmlformats.org/drawingml/2006/main">
              <a:ext uri="{FF2B5EF4-FFF2-40B4-BE49-F238E27FC236}">
                <a16:creationId xmlns:a16="http://schemas.microsoft.com/office/drawing/2014/main" id="{5CB5F66D-85CF-454E-80B2-89DBD38737D8}"/>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How does illumination relate to measured rotation over a controlled time window?</a:t>
            </a:r>
          </a:p>
        </p:txBody>
      </p:sp>
      <p:sp>
        <p:nvSpPr>
          <p:cNvPr id="5" name="body">
            <a:extLst xmlns:a="http://schemas.openxmlformats.org/drawingml/2006/main">
              <a:ext uri="{FF2B5EF4-FFF2-40B4-BE49-F238E27FC236}">
                <a16:creationId xmlns:a16="http://schemas.microsoft.com/office/drawing/2014/main" id="{60C15628-806B-4C99-A7A9-E29A088DD5A0}"/>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Measurement</a:t>
            </a:r>
          </a:p>
        </p:txBody>
      </p:sp>
      <p:sp>
        <p:nvSpPr>
          <p:cNvPr id="6" name="body">
            <a:extLst xmlns:a="http://schemas.openxmlformats.org/drawingml/2006/main">
              <a:ext uri="{FF2B5EF4-FFF2-40B4-BE49-F238E27FC236}">
                <a16:creationId xmlns:a16="http://schemas.microsoft.com/office/drawing/2014/main" id="{66C454E8-6825-488E-93DF-047E892360D6}"/>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Track cumulative angle from video. Record illuminance, light position, and thermal history.</a:t>
            </a:r>
          </a:p>
        </p:txBody>
      </p:sp>
      <p:sp>
        <p:nvSpPr>
          <p:cNvPr id="7" name="body">
            <a:extLst xmlns:a="http://schemas.openxmlformats.org/drawingml/2006/main">
              <a:ext uri="{FF2B5EF4-FFF2-40B4-BE49-F238E27FC236}">
                <a16:creationId xmlns:a16="http://schemas.microsoft.com/office/drawing/2014/main" id="{76ADBC4B-DEFA-4E36-84E7-BE3E0A95FBE2}"/>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Report evidence</a:t>
            </a:r>
          </a:p>
        </p:txBody>
      </p:sp>
      <p:sp>
        <p:nvSpPr>
          <p:cNvPr id="8" name="body">
            <a:extLst xmlns:a="http://schemas.openxmlformats.org/drawingml/2006/main">
              <a:ext uri="{FF2B5EF4-FFF2-40B4-BE49-F238E27FC236}">
                <a16:creationId xmlns:a16="http://schemas.microsoft.com/office/drawing/2014/main" id="{8E0A9585-68E4-4828-ADF2-61E72A33900B}"/>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Fit angle versus time to estimate RPM. Compare identical measurement windows and discuss warming.</a:t>
            </a:r>
          </a:p>
        </p:txBody>
      </p:sp>
      <p:sp>
        <p:nvSpPr>
          <p:cNvPr id="9" name="equation">
            <a:extLst xmlns:a="http://schemas.openxmlformats.org/drawingml/2006/main">
              <a:ext uri="{FF2B5EF4-FFF2-40B4-BE49-F238E27FC236}">
                <a16:creationId xmlns:a16="http://schemas.microsoft.com/office/drawing/2014/main" id="{E9971163-9595-424A-9BCF-D28A6E47F998}"/>
              </a:ext>
            </a:extLst>
          </p:cNvPr>
          <p:cNvSpPr>
            <a:spLocks xmlns:a="http://schemas.openxmlformats.org/drawingml/2006/main" noGrp="1"/>
          </p:cNvSpPr>
          <p:nvPr/>
        </p:nvSpPr>
        <p:spPr>
          <a:xfrm xmlns:a="http://schemas.openxmlformats.org/drawingml/2006/main">
            <a:off x="495300" y="54768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1C1C"/>
                </a:solidFill>
                <a:latin typeface="Calibri"/>
                <a:ea typeface="Calibri"/>
                <a:cs typeface="Calibri"/>
              </a:defRPr>
            </a:pPr>
            <a:r>
              <a:rPr sz="2250" b="1">
                <a:solidFill>
                  <a:srgbClr val="881C1C"/>
                </a:solidFill>
                <a:latin typeface="Calibri"/>
                <a:ea typeface="Calibri"/>
                <a:cs typeface="Calibri"/>
              </a:rPr>
              <a:t>θ(t) ≈ θ₀ + ωavg t      RPM = (60 / 2π) ωavg</a:t>
            </a:r>
          </a:p>
        </p:txBody>
      </p:sp>
      <p:sp>
        <p:nvSpPr>
          <p:cNvPr id="10" name="footnote">
            <a:extLst xmlns:a="http://schemas.openxmlformats.org/drawingml/2006/main">
              <a:ext uri="{FF2B5EF4-FFF2-40B4-BE49-F238E27FC236}">
                <a16:creationId xmlns:a16="http://schemas.microsoft.com/office/drawing/2014/main" id="{39503B1F-E065-4ED4-8C5D-E8123D4CCB9A}"/>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ωavg is in rad/s. Lux measures illuminance, not absorbed heating power.</a:t>
            </a:r>
          </a:p>
        </p:txBody>
      </p:sp>
      <p:sp>
        <p:nvSpPr>
          <p:cNvPr id="11" name="page">
            <a:extLst xmlns:a="http://schemas.openxmlformats.org/drawingml/2006/main">
              <a:ext uri="{FF2B5EF4-FFF2-40B4-BE49-F238E27FC236}">
                <a16:creationId xmlns:a16="http://schemas.microsoft.com/office/drawing/2014/main" id="{2493DFC1-898A-4EB3-9885-46CD04DCC47D}"/>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13</a:t>
            </a:r>
          </a:p>
        </p:txBody>
      </p:sp>
    </p:spTree>
    <p:extLst>
      <p:ext uri="{BB962C8B-B14F-4D97-AF65-F5344CB8AC3E}">
        <p14:creationId xmlns:p14="http://schemas.microsoft.com/office/powerpoint/2010/main" val="18709493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yebrow-8">
            <a:extLst xmlns:a="http://schemas.openxmlformats.org/drawingml/2006/main">
              <a:ext uri="{FF2B5EF4-FFF2-40B4-BE49-F238E27FC236}">
                <a16:creationId xmlns:a16="http://schemas.microsoft.com/office/drawing/2014/main" id="{11A3F5C2-3142-408D-BCC2-9A6DD01A39A6}"/>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8">
            <a:extLst xmlns:a="http://schemas.openxmlformats.org/drawingml/2006/main">
              <a:ext uri="{FF2B5EF4-FFF2-40B4-BE49-F238E27FC236}">
                <a16:creationId xmlns:a16="http://schemas.microsoft.com/office/drawing/2014/main" id="{E5BAF64F-E2D6-4C17-A19B-BAA50F5F1164}"/>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The structure of a laboratory report</a:t>
            </a:r>
          </a:p>
        </p:txBody>
      </p:sp>
      <p:sp>
        <p:nvSpPr>
          <p:cNvPr id="3" name="rule-93">
            <a:extLst xmlns:a="http://schemas.openxmlformats.org/drawingml/2006/main">
              <a:ext uri="{FF2B5EF4-FFF2-40B4-BE49-F238E27FC236}">
                <a16:creationId xmlns:a16="http://schemas.microsoft.com/office/drawing/2014/main" id="{23D6AF12-CAF4-4AFE-8CFF-C43E7C57D58D}"/>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8">
            <a:extLst xmlns:a="http://schemas.openxmlformats.org/drawingml/2006/main">
              <a:ext uri="{FF2B5EF4-FFF2-40B4-BE49-F238E27FC236}">
                <a16:creationId xmlns:a16="http://schemas.microsoft.com/office/drawing/2014/main" id="{5418B542-31A5-46A0-ABAC-0075B5C588F5}"/>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14</a:t>
            </a:r>
          </a:p>
        </p:txBody>
      </p:sp>
      <p:sp>
        <p:nvSpPr>
          <p:cNvPr id="5" name="text-95">
            <a:extLst xmlns:a="http://schemas.openxmlformats.org/drawingml/2006/main">
              <a:ext uri="{FF2B5EF4-FFF2-40B4-BE49-F238E27FC236}">
                <a16:creationId xmlns:a16="http://schemas.microsoft.com/office/drawing/2014/main" id="{7D4C7FC5-7F70-4E49-9E16-55EC674F27CD}"/>
              </a:ext>
            </a:extLst>
          </p:cNvPr>
          <p:cNvSpPr>
            <a:spLocks xmlns:a="http://schemas.openxmlformats.org/drawingml/2006/main" noGrp="1"/>
          </p:cNvSpPr>
          <p:nvPr/>
        </p:nvSpPr>
        <p:spPr>
          <a:xfrm xmlns:a="http://schemas.openxmlformats.org/drawingml/2006/main">
            <a:off x="514350" y="16954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00" b="1">
                <a:solidFill>
                  <a:srgbClr val="881C1C"/>
                </a:solidFill>
              </a:defRPr>
            </a:pPr>
            <a:r>
              <a:rPr sz="1500" b="1">
                <a:solidFill>
                  <a:srgbClr val="881C1C"/>
                </a:solidFill>
              </a:rPr>
              <a:t>REQUIRED SECTIONS</a:t>
            </a:r>
          </a:p>
        </p:txBody>
      </p:sp>
      <p:sp>
        <p:nvSpPr>
          <p:cNvPr id="6" name="report-sections">
            <a:extLst xmlns:a="http://schemas.openxmlformats.org/drawingml/2006/main">
              <a:ext uri="{FF2B5EF4-FFF2-40B4-BE49-F238E27FC236}">
                <a16:creationId xmlns:a16="http://schemas.microsoft.com/office/drawing/2014/main" id="{AEE51C67-7E98-4448-B86C-8DBCECB15BC4}"/>
              </a:ext>
            </a:extLst>
          </p:cNvPr>
          <p:cNvSpPr>
            <a:spLocks xmlns:a="http://schemas.openxmlformats.org/drawingml/2006/main" noGrp="1"/>
          </p:cNvSpPr>
          <p:nvPr/>
        </p:nvSpPr>
        <p:spPr>
          <a:xfrm xmlns:a="http://schemas.openxmlformats.org/drawingml/2006/main">
            <a:off x="514350" y="2152650"/>
            <a:ext cx="371475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75" b="0">
                <a:solidFill>
                  <a:srgbClr val="111111"/>
                </a:solidFill>
              </a:defRPr>
            </a:pPr>
            <a:r>
              <a:rPr sz="1875" b="0">
                <a:solidFill>
                  <a:srgbClr val="111111"/>
                </a:solidFill>
              </a:rPr>
              <a:t>Abstract</a:t>
            </a:r>
          </a:p>
          <a:p xmlns:a="http://schemas.openxmlformats.org/drawingml/2006/main">
            <a:pPr algn="l">
              <a:buNone/>
              <a:defRPr sz="1875" b="0">
                <a:solidFill>
                  <a:srgbClr val="111111"/>
                </a:solidFill>
              </a:defRPr>
            </a:pPr>
            <a:r>
              <a:rPr sz="1875" b="0">
                <a:solidFill>
                  <a:srgbClr val="111111"/>
                </a:solidFill>
              </a:rPr>
              <a:t>1. Introduction</a:t>
            </a:r>
          </a:p>
          <a:p xmlns:a="http://schemas.openxmlformats.org/drawingml/2006/main">
            <a:pPr algn="l">
              <a:buNone/>
              <a:defRPr sz="1875" b="0">
                <a:solidFill>
                  <a:srgbClr val="111111"/>
                </a:solidFill>
              </a:defRPr>
            </a:pPr>
            <a:r>
              <a:rPr sz="1875" b="0">
                <a:solidFill>
                  <a:srgbClr val="111111"/>
                </a:solidFill>
              </a:rPr>
              <a:t>2. Method</a:t>
            </a:r>
          </a:p>
          <a:p xmlns:a="http://schemas.openxmlformats.org/drawingml/2006/main">
            <a:pPr algn="l">
              <a:buNone/>
              <a:defRPr sz="1875" b="0">
                <a:solidFill>
                  <a:srgbClr val="111111"/>
                </a:solidFill>
              </a:defRPr>
            </a:pPr>
            <a:r>
              <a:rPr sz="1875" b="0">
                <a:solidFill>
                  <a:srgbClr val="111111"/>
                </a:solidFill>
              </a:rPr>
              <a:t>3. Results</a:t>
            </a:r>
          </a:p>
          <a:p xmlns:a="http://schemas.openxmlformats.org/drawingml/2006/main">
            <a:pPr algn="l">
              <a:buNone/>
              <a:defRPr sz="1875" b="0">
                <a:solidFill>
                  <a:srgbClr val="111111"/>
                </a:solidFill>
              </a:defRPr>
            </a:pPr>
            <a:r>
              <a:rPr sz="1875" b="0">
                <a:solidFill>
                  <a:srgbClr val="111111"/>
                </a:solidFill>
              </a:rPr>
              <a:t>4. Comparison</a:t>
            </a:r>
          </a:p>
          <a:p xmlns:a="http://schemas.openxmlformats.org/drawingml/2006/main">
            <a:pPr algn="l">
              <a:buNone/>
              <a:defRPr sz="1875" b="0">
                <a:solidFill>
                  <a:srgbClr val="111111"/>
                </a:solidFill>
              </a:defRPr>
            </a:pPr>
            <a:r>
              <a:rPr sz="1875" b="0">
                <a:solidFill>
                  <a:srgbClr val="111111"/>
                </a:solidFill>
              </a:rPr>
              <a:t>5. Discussion</a:t>
            </a:r>
          </a:p>
          <a:p xmlns:a="http://schemas.openxmlformats.org/drawingml/2006/main">
            <a:pPr algn="l">
              <a:buNone/>
              <a:defRPr sz="1875" b="0">
                <a:solidFill>
                  <a:srgbClr val="111111"/>
                </a:solidFill>
              </a:defRPr>
            </a:pPr>
            <a:r>
              <a:rPr sz="1875" b="0">
                <a:solidFill>
                  <a:srgbClr val="111111"/>
                </a:solidFill>
              </a:rPr>
              <a:t>6. Conclusions</a:t>
            </a:r>
          </a:p>
          <a:p xmlns:a="http://schemas.openxmlformats.org/drawingml/2006/main">
            <a:pPr algn="l">
              <a:buNone/>
              <a:defRPr sz="1875" b="0">
                <a:solidFill>
                  <a:srgbClr val="111111"/>
                </a:solidFill>
              </a:defRPr>
            </a:pPr>
            <a:r>
              <a:rPr sz="1875" b="0">
                <a:solidFill>
                  <a:srgbClr val="111111"/>
                </a:solidFill>
              </a:rPr>
              <a:t>References • Appendices</a:t>
            </a:r>
          </a:p>
        </p:txBody>
      </p:sp>
      <p:sp>
        <p:nvSpPr>
          <p:cNvPr id="7" name="text-97">
            <a:extLst xmlns:a="http://schemas.openxmlformats.org/drawingml/2006/main">
              <a:ext uri="{FF2B5EF4-FFF2-40B4-BE49-F238E27FC236}">
                <a16:creationId xmlns:a16="http://schemas.microsoft.com/office/drawing/2014/main" id="{9E18BB7D-66BE-4AC3-9B45-5C3DFCD73743}"/>
              </a:ext>
            </a:extLst>
          </p:cNvPr>
          <p:cNvSpPr>
            <a:spLocks xmlns:a="http://schemas.openxmlformats.org/drawingml/2006/main" noGrp="1"/>
          </p:cNvSpPr>
          <p:nvPr/>
        </p:nvSpPr>
        <p:spPr>
          <a:xfrm xmlns:a="http://schemas.openxmlformats.org/drawingml/2006/main">
            <a:off x="4762500" y="16954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500" b="1">
                <a:solidFill>
                  <a:srgbClr val="881C1C"/>
                </a:solidFill>
              </a:defRPr>
            </a:pPr>
            <a:r>
              <a:rPr sz="1500" b="1">
                <a:solidFill>
                  <a:srgbClr val="881C1C"/>
                </a:solidFill>
              </a:rPr>
              <a:t>WHAT THE READER SHOULD FIND</a:t>
            </a:r>
          </a:p>
        </p:txBody>
      </p:sp>
      <p:sp>
        <p:nvSpPr>
          <p:cNvPr id="8" name="text-98">
            <a:extLst xmlns:a="http://schemas.openxmlformats.org/drawingml/2006/main">
              <a:ext uri="{FF2B5EF4-FFF2-40B4-BE49-F238E27FC236}">
                <a16:creationId xmlns:a16="http://schemas.microsoft.com/office/drawing/2014/main" id="{5651DF3A-AEFD-4722-B248-26D1377BE31E}"/>
              </a:ext>
            </a:extLst>
          </p:cNvPr>
          <p:cNvSpPr>
            <a:spLocks xmlns:a="http://schemas.openxmlformats.org/drawingml/2006/main" noGrp="1"/>
          </p:cNvSpPr>
          <p:nvPr/>
        </p:nvSpPr>
        <p:spPr>
          <a:xfrm xmlns:a="http://schemas.openxmlformats.org/drawingml/2006/main">
            <a:off x="4762500" y="2152650"/>
            <a:ext cx="61912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buNone/>
              <a:defRPr sz="1725" b="0">
                <a:solidFill>
                  <a:srgbClr val="111111"/>
                </a:solidFill>
              </a:defRPr>
            </a:pPr>
            <a:r>
              <a:rPr sz="1725" b="0">
                <a:solidFill>
                  <a:srgbClr val="111111"/>
                </a:solidFill>
              </a:rPr>
              <a:t>• A clear purpose and relevant theory</a:t>
            </a:r>
          </a:p>
          <a:p xmlns:a="http://schemas.openxmlformats.org/drawingml/2006/main">
            <a:pPr algn="l">
              <a:buNone/>
              <a:defRPr sz="1725" b="0">
                <a:solidFill>
                  <a:srgbClr val="111111"/>
                </a:solidFill>
              </a:defRPr>
            </a:pPr>
            <a:r>
              <a:rPr sz="1725" b="0">
                <a:solidFill>
                  <a:srgbClr val="111111"/>
                </a:solidFill>
              </a:rPr>
              <a:t>• A reproducible method</a:t>
            </a:r>
          </a:p>
          <a:p xmlns:a="http://schemas.openxmlformats.org/drawingml/2006/main">
            <a:pPr algn="l">
              <a:buNone/>
              <a:defRPr sz="1725" b="0">
                <a:solidFill>
                  <a:srgbClr val="111111"/>
                </a:solidFill>
              </a:defRPr>
            </a:pPr>
            <a:r>
              <a:rPr sz="1725" b="0">
                <a:solidFill>
                  <a:srgbClr val="111111"/>
                </a:solidFill>
              </a:rPr>
              <a:t>• Readable figures with units and labels</a:t>
            </a:r>
          </a:p>
          <a:p xmlns:a="http://schemas.openxmlformats.org/drawingml/2006/main">
            <a:pPr algn="l">
              <a:buNone/>
              <a:defRPr sz="1725" b="0">
                <a:solidFill>
                  <a:srgbClr val="111111"/>
                </a:solidFill>
              </a:defRPr>
            </a:pPr>
            <a:r>
              <a:rPr sz="1725" b="0">
                <a:solidFill>
                  <a:srgbClr val="111111"/>
                </a:solidFill>
              </a:rPr>
              <a:t>• Direct comparison with theory or a model</a:t>
            </a:r>
          </a:p>
          <a:p xmlns:a="http://schemas.openxmlformats.org/drawingml/2006/main">
            <a:pPr algn="l">
              <a:buNone/>
              <a:defRPr sz="1725" b="0">
                <a:solidFill>
                  <a:srgbClr val="111111"/>
                </a:solidFill>
              </a:defRPr>
            </a:pPr>
            <a:r>
              <a:rPr sz="1725" b="0">
                <a:solidFill>
                  <a:srgbClr val="111111"/>
                </a:solidFill>
              </a:rPr>
              <a:t>• A discussion of discrepancies and limitations</a:t>
            </a:r>
          </a:p>
          <a:p xmlns:a="http://schemas.openxmlformats.org/drawingml/2006/main">
            <a:pPr algn="l">
              <a:buNone/>
              <a:defRPr sz="1725" b="0">
                <a:solidFill>
                  <a:srgbClr val="111111"/>
                </a:solidFill>
              </a:defRPr>
            </a:pPr>
            <a:r>
              <a:rPr sz="1725" b="0">
                <a:solidFill>
                  <a:srgbClr val="111111"/>
                </a:solidFill>
              </a:rPr>
              <a:t>• Conclusions supported by the presented data</a:t>
            </a:r>
          </a:p>
        </p:txBody>
      </p:sp>
      <p:sp>
        <p:nvSpPr>
          <p:cNvPr id="9" name="text-99">
            <a:extLst xmlns:a="http://schemas.openxmlformats.org/drawingml/2006/main">
              <a:ext uri="{FF2B5EF4-FFF2-40B4-BE49-F238E27FC236}">
                <a16:creationId xmlns:a16="http://schemas.microsoft.com/office/drawing/2014/main" id="{E41C8591-CC97-458F-A022-2E595046D78B}"/>
              </a:ext>
            </a:extLst>
          </p:cNvPr>
          <p:cNvSpPr>
            <a:spLocks xmlns:a="http://schemas.openxmlformats.org/drawingml/2006/main" noGrp="1"/>
          </p:cNvSpPr>
          <p:nvPr/>
        </p:nvSpPr>
        <p:spPr>
          <a:xfrm xmlns:a="http://schemas.openxmlformats.org/drawingml/2006/main">
            <a:off x="4762500" y="5334000"/>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87452"/>
          </a:bodyPr>
          <a:lstStyle xmlns:a="http://schemas.openxmlformats.org/drawingml/2006/main"/>
          <a:p xmlns:a="http://schemas.openxmlformats.org/drawingml/2006/main">
            <a:pPr algn="l">
              <a:buNone/>
              <a:defRPr sz="1800" b="1">
                <a:solidFill>
                  <a:srgbClr val="881C1C"/>
                </a:solidFill>
              </a:defRPr>
            </a:pPr>
            <a:r>
              <a:rPr sz="1800" b="1">
                <a:solidFill>
                  <a:srgbClr val="881C1C"/>
                </a:solidFill>
              </a:rPr>
              <a:t>Meaningful results matter more than a polished page with weak analysis.</a:t>
            </a:r>
          </a:p>
        </p:txBody>
      </p:sp>
    </p:spTree>
    <p:extLst>
      <p:ext uri="{BB962C8B-B14F-4D97-AF65-F5344CB8AC3E}">
        <p14:creationId xmlns:p14="http://schemas.microsoft.com/office/powerpoint/2010/main" val="15913940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80A955ED-8416-4406-BF29-7F84C1AB12CA}"/>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74A3C0E6-3B1A-4F4E-B36C-86DCBD91E6F2}"/>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Report length and section purpose</a:t>
            </a:r>
          </a:p>
        </p:txBody>
      </p:sp>
      <p:graphicFrame>
        <p:nvGraphicFramePr>
          <p:cNvPr id="8" name=""/>
          <p:cNvGraphicFramePr/>
          <p:nvPr/>
        </p:nvGraphicFramePr>
        <p:xfrm>
          <a:off xmlns:a="http://schemas.openxmlformats.org/drawingml/2006/main" x="476250" y="1695450"/>
          <a:ext xmlns:a="http://schemas.openxmlformats.org/drawingml/2006/main" cx="11239500" cy="3952875"/>
        </p:xfrm>
        <a:graphic xmlns:a="http://schemas.openxmlformats.org/drawingml/2006/main">
          <a:graphicData uri="http://schemas.openxmlformats.org/drawingml/2006/table">
            <a:tbl>
              <a:tblPr/>
              <a:tblGrid>
                <a:gridCol w="2190750"/>
                <a:gridCol w="2286000"/>
                <a:gridCol w="6762750"/>
              </a:tblGrid>
              <a:tr h="494109">
                <a:tc>
                  <a:txBody>
                    <a:bodyPr/>
                    <a:lstStyle/>
                    <a:p>
                      <a:r>
                        <a:rPr sz="1575" b="1">
                          <a:solidFill>
                            <a:srgbClr val="FFFFFF"/>
                          </a:solidFill>
                          <a:latin typeface="Calibri"/>
                          <a:ea typeface="Calibri"/>
                          <a:cs typeface="Calibri"/>
                        </a:rPr>
                        <a:t>Section</a:t>
                      </a:r>
                    </a:p>
                  </a:txBody>
                  <a:tcPr marL="91440" marR="91440" marT="45720" marB="45720">
                    <a:solidFill>
                      <a:srgbClr val="881C1C"/>
                    </a:solidFill>
                  </a:tcPr>
                </a:tc>
                <a:tc>
                  <a:txBody>
                    <a:bodyPr/>
                    <a:lstStyle/>
                    <a:p>
                      <a:r>
                        <a:rPr sz="1575" b="1">
                          <a:solidFill>
                            <a:srgbClr val="FFFFFF"/>
                          </a:solidFill>
                          <a:latin typeface="Calibri"/>
                          <a:ea typeface="Calibri"/>
                          <a:cs typeface="Calibri"/>
                        </a:rPr>
                        <a:t>Template allocation</a:t>
                      </a:r>
                    </a:p>
                  </a:txBody>
                  <a:tcPr marL="91440" marR="91440" marT="45720" marB="45720">
                    <a:solidFill>
                      <a:srgbClr val="881C1C"/>
                    </a:solidFill>
                  </a:tcPr>
                </a:tc>
                <a:tc>
                  <a:txBody>
                    <a:bodyPr/>
                    <a:lstStyle/>
                    <a:p>
                      <a:r>
                        <a:rPr sz="1575" b="1">
                          <a:solidFill>
                            <a:srgbClr val="FFFFFF"/>
                          </a:solidFill>
                          <a:latin typeface="Calibri"/>
                          <a:ea typeface="Calibri"/>
                          <a:cs typeface="Calibri"/>
                        </a:rPr>
                        <a:t>Main purpose</a:t>
                      </a:r>
                    </a:p>
                  </a:txBody>
                  <a:tcPr marL="91440" marR="91440" marT="45720" marB="45720">
                    <a:solidFill>
                      <a:srgbClr val="881C1C"/>
                    </a:solidFill>
                  </a:tcPr>
                </a:tc>
              </a:tr>
              <a:tr h="494109">
                <a:tc>
                  <a:txBody>
                    <a:bodyPr/>
                    <a:lstStyle/>
                    <a:p>
                      <a:r>
                        <a:rPr sz="1575" b="0">
                          <a:solidFill>
                            <a:srgbClr val="111111"/>
                          </a:solidFill>
                          <a:latin typeface="Calibri"/>
                          <a:ea typeface="Calibri"/>
                          <a:cs typeface="Calibri"/>
                        </a:rPr>
                        <a:t>Abstract</a:t>
                      </a:r>
                    </a:p>
                  </a:txBody>
                  <a:tcPr marL="91440" marR="91440" marT="45720" marB="45720">
                    <a:solidFill>
                      <a:srgbClr val="FFFFFF"/>
                    </a:solidFill>
                  </a:tcPr>
                </a:tc>
                <a:tc>
                  <a:txBody>
                    <a:bodyPr/>
                    <a:lstStyle/>
                    <a:p>
                      <a:r>
                        <a:rPr sz="1575" b="0">
                          <a:solidFill>
                            <a:srgbClr val="111111"/>
                          </a:solidFill>
                          <a:latin typeface="Calibri"/>
                          <a:ea typeface="Calibri"/>
                          <a:cs typeface="Calibri"/>
                        </a:rPr>
                        <a:t>Maximum 10 lines</a:t>
                      </a:r>
                    </a:p>
                  </a:txBody>
                  <a:tcPr marL="91440" marR="91440" marT="45720" marB="45720">
                    <a:solidFill>
                      <a:srgbClr val="FFFFFF"/>
                    </a:solidFill>
                  </a:tcPr>
                </a:tc>
                <a:tc>
                  <a:txBody>
                    <a:bodyPr/>
                    <a:lstStyle/>
                    <a:p>
                      <a:r>
                        <a:rPr sz="1575" b="0">
                          <a:solidFill>
                            <a:srgbClr val="111111"/>
                          </a:solidFill>
                          <a:latin typeface="Calibri"/>
                          <a:ea typeface="Calibri"/>
                          <a:cs typeface="Calibri"/>
                        </a:rPr>
                        <a:t>Purpose, method, key finding, implication</a:t>
                      </a:r>
                    </a:p>
                  </a:txBody>
                  <a:tcPr marL="91440" marR="91440" marT="45720" marB="45720">
                    <a:solidFill>
                      <a:srgbClr val="FFFFFF"/>
                    </a:solidFill>
                  </a:tcPr>
                </a:tc>
              </a:tr>
              <a:tr h="494109">
                <a:tc>
                  <a:txBody>
                    <a:bodyPr/>
                    <a:lstStyle/>
                    <a:p>
                      <a:r>
                        <a:rPr sz="1575" b="0">
                          <a:solidFill>
                            <a:srgbClr val="111111"/>
                          </a:solidFill>
                          <a:latin typeface="Calibri"/>
                          <a:ea typeface="Calibri"/>
                          <a:cs typeface="Calibri"/>
                        </a:rPr>
                        <a:t>Introduction</a:t>
                      </a:r>
                    </a:p>
                  </a:txBody>
                  <a:tcPr marL="91440" marR="91440" marT="45720" marB="45720">
                    <a:solidFill>
                      <a:srgbClr val="F7F7F7"/>
                    </a:solidFill>
                  </a:tcPr>
                </a:tc>
                <a:tc>
                  <a:txBody>
                    <a:bodyPr/>
                    <a:lstStyle/>
                    <a:p>
                      <a:r>
                        <a:rPr sz="1575" b="0">
                          <a:solidFill>
                            <a:srgbClr val="111111"/>
                          </a:solidFill>
                          <a:latin typeface="Calibri"/>
                          <a:ea typeface="Calibri"/>
                          <a:cs typeface="Calibri"/>
                        </a:rPr>
                        <a:t>1 page</a:t>
                      </a:r>
                    </a:p>
                  </a:txBody>
                  <a:tcPr marL="91440" marR="91440" marT="45720" marB="45720">
                    <a:solidFill>
                      <a:srgbClr val="F7F7F7"/>
                    </a:solidFill>
                  </a:tcPr>
                </a:tc>
                <a:tc>
                  <a:txBody>
                    <a:bodyPr/>
                    <a:lstStyle/>
                    <a:p>
                      <a:r>
                        <a:rPr sz="1575" b="0">
                          <a:solidFill>
                            <a:srgbClr val="111111"/>
                          </a:solidFill>
                          <a:latin typeface="Calibri"/>
                          <a:ea typeface="Calibri"/>
                          <a:cs typeface="Calibri"/>
                        </a:rPr>
                        <a:t>Theory, experiment, and testable objective</a:t>
                      </a:r>
                    </a:p>
                  </a:txBody>
                  <a:tcPr marL="91440" marR="91440" marT="45720" marB="45720">
                    <a:solidFill>
                      <a:srgbClr val="F7F7F7"/>
                    </a:solidFill>
                  </a:tcPr>
                </a:tc>
              </a:tr>
              <a:tr h="494109">
                <a:tc>
                  <a:txBody>
                    <a:bodyPr/>
                    <a:lstStyle/>
                    <a:p>
                      <a:r>
                        <a:rPr sz="1575" b="0">
                          <a:solidFill>
                            <a:srgbClr val="111111"/>
                          </a:solidFill>
                          <a:latin typeface="Calibri"/>
                          <a:ea typeface="Calibri"/>
                          <a:cs typeface="Calibri"/>
                        </a:rPr>
                        <a:t>Method</a:t>
                      </a:r>
                    </a:p>
                  </a:txBody>
                  <a:tcPr marL="91440" marR="91440" marT="45720" marB="45720">
                    <a:solidFill>
                      <a:srgbClr val="FFFFFF"/>
                    </a:solidFill>
                  </a:tcPr>
                </a:tc>
                <a:tc>
                  <a:txBody>
                    <a:bodyPr/>
                    <a:lstStyle/>
                    <a:p>
                      <a:r>
                        <a:rPr sz="1575" b="0">
                          <a:solidFill>
                            <a:srgbClr val="111111"/>
                          </a:solidFill>
                          <a:latin typeface="Calibri"/>
                          <a:ea typeface="Calibri"/>
                          <a:cs typeface="Calibri"/>
                        </a:rPr>
                        <a:t>1 page</a:t>
                      </a:r>
                    </a:p>
                  </a:txBody>
                  <a:tcPr marL="91440" marR="91440" marT="45720" marB="45720">
                    <a:solidFill>
                      <a:srgbClr val="FFFFFF"/>
                    </a:solidFill>
                  </a:tcPr>
                </a:tc>
                <a:tc>
                  <a:txBody>
                    <a:bodyPr/>
                    <a:lstStyle/>
                    <a:p>
                      <a:r>
                        <a:rPr sz="1575" b="0">
                          <a:solidFill>
                            <a:srgbClr val="111111"/>
                          </a:solidFill>
                          <a:latin typeface="Calibri"/>
                          <a:ea typeface="Calibri"/>
                          <a:cs typeface="Calibri"/>
                        </a:rPr>
                        <a:t>Enough detail to reproduce the measurement</a:t>
                      </a:r>
                    </a:p>
                  </a:txBody>
                  <a:tcPr marL="91440" marR="91440" marT="45720" marB="45720">
                    <a:solidFill>
                      <a:srgbClr val="FFFFFF"/>
                    </a:solidFill>
                  </a:tcPr>
                </a:tc>
              </a:tr>
              <a:tr h="494109">
                <a:tc>
                  <a:txBody>
                    <a:bodyPr/>
                    <a:lstStyle/>
                    <a:p>
                      <a:r>
                        <a:rPr sz="1575" b="0">
                          <a:solidFill>
                            <a:srgbClr val="111111"/>
                          </a:solidFill>
                          <a:latin typeface="Calibri"/>
                          <a:ea typeface="Calibri"/>
                          <a:cs typeface="Calibri"/>
                        </a:rPr>
                        <a:t>Results</a:t>
                      </a:r>
                    </a:p>
                  </a:txBody>
                  <a:tcPr marL="91440" marR="91440" marT="45720" marB="45720">
                    <a:solidFill>
                      <a:srgbClr val="F7F7F7"/>
                    </a:solidFill>
                  </a:tcPr>
                </a:tc>
                <a:tc>
                  <a:txBody>
                    <a:bodyPr/>
                    <a:lstStyle/>
                    <a:p>
                      <a:r>
                        <a:rPr sz="1575" b="0">
                          <a:solidFill>
                            <a:srgbClr val="111111"/>
                          </a:solidFill>
                          <a:latin typeface="Calibri"/>
                          <a:ea typeface="Calibri"/>
                          <a:cs typeface="Calibri"/>
                        </a:rPr>
                        <a:t>3 pages including figures</a:t>
                      </a:r>
                    </a:p>
                  </a:txBody>
                  <a:tcPr marL="91440" marR="91440" marT="45720" marB="45720">
                    <a:solidFill>
                      <a:srgbClr val="F7F7F7"/>
                    </a:solidFill>
                  </a:tcPr>
                </a:tc>
                <a:tc>
                  <a:txBody>
                    <a:bodyPr/>
                    <a:lstStyle/>
                    <a:p>
                      <a:r>
                        <a:rPr sz="1575" b="0">
                          <a:solidFill>
                            <a:srgbClr val="111111"/>
                          </a:solidFill>
                          <a:latin typeface="Calibri"/>
                          <a:ea typeface="Calibri"/>
                          <a:cs typeface="Calibri"/>
                        </a:rPr>
                        <a:t>Observed behavior and processed measurements</a:t>
                      </a:r>
                    </a:p>
                  </a:txBody>
                  <a:tcPr marL="91440" marR="91440" marT="45720" marB="45720">
                    <a:solidFill>
                      <a:srgbClr val="F7F7F7"/>
                    </a:solidFill>
                  </a:tcPr>
                </a:tc>
              </a:tr>
              <a:tr h="494109">
                <a:tc>
                  <a:txBody>
                    <a:bodyPr/>
                    <a:lstStyle/>
                    <a:p>
                      <a:r>
                        <a:rPr sz="1575" b="0">
                          <a:solidFill>
                            <a:srgbClr val="111111"/>
                          </a:solidFill>
                          <a:latin typeface="Calibri"/>
                          <a:ea typeface="Calibri"/>
                          <a:cs typeface="Calibri"/>
                        </a:rPr>
                        <a:t>Comparison</a:t>
                      </a:r>
                    </a:p>
                  </a:txBody>
                  <a:tcPr marL="91440" marR="91440" marT="45720" marB="45720">
                    <a:solidFill>
                      <a:srgbClr val="FFFFFF"/>
                    </a:solidFill>
                  </a:tcPr>
                </a:tc>
                <a:tc>
                  <a:txBody>
                    <a:bodyPr/>
                    <a:lstStyle/>
                    <a:p>
                      <a:r>
                        <a:rPr sz="1575" b="0">
                          <a:solidFill>
                            <a:srgbClr val="111111"/>
                          </a:solidFill>
                          <a:latin typeface="Calibri"/>
                          <a:ea typeface="Calibri"/>
                          <a:cs typeface="Calibri"/>
                        </a:rPr>
                        <a:t>1 page</a:t>
                      </a:r>
                    </a:p>
                  </a:txBody>
                  <a:tcPr marL="91440" marR="91440" marT="45720" marB="45720">
                    <a:solidFill>
                      <a:srgbClr val="FFFFFF"/>
                    </a:solidFill>
                  </a:tcPr>
                </a:tc>
                <a:tc>
                  <a:txBody>
                    <a:bodyPr/>
                    <a:lstStyle/>
                    <a:p>
                      <a:r>
                        <a:rPr sz="1575" b="0">
                          <a:solidFill>
                            <a:srgbClr val="111111"/>
                          </a:solidFill>
                          <a:latin typeface="Calibri"/>
                          <a:ea typeface="Calibri"/>
                          <a:cs typeface="Calibri"/>
                        </a:rPr>
                        <a:t>Prediction and experiment on the same basis</a:t>
                      </a:r>
                    </a:p>
                  </a:txBody>
                  <a:tcPr marL="91440" marR="91440" marT="45720" marB="45720">
                    <a:solidFill>
                      <a:srgbClr val="FFFFFF"/>
                    </a:solidFill>
                  </a:tcPr>
                </a:tc>
              </a:tr>
              <a:tr h="494109">
                <a:tc>
                  <a:txBody>
                    <a:bodyPr/>
                    <a:lstStyle/>
                    <a:p>
                      <a:r>
                        <a:rPr sz="1575" b="0">
                          <a:solidFill>
                            <a:srgbClr val="111111"/>
                          </a:solidFill>
                          <a:latin typeface="Calibri"/>
                          <a:ea typeface="Calibri"/>
                          <a:cs typeface="Calibri"/>
                        </a:rPr>
                        <a:t>Discussion</a:t>
                      </a:r>
                    </a:p>
                  </a:txBody>
                  <a:tcPr marL="91440" marR="91440" marT="45720" marB="45720">
                    <a:solidFill>
                      <a:srgbClr val="F7F7F7"/>
                    </a:solidFill>
                  </a:tcPr>
                </a:tc>
                <a:tc>
                  <a:txBody>
                    <a:bodyPr/>
                    <a:lstStyle/>
                    <a:p>
                      <a:r>
                        <a:rPr sz="1575" b="0">
                          <a:solidFill>
                            <a:srgbClr val="111111"/>
                          </a:solidFill>
                          <a:latin typeface="Calibri"/>
                          <a:ea typeface="Calibri"/>
                          <a:cs typeface="Calibri"/>
                        </a:rPr>
                        <a:t>1 page</a:t>
                      </a:r>
                    </a:p>
                  </a:txBody>
                  <a:tcPr marL="91440" marR="91440" marT="45720" marB="45720">
                    <a:solidFill>
                      <a:srgbClr val="F7F7F7"/>
                    </a:solidFill>
                  </a:tcPr>
                </a:tc>
                <a:tc>
                  <a:txBody>
                    <a:bodyPr/>
                    <a:lstStyle/>
                    <a:p>
                      <a:r>
                        <a:rPr sz="1575" b="0">
                          <a:solidFill>
                            <a:srgbClr val="111111"/>
                          </a:solidFill>
                          <a:latin typeface="Calibri"/>
                          <a:ea typeface="Calibri"/>
                          <a:cs typeface="Calibri"/>
                        </a:rPr>
                        <a:t>Discrepancies, uncertainty, and limitations</a:t>
                      </a:r>
                    </a:p>
                  </a:txBody>
                  <a:tcPr marL="91440" marR="91440" marT="45720" marB="45720">
                    <a:solidFill>
                      <a:srgbClr val="F7F7F7"/>
                    </a:solidFill>
                  </a:tcPr>
                </a:tc>
              </a:tr>
              <a:tr h="494109">
                <a:tc>
                  <a:txBody>
                    <a:bodyPr/>
                    <a:lstStyle/>
                    <a:p>
                      <a:r>
                        <a:rPr sz="1575" b="0">
                          <a:solidFill>
                            <a:srgbClr val="111111"/>
                          </a:solidFill>
                          <a:latin typeface="Calibri"/>
                          <a:ea typeface="Calibri"/>
                          <a:cs typeface="Calibri"/>
                        </a:rPr>
                        <a:t>Conclusions</a:t>
                      </a:r>
                    </a:p>
                  </a:txBody>
                  <a:tcPr marL="91440" marR="91440" marT="45720" marB="45720">
                    <a:solidFill>
                      <a:srgbClr val="FFFFFF"/>
                    </a:solidFill>
                  </a:tcPr>
                </a:tc>
                <a:tc>
                  <a:txBody>
                    <a:bodyPr/>
                    <a:lstStyle/>
                    <a:p>
                      <a:r>
                        <a:rPr sz="1575" b="0">
                          <a:solidFill>
                            <a:srgbClr val="111111"/>
                          </a:solidFill>
                          <a:latin typeface="Calibri"/>
                          <a:ea typeface="Calibri"/>
                          <a:cs typeface="Calibri"/>
                        </a:rPr>
                        <a:t>1 page</a:t>
                      </a:r>
                    </a:p>
                  </a:txBody>
                  <a:tcPr marL="91440" marR="91440" marT="45720" marB="45720">
                    <a:solidFill>
                      <a:srgbClr val="FFFFFF"/>
                    </a:solidFill>
                  </a:tcPr>
                </a:tc>
                <a:tc>
                  <a:txBody>
                    <a:bodyPr/>
                    <a:lstStyle/>
                    <a:p>
                      <a:r>
                        <a:rPr sz="1575" b="0">
                          <a:solidFill>
                            <a:srgbClr val="111111"/>
                          </a:solidFill>
                          <a:latin typeface="Calibri"/>
                          <a:ea typeface="Calibri"/>
                          <a:cs typeface="Calibri"/>
                        </a:rPr>
                        <a:t>Quantitative answer and the main lesson</a:t>
                      </a:r>
                    </a:p>
                  </a:txBody>
                  <a:tcPr marL="91440" marR="91440" marT="45720" marB="45720">
                    <a:solidFill>
                      <a:srgbClr val="FFFFFF"/>
                    </a:solidFill>
                  </a:tcPr>
                </a:tc>
              </a:tr>
            </a:tbl>
          </a:graphicData>
        </a:graphic>
      </p:graphicFrame>
      <p:sp>
        <p:nvSpPr>
          <p:cNvPr id="4" name="footnote">
            <a:extLst xmlns:a="http://schemas.openxmlformats.org/drawingml/2006/main">
              <a:ext uri="{FF2B5EF4-FFF2-40B4-BE49-F238E27FC236}">
                <a16:creationId xmlns:a16="http://schemas.microsoft.com/office/drawing/2014/main" id="{37305A25-E322-4ABA-91AA-B4F228A389A7}"/>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References and optional appendices have no stated page limit. Follow any assignment-specific limit on Canvas.</a:t>
            </a:r>
          </a:p>
        </p:txBody>
      </p:sp>
      <p:sp>
        <p:nvSpPr>
          <p:cNvPr id="5" name="page">
            <a:extLst xmlns:a="http://schemas.openxmlformats.org/drawingml/2006/main">
              <a:ext uri="{FF2B5EF4-FFF2-40B4-BE49-F238E27FC236}">
                <a16:creationId xmlns:a16="http://schemas.microsoft.com/office/drawing/2014/main" id="{7C2643E0-2DA6-4BD3-BB30-48C25D82E4BA}"/>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15</a:t>
            </a:r>
          </a:p>
        </p:txBody>
      </p:sp>
    </p:spTree>
    <p:extLst>
      <p:ext uri="{BB962C8B-B14F-4D97-AF65-F5344CB8AC3E}">
        <p14:creationId xmlns:p14="http://schemas.microsoft.com/office/powerpoint/2010/main" val="109555175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06746896-5E47-4666-B991-BFDA7C9997CC}"/>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48F16CFD-0475-4E6F-B48D-AD7E7104FA5C}"/>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Introduction and reproducible method</a:t>
            </a:r>
          </a:p>
        </p:txBody>
      </p:sp>
      <p:sp>
        <p:nvSpPr>
          <p:cNvPr id="3" name="body">
            <a:extLst xmlns:a="http://schemas.openxmlformats.org/drawingml/2006/main">
              <a:ext uri="{FF2B5EF4-FFF2-40B4-BE49-F238E27FC236}">
                <a16:creationId xmlns:a16="http://schemas.microsoft.com/office/drawing/2014/main" id="{4B642081-BCEA-4AB4-8D85-00EE6030C8AE}"/>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Introduction</a:t>
            </a:r>
          </a:p>
        </p:txBody>
      </p:sp>
      <p:sp>
        <p:nvSpPr>
          <p:cNvPr id="4" name="body">
            <a:extLst xmlns:a="http://schemas.openxmlformats.org/drawingml/2006/main">
              <a:ext uri="{FF2B5EF4-FFF2-40B4-BE49-F238E27FC236}">
                <a16:creationId xmlns:a16="http://schemas.microsoft.com/office/drawing/2014/main" id="{03BB7F13-2038-42CB-A2BE-78EA7C9D09B3}"/>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State a testable objective. Give the governing equation, define symbols, and explain assumptions.</a:t>
            </a:r>
          </a:p>
        </p:txBody>
      </p:sp>
      <p:sp>
        <p:nvSpPr>
          <p:cNvPr id="5" name="body">
            <a:extLst xmlns:a="http://schemas.openxmlformats.org/drawingml/2006/main">
              <a:ext uri="{FF2B5EF4-FFF2-40B4-BE49-F238E27FC236}">
                <a16:creationId xmlns:a16="http://schemas.microsoft.com/office/drawing/2014/main" id="{4056F6B3-C459-403A-8CC8-D714F31F14F2}"/>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Method</a:t>
            </a:r>
          </a:p>
        </p:txBody>
      </p:sp>
      <p:sp>
        <p:nvSpPr>
          <p:cNvPr id="6" name="body">
            <a:extLst xmlns:a="http://schemas.openxmlformats.org/drawingml/2006/main">
              <a:ext uri="{FF2B5EF4-FFF2-40B4-BE49-F238E27FC236}">
                <a16:creationId xmlns:a16="http://schemas.microsoft.com/office/drawing/2014/main" id="{2AB68C11-A5CB-431F-AED6-E1E2382225CC}"/>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Describe the actual apparatus, calibration, sampling settings, initial conditions, and repeated runs.</a:t>
            </a:r>
          </a:p>
        </p:txBody>
      </p:sp>
      <p:sp>
        <p:nvSpPr>
          <p:cNvPr id="7" name="body">
            <a:extLst xmlns:a="http://schemas.openxmlformats.org/drawingml/2006/main">
              <a:ext uri="{FF2B5EF4-FFF2-40B4-BE49-F238E27FC236}">
                <a16:creationId xmlns:a16="http://schemas.microsoft.com/office/drawing/2014/main" id="{A4896DC6-A265-49B2-B2AC-1998729622EA}"/>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Analysis record</a:t>
            </a:r>
          </a:p>
        </p:txBody>
      </p:sp>
      <p:sp>
        <p:nvSpPr>
          <p:cNvPr id="8" name="body">
            <a:extLst xmlns:a="http://schemas.openxmlformats.org/drawingml/2006/main">
              <a:ext uri="{FF2B5EF4-FFF2-40B4-BE49-F238E27FC236}">
                <a16:creationId xmlns:a16="http://schemas.microsoft.com/office/drawing/2014/main" id="{44AE66B2-39C1-4204-B8A3-D8A514B60AFC}"/>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Explain processing choices, fitting intervals, and parameter sources so another person can repeat the analysis.</a:t>
            </a:r>
          </a:p>
        </p:txBody>
      </p:sp>
      <p:sp>
        <p:nvSpPr>
          <p:cNvPr id="9" name="footnote">
            <a:extLst xmlns:a="http://schemas.openxmlformats.org/drawingml/2006/main">
              <a:ext uri="{FF2B5EF4-FFF2-40B4-BE49-F238E27FC236}">
                <a16:creationId xmlns:a16="http://schemas.microsoft.com/office/drawing/2014/main" id="{AC414F71-ED72-4E23-8F30-AD8758CD1E30}"/>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Example objective: test how release angle changes agreement with the small-angle pendulum model.</a:t>
            </a:r>
          </a:p>
        </p:txBody>
      </p:sp>
      <p:sp>
        <p:nvSpPr>
          <p:cNvPr id="10" name="page">
            <a:extLst xmlns:a="http://schemas.openxmlformats.org/drawingml/2006/main">
              <a:ext uri="{FF2B5EF4-FFF2-40B4-BE49-F238E27FC236}">
                <a16:creationId xmlns:a16="http://schemas.microsoft.com/office/drawing/2014/main" id="{4A3EA71B-5086-40E1-8661-BD83AA105473}"/>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16</a:t>
            </a:r>
          </a:p>
        </p:txBody>
      </p:sp>
    </p:spTree>
    <p:extLst>
      <p:ext uri="{BB962C8B-B14F-4D97-AF65-F5344CB8AC3E}">
        <p14:creationId xmlns:p14="http://schemas.microsoft.com/office/powerpoint/2010/main" val="6366140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5B922324-0222-4CA2-BBBC-5B234AE742D9}"/>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83F19C27-2036-40A9-8E11-B1EC948803C5}"/>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A concise, quantitative abstract</a:t>
            </a:r>
          </a:p>
        </p:txBody>
      </p:sp>
      <p:sp>
        <p:nvSpPr>
          <p:cNvPr id="3" name="body">
            <a:extLst xmlns:a="http://schemas.openxmlformats.org/drawingml/2006/main">
              <a:ext uri="{FF2B5EF4-FFF2-40B4-BE49-F238E27FC236}">
                <a16:creationId xmlns:a16="http://schemas.microsoft.com/office/drawing/2014/main" id="{B9E4C854-0BC1-4891-85F9-E31E6AB30E95}"/>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Purpose and method</a:t>
            </a:r>
          </a:p>
        </p:txBody>
      </p:sp>
      <p:sp>
        <p:nvSpPr>
          <p:cNvPr id="4" name="body">
            <a:extLst xmlns:a="http://schemas.openxmlformats.org/drawingml/2006/main">
              <a:ext uri="{FF2B5EF4-FFF2-40B4-BE49-F238E27FC236}">
                <a16:creationId xmlns:a16="http://schemas.microsoft.com/office/drawing/2014/main" id="{70C34988-B754-4D4F-B924-58E48F0C90B9}"/>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We tested a small-angle pendulum prediction using angle histories from video.</a:t>
            </a:r>
          </a:p>
        </p:txBody>
      </p:sp>
      <p:sp>
        <p:nvSpPr>
          <p:cNvPr id="5" name="body">
            <a:extLst xmlns:a="http://schemas.openxmlformats.org/drawingml/2006/main">
              <a:ext uri="{FF2B5EF4-FFF2-40B4-BE49-F238E27FC236}">
                <a16:creationId xmlns:a16="http://schemas.microsoft.com/office/drawing/2014/main" id="{CC16BF18-8309-4AB9-A77A-05D5FF182D00}"/>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Key result</a:t>
            </a:r>
          </a:p>
        </p:txBody>
      </p:sp>
      <p:sp>
        <p:nvSpPr>
          <p:cNvPr id="6" name="body">
            <a:extLst xmlns:a="http://schemas.openxmlformats.org/drawingml/2006/main">
              <a:ext uri="{FF2B5EF4-FFF2-40B4-BE49-F238E27FC236}">
                <a16:creationId xmlns:a16="http://schemas.microsoft.com/office/drawing/2014/main" id="{57AFBA50-8646-4CC9-8C96-5D411E29D19F}"/>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The measured frequency was 1.47 Hz, compared with a predicted 1.50 Hz, a 2.0% difference.</a:t>
            </a:r>
          </a:p>
        </p:txBody>
      </p:sp>
      <p:sp>
        <p:nvSpPr>
          <p:cNvPr id="7" name="body">
            <a:extLst xmlns:a="http://schemas.openxmlformats.org/drawingml/2006/main">
              <a:ext uri="{FF2B5EF4-FFF2-40B4-BE49-F238E27FC236}">
                <a16:creationId xmlns:a16="http://schemas.microsoft.com/office/drawing/2014/main" id="{64B9EB4C-C389-498A-AE8E-450B5EF1A204}"/>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Meaning and limit</a:t>
            </a:r>
          </a:p>
        </p:txBody>
      </p:sp>
      <p:sp>
        <p:nvSpPr>
          <p:cNvPr id="8" name="body">
            <a:extLst xmlns:a="http://schemas.openxmlformats.org/drawingml/2006/main">
              <a:ext uri="{FF2B5EF4-FFF2-40B4-BE49-F238E27FC236}">
                <a16:creationId xmlns:a16="http://schemas.microsoft.com/office/drawing/2014/main" id="{EEF693C5-1F79-4203-8191-C47235FC25DF}"/>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The agreement supports the model for this case. The discrepancy requires an uncertainty assessment.</a:t>
            </a:r>
          </a:p>
        </p:txBody>
      </p:sp>
      <p:sp>
        <p:nvSpPr>
          <p:cNvPr id="9" name="footnote">
            <a:extLst xmlns:a="http://schemas.openxmlformats.org/drawingml/2006/main">
              <a:ext uri="{FF2B5EF4-FFF2-40B4-BE49-F238E27FC236}">
                <a16:creationId xmlns:a16="http://schemas.microsoft.com/office/drawing/2014/main" id="{48BEAA49-FE74-4F98-BD1F-F4AEAE026ACC}"/>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Illustrative wording and invented teaching values. An actual abstract must use your own results. Maximum 10 lines.</a:t>
            </a:r>
          </a:p>
        </p:txBody>
      </p:sp>
      <p:sp>
        <p:nvSpPr>
          <p:cNvPr id="10" name="page">
            <a:extLst xmlns:a="http://schemas.openxmlformats.org/drawingml/2006/main">
              <a:ext uri="{FF2B5EF4-FFF2-40B4-BE49-F238E27FC236}">
                <a16:creationId xmlns:a16="http://schemas.microsoft.com/office/drawing/2014/main" id="{48FE5ED1-D22B-4B2A-BB6A-0149AACC5DA8}"/>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17</a:t>
            </a:r>
          </a:p>
        </p:txBody>
      </p:sp>
    </p:spTree>
    <p:extLst>
      <p:ext uri="{BB962C8B-B14F-4D97-AF65-F5344CB8AC3E}">
        <p14:creationId xmlns:p14="http://schemas.microsoft.com/office/powerpoint/2010/main" val="9307035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769A67D4-789C-4BAA-898A-119940B76398}"/>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A85CD9F7-B351-45E4-AE27-CB2E79586093}"/>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Results: the measured behavior</a:t>
            </a:r>
          </a:p>
        </p:txBody>
      </p:sp>
      <p:sp>
        <p:nvSpPr>
          <p:cNvPr id="3" name="body">
            <a:extLst xmlns:a="http://schemas.openxmlformats.org/drawingml/2006/main">
              <a:ext uri="{FF2B5EF4-FFF2-40B4-BE49-F238E27FC236}">
                <a16:creationId xmlns:a16="http://schemas.microsoft.com/office/drawing/2014/main" id="{6F6AB507-C7EF-40BD-A575-8983850375F3}"/>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Observation</a:t>
            </a:r>
          </a:p>
        </p:txBody>
      </p:sp>
      <p:sp>
        <p:nvSpPr>
          <p:cNvPr id="4" name="body">
            <a:extLst xmlns:a="http://schemas.openxmlformats.org/drawingml/2006/main">
              <a:ext uri="{FF2B5EF4-FFF2-40B4-BE49-F238E27FC236}">
                <a16:creationId xmlns:a16="http://schemas.microsoft.com/office/drawing/2014/main" id="{C551174B-7169-4E33-AFB5-2063D810F07C}"/>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Describe what the measurements show, with quantities and units.</a:t>
            </a:r>
          </a:p>
        </p:txBody>
      </p:sp>
      <p:sp>
        <p:nvSpPr>
          <p:cNvPr id="5" name="body">
            <a:extLst xmlns:a="http://schemas.openxmlformats.org/drawingml/2006/main">
              <a:ext uri="{FF2B5EF4-FFF2-40B4-BE49-F238E27FC236}">
                <a16:creationId xmlns:a16="http://schemas.microsoft.com/office/drawing/2014/main" id="{9720DE92-0082-4185-BC06-2471961275A4}"/>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Evidence</a:t>
            </a:r>
          </a:p>
        </p:txBody>
      </p:sp>
      <p:sp>
        <p:nvSpPr>
          <p:cNvPr id="6" name="body">
            <a:extLst xmlns:a="http://schemas.openxmlformats.org/drawingml/2006/main">
              <a:ext uri="{FF2B5EF4-FFF2-40B4-BE49-F238E27FC236}">
                <a16:creationId xmlns:a16="http://schemas.microsoft.com/office/drawing/2014/main" id="{12C63E68-6716-4AA9-AAEB-7FAB634D4D1F}"/>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Use figures or tables that answer the experimental question. Identify conditions and repeated runs.</a:t>
            </a:r>
          </a:p>
        </p:txBody>
      </p:sp>
      <p:sp>
        <p:nvSpPr>
          <p:cNvPr id="7" name="body">
            <a:extLst xmlns:a="http://schemas.openxmlformats.org/drawingml/2006/main">
              <a:ext uri="{FF2B5EF4-FFF2-40B4-BE49-F238E27FC236}">
                <a16:creationId xmlns:a16="http://schemas.microsoft.com/office/drawing/2014/main" id="{72351866-76ED-45AE-B7D1-ED53E4618406}"/>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Traceability</a:t>
            </a:r>
          </a:p>
        </p:txBody>
      </p:sp>
      <p:sp>
        <p:nvSpPr>
          <p:cNvPr id="8" name="body">
            <a:extLst xmlns:a="http://schemas.openxmlformats.org/drawingml/2006/main">
              <a:ext uri="{FF2B5EF4-FFF2-40B4-BE49-F238E27FC236}">
                <a16:creationId xmlns:a16="http://schemas.microsoft.com/office/drawing/2014/main" id="{B01BEC06-D256-4A15-A10A-D7D0A5B7F5DE}"/>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Distinguish measured data, processed measurements, and simulation predictions.</a:t>
            </a:r>
          </a:p>
        </p:txBody>
      </p:sp>
      <p:sp>
        <p:nvSpPr>
          <p:cNvPr id="9" name="footnote">
            <a:extLst xmlns:a="http://schemas.openxmlformats.org/drawingml/2006/main">
              <a:ext uri="{FF2B5EF4-FFF2-40B4-BE49-F238E27FC236}">
                <a16:creationId xmlns:a16="http://schemas.microsoft.com/office/drawing/2014/main" id="{86C01F23-BA6F-42E5-8D7B-0326C98C2669}"/>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Example observation: successive positive displacement peaks decrease over time.</a:t>
            </a:r>
          </a:p>
        </p:txBody>
      </p:sp>
      <p:sp>
        <p:nvSpPr>
          <p:cNvPr id="10" name="page">
            <a:extLst xmlns:a="http://schemas.openxmlformats.org/drawingml/2006/main">
              <a:ext uri="{FF2B5EF4-FFF2-40B4-BE49-F238E27FC236}">
                <a16:creationId xmlns:a16="http://schemas.microsoft.com/office/drawing/2014/main" id="{E0F2CEED-1704-4101-A2AE-39DA385876AD}"/>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18</a:t>
            </a:r>
          </a:p>
        </p:txBody>
      </p:sp>
    </p:spTree>
    <p:extLst>
      <p:ext uri="{BB962C8B-B14F-4D97-AF65-F5344CB8AC3E}">
        <p14:creationId xmlns:p14="http://schemas.microsoft.com/office/powerpoint/2010/main" val="21334974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9">
            <a:extLst xmlns:a="http://schemas.openxmlformats.org/drawingml/2006/main">
              <a:ext uri="{FF2B5EF4-FFF2-40B4-BE49-F238E27FC236}">
                <a16:creationId xmlns:a16="http://schemas.microsoft.com/office/drawing/2014/main" id="{179AD2A5-FE40-4376-AFA1-C4EFB5A5B5AF}"/>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9">
            <a:extLst xmlns:a="http://schemas.openxmlformats.org/drawingml/2006/main">
              <a:ext uri="{FF2B5EF4-FFF2-40B4-BE49-F238E27FC236}">
                <a16:creationId xmlns:a16="http://schemas.microsoft.com/office/drawing/2014/main" id="{6BCE4A06-3DBF-48DF-AE8C-CD47B4017CCF}"/>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Readable, exported figures</a:t>
            </a:r>
          </a:p>
        </p:txBody>
      </p:sp>
      <p:sp>
        <p:nvSpPr>
          <p:cNvPr id="3" name="rule-102">
            <a:extLst xmlns:a="http://schemas.openxmlformats.org/drawingml/2006/main">
              <a:ext uri="{FF2B5EF4-FFF2-40B4-BE49-F238E27FC236}">
                <a16:creationId xmlns:a16="http://schemas.microsoft.com/office/drawing/2014/main" id="{FFB3D8A4-7D2F-44A7-8F1B-B2BCE05C812F}"/>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9">
            <a:extLst xmlns:a="http://schemas.openxmlformats.org/drawingml/2006/main">
              <a:ext uri="{FF2B5EF4-FFF2-40B4-BE49-F238E27FC236}">
                <a16:creationId xmlns:a16="http://schemas.microsoft.com/office/drawing/2014/main" id="{92D46AE5-4B51-4DD5-9D4D-B86841142859}"/>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19</a:t>
            </a:r>
          </a:p>
        </p:txBody>
      </p:sp>
      <p:sp>
        <p:nvSpPr>
          <p:cNvPr id="5" name="text-104">
            <a:extLst xmlns:a="http://schemas.openxmlformats.org/drawingml/2006/main">
              <a:ext uri="{FF2B5EF4-FFF2-40B4-BE49-F238E27FC236}">
                <a16:creationId xmlns:a16="http://schemas.microsoft.com/office/drawing/2014/main" id="{E2A45703-6F8A-4C36-BFE9-F4FB23F53D2F}"/>
              </a:ext>
            </a:extLst>
          </p:cNvPr>
          <p:cNvSpPr>
            <a:spLocks xmlns:a="http://schemas.openxmlformats.org/drawingml/2006/main" noGrp="1"/>
          </p:cNvSpPr>
          <p:nvPr/>
        </p:nvSpPr>
        <p:spPr>
          <a:xfrm xmlns:a="http://schemas.openxmlformats.org/drawingml/2006/main">
            <a:off x="514350" y="1752600"/>
            <a:ext cx="1047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00" b="1">
                <a:solidFill>
                  <a:srgbClr val="3D8DFF"/>
                </a:solidFill>
              </a:defRPr>
            </a:pPr>
            <a:r>
              <a:rPr sz="1800" b="1">
                <a:solidFill>
                  <a:srgbClr val="3D8DFF"/>
                </a:solidFill>
              </a:rPr>
              <a:t>DO</a:t>
            </a:r>
          </a:p>
        </p:txBody>
      </p:sp>
      <p:sp>
        <p:nvSpPr>
          <p:cNvPr id="6" name="text-105">
            <a:extLst xmlns:a="http://schemas.openxmlformats.org/drawingml/2006/main">
              <a:ext uri="{FF2B5EF4-FFF2-40B4-BE49-F238E27FC236}">
                <a16:creationId xmlns:a16="http://schemas.microsoft.com/office/drawing/2014/main" id="{38340C6C-7A49-443D-84FC-B267B13D1F8F}"/>
              </a:ext>
            </a:extLst>
          </p:cNvPr>
          <p:cNvSpPr>
            <a:spLocks xmlns:a="http://schemas.openxmlformats.org/drawingml/2006/main" noGrp="1"/>
          </p:cNvSpPr>
          <p:nvPr/>
        </p:nvSpPr>
        <p:spPr>
          <a:xfrm xmlns:a="http://schemas.openxmlformats.org/drawingml/2006/main">
            <a:off x="514350" y="22669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buNone/>
              <a:defRPr sz="1800" b="0">
                <a:solidFill>
                  <a:srgbClr val="111111"/>
                </a:solidFill>
              </a:defRPr>
            </a:pPr>
            <a:r>
              <a:rPr sz="1800" b="0">
                <a:solidFill>
                  <a:srgbClr val="111111"/>
                </a:solidFill>
              </a:rPr>
              <a:t>• Export high-resolution PNG, EPS, or PDF</a:t>
            </a:r>
          </a:p>
          <a:p xmlns:a="http://schemas.openxmlformats.org/drawingml/2006/main">
            <a:pPr algn="l">
              <a:buNone/>
              <a:defRPr sz="1800" b="0">
                <a:solidFill>
                  <a:srgbClr val="111111"/>
                </a:solidFill>
              </a:defRPr>
            </a:pPr>
            <a:r>
              <a:rPr sz="1800" b="0">
                <a:solidFill>
                  <a:srgbClr val="111111"/>
                </a:solidFill>
              </a:rPr>
              <a:t>• Label axes and include units</a:t>
            </a:r>
          </a:p>
          <a:p xmlns:a="http://schemas.openxmlformats.org/drawingml/2006/main">
            <a:pPr algn="l">
              <a:buNone/>
              <a:defRPr sz="1800" b="0">
                <a:solidFill>
                  <a:srgbClr val="111111"/>
                </a:solidFill>
              </a:defRPr>
            </a:pPr>
            <a:r>
              <a:rPr sz="1800" b="0">
                <a:solidFill>
                  <a:srgbClr val="111111"/>
                </a:solidFill>
              </a:rPr>
              <a:t>• Use legends that identify each data set</a:t>
            </a:r>
          </a:p>
          <a:p xmlns:a="http://schemas.openxmlformats.org/drawingml/2006/main">
            <a:pPr algn="l">
              <a:buNone/>
              <a:defRPr sz="1800" b="0">
                <a:solidFill>
                  <a:srgbClr val="111111"/>
                </a:solidFill>
              </a:defRPr>
            </a:pPr>
            <a:r>
              <a:rPr sz="1800" b="0">
                <a:solidFill>
                  <a:srgbClr val="111111"/>
                </a:solidFill>
              </a:rPr>
              <a:t>• Group related cases when comparison improves the analysis</a:t>
            </a:r>
          </a:p>
        </p:txBody>
      </p:sp>
      <p:sp>
        <p:nvSpPr>
          <p:cNvPr id="7" name="text-106">
            <a:extLst xmlns:a="http://schemas.openxmlformats.org/drawingml/2006/main">
              <a:ext uri="{FF2B5EF4-FFF2-40B4-BE49-F238E27FC236}">
                <a16:creationId xmlns:a16="http://schemas.microsoft.com/office/drawing/2014/main" id="{63FA9B10-2511-4C64-B694-1D661165DEA2}"/>
              </a:ext>
            </a:extLst>
          </p:cNvPr>
          <p:cNvSpPr>
            <a:spLocks xmlns:a="http://schemas.openxmlformats.org/drawingml/2006/main" noGrp="1"/>
          </p:cNvSpPr>
          <p:nvPr/>
        </p:nvSpPr>
        <p:spPr>
          <a:xfrm xmlns:a="http://schemas.openxmlformats.org/drawingml/2006/main">
            <a:off x="6324600" y="1752600"/>
            <a:ext cx="1238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800" b="1">
                <a:solidFill>
                  <a:srgbClr val="881C1C"/>
                </a:solidFill>
              </a:defRPr>
            </a:pPr>
            <a:r>
              <a:rPr sz="1800" b="1">
                <a:solidFill>
                  <a:srgbClr val="881C1C"/>
                </a:solidFill>
              </a:rPr>
              <a:t>AVOID</a:t>
            </a:r>
          </a:p>
        </p:txBody>
      </p:sp>
      <p:sp>
        <p:nvSpPr>
          <p:cNvPr id="8" name="text-107">
            <a:extLst xmlns:a="http://schemas.openxmlformats.org/drawingml/2006/main">
              <a:ext uri="{FF2B5EF4-FFF2-40B4-BE49-F238E27FC236}">
                <a16:creationId xmlns:a16="http://schemas.microsoft.com/office/drawing/2014/main" id="{C2951BA2-D92C-497C-A660-7A35E414EBB6}"/>
              </a:ext>
            </a:extLst>
          </p:cNvPr>
          <p:cNvSpPr>
            <a:spLocks xmlns:a="http://schemas.openxmlformats.org/drawingml/2006/main" noGrp="1"/>
          </p:cNvSpPr>
          <p:nvPr/>
        </p:nvSpPr>
        <p:spPr>
          <a:xfrm xmlns:a="http://schemas.openxmlformats.org/drawingml/2006/main">
            <a:off x="6324600" y="2266950"/>
            <a:ext cx="49530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buNone/>
              <a:defRPr sz="1800" b="0">
                <a:solidFill>
                  <a:srgbClr val="111111"/>
                </a:solidFill>
              </a:defRPr>
            </a:pPr>
            <a:r>
              <a:rPr sz="1800" b="0">
                <a:solidFill>
                  <a:srgbClr val="111111"/>
                </a:solidFill>
              </a:rPr>
              <a:t>• Screenshots of MATLAB or Python figure windows</a:t>
            </a:r>
          </a:p>
          <a:p xmlns:a="http://schemas.openxmlformats.org/drawingml/2006/main">
            <a:pPr algn="l">
              <a:buNone/>
              <a:defRPr sz="1800" b="0">
                <a:solidFill>
                  <a:srgbClr val="111111"/>
                </a:solidFill>
              </a:defRPr>
            </a:pPr>
            <a:r>
              <a:rPr sz="1800" b="0">
                <a:solidFill>
                  <a:srgbClr val="111111"/>
                </a:solidFill>
              </a:rPr>
              <a:t>• Tiny labels and unreadable legends</a:t>
            </a:r>
          </a:p>
          <a:p xmlns:a="http://schemas.openxmlformats.org/drawingml/2006/main">
            <a:pPr algn="l">
              <a:buNone/>
              <a:defRPr sz="1800" b="0">
                <a:solidFill>
                  <a:srgbClr val="111111"/>
                </a:solidFill>
              </a:defRPr>
            </a:pPr>
            <a:r>
              <a:rPr sz="1800" b="0">
                <a:solidFill>
                  <a:srgbClr val="111111"/>
                </a:solidFill>
              </a:rPr>
              <a:t>• Decorative plots that do not answer a question</a:t>
            </a:r>
          </a:p>
          <a:p xmlns:a="http://schemas.openxmlformats.org/drawingml/2006/main">
            <a:pPr algn="l">
              <a:buNone/>
              <a:defRPr sz="1800" b="0">
                <a:solidFill>
                  <a:srgbClr val="111111"/>
                </a:solidFill>
              </a:defRPr>
            </a:pPr>
            <a:r>
              <a:rPr sz="1800" b="0">
                <a:solidFill>
                  <a:srgbClr val="111111"/>
                </a:solidFill>
              </a:rPr>
              <a:t>• Separate figures when one comparison plot is clearer</a:t>
            </a:r>
          </a:p>
        </p:txBody>
      </p:sp>
      <p:sp>
        <p:nvSpPr>
          <p:cNvPr id="9" name="rule-108">
            <a:extLst xmlns:a="http://schemas.openxmlformats.org/drawingml/2006/main">
              <a:ext uri="{FF2B5EF4-FFF2-40B4-BE49-F238E27FC236}">
                <a16:creationId xmlns:a16="http://schemas.microsoft.com/office/drawing/2014/main" id="{CB6A6E7A-C639-4406-BA67-5EA6AE74ED5E}"/>
              </a:ext>
            </a:extLst>
          </p:cNvPr>
          <p:cNvSpPr>
            <a:spLocks xmlns:a="http://schemas.openxmlformats.org/drawingml/2006/main" noGrp="1"/>
          </p:cNvSpPr>
          <p:nvPr/>
        </p:nvSpPr>
        <p:spPr>
          <a:xfrm xmlns:a="http://schemas.openxmlformats.org/drawingml/2006/main">
            <a:off x="5905500" y="1714500"/>
            <a:ext cx="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10" name="text-109">
            <a:extLst xmlns:a="http://schemas.openxmlformats.org/drawingml/2006/main">
              <a:ext uri="{FF2B5EF4-FFF2-40B4-BE49-F238E27FC236}">
                <a16:creationId xmlns:a16="http://schemas.microsoft.com/office/drawing/2014/main" id="{84B977F1-026C-442C-B54D-340EBE0BB8EF}"/>
              </a:ext>
            </a:extLst>
          </p:cNvPr>
          <p:cNvSpPr>
            <a:spLocks xmlns:a="http://schemas.openxmlformats.org/drawingml/2006/main" noGrp="1"/>
          </p:cNvSpPr>
          <p:nvPr/>
        </p:nvSpPr>
        <p:spPr>
          <a:xfrm xmlns:a="http://schemas.openxmlformats.org/drawingml/2006/main">
            <a:off x="1714500" y="5334000"/>
            <a:ext cx="876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875" b="1">
                <a:solidFill>
                  <a:srgbClr val="5F6368"/>
                </a:solidFill>
              </a:defRPr>
            </a:pPr>
            <a:r>
              <a:rPr sz="1875" b="1">
                <a:solidFill>
                  <a:srgbClr val="5F6368"/>
                </a:solidFill>
              </a:rPr>
              <a:t>A figure should still make sense when viewed without the surrounding paragraph.</a:t>
            </a:r>
          </a:p>
        </p:txBody>
      </p:sp>
    </p:spTree>
    <p:extLst>
      <p:ext uri="{BB962C8B-B14F-4D97-AF65-F5344CB8AC3E}">
        <p14:creationId xmlns:p14="http://schemas.microsoft.com/office/powerpoint/2010/main" val="49436790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928AA55C-DDA0-4139-88B7-6F95E763DE4A}"/>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A59720AB-CD24-4C8D-AEA7-92F8D51EFC04}"/>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A figure that supports a comparison</a:t>
            </a:r>
          </a:p>
        </p:txBody>
      </p:sp>
      <p:graphicFrame>
        <p:nvGraphicFramePr>
          <p:cNvPr id="8" name="Chart"/>
          <p:cNvGraphicFramePr/>
          <p:nvPr/>
        </p:nvGraphicFramePr>
        <p:xfrm>
          <a:off xmlns:a="http://schemas.openxmlformats.org/drawingml/2006/main" x="619125" y="1657350"/>
          <a:ext xmlns:a="http://schemas.openxmlformats.org/drawingml/2006/main" cx="10858500" cy="3981450"/>
        </p:xfrm>
        <a:graphic xmlns:a="http://schemas.openxmlformats.org/drawingml/2006/main">
          <a:graphicData uri="http://schemas.openxmlformats.org/drawingml/2006/chart">
            <c:chart xmlns:r="http://schemas.openxmlformats.org/officeDocument/2006/relationships" xmlns:c="http://schemas.openxmlformats.org/drawingml/2006/chart" r:id="Rd44ab79741a7453d"/>
          </a:graphicData>
        </a:graphic>
      </p:graphicFrame>
      <p:sp>
        <p:nvSpPr>
          <p:cNvPr id="4" name="footnote">
            <a:extLst xmlns:a="http://schemas.openxmlformats.org/drawingml/2006/main">
              <a:ext uri="{FF2B5EF4-FFF2-40B4-BE49-F238E27FC236}">
                <a16:creationId xmlns:a16="http://schemas.microsoft.com/office/drawing/2014/main" id="{81200E07-CE69-4EFF-936D-9221A35F4A3C}"/>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Figure 1. Illustrative angle histories: undamped model and synthetic decaying signal, 5° initial angle, 50 samples/s.</a:t>
            </a:r>
          </a:p>
        </p:txBody>
      </p:sp>
      <p:sp>
        <p:nvSpPr>
          <p:cNvPr id="5" name="page">
            <a:extLst xmlns:a="http://schemas.openxmlformats.org/drawingml/2006/main">
              <a:ext uri="{FF2B5EF4-FFF2-40B4-BE49-F238E27FC236}">
                <a16:creationId xmlns:a16="http://schemas.microsoft.com/office/drawing/2014/main" id="{D04119ED-736F-43CC-BF77-57E87D7B7715}"/>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20</a:t>
            </a:r>
          </a:p>
        </p:txBody>
      </p:sp>
    </p:spTree>
    <p:extLst>
      <p:ext uri="{BB962C8B-B14F-4D97-AF65-F5344CB8AC3E}">
        <p14:creationId xmlns:p14="http://schemas.microsoft.com/office/powerpoint/2010/main" val="507763883"/>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rse">
            <a:extLst xmlns:a="http://schemas.openxmlformats.org/drawingml/2006/main">
              <a:ext uri="{FF2B5EF4-FFF2-40B4-BE49-F238E27FC236}">
                <a16:creationId xmlns:a16="http://schemas.microsoft.com/office/drawing/2014/main" id="{8161CDFC-C716-4030-AA54-9FD8F0A463A1}"/>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DAB3CDFA-0738-425D-828C-E743A3568020}"/>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Comparison: a fair test of the model</a:t>
            </a:r>
          </a:p>
        </p:txBody>
      </p:sp>
      <p:sp>
        <p:nvSpPr>
          <p:cNvPr id="3" name="body">
            <a:extLst xmlns:a="http://schemas.openxmlformats.org/drawingml/2006/main">
              <a:ext uri="{FF2B5EF4-FFF2-40B4-BE49-F238E27FC236}">
                <a16:creationId xmlns:a16="http://schemas.microsoft.com/office/drawing/2014/main" id="{BD754908-6B7C-4A2C-9BA4-B6F16CB90A94}"/>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Same basis</a:t>
            </a:r>
          </a:p>
        </p:txBody>
      </p:sp>
      <p:sp>
        <p:nvSpPr>
          <p:cNvPr id="4" name="body">
            <a:extLst xmlns:a="http://schemas.openxmlformats.org/drawingml/2006/main">
              <a:ext uri="{FF2B5EF4-FFF2-40B4-BE49-F238E27FC236}">
                <a16:creationId xmlns:a16="http://schemas.microsoft.com/office/drawing/2014/main" id="{8057F0A9-332C-49B6-92BC-69B2805554F8}"/>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Use matching units, initial conditions, time origin, and system parameters. Explain the theoretical solution.</a:t>
            </a:r>
          </a:p>
        </p:txBody>
      </p:sp>
      <p:sp>
        <p:nvSpPr>
          <p:cNvPr id="5" name="body">
            <a:extLst xmlns:a="http://schemas.openxmlformats.org/drawingml/2006/main">
              <a:ext uri="{FF2B5EF4-FFF2-40B4-BE49-F238E27FC236}">
                <a16:creationId xmlns:a16="http://schemas.microsoft.com/office/drawing/2014/main" id="{CAF0CB36-70C4-4D3A-B3CC-C56486164987}"/>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Quantitative comparison</a:t>
            </a:r>
          </a:p>
        </p:txBody>
      </p:sp>
      <p:sp>
        <p:nvSpPr>
          <p:cNvPr id="6" name="body">
            <a:extLst xmlns:a="http://schemas.openxmlformats.org/drawingml/2006/main">
              <a:ext uri="{FF2B5EF4-FFF2-40B4-BE49-F238E27FC236}">
                <a16:creationId xmlns:a16="http://schemas.microsoft.com/office/drawing/2014/main" id="{2DA43C52-2FCB-437F-9668-16551DE8447A}"/>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Compare period, frequency, amplitude, phase, damping, or another quantity relevant to the objective.</a:t>
            </a:r>
          </a:p>
        </p:txBody>
      </p:sp>
      <p:sp>
        <p:nvSpPr>
          <p:cNvPr id="7" name="body">
            <a:extLst xmlns:a="http://schemas.openxmlformats.org/drawingml/2006/main">
              <a:ext uri="{FF2B5EF4-FFF2-40B4-BE49-F238E27FC236}">
                <a16:creationId xmlns:a16="http://schemas.microsoft.com/office/drawing/2014/main" id="{82732CA7-46E0-4131-AB42-5725A9383B71}"/>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Parameter honesty</a:t>
            </a:r>
          </a:p>
        </p:txBody>
      </p:sp>
      <p:sp>
        <p:nvSpPr>
          <p:cNvPr id="8" name="body">
            <a:extLst xmlns:a="http://schemas.openxmlformats.org/drawingml/2006/main">
              <a:ext uri="{FF2B5EF4-FFF2-40B4-BE49-F238E27FC236}">
                <a16:creationId xmlns:a16="http://schemas.microsoft.com/office/drawing/2014/main" id="{925587AF-B1C1-4049-8757-48DE351B5F51}"/>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State which parameters you measured, assumed, or fitted. A fit to the same data is not independent validation.</a:t>
            </a:r>
          </a:p>
        </p:txBody>
      </p:sp>
      <p:sp>
        <p:nvSpPr>
          <p:cNvPr id="9" name="equation">
            <a:extLst xmlns:a="http://schemas.openxmlformats.org/drawingml/2006/main">
              <a:ext uri="{FF2B5EF4-FFF2-40B4-BE49-F238E27FC236}">
                <a16:creationId xmlns:a16="http://schemas.microsoft.com/office/drawing/2014/main" id="{BB0D843C-60DB-498A-8222-352A571725A4}"/>
              </a:ext>
            </a:extLst>
          </p:cNvPr>
          <p:cNvSpPr>
            <a:spLocks xmlns:a="http://schemas.openxmlformats.org/drawingml/2006/main" noGrp="1"/>
          </p:cNvSpPr>
          <p:nvPr/>
        </p:nvSpPr>
        <p:spPr>
          <a:xfrm xmlns:a="http://schemas.openxmlformats.org/drawingml/2006/main">
            <a:off x="495300" y="54768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1C1C"/>
                </a:solidFill>
                <a:latin typeface="Calibri"/>
                <a:ea typeface="Calibri"/>
                <a:cs typeface="Calibri"/>
              </a:defRPr>
            </a:pPr>
            <a:r>
              <a:rPr sz="2250" b="1">
                <a:solidFill>
                  <a:srgbClr val="881C1C"/>
                </a:solidFill>
                <a:latin typeface="Calibri"/>
                <a:ea typeface="Calibri"/>
                <a:cs typeface="Calibri"/>
              </a:rPr>
              <a:t>Relative discrepancy = | measured − predicted | / | predicted | × 100%</a:t>
            </a:r>
          </a:p>
        </p:txBody>
      </p:sp>
      <p:sp>
        <p:nvSpPr>
          <p:cNvPr id="10" name="footnote">
            <a:extLst xmlns:a="http://schemas.openxmlformats.org/drawingml/2006/main">
              <a:ext uri="{FF2B5EF4-FFF2-40B4-BE49-F238E27FC236}">
                <a16:creationId xmlns:a16="http://schemas.microsoft.com/office/drawing/2014/main" id="{7816E62E-FE8E-4EF8-821A-25194CF9EFBE}"/>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Use an appropriate absolute or scaled metric when the predicted value is zero or very small.</a:t>
            </a:r>
          </a:p>
        </p:txBody>
      </p:sp>
      <p:sp>
        <p:nvSpPr>
          <p:cNvPr id="11" name="page">
            <a:extLst xmlns:a="http://schemas.openxmlformats.org/drawingml/2006/main">
              <a:ext uri="{FF2B5EF4-FFF2-40B4-BE49-F238E27FC236}">
                <a16:creationId xmlns:a16="http://schemas.microsoft.com/office/drawing/2014/main" id="{27BA20E1-4D3E-4B3D-ACFF-2F2FC54C79AE}"/>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21</a:t>
            </a:r>
          </a:p>
        </p:txBody>
      </p:sp>
    </p:spTree>
    <p:extLst>
      <p:ext uri="{BB962C8B-B14F-4D97-AF65-F5344CB8AC3E}">
        <p14:creationId xmlns:p14="http://schemas.microsoft.com/office/powerpoint/2010/main" val="57516966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course">
            <a:extLst xmlns:a="http://schemas.openxmlformats.org/drawingml/2006/main">
              <a:ext uri="{FF2B5EF4-FFF2-40B4-BE49-F238E27FC236}">
                <a16:creationId xmlns:a16="http://schemas.microsoft.com/office/drawing/2014/main" id="{8BA42F86-4D3A-4816-ADA9-F907F28FD974}"/>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53A1F7B3-4CB7-4BFF-B0A5-48DA94E118B1}"/>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Uncertainty and acceptable agreement</a:t>
            </a:r>
          </a:p>
        </p:txBody>
      </p:sp>
      <p:sp>
        <p:nvSpPr>
          <p:cNvPr id="3" name="body">
            <a:extLst xmlns:a="http://schemas.openxmlformats.org/drawingml/2006/main">
              <a:ext uri="{FF2B5EF4-FFF2-40B4-BE49-F238E27FC236}">
                <a16:creationId xmlns:a16="http://schemas.microsoft.com/office/drawing/2014/main" id="{B0026F2F-E8A8-49A5-9520-F04CE0CB8431}"/>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Measurement uncertainty</a:t>
            </a:r>
          </a:p>
        </p:txBody>
      </p:sp>
      <p:sp>
        <p:nvSpPr>
          <p:cNvPr id="4" name="body">
            <a:extLst xmlns:a="http://schemas.openxmlformats.org/drawingml/2006/main">
              <a:ext uri="{FF2B5EF4-FFF2-40B4-BE49-F238E27FC236}">
                <a16:creationId xmlns:a16="http://schemas.microsoft.com/office/drawing/2014/main" id="{4DA5D039-7695-46E6-9C77-7C7AF704BF60}"/>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Consider calibration, resolution, repeatability, timing, and tracking choices.</a:t>
            </a:r>
          </a:p>
        </p:txBody>
      </p:sp>
      <p:sp>
        <p:nvSpPr>
          <p:cNvPr id="5" name="body">
            <a:extLst xmlns:a="http://schemas.openxmlformats.org/drawingml/2006/main">
              <a:ext uri="{FF2B5EF4-FFF2-40B4-BE49-F238E27FC236}">
                <a16:creationId xmlns:a16="http://schemas.microsoft.com/office/drawing/2014/main" id="{6AB0C00D-B041-4405-9857-DC8BBD36F2C6}"/>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Model uncertainty</a:t>
            </a:r>
          </a:p>
        </p:txBody>
      </p:sp>
      <p:sp>
        <p:nvSpPr>
          <p:cNvPr id="6" name="body">
            <a:extLst xmlns:a="http://schemas.openxmlformats.org/drawingml/2006/main">
              <a:ext uri="{FF2B5EF4-FFF2-40B4-BE49-F238E27FC236}">
                <a16:creationId xmlns:a16="http://schemas.microsoft.com/office/drawing/2014/main" id="{3643D2D6-BAC5-458E-AA70-9BE57BC8EFF2}"/>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Consider uncertain parameters and omitted physics, such as friction or large-angle effects.</a:t>
            </a:r>
          </a:p>
        </p:txBody>
      </p:sp>
      <p:sp>
        <p:nvSpPr>
          <p:cNvPr id="7" name="body">
            <a:extLst xmlns:a="http://schemas.openxmlformats.org/drawingml/2006/main">
              <a:ext uri="{FF2B5EF4-FFF2-40B4-BE49-F238E27FC236}">
                <a16:creationId xmlns:a16="http://schemas.microsoft.com/office/drawing/2014/main" id="{7DFAD015-86EF-4C35-8CFA-0B60DE7742B8}"/>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A justified conclusion</a:t>
            </a:r>
          </a:p>
        </p:txBody>
      </p:sp>
      <p:sp>
        <p:nvSpPr>
          <p:cNvPr id="8" name="body">
            <a:extLst xmlns:a="http://schemas.openxmlformats.org/drawingml/2006/main">
              <a:ext uri="{FF2B5EF4-FFF2-40B4-BE49-F238E27FC236}">
                <a16:creationId xmlns:a16="http://schemas.microsoft.com/office/drawing/2014/main" id="{2CDCA17F-516A-4579-A554-1E53F3FAC535}"/>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Report what each uncertainty means. Compare the discrepancy with a consistent uncertainty estimate.</a:t>
            </a:r>
          </a:p>
        </p:txBody>
      </p:sp>
      <p:sp>
        <p:nvSpPr>
          <p:cNvPr id="9" name="equation">
            <a:extLst xmlns:a="http://schemas.openxmlformats.org/drawingml/2006/main">
              <a:ext uri="{FF2B5EF4-FFF2-40B4-BE49-F238E27FC236}">
                <a16:creationId xmlns:a16="http://schemas.microsoft.com/office/drawing/2014/main" id="{B9E5EEAD-855B-46E6-AD0A-6316FE87C6AD}"/>
              </a:ext>
            </a:extLst>
          </p:cNvPr>
          <p:cNvSpPr>
            <a:spLocks xmlns:a="http://schemas.openxmlformats.org/drawingml/2006/main" noGrp="1"/>
          </p:cNvSpPr>
          <p:nvPr/>
        </p:nvSpPr>
        <p:spPr>
          <a:xfrm xmlns:a="http://schemas.openxmlformats.org/drawingml/2006/main">
            <a:off x="495300" y="5476875"/>
            <a:ext cx="11239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881C1C"/>
                </a:solidFill>
                <a:latin typeface="Calibri"/>
                <a:ea typeface="Calibri"/>
                <a:cs typeface="Calibri"/>
              </a:defRPr>
            </a:pPr>
            <a:r>
              <a:rPr sz="2250" b="1">
                <a:solidFill>
                  <a:srgbClr val="881C1C"/>
                </a:solidFill>
                <a:latin typeface="Calibri"/>
                <a:ea typeface="Calibri"/>
                <a:cs typeface="Calibri"/>
              </a:rPr>
              <a:t>T = Δt / ncycles      uT ≈ uΔt / ncycles</a:t>
            </a:r>
          </a:p>
        </p:txBody>
      </p:sp>
      <p:sp>
        <p:nvSpPr>
          <p:cNvPr id="10" name="footnote">
            <a:extLst xmlns:a="http://schemas.openxmlformats.org/drawingml/2006/main">
              <a:ext uri="{FF2B5EF4-FFF2-40B4-BE49-F238E27FC236}">
                <a16:creationId xmlns:a16="http://schemas.microsoft.com/office/drawing/2014/main" id="{7F9FAA2E-2184-42B1-9144-53D1A2FD34DC}"/>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Simplified timing example with exact cycle count. Longer timing intervals do not remove calibration bias.</a:t>
            </a:r>
          </a:p>
        </p:txBody>
      </p:sp>
      <p:sp>
        <p:nvSpPr>
          <p:cNvPr id="11" name="page">
            <a:extLst xmlns:a="http://schemas.openxmlformats.org/drawingml/2006/main">
              <a:ext uri="{FF2B5EF4-FFF2-40B4-BE49-F238E27FC236}">
                <a16:creationId xmlns:a16="http://schemas.microsoft.com/office/drawing/2014/main" id="{13C65843-E0C5-4604-AA6D-A317248C7BCC}"/>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22</a:t>
            </a:r>
          </a:p>
        </p:txBody>
      </p:sp>
    </p:spTree>
    <p:extLst>
      <p:ext uri="{BB962C8B-B14F-4D97-AF65-F5344CB8AC3E}">
        <p14:creationId xmlns:p14="http://schemas.microsoft.com/office/powerpoint/2010/main" val="200930805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BC701787-CC0D-4EAC-887D-47BDFB40B086}"/>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3111ECCA-1301-4C34-9016-E9428B3E3B38}"/>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Discussion: explanations tied to evidence</a:t>
            </a:r>
          </a:p>
        </p:txBody>
      </p:sp>
      <p:sp>
        <p:nvSpPr>
          <p:cNvPr id="3" name="body">
            <a:extLst xmlns:a="http://schemas.openxmlformats.org/drawingml/2006/main">
              <a:ext uri="{FF2B5EF4-FFF2-40B4-BE49-F238E27FC236}">
                <a16:creationId xmlns:a16="http://schemas.microsoft.com/office/drawing/2014/main" id="{C0EC493B-815B-4273-B74C-F63ED7FF38E4}"/>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Observed difference</a:t>
            </a:r>
          </a:p>
        </p:txBody>
      </p:sp>
      <p:sp>
        <p:nvSpPr>
          <p:cNvPr id="4" name="body">
            <a:extLst xmlns:a="http://schemas.openxmlformats.org/drawingml/2006/main">
              <a:ext uri="{FF2B5EF4-FFF2-40B4-BE49-F238E27FC236}">
                <a16:creationId xmlns:a16="http://schemas.microsoft.com/office/drawing/2014/main" id="{2C6CE307-D160-4A8D-8F0E-7E8FF218D79B}"/>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The measured oscillation envelope decays while the undamped prediction keeps constant amplitude.</a:t>
            </a:r>
          </a:p>
        </p:txBody>
      </p:sp>
      <p:sp>
        <p:nvSpPr>
          <p:cNvPr id="5" name="body">
            <a:extLst xmlns:a="http://schemas.openxmlformats.org/drawingml/2006/main">
              <a:ext uri="{FF2B5EF4-FFF2-40B4-BE49-F238E27FC236}">
                <a16:creationId xmlns:a16="http://schemas.microsoft.com/office/drawing/2014/main" id="{17F87952-E582-4343-9A6A-8B7241BF84B1}"/>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Plausible mechanism</a:t>
            </a:r>
          </a:p>
        </p:txBody>
      </p:sp>
      <p:sp>
        <p:nvSpPr>
          <p:cNvPr id="6" name="body">
            <a:extLst xmlns:a="http://schemas.openxmlformats.org/drawingml/2006/main">
              <a:ext uri="{FF2B5EF4-FFF2-40B4-BE49-F238E27FC236}">
                <a16:creationId xmlns:a16="http://schemas.microsoft.com/office/drawing/2014/main" id="{FABCF74C-9A94-4F4B-93A3-F91819F7F1C6}"/>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Friction or drag could dissipate energy. The present comparison does not identify their separate contributions.</a:t>
            </a:r>
          </a:p>
        </p:txBody>
      </p:sp>
      <p:sp>
        <p:nvSpPr>
          <p:cNvPr id="7" name="body">
            <a:extLst xmlns:a="http://schemas.openxmlformats.org/drawingml/2006/main">
              <a:ext uri="{FF2B5EF4-FFF2-40B4-BE49-F238E27FC236}">
                <a16:creationId xmlns:a16="http://schemas.microsoft.com/office/drawing/2014/main" id="{8E0DEF2E-D79E-4534-A316-5A7F408CF1F9}"/>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Discriminating check</a:t>
            </a:r>
          </a:p>
        </p:txBody>
      </p:sp>
      <p:sp>
        <p:nvSpPr>
          <p:cNvPr id="8" name="body">
            <a:extLst xmlns:a="http://schemas.openxmlformats.org/drawingml/2006/main">
              <a:ext uri="{FF2B5EF4-FFF2-40B4-BE49-F238E27FC236}">
                <a16:creationId xmlns:a16="http://schemas.microsoft.com/office/drawing/2014/main" id="{B345F1C1-6659-49DE-B23E-8E51353C071F}"/>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Compare decay across configurations and test whether the chosen damping model describes the envelope.</a:t>
            </a:r>
          </a:p>
        </p:txBody>
      </p:sp>
      <p:sp>
        <p:nvSpPr>
          <p:cNvPr id="9" name="footnote">
            <a:extLst xmlns:a="http://schemas.openxmlformats.org/drawingml/2006/main">
              <a:ext uri="{FF2B5EF4-FFF2-40B4-BE49-F238E27FC236}">
                <a16:creationId xmlns:a16="http://schemas.microsoft.com/office/drawing/2014/main" id="{C4FC35C3-6B68-44B1-ACF2-47DD8ECE52FF}"/>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Replace “human error” with a specific mechanism, its expected effect, and a way to check it.</a:t>
            </a:r>
          </a:p>
        </p:txBody>
      </p:sp>
      <p:sp>
        <p:nvSpPr>
          <p:cNvPr id="10" name="page">
            <a:extLst xmlns:a="http://schemas.openxmlformats.org/drawingml/2006/main">
              <a:ext uri="{FF2B5EF4-FFF2-40B4-BE49-F238E27FC236}">
                <a16:creationId xmlns:a16="http://schemas.microsoft.com/office/drawing/2014/main" id="{94590A8C-A9B1-4617-8879-47BF87555253}"/>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23</a:t>
            </a:r>
          </a:p>
        </p:txBody>
      </p:sp>
    </p:spTree>
    <p:extLst>
      <p:ext uri="{BB962C8B-B14F-4D97-AF65-F5344CB8AC3E}">
        <p14:creationId xmlns:p14="http://schemas.microsoft.com/office/powerpoint/2010/main" val="185340504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course">
            <a:extLst xmlns:a="http://schemas.openxmlformats.org/drawingml/2006/main">
              <a:ext uri="{FF2B5EF4-FFF2-40B4-BE49-F238E27FC236}">
                <a16:creationId xmlns:a16="http://schemas.microsoft.com/office/drawing/2014/main" id="{AA8E719D-7AC6-41CF-B638-1BDF841054CD}"/>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AB0D41A8-5807-47DC-BCAF-D3DEF18CEC24}"/>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Conclusions, references, and appendices</a:t>
            </a:r>
          </a:p>
        </p:txBody>
      </p:sp>
      <p:sp>
        <p:nvSpPr>
          <p:cNvPr id="3" name="body">
            <a:extLst xmlns:a="http://schemas.openxmlformats.org/drawingml/2006/main">
              <a:ext uri="{FF2B5EF4-FFF2-40B4-BE49-F238E27FC236}">
                <a16:creationId xmlns:a16="http://schemas.microsoft.com/office/drawing/2014/main" id="{66EBF546-B89C-402D-AE24-48EC891C3E1A}"/>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Conclusions</a:t>
            </a:r>
          </a:p>
        </p:txBody>
      </p:sp>
      <p:sp>
        <p:nvSpPr>
          <p:cNvPr id="4" name="body">
            <a:extLst xmlns:a="http://schemas.openxmlformats.org/drawingml/2006/main">
              <a:ext uri="{FF2B5EF4-FFF2-40B4-BE49-F238E27FC236}">
                <a16:creationId xmlns:a16="http://schemas.microsoft.com/office/drawing/2014/main" id="{6613CB27-2C1B-4A0F-959C-2691CB02C83E}"/>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Answer the objective with the key numerical result, supported limitation, and a useful improvement.</a:t>
            </a:r>
          </a:p>
        </p:txBody>
      </p:sp>
      <p:sp>
        <p:nvSpPr>
          <p:cNvPr id="5" name="body">
            <a:extLst xmlns:a="http://schemas.openxmlformats.org/drawingml/2006/main">
              <a:ext uri="{FF2B5EF4-FFF2-40B4-BE49-F238E27FC236}">
                <a16:creationId xmlns:a16="http://schemas.microsoft.com/office/drawing/2014/main" id="{EAA2AF10-E54F-4045-9553-04C86AD68817}"/>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References</a:t>
            </a:r>
          </a:p>
        </p:txBody>
      </p:sp>
      <p:sp>
        <p:nvSpPr>
          <p:cNvPr id="6" name="body">
            <a:extLst xmlns:a="http://schemas.openxmlformats.org/drawingml/2006/main">
              <a:ext uri="{FF2B5EF4-FFF2-40B4-BE49-F238E27FC236}">
                <a16:creationId xmlns:a16="http://schemas.microsoft.com/office/drawing/2014/main" id="{5FE8EF9D-EEBE-4E2B-B1E8-A1B04B6B850A}"/>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Cite sources where used. Include the lecture notes at minimum and list every cited source.</a:t>
            </a:r>
          </a:p>
        </p:txBody>
      </p:sp>
      <p:sp>
        <p:nvSpPr>
          <p:cNvPr id="7" name="body">
            <a:extLst xmlns:a="http://schemas.openxmlformats.org/drawingml/2006/main">
              <a:ext uri="{FF2B5EF4-FFF2-40B4-BE49-F238E27FC236}">
                <a16:creationId xmlns:a16="http://schemas.microsoft.com/office/drawing/2014/main" id="{396206A4-45EB-4596-B450-27F206308BD8}"/>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Appendices</a:t>
            </a:r>
          </a:p>
        </p:txBody>
      </p:sp>
      <p:sp>
        <p:nvSpPr>
          <p:cNvPr id="8" name="body">
            <a:extLst xmlns:a="http://schemas.openxmlformats.org/drawingml/2006/main">
              <a:ext uri="{FF2B5EF4-FFF2-40B4-BE49-F238E27FC236}">
                <a16:creationId xmlns:a16="http://schemas.microsoft.com/office/drawing/2014/main" id="{DB64AB36-F235-4538-8D47-A170ED45DB7A}"/>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Add supporting calculations or extra data only when needed. Keep essential evidence in the main text.</a:t>
            </a:r>
          </a:p>
        </p:txBody>
      </p:sp>
      <p:sp>
        <p:nvSpPr>
          <p:cNvPr id="9" name="page">
            <a:extLst xmlns:a="http://schemas.openxmlformats.org/drawingml/2006/main">
              <a:ext uri="{FF2B5EF4-FFF2-40B4-BE49-F238E27FC236}">
                <a16:creationId xmlns:a16="http://schemas.microsoft.com/office/drawing/2014/main" id="{73AA4A37-E722-4C6F-B94C-971A278CEF89}"/>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24</a:t>
            </a:r>
          </a:p>
        </p:txBody>
      </p:sp>
    </p:spTree>
    <p:extLst>
      <p:ext uri="{BB962C8B-B14F-4D97-AF65-F5344CB8AC3E}">
        <p14:creationId xmlns:p14="http://schemas.microsoft.com/office/powerpoint/2010/main" val="900194391"/>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5D892F7B-5918-4FB0-B01A-10E211FC4330}"/>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4F4C846A-E74D-441F-B8A9-226ECE2094FC}"/>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Combined reports connect related experiments</a:t>
            </a:r>
          </a:p>
        </p:txBody>
      </p:sp>
      <p:sp>
        <p:nvSpPr>
          <p:cNvPr id="3" name="body">
            <a:extLst xmlns:a="http://schemas.openxmlformats.org/drawingml/2006/main">
              <a:ext uri="{FF2B5EF4-FFF2-40B4-BE49-F238E27FC236}">
                <a16:creationId xmlns:a16="http://schemas.microsoft.com/office/drawing/2014/main" id="{CF368F3F-BAE7-4459-9F76-4DEE68C50A58}"/>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Labs 2 and 3</a:t>
            </a:r>
          </a:p>
        </p:txBody>
      </p:sp>
      <p:sp>
        <p:nvSpPr>
          <p:cNvPr id="4" name="body">
            <a:extLst xmlns:a="http://schemas.openxmlformats.org/drawingml/2006/main">
              <a:ext uri="{FF2B5EF4-FFF2-40B4-BE49-F238E27FC236}">
                <a16:creationId xmlns:a16="http://schemas.microsoft.com/office/drawing/2014/main" id="{2C5132DB-F17D-404E-8655-CD53BDD51CA1}"/>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Compare one angle with two coupled angles. Discuss model assumptions, initial conditions, and the limits of prediction.</a:t>
            </a:r>
          </a:p>
        </p:txBody>
      </p:sp>
      <p:sp>
        <p:nvSpPr>
          <p:cNvPr id="5" name="body">
            <a:extLst xmlns:a="http://schemas.openxmlformats.org/drawingml/2006/main">
              <a:ext uri="{FF2B5EF4-FFF2-40B4-BE49-F238E27FC236}">
                <a16:creationId xmlns:a16="http://schemas.microsoft.com/office/drawing/2014/main" id="{169D80F6-95A2-4115-B352-D817974032D5}"/>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Labs 4 and 5</a:t>
            </a:r>
          </a:p>
        </p:txBody>
      </p:sp>
      <p:sp>
        <p:nvSpPr>
          <p:cNvPr id="6" name="body">
            <a:extLst xmlns:a="http://schemas.openxmlformats.org/drawingml/2006/main">
              <a:ext uri="{FF2B5EF4-FFF2-40B4-BE49-F238E27FC236}">
                <a16:creationId xmlns:a16="http://schemas.microsoft.com/office/drawing/2014/main" id="{448667F7-A2C6-4B75-AC5A-FF15CC0C5498}"/>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Relate free-response frequency and damping to the forced response. Account for configuration changes.</a:t>
            </a:r>
          </a:p>
        </p:txBody>
      </p:sp>
      <p:sp>
        <p:nvSpPr>
          <p:cNvPr id="7" name="body">
            <a:extLst xmlns:a="http://schemas.openxmlformats.org/drawingml/2006/main">
              <a:ext uri="{FF2B5EF4-FFF2-40B4-BE49-F238E27FC236}">
                <a16:creationId xmlns:a16="http://schemas.microsoft.com/office/drawing/2014/main" id="{B4708B7E-AC3B-4787-8743-4FD641F77177}"/>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Organization</a:t>
            </a:r>
          </a:p>
        </p:txBody>
      </p:sp>
      <p:sp>
        <p:nvSpPr>
          <p:cNvPr id="8" name="body">
            <a:extLst xmlns:a="http://schemas.openxmlformats.org/drawingml/2006/main">
              <a:ext uri="{FF2B5EF4-FFF2-40B4-BE49-F238E27FC236}">
                <a16:creationId xmlns:a16="http://schemas.microsoft.com/office/drawing/2014/main" id="{3D6C4009-58DA-4FA5-8EF9-69DD18E4BC49}"/>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Use one abstract and conclusion, with experiment-specific subsections and an explicit synthesis.</a:t>
            </a:r>
          </a:p>
        </p:txBody>
      </p:sp>
      <p:sp>
        <p:nvSpPr>
          <p:cNvPr id="9" name="footnote">
            <a:extLst xmlns:a="http://schemas.openxmlformats.org/drawingml/2006/main">
              <a:ext uri="{FF2B5EF4-FFF2-40B4-BE49-F238E27FC236}">
                <a16:creationId xmlns:a16="http://schemas.microsoft.com/office/drawing/2014/main" id="{6443BD48-0949-46E8-A0FE-AA61987C191E}"/>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Suggested organization within the required template. Do not assume the page allowance doubles.</a:t>
            </a:r>
          </a:p>
        </p:txBody>
      </p:sp>
      <p:sp>
        <p:nvSpPr>
          <p:cNvPr id="10" name="page">
            <a:extLst xmlns:a="http://schemas.openxmlformats.org/drawingml/2006/main">
              <a:ext uri="{FF2B5EF4-FFF2-40B4-BE49-F238E27FC236}">
                <a16:creationId xmlns:a16="http://schemas.microsoft.com/office/drawing/2014/main" id="{5B16E0C4-661C-4A0F-ADDF-0D0D6F1AD033}"/>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25</a:t>
            </a:r>
          </a:p>
        </p:txBody>
      </p:sp>
    </p:spTree>
    <p:extLst>
      <p:ext uri="{BB962C8B-B14F-4D97-AF65-F5344CB8AC3E}">
        <p14:creationId xmlns:p14="http://schemas.microsoft.com/office/powerpoint/2010/main" val="4757115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course">
            <a:extLst xmlns:a="http://schemas.openxmlformats.org/drawingml/2006/main">
              <a:ext uri="{FF2B5EF4-FFF2-40B4-BE49-F238E27FC236}">
                <a16:creationId xmlns:a16="http://schemas.microsoft.com/office/drawing/2014/main" id="{423BC952-D9A9-4F04-8F80-493D618AD7D6}"/>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2A2DDBFB-D6B1-40E7-BD29-4497DC8019CC}"/>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The report rubric: ten equal criteria</a:t>
            </a:r>
          </a:p>
        </p:txBody>
      </p:sp>
      <p:graphicFrame>
        <p:nvGraphicFramePr>
          <p:cNvPr id="8" name=""/>
          <p:cNvGraphicFramePr/>
          <p:nvPr/>
        </p:nvGraphicFramePr>
        <p:xfrm>
          <a:off xmlns:a="http://schemas.openxmlformats.org/drawingml/2006/main" x="476250" y="1695450"/>
          <a:ext xmlns:a="http://schemas.openxmlformats.org/drawingml/2006/main" cx="11239500" cy="3714750"/>
        </p:xfrm>
        <a:graphic xmlns:a="http://schemas.openxmlformats.org/drawingml/2006/main">
          <a:graphicData uri="http://schemas.openxmlformats.org/drawingml/2006/table">
            <a:tbl>
              <a:tblPr/>
              <a:tblGrid>
                <a:gridCol w="5810250"/>
                <a:gridCol w="5429250"/>
              </a:tblGrid>
              <a:tr h="619125">
                <a:tc>
                  <a:txBody>
                    <a:bodyPr/>
                    <a:lstStyle/>
                    <a:p>
                      <a:r>
                        <a:rPr sz="1800" b="1">
                          <a:solidFill>
                            <a:srgbClr val="FFFFFF"/>
                          </a:solidFill>
                          <a:latin typeface="Calibri"/>
                          <a:ea typeface="Calibri"/>
                          <a:cs typeface="Calibri"/>
                        </a:rPr>
                        <a:t>Each criterion is 10% of the report grade</a:t>
                      </a:r>
                    </a:p>
                  </a:txBody>
                  <a:tcPr marL="91440" marR="91440" marT="45720" marB="45720">
                    <a:solidFill>
                      <a:srgbClr val="881C1C"/>
                    </a:solidFill>
                  </a:tcPr>
                </a:tc>
                <a:tc>
                  <a:txBody>
                    <a:bodyPr/>
                    <a:lstStyle/>
                    <a:p>
                      <a:r>
                        <a:rPr sz="1800" b="1">
                          <a:solidFill>
                            <a:srgbClr val="FFFFFF"/>
                          </a:solidFill>
                          <a:latin typeface="Calibri"/>
                          <a:ea typeface="Calibri"/>
                          <a:cs typeface="Calibri"/>
                        </a:rPr>
                        <a:t>What to check</a:t>
                      </a:r>
                    </a:p>
                  </a:txBody>
                  <a:tcPr marL="91440" marR="91440" marT="45720" marB="45720">
                    <a:solidFill>
                      <a:srgbClr val="881C1C"/>
                    </a:solidFill>
                  </a:tcPr>
                </a:tc>
              </a:tr>
              <a:tr h="619125">
                <a:tc>
                  <a:txBody>
                    <a:bodyPr/>
                    <a:lstStyle/>
                    <a:p>
                      <a:r>
                        <a:rPr sz="1800" b="0">
                          <a:solidFill>
                            <a:srgbClr val="111111"/>
                          </a:solidFill>
                          <a:latin typeface="Calibri"/>
                          <a:ea typeface="Calibri"/>
                          <a:cs typeface="Calibri"/>
                        </a:rPr>
                        <a:t>Complete sections / overall aesthetic</a:t>
                      </a:r>
                    </a:p>
                  </a:txBody>
                  <a:tcPr marL="91440" marR="91440" marT="45720" marB="45720">
                    <a:solidFill>
                      <a:srgbClr val="FFFFFF"/>
                    </a:solidFill>
                  </a:tcPr>
                </a:tc>
                <a:tc>
                  <a:txBody>
                    <a:bodyPr/>
                    <a:lstStyle/>
                    <a:p>
                      <a:r>
                        <a:rPr sz="1800" b="0">
                          <a:solidFill>
                            <a:srgbClr val="111111"/>
                          </a:solidFill>
                          <a:latin typeface="Calibri"/>
                          <a:ea typeface="Calibri"/>
                          <a:cs typeface="Calibri"/>
                        </a:rPr>
                        <a:t>Required organization and consistent formatting</a:t>
                      </a:r>
                    </a:p>
                  </a:txBody>
                  <a:tcPr marL="91440" marR="91440" marT="45720" marB="45720">
                    <a:solidFill>
                      <a:srgbClr val="FFFFFF"/>
                    </a:solidFill>
                  </a:tcPr>
                </a:tc>
              </a:tr>
              <a:tr h="619125">
                <a:tc>
                  <a:txBody>
                    <a:bodyPr/>
                    <a:lstStyle/>
                    <a:p>
                      <a:r>
                        <a:rPr sz="1800" b="0">
                          <a:solidFill>
                            <a:srgbClr val="111111"/>
                          </a:solidFill>
                          <a:latin typeface="Calibri"/>
                          <a:ea typeface="Calibri"/>
                          <a:cs typeface="Calibri"/>
                        </a:rPr>
                        <a:t>Clear figures / abstract</a:t>
                      </a:r>
                    </a:p>
                  </a:txBody>
                  <a:tcPr marL="91440" marR="91440" marT="45720" marB="45720">
                    <a:solidFill>
                      <a:srgbClr val="F7F7F7"/>
                    </a:solidFill>
                  </a:tcPr>
                </a:tc>
                <a:tc>
                  <a:txBody>
                    <a:bodyPr/>
                    <a:lstStyle/>
                    <a:p>
                      <a:r>
                        <a:rPr sz="1800" b="0">
                          <a:solidFill>
                            <a:srgbClr val="111111"/>
                          </a:solidFill>
                          <a:latin typeface="Calibri"/>
                          <a:ea typeface="Calibri"/>
                          <a:cs typeface="Calibri"/>
                        </a:rPr>
                        <a:t>Readable evidence and a concise, quantitative summary</a:t>
                      </a:r>
                    </a:p>
                  </a:txBody>
                  <a:tcPr marL="91440" marR="91440" marT="45720" marB="45720">
                    <a:solidFill>
                      <a:srgbClr val="F7F7F7"/>
                    </a:solidFill>
                  </a:tcPr>
                </a:tc>
              </a:tr>
              <a:tr h="619125">
                <a:tc>
                  <a:txBody>
                    <a:bodyPr/>
                    <a:lstStyle/>
                    <a:p>
                      <a:r>
                        <a:rPr sz="1800" b="0">
                          <a:solidFill>
                            <a:srgbClr val="111111"/>
                          </a:solidFill>
                          <a:latin typeface="Calibri"/>
                          <a:ea typeface="Calibri"/>
                          <a:cs typeface="Calibri"/>
                        </a:rPr>
                        <a:t>Data analysis / introducing the theory</a:t>
                      </a:r>
                    </a:p>
                  </a:txBody>
                  <a:tcPr marL="91440" marR="91440" marT="45720" marB="45720">
                    <a:solidFill>
                      <a:srgbClr val="FFFFFF"/>
                    </a:solidFill>
                  </a:tcPr>
                </a:tc>
                <a:tc>
                  <a:txBody>
                    <a:bodyPr/>
                    <a:lstStyle/>
                    <a:p>
                      <a:r>
                        <a:rPr sz="1800" b="0">
                          <a:solidFill>
                            <a:srgbClr val="111111"/>
                          </a:solidFill>
                          <a:latin typeface="Calibri"/>
                          <a:ea typeface="Calibri"/>
                          <a:cs typeface="Calibri"/>
                        </a:rPr>
                        <a:t>Traceable processing and defined governing equations</a:t>
                      </a:r>
                    </a:p>
                  </a:txBody>
                  <a:tcPr marL="91440" marR="91440" marT="45720" marB="45720">
                    <a:solidFill>
                      <a:srgbClr val="FFFFFF"/>
                    </a:solidFill>
                  </a:tcPr>
                </a:tc>
              </a:tr>
              <a:tr h="619125">
                <a:tc>
                  <a:txBody>
                    <a:bodyPr/>
                    <a:lstStyle/>
                    <a:p>
                      <a:r>
                        <a:rPr sz="1800" b="0">
                          <a:solidFill>
                            <a:srgbClr val="111111"/>
                          </a:solidFill>
                          <a:latin typeface="Calibri"/>
                          <a:ea typeface="Calibri"/>
                          <a:cs typeface="Calibri"/>
                        </a:rPr>
                        <a:t>Introducing the experiment / comparison with theory</a:t>
                      </a:r>
                    </a:p>
                  </a:txBody>
                  <a:tcPr marL="91440" marR="91440" marT="45720" marB="45720">
                    <a:solidFill>
                      <a:srgbClr val="F7F7F7"/>
                    </a:solidFill>
                  </a:tcPr>
                </a:tc>
                <a:tc>
                  <a:txBody>
                    <a:bodyPr/>
                    <a:lstStyle/>
                    <a:p>
                      <a:r>
                        <a:rPr sz="1800" b="0">
                          <a:solidFill>
                            <a:srgbClr val="111111"/>
                          </a:solidFill>
                          <a:latin typeface="Calibri"/>
                          <a:ea typeface="Calibri"/>
                          <a:cs typeface="Calibri"/>
                        </a:rPr>
                        <a:t>Physical context and a fair model-data comparison</a:t>
                      </a:r>
                    </a:p>
                  </a:txBody>
                  <a:tcPr marL="91440" marR="91440" marT="45720" marB="45720">
                    <a:solidFill>
                      <a:srgbClr val="F7F7F7"/>
                    </a:solidFill>
                  </a:tcPr>
                </a:tc>
              </a:tr>
              <a:tr h="619125">
                <a:tc>
                  <a:txBody>
                    <a:bodyPr/>
                    <a:lstStyle/>
                    <a:p>
                      <a:r>
                        <a:rPr sz="1800" b="0">
                          <a:solidFill>
                            <a:srgbClr val="111111"/>
                          </a:solidFill>
                          <a:latin typeface="Calibri"/>
                          <a:ea typeface="Calibri"/>
                          <a:cs typeface="Calibri"/>
                        </a:rPr>
                        <a:t>Discussion / meaningful results</a:t>
                      </a:r>
                    </a:p>
                  </a:txBody>
                  <a:tcPr marL="91440" marR="91440" marT="45720" marB="45720">
                    <a:solidFill>
                      <a:srgbClr val="FFFFFF"/>
                    </a:solidFill>
                  </a:tcPr>
                </a:tc>
                <a:tc>
                  <a:txBody>
                    <a:bodyPr/>
                    <a:lstStyle/>
                    <a:p>
                      <a:r>
                        <a:rPr sz="1800" b="0">
                          <a:solidFill>
                            <a:srgbClr val="111111"/>
                          </a:solidFill>
                          <a:latin typeface="Calibri"/>
                          <a:ea typeface="Calibri"/>
                          <a:cs typeface="Calibri"/>
                        </a:rPr>
                        <a:t>Evidence-based interpretation and an answer to the objective</a:t>
                      </a:r>
                    </a:p>
                  </a:txBody>
                  <a:tcPr marL="91440" marR="91440" marT="45720" marB="45720">
                    <a:solidFill>
                      <a:srgbClr val="FFFFFF"/>
                    </a:solidFill>
                  </a:tcPr>
                </a:tc>
              </a:tr>
            </a:tbl>
          </a:graphicData>
        </a:graphic>
      </p:graphicFrame>
      <p:sp>
        <p:nvSpPr>
          <p:cNvPr id="4" name="footnote">
            <a:extLst xmlns:a="http://schemas.openxmlformats.org/drawingml/2006/main">
              <a:ext uri="{FF2B5EF4-FFF2-40B4-BE49-F238E27FC236}">
                <a16:creationId xmlns:a16="http://schemas.microsoft.com/office/drawing/2014/main" id="{9E386E99-AB64-4662-A4CD-D7345F39F786}"/>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This table groups the ten original rubric criteria into pairs. Each individual criterion remains worth 10%.</a:t>
            </a:r>
          </a:p>
        </p:txBody>
      </p:sp>
      <p:sp>
        <p:nvSpPr>
          <p:cNvPr id="5" name="page">
            <a:extLst xmlns:a="http://schemas.openxmlformats.org/drawingml/2006/main">
              <a:ext uri="{FF2B5EF4-FFF2-40B4-BE49-F238E27FC236}">
                <a16:creationId xmlns:a16="http://schemas.microsoft.com/office/drawing/2014/main" id="{51D408FC-2E33-4980-8618-6EBCFAC84AA9}"/>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26</a:t>
            </a:r>
          </a:p>
        </p:txBody>
      </p:sp>
    </p:spTree>
    <p:extLst>
      <p:ext uri="{BB962C8B-B14F-4D97-AF65-F5344CB8AC3E}">
        <p14:creationId xmlns:p14="http://schemas.microsoft.com/office/powerpoint/2010/main" val="15698642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eyebrow-10">
            <a:extLst xmlns:a="http://schemas.openxmlformats.org/drawingml/2006/main">
              <a:ext uri="{FF2B5EF4-FFF2-40B4-BE49-F238E27FC236}">
                <a16:creationId xmlns:a16="http://schemas.microsoft.com/office/drawing/2014/main" id="{D7140A3B-E3D1-41A4-9777-C0A47D7240E8}"/>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10">
            <a:extLst xmlns:a="http://schemas.openxmlformats.org/drawingml/2006/main">
              <a:ext uri="{FF2B5EF4-FFF2-40B4-BE49-F238E27FC236}">
                <a16:creationId xmlns:a16="http://schemas.microsoft.com/office/drawing/2014/main" id="{4ED5C090-BF7F-4111-AD58-31ED27EB6A3B}"/>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Submission and integrity policies</a:t>
            </a:r>
          </a:p>
        </p:txBody>
      </p:sp>
      <p:sp>
        <p:nvSpPr>
          <p:cNvPr id="3" name="rule-112">
            <a:extLst xmlns:a="http://schemas.openxmlformats.org/drawingml/2006/main">
              <a:ext uri="{FF2B5EF4-FFF2-40B4-BE49-F238E27FC236}">
                <a16:creationId xmlns:a16="http://schemas.microsoft.com/office/drawing/2014/main" id="{8DE0B3C1-1073-48DD-8D23-4ADB86628858}"/>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10">
            <a:extLst xmlns:a="http://schemas.openxmlformats.org/drawingml/2006/main">
              <a:ext uri="{FF2B5EF4-FFF2-40B4-BE49-F238E27FC236}">
                <a16:creationId xmlns:a16="http://schemas.microsoft.com/office/drawing/2014/main" id="{48705B30-B3E1-40F1-956E-9C6E5846CC33}"/>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27</a:t>
            </a:r>
          </a:p>
        </p:txBody>
      </p:sp>
      <p:sp>
        <p:nvSpPr>
          <p:cNvPr id="5" name="text-114">
            <a:extLst xmlns:a="http://schemas.openxmlformats.org/drawingml/2006/main">
              <a:ext uri="{FF2B5EF4-FFF2-40B4-BE49-F238E27FC236}">
                <a16:creationId xmlns:a16="http://schemas.microsoft.com/office/drawing/2014/main" id="{C5DADF91-2E40-4C9E-9DFE-3ACF9BE60029}"/>
              </a:ext>
            </a:extLst>
          </p:cNvPr>
          <p:cNvSpPr>
            <a:spLocks xmlns:a="http://schemas.openxmlformats.org/drawingml/2006/main" noGrp="1"/>
          </p:cNvSpPr>
          <p:nvPr/>
        </p:nvSpPr>
        <p:spPr>
          <a:xfrm xmlns:a="http://schemas.openxmlformats.org/drawingml/2006/main">
            <a:off x="514350" y="18097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DEADLINES</a:t>
            </a:r>
          </a:p>
        </p:txBody>
      </p:sp>
      <p:sp>
        <p:nvSpPr>
          <p:cNvPr id="6" name="text-115">
            <a:extLst xmlns:a="http://schemas.openxmlformats.org/drawingml/2006/main">
              <a:ext uri="{FF2B5EF4-FFF2-40B4-BE49-F238E27FC236}">
                <a16:creationId xmlns:a16="http://schemas.microsoft.com/office/drawing/2014/main" id="{06BFBED4-B86E-4DBB-9099-5342A1F43357}"/>
              </a:ext>
            </a:extLst>
          </p:cNvPr>
          <p:cNvSpPr>
            <a:spLocks xmlns:a="http://schemas.openxmlformats.org/drawingml/2006/main" noGrp="1"/>
          </p:cNvSpPr>
          <p:nvPr/>
        </p:nvSpPr>
        <p:spPr>
          <a:xfrm xmlns:a="http://schemas.openxmlformats.org/drawingml/2006/main">
            <a:off x="514350" y="2324100"/>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0">
                <a:solidFill>
                  <a:srgbClr val="5F6368"/>
                </a:solidFill>
              </a:defRPr>
            </a:pPr>
            <a:r>
              <a:rPr sz="1725" b="0">
                <a:solidFill>
                  <a:srgbClr val="5F6368"/>
                </a:solidFill>
              </a:rPr>
              <a:t>No late pre-labs.</a:t>
            </a:r>
          </a:p>
          <a:p xmlns:a="http://schemas.openxmlformats.org/drawingml/2006/main">
            <a:pPr algn="l">
              <a:buNone/>
              <a:defRPr sz="1725" b="0">
                <a:solidFill>
                  <a:srgbClr val="5F6368"/>
                </a:solidFill>
              </a:defRPr>
            </a:pPr>
            <a:r>
              <a:rPr sz="1725" b="0">
                <a:solidFill>
                  <a:srgbClr val="5F6368"/>
                </a:solidFill>
              </a:rPr>
              <a:t>Reports lose 25% for each day or partial day late.</a:t>
            </a:r>
          </a:p>
        </p:txBody>
      </p:sp>
      <p:sp>
        <p:nvSpPr>
          <p:cNvPr id="7" name="rule-116">
            <a:extLst xmlns:a="http://schemas.openxmlformats.org/drawingml/2006/main">
              <a:ext uri="{FF2B5EF4-FFF2-40B4-BE49-F238E27FC236}">
                <a16:creationId xmlns:a16="http://schemas.microsoft.com/office/drawing/2014/main" id="{EC92690F-819A-48DE-BAA7-476324EF8014}"/>
              </a:ext>
            </a:extLst>
          </p:cNvPr>
          <p:cNvSpPr>
            <a:spLocks xmlns:a="http://schemas.openxmlformats.org/drawingml/2006/main" noGrp="1"/>
          </p:cNvSpPr>
          <p:nvPr/>
        </p:nvSpPr>
        <p:spPr>
          <a:xfrm xmlns:a="http://schemas.openxmlformats.org/drawingml/2006/main">
            <a:off x="514350" y="3571875"/>
            <a:ext cx="4953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8" name="text-117">
            <a:extLst xmlns:a="http://schemas.openxmlformats.org/drawingml/2006/main">
              <a:ext uri="{FF2B5EF4-FFF2-40B4-BE49-F238E27FC236}">
                <a16:creationId xmlns:a16="http://schemas.microsoft.com/office/drawing/2014/main" id="{DCE7A859-BF63-4A3D-B5EC-362DC4C38B0F}"/>
              </a:ext>
            </a:extLst>
          </p:cNvPr>
          <p:cNvSpPr>
            <a:spLocks xmlns:a="http://schemas.openxmlformats.org/drawingml/2006/main" noGrp="1"/>
          </p:cNvSpPr>
          <p:nvPr/>
        </p:nvSpPr>
        <p:spPr>
          <a:xfrm xmlns:a="http://schemas.openxmlformats.org/drawingml/2006/main">
            <a:off x="6172200" y="18097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INTEGRITY</a:t>
            </a:r>
          </a:p>
        </p:txBody>
      </p:sp>
      <p:sp>
        <p:nvSpPr>
          <p:cNvPr id="9" name="text-118">
            <a:extLst xmlns:a="http://schemas.openxmlformats.org/drawingml/2006/main">
              <a:ext uri="{FF2B5EF4-FFF2-40B4-BE49-F238E27FC236}">
                <a16:creationId xmlns:a16="http://schemas.microsoft.com/office/drawing/2014/main" id="{5E30C4C5-F5A7-40DA-9C3F-F4C168915960}"/>
              </a:ext>
            </a:extLst>
          </p:cNvPr>
          <p:cNvSpPr>
            <a:spLocks xmlns:a="http://schemas.openxmlformats.org/drawingml/2006/main" noGrp="1"/>
          </p:cNvSpPr>
          <p:nvPr/>
        </p:nvSpPr>
        <p:spPr>
          <a:xfrm xmlns:a="http://schemas.openxmlformats.org/drawingml/2006/main">
            <a:off x="6172200" y="2324100"/>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0">
                <a:solidFill>
                  <a:srgbClr val="5F6368"/>
                </a:solidFill>
              </a:defRPr>
            </a:pPr>
            <a:r>
              <a:rPr sz="1725" b="0">
                <a:solidFill>
                  <a:srgbClr val="5F6368"/>
                </a:solidFill>
              </a:rPr>
              <a:t>Discuss approaches, but do not copy solutions or share MATLAB, Python, or Simulink files.</a:t>
            </a:r>
          </a:p>
        </p:txBody>
      </p:sp>
      <p:sp>
        <p:nvSpPr>
          <p:cNvPr id="10" name="rule-119">
            <a:extLst xmlns:a="http://schemas.openxmlformats.org/drawingml/2006/main">
              <a:ext uri="{FF2B5EF4-FFF2-40B4-BE49-F238E27FC236}">
                <a16:creationId xmlns:a16="http://schemas.microsoft.com/office/drawing/2014/main" id="{BEB00DC9-5C84-4C30-9B07-648FB40179A1}"/>
              </a:ext>
            </a:extLst>
          </p:cNvPr>
          <p:cNvSpPr>
            <a:spLocks xmlns:a="http://schemas.openxmlformats.org/drawingml/2006/main" noGrp="1"/>
          </p:cNvSpPr>
          <p:nvPr/>
        </p:nvSpPr>
        <p:spPr>
          <a:xfrm xmlns:a="http://schemas.openxmlformats.org/drawingml/2006/main">
            <a:off x="6172200" y="3571875"/>
            <a:ext cx="4953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11" name="text-120">
            <a:extLst xmlns:a="http://schemas.openxmlformats.org/drawingml/2006/main">
              <a:ext uri="{FF2B5EF4-FFF2-40B4-BE49-F238E27FC236}">
                <a16:creationId xmlns:a16="http://schemas.microsoft.com/office/drawing/2014/main" id="{9F7195E7-FE0B-4005-9888-5DB002DF47FD}"/>
              </a:ext>
            </a:extLst>
          </p:cNvPr>
          <p:cNvSpPr>
            <a:spLocks xmlns:a="http://schemas.openxmlformats.org/drawingml/2006/main" noGrp="1"/>
          </p:cNvSpPr>
          <p:nvPr/>
        </p:nvSpPr>
        <p:spPr>
          <a:xfrm xmlns:a="http://schemas.openxmlformats.org/drawingml/2006/main">
            <a:off x="514350" y="39052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MAKE-UPS</a:t>
            </a:r>
          </a:p>
        </p:txBody>
      </p:sp>
      <p:sp>
        <p:nvSpPr>
          <p:cNvPr id="12" name="text-121">
            <a:extLst xmlns:a="http://schemas.openxmlformats.org/drawingml/2006/main">
              <a:ext uri="{FF2B5EF4-FFF2-40B4-BE49-F238E27FC236}">
                <a16:creationId xmlns:a16="http://schemas.microsoft.com/office/drawing/2014/main" id="{59D789CA-9E0A-4740-B756-A39779DA56EE}"/>
              </a:ext>
            </a:extLst>
          </p:cNvPr>
          <p:cNvSpPr>
            <a:spLocks xmlns:a="http://schemas.openxmlformats.org/drawingml/2006/main" noGrp="1"/>
          </p:cNvSpPr>
          <p:nvPr/>
        </p:nvSpPr>
        <p:spPr>
          <a:xfrm xmlns:a="http://schemas.openxmlformats.org/drawingml/2006/main">
            <a:off x="514350" y="4419600"/>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0">
                <a:solidFill>
                  <a:srgbClr val="5F6368"/>
                </a:solidFill>
              </a:defRPr>
            </a:pPr>
            <a:r>
              <a:rPr sz="1725" b="0">
                <a:solidFill>
                  <a:srgbClr val="5F6368"/>
                </a:solidFill>
              </a:rPr>
              <a:t>Require instructor/GTA availability, space, and the correct equipment setup.</a:t>
            </a:r>
          </a:p>
        </p:txBody>
      </p:sp>
      <p:sp>
        <p:nvSpPr>
          <p:cNvPr id="13" name="rule-122">
            <a:extLst xmlns:a="http://schemas.openxmlformats.org/drawingml/2006/main">
              <a:ext uri="{FF2B5EF4-FFF2-40B4-BE49-F238E27FC236}">
                <a16:creationId xmlns:a16="http://schemas.microsoft.com/office/drawing/2014/main" id="{4AB554E9-04DB-4141-9841-974375320563}"/>
              </a:ext>
            </a:extLst>
          </p:cNvPr>
          <p:cNvSpPr>
            <a:spLocks xmlns:a="http://schemas.openxmlformats.org/drawingml/2006/main" noGrp="1"/>
          </p:cNvSpPr>
          <p:nvPr/>
        </p:nvSpPr>
        <p:spPr>
          <a:xfrm xmlns:a="http://schemas.openxmlformats.org/drawingml/2006/main">
            <a:off x="514350" y="5667375"/>
            <a:ext cx="4953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14" name="text-123">
            <a:extLst xmlns:a="http://schemas.openxmlformats.org/drawingml/2006/main">
              <a:ext uri="{FF2B5EF4-FFF2-40B4-BE49-F238E27FC236}">
                <a16:creationId xmlns:a16="http://schemas.microsoft.com/office/drawing/2014/main" id="{91D6E121-32E8-443B-AF89-05D40AE04268}"/>
              </a:ext>
            </a:extLst>
          </p:cNvPr>
          <p:cNvSpPr>
            <a:spLocks xmlns:a="http://schemas.openxmlformats.org/drawingml/2006/main" noGrp="1"/>
          </p:cNvSpPr>
          <p:nvPr/>
        </p:nvSpPr>
        <p:spPr>
          <a:xfrm xmlns:a="http://schemas.openxmlformats.org/drawingml/2006/main">
            <a:off x="6172200" y="39052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VERIFICATION</a:t>
            </a:r>
          </a:p>
        </p:txBody>
      </p:sp>
      <p:sp>
        <p:nvSpPr>
          <p:cNvPr id="15" name="text-124">
            <a:extLst xmlns:a="http://schemas.openxmlformats.org/drawingml/2006/main">
              <a:ext uri="{FF2B5EF4-FFF2-40B4-BE49-F238E27FC236}">
                <a16:creationId xmlns:a16="http://schemas.microsoft.com/office/drawing/2014/main" id="{8C0A8CA5-60E9-4D19-9DB1-869F8F745D66}"/>
              </a:ext>
            </a:extLst>
          </p:cNvPr>
          <p:cNvSpPr>
            <a:spLocks xmlns:a="http://schemas.openxmlformats.org/drawingml/2006/main" noGrp="1"/>
          </p:cNvSpPr>
          <p:nvPr/>
        </p:nvSpPr>
        <p:spPr>
          <a:xfrm xmlns:a="http://schemas.openxmlformats.org/drawingml/2006/main">
            <a:off x="6172200" y="4419600"/>
            <a:ext cx="4953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725" b="0">
                <a:solidFill>
                  <a:srgbClr val="5F6368"/>
                </a:solidFill>
              </a:defRPr>
            </a:pPr>
            <a:r>
              <a:rPr sz="1725" b="0">
                <a:solidFill>
                  <a:srgbClr val="5F6368"/>
                </a:solidFill>
              </a:rPr>
              <a:t>Any pre-lab or report may include a brief oral check of your understanding.</a:t>
            </a:r>
          </a:p>
        </p:txBody>
      </p:sp>
      <p:sp>
        <p:nvSpPr>
          <p:cNvPr id="16" name="rule-125">
            <a:extLst xmlns:a="http://schemas.openxmlformats.org/drawingml/2006/main">
              <a:ext uri="{FF2B5EF4-FFF2-40B4-BE49-F238E27FC236}">
                <a16:creationId xmlns:a16="http://schemas.microsoft.com/office/drawing/2014/main" id="{4A903A02-FD3F-4FBF-9348-AE14A4B7EB4C}"/>
              </a:ext>
            </a:extLst>
          </p:cNvPr>
          <p:cNvSpPr>
            <a:spLocks xmlns:a="http://schemas.openxmlformats.org/drawingml/2006/main" noGrp="1"/>
          </p:cNvSpPr>
          <p:nvPr/>
        </p:nvSpPr>
        <p:spPr>
          <a:xfrm xmlns:a="http://schemas.openxmlformats.org/drawingml/2006/main">
            <a:off x="6172200" y="5667375"/>
            <a:ext cx="4953000" cy="0"/>
          </a:xfrm>
          <a:prstGeom xmlns:a="http://schemas.openxmlformats.org/drawingml/2006/main" prst="line">
            <a:avLst/>
          </a:prstGeom>
          <a:noFill xmlns:a="http://schemas.openxmlformats.org/drawingml/2006/main"/>
          <a:ln xmlns:a="http://schemas.openxmlformats.org/drawingml/2006/main" w="9525">
            <a:solidFill>
              <a:srgbClr val="C8CBD0"/>
            </a:solidFill>
            <a:prstDash val="solid"/>
          </a:ln>
        </p:spPr>
      </p:sp>
      <p:sp>
        <p:nvSpPr>
          <p:cNvPr id="17" name="text-126">
            <a:extLst xmlns:a="http://schemas.openxmlformats.org/drawingml/2006/main">
              <a:ext uri="{FF2B5EF4-FFF2-40B4-BE49-F238E27FC236}">
                <a16:creationId xmlns:a16="http://schemas.microsoft.com/office/drawing/2014/main" id="{88DA7CA7-0501-4CBE-81D9-7471404CD5C4}"/>
              </a:ext>
            </a:extLst>
          </p:cNvPr>
          <p:cNvSpPr>
            <a:spLocks xmlns:a="http://schemas.openxmlformats.org/drawingml/2006/main" noGrp="1"/>
          </p:cNvSpPr>
          <p:nvPr/>
        </p:nvSpPr>
        <p:spPr>
          <a:xfrm xmlns:a="http://schemas.openxmlformats.org/drawingml/2006/main">
            <a:off x="514350" y="5715000"/>
            <a:ext cx="1066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725" b="1">
                <a:solidFill>
                  <a:srgbClr val="111111"/>
                </a:solidFill>
              </a:defRPr>
            </a:pPr>
            <a:r>
              <a:rPr sz="1725" b="1">
                <a:solidFill>
                  <a:srgbClr val="111111"/>
                </a:solidFill>
              </a:rPr>
              <a:t>Notify the instructor during the first two weeks about approved conflicts or accommodation needs.</a:t>
            </a:r>
          </a:p>
        </p:txBody>
      </p:sp>
    </p:spTree>
    <p:extLst>
      <p:ext uri="{BB962C8B-B14F-4D97-AF65-F5344CB8AC3E}">
        <p14:creationId xmlns:p14="http://schemas.microsoft.com/office/powerpoint/2010/main" val="74745186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D50FC024-0EA1-4A4B-98EA-E30281F9C782}"/>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62CBEED0-1FCE-4164-A534-5B841BB1E29C}"/>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Three-minute report exercise</a:t>
            </a:r>
          </a:p>
        </p:txBody>
      </p:sp>
      <p:sp>
        <p:nvSpPr>
          <p:cNvPr id="3" name="body">
            <a:extLst xmlns:a="http://schemas.openxmlformats.org/drawingml/2006/main">
              <a:ext uri="{FF2B5EF4-FFF2-40B4-BE49-F238E27FC236}">
                <a16:creationId xmlns:a16="http://schemas.microsoft.com/office/drawing/2014/main" id="{D5E0B1E1-D653-4130-854C-DF64D84B4A38}"/>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Draft sentence</a:t>
            </a:r>
          </a:p>
        </p:txBody>
      </p:sp>
      <p:sp>
        <p:nvSpPr>
          <p:cNvPr id="4" name="body">
            <a:extLst xmlns:a="http://schemas.openxmlformats.org/drawingml/2006/main">
              <a:ext uri="{FF2B5EF4-FFF2-40B4-BE49-F238E27FC236}">
                <a16:creationId xmlns:a16="http://schemas.microsoft.com/office/drawing/2014/main" id="{F46653E9-EB29-46C2-8D22-FF172D7B0FB5}"/>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“The frequency was 1.47. Theory was 1.50. The error was small because of human error.”</a:t>
            </a:r>
          </a:p>
        </p:txBody>
      </p:sp>
      <p:sp>
        <p:nvSpPr>
          <p:cNvPr id="5" name="body">
            <a:extLst xmlns:a="http://schemas.openxmlformats.org/drawingml/2006/main">
              <a:ext uri="{FF2B5EF4-FFF2-40B4-BE49-F238E27FC236}">
                <a16:creationId xmlns:a16="http://schemas.microsoft.com/office/drawing/2014/main" id="{911E06E7-6521-4B1E-ADA5-60233400CF43}"/>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Work with a neighbor</a:t>
            </a:r>
          </a:p>
        </p:txBody>
      </p:sp>
      <p:sp>
        <p:nvSpPr>
          <p:cNvPr id="6" name="body">
            <a:extLst xmlns:a="http://schemas.openxmlformats.org/drawingml/2006/main">
              <a:ext uri="{FF2B5EF4-FFF2-40B4-BE49-F238E27FC236}">
                <a16:creationId xmlns:a16="http://schemas.microsoft.com/office/drawing/2014/main" id="{7D89BD11-BF87-493E-9893-B1FCE671517B}"/>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Add units, calculate the discrepancy, and separate the observation from its interpretation.</a:t>
            </a:r>
          </a:p>
        </p:txBody>
      </p:sp>
      <p:sp>
        <p:nvSpPr>
          <p:cNvPr id="7" name="body">
            <a:extLst xmlns:a="http://schemas.openxmlformats.org/drawingml/2006/main">
              <a:ext uri="{FF2B5EF4-FFF2-40B4-BE49-F238E27FC236}">
                <a16:creationId xmlns:a16="http://schemas.microsoft.com/office/drawing/2014/main" id="{E6B13EC8-850E-4358-804B-8BDE48977D15}"/>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Then decide</a:t>
            </a:r>
          </a:p>
        </p:txBody>
      </p:sp>
      <p:sp>
        <p:nvSpPr>
          <p:cNvPr id="8" name="body">
            <a:extLst xmlns:a="http://schemas.openxmlformats.org/drawingml/2006/main">
              <a:ext uri="{FF2B5EF4-FFF2-40B4-BE49-F238E27FC236}">
                <a16:creationId xmlns:a16="http://schemas.microsoft.com/office/drawing/2014/main" id="{3AF7DE9E-E55B-40E7-9F9D-121D4732DFC2}"/>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What information is missing before you can judge agreement? Suggest one check that would help.</a:t>
            </a:r>
          </a:p>
        </p:txBody>
      </p:sp>
      <p:sp>
        <p:nvSpPr>
          <p:cNvPr id="9" name="footnote">
            <a:extLst xmlns:a="http://schemas.openxmlformats.org/drawingml/2006/main">
              <a:ext uri="{FF2B5EF4-FFF2-40B4-BE49-F238E27FC236}">
                <a16:creationId xmlns:a16="http://schemas.microsoft.com/office/drawing/2014/main" id="{D29E698A-E8B2-421B-B506-3478DFC82BE1}"/>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Invented teaching values. No submission is required for this in-class discussion.</a:t>
            </a:r>
          </a:p>
        </p:txBody>
      </p:sp>
      <p:sp>
        <p:nvSpPr>
          <p:cNvPr id="10" name="page">
            <a:extLst xmlns:a="http://schemas.openxmlformats.org/drawingml/2006/main">
              <a:ext uri="{FF2B5EF4-FFF2-40B4-BE49-F238E27FC236}">
                <a16:creationId xmlns:a16="http://schemas.microsoft.com/office/drawing/2014/main" id="{76EBA183-7DF5-4CA7-AEB9-3C3267BF4357}"/>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28</a:t>
            </a:r>
          </a:p>
        </p:txBody>
      </p:sp>
    </p:spTree>
    <p:extLst>
      <p:ext uri="{BB962C8B-B14F-4D97-AF65-F5344CB8AC3E}">
        <p14:creationId xmlns:p14="http://schemas.microsoft.com/office/powerpoint/2010/main" val="166151840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urse">
            <a:extLst xmlns:a="http://schemas.openxmlformats.org/drawingml/2006/main">
              <a:ext uri="{FF2B5EF4-FFF2-40B4-BE49-F238E27FC236}">
                <a16:creationId xmlns:a16="http://schemas.microsoft.com/office/drawing/2014/main" id="{98B9945F-7E39-4700-9E11-1D5277FA747A}"/>
              </a:ext>
            </a:extLst>
          </p:cNvPr>
          <p:cNvSpPr>
            <a:spLocks xmlns:a="http://schemas.openxmlformats.org/drawingml/2006/main" noGrp="1"/>
          </p:cNvSpPr>
          <p:nvPr/>
        </p:nvSpPr>
        <p:spPr>
          <a:xfrm xmlns:a="http://schemas.openxmlformats.org/drawingml/2006/main">
            <a:off x="400050" y="228600"/>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81C1C"/>
                </a:solidFill>
                <a:latin typeface="Calibri"/>
                <a:ea typeface="Calibri"/>
                <a:cs typeface="Calibri"/>
              </a:defRPr>
            </a:pPr>
            <a:r>
              <a:rPr sz="1275" b="1">
                <a:solidFill>
                  <a:srgbClr val="881C1C"/>
                </a:solidFill>
                <a:latin typeface="Calibri"/>
                <a:ea typeface="Calibri"/>
                <a:cs typeface="Calibri"/>
              </a:rPr>
              <a:t>MIE 402 | ME LAB II</a:t>
            </a:r>
          </a:p>
        </p:txBody>
      </p:sp>
      <p:sp>
        <p:nvSpPr>
          <p:cNvPr id="2" name="title">
            <a:extLst xmlns:a="http://schemas.openxmlformats.org/drawingml/2006/main">
              <a:ext uri="{FF2B5EF4-FFF2-40B4-BE49-F238E27FC236}">
                <a16:creationId xmlns:a16="http://schemas.microsoft.com/office/drawing/2014/main" id="{7BC3C653-1DBD-491E-AC76-26EE449D7DC5}"/>
              </a:ext>
            </a:extLst>
          </p:cNvPr>
          <p:cNvSpPr>
            <a:spLocks xmlns:a="http://schemas.openxmlformats.org/drawingml/2006/main" noGrp="1"/>
          </p:cNvSpPr>
          <p:nvPr/>
        </p:nvSpPr>
        <p:spPr>
          <a:xfrm xmlns:a="http://schemas.openxmlformats.org/drawingml/2006/main">
            <a:off x="400050" y="723900"/>
            <a:ext cx="1133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11111"/>
                </a:solidFill>
                <a:latin typeface="Calibri"/>
                <a:ea typeface="Calibri"/>
                <a:cs typeface="Calibri"/>
              </a:defRPr>
            </a:pPr>
            <a:r>
              <a:rPr sz="3000" b="1">
                <a:solidFill>
                  <a:srgbClr val="111111"/>
                </a:solidFill>
                <a:latin typeface="Calibri"/>
                <a:ea typeface="Calibri"/>
                <a:cs typeface="Calibri"/>
              </a:rPr>
              <a:t>Exercise debrief</a:t>
            </a:r>
          </a:p>
        </p:txBody>
      </p:sp>
      <p:sp>
        <p:nvSpPr>
          <p:cNvPr id="3" name="body">
            <a:extLst xmlns:a="http://schemas.openxmlformats.org/drawingml/2006/main">
              <a:ext uri="{FF2B5EF4-FFF2-40B4-BE49-F238E27FC236}">
                <a16:creationId xmlns:a16="http://schemas.microsoft.com/office/drawing/2014/main" id="{3A3EE6EA-BB26-465B-BB92-9CBE75D5668E}"/>
              </a:ext>
            </a:extLst>
          </p:cNvPr>
          <p:cNvSpPr>
            <a:spLocks xmlns:a="http://schemas.openxmlformats.org/drawingml/2006/main" noGrp="1"/>
          </p:cNvSpPr>
          <p:nvPr/>
        </p:nvSpPr>
        <p:spPr>
          <a:xfrm xmlns:a="http://schemas.openxmlformats.org/drawingml/2006/main">
            <a:off x="495300" y="16954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Results and comparison</a:t>
            </a:r>
          </a:p>
        </p:txBody>
      </p:sp>
      <p:sp>
        <p:nvSpPr>
          <p:cNvPr id="4" name="body">
            <a:extLst xmlns:a="http://schemas.openxmlformats.org/drawingml/2006/main">
              <a:ext uri="{FF2B5EF4-FFF2-40B4-BE49-F238E27FC236}">
                <a16:creationId xmlns:a16="http://schemas.microsoft.com/office/drawing/2014/main" id="{58A53649-A33E-4D21-895A-B58A9AC29857}"/>
              </a:ext>
            </a:extLst>
          </p:cNvPr>
          <p:cNvSpPr>
            <a:spLocks xmlns:a="http://schemas.openxmlformats.org/drawingml/2006/main" noGrp="1"/>
          </p:cNvSpPr>
          <p:nvPr/>
        </p:nvSpPr>
        <p:spPr>
          <a:xfrm xmlns:a="http://schemas.openxmlformats.org/drawingml/2006/main">
            <a:off x="495300" y="205740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The measured frequency was 1.47 Hz and the predicted frequency was 1.50 Hz. Their difference was 0.03 Hz, or 2.0% of the prediction.</a:t>
            </a:r>
          </a:p>
        </p:txBody>
      </p:sp>
      <p:sp>
        <p:nvSpPr>
          <p:cNvPr id="5" name="body">
            <a:extLst xmlns:a="http://schemas.openxmlformats.org/drawingml/2006/main">
              <a:ext uri="{FF2B5EF4-FFF2-40B4-BE49-F238E27FC236}">
                <a16:creationId xmlns:a16="http://schemas.microsoft.com/office/drawing/2014/main" id="{117CAE12-CB0B-409A-BC33-B909606BEFED}"/>
              </a:ext>
            </a:extLst>
          </p:cNvPr>
          <p:cNvSpPr>
            <a:spLocks xmlns:a="http://schemas.openxmlformats.org/drawingml/2006/main" noGrp="1"/>
          </p:cNvSpPr>
          <p:nvPr/>
        </p:nvSpPr>
        <p:spPr>
          <a:xfrm xmlns:a="http://schemas.openxmlformats.org/drawingml/2006/main">
            <a:off x="495300" y="2886075"/>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Discussion</a:t>
            </a:r>
          </a:p>
        </p:txBody>
      </p:sp>
      <p:sp>
        <p:nvSpPr>
          <p:cNvPr id="6" name="body">
            <a:extLst xmlns:a="http://schemas.openxmlformats.org/drawingml/2006/main">
              <a:ext uri="{FF2B5EF4-FFF2-40B4-BE49-F238E27FC236}">
                <a16:creationId xmlns:a16="http://schemas.microsoft.com/office/drawing/2014/main" id="{BDD2DEA9-322D-4F41-B732-F341C3EAE62A}"/>
              </a:ext>
            </a:extLst>
          </p:cNvPr>
          <p:cNvSpPr>
            <a:spLocks xmlns:a="http://schemas.openxmlformats.org/drawingml/2006/main" noGrp="1"/>
          </p:cNvSpPr>
          <p:nvPr/>
        </p:nvSpPr>
        <p:spPr>
          <a:xfrm xmlns:a="http://schemas.openxmlformats.org/drawingml/2006/main">
            <a:off x="495300" y="3248025"/>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This discrepancy alone does not establish acceptable agreement. Timing and model-parameter uncertainties are needed.</a:t>
            </a:r>
          </a:p>
        </p:txBody>
      </p:sp>
      <p:sp>
        <p:nvSpPr>
          <p:cNvPr id="7" name="body">
            <a:extLst xmlns:a="http://schemas.openxmlformats.org/drawingml/2006/main">
              <a:ext uri="{FF2B5EF4-FFF2-40B4-BE49-F238E27FC236}">
                <a16:creationId xmlns:a16="http://schemas.microsoft.com/office/drawing/2014/main" id="{46F4ABEE-A249-4EA8-BCB8-ADBB064C7C3F}"/>
              </a:ext>
            </a:extLst>
          </p:cNvPr>
          <p:cNvSpPr>
            <a:spLocks xmlns:a="http://schemas.openxmlformats.org/drawingml/2006/main" noGrp="1"/>
          </p:cNvSpPr>
          <p:nvPr/>
        </p:nvSpPr>
        <p:spPr>
          <a:xfrm xmlns:a="http://schemas.openxmlformats.org/drawingml/2006/main">
            <a:off x="495300" y="407670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81C1C"/>
                </a:solidFill>
                <a:latin typeface="Calibri"/>
                <a:ea typeface="Calibri"/>
                <a:cs typeface="Calibri"/>
              </a:defRPr>
            </a:pPr>
            <a:r>
              <a:rPr sz="1875" b="1">
                <a:solidFill>
                  <a:srgbClr val="881C1C"/>
                </a:solidFill>
                <a:latin typeface="Calibri"/>
                <a:ea typeface="Calibri"/>
                <a:cs typeface="Calibri"/>
              </a:rPr>
              <a:t>Useful next check</a:t>
            </a:r>
          </a:p>
        </p:txBody>
      </p:sp>
      <p:sp>
        <p:nvSpPr>
          <p:cNvPr id="8" name="body">
            <a:extLst xmlns:a="http://schemas.openxmlformats.org/drawingml/2006/main">
              <a:ext uri="{FF2B5EF4-FFF2-40B4-BE49-F238E27FC236}">
                <a16:creationId xmlns:a16="http://schemas.microsoft.com/office/drawing/2014/main" id="{C4F16E81-6B67-4578-A489-FC6E4B12978B}"/>
              </a:ext>
            </a:extLst>
          </p:cNvPr>
          <p:cNvSpPr>
            <a:spLocks xmlns:a="http://schemas.openxmlformats.org/drawingml/2006/main" noGrp="1"/>
          </p:cNvSpPr>
          <p:nvPr/>
        </p:nvSpPr>
        <p:spPr>
          <a:xfrm xmlns:a="http://schemas.openxmlformats.org/drawingml/2006/main">
            <a:off x="495300" y="4438650"/>
            <a:ext cx="10810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11111"/>
                </a:solidFill>
                <a:latin typeface="Calibri"/>
                <a:ea typeface="Calibri"/>
                <a:cs typeface="Calibri"/>
              </a:defRPr>
            </a:pPr>
            <a:r>
              <a:rPr sz="2100" b="0">
                <a:solidFill>
                  <a:srgbClr val="111111"/>
                </a:solidFill>
                <a:latin typeface="Calibri"/>
                <a:ea typeface="Calibri"/>
                <a:cs typeface="Calibri"/>
              </a:rPr>
              <a:t>Verify the time calibration and repeat the frequency estimate using a stated interval and method.</a:t>
            </a:r>
          </a:p>
        </p:txBody>
      </p:sp>
      <p:sp>
        <p:nvSpPr>
          <p:cNvPr id="9" name="footnote">
            <a:extLst xmlns:a="http://schemas.openxmlformats.org/drawingml/2006/main">
              <a:ext uri="{FF2B5EF4-FFF2-40B4-BE49-F238E27FC236}">
                <a16:creationId xmlns:a16="http://schemas.microsoft.com/office/drawing/2014/main" id="{1FC423C9-83CC-41A1-A03C-DEA509C41ECD}"/>
              </a:ext>
            </a:extLst>
          </p:cNvPr>
          <p:cNvSpPr>
            <a:spLocks xmlns:a="http://schemas.openxmlformats.org/drawingml/2006/main" noGrp="1"/>
          </p:cNvSpPr>
          <p:nvPr/>
        </p:nvSpPr>
        <p:spPr>
          <a:xfrm xmlns:a="http://schemas.openxmlformats.org/drawingml/2006/main">
            <a:off x="495300" y="606742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F6368"/>
                </a:solidFill>
                <a:latin typeface="Calibri"/>
                <a:ea typeface="Calibri"/>
                <a:cs typeface="Calibri"/>
              </a:defRPr>
            </a:pPr>
            <a:r>
              <a:rPr sz="1500" b="0">
                <a:solidFill>
                  <a:srgbClr val="5F6368"/>
                </a:solidFill>
                <a:latin typeface="Calibri"/>
                <a:ea typeface="Calibri"/>
                <a:cs typeface="Calibri"/>
              </a:rPr>
              <a:t>Other specific, evidence-based checks can also be valid.</a:t>
            </a:r>
          </a:p>
        </p:txBody>
      </p:sp>
      <p:sp>
        <p:nvSpPr>
          <p:cNvPr id="10" name="page">
            <a:extLst xmlns:a="http://schemas.openxmlformats.org/drawingml/2006/main">
              <a:ext uri="{FF2B5EF4-FFF2-40B4-BE49-F238E27FC236}">
                <a16:creationId xmlns:a16="http://schemas.microsoft.com/office/drawing/2014/main" id="{76190287-C027-4993-A5E9-7F81D3792C70}"/>
              </a:ext>
            </a:extLst>
          </p:cNvPr>
          <p:cNvSpPr>
            <a:spLocks xmlns:a="http://schemas.openxmlformats.org/drawingml/2006/main" noGrp="1"/>
          </p:cNvSpPr>
          <p:nvPr/>
        </p:nvSpPr>
        <p:spPr>
          <a:xfrm xmlns:a="http://schemas.openxmlformats.org/drawingml/2006/main">
            <a:off x="11287125" y="6619875"/>
            <a:ext cx="5048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F6368"/>
                </a:solidFill>
                <a:latin typeface="Calibri"/>
                <a:ea typeface="Calibri"/>
                <a:cs typeface="Calibri"/>
              </a:defRPr>
            </a:pPr>
            <a:r>
              <a:rPr sz="1050" b="0">
                <a:solidFill>
                  <a:srgbClr val="5F6368"/>
                </a:solidFill>
                <a:latin typeface="Calibri"/>
                <a:ea typeface="Calibri"/>
                <a:cs typeface="Calibri"/>
              </a:rPr>
              <a:t>29</a:t>
            </a:r>
          </a:p>
        </p:txBody>
      </p:sp>
    </p:spTree>
    <p:extLst>
      <p:ext uri="{BB962C8B-B14F-4D97-AF65-F5344CB8AC3E}">
        <p14:creationId xmlns:p14="http://schemas.microsoft.com/office/powerpoint/2010/main" val="83401142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eyebrow-11">
            <a:extLst xmlns:a="http://schemas.openxmlformats.org/drawingml/2006/main">
              <a:ext uri="{FF2B5EF4-FFF2-40B4-BE49-F238E27FC236}">
                <a16:creationId xmlns:a16="http://schemas.microsoft.com/office/drawing/2014/main" id="{97210612-5E3B-41C7-BCBF-7584D1976835}"/>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11">
            <a:extLst xmlns:a="http://schemas.openxmlformats.org/drawingml/2006/main">
              <a:ext uri="{FF2B5EF4-FFF2-40B4-BE49-F238E27FC236}">
                <a16:creationId xmlns:a16="http://schemas.microsoft.com/office/drawing/2014/main" id="{E3062CA2-E033-4A65-B63E-12E75613191C}"/>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The first dates</a:t>
            </a:r>
          </a:p>
        </p:txBody>
      </p:sp>
      <p:sp>
        <p:nvSpPr>
          <p:cNvPr id="3" name="rule-129">
            <a:extLst xmlns:a="http://schemas.openxmlformats.org/drawingml/2006/main">
              <a:ext uri="{FF2B5EF4-FFF2-40B4-BE49-F238E27FC236}">
                <a16:creationId xmlns:a16="http://schemas.microsoft.com/office/drawing/2014/main" id="{DDF6A35C-6649-46B7-8600-E2FEB1A8765B}"/>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11">
            <a:extLst xmlns:a="http://schemas.openxmlformats.org/drawingml/2006/main">
              <a:ext uri="{FF2B5EF4-FFF2-40B4-BE49-F238E27FC236}">
                <a16:creationId xmlns:a16="http://schemas.microsoft.com/office/drawing/2014/main" id="{B086C563-4B8E-41E7-AFC9-A084E990FF79}"/>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30</a:t>
            </a:r>
          </a:p>
        </p:txBody>
      </p:sp>
      <p:sp>
        <p:nvSpPr>
          <p:cNvPr id="5" name="rule-131">
            <a:extLst xmlns:a="http://schemas.openxmlformats.org/drawingml/2006/main">
              <a:ext uri="{FF2B5EF4-FFF2-40B4-BE49-F238E27FC236}">
                <a16:creationId xmlns:a16="http://schemas.microsoft.com/office/drawing/2014/main" id="{74A77D63-DC3B-4058-A7E5-38205D3A72BC}"/>
              </a:ext>
            </a:extLst>
          </p:cNvPr>
          <p:cNvSpPr>
            <a:spLocks xmlns:a="http://schemas.openxmlformats.org/drawingml/2006/main" noGrp="1"/>
          </p:cNvSpPr>
          <p:nvPr/>
        </p:nvSpPr>
        <p:spPr>
          <a:xfrm xmlns:a="http://schemas.openxmlformats.org/drawingml/2006/main">
            <a:off x="1200150" y="3333750"/>
            <a:ext cx="9715500" cy="0"/>
          </a:xfrm>
          <a:prstGeom xmlns:a="http://schemas.openxmlformats.org/drawingml/2006/main" prst="line">
            <a:avLst/>
          </a:prstGeom>
          <a:noFill xmlns:a="http://schemas.openxmlformats.org/drawingml/2006/main"/>
          <a:ln xmlns:a="http://schemas.openxmlformats.org/drawingml/2006/main" w="19050">
            <a:solidFill>
              <a:srgbClr val="C8CBD0"/>
            </a:solidFill>
            <a:prstDash val="solid"/>
          </a:ln>
        </p:spPr>
      </p:sp>
      <p:sp>
        <p:nvSpPr>
          <p:cNvPr id="6" name="shape-132">
            <a:extLst xmlns:a="http://schemas.openxmlformats.org/drawingml/2006/main">
              <a:ext uri="{FF2B5EF4-FFF2-40B4-BE49-F238E27FC236}">
                <a16:creationId xmlns:a16="http://schemas.microsoft.com/office/drawing/2014/main" id="{3183955E-C6CC-4D55-AC88-30737359B899}"/>
              </a:ext>
            </a:extLst>
          </p:cNvPr>
          <p:cNvSpPr>
            <a:spLocks xmlns:a="http://schemas.openxmlformats.org/drawingml/2006/main" noGrp="1"/>
          </p:cNvSpPr>
          <p:nvPr/>
        </p:nvSpPr>
        <p:spPr>
          <a:xfrm xmlns:a="http://schemas.openxmlformats.org/drawingml/2006/main">
            <a:off x="1104900" y="3190875"/>
            <a:ext cx="209550" cy="209550"/>
          </a:xfrm>
          <a:prstGeom xmlns:a="http://schemas.openxmlformats.org/drawingml/2006/main" prst="ellipse">
            <a:avLst/>
          </a:prstGeom>
          <a:solidFill xmlns:a="http://schemas.openxmlformats.org/drawingml/2006/main">
            <a:srgbClr val="881C1C"/>
          </a:solidFill>
          <a:ln xmlns:a="http://schemas.openxmlformats.org/drawingml/2006/main" w="19050">
            <a:solidFill>
              <a:srgbClr val="FFFFFF"/>
            </a:solidFill>
            <a:prstDash val="solid"/>
          </a:ln>
        </p:spPr>
      </p:sp>
      <p:sp>
        <p:nvSpPr>
          <p:cNvPr id="7" name="text-133">
            <a:extLst xmlns:a="http://schemas.openxmlformats.org/drawingml/2006/main">
              <a:ext uri="{FF2B5EF4-FFF2-40B4-BE49-F238E27FC236}">
                <a16:creationId xmlns:a16="http://schemas.microsoft.com/office/drawing/2014/main" id="{848E3444-DAC1-4AE7-81B1-859181F1148D}"/>
              </a:ext>
            </a:extLst>
          </p:cNvPr>
          <p:cNvSpPr>
            <a:spLocks xmlns:a="http://schemas.openxmlformats.org/drawingml/2006/main" noGrp="1"/>
          </p:cNvSpPr>
          <p:nvPr/>
        </p:nvSpPr>
        <p:spPr>
          <a:xfrm xmlns:a="http://schemas.openxmlformats.org/drawingml/2006/main">
            <a:off x="533400" y="2000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75" b="1">
                <a:solidFill>
                  <a:srgbClr val="881C1C"/>
                </a:solidFill>
              </a:defRPr>
            </a:pPr>
            <a:r>
              <a:rPr sz="1575" b="1">
                <a:solidFill>
                  <a:srgbClr val="881C1C"/>
                </a:solidFill>
              </a:rPr>
              <a:t>SEP 9</a:t>
            </a:r>
          </a:p>
        </p:txBody>
      </p:sp>
      <p:sp>
        <p:nvSpPr>
          <p:cNvPr id="8" name="text-134">
            <a:extLst xmlns:a="http://schemas.openxmlformats.org/drawingml/2006/main">
              <a:ext uri="{FF2B5EF4-FFF2-40B4-BE49-F238E27FC236}">
                <a16:creationId xmlns:a16="http://schemas.microsoft.com/office/drawing/2014/main" id="{88D3DE11-0BCE-4C3C-9262-C60F2CB10D48}"/>
              </a:ext>
            </a:extLst>
          </p:cNvPr>
          <p:cNvSpPr>
            <a:spLocks xmlns:a="http://schemas.openxmlformats.org/drawingml/2006/main" noGrp="1"/>
          </p:cNvSpPr>
          <p:nvPr/>
        </p:nvSpPr>
        <p:spPr>
          <a:xfrm xmlns:a="http://schemas.openxmlformats.org/drawingml/2006/main">
            <a:off x="133350" y="24765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800" b="1">
                <a:solidFill>
                  <a:srgbClr val="111111"/>
                </a:solidFill>
              </a:defRPr>
            </a:pPr>
            <a:r>
              <a:rPr sz="1800" b="1">
                <a:solidFill>
                  <a:srgbClr val="111111"/>
                </a:solidFill>
              </a:rPr>
              <a:t>Orientation</a:t>
            </a:r>
          </a:p>
        </p:txBody>
      </p:sp>
      <p:sp>
        <p:nvSpPr>
          <p:cNvPr id="9" name="text-135">
            <a:extLst xmlns:a="http://schemas.openxmlformats.org/drawingml/2006/main">
              <a:ext uri="{FF2B5EF4-FFF2-40B4-BE49-F238E27FC236}">
                <a16:creationId xmlns:a16="http://schemas.microsoft.com/office/drawing/2014/main" id="{DBD34BD7-172A-4262-91A9-E6771C8DEA30}"/>
              </a:ext>
            </a:extLst>
          </p:cNvPr>
          <p:cNvSpPr>
            <a:spLocks xmlns:a="http://schemas.openxmlformats.org/drawingml/2006/main" noGrp="1"/>
          </p:cNvSpPr>
          <p:nvPr/>
        </p:nvSpPr>
        <p:spPr>
          <a:xfrm xmlns:a="http://schemas.openxmlformats.org/drawingml/2006/main">
            <a:off x="57150" y="3714750"/>
            <a:ext cx="2333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00" b="0">
                <a:solidFill>
                  <a:srgbClr val="5F6368"/>
                </a:solidFill>
              </a:defRPr>
            </a:pPr>
            <a:r>
              <a:rPr sz="1500" b="0">
                <a:solidFill>
                  <a:srgbClr val="5F6368"/>
                </a:solidFill>
              </a:rPr>
              <a:t>Course workflow and expectations</a:t>
            </a:r>
          </a:p>
        </p:txBody>
      </p:sp>
      <p:sp>
        <p:nvSpPr>
          <p:cNvPr id="10" name="shape-136">
            <a:extLst xmlns:a="http://schemas.openxmlformats.org/drawingml/2006/main">
              <a:ext uri="{FF2B5EF4-FFF2-40B4-BE49-F238E27FC236}">
                <a16:creationId xmlns:a16="http://schemas.microsoft.com/office/drawing/2014/main" id="{DA243BB3-18A2-4850-80ED-A7A209B13EDE}"/>
              </a:ext>
            </a:extLst>
          </p:cNvPr>
          <p:cNvSpPr>
            <a:spLocks xmlns:a="http://schemas.openxmlformats.org/drawingml/2006/main" noGrp="1"/>
          </p:cNvSpPr>
          <p:nvPr/>
        </p:nvSpPr>
        <p:spPr>
          <a:xfrm xmlns:a="http://schemas.openxmlformats.org/drawingml/2006/main">
            <a:off x="4152900" y="3190875"/>
            <a:ext cx="209550" cy="209550"/>
          </a:xfrm>
          <a:prstGeom xmlns:a="http://schemas.openxmlformats.org/drawingml/2006/main" prst="ellipse">
            <a:avLst/>
          </a:prstGeom>
          <a:solidFill xmlns:a="http://schemas.openxmlformats.org/drawingml/2006/main">
            <a:srgbClr val="881C1C"/>
          </a:solidFill>
          <a:ln xmlns:a="http://schemas.openxmlformats.org/drawingml/2006/main" w="19050">
            <a:solidFill>
              <a:srgbClr val="FFFFFF"/>
            </a:solidFill>
            <a:prstDash val="solid"/>
          </a:ln>
        </p:spPr>
      </p:sp>
      <p:sp>
        <p:nvSpPr>
          <p:cNvPr id="11" name="text-137">
            <a:extLst xmlns:a="http://schemas.openxmlformats.org/drawingml/2006/main">
              <a:ext uri="{FF2B5EF4-FFF2-40B4-BE49-F238E27FC236}">
                <a16:creationId xmlns:a16="http://schemas.microsoft.com/office/drawing/2014/main" id="{A821981E-3C2A-4AC0-B859-6945436FAE00}"/>
              </a:ext>
            </a:extLst>
          </p:cNvPr>
          <p:cNvSpPr>
            <a:spLocks xmlns:a="http://schemas.openxmlformats.org/drawingml/2006/main" noGrp="1"/>
          </p:cNvSpPr>
          <p:nvPr/>
        </p:nvSpPr>
        <p:spPr>
          <a:xfrm xmlns:a="http://schemas.openxmlformats.org/drawingml/2006/main">
            <a:off x="3581400" y="2000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75" b="1">
                <a:solidFill>
                  <a:srgbClr val="881C1C"/>
                </a:solidFill>
              </a:defRPr>
            </a:pPr>
            <a:r>
              <a:rPr sz="1575" b="1">
                <a:solidFill>
                  <a:srgbClr val="881C1C"/>
                </a:solidFill>
              </a:rPr>
              <a:t>SEP 14</a:t>
            </a:r>
          </a:p>
        </p:txBody>
      </p:sp>
      <p:sp>
        <p:nvSpPr>
          <p:cNvPr id="12" name="text-138">
            <a:extLst xmlns:a="http://schemas.openxmlformats.org/drawingml/2006/main">
              <a:ext uri="{FF2B5EF4-FFF2-40B4-BE49-F238E27FC236}">
                <a16:creationId xmlns:a16="http://schemas.microsoft.com/office/drawing/2014/main" id="{50633EF2-A4C1-4023-925F-A145B99DBCEE}"/>
              </a:ext>
            </a:extLst>
          </p:cNvPr>
          <p:cNvSpPr>
            <a:spLocks xmlns:a="http://schemas.openxmlformats.org/drawingml/2006/main" noGrp="1"/>
          </p:cNvSpPr>
          <p:nvPr/>
        </p:nvSpPr>
        <p:spPr>
          <a:xfrm xmlns:a="http://schemas.openxmlformats.org/drawingml/2006/main">
            <a:off x="3181350" y="24765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3750"/>
          </a:bodyPr>
          <a:lstStyle xmlns:a="http://schemas.openxmlformats.org/drawingml/2006/main"/>
          <a:p xmlns:a="http://schemas.openxmlformats.org/drawingml/2006/main">
            <a:pPr algn="ctr">
              <a:buNone/>
              <a:defRPr sz="1800" b="1">
                <a:solidFill>
                  <a:srgbClr val="111111"/>
                </a:solidFill>
              </a:defRPr>
            </a:pPr>
            <a:r>
              <a:rPr sz="1800" b="1">
                <a:solidFill>
                  <a:srgbClr val="111111"/>
                </a:solidFill>
              </a:rPr>
              <a:t>Measurement fundamentals</a:t>
            </a:r>
          </a:p>
        </p:txBody>
      </p:sp>
      <p:sp>
        <p:nvSpPr>
          <p:cNvPr id="13" name="text-139">
            <a:extLst xmlns:a="http://schemas.openxmlformats.org/drawingml/2006/main">
              <a:ext uri="{FF2B5EF4-FFF2-40B4-BE49-F238E27FC236}">
                <a16:creationId xmlns:a16="http://schemas.microsoft.com/office/drawing/2014/main" id="{C634F69F-13D3-4B5A-8B51-96B4FB42DA22}"/>
              </a:ext>
            </a:extLst>
          </p:cNvPr>
          <p:cNvSpPr>
            <a:spLocks xmlns:a="http://schemas.openxmlformats.org/drawingml/2006/main" noGrp="1"/>
          </p:cNvSpPr>
          <p:nvPr/>
        </p:nvSpPr>
        <p:spPr>
          <a:xfrm xmlns:a="http://schemas.openxmlformats.org/drawingml/2006/main">
            <a:off x="3105150" y="3714750"/>
            <a:ext cx="2333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00" b="0">
                <a:solidFill>
                  <a:srgbClr val="5F6368"/>
                </a:solidFill>
              </a:defRPr>
            </a:pPr>
            <a:r>
              <a:rPr sz="1500" b="0">
                <a:solidFill>
                  <a:srgbClr val="5F6368"/>
                </a:solidFill>
              </a:rPr>
              <a:t>How to design and interpret measurements</a:t>
            </a:r>
          </a:p>
        </p:txBody>
      </p:sp>
      <p:sp>
        <p:nvSpPr>
          <p:cNvPr id="14" name="shape-140">
            <a:extLst xmlns:a="http://schemas.openxmlformats.org/drawingml/2006/main">
              <a:ext uri="{FF2B5EF4-FFF2-40B4-BE49-F238E27FC236}">
                <a16:creationId xmlns:a16="http://schemas.microsoft.com/office/drawing/2014/main" id="{82AB55F7-8BF9-44D7-95BE-8B63EC18C490}"/>
              </a:ext>
            </a:extLst>
          </p:cNvPr>
          <p:cNvSpPr>
            <a:spLocks xmlns:a="http://schemas.openxmlformats.org/drawingml/2006/main" noGrp="1"/>
          </p:cNvSpPr>
          <p:nvPr/>
        </p:nvSpPr>
        <p:spPr>
          <a:xfrm xmlns:a="http://schemas.openxmlformats.org/drawingml/2006/main">
            <a:off x="7200900" y="3190875"/>
            <a:ext cx="209550" cy="209550"/>
          </a:xfrm>
          <a:prstGeom xmlns:a="http://schemas.openxmlformats.org/drawingml/2006/main" prst="ellipse">
            <a:avLst/>
          </a:prstGeom>
          <a:solidFill xmlns:a="http://schemas.openxmlformats.org/drawingml/2006/main">
            <a:srgbClr val="3D8DFF"/>
          </a:solidFill>
          <a:ln xmlns:a="http://schemas.openxmlformats.org/drawingml/2006/main" w="19050">
            <a:solidFill>
              <a:srgbClr val="FFFFFF"/>
            </a:solidFill>
            <a:prstDash val="solid"/>
          </a:ln>
        </p:spPr>
      </p:sp>
      <p:sp>
        <p:nvSpPr>
          <p:cNvPr id="15" name="text-141">
            <a:extLst xmlns:a="http://schemas.openxmlformats.org/drawingml/2006/main">
              <a:ext uri="{FF2B5EF4-FFF2-40B4-BE49-F238E27FC236}">
                <a16:creationId xmlns:a16="http://schemas.microsoft.com/office/drawing/2014/main" id="{53C7D3D7-570F-4917-A31B-E9A9D24722D1}"/>
              </a:ext>
            </a:extLst>
          </p:cNvPr>
          <p:cNvSpPr>
            <a:spLocks xmlns:a="http://schemas.openxmlformats.org/drawingml/2006/main" noGrp="1"/>
          </p:cNvSpPr>
          <p:nvPr/>
        </p:nvSpPr>
        <p:spPr>
          <a:xfrm xmlns:a="http://schemas.openxmlformats.org/drawingml/2006/main">
            <a:off x="6629400" y="2000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75" b="1">
                <a:solidFill>
                  <a:srgbClr val="881C1C"/>
                </a:solidFill>
              </a:defRPr>
            </a:pPr>
            <a:r>
              <a:rPr sz="1575" b="1">
                <a:solidFill>
                  <a:srgbClr val="881C1C"/>
                </a:solidFill>
              </a:rPr>
              <a:t>SEP 21–25</a:t>
            </a:r>
          </a:p>
        </p:txBody>
      </p:sp>
      <p:sp>
        <p:nvSpPr>
          <p:cNvPr id="16" name="text-142">
            <a:extLst xmlns:a="http://schemas.openxmlformats.org/drawingml/2006/main">
              <a:ext uri="{FF2B5EF4-FFF2-40B4-BE49-F238E27FC236}">
                <a16:creationId xmlns:a16="http://schemas.microsoft.com/office/drawing/2014/main" id="{58CF0E63-1983-409F-AC11-C1FD14025504}"/>
              </a:ext>
            </a:extLst>
          </p:cNvPr>
          <p:cNvSpPr>
            <a:spLocks xmlns:a="http://schemas.openxmlformats.org/drawingml/2006/main" noGrp="1"/>
          </p:cNvSpPr>
          <p:nvPr/>
        </p:nvSpPr>
        <p:spPr>
          <a:xfrm xmlns:a="http://schemas.openxmlformats.org/drawingml/2006/main">
            <a:off x="6229350" y="24765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800" b="1">
                <a:solidFill>
                  <a:srgbClr val="111111"/>
                </a:solidFill>
              </a:defRPr>
            </a:pPr>
            <a:r>
              <a:rPr sz="1800" b="1">
                <a:solidFill>
                  <a:srgbClr val="111111"/>
                </a:solidFill>
              </a:rPr>
              <a:t>Lab 1</a:t>
            </a:r>
          </a:p>
        </p:txBody>
      </p:sp>
      <p:sp>
        <p:nvSpPr>
          <p:cNvPr id="17" name="text-143">
            <a:extLst xmlns:a="http://schemas.openxmlformats.org/drawingml/2006/main">
              <a:ext uri="{FF2B5EF4-FFF2-40B4-BE49-F238E27FC236}">
                <a16:creationId xmlns:a16="http://schemas.microsoft.com/office/drawing/2014/main" id="{05072CCA-0B7B-4881-B336-796CEF6D5FA3}"/>
              </a:ext>
            </a:extLst>
          </p:cNvPr>
          <p:cNvSpPr>
            <a:spLocks xmlns:a="http://schemas.openxmlformats.org/drawingml/2006/main" noGrp="1"/>
          </p:cNvSpPr>
          <p:nvPr/>
        </p:nvSpPr>
        <p:spPr>
          <a:xfrm xmlns:a="http://schemas.openxmlformats.org/drawingml/2006/main">
            <a:off x="6153150" y="3714750"/>
            <a:ext cx="2333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00" b="0">
                <a:solidFill>
                  <a:srgbClr val="5F6368"/>
                </a:solidFill>
              </a:defRPr>
            </a:pPr>
            <a:r>
              <a:rPr sz="1500" b="0">
                <a:solidFill>
                  <a:srgbClr val="5F6368"/>
                </a:solidFill>
              </a:rPr>
              <a:t>Theory Monday; pre-lab due before your section</a:t>
            </a:r>
          </a:p>
        </p:txBody>
      </p:sp>
      <p:sp>
        <p:nvSpPr>
          <p:cNvPr id="18" name="shape-144">
            <a:extLst xmlns:a="http://schemas.openxmlformats.org/drawingml/2006/main">
              <a:ext uri="{FF2B5EF4-FFF2-40B4-BE49-F238E27FC236}">
                <a16:creationId xmlns:a16="http://schemas.microsoft.com/office/drawing/2014/main" id="{C079AB78-8B57-46DB-B1B2-48C80DFBEA86}"/>
              </a:ext>
            </a:extLst>
          </p:cNvPr>
          <p:cNvSpPr>
            <a:spLocks xmlns:a="http://schemas.openxmlformats.org/drawingml/2006/main" noGrp="1"/>
          </p:cNvSpPr>
          <p:nvPr/>
        </p:nvSpPr>
        <p:spPr>
          <a:xfrm xmlns:a="http://schemas.openxmlformats.org/drawingml/2006/main">
            <a:off x="10248900" y="3190875"/>
            <a:ext cx="209550" cy="209550"/>
          </a:xfrm>
          <a:prstGeom xmlns:a="http://schemas.openxmlformats.org/drawingml/2006/main" prst="ellipse">
            <a:avLst/>
          </a:prstGeom>
          <a:solidFill xmlns:a="http://schemas.openxmlformats.org/drawingml/2006/main">
            <a:srgbClr val="881C1C"/>
          </a:solidFill>
          <a:ln xmlns:a="http://schemas.openxmlformats.org/drawingml/2006/main" w="19050">
            <a:solidFill>
              <a:srgbClr val="FFFFFF"/>
            </a:solidFill>
            <a:prstDash val="solid"/>
          </a:ln>
        </p:spPr>
      </p:sp>
      <p:sp>
        <p:nvSpPr>
          <p:cNvPr id="19" name="text-145">
            <a:extLst xmlns:a="http://schemas.openxmlformats.org/drawingml/2006/main">
              <a:ext uri="{FF2B5EF4-FFF2-40B4-BE49-F238E27FC236}">
                <a16:creationId xmlns:a16="http://schemas.microsoft.com/office/drawing/2014/main" id="{7074D1F4-08E1-4D61-942E-2D6FF68F687F}"/>
              </a:ext>
            </a:extLst>
          </p:cNvPr>
          <p:cNvSpPr>
            <a:spLocks xmlns:a="http://schemas.openxmlformats.org/drawingml/2006/main" noGrp="1"/>
          </p:cNvSpPr>
          <p:nvPr/>
        </p:nvSpPr>
        <p:spPr>
          <a:xfrm xmlns:a="http://schemas.openxmlformats.org/drawingml/2006/main">
            <a:off x="9677400" y="2000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75" b="1">
                <a:solidFill>
                  <a:srgbClr val="881C1C"/>
                </a:solidFill>
              </a:defRPr>
            </a:pPr>
            <a:r>
              <a:rPr sz="1575" b="1">
                <a:solidFill>
                  <a:srgbClr val="881C1C"/>
                </a:solidFill>
              </a:rPr>
              <a:t>OCT 5</a:t>
            </a:r>
          </a:p>
        </p:txBody>
      </p:sp>
      <p:sp>
        <p:nvSpPr>
          <p:cNvPr id="20" name="text-146">
            <a:extLst xmlns:a="http://schemas.openxmlformats.org/drawingml/2006/main">
              <a:ext uri="{FF2B5EF4-FFF2-40B4-BE49-F238E27FC236}">
                <a16:creationId xmlns:a16="http://schemas.microsoft.com/office/drawing/2014/main" id="{3C44D40C-0E02-4508-AB0A-A93E542F2312}"/>
              </a:ext>
            </a:extLst>
          </p:cNvPr>
          <p:cNvSpPr>
            <a:spLocks xmlns:a="http://schemas.openxmlformats.org/drawingml/2006/main" noGrp="1"/>
          </p:cNvSpPr>
          <p:nvPr/>
        </p:nvSpPr>
        <p:spPr>
          <a:xfrm xmlns:a="http://schemas.openxmlformats.org/drawingml/2006/main">
            <a:off x="9277350" y="24765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800" b="1">
                <a:solidFill>
                  <a:srgbClr val="111111"/>
                </a:solidFill>
              </a:defRPr>
            </a:pPr>
            <a:r>
              <a:rPr sz="1800" b="1">
                <a:solidFill>
                  <a:srgbClr val="111111"/>
                </a:solidFill>
              </a:rPr>
              <a:t>Lab 1 report</a:t>
            </a:r>
          </a:p>
        </p:txBody>
      </p:sp>
      <p:sp>
        <p:nvSpPr>
          <p:cNvPr id="21" name="text-147">
            <a:extLst xmlns:a="http://schemas.openxmlformats.org/drawingml/2006/main">
              <a:ext uri="{FF2B5EF4-FFF2-40B4-BE49-F238E27FC236}">
                <a16:creationId xmlns:a16="http://schemas.microsoft.com/office/drawing/2014/main" id="{F94F9892-78FA-4013-BAEE-4A007BC79D3B}"/>
              </a:ext>
            </a:extLst>
          </p:cNvPr>
          <p:cNvSpPr>
            <a:spLocks xmlns:a="http://schemas.openxmlformats.org/drawingml/2006/main" noGrp="1"/>
          </p:cNvSpPr>
          <p:nvPr/>
        </p:nvSpPr>
        <p:spPr>
          <a:xfrm xmlns:a="http://schemas.openxmlformats.org/drawingml/2006/main">
            <a:off x="9201150" y="3714750"/>
            <a:ext cx="2333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00" b="0">
                <a:solidFill>
                  <a:srgbClr val="5F6368"/>
                </a:solidFill>
              </a:defRPr>
            </a:pPr>
            <a:r>
              <a:rPr sz="1500" b="0">
                <a:solidFill>
                  <a:srgbClr val="5F6368"/>
                </a:solidFill>
              </a:rPr>
              <a:t>Submit on Canvas by 11:59 PM</a:t>
            </a:r>
          </a:p>
        </p:txBody>
      </p:sp>
      <p:sp>
        <p:nvSpPr>
          <p:cNvPr id="22" name="text-148">
            <a:extLst xmlns:a="http://schemas.openxmlformats.org/drawingml/2006/main">
              <a:ext uri="{FF2B5EF4-FFF2-40B4-BE49-F238E27FC236}">
                <a16:creationId xmlns:a16="http://schemas.microsoft.com/office/drawing/2014/main" id="{7D7282CF-6581-4055-9122-CBAEB1791508}"/>
              </a:ext>
            </a:extLst>
          </p:cNvPr>
          <p:cNvSpPr>
            <a:spLocks xmlns:a="http://schemas.openxmlformats.org/drawingml/2006/main" noGrp="1"/>
          </p:cNvSpPr>
          <p:nvPr/>
        </p:nvSpPr>
        <p:spPr>
          <a:xfrm xmlns:a="http://schemas.openxmlformats.org/drawingml/2006/main">
            <a:off x="3714750" y="53340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2025" b="1">
                <a:solidFill>
                  <a:srgbClr val="881C1C"/>
                </a:solidFill>
              </a:defRPr>
            </a:pPr>
            <a:r>
              <a:rPr sz="2025" b="1">
                <a:solidFill>
                  <a:srgbClr val="881C1C"/>
                </a:solidFill>
              </a:rPr>
              <a:t>There is no laboratory in Weeks 1–2.</a:t>
            </a:r>
          </a:p>
        </p:txBody>
      </p:sp>
    </p:spTree>
    <p:extLst>
      <p:ext uri="{BB962C8B-B14F-4D97-AF65-F5344CB8AC3E}">
        <p14:creationId xmlns:p14="http://schemas.microsoft.com/office/powerpoint/2010/main" val="8549609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eyebrow-12">
            <a:extLst xmlns:a="http://schemas.openxmlformats.org/drawingml/2006/main">
              <a:ext uri="{FF2B5EF4-FFF2-40B4-BE49-F238E27FC236}">
                <a16:creationId xmlns:a16="http://schemas.microsoft.com/office/drawing/2014/main" id="{2DBE8CB8-F50F-4FDF-B089-25FC8B395F5D}"/>
              </a:ext>
            </a:extLst>
          </p:cNvPr>
          <p:cNvSpPr>
            <a:spLocks xmlns:a="http://schemas.openxmlformats.org/drawingml/2006/main" noGrp="1"/>
          </p:cNvSpPr>
          <p:nvPr/>
        </p:nvSpPr>
        <p:spPr>
          <a:xfrm xmlns:a="http://schemas.openxmlformats.org/drawingml/2006/main">
            <a:off x="400050" y="2286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200" b="1">
                <a:solidFill>
                  <a:srgbClr val="881C1C"/>
                </a:solidFill>
              </a:defRPr>
            </a:pPr>
            <a:r>
              <a:rPr sz="1200" b="1">
                <a:solidFill>
                  <a:srgbClr val="881C1C"/>
                </a:solidFill>
              </a:rPr>
              <a:t>MIE 402 | ME LAB II</a:t>
            </a:r>
          </a:p>
        </p:txBody>
      </p:sp>
      <p:sp>
        <p:nvSpPr>
          <p:cNvPr id="2" name="title-12">
            <a:extLst xmlns:a="http://schemas.openxmlformats.org/drawingml/2006/main">
              <a:ext uri="{FF2B5EF4-FFF2-40B4-BE49-F238E27FC236}">
                <a16:creationId xmlns:a16="http://schemas.microsoft.com/office/drawing/2014/main" id="{2FB1C80D-48B0-41A6-838D-2C4B06D2B6C2}"/>
              </a:ext>
            </a:extLst>
          </p:cNvPr>
          <p:cNvSpPr>
            <a:spLocks xmlns:a="http://schemas.openxmlformats.org/drawingml/2006/main" noGrp="1"/>
          </p:cNvSpPr>
          <p:nvPr/>
        </p:nvSpPr>
        <p:spPr>
          <a:xfrm xmlns:a="http://schemas.openxmlformats.org/drawingml/2006/main">
            <a:off x="400050" y="723900"/>
            <a:ext cx="1085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3000" b="1">
                <a:solidFill>
                  <a:srgbClr val="111111"/>
                </a:solidFill>
              </a:defRPr>
            </a:pPr>
            <a:r>
              <a:rPr sz="3000" b="1">
                <a:solidFill>
                  <a:srgbClr val="111111"/>
                </a:solidFill>
              </a:rPr>
              <a:t>Preparation for Lab 1</a:t>
            </a:r>
          </a:p>
        </p:txBody>
      </p:sp>
      <p:sp>
        <p:nvSpPr>
          <p:cNvPr id="3" name="rule-151">
            <a:extLst xmlns:a="http://schemas.openxmlformats.org/drawingml/2006/main">
              <a:ext uri="{FF2B5EF4-FFF2-40B4-BE49-F238E27FC236}">
                <a16:creationId xmlns:a16="http://schemas.microsoft.com/office/drawing/2014/main" id="{D7033D58-124B-4E5D-9DF3-DEF30F7116B6}"/>
              </a:ext>
            </a:extLst>
          </p:cNvPr>
          <p:cNvSpPr>
            <a:spLocks xmlns:a="http://schemas.openxmlformats.org/drawingml/2006/main" noGrp="1"/>
          </p:cNvSpPr>
          <p:nvPr/>
        </p:nvSpPr>
        <p:spPr>
          <a:xfrm xmlns:a="http://schemas.openxmlformats.org/drawingml/2006/main">
            <a:off x="400050" y="523875"/>
            <a:ext cx="11391900" cy="0"/>
          </a:xfrm>
          <a:prstGeom xmlns:a="http://schemas.openxmlformats.org/drawingml/2006/main" prst="line">
            <a:avLst/>
          </a:prstGeom>
          <a:noFill xmlns:a="http://schemas.openxmlformats.org/drawingml/2006/main"/>
          <a:ln xmlns:a="http://schemas.openxmlformats.org/drawingml/2006/main" w="28575">
            <a:solidFill>
              <a:srgbClr val="881C1C"/>
            </a:solidFill>
            <a:prstDash val="solid"/>
          </a:ln>
        </p:spPr>
      </p:sp>
      <p:sp>
        <p:nvSpPr>
          <p:cNvPr id="4" name="page-12">
            <a:extLst xmlns:a="http://schemas.openxmlformats.org/drawingml/2006/main">
              <a:ext uri="{FF2B5EF4-FFF2-40B4-BE49-F238E27FC236}">
                <a16:creationId xmlns:a16="http://schemas.microsoft.com/office/drawing/2014/main" id="{569180CB-6F96-4469-B3C6-EE71BF29BC09}"/>
              </a:ext>
            </a:extLst>
          </p:cNvPr>
          <p:cNvSpPr>
            <a:spLocks xmlns:a="http://schemas.openxmlformats.org/drawingml/2006/main" noGrp="1"/>
          </p:cNvSpPr>
          <p:nvPr/>
        </p:nvSpPr>
        <p:spPr>
          <a:xfrm xmlns:a="http://schemas.openxmlformats.org/drawingml/2006/main">
            <a:off x="11287125" y="6381750"/>
            <a:ext cx="5048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95238"/>
          </a:bodyPr>
          <a:lstStyle xmlns:a="http://schemas.openxmlformats.org/drawingml/2006/main"/>
          <a:p xmlns:a="http://schemas.openxmlformats.org/drawingml/2006/main">
            <a:pPr algn="r">
              <a:buNone/>
              <a:defRPr sz="1050" b="0">
                <a:solidFill>
                  <a:srgbClr val="5F6368"/>
                </a:solidFill>
              </a:defRPr>
            </a:pPr>
            <a:r>
              <a:rPr sz="1050" b="0">
                <a:solidFill>
                  <a:srgbClr val="5F6368"/>
                </a:solidFill>
              </a:rPr>
              <a:t>31</a:t>
            </a:r>
          </a:p>
        </p:txBody>
      </p:sp>
      <p:sp>
        <p:nvSpPr>
          <p:cNvPr id="5" name="text-153">
            <a:extLst xmlns:a="http://schemas.openxmlformats.org/drawingml/2006/main">
              <a:ext uri="{FF2B5EF4-FFF2-40B4-BE49-F238E27FC236}">
                <a16:creationId xmlns:a16="http://schemas.microsoft.com/office/drawing/2014/main" id="{EE37286E-6AE1-4DDC-83D8-334973027EA1}"/>
              </a:ext>
            </a:extLst>
          </p:cNvPr>
          <p:cNvSpPr>
            <a:spLocks xmlns:a="http://schemas.openxmlformats.org/drawingml/2006/main" noGrp="1"/>
          </p:cNvSpPr>
          <p:nvPr/>
        </p:nvSpPr>
        <p:spPr>
          <a:xfrm xmlns:a="http://schemas.openxmlformats.org/drawingml/2006/main">
            <a:off x="514350" y="1733550"/>
            <a:ext cx="3524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l">
              <a:buNone/>
              <a:defRPr sz="1650" b="1">
                <a:solidFill>
                  <a:srgbClr val="881C1C"/>
                </a:solidFill>
              </a:defRPr>
            </a:pPr>
            <a:r>
              <a:rPr sz="1650" b="1">
                <a:solidFill>
                  <a:srgbClr val="881C1C"/>
                </a:solidFill>
              </a:rPr>
              <a:t>BEFORE WEEK 3</a:t>
            </a:r>
          </a:p>
        </p:txBody>
      </p:sp>
      <p:sp>
        <p:nvSpPr>
          <p:cNvPr id="6" name="text-154">
            <a:extLst xmlns:a="http://schemas.openxmlformats.org/drawingml/2006/main">
              <a:ext uri="{FF2B5EF4-FFF2-40B4-BE49-F238E27FC236}">
                <a16:creationId xmlns:a16="http://schemas.microsoft.com/office/drawing/2014/main" id="{9C35213F-A639-49CC-8944-22A5F2E7F0E1}"/>
              </a:ext>
            </a:extLst>
          </p:cNvPr>
          <p:cNvSpPr>
            <a:spLocks xmlns:a="http://schemas.openxmlformats.org/drawingml/2006/main" noGrp="1"/>
          </p:cNvSpPr>
          <p:nvPr/>
        </p:nvSpPr>
        <p:spPr>
          <a:xfrm xmlns:a="http://schemas.openxmlformats.org/drawingml/2006/main">
            <a:off x="514350" y="2343150"/>
            <a:ext cx="6858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76200" tIns="38100" rIns="76200" bIns="38100" anchor="t">
            <a:normAutofit fontScale="100000"/>
          </a:bodyPr>
          <a:lstStyle xmlns:a="http://schemas.openxmlformats.org/drawingml/2006/main"/>
          <a:p xmlns:a="http://schemas.openxmlformats.org/drawingml/2006/main">
            <a:pPr algn="l">
              <a:buNone/>
              <a:defRPr sz="1875" b="0">
                <a:solidFill>
                  <a:srgbClr val="111111"/>
                </a:solidFill>
              </a:defRPr>
            </a:pPr>
            <a:r>
              <a:rPr sz="1875" b="0">
                <a:solidFill>
                  <a:srgbClr val="111111"/>
                </a:solidFill>
              </a:rPr>
              <a:t>• Confirm your laboratory section and GTA on Canvas</a:t>
            </a:r>
          </a:p>
          <a:p xmlns:a="http://schemas.openxmlformats.org/drawingml/2006/main">
            <a:pPr algn="l">
              <a:buNone/>
              <a:defRPr sz="1875" b="0">
                <a:solidFill>
                  <a:srgbClr val="111111"/>
                </a:solidFill>
              </a:defRPr>
            </a:pPr>
            <a:r>
              <a:rPr sz="1875" b="0">
                <a:solidFill>
                  <a:srgbClr val="111111"/>
                </a:solidFill>
              </a:rPr>
              <a:t>• Install or update MATLAB and Simulink</a:t>
            </a:r>
          </a:p>
          <a:p xmlns:a="http://schemas.openxmlformats.org/drawingml/2006/main">
            <a:pPr algn="l">
              <a:buNone/>
              <a:defRPr sz="1875" b="0">
                <a:solidFill>
                  <a:srgbClr val="111111"/>
                </a:solidFill>
              </a:defRPr>
            </a:pPr>
            <a:r>
              <a:rPr sz="1875" b="0">
                <a:solidFill>
                  <a:srgbClr val="111111"/>
                </a:solidFill>
              </a:rPr>
              <a:t>• Open the Lab 1 instructions and Pre-lab 1</a:t>
            </a:r>
          </a:p>
          <a:p xmlns:a="http://schemas.openxmlformats.org/drawingml/2006/main">
            <a:pPr algn="l">
              <a:buNone/>
              <a:defRPr sz="1875" b="0">
                <a:solidFill>
                  <a:srgbClr val="111111"/>
                </a:solidFill>
              </a:defRPr>
            </a:pPr>
            <a:r>
              <a:rPr sz="1875" b="0">
                <a:solidFill>
                  <a:srgbClr val="111111"/>
                </a:solidFill>
              </a:rPr>
              <a:t>• Know where and when your section meets</a:t>
            </a:r>
          </a:p>
          <a:p xmlns:a="http://schemas.openxmlformats.org/drawingml/2006/main">
            <a:pPr algn="l">
              <a:buNone/>
              <a:defRPr sz="1875" b="0">
                <a:solidFill>
                  <a:srgbClr val="111111"/>
                </a:solidFill>
              </a:defRPr>
            </a:pPr>
            <a:r>
              <a:rPr sz="1875" b="0">
                <a:solidFill>
                  <a:srgbClr val="111111"/>
                </a:solidFill>
              </a:rPr>
              <a:t>• Bring a way to save your experimental data</a:t>
            </a:r>
          </a:p>
        </p:txBody>
      </p:sp>
      <p:sp>
        <p:nvSpPr>
          <p:cNvPr id="7" name="shape-155">
            <a:extLst xmlns:a="http://schemas.openxmlformats.org/drawingml/2006/main">
              <a:ext uri="{FF2B5EF4-FFF2-40B4-BE49-F238E27FC236}">
                <a16:creationId xmlns:a16="http://schemas.microsoft.com/office/drawing/2014/main" id="{44900608-55C0-4F34-8B56-D24E57D4982C}"/>
              </a:ext>
            </a:extLst>
          </p:cNvPr>
          <p:cNvSpPr>
            <a:spLocks xmlns:a="http://schemas.openxmlformats.org/drawingml/2006/main" noGrp="1"/>
          </p:cNvSpPr>
          <p:nvPr/>
        </p:nvSpPr>
        <p:spPr>
          <a:xfrm xmlns:a="http://schemas.openxmlformats.org/drawingml/2006/main">
            <a:off x="8001000" y="2095500"/>
            <a:ext cx="3048000" cy="2857500"/>
          </a:xfrm>
          <a:prstGeom xmlns:a="http://schemas.openxmlformats.org/drawingml/2006/main" prst="rect">
            <a:avLst/>
          </a:prstGeom>
          <a:solidFill xmlns:a="http://schemas.openxmlformats.org/drawingml/2006/main">
            <a:srgbClr val="EAF5FB"/>
          </a:solidFill>
          <a:ln xmlns:a="http://schemas.openxmlformats.org/drawingml/2006/main" w="9525">
            <a:solidFill>
              <a:srgbClr val="3D8DFF"/>
            </a:solidFill>
            <a:prstDash val="solid"/>
          </a:ln>
        </p:spPr>
      </p:sp>
      <p:sp>
        <p:nvSpPr>
          <p:cNvPr id="8" name="text-156">
            <a:extLst xmlns:a="http://schemas.openxmlformats.org/drawingml/2006/main">
              <a:ext uri="{FF2B5EF4-FFF2-40B4-BE49-F238E27FC236}">
                <a16:creationId xmlns:a16="http://schemas.microsoft.com/office/drawing/2014/main" id="{76C9DD51-F197-4DB3-A4E2-29173195AAED}"/>
              </a:ext>
            </a:extLst>
          </p:cNvPr>
          <p:cNvSpPr>
            <a:spLocks xmlns:a="http://schemas.openxmlformats.org/drawingml/2006/main" noGrp="1"/>
          </p:cNvSpPr>
          <p:nvPr/>
        </p:nvSpPr>
        <p:spPr>
          <a:xfrm xmlns:a="http://schemas.openxmlformats.org/drawingml/2006/main">
            <a:off x="8286750" y="2428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575" b="1">
                <a:solidFill>
                  <a:srgbClr val="3D8DFF"/>
                </a:solidFill>
              </a:defRPr>
            </a:pPr>
            <a:r>
              <a:rPr sz="1575" b="1">
                <a:solidFill>
                  <a:srgbClr val="3D8DFF"/>
                </a:solidFill>
              </a:rPr>
              <a:t>ONE QUESTION</a:t>
            </a:r>
          </a:p>
        </p:txBody>
      </p:sp>
      <p:sp>
        <p:nvSpPr>
          <p:cNvPr id="9" name="text-157">
            <a:extLst xmlns:a="http://schemas.openxmlformats.org/drawingml/2006/main">
              <a:ext uri="{FF2B5EF4-FFF2-40B4-BE49-F238E27FC236}">
                <a16:creationId xmlns:a16="http://schemas.microsoft.com/office/drawing/2014/main" id="{78F11A5C-5EF6-4DB4-BAC7-4BA3DFAA2901}"/>
              </a:ext>
            </a:extLst>
          </p:cNvPr>
          <p:cNvSpPr>
            <a:spLocks xmlns:a="http://schemas.openxmlformats.org/drawingml/2006/main" noGrp="1"/>
          </p:cNvSpPr>
          <p:nvPr/>
        </p:nvSpPr>
        <p:spPr>
          <a:xfrm xmlns:a="http://schemas.openxmlformats.org/drawingml/2006/main">
            <a:off x="8382000" y="3143250"/>
            <a:ext cx="2286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ctr">
            <a:normAutofit fontScale="85960"/>
          </a:bodyPr>
          <a:lstStyle xmlns:a="http://schemas.openxmlformats.org/drawingml/2006/main"/>
          <a:p xmlns:a="http://schemas.openxmlformats.org/drawingml/2006/main">
            <a:pPr algn="ctr">
              <a:buNone/>
              <a:defRPr sz="2325" b="1">
                <a:solidFill>
                  <a:srgbClr val="111111"/>
                </a:solidFill>
              </a:defRPr>
            </a:pPr>
            <a:r>
              <a:rPr sz="2325" b="1">
                <a:solidFill>
                  <a:srgbClr val="111111"/>
                </a:solidFill>
              </a:rPr>
              <a:t>What would make you trust an experimental result?</a:t>
            </a:r>
          </a:p>
        </p:txBody>
      </p:sp>
      <p:sp>
        <p:nvSpPr>
          <p:cNvPr id="10" name="text-158">
            <a:extLst xmlns:a="http://schemas.openxmlformats.org/drawingml/2006/main">
              <a:ext uri="{FF2B5EF4-FFF2-40B4-BE49-F238E27FC236}">
                <a16:creationId xmlns:a16="http://schemas.microsoft.com/office/drawing/2014/main" id="{DD1F3EF8-A189-4CA9-B514-D7D9CB6562A2}"/>
              </a:ext>
            </a:extLst>
          </p:cNvPr>
          <p:cNvSpPr>
            <a:spLocks xmlns:a="http://schemas.openxmlformats.org/drawingml/2006/main" noGrp="1"/>
          </p:cNvSpPr>
          <p:nvPr/>
        </p:nvSpPr>
        <p:spPr>
          <a:xfrm xmlns:a="http://schemas.openxmlformats.org/drawingml/2006/main">
            <a:off x="514350" y="57721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57150" tIns="38100" rIns="57150" bIns="38100" anchor="t">
            <a:normAutofit fontScale="100000"/>
          </a:bodyPr>
          <a:lstStyle xmlns:a="http://schemas.openxmlformats.org/drawingml/2006/main"/>
          <a:p xmlns:a="http://schemas.openxmlformats.org/drawingml/2006/main">
            <a:pPr algn="ctr">
              <a:buNone/>
              <a:defRPr sz="1875" b="1">
                <a:solidFill>
                  <a:srgbClr val="881C1C"/>
                </a:solidFill>
              </a:defRPr>
            </a:pPr>
            <a:r>
              <a:rPr sz="1875" b="1">
                <a:solidFill>
                  <a:srgbClr val="881C1C"/>
                </a:solidFill>
              </a:rPr>
              <a:t>Questions &amp; discussion</a:t>
            </a:r>
          </a:p>
        </p:txBody>
      </p:sp>
    </p:spTree>
    <p:extLst>
      <p:ext uri="{BB962C8B-B14F-4D97-AF65-F5344CB8AC3E}">
        <p14:creationId xmlns:p14="http://schemas.microsoft.com/office/powerpoint/2010/main" val="142307010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2026-09-08T20:18:54.4730000Z</dcterms:created>
  <dcterms:modified xsi:type="dcterms:W3CDTF">2026-09-08T20:18:54.4730000Z</dcterms:modified>
</coreProperties>
</file>