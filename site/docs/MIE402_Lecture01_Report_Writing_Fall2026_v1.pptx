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slides/charts/chart2.xml" ContentType="application/vnd.openxmlformats-officedocument.drawingml.chart+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d93f01bb666418e" /><Relationship Type="http://schemas.openxmlformats.org/officeDocument/2006/relationships/extended-properties" Target="/docProps/app.xml" Id="Rbf8447d4009846d5" /><Relationship Type="http://schemas.openxmlformats.org/officeDocument/2006/relationships/officeDocument" Target="/ppt/presentation.xml" Id="Ra1d4267e22ec4801" /></Relationships>
</file>

<file path=ppt/presentation.xml><?xml version="1.0" encoding="utf-8"?>
<p:presentation xmlns:p="http://schemas.openxmlformats.org/presentationml/2006/main">
  <p:sldMasterIdLst>
    <p:sldMasterId xmlns:r="http://schemas.openxmlformats.org/officeDocument/2006/relationships" id="2147483648" r:id="R43e3b4d0397d4136"/>
  </p:sldMasterIdLst>
  <p:notesMasterIdLst>
    <p:notesMasterId xmlns:r="http://schemas.openxmlformats.org/officeDocument/2006/relationships" r:id="R1122b9c29ec7453e"/>
  </p:notesMasterIdLst>
  <p:sldIdLst>
    <p:sldId xmlns:r="http://schemas.openxmlformats.org/officeDocument/2006/relationships" id="256" r:id="Rc71ddeda1e1a4dbe"/>
    <p:sldId xmlns:r="http://schemas.openxmlformats.org/officeDocument/2006/relationships" id="257" r:id="Rbbcae8af25404741"/>
    <p:sldId xmlns:r="http://schemas.openxmlformats.org/officeDocument/2006/relationships" id="258" r:id="Re1b75f7f00a74ef8"/>
    <p:sldId xmlns:r="http://schemas.openxmlformats.org/officeDocument/2006/relationships" id="259" r:id="R9b2be31b898a4895"/>
    <p:sldId xmlns:r="http://schemas.openxmlformats.org/officeDocument/2006/relationships" id="260" r:id="R5f7adeefb1554b95"/>
    <p:sldId xmlns:r="http://schemas.openxmlformats.org/officeDocument/2006/relationships" id="261" r:id="R8a20f8c44b304b9c"/>
    <p:sldId xmlns:r="http://schemas.openxmlformats.org/officeDocument/2006/relationships" id="262" r:id="R8765b33f6d9746f6"/>
    <p:sldId xmlns:r="http://schemas.openxmlformats.org/officeDocument/2006/relationships" id="263" r:id="R517d55f810cc40cb"/>
    <p:sldId xmlns:r="http://schemas.openxmlformats.org/officeDocument/2006/relationships" id="264" r:id="R9db1dffbc395487a"/>
    <p:sldId xmlns:r="http://schemas.openxmlformats.org/officeDocument/2006/relationships" id="265" r:id="R62aa298433ce44ae"/>
    <p:sldId xmlns:r="http://schemas.openxmlformats.org/officeDocument/2006/relationships" id="266" r:id="R71b3b1ada65941a0"/>
    <p:sldId xmlns:r="http://schemas.openxmlformats.org/officeDocument/2006/relationships" id="267" r:id="R09d5413bd523476a"/>
    <p:sldId xmlns:r="http://schemas.openxmlformats.org/officeDocument/2006/relationships" id="268" r:id="Rd316ebf74028436d"/>
    <p:sldId xmlns:r="http://schemas.openxmlformats.org/officeDocument/2006/relationships" id="269" r:id="Rfe77db2243be4f2d"/>
    <p:sldId xmlns:r="http://schemas.openxmlformats.org/officeDocument/2006/relationships" id="270" r:id="R9569ee6399254b13"/>
    <p:sldId xmlns:r="http://schemas.openxmlformats.org/officeDocument/2006/relationships" id="271" r:id="Rcd6a162f66bf4231"/>
    <p:sldId xmlns:r="http://schemas.openxmlformats.org/officeDocument/2006/relationships" id="272" r:id="R56b7ab79952f4832"/>
    <p:sldId xmlns:r="http://schemas.openxmlformats.org/officeDocument/2006/relationships" id="273" r:id="Rcb699c63500d47b5"/>
    <p:sldId xmlns:r="http://schemas.openxmlformats.org/officeDocument/2006/relationships" id="274" r:id="R002b518e5f0c4254"/>
    <p:sldId xmlns:r="http://schemas.openxmlformats.org/officeDocument/2006/relationships" id="275" r:id="Rf9b81f0f342a4e63"/>
    <p:sldId xmlns:r="http://schemas.openxmlformats.org/officeDocument/2006/relationships" id="276" r:id="R86f86d02d1114fa6"/>
    <p:sldId xmlns:r="http://schemas.openxmlformats.org/officeDocument/2006/relationships" id="277" r:id="R030ac110bc364e7f"/>
    <p:sldId xmlns:r="http://schemas.openxmlformats.org/officeDocument/2006/relationships" id="278" r:id="Rea1fb25ae72d48be"/>
    <p:sldId xmlns:r="http://schemas.openxmlformats.org/officeDocument/2006/relationships" id="279" r:id="R8b62740da3c2419e"/>
    <p:sldId xmlns:r="http://schemas.openxmlformats.org/officeDocument/2006/relationships" id="280" r:id="R1c85eb909ea24819"/>
    <p:sldId xmlns:r="http://schemas.openxmlformats.org/officeDocument/2006/relationships" id="281" r:id="R69a0a39d0ff048fd"/>
    <p:sldId xmlns:r="http://schemas.openxmlformats.org/officeDocument/2006/relationships" id="282" r:id="R6deae3600f594e9e"/>
    <p:sldId xmlns:r="http://schemas.openxmlformats.org/officeDocument/2006/relationships" id="283" r:id="Ra044f6c4a78a40d2"/>
    <p:sldId xmlns:r="http://schemas.openxmlformats.org/officeDocument/2006/relationships" id="284" r:id="R16ef5147515d4e28"/>
    <p:sldId xmlns:r="http://schemas.openxmlformats.org/officeDocument/2006/relationships" id="285" r:id="R5192da05d5ec46ad"/>
    <p:sldId xmlns:r="http://schemas.openxmlformats.org/officeDocument/2006/relationships" id="286" r:id="R8363184e09a94d19"/>
    <p:sldId xmlns:r="http://schemas.openxmlformats.org/officeDocument/2006/relationships" id="287" r:id="R3f977ea4ba8d4e79"/>
    <p:sldId xmlns:r="http://schemas.openxmlformats.org/officeDocument/2006/relationships" id="288" r:id="Rbcfc9130923d42da"/>
    <p:sldId xmlns:r="http://schemas.openxmlformats.org/officeDocument/2006/relationships" id="289" r:id="R27927f42ff864253"/>
    <p:sldId xmlns:r="http://schemas.openxmlformats.org/officeDocument/2006/relationships" id="290" r:id="Rdbb72b7d2cad4639"/>
    <p:sldId xmlns:r="http://schemas.openxmlformats.org/officeDocument/2006/relationships" id="291" r:id="Racaa03b1dcf6467e"/>
    <p:sldId xmlns:r="http://schemas.openxmlformats.org/officeDocument/2006/relationships" id="292" r:id="R648d08ffd72448e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989862f1e8c4940" /><Relationship Type="http://schemas.openxmlformats.org/officeDocument/2006/relationships/slideMaster" Target="/ppt/slideMasters/slideMaster1.xml" Id="R43e3b4d0397d4136" /><Relationship Type="http://schemas.openxmlformats.org/officeDocument/2006/relationships/notesMaster" Target="/ppt/notesMasters/notesMaster1.xml" Id="R1122b9c29ec7453e" /><Relationship Type="http://schemas.openxmlformats.org/officeDocument/2006/relationships/presProps" Target="/ppt/presProps.xml" Id="Rf954b7fd9bcd405d" /><Relationship Type="http://schemas.openxmlformats.org/officeDocument/2006/relationships/tableStyles" Target="/ppt/tableStyles.xml" Id="Rf253083ec38640ba" /><Relationship Type="http://schemas.openxmlformats.org/officeDocument/2006/relationships/slide" Target="/ppt/slides/slide1.xml" Id="Rc71ddeda1e1a4dbe" /><Relationship Type="http://schemas.openxmlformats.org/officeDocument/2006/relationships/slide" Target="/ppt/slides/slide2.xml" Id="Rbbcae8af25404741" /><Relationship Type="http://schemas.openxmlformats.org/officeDocument/2006/relationships/slide" Target="/ppt/slides/slide3.xml" Id="Re1b75f7f00a74ef8" /><Relationship Type="http://schemas.openxmlformats.org/officeDocument/2006/relationships/slide" Target="/ppt/slides/slide4.xml" Id="R9b2be31b898a4895" /><Relationship Type="http://schemas.openxmlformats.org/officeDocument/2006/relationships/slide" Target="/ppt/slides/slide5.xml" Id="R5f7adeefb1554b95" /><Relationship Type="http://schemas.openxmlformats.org/officeDocument/2006/relationships/slide" Target="/ppt/slides/slide6.xml" Id="R8a20f8c44b304b9c" /><Relationship Type="http://schemas.openxmlformats.org/officeDocument/2006/relationships/slide" Target="/ppt/slides/slide7.xml" Id="R8765b33f6d9746f6" /><Relationship Type="http://schemas.openxmlformats.org/officeDocument/2006/relationships/slide" Target="/ppt/slides/slide8.xml" Id="R517d55f810cc40cb" /><Relationship Type="http://schemas.openxmlformats.org/officeDocument/2006/relationships/slide" Target="/ppt/slides/slide9.xml" Id="R9db1dffbc395487a" /><Relationship Type="http://schemas.openxmlformats.org/officeDocument/2006/relationships/slide" Target="/ppt/slides/slide10.xml" Id="R62aa298433ce44ae" /><Relationship Type="http://schemas.openxmlformats.org/officeDocument/2006/relationships/slide" Target="/ppt/slides/slide11.xml" Id="R71b3b1ada65941a0" /><Relationship Type="http://schemas.openxmlformats.org/officeDocument/2006/relationships/slide" Target="/ppt/slides/slide12.xml" Id="R09d5413bd523476a" /><Relationship Type="http://schemas.openxmlformats.org/officeDocument/2006/relationships/slide" Target="/ppt/slides/slide13.xml" Id="Rd316ebf74028436d" /><Relationship Type="http://schemas.openxmlformats.org/officeDocument/2006/relationships/slide" Target="/ppt/slides/slide14.xml" Id="Rfe77db2243be4f2d" /><Relationship Type="http://schemas.openxmlformats.org/officeDocument/2006/relationships/slide" Target="/ppt/slides/slide15.xml" Id="R9569ee6399254b13" /><Relationship Type="http://schemas.openxmlformats.org/officeDocument/2006/relationships/slide" Target="/ppt/slides/slide16.xml" Id="Rcd6a162f66bf4231" /><Relationship Type="http://schemas.openxmlformats.org/officeDocument/2006/relationships/slide" Target="/ppt/slides/slide17.xml" Id="R56b7ab79952f4832" /><Relationship Type="http://schemas.openxmlformats.org/officeDocument/2006/relationships/slide" Target="/ppt/slides/slide18.xml" Id="Rcb699c63500d47b5" /><Relationship Type="http://schemas.openxmlformats.org/officeDocument/2006/relationships/slide" Target="/ppt/slides/slide19.xml" Id="R002b518e5f0c4254" /><Relationship Type="http://schemas.openxmlformats.org/officeDocument/2006/relationships/slide" Target="/ppt/slides/slide20.xml" Id="Rf9b81f0f342a4e63" /><Relationship Type="http://schemas.openxmlformats.org/officeDocument/2006/relationships/slide" Target="/ppt/slides/slide21.xml" Id="R86f86d02d1114fa6" /><Relationship Type="http://schemas.openxmlformats.org/officeDocument/2006/relationships/slide" Target="/ppt/slides/slide22.xml" Id="R030ac110bc364e7f" /><Relationship Type="http://schemas.openxmlformats.org/officeDocument/2006/relationships/slide" Target="/ppt/slides/slide23.xml" Id="Rea1fb25ae72d48be" /><Relationship Type="http://schemas.openxmlformats.org/officeDocument/2006/relationships/slide" Target="/ppt/slides/slide24.xml" Id="R8b62740da3c2419e" /><Relationship Type="http://schemas.openxmlformats.org/officeDocument/2006/relationships/slide" Target="/ppt/slides/slide25.xml" Id="R1c85eb909ea24819" /><Relationship Type="http://schemas.openxmlformats.org/officeDocument/2006/relationships/slide" Target="/ppt/slides/slide26.xml" Id="R69a0a39d0ff048fd" /><Relationship Type="http://schemas.openxmlformats.org/officeDocument/2006/relationships/slide" Target="/ppt/slides/slide27.xml" Id="R6deae3600f594e9e" /><Relationship Type="http://schemas.openxmlformats.org/officeDocument/2006/relationships/slide" Target="/ppt/slides/slide28.xml" Id="Ra044f6c4a78a40d2" /><Relationship Type="http://schemas.openxmlformats.org/officeDocument/2006/relationships/slide" Target="/ppt/slides/slide29.xml" Id="R16ef5147515d4e28" /><Relationship Type="http://schemas.openxmlformats.org/officeDocument/2006/relationships/slide" Target="/ppt/slides/slide30.xml" Id="R5192da05d5ec46ad" /><Relationship Type="http://schemas.openxmlformats.org/officeDocument/2006/relationships/slide" Target="/ppt/slides/slide31.xml" Id="R8363184e09a94d19" /><Relationship Type="http://schemas.openxmlformats.org/officeDocument/2006/relationships/slide" Target="/ppt/slides/slide32.xml" Id="R3f977ea4ba8d4e79" /><Relationship Type="http://schemas.openxmlformats.org/officeDocument/2006/relationships/slide" Target="/ppt/slides/slide33.xml" Id="Rbcfc9130923d42da" /><Relationship Type="http://schemas.openxmlformats.org/officeDocument/2006/relationships/slide" Target="/ppt/slides/slide34.xml" Id="R27927f42ff864253" /><Relationship Type="http://schemas.openxmlformats.org/officeDocument/2006/relationships/slide" Target="/ppt/slides/slide35.xml" Id="Rdbb72b7d2cad4639" /><Relationship Type="http://schemas.openxmlformats.org/officeDocument/2006/relationships/slide" Target="/ppt/slides/slide36.xml" Id="Racaa03b1dcf6467e" /><Relationship Type="http://schemas.openxmlformats.org/officeDocument/2006/relationships/slide" Target="/ppt/slides/slide37.xml" Id="R648d08ffd72448e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66da9fc32e7438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c7a976c36934b80" /><Relationship Type="http://schemas.openxmlformats.org/officeDocument/2006/relationships/notesMaster" Target="/ppt/notesMasters/notesMaster1.xml" Id="R002c7d3797ab4e4f" /></Relationships>
</file>

<file path=ppt/notesSlides/_rels/notesSlide2.xml.rels>&#65279;<?xml version="1.0" encoding="utf-8"?><Relationships xmlns="http://schemas.openxmlformats.org/package/2006/relationships"><Relationship Type="http://schemas.openxmlformats.org/officeDocument/2006/relationships/slide" Target="/ppt/slides/slide2.xml" Id="Re812b0544ead4724" /><Relationship Type="http://schemas.openxmlformats.org/officeDocument/2006/relationships/notesMaster" Target="/ppt/notesMasters/notesMaster1.xml" Id="R76b4be5d739641d0" /></Relationships>
</file>

<file path=ppt/notesSlides/_rels/notesSlide3.xml.rels>&#65279;<?xml version="1.0" encoding="utf-8"?><Relationships xmlns="http://schemas.openxmlformats.org/package/2006/relationships"><Relationship Type="http://schemas.openxmlformats.org/officeDocument/2006/relationships/slide" Target="/ppt/slides/slide3.xml" Id="Rffeb5372c20e4339" /><Relationship Type="http://schemas.openxmlformats.org/officeDocument/2006/relationships/notesMaster" Target="/ppt/notesMasters/notesMaster1.xml" Id="R8d4b7a0d6661478c" /></Relationships>
</file>

<file path=ppt/notesSlides/_rels/notesSlide4.xml.rels>&#65279;<?xml version="1.0" encoding="utf-8"?><Relationships xmlns="http://schemas.openxmlformats.org/package/2006/relationships"><Relationship Type="http://schemas.openxmlformats.org/officeDocument/2006/relationships/slide" Target="/ppt/slides/slide4.xml" Id="R581819195c8d4c53" /><Relationship Type="http://schemas.openxmlformats.org/officeDocument/2006/relationships/notesMaster" Target="/ppt/notesMasters/notesMaster1.xml" Id="Re30173cd816a41e0" /></Relationships>
</file>

<file path=ppt/notesSlides/_rels/notesSlide5.xml.rels>&#65279;<?xml version="1.0" encoding="utf-8"?><Relationships xmlns="http://schemas.openxmlformats.org/package/2006/relationships"><Relationship Type="http://schemas.openxmlformats.org/officeDocument/2006/relationships/slide" Target="/ppt/slides/slide5.xml" Id="R4c73f5ee898a43a4" /><Relationship Type="http://schemas.openxmlformats.org/officeDocument/2006/relationships/notesMaster" Target="/ppt/notesMasters/notesMaster1.xml" Id="R5a1ff483e2ae41aa" /></Relationships>
</file>

<file path=ppt/notesSlides/_rels/notesSlide6.xml.rels>&#65279;<?xml version="1.0" encoding="utf-8"?><Relationships xmlns="http://schemas.openxmlformats.org/package/2006/relationships"><Relationship Type="http://schemas.openxmlformats.org/officeDocument/2006/relationships/slide" Target="/ppt/slides/slide6.xml" Id="R40fd93a460564124" /><Relationship Type="http://schemas.openxmlformats.org/officeDocument/2006/relationships/notesMaster" Target="/ppt/notesMasters/notesMaster1.xml" Id="Rf1f0e828c36c451b" /></Relationships>
</file>

<file path=ppt/notesSlides/_rels/notesSlide7.xml.rels>&#65279;<?xml version="1.0" encoding="utf-8"?><Relationships xmlns="http://schemas.openxmlformats.org/package/2006/relationships"><Relationship Type="http://schemas.openxmlformats.org/officeDocument/2006/relationships/slide" Target="/ppt/slides/slide7.xml" Id="R99ecdf0650ed4985" /><Relationship Type="http://schemas.openxmlformats.org/officeDocument/2006/relationships/notesMaster" Target="/ppt/notesMasters/notesMaster1.xml" Id="R28b9ac896c9e477a" /></Relationships>
</file>

<file path=ppt/notesSlides/_rels/notesSlide8.xml.rels>&#65279;<?xml version="1.0" encoding="utf-8"?><Relationships xmlns="http://schemas.openxmlformats.org/package/2006/relationships"><Relationship Type="http://schemas.openxmlformats.org/officeDocument/2006/relationships/slide" Target="/ppt/slides/slide8.xml" Id="Rad7ecfd657e04aa9" /><Relationship Type="http://schemas.openxmlformats.org/officeDocument/2006/relationships/notesMaster" Target="/ppt/notesMasters/notesMaster1.xml" Id="R10b9a332b6b4462c" /></Relationships>
</file>

<file path=ppt/notesSlides/_rels/notesSlide9.xml.rels>&#65279;<?xml version="1.0" encoding="utf-8"?><Relationships xmlns="http://schemas.openxmlformats.org/package/2006/relationships"><Relationship Type="http://schemas.openxmlformats.org/officeDocument/2006/relationships/slide" Target="/ppt/slides/slide9.xml" Id="R726e5675e2994b48" /><Relationship Type="http://schemas.openxmlformats.org/officeDocument/2006/relationships/notesMaster" Target="/ppt/notesMasters/notesMaster1.xml" Id="Rd18b4002dfd844f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e2461eb082f44a3" /><Relationship Type="http://schemas.openxmlformats.org/officeDocument/2006/relationships/notesMaster" Target="/ppt/notesMasters/notesMaster1.xml" Id="Rb3a3652d50e041f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63af7a1cf8c43c9" /><Relationship Type="http://schemas.openxmlformats.org/officeDocument/2006/relationships/notesMaster" Target="/ppt/notesMasters/notesMaster1.xml" Id="R2a45af0ed5a04ea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7d4a80de3654569" /><Relationship Type="http://schemas.openxmlformats.org/officeDocument/2006/relationships/notesMaster" Target="/ppt/notesMasters/notesMaster1.xml" Id="Rfe92e6c1f9ad4c3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9f5d3db943a42c5" /><Relationship Type="http://schemas.openxmlformats.org/officeDocument/2006/relationships/notesMaster" Target="/ppt/notesMasters/notesMaster1.xml" Id="R15b50cd80b2f488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62ac9b673684a00" /><Relationship Type="http://schemas.openxmlformats.org/officeDocument/2006/relationships/notesMaster" Target="/ppt/notesMasters/notesMaster1.xml" Id="Rf099d4658db841a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10bc634041645e7" /><Relationship Type="http://schemas.openxmlformats.org/officeDocument/2006/relationships/notesMaster" Target="/ppt/notesMasters/notesMaster1.xml" Id="R8a49b73ad58f4ea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e27d1ffeb84418f" /><Relationship Type="http://schemas.openxmlformats.org/officeDocument/2006/relationships/notesMaster" Target="/ppt/notesMasters/notesMaster1.xml" Id="Rdfa40935a6f4400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390209ca1b743ae" /><Relationship Type="http://schemas.openxmlformats.org/officeDocument/2006/relationships/notesMaster" Target="/ppt/notesMasters/notesMaster1.xml" Id="R4c47de424d3b415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c90335813ed4747" /><Relationship Type="http://schemas.openxmlformats.org/officeDocument/2006/relationships/notesMaster" Target="/ppt/notesMasters/notesMaster1.xml" Id="R1576dc562274437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a4f3e8a383b47ed" /><Relationship Type="http://schemas.openxmlformats.org/officeDocument/2006/relationships/notesMaster" Target="/ppt/notesMasters/notesMaster1.xml" Id="Rb359bd414b804b3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fab0cb3ab3649c3" /><Relationship Type="http://schemas.openxmlformats.org/officeDocument/2006/relationships/notesMaster" Target="/ppt/notesMasters/notesMaster1.xml" Id="Reac9845eabe44a2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8f42cb93acf44b6" /><Relationship Type="http://schemas.openxmlformats.org/officeDocument/2006/relationships/notesMaster" Target="/ppt/notesMasters/notesMaster1.xml" Id="Rc62020976e7c42f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5d0272834454c1c" /><Relationship Type="http://schemas.openxmlformats.org/officeDocument/2006/relationships/notesMaster" Target="/ppt/notesMasters/notesMaster1.xml" Id="Ra7be98306a33464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7ddbd14465344ea" /><Relationship Type="http://schemas.openxmlformats.org/officeDocument/2006/relationships/notesMaster" Target="/ppt/notesMasters/notesMaster1.xml" Id="Rf7f4117b1e084d1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dab2b3a35044e30" /><Relationship Type="http://schemas.openxmlformats.org/officeDocument/2006/relationships/notesMaster" Target="/ppt/notesMasters/notesMaster1.xml" Id="R011d144fb3244ec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dc3400d7a824fe7" /><Relationship Type="http://schemas.openxmlformats.org/officeDocument/2006/relationships/notesMaster" Target="/ppt/notesMasters/notesMaster1.xml" Id="R3e12a7d70331461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6225cd790194a9c" /><Relationship Type="http://schemas.openxmlformats.org/officeDocument/2006/relationships/notesMaster" Target="/ppt/notesMasters/notesMaster1.xml" Id="R9e802ccd8aa44bd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9586592e93c411c" /><Relationship Type="http://schemas.openxmlformats.org/officeDocument/2006/relationships/notesMaster" Target="/ppt/notesMasters/notesMaster1.xml" Id="R8e4bc67a1e53404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a5edbba82b34672" /><Relationship Type="http://schemas.openxmlformats.org/officeDocument/2006/relationships/notesMaster" Target="/ppt/notesMasters/notesMaster1.xml" Id="R54ba8a30b6f947e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a4f2a3bb18a48e3" /><Relationship Type="http://schemas.openxmlformats.org/officeDocument/2006/relationships/notesMaster" Target="/ppt/notesMasters/notesMaster1.xml" Id="Re88b1e79926546f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71ba4ce77714308" /><Relationship Type="http://schemas.openxmlformats.org/officeDocument/2006/relationships/notesMaster" Target="/ppt/notesMasters/notesMaster1.xml" Id="R2c828c46f76d4cda"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6c91f43a9fc4f98" /><Relationship Type="http://schemas.openxmlformats.org/officeDocument/2006/relationships/notesMaster" Target="/ppt/notesMasters/notesMaster1.xml" Id="Rb2a8aecf99854479"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67e38721d5c4980" /><Relationship Type="http://schemas.openxmlformats.org/officeDocument/2006/relationships/notesMaster" Target="/ppt/notesMasters/notesMaster1.xml" Id="Rff62a1eaed024229"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8a41e1413764c70" /><Relationship Type="http://schemas.openxmlformats.org/officeDocument/2006/relationships/notesMaster" Target="/ppt/notesMasters/notesMaster1.xml" Id="Re915f5c22caa4cad"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f8a8385f0f734d3c" /><Relationship Type="http://schemas.openxmlformats.org/officeDocument/2006/relationships/notesMaster" Target="/ppt/notesMasters/notesMaster1.xml" Id="R401863c339364044"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d044d19c3f84f3d" /><Relationship Type="http://schemas.openxmlformats.org/officeDocument/2006/relationships/notesMaster" Target="/ppt/notesMasters/notesMaster1.xml" Id="Re6828b688d8f4f8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3055eccb31c5457f" /><Relationship Type="http://schemas.openxmlformats.org/officeDocument/2006/relationships/notesMaster" Target="/ppt/notesMasters/notesMaster1.xml" Id="R63d4852054d14dd3"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286a3c2c504946f6" /><Relationship Type="http://schemas.openxmlformats.org/officeDocument/2006/relationships/notesMaster" Target="/ppt/notesMasters/notesMaster1.xml" Id="Rb78f3e4c9c114cd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0–1 minutes (1 minutes)</a:t>
            </a:r>
          </a:p>
          <a:p xmlns:a="http://schemas.openxmlformats.org/drawingml/2006/main">
            <a:r>
              <a:t/>
            </a:r>
          </a:p>
          <a:p xmlns:a="http://schemas.openxmlformats.org/drawingml/2006/main">
            <a:r>
              <a:t>Welcome students. Today prepares you to collect useful evidence and write the four reports required this semester. Ask: If two groups report different frequencies for the same apparatus, what information would help you decide whether either result is trustworthy? Take two brief answers. Explain that the session includes a tour of all six experiments, a detailed report walkthrough, and a short exercise. The report template and syllabus are available on the course site.</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1–1.5 minutes (0.5 minutes)</a:t>
            </a:r>
          </a:p>
          <a:p xmlns:a="http://schemas.openxmlformats.org/drawingml/2006/main">
            <a:r>
              <a:t/>
            </a:r>
          </a:p>
          <a:p xmlns:a="http://schemas.openxmlformats.org/drawingml/2006/main">
            <a:r>
              <a:t>Connect the four stages to the opening question. A believable number needs a measurement method, units, a model with stated assumptions, and an estimate of what might change the conclusion. The report is the record of that reasoning.</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1.5–2 minutes (0.5 minutes)</a:t>
            </a:r>
          </a:p>
          <a:p xmlns:a="http://schemas.openxmlformats.org/drawingml/2006/main">
            <a:r>
              <a:t/>
            </a:r>
          </a:p>
          <a:p xmlns:a="http://schemas.openxmlformats.org/drawingml/2006/main">
            <a:r>
              <a:t>Preview the timing. The six experiment introductions explain the apparatus, main data-collection steps, expected analysis, and report evidence. Detailed operating procedures and pre-lab requirements come with each experiment. Reserve the exercise time so students practice the distinction between reporting an observation and explaining it.</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2–4 minutes (2 minutes)</a:t>
            </a:r>
          </a:p>
          <a:p xmlns:a="http://schemas.openxmlformats.org/drawingml/2006/main">
            <a:r>
              <a:t/>
            </a:r>
          </a:p>
          <a:p xmlns:a="http://schemas.openxmlformats.org/drawingml/2006/main">
            <a:r>
              <a:t>Introduce the two GTAs, Yuyuan Zhang and Nazila Emamdoost. Ask students to check their own section and GTA in Canvas. September 9 is a one-time Wednesday orientation. Regular theory meetings are on Mondays. There is no regular Wednesday theory meeting. Explain the difference between the 50-minute theory meeting and the scheduled laboratory section. General questions belong in lecture, individual questions in office hours, and email is appropriate when those options are not practical.</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4–6 minutes (2 minutes)</a:t>
            </a:r>
          </a:p>
          <a:p xmlns:a="http://schemas.openxmlformats.org/drawingml/2006/main">
            <a:r>
              <a:t/>
            </a:r>
          </a:p>
          <a:p xmlns:a="http://schemas.openxmlformats.org/drawingml/2006/main">
            <a:r>
              <a:t>Reports account for 75% of the course grade, six pre-labs account for 20%, and participation accounts for 5%. There are four report submissions, not six separate reports. Each combined report should connect its two experiments. Distinguish these course weights from the report rubric: the rubric allocates ten equally weighted criteria within each report. Pre-labs prepare the theory and analysis needed for a productive lab session. Report dates are tentative and Canvas carries updates.</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6–7 minutes (1 minutes)</a:t>
            </a:r>
          </a:p>
          <a:p xmlns:a="http://schemas.openxmlformats.org/drawingml/2006/main">
            <a:r>
              <a:t/>
            </a:r>
          </a:p>
          <a:p xmlns:a="http://schemas.openxmlformats.org/drawingml/2006/main">
            <a:r>
              <a:t>Walk through a concrete example: before the pendulum lab, establish the equation and expected period. During the lab, record the initial angle, geometry, frame rate, and motion. Afterward, keep raw data unchanged and use a traceable analysis to generate the report figures. Check at least one data set before leaving the laboratory so a missing file or poor recording does not become a report-writing problem.</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7–8 minutes (1 minutes)</a:t>
            </a:r>
          </a:p>
          <a:p xmlns:a="http://schemas.openxmlformats.org/drawingml/2006/main">
            <a:r>
              <a:t/>
            </a:r>
          </a:p>
          <a:p xmlns:a="http://schemas.openxmlformats.org/drawingml/2006/main">
            <a:r>
              <a:t>Use the Fall 2026 numbering. Lab 6 is the radiometer. Older course files use Lab 6 for a different apparatus, so direct students to the current Canvas release. The sequence begins with the reliability of measurements, continues through simple and coupled dynamics, and ends with rotation driven by thermal effects. The next twelve slides describe the measurement question and report evidence for each experiment.</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8–9.25 minutes (1.25 minutes)</a:t>
            </a:r>
          </a:p>
          <a:p xmlns:a="http://schemas.openxmlformats.org/drawingml/2006/main">
            <a:r>
              <a:t/>
            </a:r>
          </a:p>
          <a:p xmlns:a="http://schemas.openxmlformats.org/drawingml/2006/main">
            <a:r>
              <a:t>Point to the microphone and its cable in the photo. Sound is a changing pressure; the microphone turns that change into a changing voltage. The logger stores voltage values at regular times. Sampling rate means the number of stored measurements per second. Frequency means the number of sound cycles per second. These are different quantities, although both can be expressed per second. Students record at least three sounds and at least one second of data per recording. Use a tone with a known frequency to demonstrate the sampling-rate ratios in the procedure: 100f, 10f, 3f, 1.4f, and 1f. A finger snap contains many frequencies, so it is a useful comparison but does not have one steady tone frequency. Ask: If we measure a rapidly changing signal only occasionally, what information might we miss?</a:t>
            </a:r>
          </a:p>
          <a:p xmlns:a="http://schemas.openxmlformats.org/drawingml/2006/main">
            <a:r>
              <a:t/>
            </a:r>
          </a:p>
          <a:p xmlns:a="http://schemas.openxmlformats.org/drawingml/2006/main">
            <a:r>
              <a:t>SOURCE: LAB1_MIE402.pdf; photo: Lecture Notes/4_Lab1_Exp.pdf, page 10</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9.25–10.5 minutes (1.25 minutes)</a:t>
            </a:r>
          </a:p>
          <a:p xmlns:a="http://schemas.openxmlformats.org/drawingml/2006/main">
            <a:r>
              <a:t/>
            </a:r>
          </a:p>
          <a:p xmlns:a="http://schemas.openxmlformats.org/drawingml/2006/main">
            <a:r>
              <a:t>Use this simple example: a 100 Hz tone completes 100 cycles in one second. At 1000 samples/s, there are ten measurements per cycle. At 150 samples/s, the recorded values can instead look like a 50 Hz signal. These are illustrative numbers, not results from this apparatus. Save or convert the data to MAT, load the measurements, and plot voltage against time. If playback is available, play each recording using its actual sampling rate. A poorly sampled tone may sound different because the stored values describe the wrong frequency. Do not call every audible difference aliasing: using the wrong playback rate also changes pitch. A longer recording helps distinguish close frequencies in the spectrum, but it does not repair sampling that was too slow. The ideal minimum rate is more than twice the highest frequency we want to represent; real measurements may need filtering and a larger margin. Ask: Would recording for longer fix an inadequate sample rate? No.</a:t>
            </a:r>
          </a:p>
          <a:p xmlns:a="http://schemas.openxmlformats.org/drawingml/2006/main">
            <a:r>
              <a:t/>
            </a:r>
          </a:p>
          <a:p xmlns:a="http://schemas.openxmlformats.org/drawingml/2006/main">
            <a:r>
              <a:t>SOURCE: LAB1_MIE402.pdf</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10.5–11.75 minutes (1.25 minutes)</a:t>
            </a:r>
          </a:p>
          <a:p xmlns:a="http://schemas.openxmlformats.org/drawingml/2006/main">
            <a:r>
              <a:t/>
            </a:r>
          </a:p>
          <a:p xmlns:a="http://schemas.openxmlformats.org/drawingml/2006/main">
            <a:r>
              <a:t>Explain period first: it is the time for one complete back-and-forth swing. The camera records images at known time intervals. The tracking app follows the moving end of the pendulum, then uses the pivot location to calculate angle. A scale reference converts pixels into distances where needed. The supplied procedure uses a high-speed camera setting of 1000 frames/s and releases below 10 degrees, between 10 and 90 degrees, and between 90 and 180 degrees. Read the actual capture rate from the recording; a slow-motion playback rate is different. Keep the background dark and the pendulum in focus. Record the initial angle and release without an extra push. The source photo shows the pendulum itself; the camera and light are additional parts of the measurement setup. Ask students to predict what a larger release angle will do to the period.</a:t>
            </a:r>
          </a:p>
          <a:p xmlns:a="http://schemas.openxmlformats.org/drawingml/2006/main">
            <a:r>
              <a:t/>
            </a:r>
          </a:p>
          <a:p xmlns:a="http://schemas.openxmlformats.org/drawingml/2006/main">
            <a:r>
              <a:t>SOURCE: LAB2_MIE402.pdf; photo: LAB2_MIE402.pdf, page 4</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11.75–13 minutes (1.25 minutes)</a:t>
            </a:r>
          </a:p>
          <a:p xmlns:a="http://schemas.openxmlformats.org/drawingml/2006/main">
            <a:r>
              <a:t/>
            </a:r>
          </a:p>
          <a:p xmlns:a="http://schemas.openxmlformats.org/drawingml/2006/main">
            <a:r>
              <a:t>Show how the period comes from a plot: choose a clear peak and a later peak, measure the elapsed time, then divide by the number of complete cycles between them. For example, ten cycles in eight seconds would give a period of 0.8 s; these are invented teaching values. The small-angle approximation replaces sin(theta) by theta when the angle is expressed in radians. At larger angles that shortcut becomes less accurate, and the ideal pendulum period increases. The real rod has distributed mass, so use the physical pendulum inertia and center-of-mass distance rather than treating its full mass as a point at the end. The report should also include the required angular-velocity and frequency plots. Keep any filtering or differentiation method in the analysis description because tracking noise can become larger in velocity. If the swing size decreases, discuss friction and air resistance. Inspect tracking early; an incorrect pivot or camera rate can spoil every later calculation.</a:t>
            </a:r>
          </a:p>
          <a:p xmlns:a="http://schemas.openxmlformats.org/drawingml/2006/main">
            <a:r>
              <a:t/>
            </a:r>
          </a:p>
          <a:p xmlns:a="http://schemas.openxmlformats.org/drawingml/2006/main">
            <a:r>
              <a:t>SOURCE: LAB2_MIE402.pdf</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13–14.25 minutes (1.25 minutes)</a:t>
            </a:r>
          </a:p>
          <a:p xmlns:a="http://schemas.openxmlformats.org/drawingml/2006/main">
            <a:r>
              <a:t/>
            </a:r>
          </a:p>
          <a:p xmlns:a="http://schemas.openxmlformats.org/drawingml/2006/main">
            <a:r>
              <a:t>Point out the fixed pivot, the middle joint, and the lower moving end in the photo. The first link moves the pivot of the second link, so each link influences the other. This is what coupled motion means. Track both moving points and record both initial angles; one starting angle is not enough to describe the release. The procedure includes one small-angle, approximately collinear release and at least three large-angle cases. Keep the motion in the plane viewed by the camera. Define the angle of the lower link from the line connecting the middle joint to the lower end; measuring that line from the fixed top pivot would give the wrong angle. Ask: What additional measurements do we need now that there are two links?</a:t>
            </a:r>
          </a:p>
          <a:p xmlns:a="http://schemas.openxmlformats.org/drawingml/2006/main">
            <a:r>
              <a:t/>
            </a:r>
          </a:p>
          <a:p xmlns:a="http://schemas.openxmlformats.org/drawingml/2006/main">
            <a:r>
              <a:t>SOURCE: LAB3_MIE402.pdf; photo: Lecture Notes/9_Lab3_Exp.pdf, page 7</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14.25–15.5 minutes (1.25 minutes)</a:t>
            </a:r>
          </a:p>
          <a:p xmlns:a="http://schemas.openxmlformats.org/drawingml/2006/main">
            <a:r>
              <a:t/>
            </a:r>
          </a:p>
          <a:p xmlns:a="http://schemas.openxmlformats.org/drawingml/2006/main">
            <a:r>
              <a:t>With a single pendulum we follow one angle; now we follow two angles and solve their equations together. Small motions can show more than one characteristic frequency. Large motions can be much more sensitive to the starting state. Explain sensitivity in plain language: two releases that look almost identical can later produce noticeably different positions. That observation does not by itself prove that the apparatus is chaotic. First check both initial angles, any accidental push, frame timing, and whether the tracking app followed the correct objects. Friction and uncertain mass properties can also affect the comparison. Include the required angular velocities and spectra, but choose figures that answer a clear question. In the combined Labs 2 and 3 report, explain what the second link changes rather than simply joining two unrelated documents.</a:t>
            </a:r>
          </a:p>
          <a:p xmlns:a="http://schemas.openxmlformats.org/drawingml/2006/main">
            <a:r>
              <a:t/>
            </a:r>
          </a:p>
          <a:p xmlns:a="http://schemas.openxmlformats.org/drawingml/2006/main">
            <a:r>
              <a:t>SOURCE: LAB3_MIE402.pdf</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15.5–16.75 minutes (1.25 minutes)</a:t>
            </a:r>
          </a:p>
          <a:p xmlns:a="http://schemas.openxmlformats.org/drawingml/2006/main">
            <a:r>
              <a:t/>
            </a:r>
          </a:p>
          <a:p xmlns:a="http://schemas.openxmlformats.org/drawingml/2006/main">
            <a:r>
              <a:t>The photo shows the Vernier carts and added masses used in the course. In this experiment the cart sits on a track between springs. It moves along one direction, so we call it a system with one degree of freedom. Free response means that after the release we stop driving it; the stored spring energy starts the motion. The magnetic brakes reduce the motion without a pad rubbing on the cart. Damping is the process by which the motion dies away as energy is lost. Measure the actual mass and spring stiffness rather than assuming the nominal values are exact. Zero position at equilibrium and keep the initial pull small enough for the specified setup. The procedure uses at least seven cases: a base case, two mass changes, two damping changes, and two spring changes. Ask students to predict which change will make the motion slower.</a:t>
            </a:r>
          </a:p>
          <a:p xmlns:a="http://schemas.openxmlformats.org/drawingml/2006/main">
            <a:r>
              <a:t/>
            </a:r>
          </a:p>
          <a:p xmlns:a="http://schemas.openxmlformats.org/drawingml/2006/main">
            <a:r>
              <a:t>SOURCE: LAB4_MIE402.pdf; photo: Lecture Notes/13_Lab4_Exp.pdf, page 8</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16.75–18 minutes (1.25 minutes)</a:t>
            </a:r>
          </a:p>
          <a:p xmlns:a="http://schemas.openxmlformats.org/drawingml/2006/main">
            <a:r>
              <a:t/>
            </a:r>
          </a:p>
          <a:p xmlns:a="http://schemas.openxmlformats.org/drawingml/2006/main">
            <a:r>
              <a:t>Sketch the meaning verbally: the distance between two successive positive peaks along the time axis is one period. The heights of those peaks decrease as the cart loses energy. Frequency is the number of cycles per second, the reciprocal of the period. Estimate damping from how the peak heights decrease, using the method taught with this lab. For a fixed mass, greater effective stiffness raises the natural frequency. For a fixed stiffness, greater mass lowers it. The simple relation is natural angular frequency equals the square root of effective stiffness divided by mass. If springs act on both sides of the cart, include both contributions. Magnetic brake parts can add mass as well as damping, so the report must account for both changes. Use the assigned sampling settings, no more than 25 Hz in the supplied procedure, and inspect the exported CSV. The combined Labs 4 and 5 report can use these parameter estimates to help predict driven motion, provided the configuration is comparable.</a:t>
            </a:r>
          </a:p>
          <a:p xmlns:a="http://schemas.openxmlformats.org/drawingml/2006/main">
            <a:r>
              <a:t/>
            </a:r>
          </a:p>
          <a:p xmlns:a="http://schemas.openxmlformats.org/drawingml/2006/main">
            <a:r>
              <a:t>SOURCE: LAB4_MIE402.pdf</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18–19.25 minutes (1.25 minutes)</a:t>
            </a:r>
          </a:p>
          <a:p xmlns:a="http://schemas.openxmlformats.org/drawingml/2006/main">
            <a:r>
              <a:t/>
            </a:r>
          </a:p>
          <a:p xmlns:a="http://schemas.openxmlformats.org/drawingml/2006/main">
            <a:r>
              <a:t>The photograph shows the motor and spring drive from the earlier course materials. It illustrates the drive mechanism; follow the current Vernier procedure for the cart and data-acquisition details. The experiment first compares three impulse strengths without magnetic brakes. An impulse is a brief push; the cart then moves freely. In the second part, a motor continues moving one spring end, repeatedly supplying energy. That sustained input makes this a forced response. Use the assigned magnetic brakes for the driven tests. The tachometer measures revolutions per minute, which gives the driving frequency after conversion. Explain resonance as the range of driving frequencies where the cart response becomes large. Avoid running there for a long time. Ask: How is this different from pulling the cart once and letting go?</a:t>
            </a:r>
          </a:p>
          <a:p xmlns:a="http://schemas.openxmlformats.org/drawingml/2006/main">
            <a:r>
              <a:t/>
            </a:r>
          </a:p>
          <a:p xmlns:a="http://schemas.openxmlformats.org/drawingml/2006/main">
            <a:r>
              <a:t>SOURCE: LAB5_MIE402.pdf; photo: Yahya's Files/402 files/05. Lab 3 1 DOF Vibrations.pptx, ppt/media/image39.jpeg</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19.25–20.5 minutes (1.25 minutes)</a:t>
            </a:r>
          </a:p>
          <a:p xmlns:a="http://schemas.openxmlformats.org/drawingml/2006/main">
            <a:r>
              <a:t/>
            </a:r>
          </a:p>
          <a:p xmlns:a="http://schemas.openxmlformats.org/drawingml/2006/main">
            <a:r>
              <a:t>After changing speed, the initial motion may mix with the driven motion. Wait approximately one to two minutes as directed, then use the steady repeating portion. Record several frequencies below resonance and several above it; the procedure asks for three to five on each side. Measure input amplitude at each frequency because a constant motor setting does not guarantee the same spring-end motion. Gain means output amplitude divided by input amplitude. For an illustrative input amplitude of 1 cm and cart amplitude of 3 cm, gain is 3. The required Bode magnitude plot may express this as 20 log10(gain), in decibels. The source manual does not require a phase plot for this activity. This apparatus moves a spring end, so the input is a displacement. Use the corresponding model with k2 times the input displacement on the right-hand side, and k1+k2 as total stiffness. Do not use an applied-force transfer function without accounting for that distinction. Include three impulse records as well as the driven-response curve in the combined report.</a:t>
            </a:r>
          </a:p>
          <a:p xmlns:a="http://schemas.openxmlformats.org/drawingml/2006/main">
            <a:r>
              <a:t/>
            </a:r>
          </a:p>
          <a:p xmlns:a="http://schemas.openxmlformats.org/drawingml/2006/main">
            <a:r>
              <a:t>SOURCE: LAB5_MIE402.pdf</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20.5–21.75 minutes (1.25 minutes)</a:t>
            </a:r>
          </a:p>
          <a:p xmlns:a="http://schemas.openxmlformats.org/drawingml/2006/main">
            <a:r>
              <a:t/>
            </a:r>
          </a:p>
          <a:p xmlns:a="http://schemas.openxmlformats.org/drawingml/2006/main">
            <a:r>
              <a:t>Point out the vanes inside the glass bulb and the nearby light meter. The two sides of each vane absorb light differently and reach different temperatures. The low-pressure gas inside interacts with these temperature differences and helps drive rotation. It is not simply ordinary light pressure pushing the vanes. The green rings in this saved test image identify the region used by the tracking program; students should check that it covers the vanes. Begin near the recommended 15 cm light distance and follow the released limits. Keep the camera, lamp, and bulb fixed. Place the dark background behind the bulb without touching it. Record one clear trial first; make additional comparisons only when permitted by the instructions. The source image is an actual saved test image, not a diagram of the full setup.</a:t>
            </a:r>
          </a:p>
          <a:p xmlns:a="http://schemas.openxmlformats.org/drawingml/2006/main">
            <a:r>
              <a:t/>
            </a:r>
          </a:p>
          <a:p xmlns:a="http://schemas.openxmlformats.org/drawingml/2006/main">
            <a:r>
              <a:t>SOURCE: Radiometer Test/Crookes_Radiometer_Laboratory_Module__Rarefied_Gas_Transport__Light_Driven_Rotation__and_Video_Based_RPM_Measurement.pdf; photo: Radiometer Test/first_frame_with_tracking_annulus.png</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21.75–23 minutes (1.25 minutes)</a:t>
            </a:r>
          </a:p>
          <a:p xmlns:a="http://schemas.openxmlformats.org/drawingml/2006/main">
            <a:r>
              <a:t/>
            </a:r>
          </a:p>
          <a:p xmlns:a="http://schemas.openxmlformats.org/drawingml/2006/main">
            <a:r>
              <a:t>Define RPM in plain language: the number of full turns in one minute. For example, ten turns in twenty seconds would be thirty RPM; this is an invented teaching example. The program estimates small changes in vane position between frames and adds them together, producing a cumulative angle that can grow beyond one turn. A steeper angle-versus-time line means faster rotation. Fit the line over a stated interval to estimate average speed, and inspect shorter early and late intervals to detect a speed change. Do not interpret every frame-to-frame spike as real acceleration because reflections or tracking errors can produce spikes. Check the marked region and the tracking overlay against the actual vanes. Record whether the device had cooled before a new trial. A change in lux is useful context, but lux is weighted for human vision and does not tell us the absorbed heat directly. The report should distinguish measured trends from possible thermal explanations.</a:t>
            </a:r>
          </a:p>
          <a:p xmlns:a="http://schemas.openxmlformats.org/drawingml/2006/main">
            <a:r>
              <a:t/>
            </a:r>
          </a:p>
          <a:p xmlns:a="http://schemas.openxmlformats.org/drawingml/2006/main">
            <a:r>
              <a:t>SOURCE: Radiometer Test/Crookes_Radiometer_Laboratory_Module__Rarefied_Gas_Transport__Light_Driven_Rotation__and_Video_Based_RPM_Measurement.pdf</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23–24.5 minutes (1.5 minutes)</a:t>
            </a:r>
          </a:p>
          <a:p xmlns:a="http://schemas.openxmlformats.org/drawingml/2006/main">
            <a:r>
              <a:t/>
            </a:r>
          </a:p>
          <a:p xmlns:a="http://schemas.openxmlformats.org/drawingml/2006/main">
            <a:r>
              <a:t>Open the actual report template or point students to its download link. Explain the reader: someone with relevant undergraduate background who was not present during the experiment. The report must answer what you studied, how you measured it, what happened, how it compares with a prediction, and what the comparison means. References are required, including the lecture notes at minimum. An appendix is optional and cannot replace evidence needed for the main conclusion. Explain the difference between the report outline and the grading rubric: having each section earns only one of the ten rubric categories.</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24.5–26 minutes (1.5 minutes)</a:t>
            </a:r>
          </a:p>
          <a:p xmlns:a="http://schemas.openxmlformats.org/drawingml/2006/main">
            <a:r>
              <a:t/>
            </a:r>
          </a:p>
          <a:p xmlns:a="http://schemas.openxmlformats.org/drawingml/2006/main">
            <a:r>
              <a:t>The template provides section-level allocations, including a maximum of ten lines for the abstract. The numbered main sections total eight pages, with three of those pages reserved for results and figures. Do not announce an invented overall page limit that includes the cover and references. Do not assume a combined report doubles the allocation. Follow the stated limit for each assignment. These lengths encourage selection: include the evidence needed for the claim, rather than every plot generated. Remind students to put group members in alphabetical order by last name as directed by the cover template.</a:t>
            </a:r>
          </a:p>
          <a:p xmlns:a="http://schemas.openxmlformats.org/drawingml/2006/main">
            <a:r>
              <a:t/>
            </a:r>
          </a:p>
          <a:p xmlns:a="http://schemas.openxmlformats.org/drawingml/2006/main">
            <a:r>
              <a:t>SOURCE: Template for MIE 402 Report.docx</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26–27.5 minutes (1.5 minutes)</a:t>
            </a:r>
          </a:p>
          <a:p xmlns:a="http://schemas.openxmlformats.org/drawingml/2006/main">
            <a:r>
              <a:t/>
            </a:r>
          </a:p>
          <a:p xmlns:a="http://schemas.openxmlformats.org/drawingml/2006/main">
            <a:r>
              <a:t>An introduction should establish the experiment and the relevant theory without copying a textbook chapter. For a pendulum, identify the angle convention, inertia, geometry, and the approximation under test. The method should describe what the group actually did. Include sensor or camera settings and calibration, not every button pressed. Show how measured quantities become the reported quantity: pixels become position, position becomes angle, and peak times become period. State how many runs you made and what changed between them. If you filtered data, explain the filter and its possible effect. Keep original data and scripts so every final figure has a traceable origin.</a:t>
            </a:r>
          </a:p>
          <a:p xmlns:a="http://schemas.openxmlformats.org/drawingml/2006/main">
            <a:r>
              <a:t/>
            </a:r>
          </a:p>
          <a:p xmlns:a="http://schemas.openxmlformats.org/drawingml/2006/main">
            <a:r>
              <a:t>SOURCE: Template for MIE 402 Report.docx</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27.5–29 minutes (1.5 minutes)</a:t>
            </a:r>
          </a:p>
          <a:p xmlns:a="http://schemas.openxmlformats.org/drawingml/2006/main">
            <a:r>
              <a:t/>
            </a:r>
          </a:p>
          <a:p xmlns:a="http://schemas.openxmlformats.org/drawingml/2006/main">
            <a:r>
              <a:t>Read the three parts aloud and identify the role of each. A useful abstract tells the reader the purpose, what was done, the most important numerical result, and the implication. It should be written after the analysis and conclusions so the numbers agree across the report. The values here are invented for teaching, not a result from this course apparatus. A two-percent difference by itself does not prove agreement within uncertainty. If your actual report supports an uncertainty statement, include it precisely. Avoid an abstract that only lists activities, such as saying that a pendulum was released and graphs were plotted.</a:t>
            </a:r>
          </a:p>
          <a:p xmlns:a="http://schemas.openxmlformats.org/drawingml/2006/main">
            <a:r>
              <a:t/>
            </a:r>
          </a:p>
          <a:p xmlns:a="http://schemas.openxmlformats.org/drawingml/2006/main">
            <a:r>
              <a:t>SOURCE: Template for MIE 402 Report.docx</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29–30 minutes (1 minutes)</a:t>
            </a:r>
          </a:p>
          <a:p xmlns:a="http://schemas.openxmlformats.org/drawingml/2006/main">
            <a:r>
              <a:t/>
            </a:r>
          </a:p>
          <a:p xmlns:a="http://schemas.openxmlformats.org/drawingml/2006/main">
            <a:r>
              <a:t>Results present what happened. A plot of a simulated trajectory alone cannot stand in for the measured response of a physical experiment. Identify processing without hiding its effect. Explain the trend and point to the relevant figure rather than saying only that the results are shown below. Save causal explanations for the Discussion, while keeping enough context for the reader to understand each measurement.</a:t>
            </a:r>
          </a:p>
          <a:p xmlns:a="http://schemas.openxmlformats.org/drawingml/2006/main">
            <a:r>
              <a:t/>
            </a:r>
          </a:p>
          <a:p xmlns:a="http://schemas.openxmlformats.org/drawingml/2006/main">
            <a:r>
              <a:t>SOURCE: Template for MIE 402 Report.docx</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30–31 minutes (1 minutes)</a:t>
            </a:r>
          </a:p>
          <a:p xmlns:a="http://schemas.openxmlformats.org/drawingml/2006/main">
            <a:r>
              <a:t/>
            </a:r>
          </a:p>
          <a:p xmlns:a="http://schemas.openxmlformats.org/drawingml/2006/main">
            <a:r>
              <a:t>Use the syllabus export rule when preparing the final report. The older template mentions copying a figure, but the final result must still be a clean, readable figure without application-window chrome. A figure needs context: the apparatus or case, acquisition settings where relevant, and the distinction between experiment and prediction. Color alone may be insufficient, so combine color with markers or line styles. Verify quality in the PDF because a figure that looks fine in the editor can become tiny or rasterized on export.</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31–33 minutes (2 minutes)</a:t>
            </a:r>
          </a:p>
          <a:p xmlns:a="http://schemas.openxmlformats.org/drawingml/2006/main">
            <a:r>
              <a:t/>
            </a:r>
          </a:p>
          <a:p xmlns:a="http://schemas.openxmlformats.org/drawingml/2006/main">
            <a:r>
              <a:t>This is a deliberately simplified teaching figure using synthetic data. Both series use the same time origin and angle convention. The model is 5 cos(2 pi 1.50 t) degrees. The synthetic signal is 5 exp(-0.45 t) cos(2 pi 1.47 t) degrees, sampled at 50 Hz. Ask students to identify one observed difference before proposing a cause. The decaying envelope is visible, and a slight phase drift grows over time. The caption states the conditions, the axes include units, and the legend identifies both series. A good figure supports a specific statement. It does not, by itself, establish why a discrepancy occurred.</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33–34.5 minutes (1.5 minutes)</a:t>
            </a:r>
          </a:p>
          <a:p xmlns:a="http://schemas.openxmlformats.org/drawingml/2006/main">
            <a:r>
              <a:t/>
            </a:r>
          </a:p>
          <a:p xmlns:a="http://schemas.openxmlformats.org/drawingml/2006/main">
            <a:r>
              <a:t>Return to the 1.47 Hz versus 1.50 Hz example. The absolute difference is 0.03 Hz and the relative discrepancy is two percent using the predicted value as the reference. A single number can miss a time-dependent mismatch, so also inspect an overlay or residual where appropriate. Do not repeatedly shift a simulation or tune parameters without reporting that choice. If damping was estimated from the same decay record used for the comparison, describe the result as a fitted-model agreement. An independent trial or a different response can test how well the fitted parameters generalize. The equations belong in the Introduction and the solution procedure and parameter values belong in the Comparison.</a:t>
            </a:r>
          </a:p>
          <a:p xmlns:a="http://schemas.openxmlformats.org/drawingml/2006/main">
            <a:r>
              <a:t/>
            </a:r>
          </a:p>
          <a:p xmlns:a="http://schemas.openxmlformats.org/drawingml/2006/main">
            <a:r>
              <a:t>SOURCE: Template for MIE 402 Report.docx</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34.5–36 minutes (1.5 minutes)</a:t>
            </a:r>
          </a:p>
          <a:p xmlns:a="http://schemas.openxmlformats.org/drawingml/2006/main">
            <a:r>
              <a:t/>
            </a:r>
          </a:p>
          <a:p xmlns:a="http://schemas.openxmlformats.org/drawingml/2006/main">
            <a:r>
              <a:t>Ask whether a two-percent discrepancy is acceptable. The answer depends on the measurement and model uncertainty and the intended use. If two independent standard uncertainties were 0.02 Hz each, their combined standard uncertainty would be sqrt(0.02 squared plus 0.02 squared), about 0.028 Hz. The 0.03 Hz discrepancy would be about 1.1 combined standard uncertainties. This is a classroom illustration, not a formal acceptance criterion. A plus/minus value must state whether it is instrument resolution, run-to-run standard deviation, uncertainty of a mean, or a confidence interval. Timing several cycles can reduce the relative effect of endpoint timing error, but it does not remove a biased clock or incorrect length calibration.</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36–38 minutes (2 minutes)</a:t>
            </a:r>
          </a:p>
          <a:p xmlns:a="http://schemas.openxmlformats.org/drawingml/2006/main">
            <a:r>
              <a:t/>
            </a:r>
          </a:p>
          <a:p xmlns:a="http://schemas.openxmlformats.org/drawingml/2006/main">
            <a:r>
              <a:t>Explain why this paragraph is stronger than saying the experiment differed because of human error. It describes a visible feature, proposes a mechanism consistent with that feature, and identifies a further check. Plausibility is not proof. Students should explain the direction and scale of an effect where possible. A wrong frame rate changes time and frequency estimates. A length-calibration error changes positions or inferred model parameters. A delayed time origin changes phase. Random tracking scatter has a different signature from systematic drift. Discuss whether the evidence supports the model over the tested range and where that conclusion stops.</a:t>
            </a:r>
          </a:p>
          <a:p xmlns:a="http://schemas.openxmlformats.org/drawingml/2006/main">
            <a:r>
              <a:t/>
            </a:r>
          </a:p>
          <a:p xmlns:a="http://schemas.openxmlformats.org/drawingml/2006/main">
            <a:r>
              <a:t>SOURCE: Template for MIE 402 Report.docx</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38–39 minutes (1 minutes)</a:t>
            </a:r>
          </a:p>
          <a:p xmlns:a="http://schemas.openxmlformats.org/drawingml/2006/main">
            <a:r>
              <a:t/>
            </a:r>
          </a:p>
          <a:p xmlns:a="http://schemas.openxmlformats.org/drawingml/2006/main">
            <a:r>
              <a:t>A conclusion should agree with the abstract and the figures. Do not introduce new results for the first time here. Mention what the experiment established within its tested range and what a repeat experiment should improve. The reference list is required, and the report needs in-text citations that connect borrowed equations, methods, or images to their sources. Appendices have no stated page limit but should be selective. The reader should be able to follow and evaluate the main argument without opening them.</a:t>
            </a:r>
          </a:p>
          <a:p xmlns:a="http://schemas.openxmlformats.org/drawingml/2006/main">
            <a:r>
              <a:t/>
            </a:r>
          </a:p>
          <a:p xmlns:a="http://schemas.openxmlformats.org/drawingml/2006/main">
            <a:r>
              <a:t>SOURCE: Template for MIE 402 Report.docx</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39–40 minutes (1 minutes)</a:t>
            </a:r>
          </a:p>
          <a:p xmlns:a="http://schemas.openxmlformats.org/drawingml/2006/main">
            <a:r>
              <a:t/>
            </a:r>
          </a:p>
          <a:p xmlns:a="http://schemas.openxmlformats.org/drawingml/2006/main">
            <a:r>
              <a:t>Students often produce a combined report by joining two independent documents. A more useful structure has one common objective and conclusion, with clearly labeled subsections for the experiment-specific methods and results. For the pendulums, compare what coupling and larger motions do to model agreement. For the cart experiments, test whether parameters estimated from a free decay help explain the forced response. The comparison is valid only when students account for any changed spring arrangement, damping, or mass. The assignment-specific page limit still controls.</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40–42 minutes (2 minutes)</a:t>
            </a:r>
          </a:p>
          <a:p xmlns:a="http://schemas.openxmlformats.org/drawingml/2006/main">
            <a:r>
              <a:t/>
            </a:r>
          </a:p>
          <a:p xmlns:a="http://schemas.openxmlformats.org/drawingml/2006/main">
            <a:r>
              <a:t>Read the rubric as ten separate ten-percent items, even though this slide groups them into five rows. Completing all section headings accounts for only ten percent of a report. Formatting and figure quality matter, but so do the abstract, analysis, theory, experiment description, comparison, discussion, and meaningful results. Ask students to choose the weakest category in a report that has beautiful figures but no explanation of how frequency was estimated. The answer should include data analysis and potentially meaningful results. Use the rubric as a review checklist, not an invitation to repeat the same material in several sections.</a:t>
            </a:r>
          </a:p>
          <a:p xmlns:a="http://schemas.openxmlformats.org/drawingml/2006/main">
            <a:r>
              <a:t/>
            </a:r>
          </a:p>
          <a:p xmlns:a="http://schemas.openxmlformats.org/drawingml/2006/main">
            <a:r>
              <a:t>SOURCE: Syllabus_MIE402_Fall26_6Labs.pdf</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42–43 minutes (1 minutes)</a:t>
            </a:r>
          </a:p>
          <a:p xmlns:a="http://schemas.openxmlformats.org/drawingml/2006/main">
            <a:r>
              <a:t/>
            </a:r>
          </a:p>
          <a:p xmlns:a="http://schemas.openxmlformats.org/drawingml/2006/main">
            <a:r>
              <a:t>State the policy as written in the syllabus without inventing an additional penalty or AI rule. Any pre-lab or report may include a brief oral verification. Students should be able to explain their model, processing choices, and conclusions. Make-ups require instructor or GTA availability and the correct equipment. Notify the instructor within the first two weeks about approved schedule conflicts or accommodation needs. Canvas is the submission system and the place for section-specific updates. Emphasize that one release date applies to all sections, while each student submits before their own Tuesday-through-Friday meeting. Tuesday students therefore submit first. Earlier sections collect their data sooner and have more time before the common report deadline.</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43–46 minutes (3 minutes)</a:t>
            </a:r>
          </a:p>
          <a:p xmlns:a="http://schemas.openxmlformats.org/drawingml/2006/main">
            <a:r>
              <a:t/>
            </a:r>
          </a:p>
          <a:p xmlns:a="http://schemas.openxmlformats.org/drawingml/2006/main">
            <a:r>
              <a:t>Give students 45 seconds to work individually, 75 seconds to compare with a neighbor, and 60 seconds to share. Keep the debrief on the following slide hidden until they finish. Ask for one rewritten sentence, one missing uncertainty item, and one targeted check. Circulate or pause so the room actually has working time. If students finish early, ask whether agreement is independent when the model frequency was fitted to the same measured record. The objective is to practice a defensible claim, not to find a predetermined explanation for the discrepancy.</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46–48 minutes (2 minutes)</a:t>
            </a:r>
          </a:p>
          <a:p xmlns:a="http://schemas.openxmlformats.org/drawingml/2006/main">
            <a:r>
              <a:t/>
            </a:r>
          </a:p>
          <a:p xmlns:a="http://schemas.openxmlformats.org/drawingml/2006/main">
            <a:r>
              <a:t>Invite a student to read their sentence, then compare it with the example. Emphasize that two percent is a calculated discrepancy, not a universal pass criterion. A valid discussion separates what the data demonstrate from possible explanations. A check should target a mechanism that could change the result. For example, confirming the camera frame rate tests a timing-scale error. Repeating the estimate on several intervals tests stability of the estimate. These are more useful than a promise to be more careful. If time permits, ask which portions belong in Results, Comparison, and Discussion.</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48–49 minutes (1 minutes)</a:t>
            </a:r>
          </a:p>
          <a:p xmlns:a="http://schemas.openxmlformats.org/drawingml/2006/main">
            <a:r>
              <a:t/>
            </a:r>
          </a:p>
          <a:p xmlns:a="http://schemas.openxmlformats.org/drawingml/2006/main">
            <a:r>
              <a:t>Point to the current syllabus and remind students that the schedule is tentative. There is no laboratory during the first two weeks. The first laboratory week is September 21 through 25. The Lab 1 report is due October 5 at 11:59 PM. The other report dates in the syllabus are November 2 for Labs 2 and 3, December 7 for Labs 4 and 5, and December 14 for Lab 6. The syllabus places the December 7 due-date text in a November row, so read the explicit date and follow Canvas updates.</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49–50 minutes (1 minutes)</a:t>
            </a:r>
          </a:p>
          <a:p xmlns:a="http://schemas.openxmlformats.org/drawingml/2006/main">
            <a:r>
              <a:t/>
            </a:r>
          </a:p>
          <a:p xmlns:a="http://schemas.openxmlformats.org/drawingml/2006/main">
            <a:r>
              <a:t>Close with one student answer to the opening trust question. A complete answer can mention the sampling rate, record duration, calibration, analysis method, model assumptions, and uncertainty. Ask students to locate the syllabus and report template before the next meeting. Remind them that public course materials are on GitHub and submissions, deadlines updates, and grades stay in Canvas. Leave any remaining seconds for a practical question about the first laboratory. Remind students that Pre-lab 1 is normally posted on Canvas on Monday before the Lab 1 week and is due before their own section begins.</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52ce3e63413499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a8fc67ee53149b0" /><Relationship Type="http://schemas.openxmlformats.org/officeDocument/2006/relationships/slideLayout" Target="/ppt/slideLayouts/slideLayout1.xml" Id="R106b3557f06f485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06b3557f06f485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7d163cc223c4f68" /><Relationship Type="http://schemas.openxmlformats.org/officeDocument/2006/relationships/notesSlide" Target="/ppt/notesSlides/notesSlide1.xml" Id="Red18baf544fd46f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e02a5cedffd4894" /><Relationship Type="http://schemas.openxmlformats.org/officeDocument/2006/relationships/notesSlide" Target="/ppt/notesSlides/notesSlide2.xml" Id="R1d9814012aa64a1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372a259b1734234" /><Relationship Type="http://schemas.openxmlformats.org/officeDocument/2006/relationships/notesSlide" Target="/ppt/notesSlides/notesSlide3.xml" Id="R1b9c26670eb54c4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9a95adc5ddb4395" /><Relationship Type="http://schemas.openxmlformats.org/officeDocument/2006/relationships/notesSlide" Target="/ppt/notesSlides/notesSlide4.xml" Id="Rb5aabdeb225c43b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7f987f74f7c4fcb" /><Relationship Type="http://schemas.openxmlformats.org/officeDocument/2006/relationships/chart" Target="/ppt/slides/charts/chart1.xml" Id="R5615ce2415144fbd" /><Relationship Type="http://schemas.openxmlformats.org/officeDocument/2006/relationships/notesSlide" Target="/ppt/notesSlides/notesSlide5.xml" Id="Raf44ea228860456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1d0d437727b4fa6" /><Relationship Type="http://schemas.openxmlformats.org/officeDocument/2006/relationships/notesSlide" Target="/ppt/notesSlides/notesSlide6.xml" Id="R6d75bff05cf943c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d25e7d042974444" /><Relationship Type="http://schemas.openxmlformats.org/officeDocument/2006/relationships/notesSlide" Target="/ppt/notesSlides/notesSlide7.xml" Id="Re287c6ff1d084dd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d4a496094754a86" /><Relationship Type="http://schemas.openxmlformats.org/officeDocument/2006/relationships/image" Target="/ppt/media/image.jpeg" Id="R98a19d64009b4279" /><Relationship Type="http://schemas.openxmlformats.org/officeDocument/2006/relationships/notesSlide" Target="/ppt/notesSlides/notesSlide8.xml" Id="R575f1ce37b534df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90c190ee56d4781" /><Relationship Type="http://schemas.openxmlformats.org/officeDocument/2006/relationships/notesSlide" Target="/ppt/notesSlides/notesSlide9.xml" Id="R962fb2ada523404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a6564a9f6174da6" /><Relationship Type="http://schemas.openxmlformats.org/officeDocument/2006/relationships/image" Target="/ppt/media/image2.jpeg" Id="Ra80ef90dba174194" /><Relationship Type="http://schemas.openxmlformats.org/officeDocument/2006/relationships/notesSlide" Target="/ppt/notesSlides/notesSlide10.xml" Id="R83b015a54c02496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8bdc6aad13440e2" /><Relationship Type="http://schemas.openxmlformats.org/officeDocument/2006/relationships/notesSlide" Target="/ppt/notesSlides/notesSlide11.xml" Id="Rfec14a015868488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c325698607645ff" /><Relationship Type="http://schemas.openxmlformats.org/officeDocument/2006/relationships/image" Target="/ppt/media/image3.jpeg" Id="R57f2d07817fe4515" /><Relationship Type="http://schemas.openxmlformats.org/officeDocument/2006/relationships/notesSlide" Target="/ppt/notesSlides/notesSlide12.xml" Id="R500a7275e445410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ac7f35a93854207" /><Relationship Type="http://schemas.openxmlformats.org/officeDocument/2006/relationships/notesSlide" Target="/ppt/notesSlides/notesSlide13.xml" Id="R396aee5dec9849f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4a33ca7ff224e7f" /><Relationship Type="http://schemas.openxmlformats.org/officeDocument/2006/relationships/image" Target="/ppt/media/image4.jpeg" Id="R8c9d29e172794d20" /><Relationship Type="http://schemas.openxmlformats.org/officeDocument/2006/relationships/notesSlide" Target="/ppt/notesSlides/notesSlide14.xml" Id="R98bad6f8a72649f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8cbfeed93e94fbb" /><Relationship Type="http://schemas.openxmlformats.org/officeDocument/2006/relationships/notesSlide" Target="/ppt/notesSlides/notesSlide15.xml" Id="R91acb8bdb6a347b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b88b03d4f6c4c0d" /><Relationship Type="http://schemas.openxmlformats.org/officeDocument/2006/relationships/image" Target="/ppt/media/image5.jpeg" Id="R2aa7023a0fc946b0" /><Relationship Type="http://schemas.openxmlformats.org/officeDocument/2006/relationships/notesSlide" Target="/ppt/notesSlides/notesSlide16.xml" Id="Rd6583037e7f04cb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cacb59b6cfa45ea" /><Relationship Type="http://schemas.openxmlformats.org/officeDocument/2006/relationships/notesSlide" Target="/ppt/notesSlides/notesSlide17.xml" Id="R7407b3095c2f4b1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0e8d8357b2944a6" /><Relationship Type="http://schemas.openxmlformats.org/officeDocument/2006/relationships/image" Target="/ppt/media/image6.jpeg" Id="R9559377af68f45ea" /><Relationship Type="http://schemas.openxmlformats.org/officeDocument/2006/relationships/notesSlide" Target="/ppt/notesSlides/notesSlide18.xml" Id="Rc8495f494cc64b0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d8f9347cd234f7c" /><Relationship Type="http://schemas.openxmlformats.org/officeDocument/2006/relationships/notesSlide" Target="/ppt/notesSlides/notesSlide19.xml" Id="R809d8bd58bb5465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b35aed2b672243a4" /><Relationship Type="http://schemas.openxmlformats.org/officeDocument/2006/relationships/notesSlide" Target="/ppt/notesSlides/notesSlide20.xml" Id="R1b9e8496b1e241b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81e0ddcd6334469" /><Relationship Type="http://schemas.openxmlformats.org/officeDocument/2006/relationships/notesSlide" Target="/ppt/notesSlides/notesSlide21.xml" Id="Rb1c6f8e7ae074a1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7465639a2784554" /><Relationship Type="http://schemas.openxmlformats.org/officeDocument/2006/relationships/notesSlide" Target="/ppt/notesSlides/notesSlide22.xml" Id="Refbde8fa9ff04be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6d386f18e1424714" /><Relationship Type="http://schemas.openxmlformats.org/officeDocument/2006/relationships/notesSlide" Target="/ppt/notesSlides/notesSlide23.xml" Id="Rc5a5c9fb3d6a405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4bde1aa19cfb42a6" /><Relationship Type="http://schemas.openxmlformats.org/officeDocument/2006/relationships/notesSlide" Target="/ppt/notesSlides/notesSlide24.xml" Id="R3935be08bbd44cf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d1356bab42f54e3d" /><Relationship Type="http://schemas.openxmlformats.org/officeDocument/2006/relationships/notesSlide" Target="/ppt/notesSlides/notesSlide25.xml" Id="Rf9f28abf52d8408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ab7e0c3403fe45b1" /><Relationship Type="http://schemas.openxmlformats.org/officeDocument/2006/relationships/chart" Target="/ppt/slides/charts/chart2.xml" Id="Reb1618f0792d4afc" /><Relationship Type="http://schemas.openxmlformats.org/officeDocument/2006/relationships/notesSlide" Target="/ppt/notesSlides/notesSlide26.xml" Id="R4b86a8b5a54243c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305cc2584a4f4ced" /><Relationship Type="http://schemas.openxmlformats.org/officeDocument/2006/relationships/notesSlide" Target="/ppt/notesSlides/notesSlide27.xml" Id="Ra3e92bf007e8404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a653b39d7fad4c3c" /><Relationship Type="http://schemas.openxmlformats.org/officeDocument/2006/relationships/notesSlide" Target="/ppt/notesSlides/notesSlide28.xml" Id="R0ea1620ce17f471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dcb303f317ec4842" /><Relationship Type="http://schemas.openxmlformats.org/officeDocument/2006/relationships/notesSlide" Target="/ppt/notesSlides/notesSlide29.xml" Id="R0319ff00c251474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e3264fb81277413a" /><Relationship Type="http://schemas.openxmlformats.org/officeDocument/2006/relationships/notesSlide" Target="/ppt/notesSlides/notesSlide30.xml" Id="Rcdfe6e0c3dde4221"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38fb43b48d7a4284" /><Relationship Type="http://schemas.openxmlformats.org/officeDocument/2006/relationships/notesSlide" Target="/ppt/notesSlides/notesSlide31.xml" Id="R96f67bee08844fa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10214dd9f63e40a7" /><Relationship Type="http://schemas.openxmlformats.org/officeDocument/2006/relationships/notesSlide" Target="/ppt/notesSlides/notesSlide32.xml" Id="Rc6a2c57eaef04673"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016e4c0635bc438c" /><Relationship Type="http://schemas.openxmlformats.org/officeDocument/2006/relationships/notesSlide" Target="/ppt/notesSlides/notesSlide33.xml" Id="R7fa6064d52c8417e"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98aef1a4426a4b70" /><Relationship Type="http://schemas.openxmlformats.org/officeDocument/2006/relationships/notesSlide" Target="/ppt/notesSlides/notesSlide34.xml" Id="R90ffa31c4c2c443e"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07e2e4bace654110" /><Relationship Type="http://schemas.openxmlformats.org/officeDocument/2006/relationships/notesSlide" Target="/ppt/notesSlides/notesSlide35.xml" Id="R374a3c19b9754a99"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0ccc543457584fd7" /><Relationship Type="http://schemas.openxmlformats.org/officeDocument/2006/relationships/notesSlide" Target="/ppt/notesSlides/notesSlide36.xml" Id="R0c87415188cd45c4"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5e72506136d14c22" /><Relationship Type="http://schemas.openxmlformats.org/officeDocument/2006/relationships/notesSlide" Target="/ppt/notesSlides/notesSlide37.xml" Id="R99069f76858f48fe"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Weight</c:v>
          </c:tx>
          <c:spPr>
            <a:solidFill xmlns:a="http://schemas.openxmlformats.org/drawingml/2006/main">
              <a:srgbClr val="881C1C"/>
            </a:solidFill>
          </c:spPr>
          <c:cat>
            <c:strRef>
              <c:f>'Chart Data'!$A$2:$A$7</c:f>
              <c:strCache>
                <c:ptCount val="6"/>
                <c:pt idx="0">
                  <c:v>Pre-labs</c:v>
                </c:pt>
                <c:pt idx="1">
                  <c:v>Lab 1 report</c:v>
                </c:pt>
                <c:pt idx="2">
                  <c:v>Labs 2+3</c:v>
                </c:pt>
                <c:pt idx="3">
                  <c:v>Labs 4+5</c:v>
                </c:pt>
                <c:pt idx="4">
                  <c:v>Lab 6 report</c:v>
                </c:pt>
                <c:pt idx="5">
                  <c:v>Participation</c:v>
                </c:pt>
              </c:strCache>
            </c:strRef>
          </c:cat>
          <c:val>
            <c:numRef>
              <c:f>'Chart Data'!$B$2:$B$7</c:f>
              <c:numCache>
                <c:formatCode>General</c:formatCode>
                <c:ptCount val="6"/>
                <c:pt idx="0">
                  <c:v>20</c:v>
                </c:pt>
                <c:pt idx="1">
                  <c:v>10</c:v>
                </c:pt>
                <c:pt idx="2">
                  <c:v>25</c:v>
                </c:pt>
                <c:pt idx="3">
                  <c:v>25</c:v>
                </c:pt>
                <c:pt idx="4">
                  <c:v>15</c:v>
                </c:pt>
                <c:pt idx="5">
                  <c:v>5</c:v>
                </c:pt>
              </c:numCache>
            </c:numRef>
          </c:val>
        </c:ser>
        <c:dLbls>
          <c:txPr>
            <a:bodyPr xmlns:a="http://schemas.openxmlformats.org/drawingml/2006/main" anchorCtr="1"/>
            <a:lstStyle xmlns:a="http://schemas.openxmlformats.org/drawingml/2006/main"/>
            <a:p xmlns:a="http://schemas.openxmlformats.org/drawingml/2006/main">
              <a:pPr>
                <a:defRPr sz="1200" b="1">
                  <a:solidFill>
                    <a:srgbClr val="111111"/>
                  </a:solidFill>
                </a:defRPr>
              </a:pPr>
            </a:p>
          </c:txPr>
          <c:dLblPos val="outEnd"/>
          <c:showLegendKey val="0"/>
          <c:showVal val="1"/>
          <c:showCatName val="0"/>
          <c:showSerName val="0"/>
          <c:showPercent val="0"/>
          <c:showBubbleSize val="0"/>
          <c:showLeaderLines val="0"/>
        </c:dLbls>
        <c:gapWidth val="48"/>
        <c:axId val="48650112"/>
        <c:axId val="48672768"/>
      </c:barChart>
      <c:catAx>
        <c:axId val="48650112"/>
        <c:scaling>
          <c:orientation val="minMax"/>
        </c:scaling>
        <c:delete val="0"/>
        <c:axPos val="l"/>
        <c:majorGridlines>
          <c:spPr>
            <a:ln xmlns:a="http://schemas.openxmlformats.org/drawingml/2006/main" w="9525">
              <a:solidFill>
                <a:srgbClr val="E0E0E0"/>
              </a:solidFill>
              <a:prstDash val="solid"/>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5F6368"/>
                </a:solidFil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C8CBD0"/>
            </a:solidFill>
            <a:prstDash val="solid"/>
          </a:ln>
        </c:spPr>
        <c:txPr>
          <a:bodyPr xmlns:a="http://schemas.openxmlformats.org/drawingml/2006/main" anchorCtr="1"/>
          <a:lstStyle xmlns:a="http://schemas.openxmlformats.org/drawingml/2006/main"/>
          <a:p xmlns:a="http://schemas.openxmlformats.org/drawingml/2006/main">
            <a:pPr>
              <a:defRPr sz="1200">
                <a:solidFill>
                  <a:srgbClr val="111111"/>
                </a:solidFil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
        <c:ser>
          <c:idx val="0"/>
          <c:order val="0"/>
          <c:tx>
            <c:v>Undamped model</c:v>
          </c:tx>
          <c:spPr>
            <a:ln xmlns:a="http://schemas.openxmlformats.org/drawingml/2006/main" w="23813">
              <a:solidFill>
                <a:srgbClr val="881C1C"/>
              </a:solidFill>
            </a:ln>
          </c:spPr>
          <c:marker>
            <c:symbol val="none"/>
          </c:marker>
          <c:xVal>
            <c:numRef>
              <c:f>'Chart Data'!$A$2:$A$102</c:f>
              <c:numCache>
                <c:formatCode>General</c:formatCode>
                <c:ptCount val="101"/>
                <c:pt idx="0">
                  <c:v>0</c:v>
                </c:pt>
                <c:pt idx="1">
                  <c:v>0.02</c:v>
                </c:pt>
                <c:pt idx="2">
                  <c:v>0.04</c:v>
                </c:pt>
                <c:pt idx="3">
                  <c:v>0.06</c:v>
                </c:pt>
                <c:pt idx="4">
                  <c:v>0.08</c:v>
                </c:pt>
                <c:pt idx="5">
                  <c:v>0.1</c:v>
                </c:pt>
                <c:pt idx="6">
                  <c:v>0.12</c:v>
                </c:pt>
                <c:pt idx="7">
                  <c:v>0.14</c:v>
                </c:pt>
                <c:pt idx="8">
                  <c:v>0.16</c:v>
                </c:pt>
                <c:pt idx="9">
                  <c:v>0.18</c:v>
                </c:pt>
                <c:pt idx="10">
                  <c:v>0.2</c:v>
                </c:pt>
                <c:pt idx="11">
                  <c:v>0.22</c:v>
                </c:pt>
                <c:pt idx="12">
                  <c:v>0.24</c:v>
                </c:pt>
                <c:pt idx="13">
                  <c:v>0.26</c:v>
                </c:pt>
                <c:pt idx="14">
                  <c:v>0.28</c:v>
                </c:pt>
                <c:pt idx="15">
                  <c:v>0.3</c:v>
                </c:pt>
                <c:pt idx="16">
                  <c:v>0.32</c:v>
                </c:pt>
                <c:pt idx="17">
                  <c:v>0.34</c:v>
                </c:pt>
                <c:pt idx="18">
                  <c:v>0.36</c:v>
                </c:pt>
                <c:pt idx="19">
                  <c:v>0.38</c:v>
                </c:pt>
                <c:pt idx="20">
                  <c:v>0.4</c:v>
                </c:pt>
                <c:pt idx="21">
                  <c:v>0.42</c:v>
                </c:pt>
                <c:pt idx="22">
                  <c:v>0.44</c:v>
                </c:pt>
                <c:pt idx="23">
                  <c:v>0.46</c:v>
                </c:pt>
                <c:pt idx="24">
                  <c:v>0.48</c:v>
                </c:pt>
                <c:pt idx="25">
                  <c:v>0.5</c:v>
                </c:pt>
                <c:pt idx="26">
                  <c:v>0.52</c:v>
                </c:pt>
                <c:pt idx="27">
                  <c:v>0.54</c:v>
                </c:pt>
                <c:pt idx="28">
                  <c:v>0.56</c:v>
                </c:pt>
                <c:pt idx="29">
                  <c:v>0.58</c:v>
                </c:pt>
                <c:pt idx="30">
                  <c:v>0.6</c:v>
                </c:pt>
                <c:pt idx="31">
                  <c:v>0.62</c:v>
                </c:pt>
                <c:pt idx="32">
                  <c:v>0.64</c:v>
                </c:pt>
                <c:pt idx="33">
                  <c:v>0.66</c:v>
                </c:pt>
                <c:pt idx="34">
                  <c:v>0.68</c:v>
                </c:pt>
                <c:pt idx="35">
                  <c:v>0.7</c:v>
                </c:pt>
                <c:pt idx="36">
                  <c:v>0.72</c:v>
                </c:pt>
                <c:pt idx="37">
                  <c:v>0.74</c:v>
                </c:pt>
                <c:pt idx="38">
                  <c:v>0.76</c:v>
                </c:pt>
                <c:pt idx="39">
                  <c:v>0.78</c:v>
                </c:pt>
                <c:pt idx="40">
                  <c:v>0.8</c:v>
                </c:pt>
                <c:pt idx="41">
                  <c:v>0.82</c:v>
                </c:pt>
                <c:pt idx="42">
                  <c:v>0.84</c:v>
                </c:pt>
                <c:pt idx="43">
                  <c:v>0.86</c:v>
                </c:pt>
                <c:pt idx="44">
                  <c:v>0.88</c:v>
                </c:pt>
                <c:pt idx="45">
                  <c:v>0.9</c:v>
                </c:pt>
                <c:pt idx="46">
                  <c:v>0.92</c:v>
                </c:pt>
                <c:pt idx="47">
                  <c:v>0.94</c:v>
                </c:pt>
                <c:pt idx="48">
                  <c:v>0.96</c:v>
                </c:pt>
                <c:pt idx="49">
                  <c:v>0.98</c:v>
                </c:pt>
                <c:pt idx="50">
                  <c:v>1</c:v>
                </c:pt>
                <c:pt idx="51">
                  <c:v>1.02</c:v>
                </c:pt>
                <c:pt idx="52">
                  <c:v>1.04</c:v>
                </c:pt>
                <c:pt idx="53">
                  <c:v>1.06</c:v>
                </c:pt>
                <c:pt idx="54">
                  <c:v>1.08</c:v>
                </c:pt>
                <c:pt idx="55">
                  <c:v>1.1</c:v>
                </c:pt>
                <c:pt idx="56">
                  <c:v>1.12</c:v>
                </c:pt>
                <c:pt idx="57">
                  <c:v>1.14</c:v>
                </c:pt>
                <c:pt idx="58">
                  <c:v>1.16</c:v>
                </c:pt>
                <c:pt idx="59">
                  <c:v>1.18</c:v>
                </c:pt>
                <c:pt idx="60">
                  <c:v>1.2</c:v>
                </c:pt>
                <c:pt idx="61">
                  <c:v>1.22</c:v>
                </c:pt>
                <c:pt idx="62">
                  <c:v>1.24</c:v>
                </c:pt>
                <c:pt idx="63">
                  <c:v>1.26</c:v>
                </c:pt>
                <c:pt idx="64">
                  <c:v>1.28</c:v>
                </c:pt>
                <c:pt idx="65">
                  <c:v>1.3</c:v>
                </c:pt>
                <c:pt idx="66">
                  <c:v>1.32</c:v>
                </c:pt>
                <c:pt idx="67">
                  <c:v>1.34</c:v>
                </c:pt>
                <c:pt idx="68">
                  <c:v>1.36</c:v>
                </c:pt>
                <c:pt idx="69">
                  <c:v>1.38</c:v>
                </c:pt>
                <c:pt idx="70">
                  <c:v>1.4</c:v>
                </c:pt>
                <c:pt idx="71">
                  <c:v>1.42</c:v>
                </c:pt>
                <c:pt idx="72">
                  <c:v>1.44</c:v>
                </c:pt>
                <c:pt idx="73">
                  <c:v>1.46</c:v>
                </c:pt>
                <c:pt idx="74">
                  <c:v>1.48</c:v>
                </c:pt>
                <c:pt idx="75">
                  <c:v>1.5</c:v>
                </c:pt>
                <c:pt idx="76">
                  <c:v>1.52</c:v>
                </c:pt>
                <c:pt idx="77">
                  <c:v>1.54</c:v>
                </c:pt>
                <c:pt idx="78">
                  <c:v>1.56</c:v>
                </c:pt>
                <c:pt idx="79">
                  <c:v>1.58</c:v>
                </c:pt>
                <c:pt idx="80">
                  <c:v>1.6</c:v>
                </c:pt>
                <c:pt idx="81">
                  <c:v>1.62</c:v>
                </c:pt>
                <c:pt idx="82">
                  <c:v>1.64</c:v>
                </c:pt>
                <c:pt idx="83">
                  <c:v>1.66</c:v>
                </c:pt>
                <c:pt idx="84">
                  <c:v>1.68</c:v>
                </c:pt>
                <c:pt idx="85">
                  <c:v>1.7</c:v>
                </c:pt>
                <c:pt idx="86">
                  <c:v>1.72</c:v>
                </c:pt>
                <c:pt idx="87">
                  <c:v>1.74</c:v>
                </c:pt>
                <c:pt idx="88">
                  <c:v>1.76</c:v>
                </c:pt>
                <c:pt idx="89">
                  <c:v>1.78</c:v>
                </c:pt>
                <c:pt idx="90">
                  <c:v>1.8</c:v>
                </c:pt>
                <c:pt idx="91">
                  <c:v>1.82</c:v>
                </c:pt>
                <c:pt idx="92">
                  <c:v>1.84</c:v>
                </c:pt>
                <c:pt idx="93">
                  <c:v>1.86</c:v>
                </c:pt>
                <c:pt idx="94">
                  <c:v>1.88</c:v>
                </c:pt>
                <c:pt idx="95">
                  <c:v>1.9</c:v>
                </c:pt>
                <c:pt idx="96">
                  <c:v>1.92</c:v>
                </c:pt>
                <c:pt idx="97">
                  <c:v>1.94</c:v>
                </c:pt>
                <c:pt idx="98">
                  <c:v>1.96</c:v>
                </c:pt>
                <c:pt idx="99">
                  <c:v>1.98</c:v>
                </c:pt>
                <c:pt idx="100">
                  <c:v>2</c:v>
                </c:pt>
              </c:numCache>
            </c:numRef>
          </c:xVal>
          <c:yVal>
            <c:numRef>
              <c:f>'Chart Data'!$B$2:$B$102</c:f>
              <c:numCache>
                <c:formatCode>0</c:formatCode>
                <c:ptCount val="101"/>
                <c:pt idx="0">
                  <c:v>5</c:v>
                </c:pt>
                <c:pt idx="1">
                  <c:v>4.911436</c:v>
                </c:pt>
                <c:pt idx="2">
                  <c:v>4.648882</c:v>
                </c:pt>
                <c:pt idx="3">
                  <c:v>4.22164</c:v>
                </c:pt>
                <c:pt idx="4">
                  <c:v>3.644843</c:v>
                </c:pt>
                <c:pt idx="5">
                  <c:v>2.938926</c:v>
                </c:pt>
                <c:pt idx="6">
                  <c:v>2.128896</c:v>
                </c:pt>
                <c:pt idx="7">
                  <c:v>1.243449</c:v>
                </c:pt>
                <c:pt idx="8">
                  <c:v>0.313953</c:v>
                </c:pt>
                <c:pt idx="9">
                  <c:v>-0.626666</c:v>
                </c:pt>
                <c:pt idx="10">
                  <c:v>-1.545085</c:v>
                </c:pt>
                <c:pt idx="11">
                  <c:v>-2.408768</c:v>
                </c:pt>
                <c:pt idx="12">
                  <c:v>-3.18712</c:v>
                </c:pt>
                <c:pt idx="13">
                  <c:v>-3.852566</c:v>
                </c:pt>
                <c:pt idx="14">
                  <c:v>-4.381533</c:v>
                </c:pt>
                <c:pt idx="15">
                  <c:v>-4.755283</c:v>
                </c:pt>
                <c:pt idx="16">
                  <c:v>-4.960574</c:v>
                </c:pt>
                <c:pt idx="17">
                  <c:v>-4.990134</c:v>
                </c:pt>
                <c:pt idx="18">
                  <c:v>-4.842916</c:v>
                </c:pt>
                <c:pt idx="19">
                  <c:v>-4.524135</c:v>
                </c:pt>
                <c:pt idx="20">
                  <c:v>-4.045085</c:v>
                </c:pt>
                <c:pt idx="21">
                  <c:v>-3.422736</c:v>
                </c:pt>
                <c:pt idx="22">
                  <c:v>-2.679134</c:v>
                </c:pt>
                <c:pt idx="23">
                  <c:v>-1.840623</c:v>
                </c:pt>
                <c:pt idx="24">
                  <c:v>-0.936907</c:v>
                </c:pt>
                <c:pt idx="25">
                  <c:v>-0</c:v>
                </c:pt>
                <c:pt idx="26">
                  <c:v>0.936907</c:v>
                </c:pt>
                <c:pt idx="27">
                  <c:v>1.840623</c:v>
                </c:pt>
                <c:pt idx="28">
                  <c:v>2.679134</c:v>
                </c:pt>
                <c:pt idx="29">
                  <c:v>3.422736</c:v>
                </c:pt>
                <c:pt idx="30">
                  <c:v>4.045085</c:v>
                </c:pt>
                <c:pt idx="31">
                  <c:v>4.524135</c:v>
                </c:pt>
                <c:pt idx="32">
                  <c:v>4.842916</c:v>
                </c:pt>
                <c:pt idx="33">
                  <c:v>4.990134</c:v>
                </c:pt>
                <c:pt idx="34">
                  <c:v>4.960574</c:v>
                </c:pt>
                <c:pt idx="35">
                  <c:v>4.755283</c:v>
                </c:pt>
                <c:pt idx="36">
                  <c:v>4.381533</c:v>
                </c:pt>
                <c:pt idx="37">
                  <c:v>3.852566</c:v>
                </c:pt>
                <c:pt idx="38">
                  <c:v>3.18712</c:v>
                </c:pt>
                <c:pt idx="39">
                  <c:v>2.408768</c:v>
                </c:pt>
                <c:pt idx="40">
                  <c:v>1.545085</c:v>
                </c:pt>
                <c:pt idx="41">
                  <c:v>0.626666</c:v>
                </c:pt>
                <c:pt idx="42">
                  <c:v>-0.313953</c:v>
                </c:pt>
                <c:pt idx="43">
                  <c:v>-1.243449</c:v>
                </c:pt>
                <c:pt idx="44">
                  <c:v>-2.128896</c:v>
                </c:pt>
                <c:pt idx="45">
                  <c:v>-2.938926</c:v>
                </c:pt>
                <c:pt idx="46">
                  <c:v>-3.644843</c:v>
                </c:pt>
                <c:pt idx="47">
                  <c:v>-4.22164</c:v>
                </c:pt>
                <c:pt idx="48">
                  <c:v>-4.648882</c:v>
                </c:pt>
                <c:pt idx="49">
                  <c:v>-4.911436</c:v>
                </c:pt>
                <c:pt idx="50">
                  <c:v>-5</c:v>
                </c:pt>
                <c:pt idx="51">
                  <c:v>-4.911436</c:v>
                </c:pt>
                <c:pt idx="52">
                  <c:v>-4.648882</c:v>
                </c:pt>
                <c:pt idx="53">
                  <c:v>-4.22164</c:v>
                </c:pt>
                <c:pt idx="54">
                  <c:v>-3.644843</c:v>
                </c:pt>
                <c:pt idx="55">
                  <c:v>-2.938926</c:v>
                </c:pt>
                <c:pt idx="56">
                  <c:v>-2.128896</c:v>
                </c:pt>
                <c:pt idx="57">
                  <c:v>-1.243449</c:v>
                </c:pt>
                <c:pt idx="58">
                  <c:v>-0.313953</c:v>
                </c:pt>
                <c:pt idx="59">
                  <c:v>0.626666</c:v>
                </c:pt>
                <c:pt idx="60">
                  <c:v>1.545085</c:v>
                </c:pt>
                <c:pt idx="61">
                  <c:v>2.408768</c:v>
                </c:pt>
                <c:pt idx="62">
                  <c:v>3.18712</c:v>
                </c:pt>
                <c:pt idx="63">
                  <c:v>3.852566</c:v>
                </c:pt>
                <c:pt idx="64">
                  <c:v>4.381533</c:v>
                </c:pt>
                <c:pt idx="65">
                  <c:v>4.755283</c:v>
                </c:pt>
                <c:pt idx="66">
                  <c:v>4.960574</c:v>
                </c:pt>
                <c:pt idx="67">
                  <c:v>4.990134</c:v>
                </c:pt>
                <c:pt idx="68">
                  <c:v>4.842916</c:v>
                </c:pt>
                <c:pt idx="69">
                  <c:v>4.524135</c:v>
                </c:pt>
                <c:pt idx="70">
                  <c:v>4.045085</c:v>
                </c:pt>
                <c:pt idx="71">
                  <c:v>3.422736</c:v>
                </c:pt>
                <c:pt idx="72">
                  <c:v>2.679134</c:v>
                </c:pt>
                <c:pt idx="73">
                  <c:v>1.840623</c:v>
                </c:pt>
                <c:pt idx="74">
                  <c:v>0.936907</c:v>
                </c:pt>
                <c:pt idx="75">
                  <c:v>0</c:v>
                </c:pt>
                <c:pt idx="76">
                  <c:v>-0.936907</c:v>
                </c:pt>
                <c:pt idx="77">
                  <c:v>-1.840623</c:v>
                </c:pt>
                <c:pt idx="78">
                  <c:v>-2.679134</c:v>
                </c:pt>
                <c:pt idx="79">
                  <c:v>-3.422736</c:v>
                </c:pt>
                <c:pt idx="80">
                  <c:v>-4.045085</c:v>
                </c:pt>
                <c:pt idx="81">
                  <c:v>-4.524135</c:v>
                </c:pt>
                <c:pt idx="82">
                  <c:v>-4.842916</c:v>
                </c:pt>
                <c:pt idx="83">
                  <c:v>-4.990134</c:v>
                </c:pt>
                <c:pt idx="84">
                  <c:v>-4.960574</c:v>
                </c:pt>
                <c:pt idx="85">
                  <c:v>-4.755283</c:v>
                </c:pt>
                <c:pt idx="86">
                  <c:v>-4.381533</c:v>
                </c:pt>
                <c:pt idx="87">
                  <c:v>-3.852566</c:v>
                </c:pt>
                <c:pt idx="88">
                  <c:v>-3.18712</c:v>
                </c:pt>
                <c:pt idx="89">
                  <c:v>-2.408768</c:v>
                </c:pt>
                <c:pt idx="90">
                  <c:v>-1.545085</c:v>
                </c:pt>
                <c:pt idx="91">
                  <c:v>-0.626666</c:v>
                </c:pt>
                <c:pt idx="92">
                  <c:v>0.313953</c:v>
                </c:pt>
                <c:pt idx="93">
                  <c:v>1.243449</c:v>
                </c:pt>
                <c:pt idx="94">
                  <c:v>2.128896</c:v>
                </c:pt>
                <c:pt idx="95">
                  <c:v>2.938926</c:v>
                </c:pt>
                <c:pt idx="96">
                  <c:v>3.644843</c:v>
                </c:pt>
                <c:pt idx="97">
                  <c:v>4.22164</c:v>
                </c:pt>
                <c:pt idx="98">
                  <c:v>4.648882</c:v>
                </c:pt>
                <c:pt idx="99">
                  <c:v>4.911436</c:v>
                </c:pt>
                <c:pt idx="100">
                  <c:v>5</c:v>
                </c:pt>
              </c:numCache>
            </c:numRef>
          </c:yVal>
        </c:ser>
        <c:ser>
          <c:idx val="1"/>
          <c:order val="1"/>
          <c:tx>
            <c:v>Synthetic signal</c:v>
          </c:tx>
          <c:spPr>
            <a:ln xmlns:a="http://schemas.openxmlformats.org/drawingml/2006/main" w="23813">
              <a:solidFill>
                <a:srgbClr val="286BB0"/>
              </a:solidFill>
            </a:ln>
          </c:spPr>
          <c:marker>
            <c:symbol val="none"/>
          </c:marker>
          <c:xVal>
            <c:numRef>
              <c:f>'Chart Data'!$C$2:$C$102</c:f>
              <c:numCache>
                <c:formatCode>General</c:formatCode>
                <c:ptCount val="101"/>
                <c:pt idx="0">
                  <c:v>0</c:v>
                </c:pt>
                <c:pt idx="1">
                  <c:v>0.02</c:v>
                </c:pt>
                <c:pt idx="2">
                  <c:v>0.04</c:v>
                </c:pt>
                <c:pt idx="3">
                  <c:v>0.06</c:v>
                </c:pt>
                <c:pt idx="4">
                  <c:v>0.08</c:v>
                </c:pt>
                <c:pt idx="5">
                  <c:v>0.1</c:v>
                </c:pt>
                <c:pt idx="6">
                  <c:v>0.12</c:v>
                </c:pt>
                <c:pt idx="7">
                  <c:v>0.14</c:v>
                </c:pt>
                <c:pt idx="8">
                  <c:v>0.16</c:v>
                </c:pt>
                <c:pt idx="9">
                  <c:v>0.18</c:v>
                </c:pt>
                <c:pt idx="10">
                  <c:v>0.2</c:v>
                </c:pt>
                <c:pt idx="11">
                  <c:v>0.22</c:v>
                </c:pt>
                <c:pt idx="12">
                  <c:v>0.24</c:v>
                </c:pt>
                <c:pt idx="13">
                  <c:v>0.26</c:v>
                </c:pt>
                <c:pt idx="14">
                  <c:v>0.28</c:v>
                </c:pt>
                <c:pt idx="15">
                  <c:v>0.3</c:v>
                </c:pt>
                <c:pt idx="16">
                  <c:v>0.32</c:v>
                </c:pt>
                <c:pt idx="17">
                  <c:v>0.34</c:v>
                </c:pt>
                <c:pt idx="18">
                  <c:v>0.36</c:v>
                </c:pt>
                <c:pt idx="19">
                  <c:v>0.38</c:v>
                </c:pt>
                <c:pt idx="20">
                  <c:v>0.4</c:v>
                </c:pt>
                <c:pt idx="21">
                  <c:v>0.42</c:v>
                </c:pt>
                <c:pt idx="22">
                  <c:v>0.44</c:v>
                </c:pt>
                <c:pt idx="23">
                  <c:v>0.46</c:v>
                </c:pt>
                <c:pt idx="24">
                  <c:v>0.48</c:v>
                </c:pt>
                <c:pt idx="25">
                  <c:v>0.5</c:v>
                </c:pt>
                <c:pt idx="26">
                  <c:v>0.52</c:v>
                </c:pt>
                <c:pt idx="27">
                  <c:v>0.54</c:v>
                </c:pt>
                <c:pt idx="28">
                  <c:v>0.56</c:v>
                </c:pt>
                <c:pt idx="29">
                  <c:v>0.58</c:v>
                </c:pt>
                <c:pt idx="30">
                  <c:v>0.6</c:v>
                </c:pt>
                <c:pt idx="31">
                  <c:v>0.62</c:v>
                </c:pt>
                <c:pt idx="32">
                  <c:v>0.64</c:v>
                </c:pt>
                <c:pt idx="33">
                  <c:v>0.66</c:v>
                </c:pt>
                <c:pt idx="34">
                  <c:v>0.68</c:v>
                </c:pt>
                <c:pt idx="35">
                  <c:v>0.7</c:v>
                </c:pt>
                <c:pt idx="36">
                  <c:v>0.72</c:v>
                </c:pt>
                <c:pt idx="37">
                  <c:v>0.74</c:v>
                </c:pt>
                <c:pt idx="38">
                  <c:v>0.76</c:v>
                </c:pt>
                <c:pt idx="39">
                  <c:v>0.78</c:v>
                </c:pt>
                <c:pt idx="40">
                  <c:v>0.8</c:v>
                </c:pt>
                <c:pt idx="41">
                  <c:v>0.82</c:v>
                </c:pt>
                <c:pt idx="42">
                  <c:v>0.84</c:v>
                </c:pt>
                <c:pt idx="43">
                  <c:v>0.86</c:v>
                </c:pt>
                <c:pt idx="44">
                  <c:v>0.88</c:v>
                </c:pt>
                <c:pt idx="45">
                  <c:v>0.9</c:v>
                </c:pt>
                <c:pt idx="46">
                  <c:v>0.92</c:v>
                </c:pt>
                <c:pt idx="47">
                  <c:v>0.94</c:v>
                </c:pt>
                <c:pt idx="48">
                  <c:v>0.96</c:v>
                </c:pt>
                <c:pt idx="49">
                  <c:v>0.98</c:v>
                </c:pt>
                <c:pt idx="50">
                  <c:v>1</c:v>
                </c:pt>
                <c:pt idx="51">
                  <c:v>1.02</c:v>
                </c:pt>
                <c:pt idx="52">
                  <c:v>1.04</c:v>
                </c:pt>
                <c:pt idx="53">
                  <c:v>1.06</c:v>
                </c:pt>
                <c:pt idx="54">
                  <c:v>1.08</c:v>
                </c:pt>
                <c:pt idx="55">
                  <c:v>1.1</c:v>
                </c:pt>
                <c:pt idx="56">
                  <c:v>1.12</c:v>
                </c:pt>
                <c:pt idx="57">
                  <c:v>1.14</c:v>
                </c:pt>
                <c:pt idx="58">
                  <c:v>1.16</c:v>
                </c:pt>
                <c:pt idx="59">
                  <c:v>1.18</c:v>
                </c:pt>
                <c:pt idx="60">
                  <c:v>1.2</c:v>
                </c:pt>
                <c:pt idx="61">
                  <c:v>1.22</c:v>
                </c:pt>
                <c:pt idx="62">
                  <c:v>1.24</c:v>
                </c:pt>
                <c:pt idx="63">
                  <c:v>1.26</c:v>
                </c:pt>
                <c:pt idx="64">
                  <c:v>1.28</c:v>
                </c:pt>
                <c:pt idx="65">
                  <c:v>1.3</c:v>
                </c:pt>
                <c:pt idx="66">
                  <c:v>1.32</c:v>
                </c:pt>
                <c:pt idx="67">
                  <c:v>1.34</c:v>
                </c:pt>
                <c:pt idx="68">
                  <c:v>1.36</c:v>
                </c:pt>
                <c:pt idx="69">
                  <c:v>1.38</c:v>
                </c:pt>
                <c:pt idx="70">
                  <c:v>1.4</c:v>
                </c:pt>
                <c:pt idx="71">
                  <c:v>1.42</c:v>
                </c:pt>
                <c:pt idx="72">
                  <c:v>1.44</c:v>
                </c:pt>
                <c:pt idx="73">
                  <c:v>1.46</c:v>
                </c:pt>
                <c:pt idx="74">
                  <c:v>1.48</c:v>
                </c:pt>
                <c:pt idx="75">
                  <c:v>1.5</c:v>
                </c:pt>
                <c:pt idx="76">
                  <c:v>1.52</c:v>
                </c:pt>
                <c:pt idx="77">
                  <c:v>1.54</c:v>
                </c:pt>
                <c:pt idx="78">
                  <c:v>1.56</c:v>
                </c:pt>
                <c:pt idx="79">
                  <c:v>1.58</c:v>
                </c:pt>
                <c:pt idx="80">
                  <c:v>1.6</c:v>
                </c:pt>
                <c:pt idx="81">
                  <c:v>1.62</c:v>
                </c:pt>
                <c:pt idx="82">
                  <c:v>1.64</c:v>
                </c:pt>
                <c:pt idx="83">
                  <c:v>1.66</c:v>
                </c:pt>
                <c:pt idx="84">
                  <c:v>1.68</c:v>
                </c:pt>
                <c:pt idx="85">
                  <c:v>1.7</c:v>
                </c:pt>
                <c:pt idx="86">
                  <c:v>1.72</c:v>
                </c:pt>
                <c:pt idx="87">
                  <c:v>1.74</c:v>
                </c:pt>
                <c:pt idx="88">
                  <c:v>1.76</c:v>
                </c:pt>
                <c:pt idx="89">
                  <c:v>1.78</c:v>
                </c:pt>
                <c:pt idx="90">
                  <c:v>1.8</c:v>
                </c:pt>
                <c:pt idx="91">
                  <c:v>1.82</c:v>
                </c:pt>
                <c:pt idx="92">
                  <c:v>1.84</c:v>
                </c:pt>
                <c:pt idx="93">
                  <c:v>1.86</c:v>
                </c:pt>
                <c:pt idx="94">
                  <c:v>1.88</c:v>
                </c:pt>
                <c:pt idx="95">
                  <c:v>1.9</c:v>
                </c:pt>
                <c:pt idx="96">
                  <c:v>1.92</c:v>
                </c:pt>
                <c:pt idx="97">
                  <c:v>1.94</c:v>
                </c:pt>
                <c:pt idx="98">
                  <c:v>1.96</c:v>
                </c:pt>
                <c:pt idx="99">
                  <c:v>1.98</c:v>
                </c:pt>
                <c:pt idx="100">
                  <c:v>2</c:v>
                </c:pt>
              </c:numCache>
            </c:numRef>
          </c:xVal>
          <c:yVal>
            <c:numRef>
              <c:f>'Chart Data'!$D$2:$D$102</c:f>
              <c:numCache>
                <c:formatCode>0</c:formatCode>
                <c:ptCount val="101"/>
                <c:pt idx="0">
                  <c:v>5</c:v>
                </c:pt>
                <c:pt idx="1">
                  <c:v>4.870897</c:v>
                </c:pt>
                <c:pt idx="2">
                  <c:v>4.579452</c:v>
                </c:pt>
                <c:pt idx="3">
                  <c:v>4.13841</c:v>
                </c:pt>
                <c:pt idx="4">
                  <c:v>3.56535</c:v>
                </c:pt>
                <c:pt idx="5">
                  <c:v>2.881996</c:v>
                </c:pt>
                <c:pt idx="6">
                  <c:v>2.113415</c:v>
                </c:pt>
                <c:pt idx="7">
                  <c:v>1.287107</c:v>
                </c:pt>
                <c:pt idx="8">
                  <c:v>0.432032</c:v>
                </c:pt>
                <c:pt idx="9">
                  <c:v>-0.422392</c:v>
                </c:pt>
                <c:pt idx="10">
                  <c:v>-1.247296</c:v>
                </c:pt>
                <c:pt idx="11">
                  <c:v>-2.015324</c:v>
                </c:pt>
                <c:pt idx="12">
                  <c:v>-2.701529</c:v>
                </c:pt>
                <c:pt idx="13">
                  <c:v>-3.284176</c:v>
                </c:pt>
                <c:pt idx="14">
                  <c:v>-3.745417</c:v>
                </c:pt>
                <c:pt idx="15">
                  <c:v>-4.071827</c:v>
                </c:pt>
                <c:pt idx="16">
                  <c:v>-4.254778</c:v>
                </c:pt>
                <c:pt idx="17">
                  <c:v>-4.290645</c:v>
                </c:pt>
                <c:pt idx="18">
                  <c:v>-4.18084</c:v>
                </c:pt>
                <c:pt idx="19">
                  <c:v>-3.931673</c:v>
                </c:pt>
                <c:pt idx="20">
                  <c:v>-3.554052</c:v>
                </c:pt>
                <c:pt idx="21">
                  <c:v>-3.063033</c:v>
                </c:pt>
                <c:pt idx="22">
                  <c:v>-2.477236</c:v>
                </c:pt>
                <c:pt idx="23">
                  <c:v>-1.818154</c:v>
                </c:pt>
                <c:pt idx="24">
                  <c:v>-1.109372</c:v>
                </c:pt>
                <c:pt idx="25">
                  <c:v>-0.375735</c:v>
                </c:pt>
                <c:pt idx="26">
                  <c:v>0.357515</c:v>
                </c:pt>
                <c:pt idx="27">
                  <c:v>1.065601</c:v>
                </c:pt>
                <c:pt idx="28">
                  <c:v>1.725035</c:v>
                </c:pt>
                <c:pt idx="29">
                  <c:v>2.314396</c:v>
                </c:pt>
                <c:pt idx="30">
                  <c:v>2.815012</c:v>
                </c:pt>
                <c:pt idx="31">
                  <c:v>3.211544</c:v>
                </c:pt>
                <c:pt idx="32">
                  <c:v>3.492446</c:v>
                </c:pt>
                <c:pt idx="33">
                  <c:v>3.650285</c:v>
                </c:pt>
                <c:pt idx="34">
                  <c:v>3.681921</c:v>
                </c:pt>
                <c:pt idx="35">
                  <c:v>3.588537</c:v>
                </c:pt>
                <c:pt idx="36">
                  <c:v>3.375518</c:v>
                </c:pt>
                <c:pt idx="37">
                  <c:v>3.0522</c:v>
                </c:pt>
                <c:pt idx="38">
                  <c:v>2.631479</c:v>
                </c:pt>
                <c:pt idx="39">
                  <c:v>2.129314</c:v>
                </c:pt>
                <c:pt idx="40">
                  <c:v>1.564132</c:v>
                </c:pt>
                <c:pt idx="41">
                  <c:v>0.956161</c:v>
                </c:pt>
                <c:pt idx="42">
                  <c:v>0.326716</c:v>
                </c:pt>
                <c:pt idx="43">
                  <c:v>-0.302545</c:v>
                </c:pt>
                <c:pt idx="44">
                  <c:v>-0.910353</c:v>
                </c:pt>
                <c:pt idx="45">
                  <c:v>-1.476547</c:v>
                </c:pt>
                <c:pt idx="46">
                  <c:v>-1.982731</c:v>
                </c:pt>
                <c:pt idx="47">
                  <c:v>-2.412864</c:v>
                </c:pt>
                <c:pt idx="48">
                  <c:v>-2.753764</c:v>
                </c:pt>
                <c:pt idx="49">
                  <c:v>-2.9955</c:v>
                </c:pt>
                <c:pt idx="50">
                  <c:v>-3.13167</c:v>
                </c:pt>
                <c:pt idx="51">
                  <c:v>-3.159554</c:v>
                </c:pt>
                <c:pt idx="52">
                  <c:v>-3.080141</c:v>
                </c:pt>
                <c:pt idx="53">
                  <c:v>-2.898029</c:v>
                </c:pt>
                <c:pt idx="54">
                  <c:v>-2.621207</c:v>
                </c:pt>
                <c:pt idx="55">
                  <c:v>-2.260721</c:v>
                </c:pt>
                <c:pt idx="56">
                  <c:v>-1.830249</c:v>
                </c:pt>
                <c:pt idx="57">
                  <c:v>-1.345589</c:v>
                </c:pt>
                <c:pt idx="58">
                  <c:v>-0.824092</c:v>
                </c:pt>
                <c:pt idx="59">
                  <c:v>-0.284042</c:v>
                </c:pt>
                <c:pt idx="60">
                  <c:v>0.255976</c:v>
                </c:pt>
                <c:pt idx="61">
                  <c:v>0.777707</c:v>
                </c:pt>
                <c:pt idx="62">
                  <c:v>1.263844</c:v>
                </c:pt>
                <c:pt idx="63">
                  <c:v>1.698587</c:v>
                </c:pt>
                <c:pt idx="64">
                  <c:v>2.06816</c:v>
                </c:pt>
                <c:pt idx="65">
                  <c:v>2.361232</c:v>
                </c:pt>
                <c:pt idx="66">
                  <c:v>2.569261</c:v>
                </c:pt>
                <c:pt idx="67">
                  <c:v>2.686733</c:v>
                </c:pt>
                <c:pt idx="68">
                  <c:v>2.711292</c:v>
                </c:pt>
                <c:pt idx="69">
                  <c:v>2.643766</c:v>
                </c:pt>
                <c:pt idx="70">
                  <c:v>2.48808</c:v>
                </c:pt>
                <c:pt idx="71">
                  <c:v>2.251069</c:v>
                </c:pt>
                <c:pt idx="72">
                  <c:v>1.942195</c:v>
                </c:pt>
                <c:pt idx="73">
                  <c:v>1.573181</c:v>
                </c:pt>
                <c:pt idx="74">
                  <c:v>1.157573</c:v>
                </c:pt>
                <c:pt idx="75">
                  <c:v>0.710251</c:v>
                </c:pt>
                <c:pt idx="76">
                  <c:v>0.2469</c:v>
                </c:pt>
                <c:pt idx="77">
                  <c:v>-0.21653</c:v>
                </c:pt>
                <c:pt idx="78">
                  <c:v>-0.664374</c:v>
                </c:pt>
                <c:pt idx="79">
                  <c:v>-1.081772</c:v>
                </c:pt>
                <c:pt idx="80">
                  <c:v>-1.455158</c:v>
                </c:pt>
                <c:pt idx="81">
                  <c:v>-1.772696</c:v>
                </c:pt>
                <c:pt idx="82">
                  <c:v>-2.024648</c:v>
                </c:pt>
                <c:pt idx="83">
                  <c:v>-2.203669</c:v>
                </c:pt>
                <c:pt idx="84">
                  <c:v>-2.305007</c:v>
                </c:pt>
                <c:pt idx="85">
                  <c:v>-2.326624</c:v>
                </c:pt>
                <c:pt idx="86">
                  <c:v>-2.26921</c:v>
                </c:pt>
                <c:pt idx="87">
                  <c:v>-2.136117</c:v>
                </c:pt>
                <c:pt idx="88">
                  <c:v>-1.933193</c:v>
                </c:pt>
                <c:pt idx="89">
                  <c:v>-1.668543</c:v>
                </c:pt>
                <c:pt idx="90">
                  <c:v>-1.352213</c:v>
                </c:pt>
                <c:pt idx="91">
                  <c:v>-0.99582</c:v>
                </c:pt>
                <c:pt idx="92">
                  <c:v>-0.612123</c:v>
                </c:pt>
                <c:pt idx="93">
                  <c:v>-0.21458</c:v>
                </c:pt>
                <c:pt idx="94">
                  <c:v>0.183125</c:v>
                </c:pt>
                <c:pt idx="95">
                  <c:v>0.567545</c:v>
                </c:pt>
                <c:pt idx="96">
                  <c:v>0.925923</c:v>
                </c:pt>
                <c:pt idx="97">
                  <c:v>1.24661</c:v>
                </c:pt>
                <c:pt idx="98">
                  <c:v>1.519438</c:v>
                </c:pt>
                <c:pt idx="99">
                  <c:v>1.736039</c:v>
                </c:pt>
                <c:pt idx="100">
                  <c:v>1.890095</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6"/>
          <c:min val="-6"/>
        </c:scaling>
        <c:delete val="0"/>
        <c:axPos val="l"/>
        <c:title>
          <c:tx>
            <c:rich>
              <a:bodyPr xmlns:a="http://schemas.openxmlformats.org/drawingml/2006/main"/>
              <a:lstStyle xmlns:a="http://schemas.openxmlformats.org/drawingml/2006/main"/>
              <a:p xmlns:a="http://schemas.openxmlformats.org/drawingml/2006/main">
                <a:r>
                  <a:rPr sz="1650">
                    <a:latin typeface="Calibri"/>
                    <a:ea typeface="Calibri"/>
                    <a:cs typeface="Calibri"/>
                  </a:rPr>
                  <a:t>Angle (degrees)</a:t>
                </a:r>
              </a:p>
            </c:rich>
          </c:tx>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Calibri"/>
                <a:ea typeface="Calibri"/>
                <a:cs typeface="Calibri"/>
              </a:defRPr>
            </a:pPr>
          </a:p>
        </c:txPr>
        <c:crossAx val="48650112"/>
        <c:majorUnit val="2"/>
      </c:valAx>
      <c:valAx>
        <c:axId val="48650112"/>
        <c:scaling>
          <c:orientation val="minMax"/>
          <c:max val="2"/>
          <c:min val="0"/>
        </c:scaling>
        <c:delete val="0"/>
        <c:axPos val="b"/>
        <c:title>
          <c:tx>
            <c:rich>
              <a:bodyPr xmlns:a="http://schemas.openxmlformats.org/drawingml/2006/main"/>
              <a:lstStyle xmlns:a="http://schemas.openxmlformats.org/drawingml/2006/main"/>
              <a:p xmlns:a="http://schemas.openxmlformats.org/drawingml/2006/main">
                <a:r>
                  <a:rPr sz="1650">
                    <a:latin typeface="Calibri"/>
                    <a:ea typeface="Calibri"/>
                    <a:cs typeface="Calibri"/>
                  </a:rPr>
                  <a:t>Time (s)</a:t>
                </a:r>
              </a:p>
            </c:rich>
          </c:tx>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Calibri"/>
                <a:ea typeface="Calibri"/>
                <a:cs typeface="Calibri"/>
              </a:defRPr>
            </a:pPr>
          </a:p>
        </c:txPr>
        <c:crossAx val="48672768"/>
        <c:majorUnit val="0.5"/>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legend>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cover-eyebrow">
            <a:extLst xmlns:a="http://schemas.openxmlformats.org/drawingml/2006/main">
              <a:ext uri="{FF2B5EF4-FFF2-40B4-BE49-F238E27FC236}">
                <a16:creationId xmlns:a16="http://schemas.microsoft.com/office/drawing/2014/main" id="{07CCA154-061D-43B2-9E75-74A1DBD6735B}"/>
              </a:ext>
            </a:extLst>
          </p:cNvPr>
          <p:cNvSpPr>
            <a:spLocks xmlns:a="http://schemas.openxmlformats.org/drawingml/2006/main" noGrp="1"/>
          </p:cNvSpPr>
          <p:nvPr/>
        </p:nvSpPr>
        <p:spPr>
          <a:xfrm xmlns:a="http://schemas.openxmlformats.org/drawingml/2006/main">
            <a:off x="400050" y="361950"/>
            <a:ext cx="7239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350" b="1">
                <a:solidFill>
                  <a:srgbClr val="881C1C"/>
                </a:solidFill>
              </a:defRPr>
            </a:pPr>
            <a:r>
              <a:rPr sz="1350" b="1">
                <a:solidFill>
                  <a:srgbClr val="881C1C"/>
                </a:solidFill>
              </a:rPr>
              <a:t>MIE 402 | MECHANICAL ENGINEERING LABORATORY II</a:t>
            </a:r>
          </a:p>
        </p:txBody>
      </p:sp>
      <p:sp>
        <p:nvSpPr>
          <p:cNvPr id="2" name="rule-2">
            <a:extLst xmlns:a="http://schemas.openxmlformats.org/drawingml/2006/main">
              <a:ext uri="{FF2B5EF4-FFF2-40B4-BE49-F238E27FC236}">
                <a16:creationId xmlns:a16="http://schemas.microsoft.com/office/drawing/2014/main" id="{C8183F92-A60E-4697-AC66-F89EF230CD52}"/>
              </a:ext>
            </a:extLst>
          </p:cNvPr>
          <p:cNvSpPr>
            <a:spLocks xmlns:a="http://schemas.openxmlformats.org/drawingml/2006/main" noGrp="1"/>
          </p:cNvSpPr>
          <p:nvPr/>
        </p:nvSpPr>
        <p:spPr>
          <a:xfrm xmlns:a="http://schemas.openxmlformats.org/drawingml/2006/main">
            <a:off x="400050" y="933450"/>
            <a:ext cx="11391900" cy="0"/>
          </a:xfrm>
          <a:prstGeom xmlns:a="http://schemas.openxmlformats.org/drawingml/2006/main" prst="line">
            <a:avLst/>
          </a:prstGeom>
          <a:noFill xmlns:a="http://schemas.openxmlformats.org/drawingml/2006/main"/>
          <a:ln xmlns:a="http://schemas.openxmlformats.org/drawingml/2006/main" w="38100">
            <a:solidFill>
              <a:srgbClr val="881C1C"/>
            </a:solidFill>
            <a:prstDash val="solid"/>
          </a:ln>
        </p:spPr>
      </p:sp>
      <p:sp>
        <p:nvSpPr>
          <p:cNvPr id="3" name="cover-title">
            <a:extLst xmlns:a="http://schemas.openxmlformats.org/drawingml/2006/main">
              <a:ext uri="{FF2B5EF4-FFF2-40B4-BE49-F238E27FC236}">
                <a16:creationId xmlns:a16="http://schemas.microsoft.com/office/drawing/2014/main" id="{92E2F6F8-A0AE-4D1C-95B2-1759E0B1DD64}"/>
              </a:ext>
            </a:extLst>
          </p:cNvPr>
          <p:cNvSpPr>
            <a:spLocks xmlns:a="http://schemas.openxmlformats.org/drawingml/2006/main" noGrp="1"/>
          </p:cNvSpPr>
          <p:nvPr/>
        </p:nvSpPr>
        <p:spPr>
          <a:xfrm xmlns:a="http://schemas.openxmlformats.org/drawingml/2006/main">
            <a:off x="400050" y="1809750"/>
            <a:ext cx="98107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400" b="1">
                <a:solidFill>
                  <a:srgbClr val="111111"/>
                </a:solidFill>
              </a:defRPr>
            </a:pPr>
            <a:r>
              <a:rPr sz="5400" b="1">
                <a:solidFill>
                  <a:srgbClr val="111111"/>
                </a:solidFill>
              </a:rPr>
              <a:t>Orientation and</a:t>
            </a:r>
          </a:p>
          <a:p xmlns:a="http://schemas.openxmlformats.org/drawingml/2006/main">
            <a:pPr algn="l">
              <a:buNone/>
              <a:defRPr sz="5400" b="1">
                <a:solidFill>
                  <a:srgbClr val="111111"/>
                </a:solidFill>
              </a:defRPr>
            </a:pPr>
            <a:r>
              <a:rPr sz="5400" b="1">
                <a:solidFill>
                  <a:srgbClr val="111111"/>
                </a:solidFill>
              </a:rPr>
              <a:t>report writing</a:t>
            </a:r>
          </a:p>
        </p:txBody>
      </p:sp>
      <p:sp>
        <p:nvSpPr>
          <p:cNvPr id="4" name="cover-subtitle">
            <a:extLst xmlns:a="http://schemas.openxmlformats.org/drawingml/2006/main">
              <a:ext uri="{FF2B5EF4-FFF2-40B4-BE49-F238E27FC236}">
                <a16:creationId xmlns:a16="http://schemas.microsoft.com/office/drawing/2014/main" id="{31E795B9-C3DD-427C-9BCD-FDE0E5D1991C}"/>
              </a:ext>
            </a:extLst>
          </p:cNvPr>
          <p:cNvSpPr>
            <a:spLocks xmlns:a="http://schemas.openxmlformats.org/drawingml/2006/main" noGrp="1"/>
          </p:cNvSpPr>
          <p:nvPr/>
        </p:nvSpPr>
        <p:spPr>
          <a:xfrm xmlns:a="http://schemas.openxmlformats.org/drawingml/2006/main">
            <a:off x="400050" y="4857750"/>
            <a:ext cx="72390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100" b="0">
                <a:solidFill>
                  <a:srgbClr val="5F6368"/>
                </a:solidFill>
              </a:defRPr>
            </a:pPr>
            <a:r>
              <a:rPr sz="2100" b="0">
                <a:solidFill>
                  <a:srgbClr val="5F6368"/>
                </a:solidFill>
              </a:rPr>
              <a:t>Fall 2026 · Prof. Ehsan Roohi
September 9, 2026</a:t>
            </a:r>
          </a:p>
        </p:txBody>
      </p:sp>
      <p:sp>
        <p:nvSpPr>
          <p:cNvPr id="5" name="cover-accent">
            <a:extLst xmlns:a="http://schemas.openxmlformats.org/drawingml/2006/main">
              <a:ext uri="{FF2B5EF4-FFF2-40B4-BE49-F238E27FC236}">
                <a16:creationId xmlns:a16="http://schemas.microsoft.com/office/drawing/2014/main" id="{EEA7F8B8-14D8-4984-9E3E-D97C0418CC7C}"/>
              </a:ext>
            </a:extLst>
          </p:cNvPr>
          <p:cNvSpPr>
            <a:spLocks xmlns:a="http://schemas.openxmlformats.org/drawingml/2006/main" noGrp="1"/>
          </p:cNvSpPr>
          <p:nvPr/>
        </p:nvSpPr>
        <p:spPr>
          <a:xfrm xmlns:a="http://schemas.openxmlformats.org/drawingml/2006/main">
            <a:off x="9696450" y="4171950"/>
            <a:ext cx="2095500" cy="1809750"/>
          </a:xfrm>
          <a:prstGeom xmlns:a="http://schemas.openxmlformats.org/drawingml/2006/main" prst="rect">
            <a:avLst/>
          </a:prstGeom>
          <a:solidFill xmlns:a="http://schemas.openxmlformats.org/drawingml/2006/main">
            <a:srgbClr val="EAF5FB"/>
          </a:solidFill>
          <a:ln xmlns:a="http://schemas.openxmlformats.org/drawingml/2006/main" w="9525">
            <a:solidFill>
              <a:srgbClr val="C8CBD0"/>
            </a:solidFill>
            <a:prstDash val="solid"/>
          </a:ln>
        </p:spPr>
      </p:sp>
      <p:sp>
        <p:nvSpPr>
          <p:cNvPr id="6" name="cover-accent-text">
            <a:extLst xmlns:a="http://schemas.openxmlformats.org/drawingml/2006/main">
              <a:ext uri="{FF2B5EF4-FFF2-40B4-BE49-F238E27FC236}">
                <a16:creationId xmlns:a16="http://schemas.microsoft.com/office/drawing/2014/main" id="{5B1D3538-51CC-423E-9352-4B3335A179CC}"/>
              </a:ext>
            </a:extLst>
          </p:cNvPr>
          <p:cNvSpPr>
            <a:spLocks xmlns:a="http://schemas.openxmlformats.org/drawingml/2006/main" noGrp="1"/>
          </p:cNvSpPr>
          <p:nvPr/>
        </p:nvSpPr>
        <p:spPr>
          <a:xfrm xmlns:a="http://schemas.openxmlformats.org/drawingml/2006/main">
            <a:off x="9944100" y="4514850"/>
            <a:ext cx="1619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ctr">
            <a:normAutofit fontScale="100000"/>
          </a:bodyPr>
          <a:lstStyle xmlns:a="http://schemas.openxmlformats.org/drawingml/2006/main"/>
          <a:p xmlns:a="http://schemas.openxmlformats.org/drawingml/2006/main">
            <a:pPr algn="ctr">
              <a:buNone/>
              <a:defRPr sz="1800" b="1">
                <a:solidFill>
                  <a:srgbClr val="881C1C"/>
                </a:solidFill>
              </a:defRPr>
            </a:pPr>
            <a:r>
              <a:rPr sz="1800" b="1">
                <a:solidFill>
                  <a:srgbClr val="881C1C"/>
                </a:solidFill>
              </a:rPr>
              <a:t>MEASURE</a:t>
            </a:r>
          </a:p>
          <a:p xmlns:a="http://schemas.openxmlformats.org/drawingml/2006/main">
            <a:pPr algn="ctr">
              <a:buNone/>
              <a:defRPr sz="1800" b="1">
                <a:solidFill>
                  <a:srgbClr val="881C1C"/>
                </a:solidFill>
              </a:defRPr>
            </a:pPr>
            <a:r>
              <a:rPr sz="1800" b="1">
                <a:solidFill>
                  <a:srgbClr val="881C1C"/>
                </a:solidFill>
              </a:rPr>
              <a:t>MODEL</a:t>
            </a:r>
          </a:p>
          <a:p xmlns:a="http://schemas.openxmlformats.org/drawingml/2006/main">
            <a:pPr algn="ctr">
              <a:buNone/>
              <a:defRPr sz="1800" b="1">
                <a:solidFill>
                  <a:srgbClr val="881C1C"/>
                </a:solidFill>
              </a:defRPr>
            </a:pPr>
            <a:r>
              <a:rPr sz="1800" b="1">
                <a:solidFill>
                  <a:srgbClr val="881C1C"/>
                </a:solidFill>
              </a:rPr>
              <a:t>COMPARE</a:t>
            </a:r>
          </a:p>
        </p:txBody>
      </p:sp>
    </p:spTree>
    <p:extLst>
      <p:ext uri="{BB962C8B-B14F-4D97-AF65-F5344CB8AC3E}">
        <p14:creationId xmlns:p14="http://schemas.microsoft.com/office/powerpoint/2010/main" val="27437730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eyebrow-2">
            <a:extLst xmlns:a="http://schemas.openxmlformats.org/drawingml/2006/main">
              <a:ext uri="{FF2B5EF4-FFF2-40B4-BE49-F238E27FC236}">
                <a16:creationId xmlns:a16="http://schemas.microsoft.com/office/drawing/2014/main" id="{0CD79189-BE79-4B57-9B69-E1E91F784A1B}"/>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2">
            <a:extLst xmlns:a="http://schemas.openxmlformats.org/drawingml/2006/main">
              <a:ext uri="{FF2B5EF4-FFF2-40B4-BE49-F238E27FC236}">
                <a16:creationId xmlns:a16="http://schemas.microsoft.com/office/drawing/2014/main" id="{7DA198F7-8586-439C-9223-FC1A3B350E56}"/>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Experimental evidence and engineering judgment</a:t>
            </a:r>
          </a:p>
        </p:txBody>
      </p:sp>
      <p:sp>
        <p:nvSpPr>
          <p:cNvPr id="3" name="rule-9">
            <a:extLst xmlns:a="http://schemas.openxmlformats.org/drawingml/2006/main">
              <a:ext uri="{FF2B5EF4-FFF2-40B4-BE49-F238E27FC236}">
                <a16:creationId xmlns:a16="http://schemas.microsoft.com/office/drawing/2014/main" id="{59396C87-4CA4-4AED-B24A-44C02D269198}"/>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2">
            <a:extLst xmlns:a="http://schemas.openxmlformats.org/drawingml/2006/main">
              <a:ext uri="{FF2B5EF4-FFF2-40B4-BE49-F238E27FC236}">
                <a16:creationId xmlns:a16="http://schemas.microsoft.com/office/drawing/2014/main" id="{9881EAB1-4903-4A22-A957-EA88966E05CE}"/>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2</a:t>
            </a:r>
          </a:p>
        </p:txBody>
      </p:sp>
      <p:sp>
        <p:nvSpPr>
          <p:cNvPr id="5" name="course-stage-number-1">
            <a:extLst xmlns:a="http://schemas.openxmlformats.org/drawingml/2006/main">
              <a:ext uri="{FF2B5EF4-FFF2-40B4-BE49-F238E27FC236}">
                <a16:creationId xmlns:a16="http://schemas.microsoft.com/office/drawing/2014/main" id="{24E615C2-937B-4D53-B6BC-F6A443938D98}"/>
              </a:ext>
            </a:extLst>
          </p:cNvPr>
          <p:cNvSpPr>
            <a:spLocks xmlns:a="http://schemas.openxmlformats.org/drawingml/2006/main" noGrp="1"/>
          </p:cNvSpPr>
          <p:nvPr/>
        </p:nvSpPr>
        <p:spPr>
          <a:xfrm xmlns:a="http://schemas.openxmlformats.org/drawingml/2006/main">
            <a:off x="514350" y="2000250"/>
            <a:ext cx="6286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01</a:t>
            </a:r>
          </a:p>
        </p:txBody>
      </p:sp>
      <p:sp>
        <p:nvSpPr>
          <p:cNvPr id="6" name="course-stage-title-1">
            <a:extLst xmlns:a="http://schemas.openxmlformats.org/drawingml/2006/main">
              <a:ext uri="{FF2B5EF4-FFF2-40B4-BE49-F238E27FC236}">
                <a16:creationId xmlns:a16="http://schemas.microsoft.com/office/drawing/2014/main" id="{220B31F5-AA51-4BF4-A622-4756E890AACB}"/>
              </a:ext>
            </a:extLst>
          </p:cNvPr>
          <p:cNvSpPr>
            <a:spLocks xmlns:a="http://schemas.openxmlformats.org/drawingml/2006/main" noGrp="1"/>
          </p:cNvSpPr>
          <p:nvPr/>
        </p:nvSpPr>
        <p:spPr>
          <a:xfrm xmlns:a="http://schemas.openxmlformats.org/drawingml/2006/main">
            <a:off x="514350" y="2571750"/>
            <a:ext cx="2286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2025" b="1">
                <a:solidFill>
                  <a:srgbClr val="111111"/>
                </a:solidFill>
              </a:defRPr>
            </a:pPr>
            <a:r>
              <a:rPr sz="2025" b="1">
                <a:solidFill>
                  <a:srgbClr val="111111"/>
                </a:solidFill>
              </a:rPr>
              <a:t>OBSERVE</a:t>
            </a:r>
          </a:p>
        </p:txBody>
      </p:sp>
      <p:sp>
        <p:nvSpPr>
          <p:cNvPr id="7" name="course-stage-body-1">
            <a:extLst xmlns:a="http://schemas.openxmlformats.org/drawingml/2006/main">
              <a:ext uri="{FF2B5EF4-FFF2-40B4-BE49-F238E27FC236}">
                <a16:creationId xmlns:a16="http://schemas.microsoft.com/office/drawing/2014/main" id="{626A45BE-87F4-4E62-9AAD-9C9CE00E925C}"/>
              </a:ext>
            </a:extLst>
          </p:cNvPr>
          <p:cNvSpPr>
            <a:spLocks xmlns:a="http://schemas.openxmlformats.org/drawingml/2006/main" noGrp="1"/>
          </p:cNvSpPr>
          <p:nvPr/>
        </p:nvSpPr>
        <p:spPr>
          <a:xfrm xmlns:a="http://schemas.openxmlformats.org/drawingml/2006/main">
            <a:off x="514350" y="3181350"/>
            <a:ext cx="23812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0">
                <a:solidFill>
                  <a:srgbClr val="5F6368"/>
                </a:solidFill>
              </a:defRPr>
            </a:pPr>
            <a:r>
              <a:rPr sz="1650" b="0">
                <a:solidFill>
                  <a:srgbClr val="5F6368"/>
                </a:solidFill>
              </a:rPr>
              <a:t>See the physical behavior worth explaining</a:t>
            </a:r>
          </a:p>
        </p:txBody>
      </p:sp>
      <p:sp>
        <p:nvSpPr>
          <p:cNvPr id="8" name="text-14">
            <a:extLst xmlns:a="http://schemas.openxmlformats.org/drawingml/2006/main">
              <a:ext uri="{FF2B5EF4-FFF2-40B4-BE49-F238E27FC236}">
                <a16:creationId xmlns:a16="http://schemas.microsoft.com/office/drawing/2014/main" id="{6E05E867-0A7C-4170-B9E3-441F546C26BA}"/>
              </a:ext>
            </a:extLst>
          </p:cNvPr>
          <p:cNvSpPr>
            <a:spLocks xmlns:a="http://schemas.openxmlformats.org/drawingml/2006/main" noGrp="1"/>
          </p:cNvSpPr>
          <p:nvPr/>
        </p:nvSpPr>
        <p:spPr>
          <a:xfrm xmlns:a="http://schemas.openxmlformats.org/drawingml/2006/main">
            <a:off x="2876550" y="2628900"/>
            <a:ext cx="476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88889"/>
          </a:bodyPr>
          <a:lstStyle xmlns:a="http://schemas.openxmlformats.org/drawingml/2006/main"/>
          <a:p xmlns:a="http://schemas.openxmlformats.org/drawingml/2006/main">
            <a:pPr algn="l">
              <a:buNone/>
              <a:defRPr sz="2250" b="1">
                <a:solidFill>
                  <a:srgbClr val="3D8DFF"/>
                </a:solidFill>
              </a:defRPr>
            </a:pPr>
            <a:r>
              <a:rPr sz="2250" b="1">
                <a:solidFill>
                  <a:srgbClr val="3D8DFF"/>
                </a:solidFill>
              </a:rPr>
              <a:t>→</a:t>
            </a:r>
          </a:p>
        </p:txBody>
      </p:sp>
      <p:sp>
        <p:nvSpPr>
          <p:cNvPr id="9" name="course-stage-number-2">
            <a:extLst xmlns:a="http://schemas.openxmlformats.org/drawingml/2006/main">
              <a:ext uri="{FF2B5EF4-FFF2-40B4-BE49-F238E27FC236}">
                <a16:creationId xmlns:a16="http://schemas.microsoft.com/office/drawing/2014/main" id="{B1555BCE-E07B-4814-ADD2-BAE57CC72215}"/>
              </a:ext>
            </a:extLst>
          </p:cNvPr>
          <p:cNvSpPr>
            <a:spLocks xmlns:a="http://schemas.openxmlformats.org/drawingml/2006/main" noGrp="1"/>
          </p:cNvSpPr>
          <p:nvPr/>
        </p:nvSpPr>
        <p:spPr>
          <a:xfrm xmlns:a="http://schemas.openxmlformats.org/drawingml/2006/main">
            <a:off x="3371850" y="2000250"/>
            <a:ext cx="6286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02</a:t>
            </a:r>
          </a:p>
        </p:txBody>
      </p:sp>
      <p:sp>
        <p:nvSpPr>
          <p:cNvPr id="10" name="course-stage-title-2">
            <a:extLst xmlns:a="http://schemas.openxmlformats.org/drawingml/2006/main">
              <a:ext uri="{FF2B5EF4-FFF2-40B4-BE49-F238E27FC236}">
                <a16:creationId xmlns:a16="http://schemas.microsoft.com/office/drawing/2014/main" id="{95D81F73-AF87-497E-B213-BC8E58DAD21F}"/>
              </a:ext>
            </a:extLst>
          </p:cNvPr>
          <p:cNvSpPr>
            <a:spLocks xmlns:a="http://schemas.openxmlformats.org/drawingml/2006/main" noGrp="1"/>
          </p:cNvSpPr>
          <p:nvPr/>
        </p:nvSpPr>
        <p:spPr>
          <a:xfrm xmlns:a="http://schemas.openxmlformats.org/drawingml/2006/main">
            <a:off x="3371850" y="2571750"/>
            <a:ext cx="2286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2025" b="1">
                <a:solidFill>
                  <a:srgbClr val="111111"/>
                </a:solidFill>
              </a:defRPr>
            </a:pPr>
            <a:r>
              <a:rPr sz="2025" b="1">
                <a:solidFill>
                  <a:srgbClr val="111111"/>
                </a:solidFill>
              </a:rPr>
              <a:t>MEASURE</a:t>
            </a:r>
          </a:p>
        </p:txBody>
      </p:sp>
      <p:sp>
        <p:nvSpPr>
          <p:cNvPr id="11" name="course-stage-body-2">
            <a:extLst xmlns:a="http://schemas.openxmlformats.org/drawingml/2006/main">
              <a:ext uri="{FF2B5EF4-FFF2-40B4-BE49-F238E27FC236}">
                <a16:creationId xmlns:a16="http://schemas.microsoft.com/office/drawing/2014/main" id="{040A4EEC-372A-44CE-8680-DD2C2108B0CA}"/>
              </a:ext>
            </a:extLst>
          </p:cNvPr>
          <p:cNvSpPr>
            <a:spLocks xmlns:a="http://schemas.openxmlformats.org/drawingml/2006/main" noGrp="1"/>
          </p:cNvSpPr>
          <p:nvPr/>
        </p:nvSpPr>
        <p:spPr>
          <a:xfrm xmlns:a="http://schemas.openxmlformats.org/drawingml/2006/main">
            <a:off x="3371850" y="3181350"/>
            <a:ext cx="23812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0">
                <a:solidFill>
                  <a:srgbClr val="5F6368"/>
                </a:solidFill>
              </a:defRPr>
            </a:pPr>
            <a:r>
              <a:rPr sz="1650" b="0">
                <a:solidFill>
                  <a:srgbClr val="5F6368"/>
                </a:solidFill>
              </a:rPr>
              <a:t>Acquire data with a deliberate measurement system</a:t>
            </a:r>
          </a:p>
        </p:txBody>
      </p:sp>
      <p:sp>
        <p:nvSpPr>
          <p:cNvPr id="12" name="text-18">
            <a:extLst xmlns:a="http://schemas.openxmlformats.org/drawingml/2006/main">
              <a:ext uri="{FF2B5EF4-FFF2-40B4-BE49-F238E27FC236}">
                <a16:creationId xmlns:a16="http://schemas.microsoft.com/office/drawing/2014/main" id="{4323D1E8-3F12-4884-A91F-B0CDFF62AA68}"/>
              </a:ext>
            </a:extLst>
          </p:cNvPr>
          <p:cNvSpPr>
            <a:spLocks xmlns:a="http://schemas.openxmlformats.org/drawingml/2006/main" noGrp="1"/>
          </p:cNvSpPr>
          <p:nvPr/>
        </p:nvSpPr>
        <p:spPr>
          <a:xfrm xmlns:a="http://schemas.openxmlformats.org/drawingml/2006/main">
            <a:off x="5734050" y="2628900"/>
            <a:ext cx="476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88889"/>
          </a:bodyPr>
          <a:lstStyle xmlns:a="http://schemas.openxmlformats.org/drawingml/2006/main"/>
          <a:p xmlns:a="http://schemas.openxmlformats.org/drawingml/2006/main">
            <a:pPr algn="l">
              <a:buNone/>
              <a:defRPr sz="2250" b="1">
                <a:solidFill>
                  <a:srgbClr val="3D8DFF"/>
                </a:solidFill>
              </a:defRPr>
            </a:pPr>
            <a:r>
              <a:rPr sz="2250" b="1">
                <a:solidFill>
                  <a:srgbClr val="3D8DFF"/>
                </a:solidFill>
              </a:rPr>
              <a:t>→</a:t>
            </a:r>
          </a:p>
        </p:txBody>
      </p:sp>
      <p:sp>
        <p:nvSpPr>
          <p:cNvPr id="13" name="course-stage-number-3">
            <a:extLst xmlns:a="http://schemas.openxmlformats.org/drawingml/2006/main">
              <a:ext uri="{FF2B5EF4-FFF2-40B4-BE49-F238E27FC236}">
                <a16:creationId xmlns:a16="http://schemas.microsoft.com/office/drawing/2014/main" id="{A20B6C06-FABE-4212-B8A1-0B4847E7642D}"/>
              </a:ext>
            </a:extLst>
          </p:cNvPr>
          <p:cNvSpPr>
            <a:spLocks xmlns:a="http://schemas.openxmlformats.org/drawingml/2006/main" noGrp="1"/>
          </p:cNvSpPr>
          <p:nvPr/>
        </p:nvSpPr>
        <p:spPr>
          <a:xfrm xmlns:a="http://schemas.openxmlformats.org/drawingml/2006/main">
            <a:off x="6229350" y="2000250"/>
            <a:ext cx="6286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03</a:t>
            </a:r>
          </a:p>
        </p:txBody>
      </p:sp>
      <p:sp>
        <p:nvSpPr>
          <p:cNvPr id="14" name="course-stage-title-3">
            <a:extLst xmlns:a="http://schemas.openxmlformats.org/drawingml/2006/main">
              <a:ext uri="{FF2B5EF4-FFF2-40B4-BE49-F238E27FC236}">
                <a16:creationId xmlns:a16="http://schemas.microsoft.com/office/drawing/2014/main" id="{A8595548-3FE9-4876-9DE8-EA19D5EFB022}"/>
              </a:ext>
            </a:extLst>
          </p:cNvPr>
          <p:cNvSpPr>
            <a:spLocks xmlns:a="http://schemas.openxmlformats.org/drawingml/2006/main" noGrp="1"/>
          </p:cNvSpPr>
          <p:nvPr/>
        </p:nvSpPr>
        <p:spPr>
          <a:xfrm xmlns:a="http://schemas.openxmlformats.org/drawingml/2006/main">
            <a:off x="6229350" y="2571750"/>
            <a:ext cx="2286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2025" b="1">
                <a:solidFill>
                  <a:srgbClr val="111111"/>
                </a:solidFill>
              </a:defRPr>
            </a:pPr>
            <a:r>
              <a:rPr sz="2025" b="1">
                <a:solidFill>
                  <a:srgbClr val="111111"/>
                </a:solidFill>
              </a:rPr>
              <a:t>COMPARE</a:t>
            </a:r>
          </a:p>
        </p:txBody>
      </p:sp>
      <p:sp>
        <p:nvSpPr>
          <p:cNvPr id="15" name="course-stage-body-3">
            <a:extLst xmlns:a="http://schemas.openxmlformats.org/drawingml/2006/main">
              <a:ext uri="{FF2B5EF4-FFF2-40B4-BE49-F238E27FC236}">
                <a16:creationId xmlns:a16="http://schemas.microsoft.com/office/drawing/2014/main" id="{FB81FECD-08D7-472A-86E5-AB23ACC9AF5A}"/>
              </a:ext>
            </a:extLst>
          </p:cNvPr>
          <p:cNvSpPr>
            <a:spLocks xmlns:a="http://schemas.openxmlformats.org/drawingml/2006/main" noGrp="1"/>
          </p:cNvSpPr>
          <p:nvPr/>
        </p:nvSpPr>
        <p:spPr>
          <a:xfrm xmlns:a="http://schemas.openxmlformats.org/drawingml/2006/main">
            <a:off x="6229350" y="3181350"/>
            <a:ext cx="23812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0">
                <a:solidFill>
                  <a:srgbClr val="5F6368"/>
                </a:solidFill>
              </a:defRPr>
            </a:pPr>
            <a:r>
              <a:rPr sz="1650" b="0">
                <a:solidFill>
                  <a:srgbClr val="5F6368"/>
                </a:solidFill>
              </a:rPr>
              <a:t>Test data against theory and models</a:t>
            </a:r>
          </a:p>
        </p:txBody>
      </p:sp>
      <p:sp>
        <p:nvSpPr>
          <p:cNvPr id="16" name="text-22">
            <a:extLst xmlns:a="http://schemas.openxmlformats.org/drawingml/2006/main">
              <a:ext uri="{FF2B5EF4-FFF2-40B4-BE49-F238E27FC236}">
                <a16:creationId xmlns:a16="http://schemas.microsoft.com/office/drawing/2014/main" id="{A4D40B2C-BF5F-4AD1-8239-5B6EC6426078}"/>
              </a:ext>
            </a:extLst>
          </p:cNvPr>
          <p:cNvSpPr>
            <a:spLocks xmlns:a="http://schemas.openxmlformats.org/drawingml/2006/main" noGrp="1"/>
          </p:cNvSpPr>
          <p:nvPr/>
        </p:nvSpPr>
        <p:spPr>
          <a:xfrm xmlns:a="http://schemas.openxmlformats.org/drawingml/2006/main">
            <a:off x="8591550" y="2628900"/>
            <a:ext cx="476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88889"/>
          </a:bodyPr>
          <a:lstStyle xmlns:a="http://schemas.openxmlformats.org/drawingml/2006/main"/>
          <a:p xmlns:a="http://schemas.openxmlformats.org/drawingml/2006/main">
            <a:pPr algn="l">
              <a:buNone/>
              <a:defRPr sz="2250" b="1">
                <a:solidFill>
                  <a:srgbClr val="3D8DFF"/>
                </a:solidFill>
              </a:defRPr>
            </a:pPr>
            <a:r>
              <a:rPr sz="2250" b="1">
                <a:solidFill>
                  <a:srgbClr val="3D8DFF"/>
                </a:solidFill>
              </a:rPr>
              <a:t>→</a:t>
            </a:r>
          </a:p>
        </p:txBody>
      </p:sp>
      <p:sp>
        <p:nvSpPr>
          <p:cNvPr id="17" name="course-stage-number-4">
            <a:extLst xmlns:a="http://schemas.openxmlformats.org/drawingml/2006/main">
              <a:ext uri="{FF2B5EF4-FFF2-40B4-BE49-F238E27FC236}">
                <a16:creationId xmlns:a16="http://schemas.microsoft.com/office/drawing/2014/main" id="{56F4BD6F-7029-45F9-B42B-F322DD72810B}"/>
              </a:ext>
            </a:extLst>
          </p:cNvPr>
          <p:cNvSpPr>
            <a:spLocks xmlns:a="http://schemas.openxmlformats.org/drawingml/2006/main" noGrp="1"/>
          </p:cNvSpPr>
          <p:nvPr/>
        </p:nvSpPr>
        <p:spPr>
          <a:xfrm xmlns:a="http://schemas.openxmlformats.org/drawingml/2006/main">
            <a:off x="9086850" y="2000250"/>
            <a:ext cx="6286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04</a:t>
            </a:r>
          </a:p>
        </p:txBody>
      </p:sp>
      <p:sp>
        <p:nvSpPr>
          <p:cNvPr id="18" name="course-stage-title-4">
            <a:extLst xmlns:a="http://schemas.openxmlformats.org/drawingml/2006/main">
              <a:ext uri="{FF2B5EF4-FFF2-40B4-BE49-F238E27FC236}">
                <a16:creationId xmlns:a16="http://schemas.microsoft.com/office/drawing/2014/main" id="{82C82877-6E8F-4E34-875B-A82D1EF32A9A}"/>
              </a:ext>
            </a:extLst>
          </p:cNvPr>
          <p:cNvSpPr>
            <a:spLocks xmlns:a="http://schemas.openxmlformats.org/drawingml/2006/main" noGrp="1"/>
          </p:cNvSpPr>
          <p:nvPr/>
        </p:nvSpPr>
        <p:spPr>
          <a:xfrm xmlns:a="http://schemas.openxmlformats.org/drawingml/2006/main">
            <a:off x="9086850" y="2571750"/>
            <a:ext cx="2286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2025" b="1">
                <a:solidFill>
                  <a:srgbClr val="111111"/>
                </a:solidFill>
              </a:defRPr>
            </a:pPr>
            <a:r>
              <a:rPr sz="2025" b="1">
                <a:solidFill>
                  <a:srgbClr val="111111"/>
                </a:solidFill>
              </a:rPr>
              <a:t>COMMUNICATE</a:t>
            </a:r>
          </a:p>
        </p:txBody>
      </p:sp>
      <p:sp>
        <p:nvSpPr>
          <p:cNvPr id="19" name="course-stage-body-4">
            <a:extLst xmlns:a="http://schemas.openxmlformats.org/drawingml/2006/main">
              <a:ext uri="{FF2B5EF4-FFF2-40B4-BE49-F238E27FC236}">
                <a16:creationId xmlns:a16="http://schemas.microsoft.com/office/drawing/2014/main" id="{91FC9888-D291-46E8-8395-CFC6A4C27CC2}"/>
              </a:ext>
            </a:extLst>
          </p:cNvPr>
          <p:cNvSpPr>
            <a:spLocks xmlns:a="http://schemas.openxmlformats.org/drawingml/2006/main" noGrp="1"/>
          </p:cNvSpPr>
          <p:nvPr/>
        </p:nvSpPr>
        <p:spPr>
          <a:xfrm xmlns:a="http://schemas.openxmlformats.org/drawingml/2006/main">
            <a:off x="9086850" y="3181350"/>
            <a:ext cx="23812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0">
                <a:solidFill>
                  <a:srgbClr val="5F6368"/>
                </a:solidFill>
              </a:defRPr>
            </a:pPr>
            <a:r>
              <a:rPr sz="1650" b="0">
                <a:solidFill>
                  <a:srgbClr val="5F6368"/>
                </a:solidFill>
              </a:rPr>
              <a:t>Write a report another engineer can trust</a:t>
            </a:r>
          </a:p>
        </p:txBody>
      </p:sp>
      <p:sp>
        <p:nvSpPr>
          <p:cNvPr id="20" name="course-purpose-callout">
            <a:extLst xmlns:a="http://schemas.openxmlformats.org/drawingml/2006/main">
              <a:ext uri="{FF2B5EF4-FFF2-40B4-BE49-F238E27FC236}">
                <a16:creationId xmlns:a16="http://schemas.microsoft.com/office/drawing/2014/main" id="{83B761D0-C698-4773-8DE2-EE4C74984054}"/>
              </a:ext>
            </a:extLst>
          </p:cNvPr>
          <p:cNvSpPr>
            <a:spLocks xmlns:a="http://schemas.openxmlformats.org/drawingml/2006/main" noGrp="1"/>
          </p:cNvSpPr>
          <p:nvPr/>
        </p:nvSpPr>
        <p:spPr>
          <a:xfrm xmlns:a="http://schemas.openxmlformats.org/drawingml/2006/main">
            <a:off x="514350" y="519112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75" b="1">
                <a:solidFill>
                  <a:srgbClr val="881C1C"/>
                </a:solidFill>
              </a:defRPr>
            </a:pPr>
            <a:r>
              <a:rPr sz="1875" b="1">
                <a:solidFill>
                  <a:srgbClr val="881C1C"/>
                </a:solidFill>
              </a:rPr>
              <a:t>The goal is not merely to collect numbers. The goal is to make a claim that the data support.</a:t>
            </a:r>
          </a:p>
        </p:txBody>
      </p:sp>
    </p:spTree>
    <p:extLst>
      <p:ext uri="{BB962C8B-B14F-4D97-AF65-F5344CB8AC3E}">
        <p14:creationId xmlns:p14="http://schemas.microsoft.com/office/powerpoint/2010/main" val="66300183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eyebrow-3">
            <a:extLst xmlns:a="http://schemas.openxmlformats.org/drawingml/2006/main">
              <a:ext uri="{FF2B5EF4-FFF2-40B4-BE49-F238E27FC236}">
                <a16:creationId xmlns:a16="http://schemas.microsoft.com/office/drawing/2014/main" id="{13AAA48B-85F9-4CF2-BA7E-B4C1A24DED83}"/>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3">
            <a:extLst xmlns:a="http://schemas.openxmlformats.org/drawingml/2006/main">
              <a:ext uri="{FF2B5EF4-FFF2-40B4-BE49-F238E27FC236}">
                <a16:creationId xmlns:a16="http://schemas.microsoft.com/office/drawing/2014/main" id="{7462F47F-A0A1-49CC-A8A1-AE461550F397}"/>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Today’s 50-minute session</a:t>
            </a:r>
          </a:p>
        </p:txBody>
      </p:sp>
      <p:sp>
        <p:nvSpPr>
          <p:cNvPr id="3" name="rule-29">
            <a:extLst xmlns:a="http://schemas.openxmlformats.org/drawingml/2006/main">
              <a:ext uri="{FF2B5EF4-FFF2-40B4-BE49-F238E27FC236}">
                <a16:creationId xmlns:a16="http://schemas.microsoft.com/office/drawing/2014/main" id="{68E5C90F-0D26-4093-ACA1-45DDB30FF86A}"/>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3">
            <a:extLst xmlns:a="http://schemas.openxmlformats.org/drawingml/2006/main">
              <a:ext uri="{FF2B5EF4-FFF2-40B4-BE49-F238E27FC236}">
                <a16:creationId xmlns:a16="http://schemas.microsoft.com/office/drawing/2014/main" id="{8E5709FE-B29E-4F5E-9592-129C89ECB631}"/>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3</a:t>
            </a:r>
          </a:p>
        </p:txBody>
      </p:sp>
      <p:sp>
        <p:nvSpPr>
          <p:cNvPr id="5" name="rule-31">
            <a:extLst xmlns:a="http://schemas.openxmlformats.org/drawingml/2006/main">
              <a:ext uri="{FF2B5EF4-FFF2-40B4-BE49-F238E27FC236}">
                <a16:creationId xmlns:a16="http://schemas.microsoft.com/office/drawing/2014/main" id="{264D863E-6E23-4A8A-B7F1-978D7AF6CEEB}"/>
              </a:ext>
            </a:extLst>
          </p:cNvPr>
          <p:cNvSpPr>
            <a:spLocks xmlns:a="http://schemas.openxmlformats.org/drawingml/2006/main" noGrp="1"/>
          </p:cNvSpPr>
          <p:nvPr/>
        </p:nvSpPr>
        <p:spPr>
          <a:xfrm xmlns:a="http://schemas.openxmlformats.org/drawingml/2006/main">
            <a:off x="514350" y="2286000"/>
            <a:ext cx="10668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6" name="text-32">
            <a:extLst xmlns:a="http://schemas.openxmlformats.org/drawingml/2006/main">
              <a:ext uri="{FF2B5EF4-FFF2-40B4-BE49-F238E27FC236}">
                <a16:creationId xmlns:a16="http://schemas.microsoft.com/office/drawing/2014/main" id="{98FFDF9B-A609-4419-B030-07641D05E271}"/>
              </a:ext>
            </a:extLst>
          </p:cNvPr>
          <p:cNvSpPr>
            <a:spLocks xmlns:a="http://schemas.openxmlformats.org/drawingml/2006/main" noGrp="1"/>
          </p:cNvSpPr>
          <p:nvPr/>
        </p:nvSpPr>
        <p:spPr>
          <a:xfrm xmlns:a="http://schemas.openxmlformats.org/drawingml/2006/main">
            <a:off x="514350" y="1733550"/>
            <a:ext cx="685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01</a:t>
            </a:r>
          </a:p>
        </p:txBody>
      </p:sp>
      <p:sp>
        <p:nvSpPr>
          <p:cNvPr id="7" name="text-33">
            <a:extLst xmlns:a="http://schemas.openxmlformats.org/drawingml/2006/main">
              <a:ext uri="{FF2B5EF4-FFF2-40B4-BE49-F238E27FC236}">
                <a16:creationId xmlns:a16="http://schemas.microsoft.com/office/drawing/2014/main" id="{097770D9-9D86-4AB6-A56C-4496B9FCFF3C}"/>
              </a:ext>
            </a:extLst>
          </p:cNvPr>
          <p:cNvSpPr>
            <a:spLocks xmlns:a="http://schemas.openxmlformats.org/drawingml/2006/main" noGrp="1"/>
          </p:cNvSpPr>
          <p:nvPr/>
        </p:nvSpPr>
        <p:spPr>
          <a:xfrm xmlns:a="http://schemas.openxmlformats.org/drawingml/2006/main">
            <a:off x="1428750" y="1733550"/>
            <a:ext cx="9239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950" b="1">
                <a:solidFill>
                  <a:srgbClr val="111111"/>
                </a:solidFill>
              </a:defRPr>
            </a:pPr>
            <a:r>
              <a:rPr sz="1950" b="1">
                <a:solidFill>
                  <a:srgbClr val="111111"/>
                </a:solidFill>
              </a:rPr>
              <a:t>0–8 min: course organization and workflow</a:t>
            </a:r>
          </a:p>
        </p:txBody>
      </p:sp>
      <p:sp>
        <p:nvSpPr>
          <p:cNvPr id="8" name="rule-34">
            <a:extLst xmlns:a="http://schemas.openxmlformats.org/drawingml/2006/main">
              <a:ext uri="{FF2B5EF4-FFF2-40B4-BE49-F238E27FC236}">
                <a16:creationId xmlns:a16="http://schemas.microsoft.com/office/drawing/2014/main" id="{5D25527B-56A0-4799-9962-E38D0208D6C9}"/>
              </a:ext>
            </a:extLst>
          </p:cNvPr>
          <p:cNvSpPr>
            <a:spLocks xmlns:a="http://schemas.openxmlformats.org/drawingml/2006/main" noGrp="1"/>
          </p:cNvSpPr>
          <p:nvPr/>
        </p:nvSpPr>
        <p:spPr>
          <a:xfrm xmlns:a="http://schemas.openxmlformats.org/drawingml/2006/main">
            <a:off x="514350" y="3086100"/>
            <a:ext cx="10668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9" name="text-35">
            <a:extLst xmlns:a="http://schemas.openxmlformats.org/drawingml/2006/main">
              <a:ext uri="{FF2B5EF4-FFF2-40B4-BE49-F238E27FC236}">
                <a16:creationId xmlns:a16="http://schemas.microsoft.com/office/drawing/2014/main" id="{98112266-9E0E-421B-B681-4886F2073175}"/>
              </a:ext>
            </a:extLst>
          </p:cNvPr>
          <p:cNvSpPr>
            <a:spLocks xmlns:a="http://schemas.openxmlformats.org/drawingml/2006/main" noGrp="1"/>
          </p:cNvSpPr>
          <p:nvPr/>
        </p:nvSpPr>
        <p:spPr>
          <a:xfrm xmlns:a="http://schemas.openxmlformats.org/drawingml/2006/main">
            <a:off x="514350" y="2533650"/>
            <a:ext cx="685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02</a:t>
            </a:r>
          </a:p>
        </p:txBody>
      </p:sp>
      <p:sp>
        <p:nvSpPr>
          <p:cNvPr id="10" name="text-36">
            <a:extLst xmlns:a="http://schemas.openxmlformats.org/drawingml/2006/main">
              <a:ext uri="{FF2B5EF4-FFF2-40B4-BE49-F238E27FC236}">
                <a16:creationId xmlns:a16="http://schemas.microsoft.com/office/drawing/2014/main" id="{B8F1DAD0-C264-4DE8-97F0-0F77F0DEC22C}"/>
              </a:ext>
            </a:extLst>
          </p:cNvPr>
          <p:cNvSpPr>
            <a:spLocks xmlns:a="http://schemas.openxmlformats.org/drawingml/2006/main" noGrp="1"/>
          </p:cNvSpPr>
          <p:nvPr/>
        </p:nvSpPr>
        <p:spPr>
          <a:xfrm xmlns:a="http://schemas.openxmlformats.org/drawingml/2006/main">
            <a:off x="1428750" y="2533650"/>
            <a:ext cx="9239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950" b="0">
                <a:solidFill>
                  <a:srgbClr val="111111"/>
                </a:solidFill>
              </a:defRPr>
            </a:pPr>
            <a:r>
              <a:rPr sz="1950" b="0">
                <a:solidFill>
                  <a:srgbClr val="111111"/>
                </a:solidFill>
              </a:rPr>
              <a:t>8–23 min: experiments, apparatus, and analysis</a:t>
            </a:r>
          </a:p>
        </p:txBody>
      </p:sp>
      <p:sp>
        <p:nvSpPr>
          <p:cNvPr id="11" name="rule-37">
            <a:extLst xmlns:a="http://schemas.openxmlformats.org/drawingml/2006/main">
              <a:ext uri="{FF2B5EF4-FFF2-40B4-BE49-F238E27FC236}">
                <a16:creationId xmlns:a16="http://schemas.microsoft.com/office/drawing/2014/main" id="{0BB012AE-A849-4573-B6D1-50CA28CCEFB5}"/>
              </a:ext>
            </a:extLst>
          </p:cNvPr>
          <p:cNvSpPr>
            <a:spLocks xmlns:a="http://schemas.openxmlformats.org/drawingml/2006/main" noGrp="1"/>
          </p:cNvSpPr>
          <p:nvPr/>
        </p:nvSpPr>
        <p:spPr>
          <a:xfrm xmlns:a="http://schemas.openxmlformats.org/drawingml/2006/main">
            <a:off x="514350" y="3886200"/>
            <a:ext cx="10668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12" name="text-38">
            <a:extLst xmlns:a="http://schemas.openxmlformats.org/drawingml/2006/main">
              <a:ext uri="{FF2B5EF4-FFF2-40B4-BE49-F238E27FC236}">
                <a16:creationId xmlns:a16="http://schemas.microsoft.com/office/drawing/2014/main" id="{8FA711F0-5D87-470E-B348-D2681832EC50}"/>
              </a:ext>
            </a:extLst>
          </p:cNvPr>
          <p:cNvSpPr>
            <a:spLocks xmlns:a="http://schemas.openxmlformats.org/drawingml/2006/main" noGrp="1"/>
          </p:cNvSpPr>
          <p:nvPr/>
        </p:nvSpPr>
        <p:spPr>
          <a:xfrm xmlns:a="http://schemas.openxmlformats.org/drawingml/2006/main">
            <a:off x="514350" y="3333750"/>
            <a:ext cx="685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03</a:t>
            </a:r>
          </a:p>
        </p:txBody>
      </p:sp>
      <p:sp>
        <p:nvSpPr>
          <p:cNvPr id="13" name="text-39">
            <a:extLst xmlns:a="http://schemas.openxmlformats.org/drawingml/2006/main">
              <a:ext uri="{FF2B5EF4-FFF2-40B4-BE49-F238E27FC236}">
                <a16:creationId xmlns:a16="http://schemas.microsoft.com/office/drawing/2014/main" id="{266B95F5-0C61-4906-9D48-28C3A499D633}"/>
              </a:ext>
            </a:extLst>
          </p:cNvPr>
          <p:cNvSpPr>
            <a:spLocks xmlns:a="http://schemas.openxmlformats.org/drawingml/2006/main" noGrp="1"/>
          </p:cNvSpPr>
          <p:nvPr/>
        </p:nvSpPr>
        <p:spPr>
          <a:xfrm xmlns:a="http://schemas.openxmlformats.org/drawingml/2006/main">
            <a:off x="1428750" y="3333750"/>
            <a:ext cx="9239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950" b="0">
                <a:solidFill>
                  <a:srgbClr val="111111"/>
                </a:solidFill>
              </a:defRPr>
            </a:pPr>
            <a:r>
              <a:rPr sz="1950" b="0">
                <a:solidFill>
                  <a:srgbClr val="111111"/>
                </a:solidFill>
              </a:rPr>
              <a:t>23–42 min: report writing and comparison</a:t>
            </a:r>
          </a:p>
        </p:txBody>
      </p:sp>
      <p:sp>
        <p:nvSpPr>
          <p:cNvPr id="14" name="rule-40">
            <a:extLst xmlns:a="http://schemas.openxmlformats.org/drawingml/2006/main">
              <a:ext uri="{FF2B5EF4-FFF2-40B4-BE49-F238E27FC236}">
                <a16:creationId xmlns:a16="http://schemas.microsoft.com/office/drawing/2014/main" id="{520AE694-E9AA-4816-86CA-C9EC29795AD1}"/>
              </a:ext>
            </a:extLst>
          </p:cNvPr>
          <p:cNvSpPr>
            <a:spLocks xmlns:a="http://schemas.openxmlformats.org/drawingml/2006/main" noGrp="1"/>
          </p:cNvSpPr>
          <p:nvPr/>
        </p:nvSpPr>
        <p:spPr>
          <a:xfrm xmlns:a="http://schemas.openxmlformats.org/drawingml/2006/main">
            <a:off x="514350" y="4686300"/>
            <a:ext cx="10668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15" name="text-41">
            <a:extLst xmlns:a="http://schemas.openxmlformats.org/drawingml/2006/main">
              <a:ext uri="{FF2B5EF4-FFF2-40B4-BE49-F238E27FC236}">
                <a16:creationId xmlns:a16="http://schemas.microsoft.com/office/drawing/2014/main" id="{771FD701-7066-49E9-8AF4-ACC062A96B43}"/>
              </a:ext>
            </a:extLst>
          </p:cNvPr>
          <p:cNvSpPr>
            <a:spLocks xmlns:a="http://schemas.openxmlformats.org/drawingml/2006/main" noGrp="1"/>
          </p:cNvSpPr>
          <p:nvPr/>
        </p:nvSpPr>
        <p:spPr>
          <a:xfrm xmlns:a="http://schemas.openxmlformats.org/drawingml/2006/main">
            <a:off x="514350" y="4133850"/>
            <a:ext cx="685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04</a:t>
            </a:r>
          </a:p>
        </p:txBody>
      </p:sp>
      <p:sp>
        <p:nvSpPr>
          <p:cNvPr id="16" name="text-42">
            <a:extLst xmlns:a="http://schemas.openxmlformats.org/drawingml/2006/main">
              <a:ext uri="{FF2B5EF4-FFF2-40B4-BE49-F238E27FC236}">
                <a16:creationId xmlns:a16="http://schemas.microsoft.com/office/drawing/2014/main" id="{2C3E1E1B-57D2-4F25-BF3A-3F03C1B059B5}"/>
              </a:ext>
            </a:extLst>
          </p:cNvPr>
          <p:cNvSpPr>
            <a:spLocks xmlns:a="http://schemas.openxmlformats.org/drawingml/2006/main" noGrp="1"/>
          </p:cNvSpPr>
          <p:nvPr/>
        </p:nvSpPr>
        <p:spPr>
          <a:xfrm xmlns:a="http://schemas.openxmlformats.org/drawingml/2006/main">
            <a:off x="1428750" y="4133850"/>
            <a:ext cx="9239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950" b="0">
                <a:solidFill>
                  <a:srgbClr val="111111"/>
                </a:solidFill>
              </a:defRPr>
            </a:pPr>
            <a:r>
              <a:rPr sz="1950" b="0">
                <a:solidFill>
                  <a:srgbClr val="111111"/>
                </a:solidFill>
              </a:rPr>
              <a:t>42–48 min: policies and report exercise</a:t>
            </a:r>
          </a:p>
        </p:txBody>
      </p:sp>
      <p:sp>
        <p:nvSpPr>
          <p:cNvPr id="17" name="rule-43">
            <a:extLst xmlns:a="http://schemas.openxmlformats.org/drawingml/2006/main">
              <a:ext uri="{FF2B5EF4-FFF2-40B4-BE49-F238E27FC236}">
                <a16:creationId xmlns:a16="http://schemas.microsoft.com/office/drawing/2014/main" id="{69BEE141-3AEF-46E8-9D6D-3FD96D64E0C7}"/>
              </a:ext>
            </a:extLst>
          </p:cNvPr>
          <p:cNvSpPr>
            <a:spLocks xmlns:a="http://schemas.openxmlformats.org/drawingml/2006/main" noGrp="1"/>
          </p:cNvSpPr>
          <p:nvPr/>
        </p:nvSpPr>
        <p:spPr>
          <a:xfrm xmlns:a="http://schemas.openxmlformats.org/drawingml/2006/main">
            <a:off x="514350" y="5486400"/>
            <a:ext cx="10668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18" name="text-44">
            <a:extLst xmlns:a="http://schemas.openxmlformats.org/drawingml/2006/main">
              <a:ext uri="{FF2B5EF4-FFF2-40B4-BE49-F238E27FC236}">
                <a16:creationId xmlns:a16="http://schemas.microsoft.com/office/drawing/2014/main" id="{462657DF-A0B1-4157-9B25-115A188292A1}"/>
              </a:ext>
            </a:extLst>
          </p:cNvPr>
          <p:cNvSpPr>
            <a:spLocks xmlns:a="http://schemas.openxmlformats.org/drawingml/2006/main" noGrp="1"/>
          </p:cNvSpPr>
          <p:nvPr/>
        </p:nvSpPr>
        <p:spPr>
          <a:xfrm xmlns:a="http://schemas.openxmlformats.org/drawingml/2006/main">
            <a:off x="514350" y="4933950"/>
            <a:ext cx="685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05</a:t>
            </a:r>
          </a:p>
        </p:txBody>
      </p:sp>
      <p:sp>
        <p:nvSpPr>
          <p:cNvPr id="19" name="text-45">
            <a:extLst xmlns:a="http://schemas.openxmlformats.org/drawingml/2006/main">
              <a:ext uri="{FF2B5EF4-FFF2-40B4-BE49-F238E27FC236}">
                <a16:creationId xmlns:a16="http://schemas.microsoft.com/office/drawing/2014/main" id="{F4DABD3E-7503-497E-A0CD-E4D065715CBB}"/>
              </a:ext>
            </a:extLst>
          </p:cNvPr>
          <p:cNvSpPr>
            <a:spLocks xmlns:a="http://schemas.openxmlformats.org/drawingml/2006/main" noGrp="1"/>
          </p:cNvSpPr>
          <p:nvPr/>
        </p:nvSpPr>
        <p:spPr>
          <a:xfrm xmlns:a="http://schemas.openxmlformats.org/drawingml/2006/main">
            <a:off x="1428750" y="4933950"/>
            <a:ext cx="9239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950" b="0">
                <a:solidFill>
                  <a:srgbClr val="111111"/>
                </a:solidFill>
              </a:defRPr>
            </a:pPr>
            <a:r>
              <a:rPr sz="1950" b="0">
                <a:solidFill>
                  <a:srgbClr val="111111"/>
                </a:solidFill>
              </a:rPr>
              <a:t>48–50 min: first dates and preparation</a:t>
            </a:r>
          </a:p>
        </p:txBody>
      </p:sp>
    </p:spTree>
    <p:extLst>
      <p:ext uri="{BB962C8B-B14F-4D97-AF65-F5344CB8AC3E}">
        <p14:creationId xmlns:p14="http://schemas.microsoft.com/office/powerpoint/2010/main" val="143579104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eyebrow-4">
            <a:extLst xmlns:a="http://schemas.openxmlformats.org/drawingml/2006/main">
              <a:ext uri="{FF2B5EF4-FFF2-40B4-BE49-F238E27FC236}">
                <a16:creationId xmlns:a16="http://schemas.microsoft.com/office/drawing/2014/main" id="{35883216-BB68-4D75-8684-C23D67A5D6C3}"/>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4">
            <a:extLst xmlns:a="http://schemas.openxmlformats.org/drawingml/2006/main">
              <a:ext uri="{FF2B5EF4-FFF2-40B4-BE49-F238E27FC236}">
                <a16:creationId xmlns:a16="http://schemas.microsoft.com/office/drawing/2014/main" id="{AEF868FF-8C87-475E-960A-19C5CD5F10D2}"/>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People, places, and weekly rhythm</a:t>
            </a:r>
          </a:p>
        </p:txBody>
      </p:sp>
      <p:sp>
        <p:nvSpPr>
          <p:cNvPr id="3" name="rule-48">
            <a:extLst xmlns:a="http://schemas.openxmlformats.org/drawingml/2006/main">
              <a:ext uri="{FF2B5EF4-FFF2-40B4-BE49-F238E27FC236}">
                <a16:creationId xmlns:a16="http://schemas.microsoft.com/office/drawing/2014/main" id="{F98282E8-C95F-4F21-BB8B-102C4FD80973}"/>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4">
            <a:extLst xmlns:a="http://schemas.openxmlformats.org/drawingml/2006/main">
              <a:ext uri="{FF2B5EF4-FFF2-40B4-BE49-F238E27FC236}">
                <a16:creationId xmlns:a16="http://schemas.microsoft.com/office/drawing/2014/main" id="{493FB7A9-31C8-4C5F-B49A-BCDD9CDF2CDB}"/>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4</a:t>
            </a:r>
          </a:p>
        </p:txBody>
      </p:sp>
      <p:sp>
        <p:nvSpPr>
          <p:cNvPr id="5" name="text-50">
            <a:extLst xmlns:a="http://schemas.openxmlformats.org/drawingml/2006/main">
              <a:ext uri="{FF2B5EF4-FFF2-40B4-BE49-F238E27FC236}">
                <a16:creationId xmlns:a16="http://schemas.microsoft.com/office/drawing/2014/main" id="{9E80834B-AE70-416C-9B53-D5341B824A71}"/>
              </a:ext>
            </a:extLst>
          </p:cNvPr>
          <p:cNvSpPr>
            <a:spLocks xmlns:a="http://schemas.openxmlformats.org/drawingml/2006/main" noGrp="1"/>
          </p:cNvSpPr>
          <p:nvPr/>
        </p:nvSpPr>
        <p:spPr>
          <a:xfrm xmlns:a="http://schemas.openxmlformats.org/drawingml/2006/main">
            <a:off x="514350" y="169545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00" b="1">
                <a:solidFill>
                  <a:srgbClr val="881C1C"/>
                </a:solidFill>
              </a:defRPr>
            </a:pPr>
            <a:r>
              <a:rPr sz="1500" b="1">
                <a:solidFill>
                  <a:srgbClr val="881C1C"/>
                </a:solidFill>
              </a:rPr>
              <a:t>COURSE TEAM</a:t>
            </a:r>
          </a:p>
        </p:txBody>
      </p:sp>
      <p:sp>
        <p:nvSpPr>
          <p:cNvPr id="6" name="course-team">
            <a:extLst xmlns:a="http://schemas.openxmlformats.org/drawingml/2006/main">
              <a:ext uri="{FF2B5EF4-FFF2-40B4-BE49-F238E27FC236}">
                <a16:creationId xmlns:a16="http://schemas.microsoft.com/office/drawing/2014/main" id="{919659B7-13D7-4838-8E86-366810204F63}"/>
              </a:ext>
            </a:extLst>
          </p:cNvPr>
          <p:cNvSpPr>
            <a:spLocks xmlns:a="http://schemas.openxmlformats.org/drawingml/2006/main" noGrp="1"/>
          </p:cNvSpPr>
          <p:nvPr/>
        </p:nvSpPr>
        <p:spPr>
          <a:xfrm xmlns:a="http://schemas.openxmlformats.org/drawingml/2006/main">
            <a:off x="514350" y="2133600"/>
            <a:ext cx="3714750" cy="1952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75" b="0">
                <a:solidFill>
                  <a:srgbClr val="111111"/>
                </a:solidFill>
              </a:defRPr>
            </a:pPr>
            <a:r>
              <a:rPr sz="1875" b="0">
                <a:solidFill>
                  <a:srgbClr val="111111"/>
                </a:solidFill>
              </a:rPr>
              <a:t>Prof. Ehsan Roohi</a:t>
            </a:r>
          </a:p>
          <a:p xmlns:a="http://schemas.openxmlformats.org/drawingml/2006/main">
            <a:pPr algn="l">
              <a:buNone/>
              <a:defRPr sz="1875" b="0">
                <a:solidFill>
                  <a:srgbClr val="111111"/>
                </a:solidFill>
              </a:defRPr>
            </a:pPr>
            <a:r>
              <a:rPr sz="1875" b="0">
                <a:solidFill>
                  <a:srgbClr val="111111"/>
                </a:solidFill>
              </a:rPr>
              <a:t>Yuyuan Zhang</a:t>
            </a:r>
          </a:p>
          <a:p xmlns:a="http://schemas.openxmlformats.org/drawingml/2006/main">
            <a:pPr algn="l">
              <a:buNone/>
              <a:defRPr sz="1875" b="0">
                <a:solidFill>
                  <a:srgbClr val="111111"/>
                </a:solidFill>
              </a:defRPr>
            </a:pPr>
            <a:r>
              <a:rPr sz="1875" b="0">
                <a:solidFill>
                  <a:srgbClr val="111111"/>
                </a:solidFill>
              </a:rPr>
              <a:t>Nazila Emamdoost</a:t>
            </a:r>
          </a:p>
        </p:txBody>
      </p:sp>
      <p:sp>
        <p:nvSpPr>
          <p:cNvPr id="7" name="text-52">
            <a:extLst xmlns:a="http://schemas.openxmlformats.org/drawingml/2006/main">
              <a:ext uri="{FF2B5EF4-FFF2-40B4-BE49-F238E27FC236}">
                <a16:creationId xmlns:a16="http://schemas.microsoft.com/office/drawing/2014/main" id="{DC90A1CB-4001-4B4A-A26B-D63CB088AF06}"/>
              </a:ext>
            </a:extLst>
          </p:cNvPr>
          <p:cNvSpPr>
            <a:spLocks xmlns:a="http://schemas.openxmlformats.org/drawingml/2006/main" noGrp="1"/>
          </p:cNvSpPr>
          <p:nvPr/>
        </p:nvSpPr>
        <p:spPr>
          <a:xfrm xmlns:a="http://schemas.openxmlformats.org/drawingml/2006/main">
            <a:off x="4629150" y="169545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00" b="1">
                <a:solidFill>
                  <a:srgbClr val="881C1C"/>
                </a:solidFill>
              </a:defRPr>
            </a:pPr>
            <a:r>
              <a:rPr sz="1500" b="1">
                <a:solidFill>
                  <a:srgbClr val="881C1C"/>
                </a:solidFill>
              </a:rPr>
              <a:t>WEEKLY RHYTHM</a:t>
            </a:r>
          </a:p>
        </p:txBody>
      </p:sp>
      <p:sp>
        <p:nvSpPr>
          <p:cNvPr id="8" name="text-53">
            <a:extLst xmlns:a="http://schemas.openxmlformats.org/drawingml/2006/main">
              <a:ext uri="{FF2B5EF4-FFF2-40B4-BE49-F238E27FC236}">
                <a16:creationId xmlns:a16="http://schemas.microsoft.com/office/drawing/2014/main" id="{264BAE28-29E8-419D-A188-C8EACEB49A4F}"/>
              </a:ext>
            </a:extLst>
          </p:cNvPr>
          <p:cNvSpPr>
            <a:spLocks xmlns:a="http://schemas.openxmlformats.org/drawingml/2006/main" noGrp="1"/>
          </p:cNvSpPr>
          <p:nvPr/>
        </p:nvSpPr>
        <p:spPr>
          <a:xfrm xmlns:a="http://schemas.openxmlformats.org/drawingml/2006/main">
            <a:off x="4629150" y="2133600"/>
            <a:ext cx="1047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75" b="1">
                <a:solidFill>
                  <a:srgbClr val="881C1C"/>
                </a:solidFill>
              </a:defRPr>
            </a:pPr>
            <a:r>
              <a:rPr sz="1575" b="1">
                <a:solidFill>
                  <a:srgbClr val="881C1C"/>
                </a:solidFill>
              </a:rPr>
              <a:t>MON</a:t>
            </a:r>
          </a:p>
        </p:txBody>
      </p:sp>
      <p:sp>
        <p:nvSpPr>
          <p:cNvPr id="9" name="text-54">
            <a:extLst xmlns:a="http://schemas.openxmlformats.org/drawingml/2006/main">
              <a:ext uri="{FF2B5EF4-FFF2-40B4-BE49-F238E27FC236}">
                <a16:creationId xmlns:a16="http://schemas.microsoft.com/office/drawing/2014/main" id="{B6C5CD34-21BD-4812-A114-5D3A4CDC5BC2}"/>
              </a:ext>
            </a:extLst>
          </p:cNvPr>
          <p:cNvSpPr>
            <a:spLocks xmlns:a="http://schemas.openxmlformats.org/drawingml/2006/main" noGrp="1"/>
          </p:cNvSpPr>
          <p:nvPr/>
        </p:nvSpPr>
        <p:spPr>
          <a:xfrm xmlns:a="http://schemas.openxmlformats.org/drawingml/2006/main">
            <a:off x="5810250" y="2133600"/>
            <a:ext cx="5334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0">
                <a:solidFill>
                  <a:srgbClr val="111111"/>
                </a:solidFill>
              </a:defRPr>
            </a:pPr>
            <a:r>
              <a:rPr sz="1725" b="0">
                <a:solidFill>
                  <a:srgbClr val="111111"/>
                </a:solidFill>
              </a:rPr>
              <a:t>Theory • 12:20–1:10 PM</a:t>
            </a:r>
          </a:p>
          <a:p xmlns:a="http://schemas.openxmlformats.org/drawingml/2006/main">
            <a:pPr algn="l">
              <a:buNone/>
              <a:defRPr sz="1725" b="0">
                <a:solidFill>
                  <a:srgbClr val="111111"/>
                </a:solidFill>
              </a:defRPr>
            </a:pPr>
            <a:r>
              <a:rPr sz="1725" b="0">
                <a:solidFill>
                  <a:srgbClr val="111111"/>
                </a:solidFill>
              </a:rPr>
              <a:t>Hasbrouck Laboratory 134</a:t>
            </a:r>
          </a:p>
        </p:txBody>
      </p:sp>
      <p:sp>
        <p:nvSpPr>
          <p:cNvPr id="10" name="text-55">
            <a:extLst xmlns:a="http://schemas.openxmlformats.org/drawingml/2006/main">
              <a:ext uri="{FF2B5EF4-FFF2-40B4-BE49-F238E27FC236}">
                <a16:creationId xmlns:a16="http://schemas.microsoft.com/office/drawing/2014/main" id="{2811E7CC-233C-4E61-944F-CDAA23FFDD5E}"/>
              </a:ext>
            </a:extLst>
          </p:cNvPr>
          <p:cNvSpPr>
            <a:spLocks xmlns:a="http://schemas.openxmlformats.org/drawingml/2006/main" noGrp="1"/>
          </p:cNvSpPr>
          <p:nvPr/>
        </p:nvSpPr>
        <p:spPr>
          <a:xfrm xmlns:a="http://schemas.openxmlformats.org/drawingml/2006/main">
            <a:off x="4629150" y="3276600"/>
            <a:ext cx="1047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75" b="1">
                <a:solidFill>
                  <a:srgbClr val="881C1C"/>
                </a:solidFill>
              </a:defRPr>
            </a:pPr>
            <a:r>
              <a:rPr sz="1575" b="1">
                <a:solidFill>
                  <a:srgbClr val="881C1C"/>
                </a:solidFill>
              </a:rPr>
              <a:t>TUE–FRI</a:t>
            </a:r>
          </a:p>
        </p:txBody>
      </p:sp>
      <p:sp>
        <p:nvSpPr>
          <p:cNvPr id="11" name="text-56">
            <a:extLst xmlns:a="http://schemas.openxmlformats.org/drawingml/2006/main">
              <a:ext uri="{FF2B5EF4-FFF2-40B4-BE49-F238E27FC236}">
                <a16:creationId xmlns:a16="http://schemas.microsoft.com/office/drawing/2014/main" id="{FC5DD867-E87B-4F95-9E96-2E4B479C3F56}"/>
              </a:ext>
            </a:extLst>
          </p:cNvPr>
          <p:cNvSpPr>
            <a:spLocks xmlns:a="http://schemas.openxmlformats.org/drawingml/2006/main" noGrp="1"/>
          </p:cNvSpPr>
          <p:nvPr/>
        </p:nvSpPr>
        <p:spPr>
          <a:xfrm xmlns:a="http://schemas.openxmlformats.org/drawingml/2006/main">
            <a:off x="5810250" y="3276600"/>
            <a:ext cx="5334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0">
                <a:solidFill>
                  <a:srgbClr val="111111"/>
                </a:solidFill>
              </a:defRPr>
            </a:pPr>
            <a:r>
              <a:rPr sz="1725" b="0">
                <a:solidFill>
                  <a:srgbClr val="111111"/>
                </a:solidFill>
              </a:rPr>
              <a:t>Laboratory sections</a:t>
            </a:r>
          </a:p>
          <a:p xmlns:a="http://schemas.openxmlformats.org/drawingml/2006/main">
            <a:pPr algn="l">
              <a:buNone/>
              <a:defRPr sz="1725" b="0">
                <a:solidFill>
                  <a:srgbClr val="111111"/>
                </a:solidFill>
              </a:defRPr>
            </a:pPr>
            <a:r>
              <a:rPr sz="1725" b="0">
                <a:solidFill>
                  <a:srgbClr val="111111"/>
                </a:solidFill>
              </a:rPr>
              <a:t>Gunness Laboratory 5</a:t>
            </a:r>
          </a:p>
        </p:txBody>
      </p:sp>
      <p:sp>
        <p:nvSpPr>
          <p:cNvPr id="12" name="text-57">
            <a:extLst xmlns:a="http://schemas.openxmlformats.org/drawingml/2006/main">
              <a:ext uri="{FF2B5EF4-FFF2-40B4-BE49-F238E27FC236}">
                <a16:creationId xmlns:a16="http://schemas.microsoft.com/office/drawing/2014/main" id="{27C2452C-9FE6-43D8-93C1-86B28808F2AE}"/>
              </a:ext>
            </a:extLst>
          </p:cNvPr>
          <p:cNvSpPr>
            <a:spLocks xmlns:a="http://schemas.openxmlformats.org/drawingml/2006/main" noGrp="1"/>
          </p:cNvSpPr>
          <p:nvPr/>
        </p:nvSpPr>
        <p:spPr>
          <a:xfrm xmlns:a="http://schemas.openxmlformats.org/drawingml/2006/main">
            <a:off x="4629150" y="4419600"/>
            <a:ext cx="1047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75" b="1">
                <a:solidFill>
                  <a:srgbClr val="881C1C"/>
                </a:solidFill>
              </a:defRPr>
            </a:pPr>
            <a:r>
              <a:rPr sz="1575" b="1">
                <a:solidFill>
                  <a:srgbClr val="881C1C"/>
                </a:solidFill>
              </a:rPr>
              <a:t>FRI</a:t>
            </a:r>
          </a:p>
        </p:txBody>
      </p:sp>
      <p:sp>
        <p:nvSpPr>
          <p:cNvPr id="13" name="text-58">
            <a:extLst xmlns:a="http://schemas.openxmlformats.org/drawingml/2006/main">
              <a:ext uri="{FF2B5EF4-FFF2-40B4-BE49-F238E27FC236}">
                <a16:creationId xmlns:a16="http://schemas.microsoft.com/office/drawing/2014/main" id="{35F995AA-F215-4960-953C-253B9B706A1D}"/>
              </a:ext>
            </a:extLst>
          </p:cNvPr>
          <p:cNvSpPr>
            <a:spLocks xmlns:a="http://schemas.openxmlformats.org/drawingml/2006/main" noGrp="1"/>
          </p:cNvSpPr>
          <p:nvPr/>
        </p:nvSpPr>
        <p:spPr>
          <a:xfrm xmlns:a="http://schemas.openxmlformats.org/drawingml/2006/main">
            <a:off x="5810250" y="4419600"/>
            <a:ext cx="5334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0">
                <a:solidFill>
                  <a:srgbClr val="111111"/>
                </a:solidFill>
              </a:defRPr>
            </a:pPr>
            <a:r>
              <a:rPr sz="1725" b="0">
                <a:solidFill>
                  <a:srgbClr val="111111"/>
                </a:solidFill>
              </a:rPr>
              <a:t>Office hours • 12:20–1:10 PM</a:t>
            </a:r>
          </a:p>
          <a:p xmlns:a="http://schemas.openxmlformats.org/drawingml/2006/main">
            <a:pPr algn="l">
              <a:buNone/>
              <a:defRPr sz="1725" b="0">
                <a:solidFill>
                  <a:srgbClr val="111111"/>
                </a:solidFill>
              </a:defRPr>
            </a:pPr>
            <a:r>
              <a:rPr sz="1725" b="0">
                <a:solidFill>
                  <a:srgbClr val="111111"/>
                </a:solidFill>
              </a:rPr>
              <a:t>Gunness Laboratory 1</a:t>
            </a:r>
          </a:p>
        </p:txBody>
      </p:sp>
      <p:sp>
        <p:nvSpPr>
          <p:cNvPr id="14" name="text-59">
            <a:extLst xmlns:a="http://schemas.openxmlformats.org/drawingml/2006/main">
              <a:ext uri="{FF2B5EF4-FFF2-40B4-BE49-F238E27FC236}">
                <a16:creationId xmlns:a16="http://schemas.microsoft.com/office/drawing/2014/main" id="{929A243A-2205-4D7B-A19D-D31E91CC868A}"/>
              </a:ext>
            </a:extLst>
          </p:cNvPr>
          <p:cNvSpPr>
            <a:spLocks xmlns:a="http://schemas.openxmlformats.org/drawingml/2006/main" noGrp="1"/>
          </p:cNvSpPr>
          <p:nvPr/>
        </p:nvSpPr>
        <p:spPr>
          <a:xfrm xmlns:a="http://schemas.openxmlformats.org/drawingml/2006/main">
            <a:off x="514350" y="5334000"/>
            <a:ext cx="10572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1">
                <a:solidFill>
                  <a:srgbClr val="5F6368"/>
                </a:solidFill>
              </a:defRPr>
            </a:pPr>
            <a:r>
              <a:rPr sz="1725" b="1">
                <a:solidFill>
                  <a:srgbClr val="5F6368"/>
                </a:solidFill>
              </a:rPr>
              <a:t>Check Canvas for your assigned section, GTA, and any section-specific updates.</a:t>
            </a:r>
          </a:p>
        </p:txBody>
      </p:sp>
    </p:spTree>
    <p:extLst>
      <p:ext uri="{BB962C8B-B14F-4D97-AF65-F5344CB8AC3E}">
        <p14:creationId xmlns:p14="http://schemas.microsoft.com/office/powerpoint/2010/main" val="107966960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yebrow-7">
            <a:extLst xmlns:a="http://schemas.openxmlformats.org/drawingml/2006/main">
              <a:ext uri="{FF2B5EF4-FFF2-40B4-BE49-F238E27FC236}">
                <a16:creationId xmlns:a16="http://schemas.microsoft.com/office/drawing/2014/main" id="{CDD7E390-501A-4AE8-B95C-7A3DEF657AC9}"/>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7">
            <a:extLst xmlns:a="http://schemas.openxmlformats.org/drawingml/2006/main">
              <a:ext uri="{FF2B5EF4-FFF2-40B4-BE49-F238E27FC236}">
                <a16:creationId xmlns:a16="http://schemas.microsoft.com/office/drawing/2014/main" id="{E2D94639-1376-4672-9815-4EB0D8A95DA0}"/>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Course grading</a:t>
            </a:r>
          </a:p>
        </p:txBody>
      </p:sp>
      <p:sp>
        <p:nvSpPr>
          <p:cNvPr id="3" name="rule-86">
            <a:extLst xmlns:a="http://schemas.openxmlformats.org/drawingml/2006/main">
              <a:ext uri="{FF2B5EF4-FFF2-40B4-BE49-F238E27FC236}">
                <a16:creationId xmlns:a16="http://schemas.microsoft.com/office/drawing/2014/main" id="{F3B7997C-3854-4F97-9F08-6B1B0C7EF880}"/>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7">
            <a:extLst xmlns:a="http://schemas.openxmlformats.org/drawingml/2006/main">
              <a:ext uri="{FF2B5EF4-FFF2-40B4-BE49-F238E27FC236}">
                <a16:creationId xmlns:a16="http://schemas.microsoft.com/office/drawing/2014/main" id="{C957F195-25E9-4C72-95D8-616A2A594491}"/>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5</a:t>
            </a:r>
          </a:p>
        </p:txBody>
      </p:sp>
      <p:graphicFrame>
        <p:nvGraphicFramePr>
          <p:cNvPr id="15" name="Chart"/>
          <p:cNvGraphicFramePr/>
          <p:nvPr/>
        </p:nvGraphicFramePr>
        <p:xfrm>
          <a:off xmlns:a="http://schemas.openxmlformats.org/drawingml/2006/main" x="514350" y="1714500"/>
          <a:ext xmlns:a="http://schemas.openxmlformats.org/drawingml/2006/main" cx="6858000" cy="4095750"/>
        </p:xfrm>
        <a:graphic xmlns:a="http://schemas.openxmlformats.org/drawingml/2006/main">
          <a:graphicData uri="http://schemas.openxmlformats.org/drawingml/2006/chart">
            <c:chart xmlns:r="http://schemas.openxmlformats.org/officeDocument/2006/relationships" xmlns:c="http://schemas.openxmlformats.org/drawingml/2006/chart" r:id="R5615ce2415144fbd"/>
          </a:graphicData>
        </a:graphic>
      </p:graphicFrame>
      <p:sp>
        <p:nvSpPr>
          <p:cNvPr id="6" name="text-88">
            <a:extLst xmlns:a="http://schemas.openxmlformats.org/drawingml/2006/main">
              <a:ext uri="{FF2B5EF4-FFF2-40B4-BE49-F238E27FC236}">
                <a16:creationId xmlns:a16="http://schemas.microsoft.com/office/drawing/2014/main" id="{477D3F3E-70DF-4339-BD5C-6B4036522212}"/>
              </a:ext>
            </a:extLst>
          </p:cNvPr>
          <p:cNvSpPr>
            <a:spLocks xmlns:a="http://schemas.openxmlformats.org/drawingml/2006/main" noGrp="1"/>
          </p:cNvSpPr>
          <p:nvPr/>
        </p:nvSpPr>
        <p:spPr>
          <a:xfrm xmlns:a="http://schemas.openxmlformats.org/drawingml/2006/main">
            <a:off x="8096250" y="2000250"/>
            <a:ext cx="2571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4350" b="1">
                <a:solidFill>
                  <a:srgbClr val="881C1C"/>
                </a:solidFill>
              </a:defRPr>
            </a:pPr>
            <a:r>
              <a:rPr sz="4350" b="1">
                <a:solidFill>
                  <a:srgbClr val="881C1C"/>
                </a:solidFill>
              </a:rPr>
              <a:t>100%</a:t>
            </a:r>
          </a:p>
        </p:txBody>
      </p:sp>
      <p:sp>
        <p:nvSpPr>
          <p:cNvPr id="7" name="text-89">
            <a:extLst xmlns:a="http://schemas.openxmlformats.org/drawingml/2006/main">
              <a:ext uri="{FF2B5EF4-FFF2-40B4-BE49-F238E27FC236}">
                <a16:creationId xmlns:a16="http://schemas.microsoft.com/office/drawing/2014/main" id="{48079E57-C2AA-4524-B2BC-9CA44C6CECB8}"/>
              </a:ext>
            </a:extLst>
          </p:cNvPr>
          <p:cNvSpPr>
            <a:spLocks xmlns:a="http://schemas.openxmlformats.org/drawingml/2006/main" noGrp="1"/>
          </p:cNvSpPr>
          <p:nvPr/>
        </p:nvSpPr>
        <p:spPr>
          <a:xfrm xmlns:a="http://schemas.openxmlformats.org/drawingml/2006/main">
            <a:off x="8001000" y="3067050"/>
            <a:ext cx="2857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875" b="1">
                <a:solidFill>
                  <a:srgbClr val="111111"/>
                </a:solidFill>
              </a:defRPr>
            </a:pPr>
            <a:r>
              <a:rPr sz="1875" b="1">
                <a:solidFill>
                  <a:srgbClr val="111111"/>
                </a:solidFill>
              </a:rPr>
              <a:t>Preparation + reports + participation</a:t>
            </a:r>
          </a:p>
        </p:txBody>
      </p:sp>
      <p:sp>
        <p:nvSpPr>
          <p:cNvPr id="8" name="text-90">
            <a:extLst xmlns:a="http://schemas.openxmlformats.org/drawingml/2006/main">
              <a:ext uri="{FF2B5EF4-FFF2-40B4-BE49-F238E27FC236}">
                <a16:creationId xmlns:a16="http://schemas.microsoft.com/office/drawing/2014/main" id="{C63570DE-6EC5-4520-BDF7-048FEA6BE744}"/>
              </a:ext>
            </a:extLst>
          </p:cNvPr>
          <p:cNvSpPr>
            <a:spLocks xmlns:a="http://schemas.openxmlformats.org/drawingml/2006/main" noGrp="1"/>
          </p:cNvSpPr>
          <p:nvPr/>
        </p:nvSpPr>
        <p:spPr>
          <a:xfrm xmlns:a="http://schemas.openxmlformats.org/drawingml/2006/main">
            <a:off x="7905750" y="4381500"/>
            <a:ext cx="304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650" b="0">
                <a:solidFill>
                  <a:srgbClr val="5F6368"/>
                </a:solidFill>
              </a:defRPr>
            </a:pPr>
            <a:r>
              <a:rPr sz="1650" b="0">
                <a:solidFill>
                  <a:srgbClr val="5F6368"/>
                </a:solidFill>
              </a:rPr>
              <a:t>The combined reports reward synthesis across related experiments.</a:t>
            </a:r>
          </a:p>
        </p:txBody>
      </p:sp>
    </p:spTree>
    <p:extLst>
      <p:ext uri="{BB962C8B-B14F-4D97-AF65-F5344CB8AC3E}">
        <p14:creationId xmlns:p14="http://schemas.microsoft.com/office/powerpoint/2010/main" val="20879890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eyebrow-5">
            <a:extLst xmlns:a="http://schemas.openxmlformats.org/drawingml/2006/main">
              <a:ext uri="{FF2B5EF4-FFF2-40B4-BE49-F238E27FC236}">
                <a16:creationId xmlns:a16="http://schemas.microsoft.com/office/drawing/2014/main" id="{1A94AD8E-FC9D-4F86-BCB8-0AD44E813351}"/>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5">
            <a:extLst xmlns:a="http://schemas.openxmlformats.org/drawingml/2006/main">
              <a:ext uri="{FF2B5EF4-FFF2-40B4-BE49-F238E27FC236}">
                <a16:creationId xmlns:a16="http://schemas.microsoft.com/office/drawing/2014/main" id="{2293A022-F7F1-44F4-8FBB-2776F1043C8D}"/>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The laboratory workflow</a:t>
            </a:r>
          </a:p>
        </p:txBody>
      </p:sp>
      <p:sp>
        <p:nvSpPr>
          <p:cNvPr id="3" name="rule-62">
            <a:extLst xmlns:a="http://schemas.openxmlformats.org/drawingml/2006/main">
              <a:ext uri="{FF2B5EF4-FFF2-40B4-BE49-F238E27FC236}">
                <a16:creationId xmlns:a16="http://schemas.microsoft.com/office/drawing/2014/main" id="{7B847A16-6070-42C3-AB9A-26A6B5BE924D}"/>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5">
            <a:extLst xmlns:a="http://schemas.openxmlformats.org/drawingml/2006/main">
              <a:ext uri="{FF2B5EF4-FFF2-40B4-BE49-F238E27FC236}">
                <a16:creationId xmlns:a16="http://schemas.microsoft.com/office/drawing/2014/main" id="{42133AD2-CFF3-483A-86EF-E34A1C3726B6}"/>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6</a:t>
            </a:r>
          </a:p>
        </p:txBody>
      </p:sp>
      <p:sp>
        <p:nvSpPr>
          <p:cNvPr id="5" name="workflow-stage-1">
            <a:extLst xmlns:a="http://schemas.openxmlformats.org/drawingml/2006/main">
              <a:ext uri="{FF2B5EF4-FFF2-40B4-BE49-F238E27FC236}">
                <a16:creationId xmlns:a16="http://schemas.microsoft.com/office/drawing/2014/main" id="{F14EE9A9-ACC9-4BFB-89CA-E699D131657D}"/>
              </a:ext>
            </a:extLst>
          </p:cNvPr>
          <p:cNvSpPr>
            <a:spLocks xmlns:a="http://schemas.openxmlformats.org/drawingml/2006/main" noGrp="1"/>
          </p:cNvSpPr>
          <p:nvPr/>
        </p:nvSpPr>
        <p:spPr>
          <a:xfrm xmlns:a="http://schemas.openxmlformats.org/drawingml/2006/main">
            <a:off x="514350" y="2238375"/>
            <a:ext cx="2305050" cy="2333625"/>
          </a:xfrm>
          <a:prstGeom xmlns:a="http://schemas.openxmlformats.org/drawingml/2006/main" prst="rect">
            <a:avLst/>
          </a:prstGeom>
          <a:solidFill xmlns:a="http://schemas.openxmlformats.org/drawingml/2006/main">
            <a:srgbClr val="F1F1F1"/>
          </a:solidFill>
          <a:ln xmlns:a="http://schemas.openxmlformats.org/drawingml/2006/main" w="9525">
            <a:solidFill>
              <a:srgbClr val="C8CBD0"/>
            </a:solidFill>
            <a:prstDash val="solid"/>
          </a:ln>
        </p:spPr>
      </p:sp>
      <p:sp>
        <p:nvSpPr>
          <p:cNvPr id="6" name="text-65">
            <a:extLst xmlns:a="http://schemas.openxmlformats.org/drawingml/2006/main">
              <a:ext uri="{FF2B5EF4-FFF2-40B4-BE49-F238E27FC236}">
                <a16:creationId xmlns:a16="http://schemas.microsoft.com/office/drawing/2014/main" id="{A4EFA9EF-1581-4F40-A1CE-5A1EEA19CB27}"/>
              </a:ext>
            </a:extLst>
          </p:cNvPr>
          <p:cNvSpPr>
            <a:spLocks xmlns:a="http://schemas.openxmlformats.org/drawingml/2006/main" noGrp="1"/>
          </p:cNvSpPr>
          <p:nvPr/>
        </p:nvSpPr>
        <p:spPr>
          <a:xfrm xmlns:a="http://schemas.openxmlformats.org/drawingml/2006/main">
            <a:off x="685800" y="2476500"/>
            <a:ext cx="1952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00" b="1">
                <a:solidFill>
                  <a:srgbClr val="881C1C"/>
                </a:solidFill>
              </a:defRPr>
            </a:pPr>
            <a:r>
              <a:rPr sz="1800" b="1">
                <a:solidFill>
                  <a:srgbClr val="881C1C"/>
                </a:solidFill>
              </a:rPr>
              <a:t>PRE-LAB</a:t>
            </a:r>
          </a:p>
        </p:txBody>
      </p:sp>
      <p:sp>
        <p:nvSpPr>
          <p:cNvPr id="7" name="text-66">
            <a:extLst xmlns:a="http://schemas.openxmlformats.org/drawingml/2006/main">
              <a:ext uri="{FF2B5EF4-FFF2-40B4-BE49-F238E27FC236}">
                <a16:creationId xmlns:a16="http://schemas.microsoft.com/office/drawing/2014/main" id="{911975F2-438E-4EAF-9F8C-420F70B191CE}"/>
              </a:ext>
            </a:extLst>
          </p:cNvPr>
          <p:cNvSpPr>
            <a:spLocks xmlns:a="http://schemas.openxmlformats.org/drawingml/2006/main" noGrp="1"/>
          </p:cNvSpPr>
          <p:nvPr/>
        </p:nvSpPr>
        <p:spPr>
          <a:xfrm xmlns:a="http://schemas.openxmlformats.org/drawingml/2006/main">
            <a:off x="685800" y="3143250"/>
            <a:ext cx="1952625"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75" b="0">
                <a:solidFill>
                  <a:srgbClr val="5F6368"/>
                </a:solidFill>
              </a:defRPr>
            </a:pPr>
            <a:r>
              <a:rPr sz="1575" b="0">
                <a:solidFill>
                  <a:srgbClr val="5F6368"/>
                </a:solidFill>
              </a:rPr>
              <a:t>Build the theory and analysis tools before arriving</a:t>
            </a:r>
          </a:p>
        </p:txBody>
      </p:sp>
      <p:sp>
        <p:nvSpPr>
          <p:cNvPr id="8" name="text-67">
            <a:extLst xmlns:a="http://schemas.openxmlformats.org/drawingml/2006/main">
              <a:ext uri="{FF2B5EF4-FFF2-40B4-BE49-F238E27FC236}">
                <a16:creationId xmlns:a16="http://schemas.microsoft.com/office/drawing/2014/main" id="{22248092-0FF2-48B5-BCC1-6677BB1EC5D6}"/>
              </a:ext>
            </a:extLst>
          </p:cNvPr>
          <p:cNvSpPr>
            <a:spLocks xmlns:a="http://schemas.openxmlformats.org/drawingml/2006/main" noGrp="1"/>
          </p:cNvSpPr>
          <p:nvPr/>
        </p:nvSpPr>
        <p:spPr>
          <a:xfrm xmlns:a="http://schemas.openxmlformats.org/drawingml/2006/main">
            <a:off x="2847975" y="3143250"/>
            <a:ext cx="43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2250" b="1">
                <a:solidFill>
                  <a:srgbClr val="111111"/>
                </a:solidFill>
              </a:defRPr>
            </a:pPr>
            <a:r>
              <a:rPr sz="2250" b="1">
                <a:solidFill>
                  <a:srgbClr val="111111"/>
                </a:solidFill>
              </a:rPr>
              <a:t>→</a:t>
            </a:r>
          </a:p>
        </p:txBody>
      </p:sp>
      <p:sp>
        <p:nvSpPr>
          <p:cNvPr id="9" name="workflow-stage-2">
            <a:extLst xmlns:a="http://schemas.openxmlformats.org/drawingml/2006/main">
              <a:ext uri="{FF2B5EF4-FFF2-40B4-BE49-F238E27FC236}">
                <a16:creationId xmlns:a16="http://schemas.microsoft.com/office/drawing/2014/main" id="{4CF2B2D4-C867-47B3-8E40-D967A76336E9}"/>
              </a:ext>
            </a:extLst>
          </p:cNvPr>
          <p:cNvSpPr>
            <a:spLocks xmlns:a="http://schemas.openxmlformats.org/drawingml/2006/main" noGrp="1"/>
          </p:cNvSpPr>
          <p:nvPr/>
        </p:nvSpPr>
        <p:spPr>
          <a:xfrm xmlns:a="http://schemas.openxmlformats.org/drawingml/2006/main">
            <a:off x="3333750" y="2238375"/>
            <a:ext cx="2305050" cy="2333625"/>
          </a:xfrm>
          <a:prstGeom xmlns:a="http://schemas.openxmlformats.org/drawingml/2006/main" prst="rect">
            <a:avLst/>
          </a:prstGeom>
          <a:solidFill xmlns:a="http://schemas.openxmlformats.org/drawingml/2006/main">
            <a:srgbClr val="EAF5FB"/>
          </a:solidFill>
          <a:ln xmlns:a="http://schemas.openxmlformats.org/drawingml/2006/main" w="9525">
            <a:solidFill>
              <a:srgbClr val="3D8DFF"/>
            </a:solidFill>
            <a:prstDash val="solid"/>
          </a:ln>
        </p:spPr>
      </p:sp>
      <p:sp>
        <p:nvSpPr>
          <p:cNvPr id="10" name="text-69">
            <a:extLst xmlns:a="http://schemas.openxmlformats.org/drawingml/2006/main">
              <a:ext uri="{FF2B5EF4-FFF2-40B4-BE49-F238E27FC236}">
                <a16:creationId xmlns:a16="http://schemas.microsoft.com/office/drawing/2014/main" id="{2BF357A3-8FCD-424C-9AE7-32E1888AE795}"/>
              </a:ext>
            </a:extLst>
          </p:cNvPr>
          <p:cNvSpPr>
            <a:spLocks xmlns:a="http://schemas.openxmlformats.org/drawingml/2006/main" noGrp="1"/>
          </p:cNvSpPr>
          <p:nvPr/>
        </p:nvSpPr>
        <p:spPr>
          <a:xfrm xmlns:a="http://schemas.openxmlformats.org/drawingml/2006/main">
            <a:off x="3505200" y="2476500"/>
            <a:ext cx="1952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00" b="1">
                <a:solidFill>
                  <a:srgbClr val="3D8DFF"/>
                </a:solidFill>
              </a:defRPr>
            </a:pPr>
            <a:r>
              <a:rPr sz="1800" b="1">
                <a:solidFill>
                  <a:srgbClr val="3D8DFF"/>
                </a:solidFill>
              </a:rPr>
              <a:t>LAB</a:t>
            </a:r>
          </a:p>
        </p:txBody>
      </p:sp>
      <p:sp>
        <p:nvSpPr>
          <p:cNvPr id="11" name="text-70">
            <a:extLst xmlns:a="http://schemas.openxmlformats.org/drawingml/2006/main">
              <a:ext uri="{FF2B5EF4-FFF2-40B4-BE49-F238E27FC236}">
                <a16:creationId xmlns:a16="http://schemas.microsoft.com/office/drawing/2014/main" id="{5D775E31-7146-468F-8E97-BF7A9C88CFEF}"/>
              </a:ext>
            </a:extLst>
          </p:cNvPr>
          <p:cNvSpPr>
            <a:spLocks xmlns:a="http://schemas.openxmlformats.org/drawingml/2006/main" noGrp="1"/>
          </p:cNvSpPr>
          <p:nvPr/>
        </p:nvSpPr>
        <p:spPr>
          <a:xfrm xmlns:a="http://schemas.openxmlformats.org/drawingml/2006/main">
            <a:off x="3505200" y="3143250"/>
            <a:ext cx="1952625"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75" b="0">
                <a:solidFill>
                  <a:srgbClr val="5F6368"/>
                </a:solidFill>
              </a:defRPr>
            </a:pPr>
            <a:r>
              <a:rPr sz="1575" b="0">
                <a:solidFill>
                  <a:srgbClr val="5F6368"/>
                </a:solidFill>
              </a:rPr>
              <a:t>Acquire data, check quality, and document the method</a:t>
            </a:r>
          </a:p>
        </p:txBody>
      </p:sp>
      <p:sp>
        <p:nvSpPr>
          <p:cNvPr id="12" name="text-71">
            <a:extLst xmlns:a="http://schemas.openxmlformats.org/drawingml/2006/main">
              <a:ext uri="{FF2B5EF4-FFF2-40B4-BE49-F238E27FC236}">
                <a16:creationId xmlns:a16="http://schemas.microsoft.com/office/drawing/2014/main" id="{9318D97F-C0CF-4F37-AE49-59DEC8D86EAD}"/>
              </a:ext>
            </a:extLst>
          </p:cNvPr>
          <p:cNvSpPr>
            <a:spLocks xmlns:a="http://schemas.openxmlformats.org/drawingml/2006/main" noGrp="1"/>
          </p:cNvSpPr>
          <p:nvPr/>
        </p:nvSpPr>
        <p:spPr>
          <a:xfrm xmlns:a="http://schemas.openxmlformats.org/drawingml/2006/main">
            <a:off x="5667375" y="3143250"/>
            <a:ext cx="43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2250" b="1">
                <a:solidFill>
                  <a:srgbClr val="111111"/>
                </a:solidFill>
              </a:defRPr>
            </a:pPr>
            <a:r>
              <a:rPr sz="2250" b="1">
                <a:solidFill>
                  <a:srgbClr val="111111"/>
                </a:solidFill>
              </a:rPr>
              <a:t>→</a:t>
            </a:r>
          </a:p>
        </p:txBody>
      </p:sp>
      <p:sp>
        <p:nvSpPr>
          <p:cNvPr id="13" name="workflow-stage-3">
            <a:extLst xmlns:a="http://schemas.openxmlformats.org/drawingml/2006/main">
              <a:ext uri="{FF2B5EF4-FFF2-40B4-BE49-F238E27FC236}">
                <a16:creationId xmlns:a16="http://schemas.microsoft.com/office/drawing/2014/main" id="{A7FA340E-52D3-443B-8791-33BB17A32E94}"/>
              </a:ext>
            </a:extLst>
          </p:cNvPr>
          <p:cNvSpPr>
            <a:spLocks xmlns:a="http://schemas.openxmlformats.org/drawingml/2006/main" noGrp="1"/>
          </p:cNvSpPr>
          <p:nvPr/>
        </p:nvSpPr>
        <p:spPr>
          <a:xfrm xmlns:a="http://schemas.openxmlformats.org/drawingml/2006/main">
            <a:off x="6153150" y="2238375"/>
            <a:ext cx="2305050" cy="2333625"/>
          </a:xfrm>
          <a:prstGeom xmlns:a="http://schemas.openxmlformats.org/drawingml/2006/main" prst="rect">
            <a:avLst/>
          </a:prstGeom>
          <a:solidFill xmlns:a="http://schemas.openxmlformats.org/drawingml/2006/main">
            <a:srgbClr val="F1F1F1"/>
          </a:solidFill>
          <a:ln xmlns:a="http://schemas.openxmlformats.org/drawingml/2006/main" w="9525">
            <a:solidFill>
              <a:srgbClr val="C8CBD0"/>
            </a:solidFill>
            <a:prstDash val="solid"/>
          </a:ln>
        </p:spPr>
      </p:sp>
      <p:sp>
        <p:nvSpPr>
          <p:cNvPr id="14" name="text-73">
            <a:extLst xmlns:a="http://schemas.openxmlformats.org/drawingml/2006/main">
              <a:ext uri="{FF2B5EF4-FFF2-40B4-BE49-F238E27FC236}">
                <a16:creationId xmlns:a16="http://schemas.microsoft.com/office/drawing/2014/main" id="{13F8044D-B0D8-4CCB-A917-800D6E0C967A}"/>
              </a:ext>
            </a:extLst>
          </p:cNvPr>
          <p:cNvSpPr>
            <a:spLocks xmlns:a="http://schemas.openxmlformats.org/drawingml/2006/main" noGrp="1"/>
          </p:cNvSpPr>
          <p:nvPr/>
        </p:nvSpPr>
        <p:spPr>
          <a:xfrm xmlns:a="http://schemas.openxmlformats.org/drawingml/2006/main">
            <a:off x="6324600" y="2476500"/>
            <a:ext cx="1952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00" b="1">
                <a:solidFill>
                  <a:srgbClr val="881C1C"/>
                </a:solidFill>
              </a:defRPr>
            </a:pPr>
            <a:r>
              <a:rPr sz="1800" b="1">
                <a:solidFill>
                  <a:srgbClr val="881C1C"/>
                </a:solidFill>
              </a:rPr>
              <a:t>ANALYSIS</a:t>
            </a:r>
          </a:p>
        </p:txBody>
      </p:sp>
      <p:sp>
        <p:nvSpPr>
          <p:cNvPr id="15" name="text-74">
            <a:extLst xmlns:a="http://schemas.openxmlformats.org/drawingml/2006/main">
              <a:ext uri="{FF2B5EF4-FFF2-40B4-BE49-F238E27FC236}">
                <a16:creationId xmlns:a16="http://schemas.microsoft.com/office/drawing/2014/main" id="{0C0EA588-F33A-495B-92D6-94D416BCCC7C}"/>
              </a:ext>
            </a:extLst>
          </p:cNvPr>
          <p:cNvSpPr>
            <a:spLocks xmlns:a="http://schemas.openxmlformats.org/drawingml/2006/main" noGrp="1"/>
          </p:cNvSpPr>
          <p:nvPr/>
        </p:nvSpPr>
        <p:spPr>
          <a:xfrm xmlns:a="http://schemas.openxmlformats.org/drawingml/2006/main">
            <a:off x="6324600" y="3143250"/>
            <a:ext cx="1952625"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75" b="0">
                <a:solidFill>
                  <a:srgbClr val="5F6368"/>
                </a:solidFill>
              </a:defRPr>
            </a:pPr>
            <a:r>
              <a:rPr sz="1575" b="0">
                <a:solidFill>
                  <a:srgbClr val="5F6368"/>
                </a:solidFill>
              </a:rPr>
              <a:t>Process data, quantify uncertainty, compare cases</a:t>
            </a:r>
          </a:p>
        </p:txBody>
      </p:sp>
      <p:sp>
        <p:nvSpPr>
          <p:cNvPr id="16" name="text-75">
            <a:extLst xmlns:a="http://schemas.openxmlformats.org/drawingml/2006/main">
              <a:ext uri="{FF2B5EF4-FFF2-40B4-BE49-F238E27FC236}">
                <a16:creationId xmlns:a16="http://schemas.microsoft.com/office/drawing/2014/main" id="{44AE7FE8-EEB0-453E-B718-05C174DB001C}"/>
              </a:ext>
            </a:extLst>
          </p:cNvPr>
          <p:cNvSpPr>
            <a:spLocks xmlns:a="http://schemas.openxmlformats.org/drawingml/2006/main" noGrp="1"/>
          </p:cNvSpPr>
          <p:nvPr/>
        </p:nvSpPr>
        <p:spPr>
          <a:xfrm xmlns:a="http://schemas.openxmlformats.org/drawingml/2006/main">
            <a:off x="8486775" y="3143250"/>
            <a:ext cx="43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2250" b="1">
                <a:solidFill>
                  <a:srgbClr val="111111"/>
                </a:solidFill>
              </a:defRPr>
            </a:pPr>
            <a:r>
              <a:rPr sz="2250" b="1">
                <a:solidFill>
                  <a:srgbClr val="111111"/>
                </a:solidFill>
              </a:rPr>
              <a:t>→</a:t>
            </a:r>
          </a:p>
        </p:txBody>
      </p:sp>
      <p:sp>
        <p:nvSpPr>
          <p:cNvPr id="17" name="workflow-stage-4">
            <a:extLst xmlns:a="http://schemas.openxmlformats.org/drawingml/2006/main">
              <a:ext uri="{FF2B5EF4-FFF2-40B4-BE49-F238E27FC236}">
                <a16:creationId xmlns:a16="http://schemas.microsoft.com/office/drawing/2014/main" id="{CA803D2C-3827-453B-B3BB-8B7CD343D637}"/>
              </a:ext>
            </a:extLst>
          </p:cNvPr>
          <p:cNvSpPr>
            <a:spLocks xmlns:a="http://schemas.openxmlformats.org/drawingml/2006/main" noGrp="1"/>
          </p:cNvSpPr>
          <p:nvPr/>
        </p:nvSpPr>
        <p:spPr>
          <a:xfrm xmlns:a="http://schemas.openxmlformats.org/drawingml/2006/main">
            <a:off x="8972550" y="2238375"/>
            <a:ext cx="2305050" cy="2333625"/>
          </a:xfrm>
          <a:prstGeom xmlns:a="http://schemas.openxmlformats.org/drawingml/2006/main" prst="rect">
            <a:avLst/>
          </a:prstGeom>
          <a:solidFill xmlns:a="http://schemas.openxmlformats.org/drawingml/2006/main">
            <a:srgbClr val="F1F1F1"/>
          </a:solidFill>
          <a:ln xmlns:a="http://schemas.openxmlformats.org/drawingml/2006/main" w="9525">
            <a:solidFill>
              <a:srgbClr val="C8CBD0"/>
            </a:solidFill>
            <a:prstDash val="solid"/>
          </a:ln>
        </p:spPr>
      </p:sp>
      <p:sp>
        <p:nvSpPr>
          <p:cNvPr id="18" name="text-77">
            <a:extLst xmlns:a="http://schemas.openxmlformats.org/drawingml/2006/main">
              <a:ext uri="{FF2B5EF4-FFF2-40B4-BE49-F238E27FC236}">
                <a16:creationId xmlns:a16="http://schemas.microsoft.com/office/drawing/2014/main" id="{F6DE8090-1D93-4303-8161-D898F19C2801}"/>
              </a:ext>
            </a:extLst>
          </p:cNvPr>
          <p:cNvSpPr>
            <a:spLocks xmlns:a="http://schemas.openxmlformats.org/drawingml/2006/main" noGrp="1"/>
          </p:cNvSpPr>
          <p:nvPr/>
        </p:nvSpPr>
        <p:spPr>
          <a:xfrm xmlns:a="http://schemas.openxmlformats.org/drawingml/2006/main">
            <a:off x="9144000" y="2476500"/>
            <a:ext cx="1952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00" b="1">
                <a:solidFill>
                  <a:srgbClr val="881C1C"/>
                </a:solidFill>
              </a:defRPr>
            </a:pPr>
            <a:r>
              <a:rPr sz="1800" b="1">
                <a:solidFill>
                  <a:srgbClr val="881C1C"/>
                </a:solidFill>
              </a:rPr>
              <a:t>REPORT</a:t>
            </a:r>
          </a:p>
        </p:txBody>
      </p:sp>
      <p:sp>
        <p:nvSpPr>
          <p:cNvPr id="19" name="text-78">
            <a:extLst xmlns:a="http://schemas.openxmlformats.org/drawingml/2006/main">
              <a:ext uri="{FF2B5EF4-FFF2-40B4-BE49-F238E27FC236}">
                <a16:creationId xmlns:a16="http://schemas.microsoft.com/office/drawing/2014/main" id="{463F6600-3D14-4AEB-8981-AB7A858D4568}"/>
              </a:ext>
            </a:extLst>
          </p:cNvPr>
          <p:cNvSpPr>
            <a:spLocks xmlns:a="http://schemas.openxmlformats.org/drawingml/2006/main" noGrp="1"/>
          </p:cNvSpPr>
          <p:nvPr/>
        </p:nvSpPr>
        <p:spPr>
          <a:xfrm xmlns:a="http://schemas.openxmlformats.org/drawingml/2006/main">
            <a:off x="9144000" y="3143250"/>
            <a:ext cx="1952625"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75" b="0">
                <a:solidFill>
                  <a:srgbClr val="5F6368"/>
                </a:solidFill>
              </a:defRPr>
            </a:pPr>
            <a:r>
              <a:rPr sz="1575" b="0">
                <a:solidFill>
                  <a:srgbClr val="5F6368"/>
                </a:solidFill>
              </a:rPr>
              <a:t>Make a clear claim and support it with evidence</a:t>
            </a:r>
          </a:p>
        </p:txBody>
      </p:sp>
      <p:sp>
        <p:nvSpPr>
          <p:cNvPr id="20" name="text-79">
            <a:extLst xmlns:a="http://schemas.openxmlformats.org/drawingml/2006/main">
              <a:ext uri="{FF2B5EF4-FFF2-40B4-BE49-F238E27FC236}">
                <a16:creationId xmlns:a16="http://schemas.microsoft.com/office/drawing/2014/main" id="{2AF563B5-ED71-426E-B98C-A21D7B989AF9}"/>
              </a:ext>
            </a:extLst>
          </p:cNvPr>
          <p:cNvSpPr>
            <a:spLocks xmlns:a="http://schemas.openxmlformats.org/drawingml/2006/main" noGrp="1"/>
          </p:cNvSpPr>
          <p:nvPr/>
        </p:nvSpPr>
        <p:spPr>
          <a:xfrm xmlns:a="http://schemas.openxmlformats.org/drawingml/2006/main">
            <a:off x="514350" y="5219700"/>
            <a:ext cx="10572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75" b="1">
                <a:solidFill>
                  <a:srgbClr val="881C1C"/>
                </a:solidFill>
              </a:defRPr>
            </a:pPr>
            <a:r>
              <a:rPr sz="1875" b="1">
                <a:solidFill>
                  <a:srgbClr val="881C1C"/>
                </a:solidFill>
              </a:rPr>
              <a:t>Pre-labs are due before your own laboratory section begins.</a:t>
            </a:r>
          </a:p>
        </p:txBody>
      </p:sp>
    </p:spTree>
    <p:extLst>
      <p:ext uri="{BB962C8B-B14F-4D97-AF65-F5344CB8AC3E}">
        <p14:creationId xmlns:p14="http://schemas.microsoft.com/office/powerpoint/2010/main" val="14708511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eyebrow-6">
            <a:extLst xmlns:a="http://schemas.openxmlformats.org/drawingml/2006/main">
              <a:ext uri="{FF2B5EF4-FFF2-40B4-BE49-F238E27FC236}">
                <a16:creationId xmlns:a16="http://schemas.microsoft.com/office/drawing/2014/main" id="{21D06FEB-6F47-4FD7-A6EF-00D2C5F324FA}"/>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6">
            <a:extLst xmlns:a="http://schemas.openxmlformats.org/drawingml/2006/main">
              <a:ext uri="{FF2B5EF4-FFF2-40B4-BE49-F238E27FC236}">
                <a16:creationId xmlns:a16="http://schemas.microsoft.com/office/drawing/2014/main" id="{8AA6822A-BE6C-4365-AB80-5EB4A352235E}"/>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Six experiments and four reports</a:t>
            </a:r>
          </a:p>
        </p:txBody>
      </p:sp>
      <p:sp>
        <p:nvSpPr>
          <p:cNvPr id="3" name="rule-82">
            <a:extLst xmlns:a="http://schemas.openxmlformats.org/drawingml/2006/main">
              <a:ext uri="{FF2B5EF4-FFF2-40B4-BE49-F238E27FC236}">
                <a16:creationId xmlns:a16="http://schemas.microsoft.com/office/drawing/2014/main" id="{5C5B64BA-9FBF-4A50-BC46-135ED8BDA10A}"/>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6">
            <a:extLst xmlns:a="http://schemas.openxmlformats.org/drawingml/2006/main">
              <a:ext uri="{FF2B5EF4-FFF2-40B4-BE49-F238E27FC236}">
                <a16:creationId xmlns:a16="http://schemas.microsoft.com/office/drawing/2014/main" id="{C03206CB-9037-47F3-B2EF-CE0F435B458B}"/>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7</a:t>
            </a:r>
          </a:p>
        </p:txBody>
      </p:sp>
      <p:graphicFrame>
        <p:nvGraphicFramePr>
          <p:cNvPr id="12" name=""/>
          <p:cNvGraphicFramePr/>
          <p:nvPr/>
        </p:nvGraphicFramePr>
        <p:xfrm>
          <a:off xmlns:a="http://schemas.openxmlformats.org/drawingml/2006/main" x="514350" y="1714500"/>
          <a:ext xmlns:a="http://schemas.openxmlformats.org/drawingml/2006/main" cx="10668000" cy="4095750"/>
        </p:xfrm>
        <a:graphic xmlns:a="http://schemas.openxmlformats.org/drawingml/2006/main">
          <a:graphicData uri="http://schemas.openxmlformats.org/drawingml/2006/table">
            <a:tbl>
              <a:tblPr/>
              <a:tblGrid>
                <a:gridCol w="857250"/>
                <a:gridCol w="3238500"/>
                <a:gridCol w="4476750"/>
                <a:gridCol w="2095500"/>
              </a:tblGrid>
              <a:tr h="585107">
                <a:tc>
                  <a:txBody>
                    <a:bodyPr/>
                    <a:lstStyle/>
                    <a:p>
                      <a:r>
                        <a:rPr sz="1350" b="1">
                          <a:solidFill>
                            <a:srgbClr val="FFFFFF"/>
                          </a:solidFill>
                        </a:rPr>
                        <a:t>Lab</a:t>
                      </a:r>
                    </a:p>
                  </a:txBody>
                  <a:tcPr marL="91440" marR="91440" marT="45720" marB="45720">
                    <a:solidFill>
                      <a:srgbClr val="881C1C"/>
                    </a:solidFill>
                  </a:tcPr>
                </a:tc>
                <a:tc>
                  <a:txBody>
                    <a:bodyPr/>
                    <a:lstStyle/>
                    <a:p>
                      <a:r>
                        <a:rPr sz="1350" b="1">
                          <a:solidFill>
                            <a:srgbClr val="FFFFFF"/>
                          </a:solidFill>
                        </a:rPr>
                        <a:t>Experiment</a:t>
                      </a:r>
                    </a:p>
                  </a:txBody>
                  <a:tcPr marL="91440" marR="91440" marT="45720" marB="45720">
                    <a:solidFill>
                      <a:srgbClr val="881C1C"/>
                    </a:solidFill>
                  </a:tcPr>
                </a:tc>
                <a:tc>
                  <a:txBody>
                    <a:bodyPr/>
                    <a:lstStyle/>
                    <a:p>
                      <a:r>
                        <a:rPr sz="1350" b="1">
                          <a:solidFill>
                            <a:srgbClr val="FFFFFF"/>
                          </a:solidFill>
                        </a:rPr>
                        <a:t>Primary focus</a:t>
                      </a:r>
                    </a:p>
                  </a:txBody>
                  <a:tcPr marL="91440" marR="91440" marT="45720" marB="45720">
                    <a:solidFill>
                      <a:srgbClr val="881C1C"/>
                    </a:solidFill>
                  </a:tcPr>
                </a:tc>
                <a:tc>
                  <a:txBody>
                    <a:bodyPr/>
                    <a:lstStyle/>
                    <a:p>
                      <a:r>
                        <a:rPr sz="1350" b="1">
                          <a:solidFill>
                            <a:srgbClr val="FFFFFF"/>
                          </a:solidFill>
                        </a:rPr>
                        <a:t>Report</a:t>
                      </a:r>
                    </a:p>
                  </a:txBody>
                  <a:tcPr marL="91440" marR="91440" marT="45720" marB="45720">
                    <a:solidFill>
                      <a:srgbClr val="881C1C"/>
                    </a:solidFill>
                  </a:tcPr>
                </a:tc>
              </a:tr>
              <a:tr h="585107">
                <a:tc>
                  <a:txBody>
                    <a:bodyPr/>
                    <a:lstStyle/>
                    <a:p>
                      <a:r>
                        <a:rPr sz="1275" b="0">
                          <a:solidFill>
                            <a:srgbClr val="111111"/>
                          </a:solidFill>
                        </a:rPr>
                        <a:t>1</a:t>
                      </a:r>
                    </a:p>
                  </a:txBody>
                  <a:tcPr marL="91440" marR="91440" marT="45720" marB="45720">
                    <a:solidFill>
                      <a:srgbClr val="FFFFFF"/>
                    </a:solidFill>
                  </a:tcPr>
                </a:tc>
                <a:tc>
                  <a:txBody>
                    <a:bodyPr/>
                    <a:lstStyle/>
                    <a:p>
                      <a:r>
                        <a:rPr sz="1275" b="0">
                          <a:solidFill>
                            <a:srgbClr val="111111"/>
                          </a:solidFill>
                        </a:rPr>
                        <a:t>Dynamic data sampling</a:t>
                      </a:r>
                    </a:p>
                  </a:txBody>
                  <a:tcPr marL="91440" marR="91440" marT="45720" marB="45720">
                    <a:solidFill>
                      <a:srgbClr val="FFFFFF"/>
                    </a:solidFill>
                  </a:tcPr>
                </a:tc>
                <a:tc>
                  <a:txBody>
                    <a:bodyPr/>
                    <a:lstStyle/>
                    <a:p>
                      <a:r>
                        <a:rPr sz="1275" b="0">
                          <a:solidFill>
                            <a:srgbClr val="111111"/>
                          </a:solidFill>
                        </a:rPr>
                        <a:t>Sampling, aliasing, spectra</a:t>
                      </a:r>
                    </a:p>
                  </a:txBody>
                  <a:tcPr marL="91440" marR="91440" marT="45720" marB="45720">
                    <a:solidFill>
                      <a:srgbClr val="FFFFFF"/>
                    </a:solidFill>
                  </a:tcPr>
                </a:tc>
                <a:tc>
                  <a:txBody>
                    <a:bodyPr/>
                    <a:lstStyle/>
                    <a:p>
                      <a:r>
                        <a:rPr sz="1275" b="0">
                          <a:solidFill>
                            <a:srgbClr val="111111"/>
                          </a:solidFill>
                        </a:rPr>
                        <a:t>Lab 1</a:t>
                      </a:r>
                    </a:p>
                  </a:txBody>
                  <a:tcPr marL="91440" marR="91440" marT="45720" marB="45720">
                    <a:solidFill>
                      <a:srgbClr val="FFFFFF"/>
                    </a:solidFill>
                  </a:tcPr>
                </a:tc>
              </a:tr>
              <a:tr h="585107">
                <a:tc>
                  <a:txBody>
                    <a:bodyPr/>
                    <a:lstStyle/>
                    <a:p>
                      <a:r>
                        <a:rPr sz="1275" b="0">
                          <a:solidFill>
                            <a:srgbClr val="111111"/>
                          </a:solidFill>
                        </a:rPr>
                        <a:t>2</a:t>
                      </a:r>
                    </a:p>
                  </a:txBody>
                  <a:tcPr marL="91440" marR="91440" marT="45720" marB="45720">
                    <a:solidFill>
                      <a:srgbClr val="F7F7F7"/>
                    </a:solidFill>
                  </a:tcPr>
                </a:tc>
                <a:tc>
                  <a:txBody>
                    <a:bodyPr/>
                    <a:lstStyle/>
                    <a:p>
                      <a:r>
                        <a:rPr sz="1275" b="0">
                          <a:solidFill>
                            <a:srgbClr val="111111"/>
                          </a:solidFill>
                        </a:rPr>
                        <a:t>Single pendulum</a:t>
                      </a:r>
                    </a:p>
                  </a:txBody>
                  <a:tcPr marL="91440" marR="91440" marT="45720" marB="45720">
                    <a:solidFill>
                      <a:srgbClr val="F7F7F7"/>
                    </a:solidFill>
                  </a:tcPr>
                </a:tc>
                <a:tc>
                  <a:txBody>
                    <a:bodyPr/>
                    <a:lstStyle/>
                    <a:p>
                      <a:r>
                        <a:rPr sz="1275" b="0">
                          <a:solidFill>
                            <a:srgbClr val="111111"/>
                          </a:solidFill>
                        </a:rPr>
                        <a:t>Dynamic response, model–data</a:t>
                      </a:r>
                    </a:p>
                  </a:txBody>
                  <a:tcPr marL="91440" marR="91440" marT="45720" marB="45720">
                    <a:solidFill>
                      <a:srgbClr val="F7F7F7"/>
                    </a:solidFill>
                  </a:tcPr>
                </a:tc>
                <a:tc>
                  <a:txBody>
                    <a:bodyPr/>
                    <a:lstStyle/>
                    <a:p>
                      <a:r>
                        <a:rPr sz="1275" b="0">
                          <a:solidFill>
                            <a:srgbClr val="111111"/>
                          </a:solidFill>
                        </a:rPr>
                        <a:t>Labs 2+3</a:t>
                      </a:r>
                    </a:p>
                  </a:txBody>
                  <a:tcPr marL="91440" marR="91440" marT="45720" marB="45720">
                    <a:solidFill>
                      <a:srgbClr val="F7F7F7"/>
                    </a:solidFill>
                  </a:tcPr>
                </a:tc>
              </a:tr>
              <a:tr h="585107">
                <a:tc>
                  <a:txBody>
                    <a:bodyPr/>
                    <a:lstStyle/>
                    <a:p>
                      <a:r>
                        <a:rPr sz="1275" b="0">
                          <a:solidFill>
                            <a:srgbClr val="111111"/>
                          </a:solidFill>
                        </a:rPr>
                        <a:t>3</a:t>
                      </a:r>
                    </a:p>
                  </a:txBody>
                  <a:tcPr marL="91440" marR="91440" marT="45720" marB="45720">
                    <a:solidFill>
                      <a:srgbClr val="FFFFFF"/>
                    </a:solidFill>
                  </a:tcPr>
                </a:tc>
                <a:tc>
                  <a:txBody>
                    <a:bodyPr/>
                    <a:lstStyle/>
                    <a:p>
                      <a:r>
                        <a:rPr sz="1275" b="0">
                          <a:solidFill>
                            <a:srgbClr val="111111"/>
                          </a:solidFill>
                        </a:rPr>
                        <a:t>Double pendulum</a:t>
                      </a:r>
                    </a:p>
                  </a:txBody>
                  <a:tcPr marL="91440" marR="91440" marT="45720" marB="45720">
                    <a:solidFill>
                      <a:srgbClr val="FFFFFF"/>
                    </a:solidFill>
                  </a:tcPr>
                </a:tc>
                <a:tc>
                  <a:txBody>
                    <a:bodyPr/>
                    <a:lstStyle/>
                    <a:p>
                      <a:r>
                        <a:rPr sz="1275" b="0">
                          <a:solidFill>
                            <a:srgbClr val="111111"/>
                          </a:solidFill>
                        </a:rPr>
                        <a:t>Coupled and nonlinear motion</a:t>
                      </a:r>
                    </a:p>
                  </a:txBody>
                  <a:tcPr marL="91440" marR="91440" marT="45720" marB="45720">
                    <a:solidFill>
                      <a:srgbClr val="FFFFFF"/>
                    </a:solidFill>
                  </a:tcPr>
                </a:tc>
                <a:tc>
                  <a:txBody>
                    <a:bodyPr/>
                    <a:lstStyle/>
                    <a:p>
                      <a:r>
                        <a:rPr sz="1275" b="0">
                          <a:solidFill>
                            <a:srgbClr val="111111"/>
                          </a:solidFill>
                        </a:rPr>
                        <a:t>Labs 2+3</a:t>
                      </a:r>
                    </a:p>
                  </a:txBody>
                  <a:tcPr marL="91440" marR="91440" marT="45720" marB="45720">
                    <a:solidFill>
                      <a:srgbClr val="FFFFFF"/>
                    </a:solidFill>
                  </a:tcPr>
                </a:tc>
              </a:tr>
              <a:tr h="585107">
                <a:tc>
                  <a:txBody>
                    <a:bodyPr/>
                    <a:lstStyle/>
                    <a:p>
                      <a:r>
                        <a:rPr sz="1275" b="0">
                          <a:solidFill>
                            <a:srgbClr val="111111"/>
                          </a:solidFill>
                        </a:rPr>
                        <a:t>4</a:t>
                      </a:r>
                    </a:p>
                  </a:txBody>
                  <a:tcPr marL="91440" marR="91440" marT="45720" marB="45720">
                    <a:solidFill>
                      <a:srgbClr val="F7F7F7"/>
                    </a:solidFill>
                  </a:tcPr>
                </a:tc>
                <a:tc>
                  <a:txBody>
                    <a:bodyPr/>
                    <a:lstStyle/>
                    <a:p>
                      <a:r>
                        <a:rPr sz="1275" b="0">
                          <a:solidFill>
                            <a:srgbClr val="111111"/>
                          </a:solidFill>
                        </a:rPr>
                        <a:t>1-DOF free response</a:t>
                      </a:r>
                    </a:p>
                  </a:txBody>
                  <a:tcPr marL="91440" marR="91440" marT="45720" marB="45720">
                    <a:solidFill>
                      <a:srgbClr val="F7F7F7"/>
                    </a:solidFill>
                  </a:tcPr>
                </a:tc>
                <a:tc>
                  <a:txBody>
                    <a:bodyPr/>
                    <a:lstStyle/>
                    <a:p>
                      <a:r>
                        <a:rPr sz="1275" b="0">
                          <a:solidFill>
                            <a:srgbClr val="111111"/>
                          </a:solidFill>
                        </a:rPr>
                        <a:t>Natural frequency, damping</a:t>
                      </a:r>
                    </a:p>
                  </a:txBody>
                  <a:tcPr marL="91440" marR="91440" marT="45720" marB="45720">
                    <a:solidFill>
                      <a:srgbClr val="F7F7F7"/>
                    </a:solidFill>
                  </a:tcPr>
                </a:tc>
                <a:tc>
                  <a:txBody>
                    <a:bodyPr/>
                    <a:lstStyle/>
                    <a:p>
                      <a:r>
                        <a:rPr sz="1275" b="0">
                          <a:solidFill>
                            <a:srgbClr val="111111"/>
                          </a:solidFill>
                        </a:rPr>
                        <a:t>Labs 4+5</a:t>
                      </a:r>
                    </a:p>
                  </a:txBody>
                  <a:tcPr marL="91440" marR="91440" marT="45720" marB="45720">
                    <a:solidFill>
                      <a:srgbClr val="F7F7F7"/>
                    </a:solidFill>
                  </a:tcPr>
                </a:tc>
              </a:tr>
              <a:tr h="585107">
                <a:tc>
                  <a:txBody>
                    <a:bodyPr/>
                    <a:lstStyle/>
                    <a:p>
                      <a:r>
                        <a:rPr sz="1275" b="0">
                          <a:solidFill>
                            <a:srgbClr val="111111"/>
                          </a:solidFill>
                        </a:rPr>
                        <a:t>5</a:t>
                      </a:r>
                    </a:p>
                  </a:txBody>
                  <a:tcPr marL="91440" marR="91440" marT="45720" marB="45720">
                    <a:solidFill>
                      <a:srgbClr val="FFFFFF"/>
                    </a:solidFill>
                  </a:tcPr>
                </a:tc>
                <a:tc>
                  <a:txBody>
                    <a:bodyPr/>
                    <a:lstStyle/>
                    <a:p>
                      <a:r>
                        <a:rPr sz="1275" b="0">
                          <a:solidFill>
                            <a:srgbClr val="111111"/>
                          </a:solidFill>
                        </a:rPr>
                        <a:t>1-DOF forced response</a:t>
                      </a:r>
                    </a:p>
                  </a:txBody>
                  <a:tcPr marL="91440" marR="91440" marT="45720" marB="45720">
                    <a:solidFill>
                      <a:srgbClr val="FFFFFF"/>
                    </a:solidFill>
                  </a:tcPr>
                </a:tc>
                <a:tc>
                  <a:txBody>
                    <a:bodyPr/>
                    <a:lstStyle/>
                    <a:p>
                      <a:r>
                        <a:rPr sz="1275" b="0">
                          <a:solidFill>
                            <a:srgbClr val="111111"/>
                          </a:solidFill>
                        </a:rPr>
                        <a:t>Resonance, frequency response</a:t>
                      </a:r>
                    </a:p>
                  </a:txBody>
                  <a:tcPr marL="91440" marR="91440" marT="45720" marB="45720">
                    <a:solidFill>
                      <a:srgbClr val="FFFFFF"/>
                    </a:solidFill>
                  </a:tcPr>
                </a:tc>
                <a:tc>
                  <a:txBody>
                    <a:bodyPr/>
                    <a:lstStyle/>
                    <a:p>
                      <a:r>
                        <a:rPr sz="1275" b="0">
                          <a:solidFill>
                            <a:srgbClr val="111111"/>
                          </a:solidFill>
                        </a:rPr>
                        <a:t>Labs 4+5</a:t>
                      </a:r>
                    </a:p>
                  </a:txBody>
                  <a:tcPr marL="91440" marR="91440" marT="45720" marB="45720">
                    <a:solidFill>
                      <a:srgbClr val="FFFFFF"/>
                    </a:solidFill>
                  </a:tcPr>
                </a:tc>
              </a:tr>
              <a:tr h="585107">
                <a:tc>
                  <a:txBody>
                    <a:bodyPr/>
                    <a:lstStyle/>
                    <a:p>
                      <a:r>
                        <a:rPr sz="1275" b="0">
                          <a:solidFill>
                            <a:srgbClr val="111111"/>
                          </a:solidFill>
                        </a:rPr>
                        <a:t>6</a:t>
                      </a:r>
                    </a:p>
                  </a:txBody>
                  <a:tcPr marL="91440" marR="91440" marT="45720" marB="45720">
                    <a:solidFill>
                      <a:srgbClr val="F7F7F7"/>
                    </a:solidFill>
                  </a:tcPr>
                </a:tc>
                <a:tc>
                  <a:txBody>
                    <a:bodyPr/>
                    <a:lstStyle/>
                    <a:p>
                      <a:r>
                        <a:rPr sz="1275" b="0">
                          <a:solidFill>
                            <a:srgbClr val="111111"/>
                          </a:solidFill>
                        </a:rPr>
                        <a:t>Radiometer</a:t>
                      </a:r>
                    </a:p>
                  </a:txBody>
                  <a:tcPr marL="91440" marR="91440" marT="45720" marB="45720">
                    <a:solidFill>
                      <a:srgbClr val="F7F7F7"/>
                    </a:solidFill>
                  </a:tcPr>
                </a:tc>
                <a:tc>
                  <a:txBody>
                    <a:bodyPr/>
                    <a:lstStyle/>
                    <a:p>
                      <a:r>
                        <a:rPr sz="1275" b="0">
                          <a:solidFill>
                            <a:srgbClr val="111111"/>
                          </a:solidFill>
                        </a:rPr>
                        <a:t>Movement measurement</a:t>
                      </a:r>
                    </a:p>
                  </a:txBody>
                  <a:tcPr marL="91440" marR="91440" marT="45720" marB="45720">
                    <a:solidFill>
                      <a:srgbClr val="F7F7F7"/>
                    </a:solidFill>
                  </a:tcPr>
                </a:tc>
                <a:tc>
                  <a:txBody>
                    <a:bodyPr/>
                    <a:lstStyle/>
                    <a:p>
                      <a:r>
                        <a:rPr sz="1275" b="0">
                          <a:solidFill>
                            <a:srgbClr val="111111"/>
                          </a:solidFill>
                        </a:rPr>
                        <a:t>Lab 6</a:t>
                      </a:r>
                    </a:p>
                  </a:txBody>
                  <a:tcPr marL="91440" marR="91440" marT="45720" marB="45720">
                    <a:solidFill>
                      <a:srgbClr val="F7F7F7"/>
                    </a:solidFill>
                  </a:tcPr>
                </a:tc>
              </a:tr>
            </a:tbl>
          </a:graphicData>
        </a:graphic>
      </p:graphicFrame>
    </p:spTree>
    <p:extLst>
      <p:ext uri="{BB962C8B-B14F-4D97-AF65-F5344CB8AC3E}">
        <p14:creationId xmlns:p14="http://schemas.microsoft.com/office/powerpoint/2010/main" val="150277737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84C76367-F85E-407D-9802-90067D27E5DD}"/>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3B0FE4FF-3908-4CBB-864C-F3BFFA35D8A4}"/>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1: Recording sound</a:t>
            </a:r>
          </a:p>
        </p:txBody>
      </p:sp>
      <p:sp>
        <p:nvSpPr>
          <p:cNvPr id="3" name="body">
            <a:extLst xmlns:a="http://schemas.openxmlformats.org/drawingml/2006/main">
              <a:ext uri="{FF2B5EF4-FFF2-40B4-BE49-F238E27FC236}">
                <a16:creationId xmlns:a16="http://schemas.microsoft.com/office/drawing/2014/main" id="{E43A43EF-D624-4AB7-8054-85250648C797}"/>
              </a:ext>
            </a:extLst>
          </p:cNvPr>
          <p:cNvSpPr>
            <a:spLocks xmlns:a="http://schemas.openxmlformats.org/drawingml/2006/main" noGrp="1"/>
          </p:cNvSpPr>
          <p:nvPr/>
        </p:nvSpPr>
        <p:spPr>
          <a:xfrm xmlns:a="http://schemas.openxmlformats.org/drawingml/2006/main">
            <a:off x="495300" y="1676400"/>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The question</a:t>
            </a:r>
          </a:p>
        </p:txBody>
      </p:sp>
      <p:sp>
        <p:nvSpPr>
          <p:cNvPr id="4" name="body">
            <a:extLst xmlns:a="http://schemas.openxmlformats.org/drawingml/2006/main">
              <a:ext uri="{FF2B5EF4-FFF2-40B4-BE49-F238E27FC236}">
                <a16:creationId xmlns:a16="http://schemas.microsoft.com/office/drawing/2014/main" id="{AB0AE87E-6551-46D3-9BAD-EEF53835D188}"/>
              </a:ext>
            </a:extLst>
          </p:cNvPr>
          <p:cNvSpPr>
            <a:spLocks xmlns:a="http://schemas.openxmlformats.org/drawingml/2006/main" noGrp="1"/>
          </p:cNvSpPr>
          <p:nvPr/>
        </p:nvSpPr>
        <p:spPr>
          <a:xfrm xmlns:a="http://schemas.openxmlformats.org/drawingml/2006/main">
            <a:off x="495300" y="2038350"/>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How often must we measure a sound to record its frequency correctly?</a:t>
            </a:r>
          </a:p>
        </p:txBody>
      </p:sp>
      <p:sp>
        <p:nvSpPr>
          <p:cNvPr id="5" name="body">
            <a:extLst xmlns:a="http://schemas.openxmlformats.org/drawingml/2006/main">
              <a:ext uri="{FF2B5EF4-FFF2-40B4-BE49-F238E27FC236}">
                <a16:creationId xmlns:a16="http://schemas.microsoft.com/office/drawing/2014/main" id="{53FB74CD-7420-4F08-9CC2-2F47E879AC2B}"/>
              </a:ext>
            </a:extLst>
          </p:cNvPr>
          <p:cNvSpPr>
            <a:spLocks xmlns:a="http://schemas.openxmlformats.org/drawingml/2006/main" noGrp="1"/>
          </p:cNvSpPr>
          <p:nvPr/>
        </p:nvSpPr>
        <p:spPr>
          <a:xfrm xmlns:a="http://schemas.openxmlformats.org/drawingml/2006/main">
            <a:off x="495300" y="3038475"/>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The equipment</a:t>
            </a:r>
          </a:p>
        </p:txBody>
      </p:sp>
      <p:sp>
        <p:nvSpPr>
          <p:cNvPr id="6" name="body">
            <a:extLst xmlns:a="http://schemas.openxmlformats.org/drawingml/2006/main">
              <a:ext uri="{FF2B5EF4-FFF2-40B4-BE49-F238E27FC236}">
                <a16:creationId xmlns:a16="http://schemas.microsoft.com/office/drawing/2014/main" id="{0CA3C730-0EDB-441C-ADE5-1D73EB545F34}"/>
              </a:ext>
            </a:extLst>
          </p:cNvPr>
          <p:cNvSpPr>
            <a:spLocks xmlns:a="http://schemas.openxmlformats.org/drawingml/2006/main" noGrp="1"/>
          </p:cNvSpPr>
          <p:nvPr/>
        </p:nvSpPr>
        <p:spPr>
          <a:xfrm xmlns:a="http://schemas.openxmlformats.org/drawingml/2006/main">
            <a:off x="495300" y="3400425"/>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The microphone turns sound into voltage. Moku:Go records that voltage as numbers.</a:t>
            </a:r>
          </a:p>
        </p:txBody>
      </p:sp>
      <p:sp>
        <p:nvSpPr>
          <p:cNvPr id="7" name="body">
            <a:extLst xmlns:a="http://schemas.openxmlformats.org/drawingml/2006/main">
              <a:ext uri="{FF2B5EF4-FFF2-40B4-BE49-F238E27FC236}">
                <a16:creationId xmlns:a16="http://schemas.microsoft.com/office/drawing/2014/main" id="{860333B5-46E2-4224-9507-DFC11AFABCC0}"/>
              </a:ext>
            </a:extLst>
          </p:cNvPr>
          <p:cNvSpPr>
            <a:spLocks xmlns:a="http://schemas.openxmlformats.org/drawingml/2006/main" noGrp="1"/>
          </p:cNvSpPr>
          <p:nvPr/>
        </p:nvSpPr>
        <p:spPr>
          <a:xfrm xmlns:a="http://schemas.openxmlformats.org/drawingml/2006/main">
            <a:off x="495300" y="4400550"/>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What you do</a:t>
            </a:r>
          </a:p>
        </p:txBody>
      </p:sp>
      <p:sp>
        <p:nvSpPr>
          <p:cNvPr id="8" name="body">
            <a:extLst xmlns:a="http://schemas.openxmlformats.org/drawingml/2006/main">
              <a:ext uri="{FF2B5EF4-FFF2-40B4-BE49-F238E27FC236}">
                <a16:creationId xmlns:a16="http://schemas.microsoft.com/office/drawing/2014/main" id="{019CF63E-7849-475D-BD37-EA78B99745B2}"/>
              </a:ext>
            </a:extLst>
          </p:cNvPr>
          <p:cNvSpPr>
            <a:spLocks xmlns:a="http://schemas.openxmlformats.org/drawingml/2006/main" noGrp="1"/>
          </p:cNvSpPr>
          <p:nvPr/>
        </p:nvSpPr>
        <p:spPr>
          <a:xfrm xmlns:a="http://schemas.openxmlformats.org/drawingml/2006/main">
            <a:off x="495300" y="4762500"/>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Record several sounds. For a steady tone, repeat the recording at different sampling rates.</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98a19d64009b4279"/>
          <a:stretch xmlns:a="http://schemas.openxmlformats.org/drawingml/2006/main"/>
        </p:blipFill>
        <p:spPr>
          <a:xfrm xmlns:a="http://schemas.openxmlformats.org/drawingml/2006/main">
            <a:off x="6497220" y="1714500"/>
            <a:ext cx="4950659" cy="3714750"/>
          </a:xfrm>
          <a:prstGeom xmlns:a="http://schemas.openxmlformats.org/drawingml/2006/main" prst="rect">
            <a:avLst/>
          </a:prstGeom>
        </p:spPr>
      </p:pic>
      <p:sp>
        <p:nvSpPr>
          <p:cNvPr id="10" name="photo-caption">
            <a:extLst xmlns:a="http://schemas.openxmlformats.org/drawingml/2006/main">
              <a:ext uri="{FF2B5EF4-FFF2-40B4-BE49-F238E27FC236}">
                <a16:creationId xmlns:a16="http://schemas.microsoft.com/office/drawing/2014/main" id="{BA30F2E0-D874-403A-9943-B49A0F072B02}"/>
              </a:ext>
            </a:extLst>
          </p:cNvPr>
          <p:cNvSpPr>
            <a:spLocks xmlns:a="http://schemas.openxmlformats.org/drawingml/2006/main" noGrp="1"/>
          </p:cNvSpPr>
          <p:nvPr/>
        </p:nvSpPr>
        <p:spPr>
          <a:xfrm xmlns:a="http://schemas.openxmlformats.org/drawingml/2006/main">
            <a:off x="6305550" y="5581650"/>
            <a:ext cx="5238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F6368"/>
                </a:solidFill>
                <a:latin typeface="Calibri"/>
                <a:ea typeface="Calibri"/>
                <a:cs typeface="Calibri"/>
              </a:defRPr>
            </a:pPr>
            <a:r>
              <a:rPr sz="1350" b="0">
                <a:solidFill>
                  <a:srgbClr val="5F6368"/>
                </a:solidFill>
                <a:latin typeface="Calibri"/>
                <a:ea typeface="Calibri"/>
                <a:cs typeface="Calibri"/>
              </a:rPr>
              <a:t>Moku:Go data logger connected to a microphone</a:t>
            </a:r>
          </a:p>
        </p:txBody>
      </p:sp>
      <p:sp>
        <p:nvSpPr>
          <p:cNvPr id="11" name="page">
            <a:extLst xmlns:a="http://schemas.openxmlformats.org/drawingml/2006/main">
              <a:ext uri="{FF2B5EF4-FFF2-40B4-BE49-F238E27FC236}">
                <a16:creationId xmlns:a16="http://schemas.microsoft.com/office/drawing/2014/main" id="{CC359895-F49A-4E22-82F7-5C764CA886E9}"/>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8</a:t>
            </a:r>
          </a:p>
        </p:txBody>
      </p:sp>
    </p:spTree>
    <p:extLst>
      <p:ext uri="{BB962C8B-B14F-4D97-AF65-F5344CB8AC3E}">
        <p14:creationId xmlns:p14="http://schemas.microsoft.com/office/powerpoint/2010/main" val="5541476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15D29B2F-F92F-4CAD-AB58-9235B785B3A8}"/>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C9F252C5-CB8B-468D-B7BF-807D4EF91C09}"/>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1: A recording can show the wrong frequency</a:t>
            </a:r>
          </a:p>
        </p:txBody>
      </p:sp>
      <p:sp>
        <p:nvSpPr>
          <p:cNvPr id="3" name="body">
            <a:extLst xmlns:a="http://schemas.openxmlformats.org/drawingml/2006/main">
              <a:ext uri="{FF2B5EF4-FFF2-40B4-BE49-F238E27FC236}">
                <a16:creationId xmlns:a16="http://schemas.microsoft.com/office/drawing/2014/main" id="{B8B9D986-C844-47DD-B8DF-E76CE8101DDC}"/>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Two useful plots</a:t>
            </a:r>
          </a:p>
        </p:txBody>
      </p:sp>
      <p:sp>
        <p:nvSpPr>
          <p:cNvPr id="4" name="body">
            <a:extLst xmlns:a="http://schemas.openxmlformats.org/drawingml/2006/main">
              <a:ext uri="{FF2B5EF4-FFF2-40B4-BE49-F238E27FC236}">
                <a16:creationId xmlns:a16="http://schemas.microsoft.com/office/drawing/2014/main" id="{292E377D-756E-4920-BB5A-14678F0CBE04}"/>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A waveform shows voltage versus time. A frequency spectrum shows which frequencies are present; MATLAB can calculate it with an FFT.</a:t>
            </a:r>
          </a:p>
        </p:txBody>
      </p:sp>
      <p:sp>
        <p:nvSpPr>
          <p:cNvPr id="5" name="body">
            <a:extLst xmlns:a="http://schemas.openxmlformats.org/drawingml/2006/main">
              <a:ext uri="{FF2B5EF4-FFF2-40B4-BE49-F238E27FC236}">
                <a16:creationId xmlns:a16="http://schemas.microsoft.com/office/drawing/2014/main" id="{AEAECF5F-76E8-4F46-9D8E-67054B6AD1B3}"/>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What to look for</a:t>
            </a:r>
          </a:p>
        </p:txBody>
      </p:sp>
      <p:sp>
        <p:nvSpPr>
          <p:cNvPr id="6" name="body">
            <a:extLst xmlns:a="http://schemas.openxmlformats.org/drawingml/2006/main">
              <a:ext uri="{FF2B5EF4-FFF2-40B4-BE49-F238E27FC236}">
                <a16:creationId xmlns:a16="http://schemas.microsoft.com/office/drawing/2014/main" id="{03530DE5-C2AE-4556-9F54-7DF397FAABAD}"/>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With too few samples per cycle, the signal can appear to have a lower frequency. This is called aliasing.</a:t>
            </a:r>
          </a:p>
        </p:txBody>
      </p:sp>
      <p:sp>
        <p:nvSpPr>
          <p:cNvPr id="7" name="body">
            <a:extLst xmlns:a="http://schemas.openxmlformats.org/drawingml/2006/main">
              <a:ext uri="{FF2B5EF4-FFF2-40B4-BE49-F238E27FC236}">
                <a16:creationId xmlns:a16="http://schemas.microsoft.com/office/drawing/2014/main" id="{263512C9-5CBE-4D2D-B7A2-081AD7452135}"/>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What goes in the report</a:t>
            </a:r>
          </a:p>
        </p:txBody>
      </p:sp>
      <p:sp>
        <p:nvSpPr>
          <p:cNvPr id="8" name="body">
            <a:extLst xmlns:a="http://schemas.openxmlformats.org/drawingml/2006/main">
              <a:ext uri="{FF2B5EF4-FFF2-40B4-BE49-F238E27FC236}">
                <a16:creationId xmlns:a16="http://schemas.microsoft.com/office/drawing/2014/main" id="{6E866F1A-CB31-4976-AAA9-CDCA6F27EABB}"/>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Compare recordings with their actual sampling rates and durations. Explain which settings gave a reliable frequency estimate.</a:t>
            </a:r>
          </a:p>
        </p:txBody>
      </p:sp>
      <p:sp>
        <p:nvSpPr>
          <p:cNvPr id="9" name="footnote">
            <a:extLst xmlns:a="http://schemas.openxmlformats.org/drawingml/2006/main">
              <a:ext uri="{FF2B5EF4-FFF2-40B4-BE49-F238E27FC236}">
                <a16:creationId xmlns:a16="http://schemas.microsoft.com/office/drawing/2014/main" id="{614D3B0D-4A9A-40E8-8DE6-27A6B22C48A8}"/>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Saving as MAT makes the measurements easy to load in MATLAB. Changing the file format does not fix a poor recording.</a:t>
            </a:r>
          </a:p>
        </p:txBody>
      </p:sp>
      <p:sp>
        <p:nvSpPr>
          <p:cNvPr id="10" name="page">
            <a:extLst xmlns:a="http://schemas.openxmlformats.org/drawingml/2006/main">
              <a:ext uri="{FF2B5EF4-FFF2-40B4-BE49-F238E27FC236}">
                <a16:creationId xmlns:a16="http://schemas.microsoft.com/office/drawing/2014/main" id="{0341BC65-08EE-4831-BDD2-AB6A0B73C531}"/>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9</a:t>
            </a:r>
          </a:p>
        </p:txBody>
      </p:sp>
    </p:spTree>
    <p:extLst>
      <p:ext uri="{BB962C8B-B14F-4D97-AF65-F5344CB8AC3E}">
        <p14:creationId xmlns:p14="http://schemas.microsoft.com/office/powerpoint/2010/main" val="141720281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E04CF2F4-23EF-4AFD-9DEE-8E477AA7A48D}"/>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656F5DA2-45FC-47CC-8CD2-AF332649C343}"/>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2: One pendulum</a:t>
            </a:r>
          </a:p>
        </p:txBody>
      </p:sp>
      <p:sp>
        <p:nvSpPr>
          <p:cNvPr id="3" name="body">
            <a:extLst xmlns:a="http://schemas.openxmlformats.org/drawingml/2006/main">
              <a:ext uri="{FF2B5EF4-FFF2-40B4-BE49-F238E27FC236}">
                <a16:creationId xmlns:a16="http://schemas.microsoft.com/office/drawing/2014/main" id="{207D109D-79CE-4C13-9964-3A10A3940467}"/>
              </a:ext>
            </a:extLst>
          </p:cNvPr>
          <p:cNvSpPr>
            <a:spLocks xmlns:a="http://schemas.openxmlformats.org/drawingml/2006/main" noGrp="1"/>
          </p:cNvSpPr>
          <p:nvPr/>
        </p:nvSpPr>
        <p:spPr>
          <a:xfrm xmlns:a="http://schemas.openxmlformats.org/drawingml/2006/main">
            <a:off x="495300" y="1676400"/>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The question</a:t>
            </a:r>
          </a:p>
        </p:txBody>
      </p:sp>
      <p:sp>
        <p:nvSpPr>
          <p:cNvPr id="4" name="body">
            <a:extLst xmlns:a="http://schemas.openxmlformats.org/drawingml/2006/main">
              <a:ext uri="{FF2B5EF4-FFF2-40B4-BE49-F238E27FC236}">
                <a16:creationId xmlns:a16="http://schemas.microsoft.com/office/drawing/2014/main" id="{01992A7D-259B-4838-80ED-02432628243C}"/>
              </a:ext>
            </a:extLst>
          </p:cNvPr>
          <p:cNvSpPr>
            <a:spLocks xmlns:a="http://schemas.openxmlformats.org/drawingml/2006/main" noGrp="1"/>
          </p:cNvSpPr>
          <p:nvPr/>
        </p:nvSpPr>
        <p:spPr>
          <a:xfrm xmlns:a="http://schemas.openxmlformats.org/drawingml/2006/main">
            <a:off x="495300" y="2038350"/>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Does a pendulum take the same time to swing when we release it from a larger angle?</a:t>
            </a:r>
          </a:p>
        </p:txBody>
      </p:sp>
      <p:sp>
        <p:nvSpPr>
          <p:cNvPr id="5" name="body">
            <a:extLst xmlns:a="http://schemas.openxmlformats.org/drawingml/2006/main">
              <a:ext uri="{FF2B5EF4-FFF2-40B4-BE49-F238E27FC236}">
                <a16:creationId xmlns:a16="http://schemas.microsoft.com/office/drawing/2014/main" id="{A56ABA1A-C64E-422A-B64E-CB7B52FC38CE}"/>
              </a:ext>
            </a:extLst>
          </p:cNvPr>
          <p:cNvSpPr>
            <a:spLocks xmlns:a="http://schemas.openxmlformats.org/drawingml/2006/main" noGrp="1"/>
          </p:cNvSpPr>
          <p:nvPr/>
        </p:nvSpPr>
        <p:spPr>
          <a:xfrm xmlns:a="http://schemas.openxmlformats.org/drawingml/2006/main">
            <a:off x="495300" y="3038475"/>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The equipment</a:t>
            </a:r>
          </a:p>
        </p:txBody>
      </p:sp>
      <p:sp>
        <p:nvSpPr>
          <p:cNvPr id="6" name="body">
            <a:extLst xmlns:a="http://schemas.openxmlformats.org/drawingml/2006/main">
              <a:ext uri="{FF2B5EF4-FFF2-40B4-BE49-F238E27FC236}">
                <a16:creationId xmlns:a16="http://schemas.microsoft.com/office/drawing/2014/main" id="{125C82C7-49C4-4DEC-8D49-03F6DCEC6B9B}"/>
              </a:ext>
            </a:extLst>
          </p:cNvPr>
          <p:cNvSpPr>
            <a:spLocks xmlns:a="http://schemas.openxmlformats.org/drawingml/2006/main" noGrp="1"/>
          </p:cNvSpPr>
          <p:nvPr/>
        </p:nvSpPr>
        <p:spPr>
          <a:xfrm xmlns:a="http://schemas.openxmlformats.org/drawingml/2006/main">
            <a:off x="495300" y="3400425"/>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A pendulum, a high-speed camera, lighting, and a length reference. The camera records the moving rod.</a:t>
            </a:r>
          </a:p>
        </p:txBody>
      </p:sp>
      <p:sp>
        <p:nvSpPr>
          <p:cNvPr id="7" name="body">
            <a:extLst xmlns:a="http://schemas.openxmlformats.org/drawingml/2006/main">
              <a:ext uri="{FF2B5EF4-FFF2-40B4-BE49-F238E27FC236}">
                <a16:creationId xmlns:a16="http://schemas.microsoft.com/office/drawing/2014/main" id="{DAFA035E-C818-495C-A56B-8F87FBF1EAC8}"/>
              </a:ext>
            </a:extLst>
          </p:cNvPr>
          <p:cNvSpPr>
            <a:spLocks xmlns:a="http://schemas.openxmlformats.org/drawingml/2006/main" noGrp="1"/>
          </p:cNvSpPr>
          <p:nvPr/>
        </p:nvSpPr>
        <p:spPr>
          <a:xfrm xmlns:a="http://schemas.openxmlformats.org/drawingml/2006/main">
            <a:off x="495300" y="4400550"/>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What you do</a:t>
            </a:r>
          </a:p>
        </p:txBody>
      </p:sp>
      <p:sp>
        <p:nvSpPr>
          <p:cNvPr id="8" name="body">
            <a:extLst xmlns:a="http://schemas.openxmlformats.org/drawingml/2006/main">
              <a:ext uri="{FF2B5EF4-FFF2-40B4-BE49-F238E27FC236}">
                <a16:creationId xmlns:a16="http://schemas.microsoft.com/office/drawing/2014/main" id="{DFA7A57C-8F51-4FFF-81BC-97D4B9A5BAD8}"/>
              </a:ext>
            </a:extLst>
          </p:cNvPr>
          <p:cNvSpPr>
            <a:spLocks xmlns:a="http://schemas.openxmlformats.org/drawingml/2006/main" noGrp="1"/>
          </p:cNvSpPr>
          <p:nvPr/>
        </p:nvSpPr>
        <p:spPr>
          <a:xfrm xmlns:a="http://schemas.openxmlformats.org/drawingml/2006/main">
            <a:off x="495300" y="4762500"/>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Release it without pushing. Record small, medium, and large starting angles. Track its position in MATLAB.</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a80ef90dba174194"/>
          <a:stretch xmlns:a="http://schemas.openxmlformats.org/drawingml/2006/main"/>
        </p:blipFill>
        <p:spPr>
          <a:xfrm xmlns:a="http://schemas.openxmlformats.org/drawingml/2006/main">
            <a:off x="6650831" y="1714500"/>
            <a:ext cx="4643438" cy="3714750"/>
          </a:xfrm>
          <a:prstGeom xmlns:a="http://schemas.openxmlformats.org/drawingml/2006/main" prst="rect">
            <a:avLst/>
          </a:prstGeom>
        </p:spPr>
      </p:pic>
      <p:sp>
        <p:nvSpPr>
          <p:cNvPr id="10" name="photo-caption">
            <a:extLst xmlns:a="http://schemas.openxmlformats.org/drawingml/2006/main">
              <a:ext uri="{FF2B5EF4-FFF2-40B4-BE49-F238E27FC236}">
                <a16:creationId xmlns:a16="http://schemas.microsoft.com/office/drawing/2014/main" id="{0F315B1C-4CC6-4396-A3B7-818943FE7F0C}"/>
              </a:ext>
            </a:extLst>
          </p:cNvPr>
          <p:cNvSpPr>
            <a:spLocks xmlns:a="http://schemas.openxmlformats.org/drawingml/2006/main" noGrp="1"/>
          </p:cNvSpPr>
          <p:nvPr/>
        </p:nvSpPr>
        <p:spPr>
          <a:xfrm xmlns:a="http://schemas.openxmlformats.org/drawingml/2006/main">
            <a:off x="6305550" y="5581650"/>
            <a:ext cx="5238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F6368"/>
                </a:solidFill>
                <a:latin typeface="Calibri"/>
                <a:ea typeface="Calibri"/>
                <a:cs typeface="Calibri"/>
              </a:defRPr>
            </a:pPr>
            <a:r>
              <a:rPr sz="1350" b="0">
                <a:solidFill>
                  <a:srgbClr val="5F6368"/>
                </a:solidFill>
                <a:latin typeface="Calibri"/>
                <a:ea typeface="Calibri"/>
                <a:cs typeface="Calibri"/>
              </a:rPr>
              <a:t>Single pendulum recorded by the high-speed camera</a:t>
            </a:r>
          </a:p>
        </p:txBody>
      </p:sp>
      <p:sp>
        <p:nvSpPr>
          <p:cNvPr id="11" name="page">
            <a:extLst xmlns:a="http://schemas.openxmlformats.org/drawingml/2006/main">
              <a:ext uri="{FF2B5EF4-FFF2-40B4-BE49-F238E27FC236}">
                <a16:creationId xmlns:a16="http://schemas.microsoft.com/office/drawing/2014/main" id="{D116355C-5A34-4AEE-B28B-139034CB1224}"/>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10</a:t>
            </a:r>
          </a:p>
        </p:txBody>
      </p:sp>
    </p:spTree>
    <p:extLst>
      <p:ext uri="{BB962C8B-B14F-4D97-AF65-F5344CB8AC3E}">
        <p14:creationId xmlns:p14="http://schemas.microsoft.com/office/powerpoint/2010/main" val="64399843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19A04E9B-F903-4480-AFD3-FDE8F09AF885}"/>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26F814E4-2EC9-4041-8339-EE6E2C5F74B1}"/>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2: Comparing the swing with a model</a:t>
            </a:r>
          </a:p>
        </p:txBody>
      </p:sp>
      <p:sp>
        <p:nvSpPr>
          <p:cNvPr id="3" name="body">
            <a:extLst xmlns:a="http://schemas.openxmlformats.org/drawingml/2006/main">
              <a:ext uri="{FF2B5EF4-FFF2-40B4-BE49-F238E27FC236}">
                <a16:creationId xmlns:a16="http://schemas.microsoft.com/office/drawing/2014/main" id="{9ED6C0CC-3213-4F7A-810F-7FDFF1ACC29C}"/>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The measurements</a:t>
            </a:r>
          </a:p>
        </p:txBody>
      </p:sp>
      <p:sp>
        <p:nvSpPr>
          <p:cNvPr id="4" name="body">
            <a:extLst xmlns:a="http://schemas.openxmlformats.org/drawingml/2006/main">
              <a:ext uri="{FF2B5EF4-FFF2-40B4-BE49-F238E27FC236}">
                <a16:creationId xmlns:a16="http://schemas.microsoft.com/office/drawing/2014/main" id="{2FC872CA-1D22-4306-B0B5-B094142307E7}"/>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Plot angle versus time. Measure the period over several swings and check whether the swing size decreases.</a:t>
            </a:r>
          </a:p>
        </p:txBody>
      </p:sp>
      <p:sp>
        <p:nvSpPr>
          <p:cNvPr id="5" name="body">
            <a:extLst xmlns:a="http://schemas.openxmlformats.org/drawingml/2006/main">
              <a:ext uri="{FF2B5EF4-FFF2-40B4-BE49-F238E27FC236}">
                <a16:creationId xmlns:a16="http://schemas.microsoft.com/office/drawing/2014/main" id="{2F54B281-B345-4E36-AFE4-F4880306B5C5}"/>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The model</a:t>
            </a:r>
          </a:p>
        </p:txBody>
      </p:sp>
      <p:sp>
        <p:nvSpPr>
          <p:cNvPr id="6" name="body">
            <a:extLst xmlns:a="http://schemas.openxmlformats.org/drawingml/2006/main">
              <a:ext uri="{FF2B5EF4-FFF2-40B4-BE49-F238E27FC236}">
                <a16:creationId xmlns:a16="http://schemas.microsoft.com/office/drawing/2014/main" id="{803D07C2-96D3-4DB1-9FCE-D132266F7F8B}"/>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The small-angle model simplifies the equation of motion. Compare it with the full model as the release angle increases.</a:t>
            </a:r>
          </a:p>
        </p:txBody>
      </p:sp>
      <p:sp>
        <p:nvSpPr>
          <p:cNvPr id="7" name="body">
            <a:extLst xmlns:a="http://schemas.openxmlformats.org/drawingml/2006/main">
              <a:ext uri="{FF2B5EF4-FFF2-40B4-BE49-F238E27FC236}">
                <a16:creationId xmlns:a16="http://schemas.microsoft.com/office/drawing/2014/main" id="{8EB97DA9-334E-40CB-A70E-61312ED44E65}"/>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What goes in the report</a:t>
            </a:r>
          </a:p>
        </p:txBody>
      </p:sp>
      <p:sp>
        <p:nvSpPr>
          <p:cNvPr id="8" name="body">
            <a:extLst xmlns:a="http://schemas.openxmlformats.org/drawingml/2006/main">
              <a:ext uri="{FF2B5EF4-FFF2-40B4-BE49-F238E27FC236}">
                <a16:creationId xmlns:a16="http://schemas.microsoft.com/office/drawing/2014/main" id="{069D78C0-F74F-4BA5-B0CF-117E7710DE9F}"/>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Overlay measured and predicted angles. Compare their periods and explain how the starting angle changes the agreement.</a:t>
            </a:r>
          </a:p>
        </p:txBody>
      </p:sp>
      <p:sp>
        <p:nvSpPr>
          <p:cNvPr id="9" name="footnote">
            <a:extLst xmlns:a="http://schemas.openxmlformats.org/drawingml/2006/main">
              <a:ext uri="{FF2B5EF4-FFF2-40B4-BE49-F238E27FC236}">
                <a16:creationId xmlns:a16="http://schemas.microsoft.com/office/drawing/2014/main" id="{AC619AC2-8EAB-47F1-957C-38E9E50511BE}"/>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Use the same starting angle, angle direction, and time origin in the measurement and simulation.</a:t>
            </a:r>
          </a:p>
        </p:txBody>
      </p:sp>
      <p:sp>
        <p:nvSpPr>
          <p:cNvPr id="10" name="page">
            <a:extLst xmlns:a="http://schemas.openxmlformats.org/drawingml/2006/main">
              <a:ext uri="{FF2B5EF4-FFF2-40B4-BE49-F238E27FC236}">
                <a16:creationId xmlns:a16="http://schemas.microsoft.com/office/drawing/2014/main" id="{D88B2FEC-6AD2-4694-A88A-1199789D2314}"/>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11</a:t>
            </a:r>
          </a:p>
        </p:txBody>
      </p:sp>
    </p:spTree>
    <p:extLst>
      <p:ext uri="{BB962C8B-B14F-4D97-AF65-F5344CB8AC3E}">
        <p14:creationId xmlns:p14="http://schemas.microsoft.com/office/powerpoint/2010/main" val="81858803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8C8629BE-5BE0-4783-878D-01D827B49955}"/>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8B70A69C-14EF-4EFD-B8C3-D2E8A0553F62}"/>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3: Two connected pendulums</a:t>
            </a:r>
          </a:p>
        </p:txBody>
      </p:sp>
      <p:sp>
        <p:nvSpPr>
          <p:cNvPr id="3" name="body">
            <a:extLst xmlns:a="http://schemas.openxmlformats.org/drawingml/2006/main">
              <a:ext uri="{FF2B5EF4-FFF2-40B4-BE49-F238E27FC236}">
                <a16:creationId xmlns:a16="http://schemas.microsoft.com/office/drawing/2014/main" id="{EEA25DE5-BBC7-4611-BC87-BBDBB3C6FF21}"/>
              </a:ext>
            </a:extLst>
          </p:cNvPr>
          <p:cNvSpPr>
            <a:spLocks xmlns:a="http://schemas.openxmlformats.org/drawingml/2006/main" noGrp="1"/>
          </p:cNvSpPr>
          <p:nvPr/>
        </p:nvSpPr>
        <p:spPr>
          <a:xfrm xmlns:a="http://schemas.openxmlformats.org/drawingml/2006/main">
            <a:off x="495300" y="1676400"/>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The question</a:t>
            </a:r>
          </a:p>
        </p:txBody>
      </p:sp>
      <p:sp>
        <p:nvSpPr>
          <p:cNvPr id="4" name="body">
            <a:extLst xmlns:a="http://schemas.openxmlformats.org/drawingml/2006/main">
              <a:ext uri="{FF2B5EF4-FFF2-40B4-BE49-F238E27FC236}">
                <a16:creationId xmlns:a16="http://schemas.microsoft.com/office/drawing/2014/main" id="{530AED8D-3C86-4833-9679-881DBD1A0119}"/>
              </a:ext>
            </a:extLst>
          </p:cNvPr>
          <p:cNvSpPr>
            <a:spLocks xmlns:a="http://schemas.openxmlformats.org/drawingml/2006/main" noGrp="1"/>
          </p:cNvSpPr>
          <p:nvPr/>
        </p:nvSpPr>
        <p:spPr>
          <a:xfrm xmlns:a="http://schemas.openxmlformats.org/drawingml/2006/main">
            <a:off x="495300" y="2038350"/>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How does adding a second moving link change the motion and our ability to predict it?</a:t>
            </a:r>
          </a:p>
        </p:txBody>
      </p:sp>
      <p:sp>
        <p:nvSpPr>
          <p:cNvPr id="5" name="body">
            <a:extLst xmlns:a="http://schemas.openxmlformats.org/drawingml/2006/main">
              <a:ext uri="{FF2B5EF4-FFF2-40B4-BE49-F238E27FC236}">
                <a16:creationId xmlns:a16="http://schemas.microsoft.com/office/drawing/2014/main" id="{27D236D9-E7DB-45BD-A8F9-A7442DC798F5}"/>
              </a:ext>
            </a:extLst>
          </p:cNvPr>
          <p:cNvSpPr>
            <a:spLocks xmlns:a="http://schemas.openxmlformats.org/drawingml/2006/main" noGrp="1"/>
          </p:cNvSpPr>
          <p:nvPr/>
        </p:nvSpPr>
        <p:spPr>
          <a:xfrm xmlns:a="http://schemas.openxmlformats.org/drawingml/2006/main">
            <a:off x="495300" y="3038475"/>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The equipment</a:t>
            </a:r>
          </a:p>
        </p:txBody>
      </p:sp>
      <p:sp>
        <p:nvSpPr>
          <p:cNvPr id="6" name="body">
            <a:extLst xmlns:a="http://schemas.openxmlformats.org/drawingml/2006/main">
              <a:ext uri="{FF2B5EF4-FFF2-40B4-BE49-F238E27FC236}">
                <a16:creationId xmlns:a16="http://schemas.microsoft.com/office/drawing/2014/main" id="{0E0B9440-94DF-4F96-9697-A633D5D4F12C}"/>
              </a:ext>
            </a:extLst>
          </p:cNvPr>
          <p:cNvSpPr>
            <a:spLocks xmlns:a="http://schemas.openxmlformats.org/drawingml/2006/main" noGrp="1"/>
          </p:cNvSpPr>
          <p:nvPr/>
        </p:nvSpPr>
        <p:spPr>
          <a:xfrm xmlns:a="http://schemas.openxmlformats.org/drawingml/2006/main">
            <a:off x="495300" y="3400425"/>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Two connected links, a high-speed camera, and a tracking app that follows both moving joints.</a:t>
            </a:r>
          </a:p>
        </p:txBody>
      </p:sp>
      <p:sp>
        <p:nvSpPr>
          <p:cNvPr id="7" name="body">
            <a:extLst xmlns:a="http://schemas.openxmlformats.org/drawingml/2006/main">
              <a:ext uri="{FF2B5EF4-FFF2-40B4-BE49-F238E27FC236}">
                <a16:creationId xmlns:a16="http://schemas.microsoft.com/office/drawing/2014/main" id="{1AD2B33E-DFFD-45B2-9140-EEBC5033EB36}"/>
              </a:ext>
            </a:extLst>
          </p:cNvPr>
          <p:cNvSpPr>
            <a:spLocks xmlns:a="http://schemas.openxmlformats.org/drawingml/2006/main" noGrp="1"/>
          </p:cNvSpPr>
          <p:nvPr/>
        </p:nvSpPr>
        <p:spPr>
          <a:xfrm xmlns:a="http://schemas.openxmlformats.org/drawingml/2006/main">
            <a:off x="495300" y="4400550"/>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What you do</a:t>
            </a:r>
          </a:p>
        </p:txBody>
      </p:sp>
      <p:sp>
        <p:nvSpPr>
          <p:cNvPr id="8" name="body">
            <a:extLst xmlns:a="http://schemas.openxmlformats.org/drawingml/2006/main">
              <a:ext uri="{FF2B5EF4-FFF2-40B4-BE49-F238E27FC236}">
                <a16:creationId xmlns:a16="http://schemas.microsoft.com/office/drawing/2014/main" id="{B1C65991-FCA3-49A6-B1FF-E81E9BB59586}"/>
              </a:ext>
            </a:extLst>
          </p:cNvPr>
          <p:cNvSpPr>
            <a:spLocks xmlns:a="http://schemas.openxmlformats.org/drawingml/2006/main" noGrp="1"/>
          </p:cNvSpPr>
          <p:nvPr/>
        </p:nvSpPr>
        <p:spPr>
          <a:xfrm xmlns:a="http://schemas.openxmlformats.org/drawingml/2006/main">
            <a:off x="495300" y="4762500"/>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Record one small-angle case and at least three large-angle cases. Write down both starting angles before each release.</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57f2d07817fe4515"/>
          <a:stretch xmlns:a="http://schemas.openxmlformats.org/drawingml/2006/main"/>
        </p:blipFill>
        <p:spPr>
          <a:xfrm xmlns:a="http://schemas.openxmlformats.org/drawingml/2006/main">
            <a:off x="6650831" y="1714500"/>
            <a:ext cx="4643438" cy="3714750"/>
          </a:xfrm>
          <a:prstGeom xmlns:a="http://schemas.openxmlformats.org/drawingml/2006/main" prst="rect">
            <a:avLst/>
          </a:prstGeom>
        </p:spPr>
      </p:pic>
      <p:sp>
        <p:nvSpPr>
          <p:cNvPr id="10" name="photo-caption">
            <a:extLst xmlns:a="http://schemas.openxmlformats.org/drawingml/2006/main">
              <a:ext uri="{FF2B5EF4-FFF2-40B4-BE49-F238E27FC236}">
                <a16:creationId xmlns:a16="http://schemas.microsoft.com/office/drawing/2014/main" id="{6ABACC59-2CD8-4AD4-B355-85364CAB07E2}"/>
              </a:ext>
            </a:extLst>
          </p:cNvPr>
          <p:cNvSpPr>
            <a:spLocks xmlns:a="http://schemas.openxmlformats.org/drawingml/2006/main" noGrp="1"/>
          </p:cNvSpPr>
          <p:nvPr/>
        </p:nvSpPr>
        <p:spPr>
          <a:xfrm xmlns:a="http://schemas.openxmlformats.org/drawingml/2006/main">
            <a:off x="6305550" y="5581650"/>
            <a:ext cx="5238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F6368"/>
                </a:solidFill>
                <a:latin typeface="Calibri"/>
                <a:ea typeface="Calibri"/>
                <a:cs typeface="Calibri"/>
              </a:defRPr>
            </a:pPr>
            <a:r>
              <a:rPr sz="1350" b="0">
                <a:solidFill>
                  <a:srgbClr val="5F6368"/>
                </a:solidFill>
                <a:latin typeface="Calibri"/>
                <a:ea typeface="Calibri"/>
                <a:cs typeface="Calibri"/>
              </a:rPr>
              <a:t>Two-link pendulum during release</a:t>
            </a:r>
          </a:p>
        </p:txBody>
      </p:sp>
      <p:sp>
        <p:nvSpPr>
          <p:cNvPr id="11" name="page">
            <a:extLst xmlns:a="http://schemas.openxmlformats.org/drawingml/2006/main">
              <a:ext uri="{FF2B5EF4-FFF2-40B4-BE49-F238E27FC236}">
                <a16:creationId xmlns:a16="http://schemas.microsoft.com/office/drawing/2014/main" id="{7DC53515-0D2B-41B2-A919-B03A57A5B658}"/>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12</a:t>
            </a:r>
          </a:p>
        </p:txBody>
      </p:sp>
    </p:spTree>
    <p:extLst>
      <p:ext uri="{BB962C8B-B14F-4D97-AF65-F5344CB8AC3E}">
        <p14:creationId xmlns:p14="http://schemas.microsoft.com/office/powerpoint/2010/main" val="9133623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ECEA512E-15BC-4DC3-A525-5730E49FEA60}"/>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23AE65E0-87EF-4539-A67D-DBF0E4F58CC6}"/>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3: Two angle records to explain</a:t>
            </a:r>
          </a:p>
        </p:txBody>
      </p:sp>
      <p:sp>
        <p:nvSpPr>
          <p:cNvPr id="3" name="body">
            <a:extLst xmlns:a="http://schemas.openxmlformats.org/drawingml/2006/main">
              <a:ext uri="{FF2B5EF4-FFF2-40B4-BE49-F238E27FC236}">
                <a16:creationId xmlns:a16="http://schemas.microsoft.com/office/drawing/2014/main" id="{A25C24CA-39D0-492A-A20D-A75934A45D51}"/>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The measurements</a:t>
            </a:r>
          </a:p>
        </p:txBody>
      </p:sp>
      <p:sp>
        <p:nvSpPr>
          <p:cNvPr id="4" name="body">
            <a:extLst xmlns:a="http://schemas.openxmlformats.org/drawingml/2006/main">
              <a:ext uri="{FF2B5EF4-FFF2-40B4-BE49-F238E27FC236}">
                <a16:creationId xmlns:a16="http://schemas.microsoft.com/office/drawing/2014/main" id="{8F422C07-9952-472A-964B-B29A3F66852F}"/>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Plot each link’s angle versus time. Notice how the two links speed up, slow down, and influence one another.</a:t>
            </a:r>
          </a:p>
        </p:txBody>
      </p:sp>
      <p:sp>
        <p:nvSpPr>
          <p:cNvPr id="5" name="body">
            <a:extLst xmlns:a="http://schemas.openxmlformats.org/drawingml/2006/main">
              <a:ext uri="{FF2B5EF4-FFF2-40B4-BE49-F238E27FC236}">
                <a16:creationId xmlns:a16="http://schemas.microsoft.com/office/drawing/2014/main" id="{07D71BA2-21AB-4816-9BA3-251513716060}"/>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The comparison</a:t>
            </a:r>
          </a:p>
        </p:txBody>
      </p:sp>
      <p:sp>
        <p:nvSpPr>
          <p:cNvPr id="6" name="body">
            <a:extLst xmlns:a="http://schemas.openxmlformats.org/drawingml/2006/main">
              <a:ext uri="{FF2B5EF4-FFF2-40B4-BE49-F238E27FC236}">
                <a16:creationId xmlns:a16="http://schemas.microsoft.com/office/drawing/2014/main" id="{1098BCDD-4021-4B6B-B93E-BFBA40369B00}"/>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Start the simulation with the measured angles. Compare both links over the same time interval.</a:t>
            </a:r>
          </a:p>
        </p:txBody>
      </p:sp>
      <p:sp>
        <p:nvSpPr>
          <p:cNvPr id="7" name="body">
            <a:extLst xmlns:a="http://schemas.openxmlformats.org/drawingml/2006/main">
              <a:ext uri="{FF2B5EF4-FFF2-40B4-BE49-F238E27FC236}">
                <a16:creationId xmlns:a16="http://schemas.microsoft.com/office/drawing/2014/main" id="{0B1EDEF4-F518-4757-92A0-0CF8E0F64FBC}"/>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What goes in the report</a:t>
            </a:r>
          </a:p>
        </p:txBody>
      </p:sp>
      <p:sp>
        <p:nvSpPr>
          <p:cNvPr id="8" name="body">
            <a:extLst xmlns:a="http://schemas.openxmlformats.org/drawingml/2006/main">
              <a:ext uri="{FF2B5EF4-FFF2-40B4-BE49-F238E27FC236}">
                <a16:creationId xmlns:a16="http://schemas.microsoft.com/office/drawing/2014/main" id="{CA4753C4-98B9-4AA2-972E-A8F54FF3B993}"/>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Show where the predictions agree and where they separate from the measurements. Check release conditions and tracking before explaining the difference.</a:t>
            </a:r>
          </a:p>
        </p:txBody>
      </p:sp>
      <p:sp>
        <p:nvSpPr>
          <p:cNvPr id="9" name="footnote">
            <a:extLst xmlns:a="http://schemas.openxmlformats.org/drawingml/2006/main">
              <a:ext uri="{FF2B5EF4-FFF2-40B4-BE49-F238E27FC236}">
                <a16:creationId xmlns:a16="http://schemas.microsoft.com/office/drawing/2014/main" id="{CEC799EF-B6E1-46F4-AFBB-BA0451F4CAD1}"/>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A small difference at release can grow during large motion. An irregular-looking trajectory alone does not prove chaos.</a:t>
            </a:r>
          </a:p>
        </p:txBody>
      </p:sp>
      <p:sp>
        <p:nvSpPr>
          <p:cNvPr id="10" name="page">
            <a:extLst xmlns:a="http://schemas.openxmlformats.org/drawingml/2006/main">
              <a:ext uri="{FF2B5EF4-FFF2-40B4-BE49-F238E27FC236}">
                <a16:creationId xmlns:a16="http://schemas.microsoft.com/office/drawing/2014/main" id="{50209702-63A1-497C-B053-7F43F4010926}"/>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13</a:t>
            </a:r>
          </a:p>
        </p:txBody>
      </p:sp>
    </p:spTree>
    <p:extLst>
      <p:ext uri="{BB962C8B-B14F-4D97-AF65-F5344CB8AC3E}">
        <p14:creationId xmlns:p14="http://schemas.microsoft.com/office/powerpoint/2010/main" val="129695128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E69FBF41-C235-4F49-94E1-31BC30495C3D}"/>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980F3BA9-4310-4393-8400-9AB85836E0C7}"/>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4: A cart released between springs</a:t>
            </a:r>
          </a:p>
        </p:txBody>
      </p:sp>
      <p:sp>
        <p:nvSpPr>
          <p:cNvPr id="3" name="body">
            <a:extLst xmlns:a="http://schemas.openxmlformats.org/drawingml/2006/main">
              <a:ext uri="{FF2B5EF4-FFF2-40B4-BE49-F238E27FC236}">
                <a16:creationId xmlns:a16="http://schemas.microsoft.com/office/drawing/2014/main" id="{B356DB49-36F4-4462-9286-34AF0A900AFB}"/>
              </a:ext>
            </a:extLst>
          </p:cNvPr>
          <p:cNvSpPr>
            <a:spLocks xmlns:a="http://schemas.openxmlformats.org/drawingml/2006/main" noGrp="1"/>
          </p:cNvSpPr>
          <p:nvPr/>
        </p:nvSpPr>
        <p:spPr>
          <a:xfrm xmlns:a="http://schemas.openxmlformats.org/drawingml/2006/main">
            <a:off x="495300" y="1676400"/>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The question</a:t>
            </a:r>
          </a:p>
        </p:txBody>
      </p:sp>
      <p:sp>
        <p:nvSpPr>
          <p:cNvPr id="4" name="body">
            <a:extLst xmlns:a="http://schemas.openxmlformats.org/drawingml/2006/main">
              <a:ext uri="{FF2B5EF4-FFF2-40B4-BE49-F238E27FC236}">
                <a16:creationId xmlns:a16="http://schemas.microsoft.com/office/drawing/2014/main" id="{CE4DEF4A-B6A7-4CF2-9EBA-9042E2686330}"/>
              </a:ext>
            </a:extLst>
          </p:cNvPr>
          <p:cNvSpPr>
            <a:spLocks xmlns:a="http://schemas.openxmlformats.org/drawingml/2006/main" noGrp="1"/>
          </p:cNvSpPr>
          <p:nvPr/>
        </p:nvSpPr>
        <p:spPr>
          <a:xfrm xmlns:a="http://schemas.openxmlformats.org/drawingml/2006/main">
            <a:off x="495300" y="2038350"/>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What controls how fast the cart moves back and forth, and how quickly that motion dies away?</a:t>
            </a:r>
          </a:p>
        </p:txBody>
      </p:sp>
      <p:sp>
        <p:nvSpPr>
          <p:cNvPr id="5" name="body">
            <a:extLst xmlns:a="http://schemas.openxmlformats.org/drawingml/2006/main">
              <a:ext uri="{FF2B5EF4-FFF2-40B4-BE49-F238E27FC236}">
                <a16:creationId xmlns:a16="http://schemas.microsoft.com/office/drawing/2014/main" id="{E53903D5-AA70-4F4D-9C9F-CCA007E4E8F7}"/>
              </a:ext>
            </a:extLst>
          </p:cNvPr>
          <p:cNvSpPr>
            <a:spLocks xmlns:a="http://schemas.openxmlformats.org/drawingml/2006/main" noGrp="1"/>
          </p:cNvSpPr>
          <p:nvPr/>
        </p:nvSpPr>
        <p:spPr>
          <a:xfrm xmlns:a="http://schemas.openxmlformats.org/drawingml/2006/main">
            <a:off x="495300" y="3038475"/>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The equipment</a:t>
            </a:r>
          </a:p>
        </p:txBody>
      </p:sp>
      <p:sp>
        <p:nvSpPr>
          <p:cNvPr id="6" name="body">
            <a:extLst xmlns:a="http://schemas.openxmlformats.org/drawingml/2006/main">
              <a:ext uri="{FF2B5EF4-FFF2-40B4-BE49-F238E27FC236}">
                <a16:creationId xmlns:a16="http://schemas.microsoft.com/office/drawing/2014/main" id="{00B40D4B-9C06-41E8-AE39-A65B10344A5E}"/>
              </a:ext>
            </a:extLst>
          </p:cNvPr>
          <p:cNvSpPr>
            <a:spLocks xmlns:a="http://schemas.openxmlformats.org/drawingml/2006/main" noGrp="1"/>
          </p:cNvSpPr>
          <p:nvPr/>
        </p:nvSpPr>
        <p:spPr>
          <a:xfrm xmlns:a="http://schemas.openxmlformats.org/drawingml/2006/main">
            <a:off x="495300" y="3400425"/>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A cart on a track, springs, added masses, and magnetic brakes. A sensor records the cart position.</a:t>
            </a:r>
          </a:p>
        </p:txBody>
      </p:sp>
      <p:sp>
        <p:nvSpPr>
          <p:cNvPr id="7" name="body">
            <a:extLst xmlns:a="http://schemas.openxmlformats.org/drawingml/2006/main">
              <a:ext uri="{FF2B5EF4-FFF2-40B4-BE49-F238E27FC236}">
                <a16:creationId xmlns:a16="http://schemas.microsoft.com/office/drawing/2014/main" id="{7037534B-0B32-4947-A499-5F5996622250}"/>
              </a:ext>
            </a:extLst>
          </p:cNvPr>
          <p:cNvSpPr>
            <a:spLocks xmlns:a="http://schemas.openxmlformats.org/drawingml/2006/main" noGrp="1"/>
          </p:cNvSpPr>
          <p:nvPr/>
        </p:nvSpPr>
        <p:spPr>
          <a:xfrm xmlns:a="http://schemas.openxmlformats.org/drawingml/2006/main">
            <a:off x="495300" y="4400550"/>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What you do</a:t>
            </a:r>
          </a:p>
        </p:txBody>
      </p:sp>
      <p:sp>
        <p:nvSpPr>
          <p:cNvPr id="8" name="body">
            <a:extLst xmlns:a="http://schemas.openxmlformats.org/drawingml/2006/main">
              <a:ext uri="{FF2B5EF4-FFF2-40B4-BE49-F238E27FC236}">
                <a16:creationId xmlns:a16="http://schemas.microsoft.com/office/drawing/2014/main" id="{9125FF2D-7627-4049-884A-74FAFD6FB2E8}"/>
              </a:ext>
            </a:extLst>
          </p:cNvPr>
          <p:cNvSpPr>
            <a:spLocks xmlns:a="http://schemas.openxmlformats.org/drawingml/2006/main" noGrp="1"/>
          </p:cNvSpPr>
          <p:nvPr/>
        </p:nvSpPr>
        <p:spPr>
          <a:xfrm xmlns:a="http://schemas.openxmlformats.org/drawingml/2006/main">
            <a:off x="495300" y="4762500"/>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Measure mass and spring stiffness. Pull the cart away from rest and let go. Repeat after changing one setting at a time.</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8c9d29e172794d20"/>
          <a:stretch xmlns:a="http://schemas.openxmlformats.org/drawingml/2006/main"/>
        </p:blipFill>
        <p:spPr>
          <a:xfrm xmlns:a="http://schemas.openxmlformats.org/drawingml/2006/main">
            <a:off x="6496050" y="1714500"/>
            <a:ext cx="4953000" cy="3714750"/>
          </a:xfrm>
          <a:prstGeom xmlns:a="http://schemas.openxmlformats.org/drawingml/2006/main" prst="rect">
            <a:avLst/>
          </a:prstGeom>
        </p:spPr>
      </p:pic>
      <p:sp>
        <p:nvSpPr>
          <p:cNvPr id="10" name="photo-caption">
            <a:extLst xmlns:a="http://schemas.openxmlformats.org/drawingml/2006/main">
              <a:ext uri="{FF2B5EF4-FFF2-40B4-BE49-F238E27FC236}">
                <a16:creationId xmlns:a16="http://schemas.microsoft.com/office/drawing/2014/main" id="{62E651B5-FBD8-4FF6-A513-85FE5D93CD4D}"/>
              </a:ext>
            </a:extLst>
          </p:cNvPr>
          <p:cNvSpPr>
            <a:spLocks xmlns:a="http://schemas.openxmlformats.org/drawingml/2006/main" noGrp="1"/>
          </p:cNvSpPr>
          <p:nvPr/>
        </p:nvSpPr>
        <p:spPr>
          <a:xfrm xmlns:a="http://schemas.openxmlformats.org/drawingml/2006/main">
            <a:off x="6305550" y="5581650"/>
            <a:ext cx="5238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F6368"/>
                </a:solidFill>
                <a:latin typeface="Calibri"/>
                <a:ea typeface="Calibri"/>
                <a:cs typeface="Calibri"/>
              </a:defRPr>
            </a:pPr>
            <a:r>
              <a:rPr sz="1350" b="0">
                <a:solidFill>
                  <a:srgbClr val="5F6368"/>
                </a:solidFill>
                <a:latin typeface="Calibri"/>
                <a:ea typeface="Calibri"/>
                <a:cs typeface="Calibri"/>
              </a:rPr>
              <a:t>Vernier carts with added masses</a:t>
            </a:r>
          </a:p>
        </p:txBody>
      </p:sp>
      <p:sp>
        <p:nvSpPr>
          <p:cNvPr id="11" name="page">
            <a:extLst xmlns:a="http://schemas.openxmlformats.org/drawingml/2006/main">
              <a:ext uri="{FF2B5EF4-FFF2-40B4-BE49-F238E27FC236}">
                <a16:creationId xmlns:a16="http://schemas.microsoft.com/office/drawing/2014/main" id="{88702144-E22B-481E-B42C-F4BB6CBEAB96}"/>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14</a:t>
            </a:r>
          </a:p>
        </p:txBody>
      </p:sp>
    </p:spTree>
    <p:extLst>
      <p:ext uri="{BB962C8B-B14F-4D97-AF65-F5344CB8AC3E}">
        <p14:creationId xmlns:p14="http://schemas.microsoft.com/office/powerpoint/2010/main" val="198033906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324D3244-3288-43FF-87B3-10C43BC04E64}"/>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88AD8FA1-6EC5-41E2-AE9A-B3B297855613}"/>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4: Swing time and fading motion</a:t>
            </a:r>
          </a:p>
        </p:txBody>
      </p:sp>
      <p:sp>
        <p:nvSpPr>
          <p:cNvPr id="3" name="body">
            <a:extLst xmlns:a="http://schemas.openxmlformats.org/drawingml/2006/main">
              <a:ext uri="{FF2B5EF4-FFF2-40B4-BE49-F238E27FC236}">
                <a16:creationId xmlns:a16="http://schemas.microsoft.com/office/drawing/2014/main" id="{92C43604-B5BC-49DF-8524-73507E96F539}"/>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Two features of the plot</a:t>
            </a:r>
          </a:p>
        </p:txBody>
      </p:sp>
      <p:sp>
        <p:nvSpPr>
          <p:cNvPr id="4" name="body">
            <a:extLst xmlns:a="http://schemas.openxmlformats.org/drawingml/2006/main">
              <a:ext uri="{FF2B5EF4-FFF2-40B4-BE49-F238E27FC236}">
                <a16:creationId xmlns:a16="http://schemas.microsoft.com/office/drawing/2014/main" id="{3902E9F4-A890-4830-B42C-90269C5CAEB8}"/>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Peak spacing gives the period. The decrease in peak height shows how quickly the motion dies away.</a:t>
            </a:r>
          </a:p>
        </p:txBody>
      </p:sp>
      <p:sp>
        <p:nvSpPr>
          <p:cNvPr id="5" name="body">
            <a:extLst xmlns:a="http://schemas.openxmlformats.org/drawingml/2006/main">
              <a:ext uri="{FF2B5EF4-FFF2-40B4-BE49-F238E27FC236}">
                <a16:creationId xmlns:a16="http://schemas.microsoft.com/office/drawing/2014/main" id="{9DEEE5FA-1A7A-4DC5-B54F-9BB93CC751B0}"/>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Expected trends</a:t>
            </a:r>
          </a:p>
        </p:txBody>
      </p:sp>
      <p:sp>
        <p:nvSpPr>
          <p:cNvPr id="6" name="body">
            <a:extLst xmlns:a="http://schemas.openxmlformats.org/drawingml/2006/main">
              <a:ext uri="{FF2B5EF4-FFF2-40B4-BE49-F238E27FC236}">
                <a16:creationId xmlns:a16="http://schemas.microsoft.com/office/drawing/2014/main" id="{8702BEF2-1F24-4A2B-9706-8E1BA969BD09}"/>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More mass usually gives slower motion. Stiffer springs give faster motion. More damping makes the peaks decrease faster.</a:t>
            </a:r>
          </a:p>
        </p:txBody>
      </p:sp>
      <p:sp>
        <p:nvSpPr>
          <p:cNvPr id="7" name="body">
            <a:extLst xmlns:a="http://schemas.openxmlformats.org/drawingml/2006/main">
              <a:ext uri="{FF2B5EF4-FFF2-40B4-BE49-F238E27FC236}">
                <a16:creationId xmlns:a16="http://schemas.microsoft.com/office/drawing/2014/main" id="{2E94EB84-2FE2-4E1E-B4D2-CB837D77D3F8}"/>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What goes in the report</a:t>
            </a:r>
          </a:p>
        </p:txBody>
      </p:sp>
      <p:sp>
        <p:nvSpPr>
          <p:cNvPr id="8" name="body">
            <a:extLst xmlns:a="http://schemas.openxmlformats.org/drawingml/2006/main">
              <a:ext uri="{FF2B5EF4-FFF2-40B4-BE49-F238E27FC236}">
                <a16:creationId xmlns:a16="http://schemas.microsoft.com/office/drawing/2014/main" id="{E72453B1-713E-4B95-8B27-E11E00212FD0}"/>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Compare the cases using measured frequency and damping. State exactly what changed and connect each trend to the model.</a:t>
            </a:r>
          </a:p>
        </p:txBody>
      </p:sp>
      <p:sp>
        <p:nvSpPr>
          <p:cNvPr id="9" name="footnote">
            <a:extLst xmlns:a="http://schemas.openxmlformats.org/drawingml/2006/main">
              <a:ext uri="{FF2B5EF4-FFF2-40B4-BE49-F238E27FC236}">
                <a16:creationId xmlns:a16="http://schemas.microsoft.com/office/drawing/2014/main" id="{56F9E247-4C70-48F5-B29E-F882827F4761}"/>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Keep other settings fixed when making a comparison. Include the mass of added brake parts in the total moving mass.</a:t>
            </a:r>
          </a:p>
        </p:txBody>
      </p:sp>
      <p:sp>
        <p:nvSpPr>
          <p:cNvPr id="10" name="page">
            <a:extLst xmlns:a="http://schemas.openxmlformats.org/drawingml/2006/main">
              <a:ext uri="{FF2B5EF4-FFF2-40B4-BE49-F238E27FC236}">
                <a16:creationId xmlns:a16="http://schemas.microsoft.com/office/drawing/2014/main" id="{C497AE5D-2F97-4F4E-A718-C7141EFDE43B}"/>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15</a:t>
            </a:r>
          </a:p>
        </p:txBody>
      </p:sp>
    </p:spTree>
    <p:extLst>
      <p:ext uri="{BB962C8B-B14F-4D97-AF65-F5344CB8AC3E}">
        <p14:creationId xmlns:p14="http://schemas.microsoft.com/office/powerpoint/2010/main" val="120341810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14D8D168-3395-4323-B896-F1E950D214E2}"/>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68217066-B6A2-401D-A5DE-7F551CC5097C}"/>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5: A cart driven by a motor</a:t>
            </a:r>
          </a:p>
        </p:txBody>
      </p:sp>
      <p:sp>
        <p:nvSpPr>
          <p:cNvPr id="3" name="body">
            <a:extLst xmlns:a="http://schemas.openxmlformats.org/drawingml/2006/main">
              <a:ext uri="{FF2B5EF4-FFF2-40B4-BE49-F238E27FC236}">
                <a16:creationId xmlns:a16="http://schemas.microsoft.com/office/drawing/2014/main" id="{E9299BF3-A922-46DF-B9BE-2618736B54B1}"/>
              </a:ext>
            </a:extLst>
          </p:cNvPr>
          <p:cNvSpPr>
            <a:spLocks xmlns:a="http://schemas.openxmlformats.org/drawingml/2006/main" noGrp="1"/>
          </p:cNvSpPr>
          <p:nvPr/>
        </p:nvSpPr>
        <p:spPr>
          <a:xfrm xmlns:a="http://schemas.openxmlformats.org/drawingml/2006/main">
            <a:off x="495300" y="1676400"/>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The question</a:t>
            </a:r>
          </a:p>
        </p:txBody>
      </p:sp>
      <p:sp>
        <p:nvSpPr>
          <p:cNvPr id="4" name="body">
            <a:extLst xmlns:a="http://schemas.openxmlformats.org/drawingml/2006/main">
              <a:ext uri="{FF2B5EF4-FFF2-40B4-BE49-F238E27FC236}">
                <a16:creationId xmlns:a16="http://schemas.microsoft.com/office/drawing/2014/main" id="{E83F0D24-3279-4D18-81AD-72AC72DE58E1}"/>
              </a:ext>
            </a:extLst>
          </p:cNvPr>
          <p:cNvSpPr>
            <a:spLocks xmlns:a="http://schemas.openxmlformats.org/drawingml/2006/main" noGrp="1"/>
          </p:cNvSpPr>
          <p:nvPr/>
        </p:nvSpPr>
        <p:spPr>
          <a:xfrm xmlns:a="http://schemas.openxmlformats.org/drawingml/2006/main">
            <a:off x="495300" y="2038350"/>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Why can the cart move much farther at some driving speeds than at others?</a:t>
            </a:r>
          </a:p>
        </p:txBody>
      </p:sp>
      <p:sp>
        <p:nvSpPr>
          <p:cNvPr id="5" name="body">
            <a:extLst xmlns:a="http://schemas.openxmlformats.org/drawingml/2006/main">
              <a:ext uri="{FF2B5EF4-FFF2-40B4-BE49-F238E27FC236}">
                <a16:creationId xmlns:a16="http://schemas.microsoft.com/office/drawing/2014/main" id="{2DE02B47-AF9F-4510-A7D7-F99F3FFFC9ED}"/>
              </a:ext>
            </a:extLst>
          </p:cNvPr>
          <p:cNvSpPr>
            <a:spLocks xmlns:a="http://schemas.openxmlformats.org/drawingml/2006/main" noGrp="1"/>
          </p:cNvSpPr>
          <p:nvPr/>
        </p:nvSpPr>
        <p:spPr>
          <a:xfrm xmlns:a="http://schemas.openxmlformats.org/drawingml/2006/main">
            <a:off x="495300" y="3038475"/>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The equipment</a:t>
            </a:r>
          </a:p>
        </p:txBody>
      </p:sp>
      <p:sp>
        <p:nvSpPr>
          <p:cNvPr id="6" name="body">
            <a:extLst xmlns:a="http://schemas.openxmlformats.org/drawingml/2006/main">
              <a:ext uri="{FF2B5EF4-FFF2-40B4-BE49-F238E27FC236}">
                <a16:creationId xmlns:a16="http://schemas.microsoft.com/office/drawing/2014/main" id="{828912EB-C749-4BE1-8CCE-5E69EC01C546}"/>
              </a:ext>
            </a:extLst>
          </p:cNvPr>
          <p:cNvSpPr>
            <a:spLocks xmlns:a="http://schemas.openxmlformats.org/drawingml/2006/main" noGrp="1"/>
          </p:cNvSpPr>
          <p:nvPr/>
        </p:nvSpPr>
        <p:spPr>
          <a:xfrm xmlns:a="http://schemas.openxmlformats.org/drawingml/2006/main">
            <a:off x="495300" y="3400425"/>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A motor moves one spring end back and forth. The cart records position; a tachometer measures motor speed.</a:t>
            </a:r>
          </a:p>
        </p:txBody>
      </p:sp>
      <p:sp>
        <p:nvSpPr>
          <p:cNvPr id="7" name="body">
            <a:extLst xmlns:a="http://schemas.openxmlformats.org/drawingml/2006/main">
              <a:ext uri="{FF2B5EF4-FFF2-40B4-BE49-F238E27FC236}">
                <a16:creationId xmlns:a16="http://schemas.microsoft.com/office/drawing/2014/main" id="{9EFA7D3D-1C10-41EC-AF5E-F64CC5C7D035}"/>
              </a:ext>
            </a:extLst>
          </p:cNvPr>
          <p:cNvSpPr>
            <a:spLocks xmlns:a="http://schemas.openxmlformats.org/drawingml/2006/main" noGrp="1"/>
          </p:cNvSpPr>
          <p:nvPr/>
        </p:nvSpPr>
        <p:spPr>
          <a:xfrm xmlns:a="http://schemas.openxmlformats.org/drawingml/2006/main">
            <a:off x="495300" y="4400550"/>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What you do</a:t>
            </a:r>
          </a:p>
        </p:txBody>
      </p:sp>
      <p:sp>
        <p:nvSpPr>
          <p:cNvPr id="8" name="body">
            <a:extLst xmlns:a="http://schemas.openxmlformats.org/drawingml/2006/main">
              <a:ext uri="{FF2B5EF4-FFF2-40B4-BE49-F238E27FC236}">
                <a16:creationId xmlns:a16="http://schemas.microsoft.com/office/drawing/2014/main" id="{EC076EF0-419C-458D-8AE6-B269A42D900D}"/>
              </a:ext>
            </a:extLst>
          </p:cNvPr>
          <p:cNvSpPr>
            <a:spLocks xmlns:a="http://schemas.openxmlformats.org/drawingml/2006/main" noGrp="1"/>
          </p:cNvSpPr>
          <p:nvPr/>
        </p:nvSpPr>
        <p:spPr>
          <a:xfrm xmlns:a="http://schemas.openxmlformats.org/drawingml/2006/main">
            <a:off x="495300" y="4762500"/>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Compare three brief pushes. Then drive the cart at several speeds below and above its strongest response.</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2aa7023a0fc946b0"/>
          <a:stretch xmlns:a="http://schemas.openxmlformats.org/drawingml/2006/main"/>
        </p:blipFill>
        <p:spPr>
          <a:xfrm xmlns:a="http://schemas.openxmlformats.org/drawingml/2006/main">
            <a:off x="6305550" y="2071312"/>
            <a:ext cx="5334000" cy="3001125"/>
          </a:xfrm>
          <a:prstGeom xmlns:a="http://schemas.openxmlformats.org/drawingml/2006/main" prst="rect">
            <a:avLst/>
          </a:prstGeom>
        </p:spPr>
      </p:pic>
      <p:sp>
        <p:nvSpPr>
          <p:cNvPr id="10" name="photo-caption">
            <a:extLst xmlns:a="http://schemas.openxmlformats.org/drawingml/2006/main">
              <a:ext uri="{FF2B5EF4-FFF2-40B4-BE49-F238E27FC236}">
                <a16:creationId xmlns:a16="http://schemas.microsoft.com/office/drawing/2014/main" id="{6EBB6168-CF49-4E45-9739-F9272D9388FF}"/>
              </a:ext>
            </a:extLst>
          </p:cNvPr>
          <p:cNvSpPr>
            <a:spLocks xmlns:a="http://schemas.openxmlformats.org/drawingml/2006/main" noGrp="1"/>
          </p:cNvSpPr>
          <p:nvPr/>
        </p:nvSpPr>
        <p:spPr>
          <a:xfrm xmlns:a="http://schemas.openxmlformats.org/drawingml/2006/main">
            <a:off x="6305550" y="5581650"/>
            <a:ext cx="5238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F6368"/>
                </a:solidFill>
                <a:latin typeface="Calibri"/>
                <a:ea typeface="Calibri"/>
                <a:cs typeface="Calibri"/>
              </a:defRPr>
            </a:pPr>
            <a:r>
              <a:rPr sz="1350" b="0">
                <a:solidFill>
                  <a:srgbClr val="5F6368"/>
                </a:solidFill>
                <a:latin typeface="Calibri"/>
                <a:ea typeface="Calibri"/>
                <a:cs typeface="Calibri"/>
              </a:rPr>
              <a:t>Motor and spring drive from an earlier course setup</a:t>
            </a:r>
          </a:p>
        </p:txBody>
      </p:sp>
      <p:sp>
        <p:nvSpPr>
          <p:cNvPr id="11" name="page">
            <a:extLst xmlns:a="http://schemas.openxmlformats.org/drawingml/2006/main">
              <a:ext uri="{FF2B5EF4-FFF2-40B4-BE49-F238E27FC236}">
                <a16:creationId xmlns:a16="http://schemas.microsoft.com/office/drawing/2014/main" id="{84AF543F-FFDC-468F-A895-1F41B86D5233}"/>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16</a:t>
            </a:r>
          </a:p>
        </p:txBody>
      </p:sp>
    </p:spTree>
    <p:extLst>
      <p:ext uri="{BB962C8B-B14F-4D97-AF65-F5344CB8AC3E}">
        <p14:creationId xmlns:p14="http://schemas.microsoft.com/office/powerpoint/2010/main" val="57095607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879A1377-58EA-4A73-B438-DC17CC91D489}"/>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2D01DD11-D2AC-4406-8D1B-FD23F9BABEA3}"/>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5: Response at different driving speeds</a:t>
            </a:r>
          </a:p>
        </p:txBody>
      </p:sp>
      <p:sp>
        <p:nvSpPr>
          <p:cNvPr id="3" name="body">
            <a:extLst xmlns:a="http://schemas.openxmlformats.org/drawingml/2006/main">
              <a:ext uri="{FF2B5EF4-FFF2-40B4-BE49-F238E27FC236}">
                <a16:creationId xmlns:a16="http://schemas.microsoft.com/office/drawing/2014/main" id="{D463B09D-3D7A-47FA-B58C-0649045736D5}"/>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After each speed change</a:t>
            </a:r>
          </a:p>
        </p:txBody>
      </p:sp>
      <p:sp>
        <p:nvSpPr>
          <p:cNvPr id="4" name="body">
            <a:extLst xmlns:a="http://schemas.openxmlformats.org/drawingml/2006/main">
              <a:ext uri="{FF2B5EF4-FFF2-40B4-BE49-F238E27FC236}">
                <a16:creationId xmlns:a16="http://schemas.microsoft.com/office/drawing/2014/main" id="{19853F55-01F1-47A2-ADEC-F9884BFD34B4}"/>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Wait until the motion settles into a repeating pattern. Measure the spring-end motion and the cart motion.</a:t>
            </a:r>
          </a:p>
        </p:txBody>
      </p:sp>
      <p:sp>
        <p:nvSpPr>
          <p:cNvPr id="5" name="body">
            <a:extLst xmlns:a="http://schemas.openxmlformats.org/drawingml/2006/main">
              <a:ext uri="{FF2B5EF4-FFF2-40B4-BE49-F238E27FC236}">
                <a16:creationId xmlns:a16="http://schemas.microsoft.com/office/drawing/2014/main" id="{2AF41CBE-C7E4-47C5-AEFA-3C8291E74880}"/>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The main graph</a:t>
            </a:r>
          </a:p>
        </p:txBody>
      </p:sp>
      <p:sp>
        <p:nvSpPr>
          <p:cNvPr id="6" name="body">
            <a:extLst xmlns:a="http://schemas.openxmlformats.org/drawingml/2006/main">
              <a:ext uri="{FF2B5EF4-FFF2-40B4-BE49-F238E27FC236}">
                <a16:creationId xmlns:a16="http://schemas.microsoft.com/office/drawing/2014/main" id="{F6D3E2C1-0CC7-4C30-A6D7-9AA67425A549}"/>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Plot cart amplitude divided by input amplitude against driving frequency. A peak indicates resonance.</a:t>
            </a:r>
          </a:p>
        </p:txBody>
      </p:sp>
      <p:sp>
        <p:nvSpPr>
          <p:cNvPr id="7" name="body">
            <a:extLst xmlns:a="http://schemas.openxmlformats.org/drawingml/2006/main">
              <a:ext uri="{FF2B5EF4-FFF2-40B4-BE49-F238E27FC236}">
                <a16:creationId xmlns:a16="http://schemas.microsoft.com/office/drawing/2014/main" id="{8DCD7E2A-F489-4D30-9547-A2B3E96872F3}"/>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What goes in the report</a:t>
            </a:r>
          </a:p>
        </p:txBody>
      </p:sp>
      <p:sp>
        <p:nvSpPr>
          <p:cNvPr id="8" name="body">
            <a:extLst xmlns:a="http://schemas.openxmlformats.org/drawingml/2006/main">
              <a:ext uri="{FF2B5EF4-FFF2-40B4-BE49-F238E27FC236}">
                <a16:creationId xmlns:a16="http://schemas.microsoft.com/office/drawing/2014/main" id="{438BD58A-DF34-4FCE-9699-B6431ABF38AD}"/>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Compare the measured curve with the model. Explain how mass, spring stiffness, and damping affect the response.</a:t>
            </a:r>
          </a:p>
        </p:txBody>
      </p:sp>
      <p:sp>
        <p:nvSpPr>
          <p:cNvPr id="9" name="footnote">
            <a:extLst xmlns:a="http://schemas.openxmlformats.org/drawingml/2006/main">
              <a:ext uri="{FF2B5EF4-FFF2-40B4-BE49-F238E27FC236}">
                <a16:creationId xmlns:a16="http://schemas.microsoft.com/office/drawing/2014/main" id="{A37F5FE2-6005-45D2-B9D3-AED6ACA1532A}"/>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Amplitude means the distance from the middle position to a peak. Keep peak and peak-to-peak measurements consistent.</a:t>
            </a:r>
          </a:p>
        </p:txBody>
      </p:sp>
      <p:sp>
        <p:nvSpPr>
          <p:cNvPr id="10" name="page">
            <a:extLst xmlns:a="http://schemas.openxmlformats.org/drawingml/2006/main">
              <a:ext uri="{FF2B5EF4-FFF2-40B4-BE49-F238E27FC236}">
                <a16:creationId xmlns:a16="http://schemas.microsoft.com/office/drawing/2014/main" id="{FE52919F-FAA6-41DB-814C-6CAE63A19DE7}"/>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17</a:t>
            </a:r>
          </a:p>
        </p:txBody>
      </p:sp>
    </p:spTree>
    <p:extLst>
      <p:ext uri="{BB962C8B-B14F-4D97-AF65-F5344CB8AC3E}">
        <p14:creationId xmlns:p14="http://schemas.microsoft.com/office/powerpoint/2010/main" val="121570185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6769C847-AD74-4807-B70A-A1C42A4A98F0}"/>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298D6EB3-848D-4A1F-B44A-34177AC5D0D2}"/>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6: A radiometer under light</a:t>
            </a:r>
          </a:p>
        </p:txBody>
      </p:sp>
      <p:sp>
        <p:nvSpPr>
          <p:cNvPr id="3" name="body">
            <a:extLst xmlns:a="http://schemas.openxmlformats.org/drawingml/2006/main">
              <a:ext uri="{FF2B5EF4-FFF2-40B4-BE49-F238E27FC236}">
                <a16:creationId xmlns:a16="http://schemas.microsoft.com/office/drawing/2014/main" id="{F1C49F3F-B641-4904-B313-A066ACB790C5}"/>
              </a:ext>
            </a:extLst>
          </p:cNvPr>
          <p:cNvSpPr>
            <a:spLocks xmlns:a="http://schemas.openxmlformats.org/drawingml/2006/main" noGrp="1"/>
          </p:cNvSpPr>
          <p:nvPr/>
        </p:nvSpPr>
        <p:spPr>
          <a:xfrm xmlns:a="http://schemas.openxmlformats.org/drawingml/2006/main">
            <a:off x="495300" y="1676400"/>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The question</a:t>
            </a:r>
          </a:p>
        </p:txBody>
      </p:sp>
      <p:sp>
        <p:nvSpPr>
          <p:cNvPr id="4" name="body">
            <a:extLst xmlns:a="http://schemas.openxmlformats.org/drawingml/2006/main">
              <a:ext uri="{FF2B5EF4-FFF2-40B4-BE49-F238E27FC236}">
                <a16:creationId xmlns:a16="http://schemas.microsoft.com/office/drawing/2014/main" id="{35FC91E1-B74B-49D0-BACF-F7D25DA71D93}"/>
              </a:ext>
            </a:extLst>
          </p:cNvPr>
          <p:cNvSpPr>
            <a:spLocks xmlns:a="http://schemas.openxmlformats.org/drawingml/2006/main" noGrp="1"/>
          </p:cNvSpPr>
          <p:nvPr/>
        </p:nvSpPr>
        <p:spPr>
          <a:xfrm xmlns:a="http://schemas.openxmlformats.org/drawingml/2006/main">
            <a:off x="495300" y="2038350"/>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How fast do the vanes turn under the light, and does that speed change as the device warms?</a:t>
            </a:r>
          </a:p>
        </p:txBody>
      </p:sp>
      <p:sp>
        <p:nvSpPr>
          <p:cNvPr id="5" name="body">
            <a:extLst xmlns:a="http://schemas.openxmlformats.org/drawingml/2006/main">
              <a:ext uri="{FF2B5EF4-FFF2-40B4-BE49-F238E27FC236}">
                <a16:creationId xmlns:a16="http://schemas.microsoft.com/office/drawing/2014/main" id="{2D9854F0-FF1D-491B-9575-80948E536FEF}"/>
              </a:ext>
            </a:extLst>
          </p:cNvPr>
          <p:cNvSpPr>
            <a:spLocks xmlns:a="http://schemas.openxmlformats.org/drawingml/2006/main" noGrp="1"/>
          </p:cNvSpPr>
          <p:nvPr/>
        </p:nvSpPr>
        <p:spPr>
          <a:xfrm xmlns:a="http://schemas.openxmlformats.org/drawingml/2006/main">
            <a:off x="495300" y="3038475"/>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The equipment</a:t>
            </a:r>
          </a:p>
        </p:txBody>
      </p:sp>
      <p:sp>
        <p:nvSpPr>
          <p:cNvPr id="6" name="body">
            <a:extLst xmlns:a="http://schemas.openxmlformats.org/drawingml/2006/main">
              <a:ext uri="{FF2B5EF4-FFF2-40B4-BE49-F238E27FC236}">
                <a16:creationId xmlns:a16="http://schemas.microsoft.com/office/drawing/2014/main" id="{57E4282C-A4A5-4ED2-8E9E-7B14BAAF4FE8}"/>
              </a:ext>
            </a:extLst>
          </p:cNvPr>
          <p:cNvSpPr>
            <a:spLocks xmlns:a="http://schemas.openxmlformats.org/drawingml/2006/main" noGrp="1"/>
          </p:cNvSpPr>
          <p:nvPr/>
        </p:nvSpPr>
        <p:spPr>
          <a:xfrm xmlns:a="http://schemas.openxmlformats.org/drawingml/2006/main">
            <a:off x="495300" y="3400425"/>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A glass radiometer, LED light, light meter, fixed camera, and dark background.</a:t>
            </a:r>
          </a:p>
        </p:txBody>
      </p:sp>
      <p:sp>
        <p:nvSpPr>
          <p:cNvPr id="7" name="body">
            <a:extLst xmlns:a="http://schemas.openxmlformats.org/drawingml/2006/main">
              <a:ext uri="{FF2B5EF4-FFF2-40B4-BE49-F238E27FC236}">
                <a16:creationId xmlns:a16="http://schemas.microsoft.com/office/drawing/2014/main" id="{829F9CB8-4892-4D3B-9D0D-B344CB516E70}"/>
              </a:ext>
            </a:extLst>
          </p:cNvPr>
          <p:cNvSpPr>
            <a:spLocks xmlns:a="http://schemas.openxmlformats.org/drawingml/2006/main" noGrp="1"/>
          </p:cNvSpPr>
          <p:nvPr/>
        </p:nvSpPr>
        <p:spPr>
          <a:xfrm xmlns:a="http://schemas.openxmlformats.org/drawingml/2006/main">
            <a:off x="495300" y="4400550"/>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881C1C"/>
                </a:solidFill>
                <a:latin typeface="Calibri"/>
                <a:ea typeface="Calibri"/>
                <a:cs typeface="Calibri"/>
              </a:defRPr>
            </a:pPr>
            <a:r>
              <a:rPr sz="1800" b="1">
                <a:solidFill>
                  <a:srgbClr val="881C1C"/>
                </a:solidFill>
                <a:latin typeface="Calibri"/>
                <a:ea typeface="Calibri"/>
                <a:cs typeface="Calibri"/>
              </a:rPr>
              <a:t>What you do</a:t>
            </a:r>
          </a:p>
        </p:txBody>
      </p:sp>
      <p:sp>
        <p:nvSpPr>
          <p:cNvPr id="8" name="body">
            <a:extLst xmlns:a="http://schemas.openxmlformats.org/drawingml/2006/main">
              <a:ext uri="{FF2B5EF4-FFF2-40B4-BE49-F238E27FC236}">
                <a16:creationId xmlns:a16="http://schemas.microsoft.com/office/drawing/2014/main" id="{A8437496-827F-4DB9-B0A0-715DD97EF8A8}"/>
              </a:ext>
            </a:extLst>
          </p:cNvPr>
          <p:cNvSpPr>
            <a:spLocks xmlns:a="http://schemas.openxmlformats.org/drawingml/2006/main" noGrp="1"/>
          </p:cNvSpPr>
          <p:nvPr/>
        </p:nvSpPr>
        <p:spPr>
          <a:xfrm xmlns:a="http://schemas.openxmlformats.org/drawingml/2006/main">
            <a:off x="495300" y="4762500"/>
            <a:ext cx="5334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11111"/>
                </a:solidFill>
                <a:latin typeface="Calibri"/>
                <a:ea typeface="Calibri"/>
                <a:cs typeface="Calibri"/>
              </a:defRPr>
            </a:pPr>
            <a:r>
              <a:rPr sz="1950" b="0">
                <a:solidFill>
                  <a:srgbClr val="111111"/>
                </a:solidFill>
                <a:latin typeface="Calibri"/>
                <a:ea typeface="Calibri"/>
                <a:cs typeface="Calibri"/>
              </a:rPr>
              <a:t>Keep the setup still. Record a clear 60–90 second video and note light level, distance, and whether the device is already warm.</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9559377af68f45ea"/>
          <a:stretch xmlns:a="http://schemas.openxmlformats.org/drawingml/2006/main"/>
        </p:blipFill>
        <p:spPr>
          <a:xfrm xmlns:a="http://schemas.openxmlformats.org/drawingml/2006/main">
            <a:off x="6650831" y="1714500"/>
            <a:ext cx="4643438" cy="3714750"/>
          </a:xfrm>
          <a:prstGeom xmlns:a="http://schemas.openxmlformats.org/drawingml/2006/main" prst="rect">
            <a:avLst/>
          </a:prstGeom>
        </p:spPr>
      </p:pic>
      <p:sp>
        <p:nvSpPr>
          <p:cNvPr id="10" name="photo-caption">
            <a:extLst xmlns:a="http://schemas.openxmlformats.org/drawingml/2006/main">
              <a:ext uri="{FF2B5EF4-FFF2-40B4-BE49-F238E27FC236}">
                <a16:creationId xmlns:a16="http://schemas.microsoft.com/office/drawing/2014/main" id="{C055E7B8-325B-4A9E-B0D3-8443ECE22B7F}"/>
              </a:ext>
            </a:extLst>
          </p:cNvPr>
          <p:cNvSpPr>
            <a:spLocks xmlns:a="http://schemas.openxmlformats.org/drawingml/2006/main" noGrp="1"/>
          </p:cNvSpPr>
          <p:nvPr/>
        </p:nvSpPr>
        <p:spPr>
          <a:xfrm xmlns:a="http://schemas.openxmlformats.org/drawingml/2006/main">
            <a:off x="6305550" y="5581650"/>
            <a:ext cx="5238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F6368"/>
                </a:solidFill>
                <a:latin typeface="Calibri"/>
                <a:ea typeface="Calibri"/>
                <a:cs typeface="Calibri"/>
              </a:defRPr>
            </a:pPr>
            <a:r>
              <a:rPr sz="1350" b="0">
                <a:solidFill>
                  <a:srgbClr val="5F6368"/>
                </a:solidFill>
                <a:latin typeface="Calibri"/>
                <a:ea typeface="Calibri"/>
                <a:cs typeface="Calibri"/>
              </a:rPr>
              <a:t>Radiometer and light meter; green rings mark the tracking region</a:t>
            </a:r>
          </a:p>
        </p:txBody>
      </p:sp>
      <p:sp>
        <p:nvSpPr>
          <p:cNvPr id="11" name="page">
            <a:extLst xmlns:a="http://schemas.openxmlformats.org/drawingml/2006/main">
              <a:ext uri="{FF2B5EF4-FFF2-40B4-BE49-F238E27FC236}">
                <a16:creationId xmlns:a16="http://schemas.microsoft.com/office/drawing/2014/main" id="{60E12094-1B97-4F4A-8155-49C9D4C68D63}"/>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18</a:t>
            </a:r>
          </a:p>
        </p:txBody>
      </p:sp>
    </p:spTree>
    <p:extLst>
      <p:ext uri="{BB962C8B-B14F-4D97-AF65-F5344CB8AC3E}">
        <p14:creationId xmlns:p14="http://schemas.microsoft.com/office/powerpoint/2010/main" val="142144447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894DB2FB-8784-460C-8796-E2B80F8F1E7F}"/>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90E96A20-D1C3-4552-AC01-224CC8AB3983}"/>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6: Rotation speed from video</a:t>
            </a:r>
          </a:p>
        </p:txBody>
      </p:sp>
      <p:sp>
        <p:nvSpPr>
          <p:cNvPr id="3" name="body">
            <a:extLst xmlns:a="http://schemas.openxmlformats.org/drawingml/2006/main">
              <a:ext uri="{FF2B5EF4-FFF2-40B4-BE49-F238E27FC236}">
                <a16:creationId xmlns:a16="http://schemas.microsoft.com/office/drawing/2014/main" id="{700DABD4-2551-43CA-A5FA-F237E8F0A29E}"/>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The measurement</a:t>
            </a:r>
          </a:p>
        </p:txBody>
      </p:sp>
      <p:sp>
        <p:nvSpPr>
          <p:cNvPr id="4" name="body">
            <a:extLst xmlns:a="http://schemas.openxmlformats.org/drawingml/2006/main">
              <a:ext uri="{FF2B5EF4-FFF2-40B4-BE49-F238E27FC236}">
                <a16:creationId xmlns:a16="http://schemas.microsoft.com/office/drawing/2014/main" id="{88CE0163-CA8C-4410-9D26-A0924B912662}"/>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The program follows the vanes and adds up their rotation angle. The slope of angle versus time gives average speed.</a:t>
            </a:r>
          </a:p>
        </p:txBody>
      </p:sp>
      <p:sp>
        <p:nvSpPr>
          <p:cNvPr id="5" name="body">
            <a:extLst xmlns:a="http://schemas.openxmlformats.org/drawingml/2006/main">
              <a:ext uri="{FF2B5EF4-FFF2-40B4-BE49-F238E27FC236}">
                <a16:creationId xmlns:a16="http://schemas.microsoft.com/office/drawing/2014/main" id="{34C8F3E1-AFAC-4FE4-AAAE-D3834FAC60F6}"/>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The useful comparison</a:t>
            </a:r>
          </a:p>
        </p:txBody>
      </p:sp>
      <p:sp>
        <p:nvSpPr>
          <p:cNvPr id="6" name="body">
            <a:extLst xmlns:a="http://schemas.openxmlformats.org/drawingml/2006/main">
              <a:ext uri="{FF2B5EF4-FFF2-40B4-BE49-F238E27FC236}">
                <a16:creationId xmlns:a16="http://schemas.microsoft.com/office/drawing/2014/main" id="{6BF603AC-FB0F-42BA-BC46-4222A4E927CE}"/>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Compare the early and late parts of the same recording. Check whether the rotation speeds up, slows down, or stays nearly steady.</a:t>
            </a:r>
          </a:p>
        </p:txBody>
      </p:sp>
      <p:sp>
        <p:nvSpPr>
          <p:cNvPr id="7" name="body">
            <a:extLst xmlns:a="http://schemas.openxmlformats.org/drawingml/2006/main">
              <a:ext uri="{FF2B5EF4-FFF2-40B4-BE49-F238E27FC236}">
                <a16:creationId xmlns:a16="http://schemas.microsoft.com/office/drawing/2014/main" id="{36D3B8EF-4577-4380-8D54-3D1FCF1E5E62}"/>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What goes in the report</a:t>
            </a:r>
          </a:p>
        </p:txBody>
      </p:sp>
      <p:sp>
        <p:nvSpPr>
          <p:cNvPr id="8" name="body">
            <a:extLst xmlns:a="http://schemas.openxmlformats.org/drawingml/2006/main">
              <a:ext uri="{FF2B5EF4-FFF2-40B4-BE49-F238E27FC236}">
                <a16:creationId xmlns:a16="http://schemas.microsoft.com/office/drawing/2014/main" id="{0D2543D8-D9AF-4FCA-936D-0AA526B6B66D}"/>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Report speed in revolutions per minute (RPM), show the angle plot, and explain how lighting, warming, and tracking affect the result.</a:t>
            </a:r>
          </a:p>
        </p:txBody>
      </p:sp>
      <p:sp>
        <p:nvSpPr>
          <p:cNvPr id="9" name="footnote">
            <a:extLst xmlns:a="http://schemas.openxmlformats.org/drawingml/2006/main">
              <a:ext uri="{FF2B5EF4-FFF2-40B4-BE49-F238E27FC236}">
                <a16:creationId xmlns:a16="http://schemas.microsoft.com/office/drawing/2014/main" id="{70F4BCCB-48C2-48A6-8DCD-B8D3BB830592}"/>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Compare the same time window in each trial. Lux measures visible light level; it does not directly measure the heat absorbed.</a:t>
            </a:r>
          </a:p>
        </p:txBody>
      </p:sp>
      <p:sp>
        <p:nvSpPr>
          <p:cNvPr id="10" name="page">
            <a:extLst xmlns:a="http://schemas.openxmlformats.org/drawingml/2006/main">
              <a:ext uri="{FF2B5EF4-FFF2-40B4-BE49-F238E27FC236}">
                <a16:creationId xmlns:a16="http://schemas.microsoft.com/office/drawing/2014/main" id="{2D9AB7BA-2591-4D5C-9EAB-1ADCF1BBEE8F}"/>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19</a:t>
            </a:r>
          </a:p>
        </p:txBody>
      </p:sp>
    </p:spTree>
    <p:extLst>
      <p:ext uri="{BB962C8B-B14F-4D97-AF65-F5344CB8AC3E}">
        <p14:creationId xmlns:p14="http://schemas.microsoft.com/office/powerpoint/2010/main" val="111982918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yebrow-8">
            <a:extLst xmlns:a="http://schemas.openxmlformats.org/drawingml/2006/main">
              <a:ext uri="{FF2B5EF4-FFF2-40B4-BE49-F238E27FC236}">
                <a16:creationId xmlns:a16="http://schemas.microsoft.com/office/drawing/2014/main" id="{11A3F5C2-3142-408D-BCC2-9A6DD01A39A6}"/>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8">
            <a:extLst xmlns:a="http://schemas.openxmlformats.org/drawingml/2006/main">
              <a:ext uri="{FF2B5EF4-FFF2-40B4-BE49-F238E27FC236}">
                <a16:creationId xmlns:a16="http://schemas.microsoft.com/office/drawing/2014/main" id="{E5BAF64F-E2D6-4C17-A19B-BAA50F5F1164}"/>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The structure of a laboratory report</a:t>
            </a:r>
          </a:p>
        </p:txBody>
      </p:sp>
      <p:sp>
        <p:nvSpPr>
          <p:cNvPr id="3" name="rule-93">
            <a:extLst xmlns:a="http://schemas.openxmlformats.org/drawingml/2006/main">
              <a:ext uri="{FF2B5EF4-FFF2-40B4-BE49-F238E27FC236}">
                <a16:creationId xmlns:a16="http://schemas.microsoft.com/office/drawing/2014/main" id="{23D6AF12-CAF4-4AFE-8CFF-C43E7C57D58D}"/>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8">
            <a:extLst xmlns:a="http://schemas.openxmlformats.org/drawingml/2006/main">
              <a:ext uri="{FF2B5EF4-FFF2-40B4-BE49-F238E27FC236}">
                <a16:creationId xmlns:a16="http://schemas.microsoft.com/office/drawing/2014/main" id="{5418B542-31A5-46A0-ABAC-0075B5C588F5}"/>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20</a:t>
            </a:r>
          </a:p>
        </p:txBody>
      </p:sp>
      <p:sp>
        <p:nvSpPr>
          <p:cNvPr id="5" name="text-95">
            <a:extLst xmlns:a="http://schemas.openxmlformats.org/drawingml/2006/main">
              <a:ext uri="{FF2B5EF4-FFF2-40B4-BE49-F238E27FC236}">
                <a16:creationId xmlns:a16="http://schemas.microsoft.com/office/drawing/2014/main" id="{7D4C7FC5-7F70-4E49-9E16-55EC674F27CD}"/>
              </a:ext>
            </a:extLst>
          </p:cNvPr>
          <p:cNvSpPr>
            <a:spLocks xmlns:a="http://schemas.openxmlformats.org/drawingml/2006/main" noGrp="1"/>
          </p:cNvSpPr>
          <p:nvPr/>
        </p:nvSpPr>
        <p:spPr>
          <a:xfrm xmlns:a="http://schemas.openxmlformats.org/drawingml/2006/main">
            <a:off x="514350" y="16954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00" b="1">
                <a:solidFill>
                  <a:srgbClr val="881C1C"/>
                </a:solidFill>
              </a:defRPr>
            </a:pPr>
            <a:r>
              <a:rPr sz="1500" b="1">
                <a:solidFill>
                  <a:srgbClr val="881C1C"/>
                </a:solidFill>
              </a:rPr>
              <a:t>REQUIRED SECTIONS</a:t>
            </a:r>
          </a:p>
        </p:txBody>
      </p:sp>
      <p:sp>
        <p:nvSpPr>
          <p:cNvPr id="6" name="report-sections">
            <a:extLst xmlns:a="http://schemas.openxmlformats.org/drawingml/2006/main">
              <a:ext uri="{FF2B5EF4-FFF2-40B4-BE49-F238E27FC236}">
                <a16:creationId xmlns:a16="http://schemas.microsoft.com/office/drawing/2014/main" id="{AEE51C67-7E98-4448-B86C-8DBCECB15BC4}"/>
              </a:ext>
            </a:extLst>
          </p:cNvPr>
          <p:cNvSpPr>
            <a:spLocks xmlns:a="http://schemas.openxmlformats.org/drawingml/2006/main" noGrp="1"/>
          </p:cNvSpPr>
          <p:nvPr/>
        </p:nvSpPr>
        <p:spPr>
          <a:xfrm xmlns:a="http://schemas.openxmlformats.org/drawingml/2006/main">
            <a:off x="514350" y="2152650"/>
            <a:ext cx="3714750"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75" b="0">
                <a:solidFill>
                  <a:srgbClr val="111111"/>
                </a:solidFill>
              </a:defRPr>
            </a:pPr>
            <a:r>
              <a:rPr sz="1875" b="0">
                <a:solidFill>
                  <a:srgbClr val="111111"/>
                </a:solidFill>
              </a:rPr>
              <a:t>Abstract</a:t>
            </a:r>
          </a:p>
          <a:p xmlns:a="http://schemas.openxmlformats.org/drawingml/2006/main">
            <a:pPr algn="l">
              <a:buNone/>
              <a:defRPr sz="1875" b="0">
                <a:solidFill>
                  <a:srgbClr val="111111"/>
                </a:solidFill>
              </a:defRPr>
            </a:pPr>
            <a:r>
              <a:rPr sz="1875" b="0">
                <a:solidFill>
                  <a:srgbClr val="111111"/>
                </a:solidFill>
              </a:rPr>
              <a:t>1. Introduction</a:t>
            </a:r>
          </a:p>
          <a:p xmlns:a="http://schemas.openxmlformats.org/drawingml/2006/main">
            <a:pPr algn="l">
              <a:buNone/>
              <a:defRPr sz="1875" b="0">
                <a:solidFill>
                  <a:srgbClr val="111111"/>
                </a:solidFill>
              </a:defRPr>
            </a:pPr>
            <a:r>
              <a:rPr sz="1875" b="0">
                <a:solidFill>
                  <a:srgbClr val="111111"/>
                </a:solidFill>
              </a:rPr>
              <a:t>2. Method</a:t>
            </a:r>
          </a:p>
          <a:p xmlns:a="http://schemas.openxmlformats.org/drawingml/2006/main">
            <a:pPr algn="l">
              <a:buNone/>
              <a:defRPr sz="1875" b="0">
                <a:solidFill>
                  <a:srgbClr val="111111"/>
                </a:solidFill>
              </a:defRPr>
            </a:pPr>
            <a:r>
              <a:rPr sz="1875" b="0">
                <a:solidFill>
                  <a:srgbClr val="111111"/>
                </a:solidFill>
              </a:rPr>
              <a:t>3. Results</a:t>
            </a:r>
          </a:p>
          <a:p xmlns:a="http://schemas.openxmlformats.org/drawingml/2006/main">
            <a:pPr algn="l">
              <a:buNone/>
              <a:defRPr sz="1875" b="0">
                <a:solidFill>
                  <a:srgbClr val="111111"/>
                </a:solidFill>
              </a:defRPr>
            </a:pPr>
            <a:r>
              <a:rPr sz="1875" b="0">
                <a:solidFill>
                  <a:srgbClr val="111111"/>
                </a:solidFill>
              </a:rPr>
              <a:t>4. Comparison</a:t>
            </a:r>
          </a:p>
          <a:p xmlns:a="http://schemas.openxmlformats.org/drawingml/2006/main">
            <a:pPr algn="l">
              <a:buNone/>
              <a:defRPr sz="1875" b="0">
                <a:solidFill>
                  <a:srgbClr val="111111"/>
                </a:solidFill>
              </a:defRPr>
            </a:pPr>
            <a:r>
              <a:rPr sz="1875" b="0">
                <a:solidFill>
                  <a:srgbClr val="111111"/>
                </a:solidFill>
              </a:rPr>
              <a:t>5. Discussion</a:t>
            </a:r>
          </a:p>
          <a:p xmlns:a="http://schemas.openxmlformats.org/drawingml/2006/main">
            <a:pPr algn="l">
              <a:buNone/>
              <a:defRPr sz="1875" b="0">
                <a:solidFill>
                  <a:srgbClr val="111111"/>
                </a:solidFill>
              </a:defRPr>
            </a:pPr>
            <a:r>
              <a:rPr sz="1875" b="0">
                <a:solidFill>
                  <a:srgbClr val="111111"/>
                </a:solidFill>
              </a:rPr>
              <a:t>6. Conclusions</a:t>
            </a:r>
          </a:p>
          <a:p xmlns:a="http://schemas.openxmlformats.org/drawingml/2006/main">
            <a:pPr algn="l">
              <a:buNone/>
              <a:defRPr sz="1875" b="0">
                <a:solidFill>
                  <a:srgbClr val="111111"/>
                </a:solidFill>
              </a:defRPr>
            </a:pPr>
            <a:r>
              <a:rPr sz="1875" b="0">
                <a:solidFill>
                  <a:srgbClr val="111111"/>
                </a:solidFill>
              </a:rPr>
              <a:t>References • Appendices</a:t>
            </a:r>
          </a:p>
        </p:txBody>
      </p:sp>
      <p:sp>
        <p:nvSpPr>
          <p:cNvPr id="7" name="text-97">
            <a:extLst xmlns:a="http://schemas.openxmlformats.org/drawingml/2006/main">
              <a:ext uri="{FF2B5EF4-FFF2-40B4-BE49-F238E27FC236}">
                <a16:creationId xmlns:a16="http://schemas.microsoft.com/office/drawing/2014/main" id="{9E18BB7D-66BE-4AC3-9B45-5C3DFCD73743}"/>
              </a:ext>
            </a:extLst>
          </p:cNvPr>
          <p:cNvSpPr>
            <a:spLocks xmlns:a="http://schemas.openxmlformats.org/drawingml/2006/main" noGrp="1"/>
          </p:cNvSpPr>
          <p:nvPr/>
        </p:nvSpPr>
        <p:spPr>
          <a:xfrm xmlns:a="http://schemas.openxmlformats.org/drawingml/2006/main">
            <a:off x="4762500" y="1695450"/>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00" b="1">
                <a:solidFill>
                  <a:srgbClr val="881C1C"/>
                </a:solidFill>
              </a:defRPr>
            </a:pPr>
            <a:r>
              <a:rPr sz="1500" b="1">
                <a:solidFill>
                  <a:srgbClr val="881C1C"/>
                </a:solidFill>
              </a:rPr>
              <a:t>WHAT THE READER SHOULD FIND</a:t>
            </a:r>
          </a:p>
        </p:txBody>
      </p:sp>
      <p:sp>
        <p:nvSpPr>
          <p:cNvPr id="8" name="text-98">
            <a:extLst xmlns:a="http://schemas.openxmlformats.org/drawingml/2006/main">
              <a:ext uri="{FF2B5EF4-FFF2-40B4-BE49-F238E27FC236}">
                <a16:creationId xmlns:a16="http://schemas.microsoft.com/office/drawing/2014/main" id="{5651DF3A-AEFD-4722-B248-26D1377BE31E}"/>
              </a:ext>
            </a:extLst>
          </p:cNvPr>
          <p:cNvSpPr>
            <a:spLocks xmlns:a="http://schemas.openxmlformats.org/drawingml/2006/main" noGrp="1"/>
          </p:cNvSpPr>
          <p:nvPr/>
        </p:nvSpPr>
        <p:spPr>
          <a:xfrm xmlns:a="http://schemas.openxmlformats.org/drawingml/2006/main">
            <a:off x="4762500" y="2152650"/>
            <a:ext cx="6191250"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76200" tIns="38100" rIns="76200" bIns="38100" anchor="t">
            <a:normAutofit fontScale="100000"/>
          </a:bodyPr>
          <a:lstStyle xmlns:a="http://schemas.openxmlformats.org/drawingml/2006/main"/>
          <a:p xmlns:a="http://schemas.openxmlformats.org/drawingml/2006/main">
            <a:pPr algn="l">
              <a:buNone/>
              <a:defRPr sz="1725" b="0">
                <a:solidFill>
                  <a:srgbClr val="111111"/>
                </a:solidFill>
              </a:defRPr>
            </a:pPr>
            <a:r>
              <a:rPr sz="1725" b="0">
                <a:solidFill>
                  <a:srgbClr val="111111"/>
                </a:solidFill>
              </a:rPr>
              <a:t>• A clear purpose and relevant theory</a:t>
            </a:r>
          </a:p>
          <a:p xmlns:a="http://schemas.openxmlformats.org/drawingml/2006/main">
            <a:pPr algn="l">
              <a:buNone/>
              <a:defRPr sz="1725" b="0">
                <a:solidFill>
                  <a:srgbClr val="111111"/>
                </a:solidFill>
              </a:defRPr>
            </a:pPr>
            <a:r>
              <a:rPr sz="1725" b="0">
                <a:solidFill>
                  <a:srgbClr val="111111"/>
                </a:solidFill>
              </a:rPr>
              <a:t>• A reproducible method</a:t>
            </a:r>
          </a:p>
          <a:p xmlns:a="http://schemas.openxmlformats.org/drawingml/2006/main">
            <a:pPr algn="l">
              <a:buNone/>
              <a:defRPr sz="1725" b="0">
                <a:solidFill>
                  <a:srgbClr val="111111"/>
                </a:solidFill>
              </a:defRPr>
            </a:pPr>
            <a:r>
              <a:rPr sz="1725" b="0">
                <a:solidFill>
                  <a:srgbClr val="111111"/>
                </a:solidFill>
              </a:rPr>
              <a:t>• Readable figures with units and labels</a:t>
            </a:r>
          </a:p>
          <a:p xmlns:a="http://schemas.openxmlformats.org/drawingml/2006/main">
            <a:pPr algn="l">
              <a:buNone/>
              <a:defRPr sz="1725" b="0">
                <a:solidFill>
                  <a:srgbClr val="111111"/>
                </a:solidFill>
              </a:defRPr>
            </a:pPr>
            <a:r>
              <a:rPr sz="1725" b="0">
                <a:solidFill>
                  <a:srgbClr val="111111"/>
                </a:solidFill>
              </a:rPr>
              <a:t>• Direct comparison with theory or a model</a:t>
            </a:r>
          </a:p>
          <a:p xmlns:a="http://schemas.openxmlformats.org/drawingml/2006/main">
            <a:pPr algn="l">
              <a:buNone/>
              <a:defRPr sz="1725" b="0">
                <a:solidFill>
                  <a:srgbClr val="111111"/>
                </a:solidFill>
              </a:defRPr>
            </a:pPr>
            <a:r>
              <a:rPr sz="1725" b="0">
                <a:solidFill>
                  <a:srgbClr val="111111"/>
                </a:solidFill>
              </a:rPr>
              <a:t>• A discussion of discrepancies and limitations</a:t>
            </a:r>
          </a:p>
          <a:p xmlns:a="http://schemas.openxmlformats.org/drawingml/2006/main">
            <a:pPr algn="l">
              <a:buNone/>
              <a:defRPr sz="1725" b="0">
                <a:solidFill>
                  <a:srgbClr val="111111"/>
                </a:solidFill>
              </a:defRPr>
            </a:pPr>
            <a:r>
              <a:rPr sz="1725" b="0">
                <a:solidFill>
                  <a:srgbClr val="111111"/>
                </a:solidFill>
              </a:rPr>
              <a:t>• Conclusions supported by the presented data</a:t>
            </a:r>
          </a:p>
        </p:txBody>
      </p:sp>
      <p:sp>
        <p:nvSpPr>
          <p:cNvPr id="9" name="text-99">
            <a:extLst xmlns:a="http://schemas.openxmlformats.org/drawingml/2006/main">
              <a:ext uri="{FF2B5EF4-FFF2-40B4-BE49-F238E27FC236}">
                <a16:creationId xmlns:a16="http://schemas.microsoft.com/office/drawing/2014/main" id="{E41C8591-CC97-458F-A022-2E595046D78B}"/>
              </a:ext>
            </a:extLst>
          </p:cNvPr>
          <p:cNvSpPr>
            <a:spLocks xmlns:a="http://schemas.openxmlformats.org/drawingml/2006/main" noGrp="1"/>
          </p:cNvSpPr>
          <p:nvPr/>
        </p:nvSpPr>
        <p:spPr>
          <a:xfrm xmlns:a="http://schemas.openxmlformats.org/drawingml/2006/main">
            <a:off x="4762500" y="5334000"/>
            <a:ext cx="6191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87452"/>
          </a:bodyPr>
          <a:lstStyle xmlns:a="http://schemas.openxmlformats.org/drawingml/2006/main"/>
          <a:p xmlns:a="http://schemas.openxmlformats.org/drawingml/2006/main">
            <a:pPr algn="l">
              <a:buNone/>
              <a:defRPr sz="1800" b="1">
                <a:solidFill>
                  <a:srgbClr val="881C1C"/>
                </a:solidFill>
              </a:defRPr>
            </a:pPr>
            <a:r>
              <a:rPr sz="1800" b="1">
                <a:solidFill>
                  <a:srgbClr val="881C1C"/>
                </a:solidFill>
              </a:rPr>
              <a:t>Meaningful results matter more than a polished page with weak analysis.</a:t>
            </a:r>
          </a:p>
        </p:txBody>
      </p:sp>
    </p:spTree>
    <p:extLst>
      <p:ext uri="{BB962C8B-B14F-4D97-AF65-F5344CB8AC3E}">
        <p14:creationId xmlns:p14="http://schemas.microsoft.com/office/powerpoint/2010/main" val="159139406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EA9A4A83-EE63-40CA-88DC-B63AA5F0CD5A}"/>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538A3203-5C4A-4E9E-B4F0-280CF7B3F5C6}"/>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Report length and section purpose</a:t>
            </a:r>
          </a:p>
        </p:txBody>
      </p:sp>
      <p:graphicFrame>
        <p:nvGraphicFramePr>
          <p:cNvPr id="8" name=""/>
          <p:cNvGraphicFramePr/>
          <p:nvPr/>
        </p:nvGraphicFramePr>
        <p:xfrm>
          <a:off xmlns:a="http://schemas.openxmlformats.org/drawingml/2006/main" x="476250" y="1695450"/>
          <a:ext xmlns:a="http://schemas.openxmlformats.org/drawingml/2006/main" cx="11239500" cy="3952875"/>
        </p:xfrm>
        <a:graphic xmlns:a="http://schemas.openxmlformats.org/drawingml/2006/main">
          <a:graphicData uri="http://schemas.openxmlformats.org/drawingml/2006/table">
            <a:tbl>
              <a:tblPr/>
              <a:tblGrid>
                <a:gridCol w="2190750"/>
                <a:gridCol w="2286000"/>
                <a:gridCol w="6762750"/>
              </a:tblGrid>
              <a:tr h="494109">
                <a:tc>
                  <a:txBody>
                    <a:bodyPr/>
                    <a:lstStyle/>
                    <a:p>
                      <a:r>
                        <a:rPr sz="1575" b="1">
                          <a:solidFill>
                            <a:srgbClr val="FFFFFF"/>
                          </a:solidFill>
                          <a:latin typeface="Calibri"/>
                          <a:ea typeface="Calibri"/>
                          <a:cs typeface="Calibri"/>
                        </a:rPr>
                        <a:t>Section</a:t>
                      </a:r>
                    </a:p>
                  </a:txBody>
                  <a:tcPr marL="91440" marR="91440" marT="45720" marB="45720">
                    <a:solidFill>
                      <a:srgbClr val="881C1C"/>
                    </a:solidFill>
                  </a:tcPr>
                </a:tc>
                <a:tc>
                  <a:txBody>
                    <a:bodyPr/>
                    <a:lstStyle/>
                    <a:p>
                      <a:r>
                        <a:rPr sz="1575" b="1">
                          <a:solidFill>
                            <a:srgbClr val="FFFFFF"/>
                          </a:solidFill>
                          <a:latin typeface="Calibri"/>
                          <a:ea typeface="Calibri"/>
                          <a:cs typeface="Calibri"/>
                        </a:rPr>
                        <a:t>Template allocation</a:t>
                      </a:r>
                    </a:p>
                  </a:txBody>
                  <a:tcPr marL="91440" marR="91440" marT="45720" marB="45720">
                    <a:solidFill>
                      <a:srgbClr val="881C1C"/>
                    </a:solidFill>
                  </a:tcPr>
                </a:tc>
                <a:tc>
                  <a:txBody>
                    <a:bodyPr/>
                    <a:lstStyle/>
                    <a:p>
                      <a:r>
                        <a:rPr sz="1575" b="1">
                          <a:solidFill>
                            <a:srgbClr val="FFFFFF"/>
                          </a:solidFill>
                          <a:latin typeface="Calibri"/>
                          <a:ea typeface="Calibri"/>
                          <a:cs typeface="Calibri"/>
                        </a:rPr>
                        <a:t>Main purpose</a:t>
                      </a:r>
                    </a:p>
                  </a:txBody>
                  <a:tcPr marL="91440" marR="91440" marT="45720" marB="45720">
                    <a:solidFill>
                      <a:srgbClr val="881C1C"/>
                    </a:solidFill>
                  </a:tcPr>
                </a:tc>
              </a:tr>
              <a:tr h="494109">
                <a:tc>
                  <a:txBody>
                    <a:bodyPr/>
                    <a:lstStyle/>
                    <a:p>
                      <a:r>
                        <a:rPr sz="1575" b="0">
                          <a:solidFill>
                            <a:srgbClr val="111111"/>
                          </a:solidFill>
                          <a:latin typeface="Calibri"/>
                          <a:ea typeface="Calibri"/>
                          <a:cs typeface="Calibri"/>
                        </a:rPr>
                        <a:t>Abstract</a:t>
                      </a:r>
                    </a:p>
                  </a:txBody>
                  <a:tcPr marL="91440" marR="91440" marT="45720" marB="45720">
                    <a:solidFill>
                      <a:srgbClr val="FFFFFF"/>
                    </a:solidFill>
                  </a:tcPr>
                </a:tc>
                <a:tc>
                  <a:txBody>
                    <a:bodyPr/>
                    <a:lstStyle/>
                    <a:p>
                      <a:r>
                        <a:rPr sz="1575" b="0">
                          <a:solidFill>
                            <a:srgbClr val="111111"/>
                          </a:solidFill>
                          <a:latin typeface="Calibri"/>
                          <a:ea typeface="Calibri"/>
                          <a:cs typeface="Calibri"/>
                        </a:rPr>
                        <a:t>Maximum 10 lines</a:t>
                      </a:r>
                    </a:p>
                  </a:txBody>
                  <a:tcPr marL="91440" marR="91440" marT="45720" marB="45720">
                    <a:solidFill>
                      <a:srgbClr val="FFFFFF"/>
                    </a:solidFill>
                  </a:tcPr>
                </a:tc>
                <a:tc>
                  <a:txBody>
                    <a:bodyPr/>
                    <a:lstStyle/>
                    <a:p>
                      <a:r>
                        <a:rPr sz="1575" b="0">
                          <a:solidFill>
                            <a:srgbClr val="111111"/>
                          </a:solidFill>
                          <a:latin typeface="Calibri"/>
                          <a:ea typeface="Calibri"/>
                          <a:cs typeface="Calibri"/>
                        </a:rPr>
                        <a:t>Purpose, method, key finding, implication</a:t>
                      </a:r>
                    </a:p>
                  </a:txBody>
                  <a:tcPr marL="91440" marR="91440" marT="45720" marB="45720">
                    <a:solidFill>
                      <a:srgbClr val="FFFFFF"/>
                    </a:solidFill>
                  </a:tcPr>
                </a:tc>
              </a:tr>
              <a:tr h="494109">
                <a:tc>
                  <a:txBody>
                    <a:bodyPr/>
                    <a:lstStyle/>
                    <a:p>
                      <a:r>
                        <a:rPr sz="1575" b="0">
                          <a:solidFill>
                            <a:srgbClr val="111111"/>
                          </a:solidFill>
                          <a:latin typeface="Calibri"/>
                          <a:ea typeface="Calibri"/>
                          <a:cs typeface="Calibri"/>
                        </a:rPr>
                        <a:t>Introduction</a:t>
                      </a:r>
                    </a:p>
                  </a:txBody>
                  <a:tcPr marL="91440" marR="91440" marT="45720" marB="45720">
                    <a:solidFill>
                      <a:srgbClr val="F7F7F7"/>
                    </a:solidFill>
                  </a:tcPr>
                </a:tc>
                <a:tc>
                  <a:txBody>
                    <a:bodyPr/>
                    <a:lstStyle/>
                    <a:p>
                      <a:r>
                        <a:rPr sz="1575" b="0">
                          <a:solidFill>
                            <a:srgbClr val="111111"/>
                          </a:solidFill>
                          <a:latin typeface="Calibri"/>
                          <a:ea typeface="Calibri"/>
                          <a:cs typeface="Calibri"/>
                        </a:rPr>
                        <a:t>1 page</a:t>
                      </a:r>
                    </a:p>
                  </a:txBody>
                  <a:tcPr marL="91440" marR="91440" marT="45720" marB="45720">
                    <a:solidFill>
                      <a:srgbClr val="F7F7F7"/>
                    </a:solidFill>
                  </a:tcPr>
                </a:tc>
                <a:tc>
                  <a:txBody>
                    <a:bodyPr/>
                    <a:lstStyle/>
                    <a:p>
                      <a:r>
                        <a:rPr sz="1575" b="0">
                          <a:solidFill>
                            <a:srgbClr val="111111"/>
                          </a:solidFill>
                          <a:latin typeface="Calibri"/>
                          <a:ea typeface="Calibri"/>
                          <a:cs typeface="Calibri"/>
                        </a:rPr>
                        <a:t>Theory, experiment, and testable objective</a:t>
                      </a:r>
                    </a:p>
                  </a:txBody>
                  <a:tcPr marL="91440" marR="91440" marT="45720" marB="45720">
                    <a:solidFill>
                      <a:srgbClr val="F7F7F7"/>
                    </a:solidFill>
                  </a:tcPr>
                </a:tc>
              </a:tr>
              <a:tr h="494109">
                <a:tc>
                  <a:txBody>
                    <a:bodyPr/>
                    <a:lstStyle/>
                    <a:p>
                      <a:r>
                        <a:rPr sz="1575" b="0">
                          <a:solidFill>
                            <a:srgbClr val="111111"/>
                          </a:solidFill>
                          <a:latin typeface="Calibri"/>
                          <a:ea typeface="Calibri"/>
                          <a:cs typeface="Calibri"/>
                        </a:rPr>
                        <a:t>Method</a:t>
                      </a:r>
                    </a:p>
                  </a:txBody>
                  <a:tcPr marL="91440" marR="91440" marT="45720" marB="45720">
                    <a:solidFill>
                      <a:srgbClr val="FFFFFF"/>
                    </a:solidFill>
                  </a:tcPr>
                </a:tc>
                <a:tc>
                  <a:txBody>
                    <a:bodyPr/>
                    <a:lstStyle/>
                    <a:p>
                      <a:r>
                        <a:rPr sz="1575" b="0">
                          <a:solidFill>
                            <a:srgbClr val="111111"/>
                          </a:solidFill>
                          <a:latin typeface="Calibri"/>
                          <a:ea typeface="Calibri"/>
                          <a:cs typeface="Calibri"/>
                        </a:rPr>
                        <a:t>1 page</a:t>
                      </a:r>
                    </a:p>
                  </a:txBody>
                  <a:tcPr marL="91440" marR="91440" marT="45720" marB="45720">
                    <a:solidFill>
                      <a:srgbClr val="FFFFFF"/>
                    </a:solidFill>
                  </a:tcPr>
                </a:tc>
                <a:tc>
                  <a:txBody>
                    <a:bodyPr/>
                    <a:lstStyle/>
                    <a:p>
                      <a:r>
                        <a:rPr sz="1575" b="0">
                          <a:solidFill>
                            <a:srgbClr val="111111"/>
                          </a:solidFill>
                          <a:latin typeface="Calibri"/>
                          <a:ea typeface="Calibri"/>
                          <a:cs typeface="Calibri"/>
                        </a:rPr>
                        <a:t>Enough detail to reproduce the measurement</a:t>
                      </a:r>
                    </a:p>
                  </a:txBody>
                  <a:tcPr marL="91440" marR="91440" marT="45720" marB="45720">
                    <a:solidFill>
                      <a:srgbClr val="FFFFFF"/>
                    </a:solidFill>
                  </a:tcPr>
                </a:tc>
              </a:tr>
              <a:tr h="494109">
                <a:tc>
                  <a:txBody>
                    <a:bodyPr/>
                    <a:lstStyle/>
                    <a:p>
                      <a:r>
                        <a:rPr sz="1575" b="0">
                          <a:solidFill>
                            <a:srgbClr val="111111"/>
                          </a:solidFill>
                          <a:latin typeface="Calibri"/>
                          <a:ea typeface="Calibri"/>
                          <a:cs typeface="Calibri"/>
                        </a:rPr>
                        <a:t>Results</a:t>
                      </a:r>
                    </a:p>
                  </a:txBody>
                  <a:tcPr marL="91440" marR="91440" marT="45720" marB="45720">
                    <a:solidFill>
                      <a:srgbClr val="F7F7F7"/>
                    </a:solidFill>
                  </a:tcPr>
                </a:tc>
                <a:tc>
                  <a:txBody>
                    <a:bodyPr/>
                    <a:lstStyle/>
                    <a:p>
                      <a:r>
                        <a:rPr sz="1575" b="0">
                          <a:solidFill>
                            <a:srgbClr val="111111"/>
                          </a:solidFill>
                          <a:latin typeface="Calibri"/>
                          <a:ea typeface="Calibri"/>
                          <a:cs typeface="Calibri"/>
                        </a:rPr>
                        <a:t>3 pages including figures</a:t>
                      </a:r>
                    </a:p>
                  </a:txBody>
                  <a:tcPr marL="91440" marR="91440" marT="45720" marB="45720">
                    <a:solidFill>
                      <a:srgbClr val="F7F7F7"/>
                    </a:solidFill>
                  </a:tcPr>
                </a:tc>
                <a:tc>
                  <a:txBody>
                    <a:bodyPr/>
                    <a:lstStyle/>
                    <a:p>
                      <a:r>
                        <a:rPr sz="1575" b="0">
                          <a:solidFill>
                            <a:srgbClr val="111111"/>
                          </a:solidFill>
                          <a:latin typeface="Calibri"/>
                          <a:ea typeface="Calibri"/>
                          <a:cs typeface="Calibri"/>
                        </a:rPr>
                        <a:t>Observed behavior and processed measurements</a:t>
                      </a:r>
                    </a:p>
                  </a:txBody>
                  <a:tcPr marL="91440" marR="91440" marT="45720" marB="45720">
                    <a:solidFill>
                      <a:srgbClr val="F7F7F7"/>
                    </a:solidFill>
                  </a:tcPr>
                </a:tc>
              </a:tr>
              <a:tr h="494109">
                <a:tc>
                  <a:txBody>
                    <a:bodyPr/>
                    <a:lstStyle/>
                    <a:p>
                      <a:r>
                        <a:rPr sz="1575" b="0">
                          <a:solidFill>
                            <a:srgbClr val="111111"/>
                          </a:solidFill>
                          <a:latin typeface="Calibri"/>
                          <a:ea typeface="Calibri"/>
                          <a:cs typeface="Calibri"/>
                        </a:rPr>
                        <a:t>Comparison</a:t>
                      </a:r>
                    </a:p>
                  </a:txBody>
                  <a:tcPr marL="91440" marR="91440" marT="45720" marB="45720">
                    <a:solidFill>
                      <a:srgbClr val="FFFFFF"/>
                    </a:solidFill>
                  </a:tcPr>
                </a:tc>
                <a:tc>
                  <a:txBody>
                    <a:bodyPr/>
                    <a:lstStyle/>
                    <a:p>
                      <a:r>
                        <a:rPr sz="1575" b="0">
                          <a:solidFill>
                            <a:srgbClr val="111111"/>
                          </a:solidFill>
                          <a:latin typeface="Calibri"/>
                          <a:ea typeface="Calibri"/>
                          <a:cs typeface="Calibri"/>
                        </a:rPr>
                        <a:t>1 page</a:t>
                      </a:r>
                    </a:p>
                  </a:txBody>
                  <a:tcPr marL="91440" marR="91440" marT="45720" marB="45720">
                    <a:solidFill>
                      <a:srgbClr val="FFFFFF"/>
                    </a:solidFill>
                  </a:tcPr>
                </a:tc>
                <a:tc>
                  <a:txBody>
                    <a:bodyPr/>
                    <a:lstStyle/>
                    <a:p>
                      <a:r>
                        <a:rPr sz="1575" b="0">
                          <a:solidFill>
                            <a:srgbClr val="111111"/>
                          </a:solidFill>
                          <a:latin typeface="Calibri"/>
                          <a:ea typeface="Calibri"/>
                          <a:cs typeface="Calibri"/>
                        </a:rPr>
                        <a:t>Prediction and experiment on the same basis</a:t>
                      </a:r>
                    </a:p>
                  </a:txBody>
                  <a:tcPr marL="91440" marR="91440" marT="45720" marB="45720">
                    <a:solidFill>
                      <a:srgbClr val="FFFFFF"/>
                    </a:solidFill>
                  </a:tcPr>
                </a:tc>
              </a:tr>
              <a:tr h="494109">
                <a:tc>
                  <a:txBody>
                    <a:bodyPr/>
                    <a:lstStyle/>
                    <a:p>
                      <a:r>
                        <a:rPr sz="1575" b="0">
                          <a:solidFill>
                            <a:srgbClr val="111111"/>
                          </a:solidFill>
                          <a:latin typeface="Calibri"/>
                          <a:ea typeface="Calibri"/>
                          <a:cs typeface="Calibri"/>
                        </a:rPr>
                        <a:t>Discussion</a:t>
                      </a:r>
                    </a:p>
                  </a:txBody>
                  <a:tcPr marL="91440" marR="91440" marT="45720" marB="45720">
                    <a:solidFill>
                      <a:srgbClr val="F7F7F7"/>
                    </a:solidFill>
                  </a:tcPr>
                </a:tc>
                <a:tc>
                  <a:txBody>
                    <a:bodyPr/>
                    <a:lstStyle/>
                    <a:p>
                      <a:r>
                        <a:rPr sz="1575" b="0">
                          <a:solidFill>
                            <a:srgbClr val="111111"/>
                          </a:solidFill>
                          <a:latin typeface="Calibri"/>
                          <a:ea typeface="Calibri"/>
                          <a:cs typeface="Calibri"/>
                        </a:rPr>
                        <a:t>1 page</a:t>
                      </a:r>
                    </a:p>
                  </a:txBody>
                  <a:tcPr marL="91440" marR="91440" marT="45720" marB="45720">
                    <a:solidFill>
                      <a:srgbClr val="F7F7F7"/>
                    </a:solidFill>
                  </a:tcPr>
                </a:tc>
                <a:tc>
                  <a:txBody>
                    <a:bodyPr/>
                    <a:lstStyle/>
                    <a:p>
                      <a:r>
                        <a:rPr sz="1575" b="0">
                          <a:solidFill>
                            <a:srgbClr val="111111"/>
                          </a:solidFill>
                          <a:latin typeface="Calibri"/>
                          <a:ea typeface="Calibri"/>
                          <a:cs typeface="Calibri"/>
                        </a:rPr>
                        <a:t>Discrepancies, uncertainty, and limitations</a:t>
                      </a:r>
                    </a:p>
                  </a:txBody>
                  <a:tcPr marL="91440" marR="91440" marT="45720" marB="45720">
                    <a:solidFill>
                      <a:srgbClr val="F7F7F7"/>
                    </a:solidFill>
                  </a:tcPr>
                </a:tc>
              </a:tr>
              <a:tr h="494109">
                <a:tc>
                  <a:txBody>
                    <a:bodyPr/>
                    <a:lstStyle/>
                    <a:p>
                      <a:r>
                        <a:rPr sz="1575" b="0">
                          <a:solidFill>
                            <a:srgbClr val="111111"/>
                          </a:solidFill>
                          <a:latin typeface="Calibri"/>
                          <a:ea typeface="Calibri"/>
                          <a:cs typeface="Calibri"/>
                        </a:rPr>
                        <a:t>Conclusions</a:t>
                      </a:r>
                    </a:p>
                  </a:txBody>
                  <a:tcPr marL="91440" marR="91440" marT="45720" marB="45720">
                    <a:solidFill>
                      <a:srgbClr val="FFFFFF"/>
                    </a:solidFill>
                  </a:tcPr>
                </a:tc>
                <a:tc>
                  <a:txBody>
                    <a:bodyPr/>
                    <a:lstStyle/>
                    <a:p>
                      <a:r>
                        <a:rPr sz="1575" b="0">
                          <a:solidFill>
                            <a:srgbClr val="111111"/>
                          </a:solidFill>
                          <a:latin typeface="Calibri"/>
                          <a:ea typeface="Calibri"/>
                          <a:cs typeface="Calibri"/>
                        </a:rPr>
                        <a:t>1 page</a:t>
                      </a:r>
                    </a:p>
                  </a:txBody>
                  <a:tcPr marL="91440" marR="91440" marT="45720" marB="45720">
                    <a:solidFill>
                      <a:srgbClr val="FFFFFF"/>
                    </a:solidFill>
                  </a:tcPr>
                </a:tc>
                <a:tc>
                  <a:txBody>
                    <a:bodyPr/>
                    <a:lstStyle/>
                    <a:p>
                      <a:r>
                        <a:rPr sz="1575" b="0">
                          <a:solidFill>
                            <a:srgbClr val="111111"/>
                          </a:solidFill>
                          <a:latin typeface="Calibri"/>
                          <a:ea typeface="Calibri"/>
                          <a:cs typeface="Calibri"/>
                        </a:rPr>
                        <a:t>Quantitative answer and the main lesson</a:t>
                      </a:r>
                    </a:p>
                  </a:txBody>
                  <a:tcPr marL="91440" marR="91440" marT="45720" marB="45720">
                    <a:solidFill>
                      <a:srgbClr val="FFFFFF"/>
                    </a:solidFill>
                  </a:tcPr>
                </a:tc>
              </a:tr>
            </a:tbl>
          </a:graphicData>
        </a:graphic>
      </p:graphicFrame>
      <p:sp>
        <p:nvSpPr>
          <p:cNvPr id="4" name="footnote">
            <a:extLst xmlns:a="http://schemas.openxmlformats.org/drawingml/2006/main">
              <a:ext uri="{FF2B5EF4-FFF2-40B4-BE49-F238E27FC236}">
                <a16:creationId xmlns:a16="http://schemas.microsoft.com/office/drawing/2014/main" id="{774EC788-C0D5-4C41-9AD9-43C64F864616}"/>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References and optional appendices have no stated page limit. Follow any assignment-specific limit on Canvas.</a:t>
            </a:r>
          </a:p>
        </p:txBody>
      </p:sp>
      <p:sp>
        <p:nvSpPr>
          <p:cNvPr id="5" name="page">
            <a:extLst xmlns:a="http://schemas.openxmlformats.org/drawingml/2006/main">
              <a:ext uri="{FF2B5EF4-FFF2-40B4-BE49-F238E27FC236}">
                <a16:creationId xmlns:a16="http://schemas.microsoft.com/office/drawing/2014/main" id="{0381F13C-C71D-4F93-902D-517543B4B5B2}"/>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21</a:t>
            </a:r>
          </a:p>
        </p:txBody>
      </p:sp>
    </p:spTree>
    <p:extLst>
      <p:ext uri="{BB962C8B-B14F-4D97-AF65-F5344CB8AC3E}">
        <p14:creationId xmlns:p14="http://schemas.microsoft.com/office/powerpoint/2010/main" val="9516624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A6F7FDB5-37BD-4E39-B471-B1DA15797E2A}"/>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37081C7D-54DC-4708-83BC-E815245548E9}"/>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Introduction and method</a:t>
            </a:r>
          </a:p>
        </p:txBody>
      </p:sp>
      <p:sp>
        <p:nvSpPr>
          <p:cNvPr id="3" name="body">
            <a:extLst xmlns:a="http://schemas.openxmlformats.org/drawingml/2006/main">
              <a:ext uri="{FF2B5EF4-FFF2-40B4-BE49-F238E27FC236}">
                <a16:creationId xmlns:a16="http://schemas.microsoft.com/office/drawing/2014/main" id="{C6EEA090-12F1-4F21-9897-D2492F0B28AD}"/>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Introduction</a:t>
            </a:r>
          </a:p>
        </p:txBody>
      </p:sp>
      <p:sp>
        <p:nvSpPr>
          <p:cNvPr id="4" name="body">
            <a:extLst xmlns:a="http://schemas.openxmlformats.org/drawingml/2006/main">
              <a:ext uri="{FF2B5EF4-FFF2-40B4-BE49-F238E27FC236}">
                <a16:creationId xmlns:a16="http://schemas.microsoft.com/office/drawing/2014/main" id="{96D659AE-470B-4EBA-A485-8A819048F731}"/>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Explain what you want to test, why it matters, and which equation predicts the result. Define every symbol.</a:t>
            </a:r>
          </a:p>
        </p:txBody>
      </p:sp>
      <p:sp>
        <p:nvSpPr>
          <p:cNvPr id="5" name="body">
            <a:extLst xmlns:a="http://schemas.openxmlformats.org/drawingml/2006/main">
              <a:ext uri="{FF2B5EF4-FFF2-40B4-BE49-F238E27FC236}">
                <a16:creationId xmlns:a16="http://schemas.microsoft.com/office/drawing/2014/main" id="{4C4CEF7E-887E-4AB3-921F-F6BC75A33DF5}"/>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Method</a:t>
            </a:r>
          </a:p>
        </p:txBody>
      </p:sp>
      <p:sp>
        <p:nvSpPr>
          <p:cNvPr id="6" name="body">
            <a:extLst xmlns:a="http://schemas.openxmlformats.org/drawingml/2006/main">
              <a:ext uri="{FF2B5EF4-FFF2-40B4-BE49-F238E27FC236}">
                <a16:creationId xmlns:a16="http://schemas.microsoft.com/office/drawing/2014/main" id="{683512A7-1C3D-4C01-A36D-D1269ECF8832}"/>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Describe the equipment, calibration, recording settings, and what you changed between trials.</a:t>
            </a:r>
          </a:p>
        </p:txBody>
      </p:sp>
      <p:sp>
        <p:nvSpPr>
          <p:cNvPr id="7" name="body">
            <a:extLst xmlns:a="http://schemas.openxmlformats.org/drawingml/2006/main">
              <a:ext uri="{FF2B5EF4-FFF2-40B4-BE49-F238E27FC236}">
                <a16:creationId xmlns:a16="http://schemas.microsoft.com/office/drawing/2014/main" id="{B7005724-EF30-4B9B-9FFD-9D699895CED7}"/>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Data processing</a:t>
            </a:r>
          </a:p>
        </p:txBody>
      </p:sp>
      <p:sp>
        <p:nvSpPr>
          <p:cNvPr id="8" name="body">
            <a:extLst xmlns:a="http://schemas.openxmlformats.org/drawingml/2006/main">
              <a:ext uri="{FF2B5EF4-FFF2-40B4-BE49-F238E27FC236}">
                <a16:creationId xmlns:a16="http://schemas.microsoft.com/office/drawing/2014/main" id="{A2FAEB68-7510-4E59-BC49-735515A4C632}"/>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Explain how you turned the raw measurements into your final numbers and plots. Another group should be able to repeat the steps.</a:t>
            </a:r>
          </a:p>
        </p:txBody>
      </p:sp>
      <p:sp>
        <p:nvSpPr>
          <p:cNvPr id="9" name="footnote">
            <a:extLst xmlns:a="http://schemas.openxmlformats.org/drawingml/2006/main">
              <a:ext uri="{FF2B5EF4-FFF2-40B4-BE49-F238E27FC236}">
                <a16:creationId xmlns:a16="http://schemas.microsoft.com/office/drawing/2014/main" id="{0B5D3F12-BA77-4E81-A0C8-EF58141A3715}"/>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Example objective: test how release angle changes agreement with the small-angle pendulum model.</a:t>
            </a:r>
          </a:p>
        </p:txBody>
      </p:sp>
      <p:sp>
        <p:nvSpPr>
          <p:cNvPr id="10" name="page">
            <a:extLst xmlns:a="http://schemas.openxmlformats.org/drawingml/2006/main">
              <a:ext uri="{FF2B5EF4-FFF2-40B4-BE49-F238E27FC236}">
                <a16:creationId xmlns:a16="http://schemas.microsoft.com/office/drawing/2014/main" id="{1E72CD4D-99CA-4534-8A04-634B45E74A35}"/>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22</a:t>
            </a:r>
          </a:p>
        </p:txBody>
      </p:sp>
    </p:spTree>
    <p:extLst>
      <p:ext uri="{BB962C8B-B14F-4D97-AF65-F5344CB8AC3E}">
        <p14:creationId xmlns:p14="http://schemas.microsoft.com/office/powerpoint/2010/main" val="150668038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9E411BD5-2DE3-46DC-87CD-9A4B1AB5CF2F}"/>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4352571C-D851-494B-A44D-47CD2661ADF2}"/>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An abstract with a clear numerical result</a:t>
            </a:r>
          </a:p>
        </p:txBody>
      </p:sp>
      <p:sp>
        <p:nvSpPr>
          <p:cNvPr id="3" name="body">
            <a:extLst xmlns:a="http://schemas.openxmlformats.org/drawingml/2006/main">
              <a:ext uri="{FF2B5EF4-FFF2-40B4-BE49-F238E27FC236}">
                <a16:creationId xmlns:a16="http://schemas.microsoft.com/office/drawing/2014/main" id="{0FB92843-B36E-43D6-9F62-81019959193D}"/>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Purpose and method</a:t>
            </a:r>
          </a:p>
        </p:txBody>
      </p:sp>
      <p:sp>
        <p:nvSpPr>
          <p:cNvPr id="4" name="body">
            <a:extLst xmlns:a="http://schemas.openxmlformats.org/drawingml/2006/main">
              <a:ext uri="{FF2B5EF4-FFF2-40B4-BE49-F238E27FC236}">
                <a16:creationId xmlns:a16="http://schemas.microsoft.com/office/drawing/2014/main" id="{14567E8D-7692-439F-A8A8-F808C781728F}"/>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We tested a small-angle pendulum prediction using angle histories from video.</a:t>
            </a:r>
          </a:p>
        </p:txBody>
      </p:sp>
      <p:sp>
        <p:nvSpPr>
          <p:cNvPr id="5" name="body">
            <a:extLst xmlns:a="http://schemas.openxmlformats.org/drawingml/2006/main">
              <a:ext uri="{FF2B5EF4-FFF2-40B4-BE49-F238E27FC236}">
                <a16:creationId xmlns:a16="http://schemas.microsoft.com/office/drawing/2014/main" id="{62A42409-52E2-4547-9AFB-C69AAB7DDC37}"/>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Key result</a:t>
            </a:r>
          </a:p>
        </p:txBody>
      </p:sp>
      <p:sp>
        <p:nvSpPr>
          <p:cNvPr id="6" name="body">
            <a:extLst xmlns:a="http://schemas.openxmlformats.org/drawingml/2006/main">
              <a:ext uri="{FF2B5EF4-FFF2-40B4-BE49-F238E27FC236}">
                <a16:creationId xmlns:a16="http://schemas.microsoft.com/office/drawing/2014/main" id="{6E22A9D7-BEE1-4CA9-A108-501A5FAC6D70}"/>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The measured frequency was 1.47 Hz, compared with a predicted 1.50 Hz, a 2.0% difference.</a:t>
            </a:r>
          </a:p>
        </p:txBody>
      </p:sp>
      <p:sp>
        <p:nvSpPr>
          <p:cNvPr id="7" name="body">
            <a:extLst xmlns:a="http://schemas.openxmlformats.org/drawingml/2006/main">
              <a:ext uri="{FF2B5EF4-FFF2-40B4-BE49-F238E27FC236}">
                <a16:creationId xmlns:a16="http://schemas.microsoft.com/office/drawing/2014/main" id="{46ED7304-C713-49DD-A2FA-C43054600E2D}"/>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Meaning and limit</a:t>
            </a:r>
          </a:p>
        </p:txBody>
      </p:sp>
      <p:sp>
        <p:nvSpPr>
          <p:cNvPr id="8" name="body">
            <a:extLst xmlns:a="http://schemas.openxmlformats.org/drawingml/2006/main">
              <a:ext uri="{FF2B5EF4-FFF2-40B4-BE49-F238E27FC236}">
                <a16:creationId xmlns:a16="http://schemas.microsoft.com/office/drawing/2014/main" id="{37DA0392-DD60-4F34-BE97-D788B1312AB7}"/>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The agreement supports the model for this case. The discrepancy requires an uncertainty assessment.</a:t>
            </a:r>
          </a:p>
        </p:txBody>
      </p:sp>
      <p:sp>
        <p:nvSpPr>
          <p:cNvPr id="9" name="footnote">
            <a:extLst xmlns:a="http://schemas.openxmlformats.org/drawingml/2006/main">
              <a:ext uri="{FF2B5EF4-FFF2-40B4-BE49-F238E27FC236}">
                <a16:creationId xmlns:a16="http://schemas.microsoft.com/office/drawing/2014/main" id="{AF0F8EB7-A070-4AD0-8609-3602A87B2FB5}"/>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Illustrative wording and invented teaching values. An actual abstract must use your own results. Maximum 10 lines.</a:t>
            </a:r>
          </a:p>
        </p:txBody>
      </p:sp>
      <p:sp>
        <p:nvSpPr>
          <p:cNvPr id="10" name="page">
            <a:extLst xmlns:a="http://schemas.openxmlformats.org/drawingml/2006/main">
              <a:ext uri="{FF2B5EF4-FFF2-40B4-BE49-F238E27FC236}">
                <a16:creationId xmlns:a16="http://schemas.microsoft.com/office/drawing/2014/main" id="{09199DA3-D7BF-4497-A69A-974CB5313F48}"/>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23</a:t>
            </a:r>
          </a:p>
        </p:txBody>
      </p:sp>
    </p:spTree>
    <p:extLst>
      <p:ext uri="{BB962C8B-B14F-4D97-AF65-F5344CB8AC3E}">
        <p14:creationId xmlns:p14="http://schemas.microsoft.com/office/powerpoint/2010/main" val="210604448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9C1E1927-98BB-4FBF-80FD-EF046125980C}"/>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2ADDC111-CED5-4C38-8F02-9D24C4E170A0}"/>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Results: what the measurements show</a:t>
            </a:r>
          </a:p>
        </p:txBody>
      </p:sp>
      <p:sp>
        <p:nvSpPr>
          <p:cNvPr id="3" name="body">
            <a:extLst xmlns:a="http://schemas.openxmlformats.org/drawingml/2006/main">
              <a:ext uri="{FF2B5EF4-FFF2-40B4-BE49-F238E27FC236}">
                <a16:creationId xmlns:a16="http://schemas.microsoft.com/office/drawing/2014/main" id="{6EE7C07C-A2DA-4014-A7A5-AAB03F57C3F1}"/>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Observation</a:t>
            </a:r>
          </a:p>
        </p:txBody>
      </p:sp>
      <p:sp>
        <p:nvSpPr>
          <p:cNvPr id="4" name="body">
            <a:extLst xmlns:a="http://schemas.openxmlformats.org/drawingml/2006/main">
              <a:ext uri="{FF2B5EF4-FFF2-40B4-BE49-F238E27FC236}">
                <a16:creationId xmlns:a16="http://schemas.microsoft.com/office/drawing/2014/main" id="{E388AD31-1D7B-4FC3-B8A4-C1DF0A28BC6F}"/>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Describe the measured trend. Give the important values and their units.</a:t>
            </a:r>
          </a:p>
        </p:txBody>
      </p:sp>
      <p:sp>
        <p:nvSpPr>
          <p:cNvPr id="5" name="body">
            <a:extLst xmlns:a="http://schemas.openxmlformats.org/drawingml/2006/main">
              <a:ext uri="{FF2B5EF4-FFF2-40B4-BE49-F238E27FC236}">
                <a16:creationId xmlns:a16="http://schemas.microsoft.com/office/drawing/2014/main" id="{B1F55F56-AEA7-415D-8113-1A55A7ACC902}"/>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Evidence</a:t>
            </a:r>
          </a:p>
        </p:txBody>
      </p:sp>
      <p:sp>
        <p:nvSpPr>
          <p:cNvPr id="6" name="body">
            <a:extLst xmlns:a="http://schemas.openxmlformats.org/drawingml/2006/main">
              <a:ext uri="{FF2B5EF4-FFF2-40B4-BE49-F238E27FC236}">
                <a16:creationId xmlns:a16="http://schemas.microsoft.com/office/drawing/2014/main" id="{0AAF42C3-C8AC-4EBE-9C38-F877D5D2CB14}"/>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Use a figure or table that answers the question. State the test conditions and identify repeated trials.</a:t>
            </a:r>
          </a:p>
        </p:txBody>
      </p:sp>
      <p:sp>
        <p:nvSpPr>
          <p:cNvPr id="7" name="body">
            <a:extLst xmlns:a="http://schemas.openxmlformats.org/drawingml/2006/main">
              <a:ext uri="{FF2B5EF4-FFF2-40B4-BE49-F238E27FC236}">
                <a16:creationId xmlns:a16="http://schemas.microsoft.com/office/drawing/2014/main" id="{927A3BE8-5FCC-4FDB-A057-EF9F34558AB2}"/>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Origin of each curve</a:t>
            </a:r>
          </a:p>
        </p:txBody>
      </p:sp>
      <p:sp>
        <p:nvSpPr>
          <p:cNvPr id="8" name="body">
            <a:extLst xmlns:a="http://schemas.openxmlformats.org/drawingml/2006/main">
              <a:ext uri="{FF2B5EF4-FFF2-40B4-BE49-F238E27FC236}">
                <a16:creationId xmlns:a16="http://schemas.microsoft.com/office/drawing/2014/main" id="{2C56F970-EC8A-48AF-B4ED-E5CBA9A7887B}"/>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Label measurements and simulations clearly. Explain any processing that changes the measured values.</a:t>
            </a:r>
          </a:p>
        </p:txBody>
      </p:sp>
      <p:sp>
        <p:nvSpPr>
          <p:cNvPr id="9" name="footnote">
            <a:extLst xmlns:a="http://schemas.openxmlformats.org/drawingml/2006/main">
              <a:ext uri="{FF2B5EF4-FFF2-40B4-BE49-F238E27FC236}">
                <a16:creationId xmlns:a16="http://schemas.microsoft.com/office/drawing/2014/main" id="{474B0496-1B24-426C-8CA7-1F8EB209C976}"/>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Example observation: successive positive displacement peaks decrease over time.</a:t>
            </a:r>
          </a:p>
        </p:txBody>
      </p:sp>
      <p:sp>
        <p:nvSpPr>
          <p:cNvPr id="10" name="page">
            <a:extLst xmlns:a="http://schemas.openxmlformats.org/drawingml/2006/main">
              <a:ext uri="{FF2B5EF4-FFF2-40B4-BE49-F238E27FC236}">
                <a16:creationId xmlns:a16="http://schemas.microsoft.com/office/drawing/2014/main" id="{E84E2363-0FAB-46FC-AFF8-DAA973EB94E1}"/>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24</a:t>
            </a:r>
          </a:p>
        </p:txBody>
      </p:sp>
    </p:spTree>
    <p:extLst>
      <p:ext uri="{BB962C8B-B14F-4D97-AF65-F5344CB8AC3E}">
        <p14:creationId xmlns:p14="http://schemas.microsoft.com/office/powerpoint/2010/main" val="159040805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eyebrow-9">
            <a:extLst xmlns:a="http://schemas.openxmlformats.org/drawingml/2006/main">
              <a:ext uri="{FF2B5EF4-FFF2-40B4-BE49-F238E27FC236}">
                <a16:creationId xmlns:a16="http://schemas.microsoft.com/office/drawing/2014/main" id="{179AD2A5-FE40-4376-AFA1-C4EFB5A5B5AF}"/>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9">
            <a:extLst xmlns:a="http://schemas.openxmlformats.org/drawingml/2006/main">
              <a:ext uri="{FF2B5EF4-FFF2-40B4-BE49-F238E27FC236}">
                <a16:creationId xmlns:a16="http://schemas.microsoft.com/office/drawing/2014/main" id="{6BCE4A06-3DBF-48DF-AE8C-CD47B4017CCF}"/>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Readable, exported figures</a:t>
            </a:r>
          </a:p>
        </p:txBody>
      </p:sp>
      <p:sp>
        <p:nvSpPr>
          <p:cNvPr id="3" name="rule-102">
            <a:extLst xmlns:a="http://schemas.openxmlformats.org/drawingml/2006/main">
              <a:ext uri="{FF2B5EF4-FFF2-40B4-BE49-F238E27FC236}">
                <a16:creationId xmlns:a16="http://schemas.microsoft.com/office/drawing/2014/main" id="{FFB3D8A4-7D2F-44A7-8F1B-B2BCE05C812F}"/>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9">
            <a:extLst xmlns:a="http://schemas.openxmlformats.org/drawingml/2006/main">
              <a:ext uri="{FF2B5EF4-FFF2-40B4-BE49-F238E27FC236}">
                <a16:creationId xmlns:a16="http://schemas.microsoft.com/office/drawing/2014/main" id="{92D46AE5-4B51-4DD5-9D4D-B86841142859}"/>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25</a:t>
            </a:r>
          </a:p>
        </p:txBody>
      </p:sp>
      <p:sp>
        <p:nvSpPr>
          <p:cNvPr id="5" name="text-104">
            <a:extLst xmlns:a="http://schemas.openxmlformats.org/drawingml/2006/main">
              <a:ext uri="{FF2B5EF4-FFF2-40B4-BE49-F238E27FC236}">
                <a16:creationId xmlns:a16="http://schemas.microsoft.com/office/drawing/2014/main" id="{E2A45703-6F8A-4C36-BFE9-F4FB23F53D2F}"/>
              </a:ext>
            </a:extLst>
          </p:cNvPr>
          <p:cNvSpPr>
            <a:spLocks xmlns:a="http://schemas.openxmlformats.org/drawingml/2006/main" noGrp="1"/>
          </p:cNvSpPr>
          <p:nvPr/>
        </p:nvSpPr>
        <p:spPr>
          <a:xfrm xmlns:a="http://schemas.openxmlformats.org/drawingml/2006/main">
            <a:off x="514350" y="1752600"/>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00" b="1">
                <a:solidFill>
                  <a:srgbClr val="3D8DFF"/>
                </a:solidFill>
              </a:defRPr>
            </a:pPr>
            <a:r>
              <a:rPr sz="1800" b="1">
                <a:solidFill>
                  <a:srgbClr val="3D8DFF"/>
                </a:solidFill>
              </a:rPr>
              <a:t>DO</a:t>
            </a:r>
          </a:p>
        </p:txBody>
      </p:sp>
      <p:sp>
        <p:nvSpPr>
          <p:cNvPr id="6" name="text-105">
            <a:extLst xmlns:a="http://schemas.openxmlformats.org/drawingml/2006/main">
              <a:ext uri="{FF2B5EF4-FFF2-40B4-BE49-F238E27FC236}">
                <a16:creationId xmlns:a16="http://schemas.microsoft.com/office/drawing/2014/main" id="{38340C6C-7A49-443D-84FC-B267B13D1F8F}"/>
              </a:ext>
            </a:extLst>
          </p:cNvPr>
          <p:cNvSpPr>
            <a:spLocks xmlns:a="http://schemas.openxmlformats.org/drawingml/2006/main" noGrp="1"/>
          </p:cNvSpPr>
          <p:nvPr/>
        </p:nvSpPr>
        <p:spPr>
          <a:xfrm xmlns:a="http://schemas.openxmlformats.org/drawingml/2006/main">
            <a:off x="514350" y="2266950"/>
            <a:ext cx="495300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76200" tIns="38100" rIns="76200" bIns="38100" anchor="t">
            <a:normAutofit fontScale="100000"/>
          </a:bodyPr>
          <a:lstStyle xmlns:a="http://schemas.openxmlformats.org/drawingml/2006/main"/>
          <a:p xmlns:a="http://schemas.openxmlformats.org/drawingml/2006/main">
            <a:pPr algn="l">
              <a:buNone/>
              <a:defRPr sz="1800" b="0">
                <a:solidFill>
                  <a:srgbClr val="111111"/>
                </a:solidFill>
              </a:defRPr>
            </a:pPr>
            <a:r>
              <a:rPr sz="1800" b="0">
                <a:solidFill>
                  <a:srgbClr val="111111"/>
                </a:solidFill>
              </a:rPr>
              <a:t>• Export high-resolution PNG, EPS, or PDF</a:t>
            </a:r>
          </a:p>
          <a:p xmlns:a="http://schemas.openxmlformats.org/drawingml/2006/main">
            <a:pPr algn="l">
              <a:buNone/>
              <a:defRPr sz="1800" b="0">
                <a:solidFill>
                  <a:srgbClr val="111111"/>
                </a:solidFill>
              </a:defRPr>
            </a:pPr>
            <a:r>
              <a:rPr sz="1800" b="0">
                <a:solidFill>
                  <a:srgbClr val="111111"/>
                </a:solidFill>
              </a:rPr>
              <a:t>• Label axes and include units</a:t>
            </a:r>
          </a:p>
          <a:p xmlns:a="http://schemas.openxmlformats.org/drawingml/2006/main">
            <a:pPr algn="l">
              <a:buNone/>
              <a:defRPr sz="1800" b="0">
                <a:solidFill>
                  <a:srgbClr val="111111"/>
                </a:solidFill>
              </a:defRPr>
            </a:pPr>
            <a:r>
              <a:rPr sz="1800" b="0">
                <a:solidFill>
                  <a:srgbClr val="111111"/>
                </a:solidFill>
              </a:rPr>
              <a:t>• Use legends that identify each data set</a:t>
            </a:r>
          </a:p>
          <a:p xmlns:a="http://schemas.openxmlformats.org/drawingml/2006/main">
            <a:pPr algn="l">
              <a:buNone/>
              <a:defRPr sz="1800" b="0">
                <a:solidFill>
                  <a:srgbClr val="111111"/>
                </a:solidFill>
              </a:defRPr>
            </a:pPr>
            <a:r>
              <a:rPr sz="1800" b="0">
                <a:solidFill>
                  <a:srgbClr val="111111"/>
                </a:solidFill>
              </a:rPr>
              <a:t>• Group related cases when comparison improves the analysis</a:t>
            </a:r>
          </a:p>
        </p:txBody>
      </p:sp>
      <p:sp>
        <p:nvSpPr>
          <p:cNvPr id="7" name="text-106">
            <a:extLst xmlns:a="http://schemas.openxmlformats.org/drawingml/2006/main">
              <a:ext uri="{FF2B5EF4-FFF2-40B4-BE49-F238E27FC236}">
                <a16:creationId xmlns:a16="http://schemas.microsoft.com/office/drawing/2014/main" id="{63FA9B10-2511-4C64-B694-1D661165DEA2}"/>
              </a:ext>
            </a:extLst>
          </p:cNvPr>
          <p:cNvSpPr>
            <a:spLocks xmlns:a="http://schemas.openxmlformats.org/drawingml/2006/main" noGrp="1"/>
          </p:cNvSpPr>
          <p:nvPr/>
        </p:nvSpPr>
        <p:spPr>
          <a:xfrm xmlns:a="http://schemas.openxmlformats.org/drawingml/2006/main">
            <a:off x="6324600" y="1752600"/>
            <a:ext cx="123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00" b="1">
                <a:solidFill>
                  <a:srgbClr val="881C1C"/>
                </a:solidFill>
              </a:defRPr>
            </a:pPr>
            <a:r>
              <a:rPr sz="1800" b="1">
                <a:solidFill>
                  <a:srgbClr val="881C1C"/>
                </a:solidFill>
              </a:rPr>
              <a:t>AVOID</a:t>
            </a:r>
          </a:p>
        </p:txBody>
      </p:sp>
      <p:sp>
        <p:nvSpPr>
          <p:cNvPr id="8" name="text-107">
            <a:extLst xmlns:a="http://schemas.openxmlformats.org/drawingml/2006/main">
              <a:ext uri="{FF2B5EF4-FFF2-40B4-BE49-F238E27FC236}">
                <a16:creationId xmlns:a16="http://schemas.microsoft.com/office/drawing/2014/main" id="{C2951BA2-D92C-497C-A660-7A35E414EBB6}"/>
              </a:ext>
            </a:extLst>
          </p:cNvPr>
          <p:cNvSpPr>
            <a:spLocks xmlns:a="http://schemas.openxmlformats.org/drawingml/2006/main" noGrp="1"/>
          </p:cNvSpPr>
          <p:nvPr/>
        </p:nvSpPr>
        <p:spPr>
          <a:xfrm xmlns:a="http://schemas.openxmlformats.org/drawingml/2006/main">
            <a:off x="6324600" y="2266950"/>
            <a:ext cx="495300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76200" tIns="38100" rIns="76200" bIns="38100" anchor="t">
            <a:normAutofit fontScale="100000"/>
          </a:bodyPr>
          <a:lstStyle xmlns:a="http://schemas.openxmlformats.org/drawingml/2006/main"/>
          <a:p xmlns:a="http://schemas.openxmlformats.org/drawingml/2006/main">
            <a:pPr algn="l">
              <a:buNone/>
              <a:defRPr sz="1800" b="0">
                <a:solidFill>
                  <a:srgbClr val="111111"/>
                </a:solidFill>
              </a:defRPr>
            </a:pPr>
            <a:r>
              <a:rPr sz="1800" b="0">
                <a:solidFill>
                  <a:srgbClr val="111111"/>
                </a:solidFill>
              </a:rPr>
              <a:t>• Screenshots of MATLAB or Python figure windows</a:t>
            </a:r>
          </a:p>
          <a:p xmlns:a="http://schemas.openxmlformats.org/drawingml/2006/main">
            <a:pPr algn="l">
              <a:buNone/>
              <a:defRPr sz="1800" b="0">
                <a:solidFill>
                  <a:srgbClr val="111111"/>
                </a:solidFill>
              </a:defRPr>
            </a:pPr>
            <a:r>
              <a:rPr sz="1800" b="0">
                <a:solidFill>
                  <a:srgbClr val="111111"/>
                </a:solidFill>
              </a:rPr>
              <a:t>• Tiny labels and unreadable legends</a:t>
            </a:r>
          </a:p>
          <a:p xmlns:a="http://schemas.openxmlformats.org/drawingml/2006/main">
            <a:pPr algn="l">
              <a:buNone/>
              <a:defRPr sz="1800" b="0">
                <a:solidFill>
                  <a:srgbClr val="111111"/>
                </a:solidFill>
              </a:defRPr>
            </a:pPr>
            <a:r>
              <a:rPr sz="1800" b="0">
                <a:solidFill>
                  <a:srgbClr val="111111"/>
                </a:solidFill>
              </a:rPr>
              <a:t>• Decorative plots that do not answer a question</a:t>
            </a:r>
          </a:p>
          <a:p xmlns:a="http://schemas.openxmlformats.org/drawingml/2006/main">
            <a:pPr algn="l">
              <a:buNone/>
              <a:defRPr sz="1800" b="0">
                <a:solidFill>
                  <a:srgbClr val="111111"/>
                </a:solidFill>
              </a:defRPr>
            </a:pPr>
            <a:r>
              <a:rPr sz="1800" b="0">
                <a:solidFill>
                  <a:srgbClr val="111111"/>
                </a:solidFill>
              </a:rPr>
              <a:t>• Separate figures when one comparison plot is clearer</a:t>
            </a:r>
          </a:p>
        </p:txBody>
      </p:sp>
      <p:sp>
        <p:nvSpPr>
          <p:cNvPr id="9" name="rule-108">
            <a:extLst xmlns:a="http://schemas.openxmlformats.org/drawingml/2006/main">
              <a:ext uri="{FF2B5EF4-FFF2-40B4-BE49-F238E27FC236}">
                <a16:creationId xmlns:a16="http://schemas.microsoft.com/office/drawing/2014/main" id="{CB6A6E7A-C639-4406-BA67-5EA6AE74ED5E}"/>
              </a:ext>
            </a:extLst>
          </p:cNvPr>
          <p:cNvSpPr>
            <a:spLocks xmlns:a="http://schemas.openxmlformats.org/drawingml/2006/main" noGrp="1"/>
          </p:cNvSpPr>
          <p:nvPr/>
        </p:nvSpPr>
        <p:spPr>
          <a:xfrm xmlns:a="http://schemas.openxmlformats.org/drawingml/2006/main">
            <a:off x="5905500" y="1714500"/>
            <a:ext cx="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10" name="text-109">
            <a:extLst xmlns:a="http://schemas.openxmlformats.org/drawingml/2006/main">
              <a:ext uri="{FF2B5EF4-FFF2-40B4-BE49-F238E27FC236}">
                <a16:creationId xmlns:a16="http://schemas.microsoft.com/office/drawing/2014/main" id="{84B977F1-026C-442C-B54D-340EBE0BB8EF}"/>
              </a:ext>
            </a:extLst>
          </p:cNvPr>
          <p:cNvSpPr>
            <a:spLocks xmlns:a="http://schemas.openxmlformats.org/drawingml/2006/main" noGrp="1"/>
          </p:cNvSpPr>
          <p:nvPr/>
        </p:nvSpPr>
        <p:spPr>
          <a:xfrm xmlns:a="http://schemas.openxmlformats.org/drawingml/2006/main">
            <a:off x="1714500" y="5334000"/>
            <a:ext cx="876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875" b="1">
                <a:solidFill>
                  <a:srgbClr val="5F6368"/>
                </a:solidFill>
              </a:defRPr>
            </a:pPr>
            <a:r>
              <a:rPr sz="1875" b="1">
                <a:solidFill>
                  <a:srgbClr val="5F6368"/>
                </a:solidFill>
              </a:rPr>
              <a:t>A figure should still make sense when viewed without the surrounding paragraph.</a:t>
            </a:r>
          </a:p>
        </p:txBody>
      </p:sp>
    </p:spTree>
    <p:extLst>
      <p:ext uri="{BB962C8B-B14F-4D97-AF65-F5344CB8AC3E}">
        <p14:creationId xmlns:p14="http://schemas.microsoft.com/office/powerpoint/2010/main" val="49436790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C6DCFE1A-AB91-4426-8FAD-40E0E52470B0}"/>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1022B827-8798-442A-A049-EB0F8E863A17}"/>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A figure that supports a comparison</a:t>
            </a:r>
          </a:p>
        </p:txBody>
      </p:sp>
      <p:graphicFrame>
        <p:nvGraphicFramePr>
          <p:cNvPr id="8" name="Chart"/>
          <p:cNvGraphicFramePr/>
          <p:nvPr/>
        </p:nvGraphicFramePr>
        <p:xfrm>
          <a:off xmlns:a="http://schemas.openxmlformats.org/drawingml/2006/main" x="619125" y="1657350"/>
          <a:ext xmlns:a="http://schemas.openxmlformats.org/drawingml/2006/main" cx="10858500" cy="3981450"/>
        </p:xfrm>
        <a:graphic xmlns:a="http://schemas.openxmlformats.org/drawingml/2006/main">
          <a:graphicData uri="http://schemas.openxmlformats.org/drawingml/2006/chart">
            <c:chart xmlns:r="http://schemas.openxmlformats.org/officeDocument/2006/relationships" xmlns:c="http://schemas.openxmlformats.org/drawingml/2006/chart" r:id="Reb1618f0792d4afc"/>
          </a:graphicData>
        </a:graphic>
      </p:graphicFrame>
      <p:sp>
        <p:nvSpPr>
          <p:cNvPr id="4" name="footnote">
            <a:extLst xmlns:a="http://schemas.openxmlformats.org/drawingml/2006/main">
              <a:ext uri="{FF2B5EF4-FFF2-40B4-BE49-F238E27FC236}">
                <a16:creationId xmlns:a16="http://schemas.microsoft.com/office/drawing/2014/main" id="{4C5F8037-BBBE-474F-8F3E-C544F78C0770}"/>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Figure 1. Illustrative angle histories: undamped model and synthetic decaying signal, 5° initial angle, 50 samples/s.</a:t>
            </a:r>
          </a:p>
        </p:txBody>
      </p:sp>
      <p:sp>
        <p:nvSpPr>
          <p:cNvPr id="5" name="page">
            <a:extLst xmlns:a="http://schemas.openxmlformats.org/drawingml/2006/main">
              <a:ext uri="{FF2B5EF4-FFF2-40B4-BE49-F238E27FC236}">
                <a16:creationId xmlns:a16="http://schemas.microsoft.com/office/drawing/2014/main" id="{B59C6EEE-F9BF-4F7F-A4EB-F90B4FF093DD}"/>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26</a:t>
            </a:r>
          </a:p>
        </p:txBody>
      </p:sp>
    </p:spTree>
    <p:extLst>
      <p:ext uri="{BB962C8B-B14F-4D97-AF65-F5344CB8AC3E}">
        <p14:creationId xmlns:p14="http://schemas.microsoft.com/office/powerpoint/2010/main" val="6124632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A11A86AC-D18D-4E0D-94B9-C61FE7538B4E}"/>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953599C5-EBA2-4C17-A4DB-3C6BD08A4ED4}"/>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Comparison: a fair test of the model</a:t>
            </a:r>
          </a:p>
        </p:txBody>
      </p:sp>
      <p:sp>
        <p:nvSpPr>
          <p:cNvPr id="3" name="body">
            <a:extLst xmlns:a="http://schemas.openxmlformats.org/drawingml/2006/main">
              <a:ext uri="{FF2B5EF4-FFF2-40B4-BE49-F238E27FC236}">
                <a16:creationId xmlns:a16="http://schemas.microsoft.com/office/drawing/2014/main" id="{338B6F6F-32B4-49A6-8110-928ED94741FF}"/>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Same conditions</a:t>
            </a:r>
          </a:p>
        </p:txBody>
      </p:sp>
      <p:sp>
        <p:nvSpPr>
          <p:cNvPr id="4" name="body">
            <a:extLst xmlns:a="http://schemas.openxmlformats.org/drawingml/2006/main">
              <a:ext uri="{FF2B5EF4-FFF2-40B4-BE49-F238E27FC236}">
                <a16:creationId xmlns:a16="http://schemas.microsoft.com/office/drawing/2014/main" id="{79FA5802-FAC3-40E0-BC97-763E9B62E121}"/>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Use the same units, starting conditions, and time origin. State the model parameters.</a:t>
            </a:r>
          </a:p>
        </p:txBody>
      </p:sp>
      <p:sp>
        <p:nvSpPr>
          <p:cNvPr id="5" name="body">
            <a:extLst xmlns:a="http://schemas.openxmlformats.org/drawingml/2006/main">
              <a:ext uri="{FF2B5EF4-FFF2-40B4-BE49-F238E27FC236}">
                <a16:creationId xmlns:a16="http://schemas.microsoft.com/office/drawing/2014/main" id="{B367F81D-B25B-4AA3-8702-AE828DAEBDA0}"/>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Useful numbers</a:t>
            </a:r>
          </a:p>
        </p:txBody>
      </p:sp>
      <p:sp>
        <p:nvSpPr>
          <p:cNvPr id="6" name="body">
            <a:extLst xmlns:a="http://schemas.openxmlformats.org/drawingml/2006/main">
              <a:ext uri="{FF2B5EF4-FFF2-40B4-BE49-F238E27FC236}">
                <a16:creationId xmlns:a16="http://schemas.microsoft.com/office/drawing/2014/main" id="{9597A48A-C27E-46E9-9AA2-4EDB95A3E4D3}"/>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Compare a relevant quantity, such as period, frequency, or amplitude. Also show the curves together when useful.</a:t>
            </a:r>
          </a:p>
        </p:txBody>
      </p:sp>
      <p:sp>
        <p:nvSpPr>
          <p:cNvPr id="7" name="body">
            <a:extLst xmlns:a="http://schemas.openxmlformats.org/drawingml/2006/main">
              <a:ext uri="{FF2B5EF4-FFF2-40B4-BE49-F238E27FC236}">
                <a16:creationId xmlns:a16="http://schemas.microsoft.com/office/drawing/2014/main" id="{24DA46CD-5269-4562-8B2A-FFBA90FD4DEA}"/>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Where parameters came from</a:t>
            </a:r>
          </a:p>
        </p:txBody>
      </p:sp>
      <p:sp>
        <p:nvSpPr>
          <p:cNvPr id="8" name="body">
            <a:extLst xmlns:a="http://schemas.openxmlformats.org/drawingml/2006/main">
              <a:ext uri="{FF2B5EF4-FFF2-40B4-BE49-F238E27FC236}">
                <a16:creationId xmlns:a16="http://schemas.microsoft.com/office/drawing/2014/main" id="{C8A8444C-6958-45E7-80B2-FC098E437144}"/>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State which values you measured, assumed, or adjusted to match the data. Test adjusted values on another trial when possible.</a:t>
            </a:r>
          </a:p>
        </p:txBody>
      </p:sp>
      <p:sp>
        <p:nvSpPr>
          <p:cNvPr id="9" name="equation">
            <a:extLst xmlns:a="http://schemas.openxmlformats.org/drawingml/2006/main">
              <a:ext uri="{FF2B5EF4-FFF2-40B4-BE49-F238E27FC236}">
                <a16:creationId xmlns:a16="http://schemas.microsoft.com/office/drawing/2014/main" id="{8D74E7D9-03AC-4AC4-A902-7094B462266A}"/>
              </a:ext>
            </a:extLst>
          </p:cNvPr>
          <p:cNvSpPr>
            <a:spLocks xmlns:a="http://schemas.openxmlformats.org/drawingml/2006/main" noGrp="1"/>
          </p:cNvSpPr>
          <p:nvPr/>
        </p:nvSpPr>
        <p:spPr>
          <a:xfrm xmlns:a="http://schemas.openxmlformats.org/drawingml/2006/main">
            <a:off x="495300" y="5476875"/>
            <a:ext cx="11239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881C1C"/>
                </a:solidFill>
                <a:latin typeface="Calibri"/>
                <a:ea typeface="Calibri"/>
                <a:cs typeface="Calibri"/>
              </a:defRPr>
            </a:pPr>
            <a:r>
              <a:rPr sz="2250" b="1">
                <a:solidFill>
                  <a:srgbClr val="881C1C"/>
                </a:solidFill>
                <a:latin typeface="Calibri"/>
                <a:ea typeface="Calibri"/>
                <a:cs typeface="Calibri"/>
              </a:rPr>
              <a:t>Relative discrepancy = | measured − predicted | / | predicted | × 100%</a:t>
            </a:r>
          </a:p>
        </p:txBody>
      </p:sp>
      <p:sp>
        <p:nvSpPr>
          <p:cNvPr id="10" name="footnote">
            <a:extLst xmlns:a="http://schemas.openxmlformats.org/drawingml/2006/main">
              <a:ext uri="{FF2B5EF4-FFF2-40B4-BE49-F238E27FC236}">
                <a16:creationId xmlns:a16="http://schemas.microsoft.com/office/drawing/2014/main" id="{90A660DC-DBF7-4419-880A-BEC983A9AA70}"/>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Use an appropriate absolute or scaled metric when the predicted value is zero or very small.</a:t>
            </a:r>
          </a:p>
        </p:txBody>
      </p:sp>
      <p:sp>
        <p:nvSpPr>
          <p:cNvPr id="11" name="page">
            <a:extLst xmlns:a="http://schemas.openxmlformats.org/drawingml/2006/main">
              <a:ext uri="{FF2B5EF4-FFF2-40B4-BE49-F238E27FC236}">
                <a16:creationId xmlns:a16="http://schemas.microsoft.com/office/drawing/2014/main" id="{E790233A-56A8-4AE4-AA31-5218FFF624DD}"/>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27</a:t>
            </a:r>
          </a:p>
        </p:txBody>
      </p:sp>
    </p:spTree>
    <p:extLst>
      <p:ext uri="{BB962C8B-B14F-4D97-AF65-F5344CB8AC3E}">
        <p14:creationId xmlns:p14="http://schemas.microsoft.com/office/powerpoint/2010/main" val="203288301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F698F704-8D9F-4426-B159-72B7CB4D738D}"/>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94F71E7F-16F7-4738-8ED6-D40552A23AA4}"/>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How close is close enough?</a:t>
            </a:r>
          </a:p>
        </p:txBody>
      </p:sp>
      <p:sp>
        <p:nvSpPr>
          <p:cNvPr id="3" name="body">
            <a:extLst xmlns:a="http://schemas.openxmlformats.org/drawingml/2006/main">
              <a:ext uri="{FF2B5EF4-FFF2-40B4-BE49-F238E27FC236}">
                <a16:creationId xmlns:a16="http://schemas.microsoft.com/office/drawing/2014/main" id="{13C7E38E-148C-4219-BE6D-D2810BFD66D8}"/>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Limits of the measurements</a:t>
            </a:r>
          </a:p>
        </p:txBody>
      </p:sp>
      <p:sp>
        <p:nvSpPr>
          <p:cNvPr id="4" name="body">
            <a:extLst xmlns:a="http://schemas.openxmlformats.org/drawingml/2006/main">
              <a:ext uri="{FF2B5EF4-FFF2-40B4-BE49-F238E27FC236}">
                <a16:creationId xmlns:a16="http://schemas.microsoft.com/office/drawing/2014/main" id="{C384A7FA-34A9-482C-A4E0-6704FB6F9454}"/>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A camera time setting, ruler scale, or tracking position can be slightly wrong. Repeated trials can also give different results.</a:t>
            </a:r>
          </a:p>
        </p:txBody>
      </p:sp>
      <p:sp>
        <p:nvSpPr>
          <p:cNvPr id="5" name="body">
            <a:extLst xmlns:a="http://schemas.openxmlformats.org/drawingml/2006/main">
              <a:ext uri="{FF2B5EF4-FFF2-40B4-BE49-F238E27FC236}">
                <a16:creationId xmlns:a16="http://schemas.microsoft.com/office/drawing/2014/main" id="{64B4F40B-B1DD-4A94-A1E8-5901ABE3A0E2}"/>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Limits of the model</a:t>
            </a:r>
          </a:p>
        </p:txBody>
      </p:sp>
      <p:sp>
        <p:nvSpPr>
          <p:cNvPr id="6" name="body">
            <a:extLst xmlns:a="http://schemas.openxmlformats.org/drawingml/2006/main">
              <a:ext uri="{FF2B5EF4-FFF2-40B4-BE49-F238E27FC236}">
                <a16:creationId xmlns:a16="http://schemas.microsoft.com/office/drawing/2014/main" id="{058D126D-AC8F-48FF-9B11-5D9042AD91F4}"/>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Mass or spring stiffness may be uncertain. A simple model may leave out friction or large-angle effects.</a:t>
            </a:r>
          </a:p>
        </p:txBody>
      </p:sp>
      <p:sp>
        <p:nvSpPr>
          <p:cNvPr id="7" name="body">
            <a:extLst xmlns:a="http://schemas.openxmlformats.org/drawingml/2006/main">
              <a:ext uri="{FF2B5EF4-FFF2-40B4-BE49-F238E27FC236}">
                <a16:creationId xmlns:a16="http://schemas.microsoft.com/office/drawing/2014/main" id="{AE6E6A95-74F3-4879-88B1-739ABF657C09}"/>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 supported conclusion</a:t>
            </a:r>
          </a:p>
        </p:txBody>
      </p:sp>
      <p:sp>
        <p:nvSpPr>
          <p:cNvPr id="8" name="body">
            <a:extLst xmlns:a="http://schemas.openxmlformats.org/drawingml/2006/main">
              <a:ext uri="{FF2B5EF4-FFF2-40B4-BE49-F238E27FC236}">
                <a16:creationId xmlns:a16="http://schemas.microsoft.com/office/drawing/2014/main" id="{61BE022C-56B5-4825-870F-7B09515A0154}"/>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A 2% difference alone does not tell us whether the agreement is good. Compare it with the size of the measurement and model uncertainties.</a:t>
            </a:r>
          </a:p>
        </p:txBody>
      </p:sp>
      <p:sp>
        <p:nvSpPr>
          <p:cNvPr id="9" name="equation">
            <a:extLst xmlns:a="http://schemas.openxmlformats.org/drawingml/2006/main">
              <a:ext uri="{FF2B5EF4-FFF2-40B4-BE49-F238E27FC236}">
                <a16:creationId xmlns:a16="http://schemas.microsoft.com/office/drawing/2014/main" id="{D687F28E-C9A8-4FD3-BCC8-FAC3639C9124}"/>
              </a:ext>
            </a:extLst>
          </p:cNvPr>
          <p:cNvSpPr>
            <a:spLocks xmlns:a="http://schemas.openxmlformats.org/drawingml/2006/main" noGrp="1"/>
          </p:cNvSpPr>
          <p:nvPr/>
        </p:nvSpPr>
        <p:spPr>
          <a:xfrm xmlns:a="http://schemas.openxmlformats.org/drawingml/2006/main">
            <a:off x="495300" y="5476875"/>
            <a:ext cx="11239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881C1C"/>
                </a:solidFill>
                <a:latin typeface="Calibri"/>
                <a:ea typeface="Calibri"/>
                <a:cs typeface="Calibri"/>
              </a:defRPr>
            </a:pPr>
            <a:r>
              <a:rPr sz="2250" b="1">
                <a:solidFill>
                  <a:srgbClr val="881C1C"/>
                </a:solidFill>
                <a:latin typeface="Calibri"/>
                <a:ea typeface="Calibri"/>
                <a:cs typeface="Calibri"/>
              </a:rPr>
              <a:t>Period = elapsed time / number of complete cycles</a:t>
            </a:r>
          </a:p>
        </p:txBody>
      </p:sp>
      <p:sp>
        <p:nvSpPr>
          <p:cNvPr id="10" name="footnote">
            <a:extLst xmlns:a="http://schemas.openxmlformats.org/drawingml/2006/main">
              <a:ext uri="{FF2B5EF4-FFF2-40B4-BE49-F238E27FC236}">
                <a16:creationId xmlns:a16="http://schemas.microsoft.com/office/drawing/2014/main" id="{E02F64FD-CA7B-4D0A-B32D-278D41CACA4C}"/>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Timing several cycles reduces the effect of choosing one peak slightly early or late.</a:t>
            </a:r>
          </a:p>
        </p:txBody>
      </p:sp>
      <p:sp>
        <p:nvSpPr>
          <p:cNvPr id="11" name="page">
            <a:extLst xmlns:a="http://schemas.openxmlformats.org/drawingml/2006/main">
              <a:ext uri="{FF2B5EF4-FFF2-40B4-BE49-F238E27FC236}">
                <a16:creationId xmlns:a16="http://schemas.microsoft.com/office/drawing/2014/main" id="{74AF52EB-D0E2-4AF1-97B0-B8082D17D882}"/>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28</a:t>
            </a:r>
          </a:p>
        </p:txBody>
      </p:sp>
    </p:spTree>
    <p:extLst>
      <p:ext uri="{BB962C8B-B14F-4D97-AF65-F5344CB8AC3E}">
        <p14:creationId xmlns:p14="http://schemas.microsoft.com/office/powerpoint/2010/main" val="26865992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BEF3FFA3-33E8-4C5F-9C39-D87718DC536B}"/>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342A5B80-F9F6-49A5-BC8B-FB8C31ADDE79}"/>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Discussion: explanations tied to evidence</a:t>
            </a:r>
          </a:p>
        </p:txBody>
      </p:sp>
      <p:sp>
        <p:nvSpPr>
          <p:cNvPr id="3" name="body">
            <a:extLst xmlns:a="http://schemas.openxmlformats.org/drawingml/2006/main">
              <a:ext uri="{FF2B5EF4-FFF2-40B4-BE49-F238E27FC236}">
                <a16:creationId xmlns:a16="http://schemas.microsoft.com/office/drawing/2014/main" id="{242DEAC3-5C88-4DA7-8FA8-F14821525B9B}"/>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What you observed</a:t>
            </a:r>
          </a:p>
        </p:txBody>
      </p:sp>
      <p:sp>
        <p:nvSpPr>
          <p:cNvPr id="4" name="body">
            <a:extLst xmlns:a="http://schemas.openxmlformats.org/drawingml/2006/main">
              <a:ext uri="{FF2B5EF4-FFF2-40B4-BE49-F238E27FC236}">
                <a16:creationId xmlns:a16="http://schemas.microsoft.com/office/drawing/2014/main" id="{D305D48A-1458-42B6-A0B3-6AD9C65AACDE}"/>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The measured swing gets smaller over time, while the model keeps the same swing size.</a:t>
            </a:r>
          </a:p>
        </p:txBody>
      </p:sp>
      <p:sp>
        <p:nvSpPr>
          <p:cNvPr id="5" name="body">
            <a:extLst xmlns:a="http://schemas.openxmlformats.org/drawingml/2006/main">
              <a:ext uri="{FF2B5EF4-FFF2-40B4-BE49-F238E27FC236}">
                <a16:creationId xmlns:a16="http://schemas.microsoft.com/office/drawing/2014/main" id="{A33E6D04-700C-4381-8564-EA684701DC89}"/>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 possible explanation</a:t>
            </a:r>
          </a:p>
        </p:txBody>
      </p:sp>
      <p:sp>
        <p:nvSpPr>
          <p:cNvPr id="6" name="body">
            <a:extLst xmlns:a="http://schemas.openxmlformats.org/drawingml/2006/main">
              <a:ext uri="{FF2B5EF4-FFF2-40B4-BE49-F238E27FC236}">
                <a16:creationId xmlns:a16="http://schemas.microsoft.com/office/drawing/2014/main" id="{857F95BD-EA78-4B7D-BBD1-A36199E2B01F}"/>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Friction or air resistance could remove energy. This plot alone does not tell us how much each one contributes.</a:t>
            </a:r>
          </a:p>
        </p:txBody>
      </p:sp>
      <p:sp>
        <p:nvSpPr>
          <p:cNvPr id="7" name="body">
            <a:extLst xmlns:a="http://schemas.openxmlformats.org/drawingml/2006/main">
              <a:ext uri="{FF2B5EF4-FFF2-40B4-BE49-F238E27FC236}">
                <a16:creationId xmlns:a16="http://schemas.microsoft.com/office/drawing/2014/main" id="{C19C7313-E15B-490D-AED2-34E8EFFCB2EA}"/>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 useful check</a:t>
            </a:r>
          </a:p>
        </p:txBody>
      </p:sp>
      <p:sp>
        <p:nvSpPr>
          <p:cNvPr id="8" name="body">
            <a:extLst xmlns:a="http://schemas.openxmlformats.org/drawingml/2006/main">
              <a:ext uri="{FF2B5EF4-FFF2-40B4-BE49-F238E27FC236}">
                <a16:creationId xmlns:a16="http://schemas.microsoft.com/office/drawing/2014/main" id="{B4CCD04B-DF0B-43F1-9A1A-54941D8008D0}"/>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Compare how quickly the motion fades in different setups. Test whether adding damping improves the prediction.</a:t>
            </a:r>
          </a:p>
        </p:txBody>
      </p:sp>
      <p:sp>
        <p:nvSpPr>
          <p:cNvPr id="9" name="footnote">
            <a:extLst xmlns:a="http://schemas.openxmlformats.org/drawingml/2006/main">
              <a:ext uri="{FF2B5EF4-FFF2-40B4-BE49-F238E27FC236}">
                <a16:creationId xmlns:a16="http://schemas.microsoft.com/office/drawing/2014/main" id="{3CCA8A6E-5D98-4CF0-8621-758C9479FA84}"/>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Replace “human error” with a specific mechanism, its expected effect, and a way to check it.</a:t>
            </a:r>
          </a:p>
        </p:txBody>
      </p:sp>
      <p:sp>
        <p:nvSpPr>
          <p:cNvPr id="10" name="page">
            <a:extLst xmlns:a="http://schemas.openxmlformats.org/drawingml/2006/main">
              <a:ext uri="{FF2B5EF4-FFF2-40B4-BE49-F238E27FC236}">
                <a16:creationId xmlns:a16="http://schemas.microsoft.com/office/drawing/2014/main" id="{4839E75C-8D62-4DCF-98BF-1463B2F979B5}"/>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29</a:t>
            </a:r>
          </a:p>
        </p:txBody>
      </p:sp>
    </p:spTree>
    <p:extLst>
      <p:ext uri="{BB962C8B-B14F-4D97-AF65-F5344CB8AC3E}">
        <p14:creationId xmlns:p14="http://schemas.microsoft.com/office/powerpoint/2010/main" val="82299691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course">
            <a:extLst xmlns:a="http://schemas.openxmlformats.org/drawingml/2006/main">
              <a:ext uri="{FF2B5EF4-FFF2-40B4-BE49-F238E27FC236}">
                <a16:creationId xmlns:a16="http://schemas.microsoft.com/office/drawing/2014/main" id="{E3EB2663-F8D7-4C40-A054-15A2F6B8ED57}"/>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1DE14DA3-FCF2-4217-9A09-E1D8452D8E67}"/>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Conclusions, references, and appendices</a:t>
            </a:r>
          </a:p>
        </p:txBody>
      </p:sp>
      <p:sp>
        <p:nvSpPr>
          <p:cNvPr id="3" name="body">
            <a:extLst xmlns:a="http://schemas.openxmlformats.org/drawingml/2006/main">
              <a:ext uri="{FF2B5EF4-FFF2-40B4-BE49-F238E27FC236}">
                <a16:creationId xmlns:a16="http://schemas.microsoft.com/office/drawing/2014/main" id="{0146A183-5230-4C0D-93F8-34B8EFB70C8E}"/>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Conclusions</a:t>
            </a:r>
          </a:p>
        </p:txBody>
      </p:sp>
      <p:sp>
        <p:nvSpPr>
          <p:cNvPr id="4" name="body">
            <a:extLst xmlns:a="http://schemas.openxmlformats.org/drawingml/2006/main">
              <a:ext uri="{FF2B5EF4-FFF2-40B4-BE49-F238E27FC236}">
                <a16:creationId xmlns:a16="http://schemas.microsoft.com/office/drawing/2014/main" id="{E6211AF5-4ED6-44AD-85C4-8DED2FF1FBFC}"/>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Answer the objective with the key numerical result, supported limitation, and a useful improvement.</a:t>
            </a:r>
          </a:p>
        </p:txBody>
      </p:sp>
      <p:sp>
        <p:nvSpPr>
          <p:cNvPr id="5" name="body">
            <a:extLst xmlns:a="http://schemas.openxmlformats.org/drawingml/2006/main">
              <a:ext uri="{FF2B5EF4-FFF2-40B4-BE49-F238E27FC236}">
                <a16:creationId xmlns:a16="http://schemas.microsoft.com/office/drawing/2014/main" id="{6BC88D45-C569-4C37-B446-8A30DE1306F5}"/>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References</a:t>
            </a:r>
          </a:p>
        </p:txBody>
      </p:sp>
      <p:sp>
        <p:nvSpPr>
          <p:cNvPr id="6" name="body">
            <a:extLst xmlns:a="http://schemas.openxmlformats.org/drawingml/2006/main">
              <a:ext uri="{FF2B5EF4-FFF2-40B4-BE49-F238E27FC236}">
                <a16:creationId xmlns:a16="http://schemas.microsoft.com/office/drawing/2014/main" id="{B886A4C0-F98B-4729-BFED-2688248BDB79}"/>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Cite sources where used. Include the lecture notes at minimum and list every cited source.</a:t>
            </a:r>
          </a:p>
        </p:txBody>
      </p:sp>
      <p:sp>
        <p:nvSpPr>
          <p:cNvPr id="7" name="body">
            <a:extLst xmlns:a="http://schemas.openxmlformats.org/drawingml/2006/main">
              <a:ext uri="{FF2B5EF4-FFF2-40B4-BE49-F238E27FC236}">
                <a16:creationId xmlns:a16="http://schemas.microsoft.com/office/drawing/2014/main" id="{9D460A2B-456E-48AC-8FD5-BFA4C7EB28BF}"/>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Appendices</a:t>
            </a:r>
          </a:p>
        </p:txBody>
      </p:sp>
      <p:sp>
        <p:nvSpPr>
          <p:cNvPr id="8" name="body">
            <a:extLst xmlns:a="http://schemas.openxmlformats.org/drawingml/2006/main">
              <a:ext uri="{FF2B5EF4-FFF2-40B4-BE49-F238E27FC236}">
                <a16:creationId xmlns:a16="http://schemas.microsoft.com/office/drawing/2014/main" id="{8A066DB0-D533-466B-B70B-04E20D11DA9C}"/>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Add supporting calculations or extra data only when needed. Keep essential evidence in the main text.</a:t>
            </a:r>
          </a:p>
        </p:txBody>
      </p:sp>
      <p:sp>
        <p:nvSpPr>
          <p:cNvPr id="9" name="page">
            <a:extLst xmlns:a="http://schemas.openxmlformats.org/drawingml/2006/main">
              <a:ext uri="{FF2B5EF4-FFF2-40B4-BE49-F238E27FC236}">
                <a16:creationId xmlns:a16="http://schemas.microsoft.com/office/drawing/2014/main" id="{66B1BBB0-68A6-47AD-BFF2-D0854A570608}"/>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30</a:t>
            </a:r>
          </a:p>
        </p:txBody>
      </p:sp>
    </p:spTree>
    <p:extLst>
      <p:ext uri="{BB962C8B-B14F-4D97-AF65-F5344CB8AC3E}">
        <p14:creationId xmlns:p14="http://schemas.microsoft.com/office/powerpoint/2010/main" val="164590195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59A1074D-D0F0-44F4-9F4E-1F26B9BDFB4A}"/>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92356765-8D59-4A17-B355-8470909B5497}"/>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Combined reports connect related experiments</a:t>
            </a:r>
          </a:p>
        </p:txBody>
      </p:sp>
      <p:sp>
        <p:nvSpPr>
          <p:cNvPr id="3" name="body">
            <a:extLst xmlns:a="http://schemas.openxmlformats.org/drawingml/2006/main">
              <a:ext uri="{FF2B5EF4-FFF2-40B4-BE49-F238E27FC236}">
                <a16:creationId xmlns:a16="http://schemas.microsoft.com/office/drawing/2014/main" id="{CAAC6465-0BC9-4610-9041-5A60620265E7}"/>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Labs 2 and 3</a:t>
            </a:r>
          </a:p>
        </p:txBody>
      </p:sp>
      <p:sp>
        <p:nvSpPr>
          <p:cNvPr id="4" name="body">
            <a:extLst xmlns:a="http://schemas.openxmlformats.org/drawingml/2006/main">
              <a:ext uri="{FF2B5EF4-FFF2-40B4-BE49-F238E27FC236}">
                <a16:creationId xmlns:a16="http://schemas.microsoft.com/office/drawing/2014/main" id="{139D80CA-0FDC-4AE3-89A3-7F8F07CCEDEE}"/>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Compare one angle with two coupled angles. Discuss model assumptions, initial conditions, and the limits of prediction.</a:t>
            </a:r>
          </a:p>
        </p:txBody>
      </p:sp>
      <p:sp>
        <p:nvSpPr>
          <p:cNvPr id="5" name="body">
            <a:extLst xmlns:a="http://schemas.openxmlformats.org/drawingml/2006/main">
              <a:ext uri="{FF2B5EF4-FFF2-40B4-BE49-F238E27FC236}">
                <a16:creationId xmlns:a16="http://schemas.microsoft.com/office/drawing/2014/main" id="{9BF6AB5A-BC92-48DB-8A36-8DED31F7A114}"/>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Labs 4 and 5</a:t>
            </a:r>
          </a:p>
        </p:txBody>
      </p:sp>
      <p:sp>
        <p:nvSpPr>
          <p:cNvPr id="6" name="body">
            <a:extLst xmlns:a="http://schemas.openxmlformats.org/drawingml/2006/main">
              <a:ext uri="{FF2B5EF4-FFF2-40B4-BE49-F238E27FC236}">
                <a16:creationId xmlns:a16="http://schemas.microsoft.com/office/drawing/2014/main" id="{50663DA8-A95A-4A80-897C-595D5BFF2767}"/>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Relate free-response frequency and damping to the forced response. Account for configuration changes.</a:t>
            </a:r>
          </a:p>
        </p:txBody>
      </p:sp>
      <p:sp>
        <p:nvSpPr>
          <p:cNvPr id="7" name="body">
            <a:extLst xmlns:a="http://schemas.openxmlformats.org/drawingml/2006/main">
              <a:ext uri="{FF2B5EF4-FFF2-40B4-BE49-F238E27FC236}">
                <a16:creationId xmlns:a16="http://schemas.microsoft.com/office/drawing/2014/main" id="{FCF52CD0-859D-456A-8E83-46B765C752F6}"/>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Organization</a:t>
            </a:r>
          </a:p>
        </p:txBody>
      </p:sp>
      <p:sp>
        <p:nvSpPr>
          <p:cNvPr id="8" name="body">
            <a:extLst xmlns:a="http://schemas.openxmlformats.org/drawingml/2006/main">
              <a:ext uri="{FF2B5EF4-FFF2-40B4-BE49-F238E27FC236}">
                <a16:creationId xmlns:a16="http://schemas.microsoft.com/office/drawing/2014/main" id="{FBEF8334-5289-45E1-A93C-0B6ED0658344}"/>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Use one abstract and conclusion, with experiment-specific subsections and an explicit synthesis.</a:t>
            </a:r>
          </a:p>
        </p:txBody>
      </p:sp>
      <p:sp>
        <p:nvSpPr>
          <p:cNvPr id="9" name="footnote">
            <a:extLst xmlns:a="http://schemas.openxmlformats.org/drawingml/2006/main">
              <a:ext uri="{FF2B5EF4-FFF2-40B4-BE49-F238E27FC236}">
                <a16:creationId xmlns:a16="http://schemas.microsoft.com/office/drawing/2014/main" id="{720CA241-B60D-48A8-8F53-8BC8A55D42FB}"/>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Suggested organization within the required template. Do not assume the page allowance doubles.</a:t>
            </a:r>
          </a:p>
        </p:txBody>
      </p:sp>
      <p:sp>
        <p:nvSpPr>
          <p:cNvPr id="10" name="page">
            <a:extLst xmlns:a="http://schemas.openxmlformats.org/drawingml/2006/main">
              <a:ext uri="{FF2B5EF4-FFF2-40B4-BE49-F238E27FC236}">
                <a16:creationId xmlns:a16="http://schemas.microsoft.com/office/drawing/2014/main" id="{6AA6FF61-D4E7-48C4-BA9F-C248A98361BA}"/>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31</a:t>
            </a:r>
          </a:p>
        </p:txBody>
      </p:sp>
    </p:spTree>
    <p:extLst>
      <p:ext uri="{BB962C8B-B14F-4D97-AF65-F5344CB8AC3E}">
        <p14:creationId xmlns:p14="http://schemas.microsoft.com/office/powerpoint/2010/main" val="114556548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5117C30C-350D-45FA-A260-D91B359AD186}"/>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CC5CEDB8-DE57-45EE-B329-80A0EB27BABA}"/>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The report rubric: ten equal criteria</a:t>
            </a:r>
          </a:p>
        </p:txBody>
      </p:sp>
      <p:graphicFrame>
        <p:nvGraphicFramePr>
          <p:cNvPr id="8" name=""/>
          <p:cNvGraphicFramePr/>
          <p:nvPr/>
        </p:nvGraphicFramePr>
        <p:xfrm>
          <a:off xmlns:a="http://schemas.openxmlformats.org/drawingml/2006/main" x="476250" y="1695450"/>
          <a:ext xmlns:a="http://schemas.openxmlformats.org/drawingml/2006/main" cx="11239500" cy="3714750"/>
        </p:xfrm>
        <a:graphic xmlns:a="http://schemas.openxmlformats.org/drawingml/2006/main">
          <a:graphicData uri="http://schemas.openxmlformats.org/drawingml/2006/table">
            <a:tbl>
              <a:tblPr/>
              <a:tblGrid>
                <a:gridCol w="5810250"/>
                <a:gridCol w="5429250"/>
              </a:tblGrid>
              <a:tr h="619125">
                <a:tc>
                  <a:txBody>
                    <a:bodyPr/>
                    <a:lstStyle/>
                    <a:p>
                      <a:r>
                        <a:rPr sz="1800" b="1">
                          <a:solidFill>
                            <a:srgbClr val="FFFFFF"/>
                          </a:solidFill>
                          <a:latin typeface="Calibri"/>
                          <a:ea typeface="Calibri"/>
                          <a:cs typeface="Calibri"/>
                        </a:rPr>
                        <a:t>Each criterion is 10% of the report grade</a:t>
                      </a:r>
                    </a:p>
                  </a:txBody>
                  <a:tcPr marL="91440" marR="91440" marT="45720" marB="45720">
                    <a:solidFill>
                      <a:srgbClr val="881C1C"/>
                    </a:solidFill>
                  </a:tcPr>
                </a:tc>
                <a:tc>
                  <a:txBody>
                    <a:bodyPr/>
                    <a:lstStyle/>
                    <a:p>
                      <a:r>
                        <a:rPr sz="1800" b="1">
                          <a:solidFill>
                            <a:srgbClr val="FFFFFF"/>
                          </a:solidFill>
                          <a:latin typeface="Calibri"/>
                          <a:ea typeface="Calibri"/>
                          <a:cs typeface="Calibri"/>
                        </a:rPr>
                        <a:t>What to check</a:t>
                      </a:r>
                    </a:p>
                  </a:txBody>
                  <a:tcPr marL="91440" marR="91440" marT="45720" marB="45720">
                    <a:solidFill>
                      <a:srgbClr val="881C1C"/>
                    </a:solidFill>
                  </a:tcPr>
                </a:tc>
              </a:tr>
              <a:tr h="619125">
                <a:tc>
                  <a:txBody>
                    <a:bodyPr/>
                    <a:lstStyle/>
                    <a:p>
                      <a:r>
                        <a:rPr sz="1800" b="0">
                          <a:solidFill>
                            <a:srgbClr val="111111"/>
                          </a:solidFill>
                          <a:latin typeface="Calibri"/>
                          <a:ea typeface="Calibri"/>
                          <a:cs typeface="Calibri"/>
                        </a:rPr>
                        <a:t>Complete sections / overall aesthetic</a:t>
                      </a:r>
                    </a:p>
                  </a:txBody>
                  <a:tcPr marL="91440" marR="91440" marT="45720" marB="45720">
                    <a:solidFill>
                      <a:srgbClr val="FFFFFF"/>
                    </a:solidFill>
                  </a:tcPr>
                </a:tc>
                <a:tc>
                  <a:txBody>
                    <a:bodyPr/>
                    <a:lstStyle/>
                    <a:p>
                      <a:r>
                        <a:rPr sz="1800" b="0">
                          <a:solidFill>
                            <a:srgbClr val="111111"/>
                          </a:solidFill>
                          <a:latin typeface="Calibri"/>
                          <a:ea typeface="Calibri"/>
                          <a:cs typeface="Calibri"/>
                        </a:rPr>
                        <a:t>Required organization and consistent formatting</a:t>
                      </a:r>
                    </a:p>
                  </a:txBody>
                  <a:tcPr marL="91440" marR="91440" marT="45720" marB="45720">
                    <a:solidFill>
                      <a:srgbClr val="FFFFFF"/>
                    </a:solidFill>
                  </a:tcPr>
                </a:tc>
              </a:tr>
              <a:tr h="619125">
                <a:tc>
                  <a:txBody>
                    <a:bodyPr/>
                    <a:lstStyle/>
                    <a:p>
                      <a:r>
                        <a:rPr sz="1800" b="0">
                          <a:solidFill>
                            <a:srgbClr val="111111"/>
                          </a:solidFill>
                          <a:latin typeface="Calibri"/>
                          <a:ea typeface="Calibri"/>
                          <a:cs typeface="Calibri"/>
                        </a:rPr>
                        <a:t>Clear figures / abstract</a:t>
                      </a:r>
                    </a:p>
                  </a:txBody>
                  <a:tcPr marL="91440" marR="91440" marT="45720" marB="45720">
                    <a:solidFill>
                      <a:srgbClr val="F7F7F7"/>
                    </a:solidFill>
                  </a:tcPr>
                </a:tc>
                <a:tc>
                  <a:txBody>
                    <a:bodyPr/>
                    <a:lstStyle/>
                    <a:p>
                      <a:r>
                        <a:rPr sz="1800" b="0">
                          <a:solidFill>
                            <a:srgbClr val="111111"/>
                          </a:solidFill>
                          <a:latin typeface="Calibri"/>
                          <a:ea typeface="Calibri"/>
                          <a:cs typeface="Calibri"/>
                        </a:rPr>
                        <a:t>Readable evidence and a concise, quantitative summary</a:t>
                      </a:r>
                    </a:p>
                  </a:txBody>
                  <a:tcPr marL="91440" marR="91440" marT="45720" marB="45720">
                    <a:solidFill>
                      <a:srgbClr val="F7F7F7"/>
                    </a:solidFill>
                  </a:tcPr>
                </a:tc>
              </a:tr>
              <a:tr h="619125">
                <a:tc>
                  <a:txBody>
                    <a:bodyPr/>
                    <a:lstStyle/>
                    <a:p>
                      <a:r>
                        <a:rPr sz="1800" b="0">
                          <a:solidFill>
                            <a:srgbClr val="111111"/>
                          </a:solidFill>
                          <a:latin typeface="Calibri"/>
                          <a:ea typeface="Calibri"/>
                          <a:cs typeface="Calibri"/>
                        </a:rPr>
                        <a:t>Data analysis / introducing the theory</a:t>
                      </a:r>
                    </a:p>
                  </a:txBody>
                  <a:tcPr marL="91440" marR="91440" marT="45720" marB="45720">
                    <a:solidFill>
                      <a:srgbClr val="FFFFFF"/>
                    </a:solidFill>
                  </a:tcPr>
                </a:tc>
                <a:tc>
                  <a:txBody>
                    <a:bodyPr/>
                    <a:lstStyle/>
                    <a:p>
                      <a:r>
                        <a:rPr sz="1800" b="0">
                          <a:solidFill>
                            <a:srgbClr val="111111"/>
                          </a:solidFill>
                          <a:latin typeface="Calibri"/>
                          <a:ea typeface="Calibri"/>
                          <a:cs typeface="Calibri"/>
                        </a:rPr>
                        <a:t>Traceable processing and defined governing equations</a:t>
                      </a:r>
                    </a:p>
                  </a:txBody>
                  <a:tcPr marL="91440" marR="91440" marT="45720" marB="45720">
                    <a:solidFill>
                      <a:srgbClr val="FFFFFF"/>
                    </a:solidFill>
                  </a:tcPr>
                </a:tc>
              </a:tr>
              <a:tr h="619125">
                <a:tc>
                  <a:txBody>
                    <a:bodyPr/>
                    <a:lstStyle/>
                    <a:p>
                      <a:r>
                        <a:rPr sz="1800" b="0">
                          <a:solidFill>
                            <a:srgbClr val="111111"/>
                          </a:solidFill>
                          <a:latin typeface="Calibri"/>
                          <a:ea typeface="Calibri"/>
                          <a:cs typeface="Calibri"/>
                        </a:rPr>
                        <a:t>Introducing the experiment / comparison with theory</a:t>
                      </a:r>
                    </a:p>
                  </a:txBody>
                  <a:tcPr marL="91440" marR="91440" marT="45720" marB="45720">
                    <a:solidFill>
                      <a:srgbClr val="F7F7F7"/>
                    </a:solidFill>
                  </a:tcPr>
                </a:tc>
                <a:tc>
                  <a:txBody>
                    <a:bodyPr/>
                    <a:lstStyle/>
                    <a:p>
                      <a:r>
                        <a:rPr sz="1800" b="0">
                          <a:solidFill>
                            <a:srgbClr val="111111"/>
                          </a:solidFill>
                          <a:latin typeface="Calibri"/>
                          <a:ea typeface="Calibri"/>
                          <a:cs typeface="Calibri"/>
                        </a:rPr>
                        <a:t>Physical context and a fair model-data comparison</a:t>
                      </a:r>
                    </a:p>
                  </a:txBody>
                  <a:tcPr marL="91440" marR="91440" marT="45720" marB="45720">
                    <a:solidFill>
                      <a:srgbClr val="F7F7F7"/>
                    </a:solidFill>
                  </a:tcPr>
                </a:tc>
              </a:tr>
              <a:tr h="619125">
                <a:tc>
                  <a:txBody>
                    <a:bodyPr/>
                    <a:lstStyle/>
                    <a:p>
                      <a:r>
                        <a:rPr sz="1800" b="0">
                          <a:solidFill>
                            <a:srgbClr val="111111"/>
                          </a:solidFill>
                          <a:latin typeface="Calibri"/>
                          <a:ea typeface="Calibri"/>
                          <a:cs typeface="Calibri"/>
                        </a:rPr>
                        <a:t>Discussion / meaningful results</a:t>
                      </a:r>
                    </a:p>
                  </a:txBody>
                  <a:tcPr marL="91440" marR="91440" marT="45720" marB="45720">
                    <a:solidFill>
                      <a:srgbClr val="FFFFFF"/>
                    </a:solidFill>
                  </a:tcPr>
                </a:tc>
                <a:tc>
                  <a:txBody>
                    <a:bodyPr/>
                    <a:lstStyle/>
                    <a:p>
                      <a:r>
                        <a:rPr sz="1800" b="0">
                          <a:solidFill>
                            <a:srgbClr val="111111"/>
                          </a:solidFill>
                          <a:latin typeface="Calibri"/>
                          <a:ea typeface="Calibri"/>
                          <a:cs typeface="Calibri"/>
                        </a:rPr>
                        <a:t>Evidence-based interpretation and an answer to the objective</a:t>
                      </a:r>
                    </a:p>
                  </a:txBody>
                  <a:tcPr marL="91440" marR="91440" marT="45720" marB="45720">
                    <a:solidFill>
                      <a:srgbClr val="FFFFFF"/>
                    </a:solidFill>
                  </a:tcPr>
                </a:tc>
              </a:tr>
            </a:tbl>
          </a:graphicData>
        </a:graphic>
      </p:graphicFrame>
      <p:sp>
        <p:nvSpPr>
          <p:cNvPr id="4" name="footnote">
            <a:extLst xmlns:a="http://schemas.openxmlformats.org/drawingml/2006/main">
              <a:ext uri="{FF2B5EF4-FFF2-40B4-BE49-F238E27FC236}">
                <a16:creationId xmlns:a16="http://schemas.microsoft.com/office/drawing/2014/main" id="{B26718D0-8506-4863-8C0E-4E0075E7BE3F}"/>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This table groups the ten original rubric criteria into pairs. Each individual criterion remains worth 10%.</a:t>
            </a:r>
          </a:p>
        </p:txBody>
      </p:sp>
      <p:sp>
        <p:nvSpPr>
          <p:cNvPr id="5" name="page">
            <a:extLst xmlns:a="http://schemas.openxmlformats.org/drawingml/2006/main">
              <a:ext uri="{FF2B5EF4-FFF2-40B4-BE49-F238E27FC236}">
                <a16:creationId xmlns:a16="http://schemas.microsoft.com/office/drawing/2014/main" id="{441B70BA-87D2-4BEC-9F09-4CF01BE66E23}"/>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32</a:t>
            </a:r>
          </a:p>
        </p:txBody>
      </p:sp>
    </p:spTree>
    <p:extLst>
      <p:ext uri="{BB962C8B-B14F-4D97-AF65-F5344CB8AC3E}">
        <p14:creationId xmlns:p14="http://schemas.microsoft.com/office/powerpoint/2010/main" val="168334272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eyebrow-10">
            <a:extLst xmlns:a="http://schemas.openxmlformats.org/drawingml/2006/main">
              <a:ext uri="{FF2B5EF4-FFF2-40B4-BE49-F238E27FC236}">
                <a16:creationId xmlns:a16="http://schemas.microsoft.com/office/drawing/2014/main" id="{D7140A3B-E3D1-41A4-9777-C0A47D7240E8}"/>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10">
            <a:extLst xmlns:a="http://schemas.openxmlformats.org/drawingml/2006/main">
              <a:ext uri="{FF2B5EF4-FFF2-40B4-BE49-F238E27FC236}">
                <a16:creationId xmlns:a16="http://schemas.microsoft.com/office/drawing/2014/main" id="{4ED5C090-BF7F-4111-AD58-31ED27EB6A3B}"/>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Submission and integrity policies</a:t>
            </a:r>
          </a:p>
        </p:txBody>
      </p:sp>
      <p:sp>
        <p:nvSpPr>
          <p:cNvPr id="3" name="rule-112">
            <a:extLst xmlns:a="http://schemas.openxmlformats.org/drawingml/2006/main">
              <a:ext uri="{FF2B5EF4-FFF2-40B4-BE49-F238E27FC236}">
                <a16:creationId xmlns:a16="http://schemas.microsoft.com/office/drawing/2014/main" id="{8DE0B3C1-1073-48DD-8D23-4ADB86628858}"/>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10">
            <a:extLst xmlns:a="http://schemas.openxmlformats.org/drawingml/2006/main">
              <a:ext uri="{FF2B5EF4-FFF2-40B4-BE49-F238E27FC236}">
                <a16:creationId xmlns:a16="http://schemas.microsoft.com/office/drawing/2014/main" id="{48705B30-B3E1-40F1-956E-9C6E5846CC33}"/>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33</a:t>
            </a:r>
          </a:p>
        </p:txBody>
      </p:sp>
      <p:sp>
        <p:nvSpPr>
          <p:cNvPr id="5" name="text-114">
            <a:extLst xmlns:a="http://schemas.openxmlformats.org/drawingml/2006/main">
              <a:ext uri="{FF2B5EF4-FFF2-40B4-BE49-F238E27FC236}">
                <a16:creationId xmlns:a16="http://schemas.microsoft.com/office/drawing/2014/main" id="{C5DADF91-2E40-4C9E-9DFE-3ACF9BE60029}"/>
              </a:ext>
            </a:extLst>
          </p:cNvPr>
          <p:cNvSpPr>
            <a:spLocks xmlns:a="http://schemas.openxmlformats.org/drawingml/2006/main" noGrp="1"/>
          </p:cNvSpPr>
          <p:nvPr/>
        </p:nvSpPr>
        <p:spPr>
          <a:xfrm xmlns:a="http://schemas.openxmlformats.org/drawingml/2006/main">
            <a:off x="514350" y="1809750"/>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DEADLINES</a:t>
            </a:r>
          </a:p>
        </p:txBody>
      </p:sp>
      <p:sp>
        <p:nvSpPr>
          <p:cNvPr id="6" name="text-115">
            <a:extLst xmlns:a="http://schemas.openxmlformats.org/drawingml/2006/main">
              <a:ext uri="{FF2B5EF4-FFF2-40B4-BE49-F238E27FC236}">
                <a16:creationId xmlns:a16="http://schemas.microsoft.com/office/drawing/2014/main" id="{06BFBED4-B86E-4DBB-9099-5342A1F43357}"/>
              </a:ext>
            </a:extLst>
          </p:cNvPr>
          <p:cNvSpPr>
            <a:spLocks xmlns:a="http://schemas.openxmlformats.org/drawingml/2006/main" noGrp="1"/>
          </p:cNvSpPr>
          <p:nvPr/>
        </p:nvSpPr>
        <p:spPr>
          <a:xfrm xmlns:a="http://schemas.openxmlformats.org/drawingml/2006/main">
            <a:off x="514350" y="2324100"/>
            <a:ext cx="49530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0">
                <a:solidFill>
                  <a:srgbClr val="5F6368"/>
                </a:solidFill>
              </a:defRPr>
            </a:pPr>
            <a:r>
              <a:rPr sz="1725" b="0">
                <a:solidFill>
                  <a:srgbClr val="5F6368"/>
                </a:solidFill>
              </a:rPr>
              <a:t>Normally posted Monday before the laboratory.
Due before your own section; no late pre-labs.</a:t>
            </a:r>
          </a:p>
          <a:p xmlns:a="http://schemas.openxmlformats.org/drawingml/2006/main">
            <a:pPr algn="l">
              <a:buNone/>
              <a:defRPr sz="1725" b="0">
                <a:solidFill>
                  <a:srgbClr val="5F6368"/>
                </a:solidFill>
              </a:defRPr>
            </a:pPr>
            <a:r>
              <a:rPr sz="1725" b="0">
                <a:solidFill>
                  <a:srgbClr val="5F6368"/>
                </a:solidFill>
              </a:rPr>
              <a:t>Reports lose 25% for each day or partial day late.</a:t>
            </a:r>
          </a:p>
        </p:txBody>
      </p:sp>
      <p:sp>
        <p:nvSpPr>
          <p:cNvPr id="7" name="rule-116">
            <a:extLst xmlns:a="http://schemas.openxmlformats.org/drawingml/2006/main">
              <a:ext uri="{FF2B5EF4-FFF2-40B4-BE49-F238E27FC236}">
                <a16:creationId xmlns:a16="http://schemas.microsoft.com/office/drawing/2014/main" id="{EC92690F-819A-48DE-BAA7-476324EF8014}"/>
              </a:ext>
            </a:extLst>
          </p:cNvPr>
          <p:cNvSpPr>
            <a:spLocks xmlns:a="http://schemas.openxmlformats.org/drawingml/2006/main" noGrp="1"/>
          </p:cNvSpPr>
          <p:nvPr/>
        </p:nvSpPr>
        <p:spPr>
          <a:xfrm xmlns:a="http://schemas.openxmlformats.org/drawingml/2006/main">
            <a:off x="514350" y="3571875"/>
            <a:ext cx="4953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8" name="text-117">
            <a:extLst xmlns:a="http://schemas.openxmlformats.org/drawingml/2006/main">
              <a:ext uri="{FF2B5EF4-FFF2-40B4-BE49-F238E27FC236}">
                <a16:creationId xmlns:a16="http://schemas.microsoft.com/office/drawing/2014/main" id="{DCE7A859-BF63-4A3D-B5EC-362DC4C38B0F}"/>
              </a:ext>
            </a:extLst>
          </p:cNvPr>
          <p:cNvSpPr>
            <a:spLocks xmlns:a="http://schemas.openxmlformats.org/drawingml/2006/main" noGrp="1"/>
          </p:cNvSpPr>
          <p:nvPr/>
        </p:nvSpPr>
        <p:spPr>
          <a:xfrm xmlns:a="http://schemas.openxmlformats.org/drawingml/2006/main">
            <a:off x="6172200" y="1809750"/>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INTEGRITY</a:t>
            </a:r>
          </a:p>
        </p:txBody>
      </p:sp>
      <p:sp>
        <p:nvSpPr>
          <p:cNvPr id="9" name="text-118">
            <a:extLst xmlns:a="http://schemas.openxmlformats.org/drawingml/2006/main">
              <a:ext uri="{FF2B5EF4-FFF2-40B4-BE49-F238E27FC236}">
                <a16:creationId xmlns:a16="http://schemas.microsoft.com/office/drawing/2014/main" id="{5E30C4C5-F5A7-40DA-9C3F-F4C168915960}"/>
              </a:ext>
            </a:extLst>
          </p:cNvPr>
          <p:cNvSpPr>
            <a:spLocks xmlns:a="http://schemas.openxmlformats.org/drawingml/2006/main" noGrp="1"/>
          </p:cNvSpPr>
          <p:nvPr/>
        </p:nvSpPr>
        <p:spPr>
          <a:xfrm xmlns:a="http://schemas.openxmlformats.org/drawingml/2006/main">
            <a:off x="6172200" y="2324100"/>
            <a:ext cx="49530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0">
                <a:solidFill>
                  <a:srgbClr val="5F6368"/>
                </a:solidFill>
              </a:defRPr>
            </a:pPr>
            <a:r>
              <a:rPr sz="1725" b="0">
                <a:solidFill>
                  <a:srgbClr val="5F6368"/>
                </a:solidFill>
              </a:rPr>
              <a:t>Discuss approaches, but do not copy solutions or share MATLAB, Python, or Simulink files.</a:t>
            </a:r>
          </a:p>
        </p:txBody>
      </p:sp>
      <p:sp>
        <p:nvSpPr>
          <p:cNvPr id="10" name="rule-119">
            <a:extLst xmlns:a="http://schemas.openxmlformats.org/drawingml/2006/main">
              <a:ext uri="{FF2B5EF4-FFF2-40B4-BE49-F238E27FC236}">
                <a16:creationId xmlns:a16="http://schemas.microsoft.com/office/drawing/2014/main" id="{BEB00DC9-5C84-4C30-9B07-648FB40179A1}"/>
              </a:ext>
            </a:extLst>
          </p:cNvPr>
          <p:cNvSpPr>
            <a:spLocks xmlns:a="http://schemas.openxmlformats.org/drawingml/2006/main" noGrp="1"/>
          </p:cNvSpPr>
          <p:nvPr/>
        </p:nvSpPr>
        <p:spPr>
          <a:xfrm xmlns:a="http://schemas.openxmlformats.org/drawingml/2006/main">
            <a:off x="6172200" y="3571875"/>
            <a:ext cx="4953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11" name="text-120">
            <a:extLst xmlns:a="http://schemas.openxmlformats.org/drawingml/2006/main">
              <a:ext uri="{FF2B5EF4-FFF2-40B4-BE49-F238E27FC236}">
                <a16:creationId xmlns:a16="http://schemas.microsoft.com/office/drawing/2014/main" id="{9F7195E7-FE0B-4005-9888-5DB002DF47FD}"/>
              </a:ext>
            </a:extLst>
          </p:cNvPr>
          <p:cNvSpPr>
            <a:spLocks xmlns:a="http://schemas.openxmlformats.org/drawingml/2006/main" noGrp="1"/>
          </p:cNvSpPr>
          <p:nvPr/>
        </p:nvSpPr>
        <p:spPr>
          <a:xfrm xmlns:a="http://schemas.openxmlformats.org/drawingml/2006/main">
            <a:off x="514350" y="3905250"/>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MAKE-UPS</a:t>
            </a:r>
          </a:p>
        </p:txBody>
      </p:sp>
      <p:sp>
        <p:nvSpPr>
          <p:cNvPr id="12" name="text-121">
            <a:extLst xmlns:a="http://schemas.openxmlformats.org/drawingml/2006/main">
              <a:ext uri="{FF2B5EF4-FFF2-40B4-BE49-F238E27FC236}">
                <a16:creationId xmlns:a16="http://schemas.microsoft.com/office/drawing/2014/main" id="{59D789CA-9E0A-4740-B756-A39779DA56EE}"/>
              </a:ext>
            </a:extLst>
          </p:cNvPr>
          <p:cNvSpPr>
            <a:spLocks xmlns:a="http://schemas.openxmlformats.org/drawingml/2006/main" noGrp="1"/>
          </p:cNvSpPr>
          <p:nvPr/>
        </p:nvSpPr>
        <p:spPr>
          <a:xfrm xmlns:a="http://schemas.openxmlformats.org/drawingml/2006/main">
            <a:off x="514350" y="4419600"/>
            <a:ext cx="49530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0">
                <a:solidFill>
                  <a:srgbClr val="5F6368"/>
                </a:solidFill>
              </a:defRPr>
            </a:pPr>
            <a:r>
              <a:rPr sz="1725" b="0">
                <a:solidFill>
                  <a:srgbClr val="5F6368"/>
                </a:solidFill>
              </a:rPr>
              <a:t>Require instructor/GTA availability, space, and the correct equipment setup.</a:t>
            </a:r>
          </a:p>
        </p:txBody>
      </p:sp>
      <p:sp>
        <p:nvSpPr>
          <p:cNvPr id="13" name="rule-122">
            <a:extLst xmlns:a="http://schemas.openxmlformats.org/drawingml/2006/main">
              <a:ext uri="{FF2B5EF4-FFF2-40B4-BE49-F238E27FC236}">
                <a16:creationId xmlns:a16="http://schemas.microsoft.com/office/drawing/2014/main" id="{4AB554E9-04DB-4141-9841-974375320563}"/>
              </a:ext>
            </a:extLst>
          </p:cNvPr>
          <p:cNvSpPr>
            <a:spLocks xmlns:a="http://schemas.openxmlformats.org/drawingml/2006/main" noGrp="1"/>
          </p:cNvSpPr>
          <p:nvPr/>
        </p:nvSpPr>
        <p:spPr>
          <a:xfrm xmlns:a="http://schemas.openxmlformats.org/drawingml/2006/main">
            <a:off x="514350" y="5667375"/>
            <a:ext cx="4953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14" name="text-123">
            <a:extLst xmlns:a="http://schemas.openxmlformats.org/drawingml/2006/main">
              <a:ext uri="{FF2B5EF4-FFF2-40B4-BE49-F238E27FC236}">
                <a16:creationId xmlns:a16="http://schemas.microsoft.com/office/drawing/2014/main" id="{91D6E121-32E8-443B-AF89-05D40AE04268}"/>
              </a:ext>
            </a:extLst>
          </p:cNvPr>
          <p:cNvSpPr>
            <a:spLocks xmlns:a="http://schemas.openxmlformats.org/drawingml/2006/main" noGrp="1"/>
          </p:cNvSpPr>
          <p:nvPr/>
        </p:nvSpPr>
        <p:spPr>
          <a:xfrm xmlns:a="http://schemas.openxmlformats.org/drawingml/2006/main">
            <a:off x="6172200" y="3905250"/>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VERIFICATION</a:t>
            </a:r>
          </a:p>
        </p:txBody>
      </p:sp>
      <p:sp>
        <p:nvSpPr>
          <p:cNvPr id="15" name="text-124">
            <a:extLst xmlns:a="http://schemas.openxmlformats.org/drawingml/2006/main">
              <a:ext uri="{FF2B5EF4-FFF2-40B4-BE49-F238E27FC236}">
                <a16:creationId xmlns:a16="http://schemas.microsoft.com/office/drawing/2014/main" id="{8C0A8CA5-60E9-4D19-9DB1-869F8F745D66}"/>
              </a:ext>
            </a:extLst>
          </p:cNvPr>
          <p:cNvSpPr>
            <a:spLocks xmlns:a="http://schemas.openxmlformats.org/drawingml/2006/main" noGrp="1"/>
          </p:cNvSpPr>
          <p:nvPr/>
        </p:nvSpPr>
        <p:spPr>
          <a:xfrm xmlns:a="http://schemas.openxmlformats.org/drawingml/2006/main">
            <a:off x="6172200" y="4419600"/>
            <a:ext cx="49530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0">
                <a:solidFill>
                  <a:srgbClr val="5F6368"/>
                </a:solidFill>
              </a:defRPr>
            </a:pPr>
            <a:r>
              <a:rPr sz="1725" b="0">
                <a:solidFill>
                  <a:srgbClr val="5F6368"/>
                </a:solidFill>
              </a:rPr>
              <a:t>Any pre-lab or report may include a brief oral check of your understanding.</a:t>
            </a:r>
          </a:p>
        </p:txBody>
      </p:sp>
      <p:sp>
        <p:nvSpPr>
          <p:cNvPr id="16" name="rule-125">
            <a:extLst xmlns:a="http://schemas.openxmlformats.org/drawingml/2006/main">
              <a:ext uri="{FF2B5EF4-FFF2-40B4-BE49-F238E27FC236}">
                <a16:creationId xmlns:a16="http://schemas.microsoft.com/office/drawing/2014/main" id="{4A903A02-FD3F-4FBF-9348-AE14A4B7EB4C}"/>
              </a:ext>
            </a:extLst>
          </p:cNvPr>
          <p:cNvSpPr>
            <a:spLocks xmlns:a="http://schemas.openxmlformats.org/drawingml/2006/main" noGrp="1"/>
          </p:cNvSpPr>
          <p:nvPr/>
        </p:nvSpPr>
        <p:spPr>
          <a:xfrm xmlns:a="http://schemas.openxmlformats.org/drawingml/2006/main">
            <a:off x="6172200" y="5667375"/>
            <a:ext cx="4953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17" name="text-126">
            <a:extLst xmlns:a="http://schemas.openxmlformats.org/drawingml/2006/main">
              <a:ext uri="{FF2B5EF4-FFF2-40B4-BE49-F238E27FC236}">
                <a16:creationId xmlns:a16="http://schemas.microsoft.com/office/drawing/2014/main" id="{88DA7CA7-0501-4CBE-81D9-7471404CD5C4}"/>
              </a:ext>
            </a:extLst>
          </p:cNvPr>
          <p:cNvSpPr>
            <a:spLocks xmlns:a="http://schemas.openxmlformats.org/drawingml/2006/main" noGrp="1"/>
          </p:cNvSpPr>
          <p:nvPr/>
        </p:nvSpPr>
        <p:spPr>
          <a:xfrm xmlns:a="http://schemas.openxmlformats.org/drawingml/2006/main">
            <a:off x="514350" y="5715000"/>
            <a:ext cx="10668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725" b="1">
                <a:solidFill>
                  <a:srgbClr val="111111"/>
                </a:solidFill>
              </a:defRPr>
            </a:pPr>
            <a:r>
              <a:rPr sz="1725" b="1">
                <a:solidFill>
                  <a:srgbClr val="111111"/>
                </a:solidFill>
              </a:rPr>
              <a:t>Notify the instructor during the first two weeks about approved conflicts or accommodation needs.</a:t>
            </a:r>
          </a:p>
        </p:txBody>
      </p:sp>
    </p:spTree>
    <p:extLst>
      <p:ext uri="{BB962C8B-B14F-4D97-AF65-F5344CB8AC3E}">
        <p14:creationId xmlns:p14="http://schemas.microsoft.com/office/powerpoint/2010/main" val="747451869"/>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30CFB6C5-4F95-49ED-A6B1-E7776746F828}"/>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3B8CE610-7168-4156-9382-CCEB855F8A27}"/>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Three-minute report exercise</a:t>
            </a:r>
          </a:p>
        </p:txBody>
      </p:sp>
      <p:sp>
        <p:nvSpPr>
          <p:cNvPr id="3" name="body">
            <a:extLst xmlns:a="http://schemas.openxmlformats.org/drawingml/2006/main">
              <a:ext uri="{FF2B5EF4-FFF2-40B4-BE49-F238E27FC236}">
                <a16:creationId xmlns:a16="http://schemas.microsoft.com/office/drawing/2014/main" id="{FD7B242C-22AE-40A1-9C5E-D75F7C933585}"/>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Draft sentence</a:t>
            </a:r>
          </a:p>
        </p:txBody>
      </p:sp>
      <p:sp>
        <p:nvSpPr>
          <p:cNvPr id="4" name="body">
            <a:extLst xmlns:a="http://schemas.openxmlformats.org/drawingml/2006/main">
              <a:ext uri="{FF2B5EF4-FFF2-40B4-BE49-F238E27FC236}">
                <a16:creationId xmlns:a16="http://schemas.microsoft.com/office/drawing/2014/main" id="{629C6CB3-AD19-41D6-8872-A2091D65E0C1}"/>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“The frequency was 1.47. Theory was 1.50. The error was small because of human error.”</a:t>
            </a:r>
          </a:p>
        </p:txBody>
      </p:sp>
      <p:sp>
        <p:nvSpPr>
          <p:cNvPr id="5" name="body">
            <a:extLst xmlns:a="http://schemas.openxmlformats.org/drawingml/2006/main">
              <a:ext uri="{FF2B5EF4-FFF2-40B4-BE49-F238E27FC236}">
                <a16:creationId xmlns:a16="http://schemas.microsoft.com/office/drawing/2014/main" id="{82905CBD-554C-4CD0-A5AD-72FD56B176B9}"/>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Work with a neighbor</a:t>
            </a:r>
          </a:p>
        </p:txBody>
      </p:sp>
      <p:sp>
        <p:nvSpPr>
          <p:cNvPr id="6" name="body">
            <a:extLst xmlns:a="http://schemas.openxmlformats.org/drawingml/2006/main">
              <a:ext uri="{FF2B5EF4-FFF2-40B4-BE49-F238E27FC236}">
                <a16:creationId xmlns:a16="http://schemas.microsoft.com/office/drawing/2014/main" id="{A98B0E7F-C32A-4C5D-9809-9B07C850C43E}"/>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Add units, calculate the discrepancy, and separate the observation from its interpretation.</a:t>
            </a:r>
          </a:p>
        </p:txBody>
      </p:sp>
      <p:sp>
        <p:nvSpPr>
          <p:cNvPr id="7" name="body">
            <a:extLst xmlns:a="http://schemas.openxmlformats.org/drawingml/2006/main">
              <a:ext uri="{FF2B5EF4-FFF2-40B4-BE49-F238E27FC236}">
                <a16:creationId xmlns:a16="http://schemas.microsoft.com/office/drawing/2014/main" id="{60FC8806-7433-46D4-B164-8C7548E44E1F}"/>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Then decide</a:t>
            </a:r>
          </a:p>
        </p:txBody>
      </p:sp>
      <p:sp>
        <p:nvSpPr>
          <p:cNvPr id="8" name="body">
            <a:extLst xmlns:a="http://schemas.openxmlformats.org/drawingml/2006/main">
              <a:ext uri="{FF2B5EF4-FFF2-40B4-BE49-F238E27FC236}">
                <a16:creationId xmlns:a16="http://schemas.microsoft.com/office/drawing/2014/main" id="{31C6D262-A9FA-41FC-A70E-873DCF92A22C}"/>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What information is missing before you can judge agreement? Suggest one check that would help.</a:t>
            </a:r>
          </a:p>
        </p:txBody>
      </p:sp>
      <p:sp>
        <p:nvSpPr>
          <p:cNvPr id="9" name="footnote">
            <a:extLst xmlns:a="http://schemas.openxmlformats.org/drawingml/2006/main">
              <a:ext uri="{FF2B5EF4-FFF2-40B4-BE49-F238E27FC236}">
                <a16:creationId xmlns:a16="http://schemas.microsoft.com/office/drawing/2014/main" id="{8DEEC4DE-8AB2-48F1-AF4A-E02DF9F55347}"/>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Invented teaching values. No submission is required for this in-class discussion.</a:t>
            </a:r>
          </a:p>
        </p:txBody>
      </p:sp>
      <p:sp>
        <p:nvSpPr>
          <p:cNvPr id="10" name="page">
            <a:extLst xmlns:a="http://schemas.openxmlformats.org/drawingml/2006/main">
              <a:ext uri="{FF2B5EF4-FFF2-40B4-BE49-F238E27FC236}">
                <a16:creationId xmlns:a16="http://schemas.microsoft.com/office/drawing/2014/main" id="{5581A54E-56A3-496C-8AA0-790B17AE69B2}"/>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34</a:t>
            </a:r>
          </a:p>
        </p:txBody>
      </p:sp>
    </p:spTree>
    <p:extLst>
      <p:ext uri="{BB962C8B-B14F-4D97-AF65-F5344CB8AC3E}">
        <p14:creationId xmlns:p14="http://schemas.microsoft.com/office/powerpoint/2010/main" val="106574700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E3CD8B2A-2A78-4743-B232-DCC07E072560}"/>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2FA2E2D7-BE60-4245-96B8-C04260A6810E}"/>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Exercise debrief</a:t>
            </a:r>
          </a:p>
        </p:txBody>
      </p:sp>
      <p:sp>
        <p:nvSpPr>
          <p:cNvPr id="3" name="body">
            <a:extLst xmlns:a="http://schemas.openxmlformats.org/drawingml/2006/main">
              <a:ext uri="{FF2B5EF4-FFF2-40B4-BE49-F238E27FC236}">
                <a16:creationId xmlns:a16="http://schemas.microsoft.com/office/drawing/2014/main" id="{93584969-2851-4BC8-8B92-4DED8365A351}"/>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Results and comparison</a:t>
            </a:r>
          </a:p>
        </p:txBody>
      </p:sp>
      <p:sp>
        <p:nvSpPr>
          <p:cNvPr id="4" name="body">
            <a:extLst xmlns:a="http://schemas.openxmlformats.org/drawingml/2006/main">
              <a:ext uri="{FF2B5EF4-FFF2-40B4-BE49-F238E27FC236}">
                <a16:creationId xmlns:a16="http://schemas.microsoft.com/office/drawing/2014/main" id="{C629852F-2C8A-45C1-ADFC-219BD3424164}"/>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The measured frequency was 1.47 Hz and the predicted frequency was 1.50 Hz. Their difference was 0.03 Hz, or 2.0% of the prediction.</a:t>
            </a:r>
          </a:p>
        </p:txBody>
      </p:sp>
      <p:sp>
        <p:nvSpPr>
          <p:cNvPr id="5" name="body">
            <a:extLst xmlns:a="http://schemas.openxmlformats.org/drawingml/2006/main">
              <a:ext uri="{FF2B5EF4-FFF2-40B4-BE49-F238E27FC236}">
                <a16:creationId xmlns:a16="http://schemas.microsoft.com/office/drawing/2014/main" id="{BBCACCB5-C3CE-4592-B4BC-5F5C1FD1AA8B}"/>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Discussion</a:t>
            </a:r>
          </a:p>
        </p:txBody>
      </p:sp>
      <p:sp>
        <p:nvSpPr>
          <p:cNvPr id="6" name="body">
            <a:extLst xmlns:a="http://schemas.openxmlformats.org/drawingml/2006/main">
              <a:ext uri="{FF2B5EF4-FFF2-40B4-BE49-F238E27FC236}">
                <a16:creationId xmlns:a16="http://schemas.microsoft.com/office/drawing/2014/main" id="{80867E0A-0C3A-45CE-98A3-B37FAE52B1C1}"/>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This discrepancy alone does not establish acceptable agreement. Timing and model-parameter uncertainties are needed.</a:t>
            </a:r>
          </a:p>
        </p:txBody>
      </p:sp>
      <p:sp>
        <p:nvSpPr>
          <p:cNvPr id="7" name="body">
            <a:extLst xmlns:a="http://schemas.openxmlformats.org/drawingml/2006/main">
              <a:ext uri="{FF2B5EF4-FFF2-40B4-BE49-F238E27FC236}">
                <a16:creationId xmlns:a16="http://schemas.microsoft.com/office/drawing/2014/main" id="{A7F0FDBC-C38E-4644-8E71-48F3E55375FC}"/>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Useful next check</a:t>
            </a:r>
          </a:p>
        </p:txBody>
      </p:sp>
      <p:sp>
        <p:nvSpPr>
          <p:cNvPr id="8" name="body">
            <a:extLst xmlns:a="http://schemas.openxmlformats.org/drawingml/2006/main">
              <a:ext uri="{FF2B5EF4-FFF2-40B4-BE49-F238E27FC236}">
                <a16:creationId xmlns:a16="http://schemas.microsoft.com/office/drawing/2014/main" id="{CE745577-F70A-45CA-9866-78E8CC02BF97}"/>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Verify the time calibration and repeat the frequency estimate using a stated interval and method.</a:t>
            </a:r>
          </a:p>
        </p:txBody>
      </p:sp>
      <p:sp>
        <p:nvSpPr>
          <p:cNvPr id="9" name="footnote">
            <a:extLst xmlns:a="http://schemas.openxmlformats.org/drawingml/2006/main">
              <a:ext uri="{FF2B5EF4-FFF2-40B4-BE49-F238E27FC236}">
                <a16:creationId xmlns:a16="http://schemas.microsoft.com/office/drawing/2014/main" id="{4E0EC0C7-2163-427C-9F1A-BDDEF8863DD2}"/>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Other specific, evidence-based checks can also be valid.</a:t>
            </a:r>
          </a:p>
        </p:txBody>
      </p:sp>
      <p:sp>
        <p:nvSpPr>
          <p:cNvPr id="10" name="page">
            <a:extLst xmlns:a="http://schemas.openxmlformats.org/drawingml/2006/main">
              <a:ext uri="{FF2B5EF4-FFF2-40B4-BE49-F238E27FC236}">
                <a16:creationId xmlns:a16="http://schemas.microsoft.com/office/drawing/2014/main" id="{39D6688E-8296-472E-A563-AE3D0C8B00D8}"/>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35</a:t>
            </a:r>
          </a:p>
        </p:txBody>
      </p:sp>
    </p:spTree>
    <p:extLst>
      <p:ext uri="{BB962C8B-B14F-4D97-AF65-F5344CB8AC3E}">
        <p14:creationId xmlns:p14="http://schemas.microsoft.com/office/powerpoint/2010/main" val="94489107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eyebrow-11">
            <a:extLst xmlns:a="http://schemas.openxmlformats.org/drawingml/2006/main">
              <a:ext uri="{FF2B5EF4-FFF2-40B4-BE49-F238E27FC236}">
                <a16:creationId xmlns:a16="http://schemas.microsoft.com/office/drawing/2014/main" id="{97210612-5E3B-41C7-BCBF-7584D1976835}"/>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11">
            <a:extLst xmlns:a="http://schemas.openxmlformats.org/drawingml/2006/main">
              <a:ext uri="{FF2B5EF4-FFF2-40B4-BE49-F238E27FC236}">
                <a16:creationId xmlns:a16="http://schemas.microsoft.com/office/drawing/2014/main" id="{E3062CA2-E033-4A65-B63E-12E75613191C}"/>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The first dates</a:t>
            </a:r>
          </a:p>
        </p:txBody>
      </p:sp>
      <p:sp>
        <p:nvSpPr>
          <p:cNvPr id="3" name="rule-129">
            <a:extLst xmlns:a="http://schemas.openxmlformats.org/drawingml/2006/main">
              <a:ext uri="{FF2B5EF4-FFF2-40B4-BE49-F238E27FC236}">
                <a16:creationId xmlns:a16="http://schemas.microsoft.com/office/drawing/2014/main" id="{DDF6A35C-6649-46B7-8600-E2FEB1A8765B}"/>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11">
            <a:extLst xmlns:a="http://schemas.openxmlformats.org/drawingml/2006/main">
              <a:ext uri="{FF2B5EF4-FFF2-40B4-BE49-F238E27FC236}">
                <a16:creationId xmlns:a16="http://schemas.microsoft.com/office/drawing/2014/main" id="{B086C563-4B8E-41E7-AFC9-A084E990FF79}"/>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36</a:t>
            </a:r>
          </a:p>
        </p:txBody>
      </p:sp>
      <p:sp>
        <p:nvSpPr>
          <p:cNvPr id="5" name="rule-131">
            <a:extLst xmlns:a="http://schemas.openxmlformats.org/drawingml/2006/main">
              <a:ext uri="{FF2B5EF4-FFF2-40B4-BE49-F238E27FC236}">
                <a16:creationId xmlns:a16="http://schemas.microsoft.com/office/drawing/2014/main" id="{74A77D63-DC3B-4058-A7E5-38205D3A72BC}"/>
              </a:ext>
            </a:extLst>
          </p:cNvPr>
          <p:cNvSpPr>
            <a:spLocks xmlns:a="http://schemas.openxmlformats.org/drawingml/2006/main" noGrp="1"/>
          </p:cNvSpPr>
          <p:nvPr/>
        </p:nvSpPr>
        <p:spPr>
          <a:xfrm xmlns:a="http://schemas.openxmlformats.org/drawingml/2006/main">
            <a:off x="1200150" y="3333750"/>
            <a:ext cx="9715500" cy="0"/>
          </a:xfrm>
          <a:prstGeom xmlns:a="http://schemas.openxmlformats.org/drawingml/2006/main" prst="line">
            <a:avLst/>
          </a:prstGeom>
          <a:noFill xmlns:a="http://schemas.openxmlformats.org/drawingml/2006/main"/>
          <a:ln xmlns:a="http://schemas.openxmlformats.org/drawingml/2006/main" w="19050">
            <a:solidFill>
              <a:srgbClr val="C8CBD0"/>
            </a:solidFill>
            <a:prstDash val="solid"/>
          </a:ln>
        </p:spPr>
      </p:sp>
      <p:sp>
        <p:nvSpPr>
          <p:cNvPr id="6" name="shape-132">
            <a:extLst xmlns:a="http://schemas.openxmlformats.org/drawingml/2006/main">
              <a:ext uri="{FF2B5EF4-FFF2-40B4-BE49-F238E27FC236}">
                <a16:creationId xmlns:a16="http://schemas.microsoft.com/office/drawing/2014/main" id="{3183955E-C6CC-4D55-AC88-30737359B899}"/>
              </a:ext>
            </a:extLst>
          </p:cNvPr>
          <p:cNvSpPr>
            <a:spLocks xmlns:a="http://schemas.openxmlformats.org/drawingml/2006/main" noGrp="1"/>
          </p:cNvSpPr>
          <p:nvPr/>
        </p:nvSpPr>
        <p:spPr>
          <a:xfrm xmlns:a="http://schemas.openxmlformats.org/drawingml/2006/main">
            <a:off x="1104900" y="3190875"/>
            <a:ext cx="209550" cy="209550"/>
          </a:xfrm>
          <a:prstGeom xmlns:a="http://schemas.openxmlformats.org/drawingml/2006/main" prst="ellipse">
            <a:avLst/>
          </a:prstGeom>
          <a:solidFill xmlns:a="http://schemas.openxmlformats.org/drawingml/2006/main">
            <a:srgbClr val="881C1C"/>
          </a:solidFill>
          <a:ln xmlns:a="http://schemas.openxmlformats.org/drawingml/2006/main" w="19050">
            <a:solidFill>
              <a:srgbClr val="FFFFFF"/>
            </a:solidFill>
            <a:prstDash val="solid"/>
          </a:ln>
        </p:spPr>
      </p:sp>
      <p:sp>
        <p:nvSpPr>
          <p:cNvPr id="7" name="text-133">
            <a:extLst xmlns:a="http://schemas.openxmlformats.org/drawingml/2006/main">
              <a:ext uri="{FF2B5EF4-FFF2-40B4-BE49-F238E27FC236}">
                <a16:creationId xmlns:a16="http://schemas.microsoft.com/office/drawing/2014/main" id="{848E3444-DAC1-4AE7-81B1-859181F1148D}"/>
              </a:ext>
            </a:extLst>
          </p:cNvPr>
          <p:cNvSpPr>
            <a:spLocks xmlns:a="http://schemas.openxmlformats.org/drawingml/2006/main" noGrp="1"/>
          </p:cNvSpPr>
          <p:nvPr/>
        </p:nvSpPr>
        <p:spPr>
          <a:xfrm xmlns:a="http://schemas.openxmlformats.org/drawingml/2006/main">
            <a:off x="533400" y="2000250"/>
            <a:ext cx="152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75" b="1">
                <a:solidFill>
                  <a:srgbClr val="881C1C"/>
                </a:solidFill>
              </a:defRPr>
            </a:pPr>
            <a:r>
              <a:rPr sz="1575" b="1">
                <a:solidFill>
                  <a:srgbClr val="881C1C"/>
                </a:solidFill>
              </a:rPr>
              <a:t>SEP 9</a:t>
            </a:r>
          </a:p>
        </p:txBody>
      </p:sp>
      <p:sp>
        <p:nvSpPr>
          <p:cNvPr id="8" name="text-134">
            <a:extLst xmlns:a="http://schemas.openxmlformats.org/drawingml/2006/main">
              <a:ext uri="{FF2B5EF4-FFF2-40B4-BE49-F238E27FC236}">
                <a16:creationId xmlns:a16="http://schemas.microsoft.com/office/drawing/2014/main" id="{88D3DE11-0BCE-4C3C-9262-C60F2CB10D48}"/>
              </a:ext>
            </a:extLst>
          </p:cNvPr>
          <p:cNvSpPr>
            <a:spLocks xmlns:a="http://schemas.openxmlformats.org/drawingml/2006/main" noGrp="1"/>
          </p:cNvSpPr>
          <p:nvPr/>
        </p:nvSpPr>
        <p:spPr>
          <a:xfrm xmlns:a="http://schemas.openxmlformats.org/drawingml/2006/main">
            <a:off x="133350" y="2476500"/>
            <a:ext cx="2190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800" b="1">
                <a:solidFill>
                  <a:srgbClr val="111111"/>
                </a:solidFill>
              </a:defRPr>
            </a:pPr>
            <a:r>
              <a:rPr sz="1800" b="1">
                <a:solidFill>
                  <a:srgbClr val="111111"/>
                </a:solidFill>
              </a:rPr>
              <a:t>Orientation</a:t>
            </a:r>
          </a:p>
        </p:txBody>
      </p:sp>
      <p:sp>
        <p:nvSpPr>
          <p:cNvPr id="9" name="text-135">
            <a:extLst xmlns:a="http://schemas.openxmlformats.org/drawingml/2006/main">
              <a:ext uri="{FF2B5EF4-FFF2-40B4-BE49-F238E27FC236}">
                <a16:creationId xmlns:a16="http://schemas.microsoft.com/office/drawing/2014/main" id="{DBD34BD7-172A-4262-91A9-E6771C8DEA30}"/>
              </a:ext>
            </a:extLst>
          </p:cNvPr>
          <p:cNvSpPr>
            <a:spLocks xmlns:a="http://schemas.openxmlformats.org/drawingml/2006/main" noGrp="1"/>
          </p:cNvSpPr>
          <p:nvPr/>
        </p:nvSpPr>
        <p:spPr>
          <a:xfrm xmlns:a="http://schemas.openxmlformats.org/drawingml/2006/main">
            <a:off x="57150" y="3714750"/>
            <a:ext cx="2333625"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00" b="0">
                <a:solidFill>
                  <a:srgbClr val="5F6368"/>
                </a:solidFill>
              </a:defRPr>
            </a:pPr>
            <a:r>
              <a:rPr sz="1500" b="0">
                <a:solidFill>
                  <a:srgbClr val="5F6368"/>
                </a:solidFill>
              </a:rPr>
              <a:t>Course workflow and expectations</a:t>
            </a:r>
          </a:p>
        </p:txBody>
      </p:sp>
      <p:sp>
        <p:nvSpPr>
          <p:cNvPr id="10" name="shape-136">
            <a:extLst xmlns:a="http://schemas.openxmlformats.org/drawingml/2006/main">
              <a:ext uri="{FF2B5EF4-FFF2-40B4-BE49-F238E27FC236}">
                <a16:creationId xmlns:a16="http://schemas.microsoft.com/office/drawing/2014/main" id="{DA243BB3-18A2-4850-80ED-A7A209B13EDE}"/>
              </a:ext>
            </a:extLst>
          </p:cNvPr>
          <p:cNvSpPr>
            <a:spLocks xmlns:a="http://schemas.openxmlformats.org/drawingml/2006/main" noGrp="1"/>
          </p:cNvSpPr>
          <p:nvPr/>
        </p:nvSpPr>
        <p:spPr>
          <a:xfrm xmlns:a="http://schemas.openxmlformats.org/drawingml/2006/main">
            <a:off x="4152900" y="3190875"/>
            <a:ext cx="209550" cy="209550"/>
          </a:xfrm>
          <a:prstGeom xmlns:a="http://schemas.openxmlformats.org/drawingml/2006/main" prst="ellipse">
            <a:avLst/>
          </a:prstGeom>
          <a:solidFill xmlns:a="http://schemas.openxmlformats.org/drawingml/2006/main">
            <a:srgbClr val="881C1C"/>
          </a:solidFill>
          <a:ln xmlns:a="http://schemas.openxmlformats.org/drawingml/2006/main" w="19050">
            <a:solidFill>
              <a:srgbClr val="FFFFFF"/>
            </a:solidFill>
            <a:prstDash val="solid"/>
          </a:ln>
        </p:spPr>
      </p:sp>
      <p:sp>
        <p:nvSpPr>
          <p:cNvPr id="11" name="text-137">
            <a:extLst xmlns:a="http://schemas.openxmlformats.org/drawingml/2006/main">
              <a:ext uri="{FF2B5EF4-FFF2-40B4-BE49-F238E27FC236}">
                <a16:creationId xmlns:a16="http://schemas.microsoft.com/office/drawing/2014/main" id="{A821981E-3C2A-4AC0-B859-6945436FAE00}"/>
              </a:ext>
            </a:extLst>
          </p:cNvPr>
          <p:cNvSpPr>
            <a:spLocks xmlns:a="http://schemas.openxmlformats.org/drawingml/2006/main" noGrp="1"/>
          </p:cNvSpPr>
          <p:nvPr/>
        </p:nvSpPr>
        <p:spPr>
          <a:xfrm xmlns:a="http://schemas.openxmlformats.org/drawingml/2006/main">
            <a:off x="3581400" y="2000250"/>
            <a:ext cx="152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75" b="1">
                <a:solidFill>
                  <a:srgbClr val="881C1C"/>
                </a:solidFill>
              </a:defRPr>
            </a:pPr>
            <a:r>
              <a:rPr sz="1575" b="1">
                <a:solidFill>
                  <a:srgbClr val="881C1C"/>
                </a:solidFill>
              </a:rPr>
              <a:t>SEP 14</a:t>
            </a:r>
          </a:p>
        </p:txBody>
      </p:sp>
      <p:sp>
        <p:nvSpPr>
          <p:cNvPr id="12" name="text-138">
            <a:extLst xmlns:a="http://schemas.openxmlformats.org/drawingml/2006/main">
              <a:ext uri="{FF2B5EF4-FFF2-40B4-BE49-F238E27FC236}">
                <a16:creationId xmlns:a16="http://schemas.microsoft.com/office/drawing/2014/main" id="{50633EF2-A4C1-4023-925F-A145B99DBCEE}"/>
              </a:ext>
            </a:extLst>
          </p:cNvPr>
          <p:cNvSpPr>
            <a:spLocks xmlns:a="http://schemas.openxmlformats.org/drawingml/2006/main" noGrp="1"/>
          </p:cNvSpPr>
          <p:nvPr/>
        </p:nvSpPr>
        <p:spPr>
          <a:xfrm xmlns:a="http://schemas.openxmlformats.org/drawingml/2006/main">
            <a:off x="3181350" y="2476500"/>
            <a:ext cx="2190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3750"/>
          </a:bodyPr>
          <a:lstStyle xmlns:a="http://schemas.openxmlformats.org/drawingml/2006/main"/>
          <a:p xmlns:a="http://schemas.openxmlformats.org/drawingml/2006/main">
            <a:pPr algn="ctr">
              <a:buNone/>
              <a:defRPr sz="1800" b="1">
                <a:solidFill>
                  <a:srgbClr val="111111"/>
                </a:solidFill>
              </a:defRPr>
            </a:pPr>
            <a:r>
              <a:rPr sz="1800" b="1">
                <a:solidFill>
                  <a:srgbClr val="111111"/>
                </a:solidFill>
              </a:rPr>
              <a:t>Measurement fundamentals</a:t>
            </a:r>
          </a:p>
        </p:txBody>
      </p:sp>
      <p:sp>
        <p:nvSpPr>
          <p:cNvPr id="13" name="text-139">
            <a:extLst xmlns:a="http://schemas.openxmlformats.org/drawingml/2006/main">
              <a:ext uri="{FF2B5EF4-FFF2-40B4-BE49-F238E27FC236}">
                <a16:creationId xmlns:a16="http://schemas.microsoft.com/office/drawing/2014/main" id="{C634F69F-13D3-4B5A-8B51-96B4FB42DA22}"/>
              </a:ext>
            </a:extLst>
          </p:cNvPr>
          <p:cNvSpPr>
            <a:spLocks xmlns:a="http://schemas.openxmlformats.org/drawingml/2006/main" noGrp="1"/>
          </p:cNvSpPr>
          <p:nvPr/>
        </p:nvSpPr>
        <p:spPr>
          <a:xfrm xmlns:a="http://schemas.openxmlformats.org/drawingml/2006/main">
            <a:off x="3105150" y="3714750"/>
            <a:ext cx="2333625"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00" b="0">
                <a:solidFill>
                  <a:srgbClr val="5F6368"/>
                </a:solidFill>
              </a:defRPr>
            </a:pPr>
            <a:r>
              <a:rPr sz="1500" b="0">
                <a:solidFill>
                  <a:srgbClr val="5F6368"/>
                </a:solidFill>
              </a:rPr>
              <a:t>How to design and interpret measurements</a:t>
            </a:r>
          </a:p>
        </p:txBody>
      </p:sp>
      <p:sp>
        <p:nvSpPr>
          <p:cNvPr id="14" name="shape-140">
            <a:extLst xmlns:a="http://schemas.openxmlformats.org/drawingml/2006/main">
              <a:ext uri="{FF2B5EF4-FFF2-40B4-BE49-F238E27FC236}">
                <a16:creationId xmlns:a16="http://schemas.microsoft.com/office/drawing/2014/main" id="{82AB55F7-8BF9-44D7-95BE-8B63EC18C490}"/>
              </a:ext>
            </a:extLst>
          </p:cNvPr>
          <p:cNvSpPr>
            <a:spLocks xmlns:a="http://schemas.openxmlformats.org/drawingml/2006/main" noGrp="1"/>
          </p:cNvSpPr>
          <p:nvPr/>
        </p:nvSpPr>
        <p:spPr>
          <a:xfrm xmlns:a="http://schemas.openxmlformats.org/drawingml/2006/main">
            <a:off x="7200900" y="3190875"/>
            <a:ext cx="209550" cy="209550"/>
          </a:xfrm>
          <a:prstGeom xmlns:a="http://schemas.openxmlformats.org/drawingml/2006/main" prst="ellipse">
            <a:avLst/>
          </a:prstGeom>
          <a:solidFill xmlns:a="http://schemas.openxmlformats.org/drawingml/2006/main">
            <a:srgbClr val="3D8DFF"/>
          </a:solidFill>
          <a:ln xmlns:a="http://schemas.openxmlformats.org/drawingml/2006/main" w="19050">
            <a:solidFill>
              <a:srgbClr val="FFFFFF"/>
            </a:solidFill>
            <a:prstDash val="solid"/>
          </a:ln>
        </p:spPr>
      </p:sp>
      <p:sp>
        <p:nvSpPr>
          <p:cNvPr id="15" name="text-141">
            <a:extLst xmlns:a="http://schemas.openxmlformats.org/drawingml/2006/main">
              <a:ext uri="{FF2B5EF4-FFF2-40B4-BE49-F238E27FC236}">
                <a16:creationId xmlns:a16="http://schemas.microsoft.com/office/drawing/2014/main" id="{53C7D3D7-570F-4917-A31B-E9A9D24722D1}"/>
              </a:ext>
            </a:extLst>
          </p:cNvPr>
          <p:cNvSpPr>
            <a:spLocks xmlns:a="http://schemas.openxmlformats.org/drawingml/2006/main" noGrp="1"/>
          </p:cNvSpPr>
          <p:nvPr/>
        </p:nvSpPr>
        <p:spPr>
          <a:xfrm xmlns:a="http://schemas.openxmlformats.org/drawingml/2006/main">
            <a:off x="6629400" y="2000250"/>
            <a:ext cx="152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75" b="1">
                <a:solidFill>
                  <a:srgbClr val="881C1C"/>
                </a:solidFill>
              </a:defRPr>
            </a:pPr>
            <a:r>
              <a:rPr sz="1575" b="1">
                <a:solidFill>
                  <a:srgbClr val="881C1C"/>
                </a:solidFill>
              </a:rPr>
              <a:t>SEP 21–25</a:t>
            </a:r>
          </a:p>
        </p:txBody>
      </p:sp>
      <p:sp>
        <p:nvSpPr>
          <p:cNvPr id="16" name="text-142">
            <a:extLst xmlns:a="http://schemas.openxmlformats.org/drawingml/2006/main">
              <a:ext uri="{FF2B5EF4-FFF2-40B4-BE49-F238E27FC236}">
                <a16:creationId xmlns:a16="http://schemas.microsoft.com/office/drawing/2014/main" id="{58CF0E63-1983-409F-AC11-C1FD14025504}"/>
              </a:ext>
            </a:extLst>
          </p:cNvPr>
          <p:cNvSpPr>
            <a:spLocks xmlns:a="http://schemas.openxmlformats.org/drawingml/2006/main" noGrp="1"/>
          </p:cNvSpPr>
          <p:nvPr/>
        </p:nvSpPr>
        <p:spPr>
          <a:xfrm xmlns:a="http://schemas.openxmlformats.org/drawingml/2006/main">
            <a:off x="6229350" y="2476500"/>
            <a:ext cx="2190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800" b="1">
                <a:solidFill>
                  <a:srgbClr val="111111"/>
                </a:solidFill>
              </a:defRPr>
            </a:pPr>
            <a:r>
              <a:rPr sz="1800" b="1">
                <a:solidFill>
                  <a:srgbClr val="111111"/>
                </a:solidFill>
              </a:rPr>
              <a:t>Lab 1</a:t>
            </a:r>
          </a:p>
        </p:txBody>
      </p:sp>
      <p:sp>
        <p:nvSpPr>
          <p:cNvPr id="17" name="text-143">
            <a:extLst xmlns:a="http://schemas.openxmlformats.org/drawingml/2006/main">
              <a:ext uri="{FF2B5EF4-FFF2-40B4-BE49-F238E27FC236}">
                <a16:creationId xmlns:a16="http://schemas.microsoft.com/office/drawing/2014/main" id="{05072CCA-0B7B-4881-B336-796CEF6D5FA3}"/>
              </a:ext>
            </a:extLst>
          </p:cNvPr>
          <p:cNvSpPr>
            <a:spLocks xmlns:a="http://schemas.openxmlformats.org/drawingml/2006/main" noGrp="1"/>
          </p:cNvSpPr>
          <p:nvPr/>
        </p:nvSpPr>
        <p:spPr>
          <a:xfrm xmlns:a="http://schemas.openxmlformats.org/drawingml/2006/main">
            <a:off x="6153150" y="3714750"/>
            <a:ext cx="2333625"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00" b="0">
                <a:solidFill>
                  <a:srgbClr val="5F6368"/>
                </a:solidFill>
              </a:defRPr>
            </a:pPr>
            <a:r>
              <a:rPr sz="1500" b="0">
                <a:solidFill>
                  <a:srgbClr val="5F6368"/>
                </a:solidFill>
              </a:rPr>
              <a:t>Theory Monday; pre-lab due before your section</a:t>
            </a:r>
          </a:p>
        </p:txBody>
      </p:sp>
      <p:sp>
        <p:nvSpPr>
          <p:cNvPr id="18" name="shape-144">
            <a:extLst xmlns:a="http://schemas.openxmlformats.org/drawingml/2006/main">
              <a:ext uri="{FF2B5EF4-FFF2-40B4-BE49-F238E27FC236}">
                <a16:creationId xmlns:a16="http://schemas.microsoft.com/office/drawing/2014/main" id="{C079AB78-8B57-46DB-B1B2-48C80DFBEA86}"/>
              </a:ext>
            </a:extLst>
          </p:cNvPr>
          <p:cNvSpPr>
            <a:spLocks xmlns:a="http://schemas.openxmlformats.org/drawingml/2006/main" noGrp="1"/>
          </p:cNvSpPr>
          <p:nvPr/>
        </p:nvSpPr>
        <p:spPr>
          <a:xfrm xmlns:a="http://schemas.openxmlformats.org/drawingml/2006/main">
            <a:off x="10248900" y="3190875"/>
            <a:ext cx="209550" cy="209550"/>
          </a:xfrm>
          <a:prstGeom xmlns:a="http://schemas.openxmlformats.org/drawingml/2006/main" prst="ellipse">
            <a:avLst/>
          </a:prstGeom>
          <a:solidFill xmlns:a="http://schemas.openxmlformats.org/drawingml/2006/main">
            <a:srgbClr val="881C1C"/>
          </a:solidFill>
          <a:ln xmlns:a="http://schemas.openxmlformats.org/drawingml/2006/main" w="19050">
            <a:solidFill>
              <a:srgbClr val="FFFFFF"/>
            </a:solidFill>
            <a:prstDash val="solid"/>
          </a:ln>
        </p:spPr>
      </p:sp>
      <p:sp>
        <p:nvSpPr>
          <p:cNvPr id="19" name="text-145">
            <a:extLst xmlns:a="http://schemas.openxmlformats.org/drawingml/2006/main">
              <a:ext uri="{FF2B5EF4-FFF2-40B4-BE49-F238E27FC236}">
                <a16:creationId xmlns:a16="http://schemas.microsoft.com/office/drawing/2014/main" id="{7074D1F4-08E1-4D61-942E-2D6FF68F687F}"/>
              </a:ext>
            </a:extLst>
          </p:cNvPr>
          <p:cNvSpPr>
            <a:spLocks xmlns:a="http://schemas.openxmlformats.org/drawingml/2006/main" noGrp="1"/>
          </p:cNvSpPr>
          <p:nvPr/>
        </p:nvSpPr>
        <p:spPr>
          <a:xfrm xmlns:a="http://schemas.openxmlformats.org/drawingml/2006/main">
            <a:off x="9677400" y="2000250"/>
            <a:ext cx="152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75" b="1">
                <a:solidFill>
                  <a:srgbClr val="881C1C"/>
                </a:solidFill>
              </a:defRPr>
            </a:pPr>
            <a:r>
              <a:rPr sz="1575" b="1">
                <a:solidFill>
                  <a:srgbClr val="881C1C"/>
                </a:solidFill>
              </a:rPr>
              <a:t>OCT 5</a:t>
            </a:r>
          </a:p>
        </p:txBody>
      </p:sp>
      <p:sp>
        <p:nvSpPr>
          <p:cNvPr id="20" name="text-146">
            <a:extLst xmlns:a="http://schemas.openxmlformats.org/drawingml/2006/main">
              <a:ext uri="{FF2B5EF4-FFF2-40B4-BE49-F238E27FC236}">
                <a16:creationId xmlns:a16="http://schemas.microsoft.com/office/drawing/2014/main" id="{3C44D40C-0E02-4508-AB0A-A93E542F2312}"/>
              </a:ext>
            </a:extLst>
          </p:cNvPr>
          <p:cNvSpPr>
            <a:spLocks xmlns:a="http://schemas.openxmlformats.org/drawingml/2006/main" noGrp="1"/>
          </p:cNvSpPr>
          <p:nvPr/>
        </p:nvSpPr>
        <p:spPr>
          <a:xfrm xmlns:a="http://schemas.openxmlformats.org/drawingml/2006/main">
            <a:off x="9277350" y="2476500"/>
            <a:ext cx="2190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800" b="1">
                <a:solidFill>
                  <a:srgbClr val="111111"/>
                </a:solidFill>
              </a:defRPr>
            </a:pPr>
            <a:r>
              <a:rPr sz="1800" b="1">
                <a:solidFill>
                  <a:srgbClr val="111111"/>
                </a:solidFill>
              </a:rPr>
              <a:t>Lab 1 report</a:t>
            </a:r>
          </a:p>
        </p:txBody>
      </p:sp>
      <p:sp>
        <p:nvSpPr>
          <p:cNvPr id="21" name="text-147">
            <a:extLst xmlns:a="http://schemas.openxmlformats.org/drawingml/2006/main">
              <a:ext uri="{FF2B5EF4-FFF2-40B4-BE49-F238E27FC236}">
                <a16:creationId xmlns:a16="http://schemas.microsoft.com/office/drawing/2014/main" id="{F94F9892-78FA-4013-BAEE-4A007BC79D3B}"/>
              </a:ext>
            </a:extLst>
          </p:cNvPr>
          <p:cNvSpPr>
            <a:spLocks xmlns:a="http://schemas.openxmlformats.org/drawingml/2006/main" noGrp="1"/>
          </p:cNvSpPr>
          <p:nvPr/>
        </p:nvSpPr>
        <p:spPr>
          <a:xfrm xmlns:a="http://schemas.openxmlformats.org/drawingml/2006/main">
            <a:off x="9201150" y="3714750"/>
            <a:ext cx="2333625"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00" b="0">
                <a:solidFill>
                  <a:srgbClr val="5F6368"/>
                </a:solidFill>
              </a:defRPr>
            </a:pPr>
            <a:r>
              <a:rPr sz="1500" b="0">
                <a:solidFill>
                  <a:srgbClr val="5F6368"/>
                </a:solidFill>
              </a:rPr>
              <a:t>Submit on Canvas by 11:59 PM</a:t>
            </a:r>
          </a:p>
        </p:txBody>
      </p:sp>
      <p:sp>
        <p:nvSpPr>
          <p:cNvPr id="22" name="text-148">
            <a:extLst xmlns:a="http://schemas.openxmlformats.org/drawingml/2006/main">
              <a:ext uri="{FF2B5EF4-FFF2-40B4-BE49-F238E27FC236}">
                <a16:creationId xmlns:a16="http://schemas.microsoft.com/office/drawing/2014/main" id="{7D7282CF-6581-4055-9122-CBAEB1791508}"/>
              </a:ext>
            </a:extLst>
          </p:cNvPr>
          <p:cNvSpPr>
            <a:spLocks xmlns:a="http://schemas.openxmlformats.org/drawingml/2006/main" noGrp="1"/>
          </p:cNvSpPr>
          <p:nvPr/>
        </p:nvSpPr>
        <p:spPr>
          <a:xfrm xmlns:a="http://schemas.openxmlformats.org/drawingml/2006/main">
            <a:off x="3714750" y="5334000"/>
            <a:ext cx="4762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2025" b="1">
                <a:solidFill>
                  <a:srgbClr val="881C1C"/>
                </a:solidFill>
              </a:defRPr>
            </a:pPr>
            <a:r>
              <a:rPr sz="2025" b="1">
                <a:solidFill>
                  <a:srgbClr val="881C1C"/>
                </a:solidFill>
              </a:rPr>
              <a:t>There is no laboratory in Weeks 1–2.</a:t>
            </a:r>
          </a:p>
        </p:txBody>
      </p:sp>
    </p:spTree>
    <p:extLst>
      <p:ext uri="{BB962C8B-B14F-4D97-AF65-F5344CB8AC3E}">
        <p14:creationId xmlns:p14="http://schemas.microsoft.com/office/powerpoint/2010/main" val="854960901"/>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eyebrow-12">
            <a:extLst xmlns:a="http://schemas.openxmlformats.org/drawingml/2006/main">
              <a:ext uri="{FF2B5EF4-FFF2-40B4-BE49-F238E27FC236}">
                <a16:creationId xmlns:a16="http://schemas.microsoft.com/office/drawing/2014/main" id="{2DBE8CB8-F50F-4FDF-B089-25FC8B395F5D}"/>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12">
            <a:extLst xmlns:a="http://schemas.openxmlformats.org/drawingml/2006/main">
              <a:ext uri="{FF2B5EF4-FFF2-40B4-BE49-F238E27FC236}">
                <a16:creationId xmlns:a16="http://schemas.microsoft.com/office/drawing/2014/main" id="{2FB1C80D-48B0-41A6-838D-2C4B06D2B6C2}"/>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Preparation for Lab 1</a:t>
            </a:r>
          </a:p>
        </p:txBody>
      </p:sp>
      <p:sp>
        <p:nvSpPr>
          <p:cNvPr id="3" name="rule-151">
            <a:extLst xmlns:a="http://schemas.openxmlformats.org/drawingml/2006/main">
              <a:ext uri="{FF2B5EF4-FFF2-40B4-BE49-F238E27FC236}">
                <a16:creationId xmlns:a16="http://schemas.microsoft.com/office/drawing/2014/main" id="{D7033D58-124B-4E5D-9DF3-DEF30F7116B6}"/>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12">
            <a:extLst xmlns:a="http://schemas.openxmlformats.org/drawingml/2006/main">
              <a:ext uri="{FF2B5EF4-FFF2-40B4-BE49-F238E27FC236}">
                <a16:creationId xmlns:a16="http://schemas.microsoft.com/office/drawing/2014/main" id="{569180CB-6F96-4469-B3C6-EE71BF29BC09}"/>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37</a:t>
            </a:r>
          </a:p>
        </p:txBody>
      </p:sp>
      <p:sp>
        <p:nvSpPr>
          <p:cNvPr id="5" name="text-153">
            <a:extLst xmlns:a="http://schemas.openxmlformats.org/drawingml/2006/main">
              <a:ext uri="{FF2B5EF4-FFF2-40B4-BE49-F238E27FC236}">
                <a16:creationId xmlns:a16="http://schemas.microsoft.com/office/drawing/2014/main" id="{EE37286E-6AE1-4DDC-83D8-334973027EA1}"/>
              </a:ext>
            </a:extLst>
          </p:cNvPr>
          <p:cNvSpPr>
            <a:spLocks xmlns:a="http://schemas.openxmlformats.org/drawingml/2006/main" noGrp="1"/>
          </p:cNvSpPr>
          <p:nvPr/>
        </p:nvSpPr>
        <p:spPr>
          <a:xfrm xmlns:a="http://schemas.openxmlformats.org/drawingml/2006/main">
            <a:off x="514350" y="1733550"/>
            <a:ext cx="3524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BEFORE WEEK 3</a:t>
            </a:r>
          </a:p>
        </p:txBody>
      </p:sp>
      <p:sp>
        <p:nvSpPr>
          <p:cNvPr id="6" name="text-154">
            <a:extLst xmlns:a="http://schemas.openxmlformats.org/drawingml/2006/main">
              <a:ext uri="{FF2B5EF4-FFF2-40B4-BE49-F238E27FC236}">
                <a16:creationId xmlns:a16="http://schemas.microsoft.com/office/drawing/2014/main" id="{9C35213F-A639-49CC-8944-22A5F2E7F0E1}"/>
              </a:ext>
            </a:extLst>
          </p:cNvPr>
          <p:cNvSpPr>
            <a:spLocks xmlns:a="http://schemas.openxmlformats.org/drawingml/2006/main" noGrp="1"/>
          </p:cNvSpPr>
          <p:nvPr/>
        </p:nvSpPr>
        <p:spPr>
          <a:xfrm xmlns:a="http://schemas.openxmlformats.org/drawingml/2006/main">
            <a:off x="514350" y="2343150"/>
            <a:ext cx="6858000"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76200" tIns="38100" rIns="76200" bIns="38100" anchor="t">
            <a:normAutofit fontScale="100000"/>
          </a:bodyPr>
          <a:lstStyle xmlns:a="http://schemas.openxmlformats.org/drawingml/2006/main"/>
          <a:p xmlns:a="http://schemas.openxmlformats.org/drawingml/2006/main">
            <a:pPr algn="l">
              <a:buNone/>
              <a:defRPr sz="1875" b="0">
                <a:solidFill>
                  <a:srgbClr val="111111"/>
                </a:solidFill>
              </a:defRPr>
            </a:pPr>
            <a:r>
              <a:rPr sz="1875" b="0">
                <a:solidFill>
                  <a:srgbClr val="111111"/>
                </a:solidFill>
              </a:rPr>
              <a:t>• Confirm your laboratory section and GTA on Canvas</a:t>
            </a:r>
          </a:p>
          <a:p xmlns:a="http://schemas.openxmlformats.org/drawingml/2006/main">
            <a:pPr algn="l">
              <a:buNone/>
              <a:defRPr sz="1875" b="0">
                <a:solidFill>
                  <a:srgbClr val="111111"/>
                </a:solidFill>
              </a:defRPr>
            </a:pPr>
            <a:r>
              <a:rPr sz="1875" b="0">
                <a:solidFill>
                  <a:srgbClr val="111111"/>
                </a:solidFill>
              </a:rPr>
              <a:t>• Install or update MATLAB and Simulink</a:t>
            </a:r>
          </a:p>
          <a:p xmlns:a="http://schemas.openxmlformats.org/drawingml/2006/main">
            <a:pPr algn="l">
              <a:buNone/>
              <a:defRPr sz="1875" b="0">
                <a:solidFill>
                  <a:srgbClr val="111111"/>
                </a:solidFill>
              </a:defRPr>
            </a:pPr>
            <a:r>
              <a:rPr sz="1875" b="0">
                <a:solidFill>
                  <a:srgbClr val="111111"/>
                </a:solidFill>
              </a:rPr>
              <a:t>• Open the Lab 1 instructions and Pre-lab 1</a:t>
            </a:r>
          </a:p>
          <a:p xmlns:a="http://schemas.openxmlformats.org/drawingml/2006/main">
            <a:pPr algn="l">
              <a:buNone/>
              <a:defRPr sz="1875" b="0">
                <a:solidFill>
                  <a:srgbClr val="111111"/>
                </a:solidFill>
              </a:defRPr>
            </a:pPr>
            <a:r>
              <a:rPr sz="1875" b="0">
                <a:solidFill>
                  <a:srgbClr val="111111"/>
                </a:solidFill>
              </a:rPr>
              <a:t>• Know where and when your section meets</a:t>
            </a:r>
          </a:p>
          <a:p xmlns:a="http://schemas.openxmlformats.org/drawingml/2006/main">
            <a:pPr algn="l">
              <a:buNone/>
              <a:defRPr sz="1875" b="0">
                <a:solidFill>
                  <a:srgbClr val="111111"/>
                </a:solidFill>
              </a:defRPr>
            </a:pPr>
            <a:r>
              <a:rPr sz="1875" b="0">
                <a:solidFill>
                  <a:srgbClr val="111111"/>
                </a:solidFill>
              </a:rPr>
              <a:t>• Bring a way to save your experimental data</a:t>
            </a:r>
          </a:p>
        </p:txBody>
      </p:sp>
      <p:sp>
        <p:nvSpPr>
          <p:cNvPr id="7" name="shape-155">
            <a:extLst xmlns:a="http://schemas.openxmlformats.org/drawingml/2006/main">
              <a:ext uri="{FF2B5EF4-FFF2-40B4-BE49-F238E27FC236}">
                <a16:creationId xmlns:a16="http://schemas.microsoft.com/office/drawing/2014/main" id="{44900608-55C0-4F34-8B56-D24E57D4982C}"/>
              </a:ext>
            </a:extLst>
          </p:cNvPr>
          <p:cNvSpPr>
            <a:spLocks xmlns:a="http://schemas.openxmlformats.org/drawingml/2006/main" noGrp="1"/>
          </p:cNvSpPr>
          <p:nvPr/>
        </p:nvSpPr>
        <p:spPr>
          <a:xfrm xmlns:a="http://schemas.openxmlformats.org/drawingml/2006/main">
            <a:off x="8001000" y="2095500"/>
            <a:ext cx="3048000" cy="2857500"/>
          </a:xfrm>
          <a:prstGeom xmlns:a="http://schemas.openxmlformats.org/drawingml/2006/main" prst="rect">
            <a:avLst/>
          </a:prstGeom>
          <a:solidFill xmlns:a="http://schemas.openxmlformats.org/drawingml/2006/main">
            <a:srgbClr val="EAF5FB"/>
          </a:solidFill>
          <a:ln xmlns:a="http://schemas.openxmlformats.org/drawingml/2006/main" w="9525">
            <a:solidFill>
              <a:srgbClr val="3D8DFF"/>
            </a:solidFill>
            <a:prstDash val="solid"/>
          </a:ln>
        </p:spPr>
      </p:sp>
      <p:sp>
        <p:nvSpPr>
          <p:cNvPr id="8" name="text-156">
            <a:extLst xmlns:a="http://schemas.openxmlformats.org/drawingml/2006/main">
              <a:ext uri="{FF2B5EF4-FFF2-40B4-BE49-F238E27FC236}">
                <a16:creationId xmlns:a16="http://schemas.microsoft.com/office/drawing/2014/main" id="{76C9DD51-F197-4DB3-A4E2-29173195AAED}"/>
              </a:ext>
            </a:extLst>
          </p:cNvPr>
          <p:cNvSpPr>
            <a:spLocks xmlns:a="http://schemas.openxmlformats.org/drawingml/2006/main" noGrp="1"/>
          </p:cNvSpPr>
          <p:nvPr/>
        </p:nvSpPr>
        <p:spPr>
          <a:xfrm xmlns:a="http://schemas.openxmlformats.org/drawingml/2006/main">
            <a:off x="8286750" y="2428875"/>
            <a:ext cx="247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75" b="1">
                <a:solidFill>
                  <a:srgbClr val="3D8DFF"/>
                </a:solidFill>
              </a:defRPr>
            </a:pPr>
            <a:r>
              <a:rPr sz="1575" b="1">
                <a:solidFill>
                  <a:srgbClr val="3D8DFF"/>
                </a:solidFill>
              </a:rPr>
              <a:t>ONE QUESTION</a:t>
            </a:r>
          </a:p>
        </p:txBody>
      </p:sp>
      <p:sp>
        <p:nvSpPr>
          <p:cNvPr id="9" name="text-157">
            <a:extLst xmlns:a="http://schemas.openxmlformats.org/drawingml/2006/main">
              <a:ext uri="{FF2B5EF4-FFF2-40B4-BE49-F238E27FC236}">
                <a16:creationId xmlns:a16="http://schemas.microsoft.com/office/drawing/2014/main" id="{78F11A5C-5EF6-4DB4-BAC7-4BA3DFAA2901}"/>
              </a:ext>
            </a:extLst>
          </p:cNvPr>
          <p:cNvSpPr>
            <a:spLocks xmlns:a="http://schemas.openxmlformats.org/drawingml/2006/main" noGrp="1"/>
          </p:cNvSpPr>
          <p:nvPr/>
        </p:nvSpPr>
        <p:spPr>
          <a:xfrm xmlns:a="http://schemas.openxmlformats.org/drawingml/2006/main">
            <a:off x="8382000" y="3143250"/>
            <a:ext cx="2286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ctr">
            <a:normAutofit fontScale="85960"/>
          </a:bodyPr>
          <a:lstStyle xmlns:a="http://schemas.openxmlformats.org/drawingml/2006/main"/>
          <a:p xmlns:a="http://schemas.openxmlformats.org/drawingml/2006/main">
            <a:pPr algn="ctr">
              <a:buNone/>
              <a:defRPr sz="2325" b="1">
                <a:solidFill>
                  <a:srgbClr val="111111"/>
                </a:solidFill>
              </a:defRPr>
            </a:pPr>
            <a:r>
              <a:rPr sz="2325" b="1">
                <a:solidFill>
                  <a:srgbClr val="111111"/>
                </a:solidFill>
              </a:rPr>
              <a:t>What would make you trust an experimental result?</a:t>
            </a:r>
          </a:p>
        </p:txBody>
      </p:sp>
      <p:sp>
        <p:nvSpPr>
          <p:cNvPr id="10" name="text-158">
            <a:extLst xmlns:a="http://schemas.openxmlformats.org/drawingml/2006/main">
              <a:ext uri="{FF2B5EF4-FFF2-40B4-BE49-F238E27FC236}">
                <a16:creationId xmlns:a16="http://schemas.microsoft.com/office/drawing/2014/main" id="{DD1F3EF8-A189-4CA9-B514-D7D9CB6562A2}"/>
              </a:ext>
            </a:extLst>
          </p:cNvPr>
          <p:cNvSpPr>
            <a:spLocks xmlns:a="http://schemas.openxmlformats.org/drawingml/2006/main" noGrp="1"/>
          </p:cNvSpPr>
          <p:nvPr/>
        </p:nvSpPr>
        <p:spPr>
          <a:xfrm xmlns:a="http://schemas.openxmlformats.org/drawingml/2006/main">
            <a:off x="514350" y="577215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875" b="1">
                <a:solidFill>
                  <a:srgbClr val="881C1C"/>
                </a:solidFill>
              </a:defRPr>
            </a:pPr>
            <a:r>
              <a:rPr sz="1875" b="1">
                <a:solidFill>
                  <a:srgbClr val="881C1C"/>
                </a:solidFill>
              </a:rPr>
              <a:t>Questions &amp; discussion</a:t>
            </a:r>
          </a:p>
        </p:txBody>
      </p:sp>
    </p:spTree>
    <p:extLst>
      <p:ext uri="{BB962C8B-B14F-4D97-AF65-F5344CB8AC3E}">
        <p14:creationId xmlns:p14="http://schemas.microsoft.com/office/powerpoint/2010/main" val="142307010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2026-09-09T02:25:59.5660000Z</dcterms:created>
  <dcterms:modified xsi:type="dcterms:W3CDTF">2026-09-09T02:25:59.5660000Z</dcterms:modified>
</coreProperties>
</file>