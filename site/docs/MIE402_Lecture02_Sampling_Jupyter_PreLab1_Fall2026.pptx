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7c59956f0514e1b" /><Relationship Type="http://schemas.openxmlformats.org/officeDocument/2006/relationships/extended-properties" Target="/docProps/app.xml" Id="Rf140c7fc99164fab" /><Relationship Type="http://schemas.openxmlformats.org/officeDocument/2006/relationships/officeDocument" Target="/ppt/presentation.xml" Id="R3c05cfba6d5c4e8c" /></Relationships>
</file>

<file path=ppt/presentation.xml><?xml version="1.0" encoding="utf-8"?>
<p:presentation xmlns:p="http://schemas.openxmlformats.org/presentationml/2006/main">
  <p:sldMasterIdLst>
    <p:sldMasterId xmlns:r="http://schemas.openxmlformats.org/officeDocument/2006/relationships" id="2147483648" r:id="Rcf50d20a0f9d4c20"/>
  </p:sldMasterIdLst>
  <p:notesMasterIdLst>
    <p:notesMasterId xmlns:r="http://schemas.openxmlformats.org/officeDocument/2006/relationships" r:id="R921d8cb7316b445f"/>
  </p:notesMasterIdLst>
  <p:sldIdLst>
    <p:sldId xmlns:r="http://schemas.openxmlformats.org/officeDocument/2006/relationships" id="256" r:id="R32e4c321b845445f"/>
    <p:sldId xmlns:r="http://schemas.openxmlformats.org/officeDocument/2006/relationships" id="257" r:id="Rddf09333be7f4652"/>
    <p:sldId xmlns:r="http://schemas.openxmlformats.org/officeDocument/2006/relationships" id="258" r:id="R85c03b3da56d4aca"/>
    <p:sldId xmlns:r="http://schemas.openxmlformats.org/officeDocument/2006/relationships" id="259" r:id="Ra86af691959548b3"/>
    <p:sldId xmlns:r="http://schemas.openxmlformats.org/officeDocument/2006/relationships" id="260" r:id="R714f05da086743a1"/>
    <p:sldId xmlns:r="http://schemas.openxmlformats.org/officeDocument/2006/relationships" id="261" r:id="Rd158ca6cae874b16"/>
    <p:sldId xmlns:r="http://schemas.openxmlformats.org/officeDocument/2006/relationships" id="262" r:id="R06f9a9925ac7406e"/>
    <p:sldId xmlns:r="http://schemas.openxmlformats.org/officeDocument/2006/relationships" id="263" r:id="R785be6a44b8b4892"/>
    <p:sldId xmlns:r="http://schemas.openxmlformats.org/officeDocument/2006/relationships" id="264" r:id="Rac049f29224840b6"/>
    <p:sldId xmlns:r="http://schemas.openxmlformats.org/officeDocument/2006/relationships" id="265" r:id="R45499160393a4634"/>
    <p:sldId xmlns:r="http://schemas.openxmlformats.org/officeDocument/2006/relationships" id="266" r:id="R0b64c17f23944770"/>
    <p:sldId xmlns:r="http://schemas.openxmlformats.org/officeDocument/2006/relationships" id="267" r:id="R6fb0fcb12a4b498b"/>
    <p:sldId xmlns:r="http://schemas.openxmlformats.org/officeDocument/2006/relationships" id="268" r:id="R25d609e25fbd4b35"/>
    <p:sldId xmlns:r="http://schemas.openxmlformats.org/officeDocument/2006/relationships" id="269" r:id="Rc38af235a01e42b0"/>
    <p:sldId xmlns:r="http://schemas.openxmlformats.org/officeDocument/2006/relationships" id="270" r:id="R1fa1ca1ee74d495b"/>
    <p:sldId xmlns:r="http://schemas.openxmlformats.org/officeDocument/2006/relationships" id="271" r:id="R117bddc7d5114aa2"/>
    <p:sldId xmlns:r="http://schemas.openxmlformats.org/officeDocument/2006/relationships" id="272" r:id="R6099d96d75bc48e4"/>
    <p:sldId xmlns:r="http://schemas.openxmlformats.org/officeDocument/2006/relationships" id="273" r:id="R6a1cf82d789e4c51"/>
    <p:sldId xmlns:r="http://schemas.openxmlformats.org/officeDocument/2006/relationships" id="274" r:id="R40746bf1f7cd470f"/>
    <p:sldId xmlns:r="http://schemas.openxmlformats.org/officeDocument/2006/relationships" id="275" r:id="R1bc7ee8190f54630"/>
    <p:sldId xmlns:r="http://schemas.openxmlformats.org/officeDocument/2006/relationships" id="276" r:id="R7888aa4e3bbe407a"/>
    <p:sldId xmlns:r="http://schemas.openxmlformats.org/officeDocument/2006/relationships" id="277" r:id="Ra5e28b02f30f4890"/>
    <p:sldId xmlns:r="http://schemas.openxmlformats.org/officeDocument/2006/relationships" id="278" r:id="R2299c49dc05d432f"/>
    <p:sldId xmlns:r="http://schemas.openxmlformats.org/officeDocument/2006/relationships" id="279" r:id="R682fcb789551497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a75f0fefdfb49f9" /><Relationship Type="http://schemas.openxmlformats.org/officeDocument/2006/relationships/slideMaster" Target="/ppt/slideMasters/slideMaster1.xml" Id="Rcf50d20a0f9d4c20" /><Relationship Type="http://schemas.openxmlformats.org/officeDocument/2006/relationships/notesMaster" Target="/ppt/notesMasters/notesMaster1.xml" Id="R921d8cb7316b445f" /><Relationship Type="http://schemas.openxmlformats.org/officeDocument/2006/relationships/presProps" Target="/ppt/presProps.xml" Id="R409bd56850d54fed" /><Relationship Type="http://schemas.openxmlformats.org/officeDocument/2006/relationships/tableStyles" Target="/ppt/tableStyles.xml" Id="R6af57dd6b8ed4d5c" /><Relationship Type="http://schemas.openxmlformats.org/officeDocument/2006/relationships/slide" Target="/ppt/slides/slide1.xml" Id="R32e4c321b845445f" /><Relationship Type="http://schemas.openxmlformats.org/officeDocument/2006/relationships/slide" Target="/ppt/slides/slide2.xml" Id="Rddf09333be7f4652" /><Relationship Type="http://schemas.openxmlformats.org/officeDocument/2006/relationships/slide" Target="/ppt/slides/slide3.xml" Id="R85c03b3da56d4aca" /><Relationship Type="http://schemas.openxmlformats.org/officeDocument/2006/relationships/slide" Target="/ppt/slides/slide4.xml" Id="Ra86af691959548b3" /><Relationship Type="http://schemas.openxmlformats.org/officeDocument/2006/relationships/slide" Target="/ppt/slides/slide5.xml" Id="R714f05da086743a1" /><Relationship Type="http://schemas.openxmlformats.org/officeDocument/2006/relationships/slide" Target="/ppt/slides/slide6.xml" Id="Rd158ca6cae874b16" /><Relationship Type="http://schemas.openxmlformats.org/officeDocument/2006/relationships/slide" Target="/ppt/slides/slide7.xml" Id="R06f9a9925ac7406e" /><Relationship Type="http://schemas.openxmlformats.org/officeDocument/2006/relationships/slide" Target="/ppt/slides/slide8.xml" Id="R785be6a44b8b4892" /><Relationship Type="http://schemas.openxmlformats.org/officeDocument/2006/relationships/slide" Target="/ppt/slides/slide9.xml" Id="Rac049f29224840b6" /><Relationship Type="http://schemas.openxmlformats.org/officeDocument/2006/relationships/slide" Target="/ppt/slides/slide10.xml" Id="R45499160393a4634" /><Relationship Type="http://schemas.openxmlformats.org/officeDocument/2006/relationships/slide" Target="/ppt/slides/slide11.xml" Id="R0b64c17f23944770" /><Relationship Type="http://schemas.openxmlformats.org/officeDocument/2006/relationships/slide" Target="/ppt/slides/slide12.xml" Id="R6fb0fcb12a4b498b" /><Relationship Type="http://schemas.openxmlformats.org/officeDocument/2006/relationships/slide" Target="/ppt/slides/slide13.xml" Id="R25d609e25fbd4b35" /><Relationship Type="http://schemas.openxmlformats.org/officeDocument/2006/relationships/slide" Target="/ppt/slides/slide14.xml" Id="Rc38af235a01e42b0" /><Relationship Type="http://schemas.openxmlformats.org/officeDocument/2006/relationships/slide" Target="/ppt/slides/slide15.xml" Id="R1fa1ca1ee74d495b" /><Relationship Type="http://schemas.openxmlformats.org/officeDocument/2006/relationships/slide" Target="/ppt/slides/slide16.xml" Id="R117bddc7d5114aa2" /><Relationship Type="http://schemas.openxmlformats.org/officeDocument/2006/relationships/slide" Target="/ppt/slides/slide17.xml" Id="R6099d96d75bc48e4" /><Relationship Type="http://schemas.openxmlformats.org/officeDocument/2006/relationships/slide" Target="/ppt/slides/slide18.xml" Id="R6a1cf82d789e4c51" /><Relationship Type="http://schemas.openxmlformats.org/officeDocument/2006/relationships/slide" Target="/ppt/slides/slide19.xml" Id="R40746bf1f7cd470f" /><Relationship Type="http://schemas.openxmlformats.org/officeDocument/2006/relationships/slide" Target="/ppt/slides/slide20.xml" Id="R1bc7ee8190f54630" /><Relationship Type="http://schemas.openxmlformats.org/officeDocument/2006/relationships/slide" Target="/ppt/slides/slide21.xml" Id="R7888aa4e3bbe407a" /><Relationship Type="http://schemas.openxmlformats.org/officeDocument/2006/relationships/slide" Target="/ppt/slides/slide22.xml" Id="Ra5e28b02f30f4890" /><Relationship Type="http://schemas.openxmlformats.org/officeDocument/2006/relationships/slide" Target="/ppt/slides/slide23.xml" Id="R2299c49dc05d432f" /><Relationship Type="http://schemas.openxmlformats.org/officeDocument/2006/relationships/slide" Target="/ppt/slides/slide24.xml" Id="R682fcb789551497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f82efc13e8d48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83decb77bc84b7d" /><Relationship Type="http://schemas.openxmlformats.org/officeDocument/2006/relationships/notesMaster" Target="/ppt/notesMasters/notesMaster1.xml" Id="Rafc6d0ebedb14264" /></Relationships>
</file>

<file path=ppt/notesSlides/_rels/notesSlide2.xml.rels>&#65279;<?xml version="1.0" encoding="utf-8"?><Relationships xmlns="http://schemas.openxmlformats.org/package/2006/relationships"><Relationship Type="http://schemas.openxmlformats.org/officeDocument/2006/relationships/slide" Target="/ppt/slides/slide2.xml" Id="R95feeddd719e446f" /><Relationship Type="http://schemas.openxmlformats.org/officeDocument/2006/relationships/notesMaster" Target="/ppt/notesMasters/notesMaster1.xml" Id="Rb4f0d26501fc4cba"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0aaddf90294730" /><Relationship Type="http://schemas.openxmlformats.org/officeDocument/2006/relationships/notesMaster" Target="/ppt/notesMasters/notesMaster1.xml" Id="R1d86c528688443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ad43571e58746c6" /><Relationship Type="http://schemas.openxmlformats.org/officeDocument/2006/relationships/notesMaster" Target="/ppt/notesMasters/notesMaster1.xml" Id="R5d593963528243ef" /></Relationships>
</file>

<file path=ppt/notesSlides/_rels/notesSlide5.xml.rels>&#65279;<?xml version="1.0" encoding="utf-8"?><Relationships xmlns="http://schemas.openxmlformats.org/package/2006/relationships"><Relationship Type="http://schemas.openxmlformats.org/officeDocument/2006/relationships/slide" Target="/ppt/slides/slide5.xml" Id="Rb00d9f6532d74752" /><Relationship Type="http://schemas.openxmlformats.org/officeDocument/2006/relationships/notesMaster" Target="/ppt/notesMasters/notesMaster1.xml" Id="Rfded19bf61934646" /></Relationships>
</file>

<file path=ppt/notesSlides/_rels/notesSlide6.xml.rels>&#65279;<?xml version="1.0" encoding="utf-8"?><Relationships xmlns="http://schemas.openxmlformats.org/package/2006/relationships"><Relationship Type="http://schemas.openxmlformats.org/officeDocument/2006/relationships/slide" Target="/ppt/slides/slide6.xml" Id="Re2043ab0850d456b" /><Relationship Type="http://schemas.openxmlformats.org/officeDocument/2006/relationships/notesMaster" Target="/ppt/notesMasters/notesMaster1.xml" Id="R0ec7332c5965459d" /></Relationships>
</file>

<file path=ppt/notesSlides/_rels/notesSlide7.xml.rels>&#65279;<?xml version="1.0" encoding="utf-8"?><Relationships xmlns="http://schemas.openxmlformats.org/package/2006/relationships"><Relationship Type="http://schemas.openxmlformats.org/officeDocument/2006/relationships/slide" Target="/ppt/slides/slide7.xml" Id="Rcd06beada2334977" /><Relationship Type="http://schemas.openxmlformats.org/officeDocument/2006/relationships/notesMaster" Target="/ppt/notesMasters/notesMaster1.xml" Id="R893d9f994eda4c1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255532bdef1413e" /><Relationship Type="http://schemas.openxmlformats.org/officeDocument/2006/relationships/notesMaster" Target="/ppt/notesMasters/notesMaster1.xml" Id="Ra8fcfc70d1224c21" /></Relationships>
</file>

<file path=ppt/notesSlides/_rels/notesSlide9.xml.rels>&#65279;<?xml version="1.0" encoding="utf-8"?><Relationships xmlns="http://schemas.openxmlformats.org/package/2006/relationships"><Relationship Type="http://schemas.openxmlformats.org/officeDocument/2006/relationships/slide" Target="/ppt/slides/slide9.xml" Id="Rc15d2180d8f143d9" /><Relationship Type="http://schemas.openxmlformats.org/officeDocument/2006/relationships/notesMaster" Target="/ppt/notesMasters/notesMaster1.xml" Id="Rbbd5cc8967664cf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602bc480112498c" /><Relationship Type="http://schemas.openxmlformats.org/officeDocument/2006/relationships/notesMaster" Target="/ppt/notesMasters/notesMaster1.xml" Id="Ra9b72ecd9716410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7b84ef3e89c479a" /><Relationship Type="http://schemas.openxmlformats.org/officeDocument/2006/relationships/notesMaster" Target="/ppt/notesMasters/notesMaster1.xml" Id="Rae988b1d948f4de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570c26969534530" /><Relationship Type="http://schemas.openxmlformats.org/officeDocument/2006/relationships/notesMaster" Target="/ppt/notesMasters/notesMaster1.xml" Id="Rda11249d3ff64f9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d93a9762c9b45c9" /><Relationship Type="http://schemas.openxmlformats.org/officeDocument/2006/relationships/notesMaster" Target="/ppt/notesMasters/notesMaster1.xml" Id="R9d50d12481144a0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8b1e748a75444b3" /><Relationship Type="http://schemas.openxmlformats.org/officeDocument/2006/relationships/notesMaster" Target="/ppt/notesMasters/notesMaster1.xml" Id="R9c5ef9b1b71540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b2a257daf7142b8" /><Relationship Type="http://schemas.openxmlformats.org/officeDocument/2006/relationships/notesMaster" Target="/ppt/notesMasters/notesMaster1.xml" Id="R07dae11ba54b491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2222c1a694b4052" /><Relationship Type="http://schemas.openxmlformats.org/officeDocument/2006/relationships/notesMaster" Target="/ppt/notesMasters/notesMaster1.xml" Id="R337c94c063674af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288fb59b9564e03" /><Relationship Type="http://schemas.openxmlformats.org/officeDocument/2006/relationships/notesMaster" Target="/ppt/notesMasters/notesMaster1.xml" Id="R940de5e7deb8481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02dce1d647042ed" /><Relationship Type="http://schemas.openxmlformats.org/officeDocument/2006/relationships/notesMaster" Target="/ppt/notesMasters/notesMaster1.xml" Id="R2c3cd049afdf4ae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136c6bee4a94d1d" /><Relationship Type="http://schemas.openxmlformats.org/officeDocument/2006/relationships/notesMaster" Target="/ppt/notesMasters/notesMaster1.xml" Id="R8cadf4453de54cb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520ab6f0e894a89" /><Relationship Type="http://schemas.openxmlformats.org/officeDocument/2006/relationships/notesMaster" Target="/ppt/notesMasters/notesMaster1.xml" Id="R101849a58656438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81c1c114c3747a8" /><Relationship Type="http://schemas.openxmlformats.org/officeDocument/2006/relationships/notesMaster" Target="/ppt/notesMasters/notesMaster1.xml" Id="Raf7d2e786418405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35b61801ac24446" /><Relationship Type="http://schemas.openxmlformats.org/officeDocument/2006/relationships/notesMaster" Target="/ppt/notesMasters/notesMaster1.xml" Id="R38ce3c88bc35470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1efe2d91c3747bd" /><Relationship Type="http://schemas.openxmlformats.org/officeDocument/2006/relationships/notesMaster" Target="/ppt/notesMasters/notesMaster1.xml" Id="Rcdc60f105945465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49f9d7077d24107" /><Relationship Type="http://schemas.openxmlformats.org/officeDocument/2006/relationships/notesMaster" Target="/ppt/notesMasters/notesMaster1.xml" Id="Ra83138384e25493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0–1 minutes (1 minutes)</a:t>
            </a:r>
          </a:p>
          <a:p xmlns:a="http://schemas.openxmlformats.org/drawingml/2006/main">
            <a:r>
              <a:t/>
            </a:r>
          </a:p>
          <a:p xmlns:a="http://schemas.openxmlformats.org/drawingml/2006/main">
            <a:r>
              <a:t>Welcome students. Explain that today has two goals: understand what sampling can change, and learn enough Jupyter to complete Pre-Lab 1. Ask students to open the notebook now, but wait before running cells.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1–2 minutes (1 minutes)</a:t>
            </a:r>
          </a:p>
          <a:p xmlns:a="http://schemas.openxmlformats.org/drawingml/2006/main">
            <a:r>
              <a:t/>
            </a:r>
          </a:p>
          <a:p xmlns:a="http://schemas.openxmlformats.org/drawingml/2006/main">
            <a:r>
              <a:t>Read the goals briefly. Tell students all Python code is provided. Their work is to calculate, predict, extract values from the output, compare cases, and explain the engineering meaning.</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 minutes (2 minutes)</a:t>
            </a:r>
          </a:p>
          <a:p xmlns:a="http://schemas.openxmlformats.org/drawingml/2006/main">
            <a:r>
              <a:t/>
            </a:r>
          </a:p>
          <a:p xmlns:a="http://schemas.openxmlformats.org/drawingml/2006/main">
            <a:r>
              <a:t>Make the physical chain explicit: sound-pressure variation, microphone voltage, discrete samples, then plots. The pre-lab starts from a clean mathematical voltage. The laboratory adds noise, microphone response, harmonics, and imperfect excitation. The same analysis ideas apply.</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4–7 minutes (3 minutes)</a:t>
            </a:r>
          </a:p>
          <a:p xmlns:a="http://schemas.openxmlformats.org/drawingml/2006/main">
            <a:r>
              <a:t/>
            </a:r>
          </a:p>
          <a:p xmlns:a="http://schemas.openxmlformats.org/drawingml/2006/main">
            <a:r>
              <a:t>Show the actual notebook on screen. Point to a Markdown cell and a code cell. Explain the execution count at the left. Emphasize that a notebook remembers variables only after the defining cell runs.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7–8 minutes (1 minutes)</a:t>
            </a:r>
          </a:p>
          <a:p xmlns:a="http://schemas.openxmlformats.org/drawingml/2006/main">
            <a:r>
              <a:t/>
            </a:r>
          </a:p>
          <a:p xmlns:a="http://schemas.openxmlformats.org/drawingml/2006/main">
            <a:r>
              <a:t>Demonstrate the Colab link from the course website. Remind students to save a personal copy and include their name in the filename if Canvas requests it.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8–10 minutes (2 minutes)</a:t>
            </a:r>
          </a:p>
          <a:p xmlns:a="http://schemas.openxmlformats.org/drawingml/2006/main">
            <a:r>
              <a:t/>
            </a:r>
          </a:p>
          <a:p xmlns:a="http://schemas.openxmlformats.org/drawingml/2006/main">
            <a:r>
              <a:t>Run the second line before defining A to demonstrate a NameError only if time allows. Then run the defining cell and try again. Show Kernel or Runtime restart and explain why Run All is a useful final check before submission.</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10–12 minutes (2 minutes)</a:t>
            </a:r>
          </a:p>
          <a:p xmlns:a="http://schemas.openxmlformats.org/drawingml/2006/main">
            <a:r>
              <a:t/>
            </a:r>
          </a:p>
          <a:p xmlns:a="http://schemas.openxmlformats.org/drawingml/2006/main">
            <a:r>
              <a:t>Start with one physical voltage tone before showing Python. Point vertically from zero to a crest for amplitude. Point between two neighboring crests for the period and connect period to frequency. Explain that phase sets the wave's starting position at t = 0; it does not change amplitude or frequency. Ask students for the units: volts, hertz, and degrees.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12–14 minutes (2 minutes)</a:t>
            </a:r>
          </a:p>
          <a:p xmlns:a="http://schemas.openxmlformats.org/drawingml/2006/main">
            <a:r>
              <a:t/>
            </a:r>
          </a:p>
          <a:p xmlns:a="http://schemas.openxmlformats.org/drawingml/2006/main">
            <a:r>
              <a:t>Now connect the physical diagram to the variable names. A1 and A2 are voltage amplitudes, f1 and f2 are cycles per second, and phi1_deg and phi2_deg set the starting positions. Explain that sine versus cosine is only a phase-reference choice. NumPy needs radians, so the code converts degrees. Ask which tone has the larger amplitude and which completes cycles faster.</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14–16 minutes (2 minutes)</a:t>
            </a:r>
          </a:p>
          <a:p xmlns:a="http://schemas.openxmlformats.org/drawingml/2006/main">
            <a:r>
              <a:t/>
            </a:r>
          </a:p>
          <a:p xmlns:a="http://schemas.openxmlformats.org/drawingml/2006/main">
            <a:r>
              <a:t>Explain that students do not need advanced Python. The important distinction is between the continuous model represented by the function and the finite set of times sent into that function.</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16–19 minutes (3 minutes)</a:t>
            </a:r>
          </a:p>
          <a:p xmlns:a="http://schemas.openxmlformats.org/drawingml/2006/main">
            <a:r>
              <a:t/>
            </a:r>
          </a:p>
          <a:p xmlns:a="http://schemas.openxmlformats.org/drawingml/2006/main">
            <a:r>
              <a:t>Explain mean as the vertical center or DC offset of the waveform. Explain RMS by three steps: square removes sign, average combines the whole record, square root returns volts. For a single sinusoid RMS equals amplitude divided by square root of two. Distinct-tone mean squares add when the record contains complete cycles. Stress that a plausible RMS does not prove the frequency content is correct.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19–22 minutes (3 minutes)</a:t>
            </a:r>
          </a:p>
          <a:p xmlns:a="http://schemas.openxmlformats.org/drawingml/2006/main">
            <a:r>
              <a:t/>
            </a:r>
          </a:p>
          <a:p xmlns:a="http://schemas.openxmlformats.org/drawingml/2006/main">
            <a:r>
              <a:t>Use the chart to distinguish the physical signal from its samples. The gray curve represents a dense numerical reference. Blue markers are the only values available to the data acquisition system at 48 Hz. Ask whether the connecting line proves what happened between samples. It does not.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22–24 minutes (2 minutes)</a:t>
            </a:r>
          </a:p>
          <a:p xmlns:a="http://schemas.openxmlformats.org/drawingml/2006/main">
            <a:r>
              <a:t/>
            </a:r>
          </a:p>
          <a:p xmlns:a="http://schemas.openxmlformats.org/drawingml/2006/main">
            <a:r>
              <a:t>Explain fs, dt, duration, and n. Point out that np.arange(n)/fs avoids an extra endpoint. Relate record duration to FFT-bin spacing. Students only need to understand what the variables mean so they can interpret the output.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24–27 minutes (3 minutes)</a:t>
            </a:r>
          </a:p>
          <a:p xmlns:a="http://schemas.openxmlformats.org/drawingml/2006/main">
            <a:r>
              <a:t/>
            </a:r>
          </a:p>
          <a:p xmlns:a="http://schemas.openxmlformats.org/drawingml/2006/main">
            <a:r>
              <a:t>First calculate samples per cycle so the rule has a physical meaning. At 126 Hz, the 42 Hz tone has three samples per cycle. Write fs greater than 2 fmax on the board. Two samples per cycle is a theoretical boundary, not a practical recommendation for waveform shape. Ask students to classify all four rates.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27–30 minutes (3 minutes)</a:t>
            </a:r>
          </a:p>
          <a:p xmlns:a="http://schemas.openxmlformats.org/drawingml/2006/main">
            <a:r>
              <a:t/>
            </a:r>
          </a:p>
          <a:p xmlns:a="http://schemas.openxmlformats.org/drawingml/2006/main">
            <a:r>
              <a:t>At 126 Hz, both 18 and 42 Hz remain below Nyquist. At 48 Hz, Nyquist is 24 Hz, so the 42 Hz component folds to 6 Hz. The samples cannot tell the original 42 Hz tone from this false 6 Hz tone. Connect this to an audible change during replay.</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30–33 minutes (3 minutes)</a:t>
            </a:r>
          </a:p>
          <a:p xmlns:a="http://schemas.openxmlformats.org/drawingml/2006/main">
            <a:r>
              <a:t/>
            </a:r>
          </a:p>
          <a:p xmlns:a="http://schemas.openxmlformats.org/drawingml/2006/main">
            <a:r>
              <a:t>Trace one pass through the prepared loop so students understand the output. Their task starts after execution: record mean and RMS, calculate samples per 42 Hz cycle, compute percent error, and compare the time histories.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33–35 minutes (2 minutes)</a:t>
            </a:r>
          </a:p>
          <a:p xmlns:a="http://schemas.openxmlformats.org/drawingml/2006/main">
            <a:r>
              <a:t/>
            </a:r>
          </a:p>
          <a:p xmlns:a="http://schemas.openxmlformats.org/drawingml/2006/main">
            <a:r>
              <a:t>Open the notebook's 2 by 2 time-domain figure. Ask students which panel looks most trustworthy. Explain that the 336 Hz case has eight samples per cycle for the 42 Hz component, while the lowest rates distort the apparent shape.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35–38 minutes (3 minutes)</a:t>
            </a:r>
          </a:p>
          <a:p xmlns:a="http://schemas.openxmlformats.org/drawingml/2006/main">
            <a:r>
              <a:t/>
            </a:r>
          </a:p>
          <a:p xmlns:a="http://schemas.openxmlformats.org/drawingml/2006/main">
            <a:r>
              <a:t>Begin with the physical meaning of the axes. A peak location answers which frequency is present; peak height estimates its amplitude. Then describe the prepared operations briefly: the window reduces leakage, coherent gain corrects peak height, and rfft keeps nonnegative frequencies. Students interpret this output; they do not derive or write the FFT.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38–40 minutes (2 minutes)</a:t>
            </a:r>
          </a:p>
          <a:p xmlns:a="http://schemas.openxmlformats.org/drawingml/2006/main">
            <a:r>
              <a:t/>
            </a:r>
          </a:p>
          <a:p xmlns:a="http://schemas.openxmlformats.org/drawingml/2006/main">
            <a:r>
              <a:t>Distinguish frequency range from frequency resolution. Sample rate controls the highest unaliased frequency. Record duration controls spacing between FFT bins. Use the ruler analogy: the same range with finer marks permits a more precise reading. A longer record adds samples and narrows the bins; it does not change the physical tone.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40–42 minutes (2 minutes)</a:t>
            </a:r>
          </a:p>
          <a:p xmlns:a="http://schemas.openxmlformats.org/drawingml/2006/main">
            <a:r>
              <a:t/>
            </a:r>
          </a:p>
          <a:p xmlns:a="http://schemas.openxmlformats.org/drawingml/2006/main">
            <a:r>
              <a:t>Have students predict each result before revealing it. For 72 Hz, calculate absolute value of 42 minus 72 equals 30 Hz. For 48 Hz, calculate absolute value of 42 minus 48 equals 6 Hz.</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42–44 minutes (2 minutes)</a:t>
            </a:r>
          </a:p>
          <a:p xmlns:a="http://schemas.openxmlformats.org/drawingml/2006/main">
            <a:r>
              <a:t/>
            </a:r>
          </a:p>
          <a:p xmlns:a="http://schemas.openxmlformats.org/drawingml/2006/main">
            <a:r>
              <a:t>Run the notebook live from the beginning. Pause after each figure. Ask students to identify the sample rate, Nyquist frequency, expected tones, and observed peaks. Do not type their written answers for them. Show how to edit a Markdown response cell.</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44–46 minutes (2 minutes)</a:t>
            </a:r>
          </a:p>
          <a:p xmlns:a="http://schemas.openxmlformats.org/drawingml/2006/main">
            <a:r>
              <a:t/>
            </a:r>
          </a:p>
          <a:p xmlns:a="http://schemas.openxmlformats.org/drawingml/2006/main">
            <a:r>
              <a:t>Explain the 20-point structure. All code is prepared. Students earn credit for calculations, a completed comparison table, predictions, interpretation, and a measurement-design decision. Answers need numbers, units, and reasons.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46–47 minutes (1 minutes)</a:t>
            </a:r>
          </a:p>
          <a:p xmlns:a="http://schemas.openxmlformats.org/drawingml/2006/main">
            <a:r>
              <a:t/>
            </a:r>
          </a:p>
          <a:p xmlns:a="http://schemas.openxmlformats.org/drawingml/2006/main">
            <a:r>
              <a:t>Tell students to restart and Run All before submission. Emphasize the distinction between fs, the rate used by the recorder, and f1 or f2, properties of the physical signal.</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47–49 minutes (2 minutes)</a:t>
            </a:r>
          </a:p>
          <a:p xmlns:a="http://schemas.openxmlformats.org/drawingml/2006/main">
            <a:r>
              <a:t/>
            </a:r>
          </a:p>
          <a:p xmlns:a="http://schemas.openxmlformats.org/drawingml/2006/main">
            <a:r>
              <a:t>Preview the laboratory workflow. Explain that real data may include background noise and extra harmonics. Students should still expect the largest relevant peak near the tuning-fork frequency when the sample rate is adequate.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49–50 minutes (1 minutes)</a:t>
            </a:r>
          </a:p>
          <a:p xmlns:a="http://schemas.openxmlformats.org/drawingml/2006/main">
            <a:r>
              <a:t/>
            </a:r>
          </a:p>
          <a:p xmlns:a="http://schemas.openxmlformats.org/drawingml/2006/main">
            <a:r>
              <a:t>End with the release and deadline rule. Ask one exit question: if fs equals 48 Hz, where will a 42 Hz tone appear? Expected answer: 6 Hz. Remind students to bring a way to save their Lab 1 data.</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aedb5517f9c4de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10cb4a787bb4a0f" /><Relationship Type="http://schemas.openxmlformats.org/officeDocument/2006/relationships/slideLayout" Target="/ppt/slideLayouts/slideLayout1.xml" Id="Rab25273925ed49d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25273925ed49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04bd97c4ce64060" /><Relationship Type="http://schemas.openxmlformats.org/officeDocument/2006/relationships/notesSlide" Target="/ppt/notesSlides/notesSlide1.xml" Id="R04fd2dc3e9b749a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73d6f1a94fc4e2a" /><Relationship Type="http://schemas.openxmlformats.org/officeDocument/2006/relationships/notesSlide" Target="/ppt/notesSlides/notesSlide2.xml" Id="Rd114e3aa37b24e6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259d3c4af674d9e" /><Relationship Type="http://schemas.openxmlformats.org/officeDocument/2006/relationships/notesSlide" Target="/ppt/notesSlides/notesSlide3.xml" Id="Rf26cc59e2f234d4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59157a247944b73" /><Relationship Type="http://schemas.openxmlformats.org/officeDocument/2006/relationships/notesSlide" Target="/ppt/notesSlides/notesSlide4.xml" Id="R584af8cb04ef490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fe2ac6e39604ef4" /><Relationship Type="http://schemas.openxmlformats.org/officeDocument/2006/relationships/notesSlide" Target="/ppt/notesSlides/notesSlide5.xml" Id="R61f5ddc2a46c44a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2d22af8c1be47e2" /><Relationship Type="http://schemas.openxmlformats.org/officeDocument/2006/relationships/notesSlide" Target="/ppt/notesSlides/notesSlide6.xml" Id="R635123ec662a4c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bf6dde3acb34720" /><Relationship Type="http://schemas.openxmlformats.org/officeDocument/2006/relationships/image" Target="/ppt/media/image.png" Id="R32c63063a9f44945" /><Relationship Type="http://schemas.openxmlformats.org/officeDocument/2006/relationships/image" Target="/ppt/media/image.svg" Id="R5c878986a7894ff2" /><Relationship Type="http://schemas.openxmlformats.org/officeDocument/2006/relationships/notesSlide" Target="/ppt/notesSlides/notesSlide7.xml" Id="R860f757c43cb431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f36a36fb99942e9" /><Relationship Type="http://schemas.openxmlformats.org/officeDocument/2006/relationships/notesSlide" Target="/ppt/notesSlides/notesSlide8.xml" Id="R81b5af22fb8949c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50c580205f64765" /><Relationship Type="http://schemas.openxmlformats.org/officeDocument/2006/relationships/notesSlide" Target="/ppt/notesSlides/notesSlide9.xml" Id="Rfa09c737ad3d428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2475c02fe38404b" /><Relationship Type="http://schemas.openxmlformats.org/officeDocument/2006/relationships/notesSlide" Target="/ppt/notesSlides/notesSlide10.xml" Id="R0f2e7d8d68b34f9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a777e2b8ecb4bf9" /><Relationship Type="http://schemas.openxmlformats.org/officeDocument/2006/relationships/notesSlide" Target="/ppt/notesSlides/notesSlide11.xml" Id="Rd06d27a14bb348a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f4c0d8257714a06" /><Relationship Type="http://schemas.openxmlformats.org/officeDocument/2006/relationships/notesSlide" Target="/ppt/notesSlides/notesSlide12.xml" Id="Ra437ddcd4c5947a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e28bd7532704ba0" /><Relationship Type="http://schemas.openxmlformats.org/officeDocument/2006/relationships/notesSlide" Target="/ppt/notesSlides/notesSlide13.xml" Id="Rcd4602a4973746a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0b825d2d154472b" /><Relationship Type="http://schemas.openxmlformats.org/officeDocument/2006/relationships/notesSlide" Target="/ppt/notesSlides/notesSlide14.xml" Id="Rc39386d0d06b434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9bfbf2e947443bd" /><Relationship Type="http://schemas.openxmlformats.org/officeDocument/2006/relationships/notesSlide" Target="/ppt/notesSlides/notesSlide15.xml" Id="R9c54a63c6ded427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f76ee80c1a849f1" /><Relationship Type="http://schemas.openxmlformats.org/officeDocument/2006/relationships/notesSlide" Target="/ppt/notesSlides/notesSlide16.xml" Id="R24638357952e405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b0b174266854abc" /><Relationship Type="http://schemas.openxmlformats.org/officeDocument/2006/relationships/notesSlide" Target="/ppt/notesSlides/notesSlide17.xml" Id="R8128dd4e09a04bf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962696c69704fbb" /><Relationship Type="http://schemas.openxmlformats.org/officeDocument/2006/relationships/notesSlide" Target="/ppt/notesSlides/notesSlide18.xml" Id="Rfeb0de1344af4ec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8a2efb0051a4612" /><Relationship Type="http://schemas.openxmlformats.org/officeDocument/2006/relationships/notesSlide" Target="/ppt/notesSlides/notesSlide19.xml" Id="Rf386eb59da204f4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109484fb5494660" /><Relationship Type="http://schemas.openxmlformats.org/officeDocument/2006/relationships/notesSlide" Target="/ppt/notesSlides/notesSlide20.xml" Id="R2080d61cde534b1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a79c499704b4e07" /><Relationship Type="http://schemas.openxmlformats.org/officeDocument/2006/relationships/notesSlide" Target="/ppt/notesSlides/notesSlide21.xml" Id="R058e693a735e4e5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5047ec8b27e4cbc" /><Relationship Type="http://schemas.openxmlformats.org/officeDocument/2006/relationships/notesSlide" Target="/ppt/notesSlides/notesSlide22.xml" Id="Rb05bb90dba74457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37f8537a86344cb" /><Relationship Type="http://schemas.openxmlformats.org/officeDocument/2006/relationships/notesSlide" Target="/ppt/notesSlides/notesSlide23.xml" Id="R47c9ab0175b6428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e502e974cda434c" /><Relationship Type="http://schemas.openxmlformats.org/officeDocument/2006/relationships/notesSlide" Target="/ppt/notesSlides/notesSlide24.xml" Id="Rc4de62272e7842e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54D64A74-5E8C-463A-82CA-6E4A1C3A63D2}"/>
              </a:ext>
            </a:extLst>
          </p:cNvPr>
          <p:cNvSpPr>
            <a:spLocks xmlns:a="http://schemas.openxmlformats.org/drawingml/2006/main" noGrp="1"/>
          </p:cNvSpPr>
          <p:nvPr/>
        </p:nvSpPr>
        <p:spPr>
          <a:xfrm xmlns:a="http://schemas.openxmlformats.org/drawingml/2006/main">
            <a:off x="495300" y="40005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81C1C"/>
                </a:solidFill>
                <a:latin typeface="Calibri"/>
                <a:ea typeface="Calibri"/>
                <a:cs typeface="Calibri"/>
              </a:defRPr>
            </a:pPr>
            <a:r>
              <a:rPr sz="1350" b="1">
                <a:solidFill>
                  <a:srgbClr val="881C1C"/>
                </a:solidFill>
                <a:latin typeface="Calibri"/>
                <a:ea typeface="Calibri"/>
                <a:cs typeface="Calibri"/>
              </a:rPr>
              <a:t>MIE 402  |  ME LAB II</a:t>
            </a:r>
          </a:p>
        </p:txBody>
      </p:sp>
      <p:sp>
        <p:nvSpPr>
          <p:cNvPr id="2" name="text">
            <a:extLst xmlns:a="http://schemas.openxmlformats.org/drawingml/2006/main">
              <a:ext uri="{FF2B5EF4-FFF2-40B4-BE49-F238E27FC236}">
                <a16:creationId xmlns:a16="http://schemas.microsoft.com/office/drawing/2014/main" id="{0D947253-7B6E-4A60-BDB8-C84AD602B5E1}"/>
              </a:ext>
            </a:extLst>
          </p:cNvPr>
          <p:cNvSpPr>
            <a:spLocks xmlns:a="http://schemas.openxmlformats.org/drawingml/2006/main" noGrp="1"/>
          </p:cNvSpPr>
          <p:nvPr/>
        </p:nvSpPr>
        <p:spPr>
          <a:xfrm xmlns:a="http://schemas.openxmlformats.org/drawingml/2006/main">
            <a:off x="495300" y="1381125"/>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111111"/>
                </a:solidFill>
                <a:latin typeface="Calibri"/>
                <a:ea typeface="Calibri"/>
                <a:cs typeface="Calibri"/>
              </a:defRPr>
            </a:pPr>
            <a:r>
              <a:rPr sz="3900" b="1">
                <a:solidFill>
                  <a:srgbClr val="111111"/>
                </a:solidFill>
                <a:latin typeface="Calibri"/>
                <a:ea typeface="Calibri"/>
                <a:cs typeface="Calibri"/>
              </a:rPr>
              <a:t>Sampling, FFT, and</a:t>
            </a:r>
          </a:p>
          <a:p xmlns:a="http://schemas.openxmlformats.org/drawingml/2006/main">
            <a:pPr>
              <a:defRPr sz="3900" b="1">
                <a:solidFill>
                  <a:srgbClr val="111111"/>
                </a:solidFill>
                <a:latin typeface="Calibri"/>
                <a:ea typeface="Calibri"/>
                <a:cs typeface="Calibri"/>
              </a:defRPr>
            </a:pPr>
            <a:r>
              <a:rPr sz="3900" b="1">
                <a:solidFill>
                  <a:srgbClr val="111111"/>
                </a:solidFill>
                <a:latin typeface="Calibri"/>
                <a:ea typeface="Calibri"/>
                <a:cs typeface="Calibri"/>
              </a:rPr>
              <a:t>the Pre-Lab 1 notebook</a:t>
            </a:r>
          </a:p>
        </p:txBody>
      </p:sp>
      <p:sp>
        <p:nvSpPr>
          <p:cNvPr id="3" name="text">
            <a:extLst xmlns:a="http://schemas.openxmlformats.org/drawingml/2006/main">
              <a:ext uri="{FF2B5EF4-FFF2-40B4-BE49-F238E27FC236}">
                <a16:creationId xmlns:a16="http://schemas.microsoft.com/office/drawing/2014/main" id="{D065DD08-E152-432A-93AE-825EFE4A238B}"/>
              </a:ext>
            </a:extLst>
          </p:cNvPr>
          <p:cNvSpPr>
            <a:spLocks xmlns:a="http://schemas.openxmlformats.org/drawingml/2006/main" noGrp="1"/>
          </p:cNvSpPr>
          <p:nvPr/>
        </p:nvSpPr>
        <p:spPr>
          <a:xfrm xmlns:a="http://schemas.openxmlformats.org/drawingml/2006/main">
            <a:off x="523875" y="3333750"/>
            <a:ext cx="666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F6368"/>
                </a:solidFill>
                <a:latin typeface="Calibri"/>
                <a:ea typeface="Calibri"/>
                <a:cs typeface="Calibri"/>
              </a:defRPr>
            </a:pPr>
            <a:r>
              <a:rPr sz="2025" b="0">
                <a:solidFill>
                  <a:srgbClr val="5F6368"/>
                </a:solidFill>
                <a:latin typeface="Calibri"/>
                <a:ea typeface="Calibri"/>
                <a:cs typeface="Calibri"/>
              </a:rPr>
              <a:t>Fall 2026 · Prof. Ehsan Roohi</a:t>
            </a:r>
          </a:p>
        </p:txBody>
      </p:sp>
      <p:sp>
        <p:nvSpPr>
          <p:cNvPr id="4" name="text">
            <a:extLst xmlns:a="http://schemas.openxmlformats.org/drawingml/2006/main">
              <a:ext uri="{FF2B5EF4-FFF2-40B4-BE49-F238E27FC236}">
                <a16:creationId xmlns:a16="http://schemas.microsoft.com/office/drawing/2014/main" id="{31B4B965-AE31-4ABF-A22E-1DD760790848}"/>
              </a:ext>
            </a:extLst>
          </p:cNvPr>
          <p:cNvSpPr>
            <a:spLocks xmlns:a="http://schemas.openxmlformats.org/drawingml/2006/main" noGrp="1"/>
          </p:cNvSpPr>
          <p:nvPr/>
        </p:nvSpPr>
        <p:spPr>
          <a:xfrm xmlns:a="http://schemas.openxmlformats.org/drawingml/2006/main">
            <a:off x="523875" y="3952875"/>
            <a:ext cx="809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881C1C"/>
                </a:solidFill>
                <a:latin typeface="Calibri"/>
                <a:ea typeface="Calibri"/>
                <a:cs typeface="Calibri"/>
              </a:defRPr>
            </a:pPr>
            <a:r>
              <a:rPr sz="2100" b="1">
                <a:solidFill>
                  <a:srgbClr val="881C1C"/>
                </a:solidFill>
                <a:latin typeface="Calibri"/>
                <a:ea typeface="Calibri"/>
                <a:cs typeface="Calibri"/>
              </a:rPr>
              <a:t>Lecture and guided Jupyter walkthrough</a:t>
            </a:r>
          </a:p>
        </p:txBody>
      </p:sp>
      <p:sp>
        <p:nvSpPr>
          <p:cNvPr id="5" name="page">
            <a:extLst xmlns:a="http://schemas.openxmlformats.org/drawingml/2006/main">
              <a:ext uri="{FF2B5EF4-FFF2-40B4-BE49-F238E27FC236}">
                <a16:creationId xmlns:a16="http://schemas.microsoft.com/office/drawing/2014/main" id="{24E2E3FC-8F9E-4238-A156-04C136D94589}"/>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a:t>
            </a:r>
          </a:p>
        </p:txBody>
      </p:sp>
    </p:spTree>
    <p:extLst>
      <p:ext uri="{BB962C8B-B14F-4D97-AF65-F5344CB8AC3E}">
        <p14:creationId xmlns:p14="http://schemas.microsoft.com/office/powerpoint/2010/main" val="188958447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FEDDB9F8-5514-456C-906C-EDCB5DFEC3E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B47DBF5-E391-47F0-87F7-07C2BFFB9C05}"/>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Learning goals</a:t>
            </a:r>
          </a:p>
        </p:txBody>
      </p:sp>
      <p:sp>
        <p:nvSpPr>
          <p:cNvPr id="3" name="page">
            <a:extLst xmlns:a="http://schemas.openxmlformats.org/drawingml/2006/main">
              <a:ext uri="{FF2B5EF4-FFF2-40B4-BE49-F238E27FC236}">
                <a16:creationId xmlns:a16="http://schemas.microsoft.com/office/drawing/2014/main" id="{17A913A0-1053-4A56-90D1-DC980547A408}"/>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a:t>
            </a:r>
          </a:p>
        </p:txBody>
      </p:sp>
      <p:sp>
        <p:nvSpPr>
          <p:cNvPr id="4" name="text">
            <a:extLst xmlns:a="http://schemas.openxmlformats.org/drawingml/2006/main">
              <a:ext uri="{FF2B5EF4-FFF2-40B4-BE49-F238E27FC236}">
                <a16:creationId xmlns:a16="http://schemas.microsoft.com/office/drawing/2014/main" id="{D50CCEAD-FAAD-4AFF-BD08-F98541426175}"/>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F430E1FD-FEDC-46A9-B6B2-03897B65680A}"/>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Explain sample rate, sample interval, record length, and Nyquist frequency</a:t>
            </a:r>
          </a:p>
        </p:txBody>
      </p:sp>
      <p:sp>
        <p:nvSpPr>
          <p:cNvPr id="6" name="text">
            <a:extLst xmlns:a="http://schemas.openxmlformats.org/drawingml/2006/main">
              <a:ext uri="{FF2B5EF4-FFF2-40B4-BE49-F238E27FC236}">
                <a16:creationId xmlns:a16="http://schemas.microsoft.com/office/drawing/2014/main" id="{44232B64-9ECB-4F09-BBF9-A5A4656A5EDA}"/>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21A07334-AA42-4199-8E81-B47383F9B085}"/>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Run prepared analysis cells in a Jupyter notebook</a:t>
            </a:r>
          </a:p>
        </p:txBody>
      </p:sp>
      <p:sp>
        <p:nvSpPr>
          <p:cNvPr id="8" name="text">
            <a:extLst xmlns:a="http://schemas.openxmlformats.org/drawingml/2006/main">
              <a:ext uri="{FF2B5EF4-FFF2-40B4-BE49-F238E27FC236}">
                <a16:creationId xmlns:a16="http://schemas.microsoft.com/office/drawing/2014/main" id="{7978A715-1A26-4D24-B806-D272C3AA3405}"/>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01C73CD4-72F1-4043-8492-74ABF4B17331}"/>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Interpret time histories, RMS values, and one-sided FFT spectra</a:t>
            </a:r>
          </a:p>
        </p:txBody>
      </p:sp>
      <p:sp>
        <p:nvSpPr>
          <p:cNvPr id="10" name="text">
            <a:extLst xmlns:a="http://schemas.openxmlformats.org/drawingml/2006/main">
              <a:ext uri="{FF2B5EF4-FFF2-40B4-BE49-F238E27FC236}">
                <a16:creationId xmlns:a16="http://schemas.microsoft.com/office/drawing/2014/main" id="{216DFBCC-EB12-453B-8357-9709EA236965}"/>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C2FBED32-D6AB-4DE8-92CF-863F46F910CA}"/>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Recognize aliasing before collecting Lab 1 sound data</a:t>
            </a:r>
          </a:p>
        </p:txBody>
      </p:sp>
    </p:spTree>
    <p:extLst>
      <p:ext uri="{BB962C8B-B14F-4D97-AF65-F5344CB8AC3E}">
        <p14:creationId xmlns:p14="http://schemas.microsoft.com/office/powerpoint/2010/main" val="101186942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E3959F33-1523-4FB6-A023-FE1955ED40C1}"/>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EC6B2CCA-89FC-4A0C-AB63-177C8C3BFD95}"/>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Connection to Lab 1</a:t>
            </a:r>
          </a:p>
        </p:txBody>
      </p:sp>
      <p:sp>
        <p:nvSpPr>
          <p:cNvPr id="3" name="page">
            <a:extLst xmlns:a="http://schemas.openxmlformats.org/drawingml/2006/main">
              <a:ext uri="{FF2B5EF4-FFF2-40B4-BE49-F238E27FC236}">
                <a16:creationId xmlns:a16="http://schemas.microsoft.com/office/drawing/2014/main" id="{92BC35BE-2FAD-4634-9FF8-E69938CB2176}"/>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a:t>
            </a:r>
          </a:p>
        </p:txBody>
      </p:sp>
      <p:sp>
        <p:nvSpPr>
          <p:cNvPr id="4" name="text">
            <a:extLst xmlns:a="http://schemas.openxmlformats.org/drawingml/2006/main">
              <a:ext uri="{FF2B5EF4-FFF2-40B4-BE49-F238E27FC236}">
                <a16:creationId xmlns:a16="http://schemas.microsoft.com/office/drawing/2014/main" id="{4757D915-94BE-414F-A138-B63F0EA36417}"/>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PRE-LAB</a:t>
            </a:r>
          </a:p>
        </p:txBody>
      </p:sp>
      <p:sp>
        <p:nvSpPr>
          <p:cNvPr id="5" name="text">
            <a:extLst xmlns:a="http://schemas.openxmlformats.org/drawingml/2006/main">
              <a:ext uri="{FF2B5EF4-FFF2-40B4-BE49-F238E27FC236}">
                <a16:creationId xmlns:a16="http://schemas.microsoft.com/office/drawing/2014/main" id="{798D6190-8160-462E-B8CE-ACD80FD5F829}"/>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LABORATORY</a:t>
            </a:r>
          </a:p>
        </p:txBody>
      </p:sp>
      <p:sp>
        <p:nvSpPr>
          <p:cNvPr id="6" name="text">
            <a:extLst xmlns:a="http://schemas.openxmlformats.org/drawingml/2006/main">
              <a:ext uri="{FF2B5EF4-FFF2-40B4-BE49-F238E27FC236}">
                <a16:creationId xmlns:a16="http://schemas.microsoft.com/office/drawing/2014/main" id="{242EF611-D33C-4C67-901C-41343D0F4615}"/>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known voltage signal contains two pure tones.</a:t>
            </a:r>
          </a:p>
        </p:txBody>
      </p:sp>
      <p:sp>
        <p:nvSpPr>
          <p:cNvPr id="7" name="text">
            <a:extLst xmlns:a="http://schemas.openxmlformats.org/drawingml/2006/main">
              <a:ext uri="{FF2B5EF4-FFF2-40B4-BE49-F238E27FC236}">
                <a16:creationId xmlns:a16="http://schemas.microsoft.com/office/drawing/2014/main" id="{599C229F-2A40-4C37-842E-24D42B590CE0}"/>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Amplitude describes signal size; frequency describes how fast it repeats; phase sets its starting position.</a:t>
            </a:r>
          </a:p>
        </p:txBody>
      </p:sp>
      <p:sp>
        <p:nvSpPr>
          <p:cNvPr id="8" name="text">
            <a:extLst xmlns:a="http://schemas.openxmlformats.org/drawingml/2006/main">
              <a:ext uri="{FF2B5EF4-FFF2-40B4-BE49-F238E27FC236}">
                <a16:creationId xmlns:a16="http://schemas.microsoft.com/office/drawing/2014/main" id="{F4EF0A38-F91D-4E55-A4E1-DEDE85493BCA}"/>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microphone converts changing sound pressure into changing voltage.</a:t>
            </a:r>
          </a:p>
        </p:txBody>
      </p:sp>
      <p:sp>
        <p:nvSpPr>
          <p:cNvPr id="9" name="text">
            <a:extLst xmlns:a="http://schemas.openxmlformats.org/drawingml/2006/main">
              <a:ext uri="{FF2B5EF4-FFF2-40B4-BE49-F238E27FC236}">
                <a16:creationId xmlns:a16="http://schemas.microsoft.com/office/drawing/2014/main" id="{201F033E-1789-4C87-832B-95468A6B0E15}"/>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Moku:Go stores voltage samples. The waveform shows change in time; the spectrum shows the frequencies present.</a:t>
            </a:r>
          </a:p>
        </p:txBody>
      </p:sp>
    </p:spTree>
    <p:extLst>
      <p:ext uri="{BB962C8B-B14F-4D97-AF65-F5344CB8AC3E}">
        <p14:creationId xmlns:p14="http://schemas.microsoft.com/office/powerpoint/2010/main" val="192503948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09DCAD18-3453-4CE6-AD44-BB20216471D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A13ED01-570C-41BE-847E-DB2A88DE27BF}"/>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Jupyter notebook structure</a:t>
            </a:r>
          </a:p>
        </p:txBody>
      </p:sp>
      <p:sp>
        <p:nvSpPr>
          <p:cNvPr id="3" name="page">
            <a:extLst xmlns:a="http://schemas.openxmlformats.org/drawingml/2006/main">
              <a:ext uri="{FF2B5EF4-FFF2-40B4-BE49-F238E27FC236}">
                <a16:creationId xmlns:a16="http://schemas.microsoft.com/office/drawing/2014/main" id="{3037A752-5B55-4E1A-BE1B-70202FD8E00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4</a:t>
            </a:r>
          </a:p>
        </p:txBody>
      </p:sp>
      <p:sp>
        <p:nvSpPr>
          <p:cNvPr id="4" name="text">
            <a:extLst xmlns:a="http://schemas.openxmlformats.org/drawingml/2006/main">
              <a:ext uri="{FF2B5EF4-FFF2-40B4-BE49-F238E27FC236}">
                <a16:creationId xmlns:a16="http://schemas.microsoft.com/office/drawing/2014/main" id="{56E09068-4665-4858-8E7B-2ABD3D6721BB}"/>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MARKDOWN CELLS</a:t>
            </a:r>
          </a:p>
        </p:txBody>
      </p:sp>
      <p:sp>
        <p:nvSpPr>
          <p:cNvPr id="5" name="text">
            <a:extLst xmlns:a="http://schemas.openxmlformats.org/drawingml/2006/main">
              <a:ext uri="{FF2B5EF4-FFF2-40B4-BE49-F238E27FC236}">
                <a16:creationId xmlns:a16="http://schemas.microsoft.com/office/drawing/2014/main" id="{F7AEAA8D-DDC8-4C5D-8A23-A9B872955467}"/>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CODE CELLS</a:t>
            </a:r>
          </a:p>
        </p:txBody>
      </p:sp>
      <p:sp>
        <p:nvSpPr>
          <p:cNvPr id="6" name="text">
            <a:extLst xmlns:a="http://schemas.openxmlformats.org/drawingml/2006/main">
              <a:ext uri="{FF2B5EF4-FFF2-40B4-BE49-F238E27FC236}">
                <a16:creationId xmlns:a16="http://schemas.microsoft.com/office/drawing/2014/main" id="{5E6F1527-1616-4E78-A4A2-9DF2CDDF976A}"/>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Instructions, equations, and response areas.</a:t>
            </a:r>
          </a:p>
        </p:txBody>
      </p:sp>
      <p:sp>
        <p:nvSpPr>
          <p:cNvPr id="7" name="text">
            <a:extLst xmlns:a="http://schemas.openxmlformats.org/drawingml/2006/main">
              <a:ext uri="{FF2B5EF4-FFF2-40B4-BE49-F238E27FC236}">
                <a16:creationId xmlns:a16="http://schemas.microsoft.com/office/drawing/2014/main" id="{3865077F-2BA0-48BC-943D-5697BFEF1C84}"/>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Double-click to edit. Use Shift+Enter to render and move forward.</a:t>
            </a:r>
          </a:p>
        </p:txBody>
      </p:sp>
      <p:sp>
        <p:nvSpPr>
          <p:cNvPr id="8" name="text">
            <a:extLst xmlns:a="http://schemas.openxmlformats.org/drawingml/2006/main">
              <a:ext uri="{FF2B5EF4-FFF2-40B4-BE49-F238E27FC236}">
                <a16:creationId xmlns:a16="http://schemas.microsoft.com/office/drawing/2014/main" id="{246BD308-416D-44DA-9368-21373C8248E2}"/>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Python commands that define variables, calculate results, and make figures.</a:t>
            </a:r>
          </a:p>
        </p:txBody>
      </p:sp>
      <p:sp>
        <p:nvSpPr>
          <p:cNvPr id="9" name="text">
            <a:extLst xmlns:a="http://schemas.openxmlformats.org/drawingml/2006/main">
              <a:ext uri="{FF2B5EF4-FFF2-40B4-BE49-F238E27FC236}">
                <a16:creationId xmlns:a16="http://schemas.microsoft.com/office/drawing/2014/main" id="{095D7DCA-B77F-4B5B-8787-6B9D181DD19B}"/>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Run from top to bottom with Shift+Enter.</a:t>
            </a:r>
          </a:p>
        </p:txBody>
      </p:sp>
    </p:spTree>
    <p:extLst>
      <p:ext uri="{BB962C8B-B14F-4D97-AF65-F5344CB8AC3E}">
        <p14:creationId xmlns:p14="http://schemas.microsoft.com/office/powerpoint/2010/main" val="16702889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597611C1-357F-4FF4-AA8D-8E51926AB2FA}"/>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4036296-9C52-4FAB-B56E-340298FFB6F9}"/>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Opening and saving the notebook</a:t>
            </a:r>
          </a:p>
        </p:txBody>
      </p:sp>
      <p:sp>
        <p:nvSpPr>
          <p:cNvPr id="3" name="page">
            <a:extLst xmlns:a="http://schemas.openxmlformats.org/drawingml/2006/main">
              <a:ext uri="{FF2B5EF4-FFF2-40B4-BE49-F238E27FC236}">
                <a16:creationId xmlns:a16="http://schemas.microsoft.com/office/drawing/2014/main" id="{24D16224-15C8-45BD-9386-A8F7E908010A}"/>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5</a:t>
            </a:r>
          </a:p>
        </p:txBody>
      </p:sp>
      <p:sp>
        <p:nvSpPr>
          <p:cNvPr id="4" name="text">
            <a:extLst xmlns:a="http://schemas.openxmlformats.org/drawingml/2006/main">
              <a:ext uri="{FF2B5EF4-FFF2-40B4-BE49-F238E27FC236}">
                <a16:creationId xmlns:a16="http://schemas.microsoft.com/office/drawing/2014/main" id="{5A279648-7CA8-49D0-913D-2DDC70AD4A94}"/>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57E0EF9F-C08A-43C5-AA49-63C011472844}"/>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Download the .ipynb file from Canvas or open it from the course website in Colab</a:t>
            </a:r>
          </a:p>
        </p:txBody>
      </p:sp>
      <p:sp>
        <p:nvSpPr>
          <p:cNvPr id="6" name="text">
            <a:extLst xmlns:a="http://schemas.openxmlformats.org/drawingml/2006/main">
              <a:ext uri="{FF2B5EF4-FFF2-40B4-BE49-F238E27FC236}">
                <a16:creationId xmlns:a16="http://schemas.microsoft.com/office/drawing/2014/main" id="{3AF3FC26-BAD1-4677-A8B1-F51817B22772}"/>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74A47C14-3130-4EDE-A808-4D9771BB24E7}"/>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Save a personal copy before editing</a:t>
            </a:r>
          </a:p>
        </p:txBody>
      </p:sp>
      <p:sp>
        <p:nvSpPr>
          <p:cNvPr id="8" name="text">
            <a:extLst xmlns:a="http://schemas.openxmlformats.org/drawingml/2006/main">
              <a:ext uri="{FF2B5EF4-FFF2-40B4-BE49-F238E27FC236}">
                <a16:creationId xmlns:a16="http://schemas.microsoft.com/office/drawing/2014/main" id="{EA4FAECE-1812-44A5-983D-C8B90DB846B4}"/>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9A18BF60-F171-4981-89B6-F14E955C309C}"/>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Run cells from top to bottom</a:t>
            </a:r>
          </a:p>
        </p:txBody>
      </p:sp>
      <p:sp>
        <p:nvSpPr>
          <p:cNvPr id="10" name="text">
            <a:extLst xmlns:a="http://schemas.openxmlformats.org/drawingml/2006/main">
              <a:ext uri="{FF2B5EF4-FFF2-40B4-BE49-F238E27FC236}">
                <a16:creationId xmlns:a16="http://schemas.microsoft.com/office/drawing/2014/main" id="{D9A7BB59-B1DE-4937-B9F0-F19F19C80C1C}"/>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4DA1C0F9-C104-47E9-9CBD-6939CB31C75F}"/>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Keep code outputs and figures in the submitted file</a:t>
            </a:r>
          </a:p>
        </p:txBody>
      </p:sp>
    </p:spTree>
    <p:extLst>
      <p:ext uri="{BB962C8B-B14F-4D97-AF65-F5344CB8AC3E}">
        <p14:creationId xmlns:p14="http://schemas.microsoft.com/office/powerpoint/2010/main" val="123525188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4287E556-B18A-4626-8496-AD1DBCB595E5}"/>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6C6F570-6319-45ED-BB0D-C5974E42C2D5}"/>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Execution order matters</a:t>
            </a:r>
          </a:p>
        </p:txBody>
      </p:sp>
      <p:sp>
        <p:nvSpPr>
          <p:cNvPr id="3" name="page">
            <a:extLst xmlns:a="http://schemas.openxmlformats.org/drawingml/2006/main">
              <a:ext uri="{FF2B5EF4-FFF2-40B4-BE49-F238E27FC236}">
                <a16:creationId xmlns:a16="http://schemas.microsoft.com/office/drawing/2014/main" id="{D0A9D444-0025-4E93-8F43-434B2207948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6</a:t>
            </a:r>
          </a:p>
        </p:txBody>
      </p:sp>
      <p:sp>
        <p:nvSpPr>
          <p:cNvPr id="4" name="code">
            <a:extLst xmlns:a="http://schemas.openxmlformats.org/drawingml/2006/main">
              <a:ext uri="{FF2B5EF4-FFF2-40B4-BE49-F238E27FC236}">
                <a16:creationId xmlns:a16="http://schemas.microsoft.com/office/drawing/2014/main" id="{37FACFE6-D049-4C64-B793-1A751BE4E458}"/>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 = 1.20</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print(A)</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A later cell can use A only after this cell runs.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rms_component = A / np.sqrt(2)</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print(rms_component)</a:t>
            </a:r>
          </a:p>
        </p:txBody>
      </p:sp>
      <p:sp>
        <p:nvSpPr>
          <p:cNvPr id="5" name="text">
            <a:extLst xmlns:a="http://schemas.openxmlformats.org/drawingml/2006/main">
              <a:ext uri="{FF2B5EF4-FFF2-40B4-BE49-F238E27FC236}">
                <a16:creationId xmlns:a16="http://schemas.microsoft.com/office/drawing/2014/main" id="{CAA4B6F2-3939-4790-84AC-D3CDD9EC8EE5}"/>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A restart clears stored variables. Run All rebuilds the notebook state from the first cell.</a:t>
            </a:r>
          </a:p>
        </p:txBody>
      </p:sp>
    </p:spTree>
    <p:extLst>
      <p:ext uri="{BB962C8B-B14F-4D97-AF65-F5344CB8AC3E}">
        <p14:creationId xmlns:p14="http://schemas.microsoft.com/office/powerpoint/2010/main" val="208062865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5BA3EE20-1F39-4744-87AC-C6D6FD20433E}"/>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C3D1BE1-0CF9-4301-86A0-D4331E5041C3}"/>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sinusoid: what the three parameters mean</a:t>
            </a:r>
          </a:p>
        </p:txBody>
      </p:sp>
      <p:sp>
        <p:nvSpPr>
          <p:cNvPr id="3" name="page">
            <a:extLst xmlns:a="http://schemas.openxmlformats.org/drawingml/2006/main">
              <a:ext uri="{FF2B5EF4-FFF2-40B4-BE49-F238E27FC236}">
                <a16:creationId xmlns:a16="http://schemas.microsoft.com/office/drawing/2014/main" id="{09F084FD-34B4-4E1E-AAD5-58352829B8D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7</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32c63063a9f44945">
            <a:extLst>
              <a:ext uri="{96DAC541-7B7A-43D3-8B79-37D633B846F1}">
                <asvg:svgBlip xmlns:asvg="http://schemas.microsoft.com/office/drawing/2016/SVG/main" r:embed="R5c878986a7894ff2"/>
              </a:ext>
            </a:extLst>
          </a:blip>
          <a:stretch xmlns:a="http://schemas.openxmlformats.org/drawingml/2006/main"/>
        </p:blipFill>
        <p:spPr>
          <a:xfrm xmlns:a="http://schemas.openxmlformats.org/drawingml/2006/main">
            <a:off x="428625" y="1619250"/>
            <a:ext cx="6191250" cy="3714750"/>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131C22EC-F542-4B07-8E0D-3DF5700E3B29}"/>
              </a:ext>
            </a:extLst>
          </p:cNvPr>
          <p:cNvSpPr>
            <a:spLocks xmlns:a="http://schemas.openxmlformats.org/drawingml/2006/main" noGrp="1"/>
          </p:cNvSpPr>
          <p:nvPr/>
        </p:nvSpPr>
        <p:spPr>
          <a:xfrm xmlns:a="http://schemas.openxmlformats.org/drawingml/2006/main">
            <a:off x="781050" y="5476875"/>
            <a:ext cx="542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x₁(t) = A₁ sin(2πf₁t + φ₁)</a:t>
            </a:r>
          </a:p>
        </p:txBody>
      </p:sp>
      <p:sp>
        <p:nvSpPr>
          <p:cNvPr id="6" name="text">
            <a:extLst xmlns:a="http://schemas.openxmlformats.org/drawingml/2006/main">
              <a:ext uri="{FF2B5EF4-FFF2-40B4-BE49-F238E27FC236}">
                <a16:creationId xmlns:a16="http://schemas.microsoft.com/office/drawing/2014/main" id="{79F690B7-4680-4F77-9127-FAC5D94FBBB1}"/>
              </a:ext>
            </a:extLst>
          </p:cNvPr>
          <p:cNvSpPr>
            <a:spLocks xmlns:a="http://schemas.openxmlformats.org/drawingml/2006/main" noGrp="1"/>
          </p:cNvSpPr>
          <p:nvPr/>
        </p:nvSpPr>
        <p:spPr>
          <a:xfrm xmlns:a="http://schemas.openxmlformats.org/drawingml/2006/main">
            <a:off x="7096125" y="1619250"/>
            <a:ext cx="4095750" cy="514350"/>
          </a:xfrm>
          <a:prstGeom xmlns:a="http://schemas.openxmlformats.org/drawingml/2006/main" prst="rect">
            <a:avLst/>
          </a:prstGeom>
          <a:solidFill xmlns:a="http://schemas.openxmlformats.org/drawingml/2006/main">
            <a:srgbClr val="F8EEEE"/>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A₁ = 1.20 V</a:t>
            </a:r>
          </a:p>
        </p:txBody>
      </p:sp>
      <p:sp>
        <p:nvSpPr>
          <p:cNvPr id="7" name="text">
            <a:extLst xmlns:a="http://schemas.openxmlformats.org/drawingml/2006/main">
              <a:ext uri="{FF2B5EF4-FFF2-40B4-BE49-F238E27FC236}">
                <a16:creationId xmlns:a16="http://schemas.microsoft.com/office/drawing/2014/main" id="{0B9E6ACE-1CCC-4B44-9103-67534B25E629}"/>
              </a:ext>
            </a:extLst>
          </p:cNvPr>
          <p:cNvSpPr>
            <a:spLocks xmlns:a="http://schemas.openxmlformats.org/drawingml/2006/main" noGrp="1"/>
          </p:cNvSpPr>
          <p:nvPr/>
        </p:nvSpPr>
        <p:spPr>
          <a:xfrm xmlns:a="http://schemas.openxmlformats.org/drawingml/2006/main">
            <a:off x="7286625" y="2190750"/>
            <a:ext cx="3905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61616"/>
                </a:solidFill>
                <a:latin typeface="Calibri"/>
                <a:ea typeface="Calibri"/>
                <a:cs typeface="Calibri"/>
              </a:defRPr>
            </a:pPr>
            <a:r>
              <a:rPr sz="1650" b="0">
                <a:solidFill>
                  <a:srgbClr val="161616"/>
                </a:solidFill>
                <a:latin typeface="Calibri"/>
                <a:ea typeface="Calibri"/>
                <a:cs typeface="Calibri"/>
              </a:rPr>
              <a:t>Amplitude: peak voltage measured from zero</a:t>
            </a:r>
          </a:p>
        </p:txBody>
      </p:sp>
      <p:sp>
        <p:nvSpPr>
          <p:cNvPr id="8" name="text">
            <a:extLst xmlns:a="http://schemas.openxmlformats.org/drawingml/2006/main">
              <a:ext uri="{FF2B5EF4-FFF2-40B4-BE49-F238E27FC236}">
                <a16:creationId xmlns:a16="http://schemas.microsoft.com/office/drawing/2014/main" id="{A2940092-96C9-43C0-B821-2E3EE1EF1C81}"/>
              </a:ext>
            </a:extLst>
          </p:cNvPr>
          <p:cNvSpPr>
            <a:spLocks xmlns:a="http://schemas.openxmlformats.org/drawingml/2006/main" noGrp="1"/>
          </p:cNvSpPr>
          <p:nvPr/>
        </p:nvSpPr>
        <p:spPr>
          <a:xfrm xmlns:a="http://schemas.openxmlformats.org/drawingml/2006/main">
            <a:off x="7096125" y="2952750"/>
            <a:ext cx="4095750" cy="514350"/>
          </a:xfrm>
          <a:prstGeom xmlns:a="http://schemas.openxmlformats.org/drawingml/2006/main" prst="rect">
            <a:avLst/>
          </a:prstGeom>
          <a:solidFill xmlns:a="http://schemas.openxmlformats.org/drawingml/2006/main">
            <a:srgbClr val="F8EEEE"/>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f₁ = 18 Hz</a:t>
            </a:r>
          </a:p>
        </p:txBody>
      </p:sp>
      <p:sp>
        <p:nvSpPr>
          <p:cNvPr id="9" name="text">
            <a:extLst xmlns:a="http://schemas.openxmlformats.org/drawingml/2006/main">
              <a:ext uri="{FF2B5EF4-FFF2-40B4-BE49-F238E27FC236}">
                <a16:creationId xmlns:a16="http://schemas.microsoft.com/office/drawing/2014/main" id="{AE56FCA2-6797-423D-A00D-C61ACF4555EF}"/>
              </a:ext>
            </a:extLst>
          </p:cNvPr>
          <p:cNvSpPr>
            <a:spLocks xmlns:a="http://schemas.openxmlformats.org/drawingml/2006/main" noGrp="1"/>
          </p:cNvSpPr>
          <p:nvPr/>
        </p:nvSpPr>
        <p:spPr>
          <a:xfrm xmlns:a="http://schemas.openxmlformats.org/drawingml/2006/main">
            <a:off x="7286625" y="35242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61616"/>
                </a:solidFill>
                <a:latin typeface="Calibri"/>
                <a:ea typeface="Calibri"/>
                <a:cs typeface="Calibri"/>
              </a:defRPr>
            </a:pPr>
            <a:r>
              <a:rPr sz="1650" b="0">
                <a:solidFill>
                  <a:srgbClr val="161616"/>
                </a:solidFill>
                <a:latin typeface="Calibri"/>
                <a:ea typeface="Calibri"/>
                <a:cs typeface="Calibri"/>
              </a:rPr>
              <a:t>Frequency: 18 complete cycles each second</a:t>
            </a:r>
          </a:p>
          <a:p xmlns:a="http://schemas.openxmlformats.org/drawingml/2006/main">
            <a:pPr>
              <a:defRPr sz="1650" b="0">
                <a:solidFill>
                  <a:srgbClr val="161616"/>
                </a:solidFill>
                <a:latin typeface="Calibri"/>
                <a:ea typeface="Calibri"/>
                <a:cs typeface="Calibri"/>
              </a:defRPr>
            </a:pPr>
            <a:r>
              <a:rPr sz="1650" b="0">
                <a:solidFill>
                  <a:srgbClr val="161616"/>
                </a:solidFill>
                <a:latin typeface="Calibri"/>
                <a:ea typeface="Calibri"/>
                <a:cs typeface="Calibri"/>
              </a:rPr>
              <a:t>Period T₁ = 1/f₁ = 55.6 ms</a:t>
            </a:r>
          </a:p>
        </p:txBody>
      </p:sp>
      <p:sp>
        <p:nvSpPr>
          <p:cNvPr id="10" name="text">
            <a:extLst xmlns:a="http://schemas.openxmlformats.org/drawingml/2006/main">
              <a:ext uri="{FF2B5EF4-FFF2-40B4-BE49-F238E27FC236}">
                <a16:creationId xmlns:a16="http://schemas.microsoft.com/office/drawing/2014/main" id="{6F564218-44C5-4EA3-9841-D20FF34EDFCD}"/>
              </a:ext>
            </a:extLst>
          </p:cNvPr>
          <p:cNvSpPr>
            <a:spLocks xmlns:a="http://schemas.openxmlformats.org/drawingml/2006/main" noGrp="1"/>
          </p:cNvSpPr>
          <p:nvPr/>
        </p:nvSpPr>
        <p:spPr>
          <a:xfrm xmlns:a="http://schemas.openxmlformats.org/drawingml/2006/main">
            <a:off x="7096125" y="4667250"/>
            <a:ext cx="4095750" cy="514350"/>
          </a:xfrm>
          <a:prstGeom xmlns:a="http://schemas.openxmlformats.org/drawingml/2006/main" prst="rect">
            <a:avLst/>
          </a:prstGeom>
          <a:solidFill xmlns:a="http://schemas.openxmlformats.org/drawingml/2006/main">
            <a:srgbClr val="F8EEEE"/>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φ₁ = 25°</a:t>
            </a:r>
          </a:p>
        </p:txBody>
      </p:sp>
      <p:sp>
        <p:nvSpPr>
          <p:cNvPr id="11" name="text">
            <a:extLst xmlns:a="http://schemas.openxmlformats.org/drawingml/2006/main">
              <a:ext uri="{FF2B5EF4-FFF2-40B4-BE49-F238E27FC236}">
                <a16:creationId xmlns:a16="http://schemas.microsoft.com/office/drawing/2014/main" id="{9724AF25-C713-4C52-93E5-59587A05AF73}"/>
              </a:ext>
            </a:extLst>
          </p:cNvPr>
          <p:cNvSpPr>
            <a:spLocks xmlns:a="http://schemas.openxmlformats.org/drawingml/2006/main" noGrp="1"/>
          </p:cNvSpPr>
          <p:nvPr/>
        </p:nvSpPr>
        <p:spPr>
          <a:xfrm xmlns:a="http://schemas.openxmlformats.org/drawingml/2006/main">
            <a:off x="7286625" y="5238750"/>
            <a:ext cx="4048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61616"/>
                </a:solidFill>
                <a:latin typeface="Calibri"/>
                <a:ea typeface="Calibri"/>
                <a:cs typeface="Calibri"/>
              </a:defRPr>
            </a:pPr>
            <a:r>
              <a:rPr sz="1650" b="0">
                <a:solidFill>
                  <a:srgbClr val="161616"/>
                </a:solidFill>
                <a:latin typeface="Calibri"/>
                <a:ea typeface="Calibri"/>
                <a:cs typeface="Calibri"/>
              </a:rPr>
              <a:t>Phase: where the cycle is at t = 0; it shifts the wave left or right</a:t>
            </a:r>
          </a:p>
        </p:txBody>
      </p:sp>
    </p:spTree>
    <p:extLst>
      <p:ext uri="{BB962C8B-B14F-4D97-AF65-F5344CB8AC3E}">
        <p14:creationId xmlns:p14="http://schemas.microsoft.com/office/powerpoint/2010/main" val="201374095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095AF262-C582-43CA-92B4-28CB93CE0BE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7EFBB01-BA45-43A8-B168-9F50CC610F3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new two-tone signal</a:t>
            </a:r>
          </a:p>
        </p:txBody>
      </p:sp>
      <p:sp>
        <p:nvSpPr>
          <p:cNvPr id="3" name="page">
            <a:extLst xmlns:a="http://schemas.openxmlformats.org/drawingml/2006/main">
              <a:ext uri="{FF2B5EF4-FFF2-40B4-BE49-F238E27FC236}">
                <a16:creationId xmlns:a16="http://schemas.microsoft.com/office/drawing/2014/main" id="{13F5D492-93A0-4D46-B1C1-FE9E13521D19}"/>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8</a:t>
            </a:r>
          </a:p>
        </p:txBody>
      </p:sp>
      <p:sp>
        <p:nvSpPr>
          <p:cNvPr id="4" name="code">
            <a:extLst xmlns:a="http://schemas.openxmlformats.org/drawingml/2006/main">
              <a:ext uri="{FF2B5EF4-FFF2-40B4-BE49-F238E27FC236}">
                <a16:creationId xmlns:a16="http://schemas.microsoft.com/office/drawing/2014/main" id="{703343B3-5A59-4164-9D6F-F6E4E26C0ECC}"/>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A1, f1, phi1_deg = 1.20, 18.0, 25.0</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A2, f2, phi2_deg = 0.45, 42.0, -15.0</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def signal(t):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return (A1*np.sin(2*np.pi*f1*t + np.deg2rad(phi1_deg))</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 A2*np.cos(2*np.pi*f2*t + np.deg2rad(phi2_deg)))</a:t>
            </a:r>
          </a:p>
        </p:txBody>
      </p:sp>
      <p:sp>
        <p:nvSpPr>
          <p:cNvPr id="5" name="text">
            <a:extLst xmlns:a="http://schemas.openxmlformats.org/drawingml/2006/main">
              <a:ext uri="{FF2B5EF4-FFF2-40B4-BE49-F238E27FC236}">
                <a16:creationId xmlns:a16="http://schemas.microsoft.com/office/drawing/2014/main" id="{F9EEC7B9-4E08-45DC-85DC-185A12EA045C}"/>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Subscript 1 means tone 1; subscript 2 means tone 2. A is in volts, f is in hertz, and phi_deg is in degrees.</a:t>
            </a:r>
          </a:p>
        </p:txBody>
      </p:sp>
    </p:spTree>
    <p:extLst>
      <p:ext uri="{BB962C8B-B14F-4D97-AF65-F5344CB8AC3E}">
        <p14:creationId xmlns:p14="http://schemas.microsoft.com/office/powerpoint/2010/main" val="2192410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D97CE78E-1650-4957-9EEA-C31D9F5A8CDD}"/>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32147DD-571C-4749-AB61-41C8D7FD6F98}"/>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Meaning of the Python syntax</a:t>
            </a:r>
          </a:p>
        </p:txBody>
      </p:sp>
      <p:sp>
        <p:nvSpPr>
          <p:cNvPr id="3" name="page">
            <a:extLst xmlns:a="http://schemas.openxmlformats.org/drawingml/2006/main">
              <a:ext uri="{FF2B5EF4-FFF2-40B4-BE49-F238E27FC236}">
                <a16:creationId xmlns:a16="http://schemas.microsoft.com/office/drawing/2014/main" id="{BCB36A8F-DFFA-4D7E-B320-82B4150AA001}"/>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9</a:t>
            </a:r>
          </a:p>
        </p:txBody>
      </p:sp>
      <p:sp>
        <p:nvSpPr>
          <p:cNvPr id="4" name="text">
            <a:extLst xmlns:a="http://schemas.openxmlformats.org/drawingml/2006/main">
              <a:ext uri="{FF2B5EF4-FFF2-40B4-BE49-F238E27FC236}">
                <a16:creationId xmlns:a16="http://schemas.microsoft.com/office/drawing/2014/main" id="{9A8EF110-FF66-4CFA-879F-1723B34B50C2}"/>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ARRAY OPERATIONS</a:t>
            </a:r>
          </a:p>
        </p:txBody>
      </p:sp>
      <p:sp>
        <p:nvSpPr>
          <p:cNvPr id="5" name="text">
            <a:extLst xmlns:a="http://schemas.openxmlformats.org/drawingml/2006/main">
              <a:ext uri="{FF2B5EF4-FFF2-40B4-BE49-F238E27FC236}">
                <a16:creationId xmlns:a16="http://schemas.microsoft.com/office/drawing/2014/main" id="{DC37E59F-C50F-4ECB-96C3-E37DE71FE73C}"/>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FUNCTION OUTPUT</a:t>
            </a:r>
          </a:p>
        </p:txBody>
      </p:sp>
      <p:sp>
        <p:nvSpPr>
          <p:cNvPr id="6" name="text">
            <a:extLst xmlns:a="http://schemas.openxmlformats.org/drawingml/2006/main">
              <a:ext uri="{FF2B5EF4-FFF2-40B4-BE49-F238E27FC236}">
                <a16:creationId xmlns:a16="http://schemas.microsoft.com/office/drawing/2014/main" id="{4F721707-1439-4B30-BEA3-821126950C44}"/>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np.pi supplies π.</a:t>
            </a:r>
          </a:p>
        </p:txBody>
      </p:sp>
      <p:sp>
        <p:nvSpPr>
          <p:cNvPr id="7" name="text">
            <a:extLst xmlns:a="http://schemas.openxmlformats.org/drawingml/2006/main">
              <a:ext uri="{FF2B5EF4-FFF2-40B4-BE49-F238E27FC236}">
                <a16:creationId xmlns:a16="http://schemas.microsoft.com/office/drawing/2014/main" id="{A0686C98-64EB-4EB7-A558-45BD2E91E692}"/>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np.sin and np.cos accept arrays.</a:t>
            </a:r>
          </a:p>
        </p:txBody>
      </p:sp>
      <p:sp>
        <p:nvSpPr>
          <p:cNvPr id="8" name="text">
            <a:extLst xmlns:a="http://schemas.openxmlformats.org/drawingml/2006/main">
              <a:ext uri="{FF2B5EF4-FFF2-40B4-BE49-F238E27FC236}">
                <a16:creationId xmlns:a16="http://schemas.microsoft.com/office/drawing/2014/main" id="{407F4277-E699-4C94-A388-05E43845E0D2}"/>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np.deg2rad converts degrees to radians.</a:t>
            </a:r>
          </a:p>
        </p:txBody>
      </p:sp>
      <p:sp>
        <p:nvSpPr>
          <p:cNvPr id="9" name="text">
            <a:extLst xmlns:a="http://schemas.openxmlformats.org/drawingml/2006/main">
              <a:ext uri="{FF2B5EF4-FFF2-40B4-BE49-F238E27FC236}">
                <a16:creationId xmlns:a16="http://schemas.microsoft.com/office/drawing/2014/main" id="{8386CFCA-8DD3-491E-A09A-E84D18ADD793}"/>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signal(t) adds the two components at every requested time.</a:t>
            </a:r>
          </a:p>
        </p:txBody>
      </p:sp>
      <p:sp>
        <p:nvSpPr>
          <p:cNvPr id="10" name="text">
            <a:extLst xmlns:a="http://schemas.openxmlformats.org/drawingml/2006/main">
              <a:ext uri="{FF2B5EF4-FFF2-40B4-BE49-F238E27FC236}">
                <a16:creationId xmlns:a16="http://schemas.microsoft.com/office/drawing/2014/main" id="{B1E63489-3824-4678-873D-FBD62A9F7252}"/>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Changing t changes the sampling grid, not the physical signal definition.</a:t>
            </a:r>
          </a:p>
        </p:txBody>
      </p:sp>
    </p:spTree>
    <p:extLst>
      <p:ext uri="{BB962C8B-B14F-4D97-AF65-F5344CB8AC3E}">
        <p14:creationId xmlns:p14="http://schemas.microsoft.com/office/powerpoint/2010/main" val="185637815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35FE533F-2986-45E5-B949-C2679E19816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9AD198C-F9DE-45F5-80F9-ED045F9C21C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Mean and RMS</a:t>
            </a:r>
          </a:p>
        </p:txBody>
      </p:sp>
      <p:sp>
        <p:nvSpPr>
          <p:cNvPr id="3" name="page">
            <a:extLst xmlns:a="http://schemas.openxmlformats.org/drawingml/2006/main">
              <a:ext uri="{FF2B5EF4-FFF2-40B4-BE49-F238E27FC236}">
                <a16:creationId xmlns:a16="http://schemas.microsoft.com/office/drawing/2014/main" id="{101EFABF-ADE6-4100-A2BA-B8E11C9E8AD9}"/>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10</a:t>
            </a:r>
          </a:p>
        </p:txBody>
      </p:sp>
      <p:sp>
        <p:nvSpPr>
          <p:cNvPr id="4" name="text">
            <a:extLst xmlns:a="http://schemas.openxmlformats.org/drawingml/2006/main">
              <a:ext uri="{FF2B5EF4-FFF2-40B4-BE49-F238E27FC236}">
                <a16:creationId xmlns:a16="http://schemas.microsoft.com/office/drawing/2014/main" id="{CAB56D33-572C-414F-B8EE-D3D3BA0B2C27}"/>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MEAN</a:t>
            </a:r>
          </a:p>
        </p:txBody>
      </p:sp>
      <p:sp>
        <p:nvSpPr>
          <p:cNvPr id="5" name="text">
            <a:extLst xmlns:a="http://schemas.openxmlformats.org/drawingml/2006/main">
              <a:ext uri="{FF2B5EF4-FFF2-40B4-BE49-F238E27FC236}">
                <a16:creationId xmlns:a16="http://schemas.microsoft.com/office/drawing/2014/main" id="{57DA6A0E-0E5D-4A70-8E1A-C5CAA7EF55E2}"/>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RMS</a:t>
            </a:r>
          </a:p>
        </p:txBody>
      </p:sp>
      <p:sp>
        <p:nvSpPr>
          <p:cNvPr id="6" name="text">
            <a:extLst xmlns:a="http://schemas.openxmlformats.org/drawingml/2006/main">
              <a:ext uri="{FF2B5EF4-FFF2-40B4-BE49-F238E27FC236}">
                <a16:creationId xmlns:a16="http://schemas.microsoft.com/office/drawing/2014/main" id="{93655B0B-E2D4-404D-899E-BC2EE5F82A2D}"/>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Average signed level:</a:t>
            </a:r>
          </a:p>
        </p:txBody>
      </p:sp>
      <p:sp>
        <p:nvSpPr>
          <p:cNvPr id="7" name="text">
            <a:extLst xmlns:a="http://schemas.openxmlformats.org/drawingml/2006/main">
              <a:ext uri="{FF2B5EF4-FFF2-40B4-BE49-F238E27FC236}">
                <a16:creationId xmlns:a16="http://schemas.microsoft.com/office/drawing/2014/main" id="{883DD1BF-8DDA-40F8-9655-5CE543AAB66F}"/>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mean = (1/N) Σ x[n]</a:t>
            </a:r>
          </a:p>
        </p:txBody>
      </p:sp>
      <p:sp>
        <p:nvSpPr>
          <p:cNvPr id="8" name="text">
            <a:extLst xmlns:a="http://schemas.openxmlformats.org/drawingml/2006/main">
              <a:ext uri="{FF2B5EF4-FFF2-40B4-BE49-F238E27FC236}">
                <a16:creationId xmlns:a16="http://schemas.microsoft.com/office/drawing/2014/main" id="{05F6B043-B211-478D-9E71-C9E1A7487E6A}"/>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Positive and negative parts cancel for complete cycles, so the expected mean is 0 V.</a:t>
            </a:r>
          </a:p>
        </p:txBody>
      </p:sp>
      <p:sp>
        <p:nvSpPr>
          <p:cNvPr id="9" name="text">
            <a:extLst xmlns:a="http://schemas.openxmlformats.org/drawingml/2006/main">
              <a:ext uri="{FF2B5EF4-FFF2-40B4-BE49-F238E27FC236}">
                <a16:creationId xmlns:a16="http://schemas.microsoft.com/office/drawing/2014/main" id="{DA68B810-FC3D-43D2-A1A1-646CFC6E3D9D}"/>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Typical signal size, independent of sign:</a:t>
            </a:r>
          </a:p>
        </p:txBody>
      </p:sp>
      <p:sp>
        <p:nvSpPr>
          <p:cNvPr id="10" name="text">
            <a:extLst xmlns:a="http://schemas.openxmlformats.org/drawingml/2006/main">
              <a:ext uri="{FF2B5EF4-FFF2-40B4-BE49-F238E27FC236}">
                <a16:creationId xmlns:a16="http://schemas.microsoft.com/office/drawing/2014/main" id="{C3D6BEE6-13D2-4217-89FD-1CF595DFCFAF}"/>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RMS = sqrt((1/N) Σ x[n]²)</a:t>
            </a:r>
          </a:p>
        </p:txBody>
      </p:sp>
      <p:sp>
        <p:nvSpPr>
          <p:cNvPr id="11" name="text">
            <a:extLst xmlns:a="http://schemas.openxmlformats.org/drawingml/2006/main">
              <a:ext uri="{FF2B5EF4-FFF2-40B4-BE49-F238E27FC236}">
                <a16:creationId xmlns:a16="http://schemas.microsoft.com/office/drawing/2014/main" id="{D2839B4F-E3D9-47A7-885D-1B8CA2039F21}"/>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these two distinct tones over complete cycles:</a:t>
            </a:r>
          </a:p>
        </p:txBody>
      </p:sp>
      <p:sp>
        <p:nvSpPr>
          <p:cNvPr id="12" name="text">
            <a:extLst xmlns:a="http://schemas.openxmlformats.org/drawingml/2006/main">
              <a:ext uri="{FF2B5EF4-FFF2-40B4-BE49-F238E27FC236}">
                <a16:creationId xmlns:a16="http://schemas.microsoft.com/office/drawing/2014/main" id="{AE606733-14E2-4884-8DC2-D94F7D0B38E6}"/>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RMS = sqrt((A₁² + A₂²)/2) = 0.9062 V</a:t>
            </a:r>
          </a:p>
        </p:txBody>
      </p:sp>
    </p:spTree>
    <p:extLst>
      <p:ext uri="{BB962C8B-B14F-4D97-AF65-F5344CB8AC3E}">
        <p14:creationId xmlns:p14="http://schemas.microsoft.com/office/powerpoint/2010/main" val="31968869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9C7F07C6-09F4-4AA8-B386-CB60BE08CE3C}"/>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D8EAC5A-B3EE-4FDB-9397-A2338D399EE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Samples and the underlying waveform</a:t>
            </a:r>
          </a:p>
        </p:txBody>
      </p:sp>
      <p:sp>
        <p:nvSpPr>
          <p:cNvPr id="3" name="page">
            <a:extLst xmlns:a="http://schemas.openxmlformats.org/drawingml/2006/main">
              <a:ext uri="{FF2B5EF4-FFF2-40B4-BE49-F238E27FC236}">
                <a16:creationId xmlns:a16="http://schemas.microsoft.com/office/drawing/2014/main" id="{341AEE07-666B-4916-8E74-CB6E65B4F0E8}"/>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11</a:t>
            </a:r>
          </a:p>
        </p:txBody>
      </p:sp>
      <p:sp>
        <p:nvSpPr>
          <p:cNvPr id="4" name="text">
            <a:extLst xmlns:a="http://schemas.openxmlformats.org/drawingml/2006/main">
              <a:ext uri="{FF2B5EF4-FFF2-40B4-BE49-F238E27FC236}">
                <a16:creationId xmlns:a16="http://schemas.microsoft.com/office/drawing/2014/main" id="{8D48553D-B353-4668-A17E-1F3C90C27F3B}"/>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DENSE REFERENCE</a:t>
            </a:r>
          </a:p>
        </p:txBody>
      </p:sp>
      <p:sp>
        <p:nvSpPr>
          <p:cNvPr id="5" name="text">
            <a:extLst xmlns:a="http://schemas.openxmlformats.org/drawingml/2006/main">
              <a:ext uri="{FF2B5EF4-FFF2-40B4-BE49-F238E27FC236}">
                <a16:creationId xmlns:a16="http://schemas.microsoft.com/office/drawing/2014/main" id="{8F3B85FE-3BE9-4FC4-9243-6BEAEDD4C7A9}"/>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48 HZ SAMPLES</a:t>
            </a:r>
          </a:p>
        </p:txBody>
      </p:sp>
      <p:sp>
        <p:nvSpPr>
          <p:cNvPr id="6" name="text">
            <a:extLst xmlns:a="http://schemas.openxmlformats.org/drawingml/2006/main">
              <a:ext uri="{FF2B5EF4-FFF2-40B4-BE49-F238E27FC236}">
                <a16:creationId xmlns:a16="http://schemas.microsoft.com/office/drawing/2014/main" id="{BC181FF9-023B-4194-B8C0-DD1F7EC15BE7}"/>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gray curve in the notebook uses 20,001 calculated time points. It shows the mathematical signal clearly.</a:t>
            </a:r>
          </a:p>
        </p:txBody>
      </p:sp>
      <p:sp>
        <p:nvSpPr>
          <p:cNvPr id="7" name="text">
            <a:extLst xmlns:a="http://schemas.openxmlformats.org/drawingml/2006/main">
              <a:ext uri="{FF2B5EF4-FFF2-40B4-BE49-F238E27FC236}">
                <a16:creationId xmlns:a16="http://schemas.microsoft.com/office/drawing/2014/main" id="{B5A50E63-8085-47E5-8777-A32B67641E0E}"/>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blue markers contain only 10 measured values in the first 0.20 s. Lines between markers do not add information.</a:t>
            </a:r>
          </a:p>
        </p:txBody>
      </p:sp>
    </p:spTree>
    <p:extLst>
      <p:ext uri="{BB962C8B-B14F-4D97-AF65-F5344CB8AC3E}">
        <p14:creationId xmlns:p14="http://schemas.microsoft.com/office/powerpoint/2010/main" val="130630435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296D2553-C7B4-4068-A60C-70AFFBBDEA48}"/>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E093E63-8903-4462-8500-634AD911059B}"/>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 rate, interval, and record length</a:t>
            </a:r>
          </a:p>
        </p:txBody>
      </p:sp>
      <p:sp>
        <p:nvSpPr>
          <p:cNvPr id="3" name="page">
            <a:extLst xmlns:a="http://schemas.openxmlformats.org/drawingml/2006/main">
              <a:ext uri="{FF2B5EF4-FFF2-40B4-BE49-F238E27FC236}">
                <a16:creationId xmlns:a16="http://schemas.microsoft.com/office/drawing/2014/main" id="{9B5B16F0-09D8-49F5-83F9-2F70A4D25358}"/>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12</a:t>
            </a:r>
          </a:p>
        </p:txBody>
      </p:sp>
      <p:sp>
        <p:nvSpPr>
          <p:cNvPr id="4" name="code">
            <a:extLst xmlns:a="http://schemas.openxmlformats.org/drawingml/2006/main">
              <a:ext uri="{FF2B5EF4-FFF2-40B4-BE49-F238E27FC236}">
                <a16:creationId xmlns:a16="http://schemas.microsoft.com/office/drawing/2014/main" id="{62E6A431-ABBD-4B21-A5D2-504C97898469}"/>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fs = 126.0                 # samples per second</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dt = 1/fs                  # seconds between samples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duration = 1.00            # seconds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n = int(round(duration*fs))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t = np.arange(n)/fs</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print(dt, n, t[-1])</a:t>
            </a:r>
          </a:p>
        </p:txBody>
      </p:sp>
      <p:sp>
        <p:nvSpPr>
          <p:cNvPr id="5" name="text">
            <a:extLst xmlns:a="http://schemas.openxmlformats.org/drawingml/2006/main">
              <a:ext uri="{FF2B5EF4-FFF2-40B4-BE49-F238E27FC236}">
                <a16:creationId xmlns:a16="http://schemas.microsoft.com/office/drawing/2014/main" id="{61B99A72-8052-4E0B-AD42-E11E468CC2FC}"/>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Students read these settings and analyze the resulting data. They do not modify the code.</a:t>
            </a:r>
          </a:p>
        </p:txBody>
      </p:sp>
    </p:spTree>
    <p:extLst>
      <p:ext uri="{BB962C8B-B14F-4D97-AF65-F5344CB8AC3E}">
        <p14:creationId xmlns:p14="http://schemas.microsoft.com/office/powerpoint/2010/main" val="3092919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3BB3EB70-AA42-4FAA-B9D4-D55F84591789}"/>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DCFEC4A-C745-4422-AE00-09F6C426A7D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Nyquist frequency</a:t>
            </a:r>
          </a:p>
        </p:txBody>
      </p:sp>
      <p:sp>
        <p:nvSpPr>
          <p:cNvPr id="3" name="page">
            <a:extLst xmlns:a="http://schemas.openxmlformats.org/drawingml/2006/main">
              <a:ext uri="{FF2B5EF4-FFF2-40B4-BE49-F238E27FC236}">
                <a16:creationId xmlns:a16="http://schemas.microsoft.com/office/drawing/2014/main" id="{D0917F06-D7F7-4992-9A72-FC16610A4D7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13</a:t>
            </a:r>
          </a:p>
        </p:txBody>
      </p:sp>
      <p:sp>
        <p:nvSpPr>
          <p:cNvPr id="4" name="text">
            <a:extLst xmlns:a="http://schemas.openxmlformats.org/drawingml/2006/main">
              <a:ext uri="{FF2B5EF4-FFF2-40B4-BE49-F238E27FC236}">
                <a16:creationId xmlns:a16="http://schemas.microsoft.com/office/drawing/2014/main" id="{4A152EBC-07EC-450E-B266-6540D0541DA6}"/>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BF6929EE-4A31-4A41-B087-86EC5637AFB1}"/>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Samples per cycle = fs / fsignal</a:t>
            </a:r>
          </a:p>
        </p:txBody>
      </p:sp>
      <p:sp>
        <p:nvSpPr>
          <p:cNvPr id="6" name="text">
            <a:extLst xmlns:a="http://schemas.openxmlformats.org/drawingml/2006/main">
              <a:ext uri="{FF2B5EF4-FFF2-40B4-BE49-F238E27FC236}">
                <a16:creationId xmlns:a16="http://schemas.microsoft.com/office/drawing/2014/main" id="{2EB98C4C-43C7-42E1-BCDF-65288996835E}"/>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D246778E-F298-4B21-A335-97FC39F057E3}"/>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Nyquist frequency: fN = fs/2; frequencies above fN cannot be identified correctly</a:t>
            </a:r>
          </a:p>
        </p:txBody>
      </p:sp>
      <p:sp>
        <p:nvSpPr>
          <p:cNvPr id="8" name="text">
            <a:extLst xmlns:a="http://schemas.openxmlformats.org/drawingml/2006/main">
              <a:ext uri="{FF2B5EF4-FFF2-40B4-BE49-F238E27FC236}">
                <a16:creationId xmlns:a16="http://schemas.microsoft.com/office/drawing/2014/main" id="{54892CD5-09A7-4F61-AEB2-B9593FD6FCAE}"/>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DA949DB2-05FD-44B1-978B-4A9E0FD49DDF}"/>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For the 42 Hz tone, fs must be greater than 84 Hz</a:t>
            </a:r>
          </a:p>
        </p:txBody>
      </p:sp>
      <p:sp>
        <p:nvSpPr>
          <p:cNvPr id="10" name="text">
            <a:extLst xmlns:a="http://schemas.openxmlformats.org/drawingml/2006/main">
              <a:ext uri="{FF2B5EF4-FFF2-40B4-BE49-F238E27FC236}">
                <a16:creationId xmlns:a16="http://schemas.microsoft.com/office/drawing/2014/main" id="{0ECEB36D-5EC1-4FA9-AC89-26A4EE0BEB40}"/>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D944E8F9-6E59-43E3-899A-5DF8416D26E1}"/>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336 and 126 Hz satisfy the condition. 72 and 48 Hz do not</a:t>
            </a:r>
          </a:p>
        </p:txBody>
      </p:sp>
    </p:spTree>
    <p:extLst>
      <p:ext uri="{BB962C8B-B14F-4D97-AF65-F5344CB8AC3E}">
        <p14:creationId xmlns:p14="http://schemas.microsoft.com/office/powerpoint/2010/main" val="172661566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C61AB165-AA62-43C1-A532-00C0B42E47B0}"/>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38EEAB6-9055-4CF7-9AFB-CF5EB5B46403}"/>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Aliasing changes the measured frequency</a:t>
            </a:r>
          </a:p>
        </p:txBody>
      </p:sp>
      <p:sp>
        <p:nvSpPr>
          <p:cNvPr id="3" name="page">
            <a:extLst xmlns:a="http://schemas.openxmlformats.org/drawingml/2006/main">
              <a:ext uri="{FF2B5EF4-FFF2-40B4-BE49-F238E27FC236}">
                <a16:creationId xmlns:a16="http://schemas.microsoft.com/office/drawing/2014/main" id="{1150DE16-08A4-4E44-9BCB-E9930FD6CA52}"/>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14</a:t>
            </a:r>
          </a:p>
        </p:txBody>
      </p:sp>
      <p:sp>
        <p:nvSpPr>
          <p:cNvPr id="4" name="text">
            <a:extLst xmlns:a="http://schemas.openxmlformats.org/drawingml/2006/main">
              <a:ext uri="{FF2B5EF4-FFF2-40B4-BE49-F238E27FC236}">
                <a16:creationId xmlns:a16="http://schemas.microsoft.com/office/drawing/2014/main" id="{D551AE9A-0CCB-49AF-ADD8-8E514D2634DE}"/>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FS = 126 HZ</a:t>
            </a:r>
          </a:p>
        </p:txBody>
      </p:sp>
      <p:sp>
        <p:nvSpPr>
          <p:cNvPr id="5" name="text">
            <a:extLst xmlns:a="http://schemas.openxmlformats.org/drawingml/2006/main">
              <a:ext uri="{FF2B5EF4-FFF2-40B4-BE49-F238E27FC236}">
                <a16:creationId xmlns:a16="http://schemas.microsoft.com/office/drawing/2014/main" id="{739E9526-065D-4BD7-BE3C-FD50B9E5F30D}"/>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FS = 48 HZ</a:t>
            </a:r>
          </a:p>
        </p:txBody>
      </p:sp>
      <p:sp>
        <p:nvSpPr>
          <p:cNvPr id="6" name="text">
            <a:extLst xmlns:a="http://schemas.openxmlformats.org/drawingml/2006/main">
              <a:ext uri="{FF2B5EF4-FFF2-40B4-BE49-F238E27FC236}">
                <a16:creationId xmlns:a16="http://schemas.microsoft.com/office/drawing/2014/main" id="{0771865C-ED9D-4962-B310-05A3FACA3EBD}"/>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Nyquist frequency: 63 Hz</a:t>
            </a:r>
          </a:p>
        </p:txBody>
      </p:sp>
      <p:sp>
        <p:nvSpPr>
          <p:cNvPr id="7" name="text">
            <a:extLst xmlns:a="http://schemas.openxmlformats.org/drawingml/2006/main">
              <a:ext uri="{FF2B5EF4-FFF2-40B4-BE49-F238E27FC236}">
                <a16:creationId xmlns:a16="http://schemas.microsoft.com/office/drawing/2014/main" id="{127447ED-992D-4334-A22C-0DF7FE2442A4}"/>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Observed FFT peaks: 18 and 42 Hz</a:t>
            </a:r>
          </a:p>
        </p:txBody>
      </p:sp>
      <p:sp>
        <p:nvSpPr>
          <p:cNvPr id="8" name="text">
            <a:extLst xmlns:a="http://schemas.openxmlformats.org/drawingml/2006/main">
              <a:ext uri="{FF2B5EF4-FFF2-40B4-BE49-F238E27FC236}">
                <a16:creationId xmlns:a16="http://schemas.microsoft.com/office/drawing/2014/main" id="{B7910E5A-246D-4FA5-83CF-72A154089E5A}"/>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Both components remain below Nyquist.</a:t>
            </a:r>
          </a:p>
        </p:txBody>
      </p:sp>
      <p:sp>
        <p:nvSpPr>
          <p:cNvPr id="9" name="text">
            <a:extLst xmlns:a="http://schemas.openxmlformats.org/drawingml/2006/main">
              <a:ext uri="{FF2B5EF4-FFF2-40B4-BE49-F238E27FC236}">
                <a16:creationId xmlns:a16="http://schemas.microsoft.com/office/drawing/2014/main" id="{A399184A-0E0E-4EB1-BA3F-C3BD5A795C47}"/>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Nyquist frequency: 24 Hz</a:t>
            </a:r>
          </a:p>
        </p:txBody>
      </p:sp>
      <p:sp>
        <p:nvSpPr>
          <p:cNvPr id="10" name="text">
            <a:extLst xmlns:a="http://schemas.openxmlformats.org/drawingml/2006/main">
              <a:ext uri="{FF2B5EF4-FFF2-40B4-BE49-F238E27FC236}">
                <a16:creationId xmlns:a16="http://schemas.microsoft.com/office/drawing/2014/main" id="{BC6160A9-A041-41B9-A213-F723FD47CE44}"/>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Observed FFT peaks: 18 and 6 Hz</a:t>
            </a:r>
          </a:p>
        </p:txBody>
      </p:sp>
      <p:sp>
        <p:nvSpPr>
          <p:cNvPr id="11" name="text">
            <a:extLst xmlns:a="http://schemas.openxmlformats.org/drawingml/2006/main">
              <a:ext uri="{FF2B5EF4-FFF2-40B4-BE49-F238E27FC236}">
                <a16:creationId xmlns:a16="http://schemas.microsoft.com/office/drawing/2014/main" id="{6BE8CF05-E455-4E7E-93EA-231B2F3F8DCB}"/>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42 Hz appears at |42 − 48| = 6 Hz.</a:t>
            </a:r>
          </a:p>
        </p:txBody>
      </p:sp>
    </p:spTree>
    <p:extLst>
      <p:ext uri="{BB962C8B-B14F-4D97-AF65-F5344CB8AC3E}">
        <p14:creationId xmlns:p14="http://schemas.microsoft.com/office/powerpoint/2010/main" val="66448195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9B97384C-DACA-4918-B54D-344B0E067C4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A7201AC-C3CB-4554-BFEF-FCEDC45398A2}"/>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prepared sampling analysis</a:t>
            </a:r>
          </a:p>
        </p:txBody>
      </p:sp>
      <p:sp>
        <p:nvSpPr>
          <p:cNvPr id="3" name="page">
            <a:extLst xmlns:a="http://schemas.openxmlformats.org/drawingml/2006/main">
              <a:ext uri="{FF2B5EF4-FFF2-40B4-BE49-F238E27FC236}">
                <a16:creationId xmlns:a16="http://schemas.microsoft.com/office/drawing/2014/main" id="{5E17B39E-84B8-4E5A-AB5E-C347B55D34D8}"/>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15</a:t>
            </a:r>
          </a:p>
        </p:txBody>
      </p:sp>
      <p:sp>
        <p:nvSpPr>
          <p:cNvPr id="4" name="code">
            <a:extLst xmlns:a="http://schemas.openxmlformats.org/drawingml/2006/main">
              <a:ext uri="{FF2B5EF4-FFF2-40B4-BE49-F238E27FC236}">
                <a16:creationId xmlns:a16="http://schemas.microsoft.com/office/drawing/2014/main" id="{FD039A48-6971-4FC9-86CE-F53C21641875}"/>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for fs in sample_rates: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n = int(round(duration*fs))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t = np.arange(n)/fs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x = signal(t)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records[fs] = (t, x)</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sample_mean, sample_rms = mean_and_rms(x)</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print(fs, sample_mean, sample_rms)</a:t>
            </a:r>
          </a:p>
        </p:txBody>
      </p:sp>
      <p:sp>
        <p:nvSpPr>
          <p:cNvPr id="5" name="text">
            <a:extLst xmlns:a="http://schemas.openxmlformats.org/drawingml/2006/main">
              <a:ext uri="{FF2B5EF4-FFF2-40B4-BE49-F238E27FC236}">
                <a16:creationId xmlns:a16="http://schemas.microsoft.com/office/drawing/2014/main" id="{16244896-6409-43E4-8A78-A1CA0F9ABE28}"/>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Students transfer the printed values to an analysis table and calculate RMS percent error.</a:t>
            </a:r>
          </a:p>
        </p:txBody>
      </p:sp>
    </p:spTree>
    <p:extLst>
      <p:ext uri="{BB962C8B-B14F-4D97-AF65-F5344CB8AC3E}">
        <p14:creationId xmlns:p14="http://schemas.microsoft.com/office/powerpoint/2010/main" val="168686522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69F058CD-9935-4E06-921B-3A9D1D1863A3}"/>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7D00218-BED3-427B-B77F-4C47C9A3582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Reading the time-domain figures</a:t>
            </a:r>
          </a:p>
        </p:txBody>
      </p:sp>
      <p:sp>
        <p:nvSpPr>
          <p:cNvPr id="3" name="page">
            <a:extLst xmlns:a="http://schemas.openxmlformats.org/drawingml/2006/main">
              <a:ext uri="{FF2B5EF4-FFF2-40B4-BE49-F238E27FC236}">
                <a16:creationId xmlns:a16="http://schemas.microsoft.com/office/drawing/2014/main" id="{0F1B89EE-587D-4770-B1FE-F4AAABAC52C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16</a:t>
            </a:r>
          </a:p>
        </p:txBody>
      </p:sp>
      <p:sp>
        <p:nvSpPr>
          <p:cNvPr id="4" name="text">
            <a:extLst xmlns:a="http://schemas.openxmlformats.org/drawingml/2006/main">
              <a:ext uri="{FF2B5EF4-FFF2-40B4-BE49-F238E27FC236}">
                <a16:creationId xmlns:a16="http://schemas.microsoft.com/office/drawing/2014/main" id="{3A5DC70C-3B0D-4640-B471-3C59CC9A0D5D}"/>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2F963384-04B8-4937-BC9E-02BAD610E4D2}"/>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sample markers with the dense reference over the same time window</a:t>
            </a:r>
          </a:p>
        </p:txBody>
      </p:sp>
      <p:sp>
        <p:nvSpPr>
          <p:cNvPr id="6" name="text">
            <a:extLst xmlns:a="http://schemas.openxmlformats.org/drawingml/2006/main">
              <a:ext uri="{FF2B5EF4-FFF2-40B4-BE49-F238E27FC236}">
                <a16:creationId xmlns:a16="http://schemas.microsoft.com/office/drawing/2014/main" id="{601B3C3C-16E2-41B8-818D-A08B43021056}"/>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DDE24110-B5BE-4CF0-8E16-CA4965CBC601}"/>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Look for too few points per cycle and apparent changes in shape</a:t>
            </a:r>
          </a:p>
        </p:txBody>
      </p:sp>
      <p:sp>
        <p:nvSpPr>
          <p:cNvPr id="8" name="text">
            <a:extLst xmlns:a="http://schemas.openxmlformats.org/drawingml/2006/main">
              <a:ext uri="{FF2B5EF4-FFF2-40B4-BE49-F238E27FC236}">
                <a16:creationId xmlns:a16="http://schemas.microsoft.com/office/drawing/2014/main" id="{BD5723AA-0411-4AC6-8D61-14919F2D9234}"/>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FB2E1648-D9B7-41AE-8DC5-D9E0FB1D8F6F}"/>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Read the printed mean and RMS values</a:t>
            </a:r>
          </a:p>
        </p:txBody>
      </p:sp>
      <p:sp>
        <p:nvSpPr>
          <p:cNvPr id="10" name="text">
            <a:extLst xmlns:a="http://schemas.openxmlformats.org/drawingml/2006/main">
              <a:ext uri="{FF2B5EF4-FFF2-40B4-BE49-F238E27FC236}">
                <a16:creationId xmlns:a16="http://schemas.microsoft.com/office/drawing/2014/main" id="{CCC72973-622A-4AA4-8857-D37714E98F17}"/>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A6E80309-8983-41D5-83E6-F5FC57AFF60E}"/>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Avoid judging sample quality from smooth connecting lines</a:t>
            </a:r>
          </a:p>
        </p:txBody>
      </p:sp>
    </p:spTree>
    <p:extLst>
      <p:ext uri="{BB962C8B-B14F-4D97-AF65-F5344CB8AC3E}">
        <p14:creationId xmlns:p14="http://schemas.microsoft.com/office/powerpoint/2010/main" val="160275084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05AD16C7-B2DC-4C37-A7F1-2FEB66D6AF1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188AD74-6F15-4032-849D-EB47779D244F}"/>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prepared FFT analysis</a:t>
            </a:r>
          </a:p>
        </p:txBody>
      </p:sp>
      <p:sp>
        <p:nvSpPr>
          <p:cNvPr id="3" name="page">
            <a:extLst xmlns:a="http://schemas.openxmlformats.org/drawingml/2006/main">
              <a:ext uri="{FF2B5EF4-FFF2-40B4-BE49-F238E27FC236}">
                <a16:creationId xmlns:a16="http://schemas.microsoft.com/office/drawing/2014/main" id="{2AF00260-0813-4E50-B86B-FE0EDF76627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17</a:t>
            </a:r>
          </a:p>
        </p:txBody>
      </p:sp>
      <p:sp>
        <p:nvSpPr>
          <p:cNvPr id="4" name="code">
            <a:extLst xmlns:a="http://schemas.openxmlformats.org/drawingml/2006/main">
              <a:ext uri="{FF2B5EF4-FFF2-40B4-BE49-F238E27FC236}">
                <a16:creationId xmlns:a16="http://schemas.microsoft.com/office/drawing/2014/main" id="{4935A517-F875-4F1C-AE47-ACC646886382}"/>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X = np.fft.rfft(x*window)</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magnitude = np.abs(X)/(n*coherent_gain)</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magnitude[1:-1] *= 2</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frequency = np.fft.rfftfreq(n, d=1/fs)</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Horizontal axis: frequency in Hz</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Peak location: frequency present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Peak height: estimated voltage amplitude</a:t>
            </a:r>
          </a:p>
        </p:txBody>
      </p:sp>
      <p:sp>
        <p:nvSpPr>
          <p:cNvPr id="5" name="text">
            <a:extLst xmlns:a="http://schemas.openxmlformats.org/drawingml/2006/main">
              <a:ext uri="{FF2B5EF4-FFF2-40B4-BE49-F238E27FC236}">
                <a16:creationId xmlns:a16="http://schemas.microsoft.com/office/drawing/2014/main" id="{F420A443-16E8-4A07-9226-08E4142E9DC7}"/>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The FFT reorganizes the same samples from voltage versus time into magnitude versus frequency.</a:t>
            </a:r>
          </a:p>
        </p:txBody>
      </p:sp>
    </p:spTree>
    <p:extLst>
      <p:ext uri="{BB962C8B-B14F-4D97-AF65-F5344CB8AC3E}">
        <p14:creationId xmlns:p14="http://schemas.microsoft.com/office/powerpoint/2010/main" val="99549415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2F696B0E-3043-4D41-8CD0-43906D74FE39}"/>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748D5029-C090-4207-AEF3-8B19FE12A1F0}"/>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Record duration controls frequency resolution</a:t>
            </a:r>
          </a:p>
        </p:txBody>
      </p:sp>
      <p:sp>
        <p:nvSpPr>
          <p:cNvPr id="3" name="page">
            <a:extLst xmlns:a="http://schemas.openxmlformats.org/drawingml/2006/main">
              <a:ext uri="{FF2B5EF4-FFF2-40B4-BE49-F238E27FC236}">
                <a16:creationId xmlns:a16="http://schemas.microsoft.com/office/drawing/2014/main" id="{71714DE6-9AE6-462A-B47C-90902F93FED1}"/>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18</a:t>
            </a:r>
          </a:p>
        </p:txBody>
      </p:sp>
      <p:sp>
        <p:nvSpPr>
          <p:cNvPr id="4" name="text">
            <a:extLst xmlns:a="http://schemas.openxmlformats.org/drawingml/2006/main">
              <a:ext uri="{FF2B5EF4-FFF2-40B4-BE49-F238E27FC236}">
                <a16:creationId xmlns:a16="http://schemas.microsoft.com/office/drawing/2014/main" id="{A24FD477-8FAE-4BAB-89CD-D4A120C7DB6A}"/>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SHORT RECORD: T = 0.25 s</a:t>
            </a:r>
          </a:p>
        </p:txBody>
      </p:sp>
      <p:sp>
        <p:nvSpPr>
          <p:cNvPr id="5" name="text">
            <a:extLst xmlns:a="http://schemas.openxmlformats.org/drawingml/2006/main">
              <a:ext uri="{FF2B5EF4-FFF2-40B4-BE49-F238E27FC236}">
                <a16:creationId xmlns:a16="http://schemas.microsoft.com/office/drawing/2014/main" id="{4D26E87A-8B75-4271-A052-E50E51D9C113}"/>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LONGER RECORD: T = 1.00 s</a:t>
            </a:r>
          </a:p>
        </p:txBody>
      </p:sp>
      <p:sp>
        <p:nvSpPr>
          <p:cNvPr id="6" name="text">
            <a:extLst xmlns:a="http://schemas.openxmlformats.org/drawingml/2006/main">
              <a:ext uri="{FF2B5EF4-FFF2-40B4-BE49-F238E27FC236}">
                <a16:creationId xmlns:a16="http://schemas.microsoft.com/office/drawing/2014/main" id="{CBB484B0-F4F6-4857-87AE-DE54031E5C64}"/>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Bin spacing Δf = 1/T = 4 Hz</a:t>
            </a:r>
          </a:p>
        </p:txBody>
      </p:sp>
      <p:sp>
        <p:nvSpPr>
          <p:cNvPr id="7" name="text">
            <a:extLst xmlns:a="http://schemas.openxmlformats.org/drawingml/2006/main">
              <a:ext uri="{FF2B5EF4-FFF2-40B4-BE49-F238E27FC236}">
                <a16:creationId xmlns:a16="http://schemas.microsoft.com/office/drawing/2014/main" id="{F4D5A554-D519-4AA2-B08B-4107424CB21C}"/>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FFT checks frequencies 4 Hz apart. Nearby tones may be hard to separate.</a:t>
            </a:r>
          </a:p>
        </p:txBody>
      </p:sp>
      <p:sp>
        <p:nvSpPr>
          <p:cNvPr id="8" name="text">
            <a:extLst xmlns:a="http://schemas.openxmlformats.org/drawingml/2006/main">
              <a:ext uri="{FF2B5EF4-FFF2-40B4-BE49-F238E27FC236}">
                <a16:creationId xmlns:a16="http://schemas.microsoft.com/office/drawing/2014/main" id="{2C2B4E5A-94B9-419A-97F4-C7DCA0A26572}"/>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Bin spacing Δf = 1/T = 1 Hz</a:t>
            </a:r>
          </a:p>
        </p:txBody>
      </p:sp>
      <p:sp>
        <p:nvSpPr>
          <p:cNvPr id="9" name="text">
            <a:extLst xmlns:a="http://schemas.openxmlformats.org/drawingml/2006/main">
              <a:ext uri="{FF2B5EF4-FFF2-40B4-BE49-F238E27FC236}">
                <a16:creationId xmlns:a16="http://schemas.microsoft.com/office/drawing/2014/main" id="{77365C12-54C4-424D-91FD-4FE465712B23}"/>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FFT checks frequencies 1 Hz apart. Peaks can be located more precisely.</a:t>
            </a:r>
          </a:p>
        </p:txBody>
      </p:sp>
    </p:spTree>
    <p:extLst>
      <p:ext uri="{BB962C8B-B14F-4D97-AF65-F5344CB8AC3E}">
        <p14:creationId xmlns:p14="http://schemas.microsoft.com/office/powerpoint/2010/main" val="173604071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59510E0E-6174-49B7-9481-CE8C3B3F398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E2A05B78-4652-4F8D-8A99-90273AC50A87}"/>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Expected FFT peaks</a:t>
            </a:r>
          </a:p>
        </p:txBody>
      </p:sp>
      <p:sp>
        <p:nvSpPr>
          <p:cNvPr id="3" name="page">
            <a:extLst xmlns:a="http://schemas.openxmlformats.org/drawingml/2006/main">
              <a:ext uri="{FF2B5EF4-FFF2-40B4-BE49-F238E27FC236}">
                <a16:creationId xmlns:a16="http://schemas.microsoft.com/office/drawing/2014/main" id="{35E9841E-6F69-4550-91D4-30628E0B068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19</a:t>
            </a:r>
          </a:p>
        </p:txBody>
      </p:sp>
      <p:sp>
        <p:nvSpPr>
          <p:cNvPr id="4" name="text">
            <a:extLst xmlns:a="http://schemas.openxmlformats.org/drawingml/2006/main">
              <a:ext uri="{FF2B5EF4-FFF2-40B4-BE49-F238E27FC236}">
                <a16:creationId xmlns:a16="http://schemas.microsoft.com/office/drawing/2014/main" id="{DD19B368-14E7-405E-9197-B8172B393A4D}"/>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ADEQUATE SAMPLE RATE</a:t>
            </a:r>
          </a:p>
        </p:txBody>
      </p:sp>
      <p:sp>
        <p:nvSpPr>
          <p:cNvPr id="5" name="text">
            <a:extLst xmlns:a="http://schemas.openxmlformats.org/drawingml/2006/main">
              <a:ext uri="{FF2B5EF4-FFF2-40B4-BE49-F238E27FC236}">
                <a16:creationId xmlns:a16="http://schemas.microsoft.com/office/drawing/2014/main" id="{5516D309-BC03-4D90-837B-EC225C88E5BD}"/>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ALIASING</a:t>
            </a:r>
          </a:p>
        </p:txBody>
      </p:sp>
      <p:sp>
        <p:nvSpPr>
          <p:cNvPr id="6" name="text">
            <a:extLst xmlns:a="http://schemas.openxmlformats.org/drawingml/2006/main">
              <a:ext uri="{FF2B5EF4-FFF2-40B4-BE49-F238E27FC236}">
                <a16:creationId xmlns:a16="http://schemas.microsoft.com/office/drawing/2014/main" id="{BE48E413-06D6-47AE-BB96-4769AEDF716B}"/>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336 Hz gives peaks at 18 and 42 Hz.</a:t>
            </a:r>
          </a:p>
        </p:txBody>
      </p:sp>
      <p:sp>
        <p:nvSpPr>
          <p:cNvPr id="7" name="text">
            <a:extLst xmlns:a="http://schemas.openxmlformats.org/drawingml/2006/main">
              <a:ext uri="{FF2B5EF4-FFF2-40B4-BE49-F238E27FC236}">
                <a16:creationId xmlns:a16="http://schemas.microsoft.com/office/drawing/2014/main" id="{CC44462F-0C24-4D61-A68E-E46D5D9FF5C9}"/>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126 Hz gives peaks at 18 and 42 Hz.</a:t>
            </a:r>
          </a:p>
        </p:txBody>
      </p:sp>
      <p:sp>
        <p:nvSpPr>
          <p:cNvPr id="8" name="text">
            <a:extLst xmlns:a="http://schemas.openxmlformats.org/drawingml/2006/main">
              <a:ext uri="{FF2B5EF4-FFF2-40B4-BE49-F238E27FC236}">
                <a16:creationId xmlns:a16="http://schemas.microsoft.com/office/drawing/2014/main" id="{70EED81C-6677-49FB-87BB-7A25607F55EE}"/>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72 Hz gives peaks at 18 and 30 Hz.</a:t>
            </a:r>
          </a:p>
        </p:txBody>
      </p:sp>
      <p:sp>
        <p:nvSpPr>
          <p:cNvPr id="9" name="text">
            <a:extLst xmlns:a="http://schemas.openxmlformats.org/drawingml/2006/main">
              <a:ext uri="{FF2B5EF4-FFF2-40B4-BE49-F238E27FC236}">
                <a16:creationId xmlns:a16="http://schemas.microsoft.com/office/drawing/2014/main" id="{3EC98767-DB40-48D6-A73D-7D7112D1F4D9}"/>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48 Hz gives peaks at 18 and 6 Hz.</a:t>
            </a:r>
          </a:p>
        </p:txBody>
      </p:sp>
    </p:spTree>
    <p:extLst>
      <p:ext uri="{BB962C8B-B14F-4D97-AF65-F5344CB8AC3E}">
        <p14:creationId xmlns:p14="http://schemas.microsoft.com/office/powerpoint/2010/main" val="213265747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A61232D3-1871-4EBC-83D6-69F7FC52B96B}"/>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A5CA6E2-1A3E-47DE-8030-BAE58E283312}"/>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Guided notebook walkthrough</a:t>
            </a:r>
          </a:p>
        </p:txBody>
      </p:sp>
      <p:sp>
        <p:nvSpPr>
          <p:cNvPr id="3" name="page">
            <a:extLst xmlns:a="http://schemas.openxmlformats.org/drawingml/2006/main">
              <a:ext uri="{FF2B5EF4-FFF2-40B4-BE49-F238E27FC236}">
                <a16:creationId xmlns:a16="http://schemas.microsoft.com/office/drawing/2014/main" id="{0315CEA0-68C0-4B79-8AB3-C69C9DB030B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20</a:t>
            </a:r>
          </a:p>
        </p:txBody>
      </p:sp>
      <p:sp>
        <p:nvSpPr>
          <p:cNvPr id="4" name="text">
            <a:extLst xmlns:a="http://schemas.openxmlformats.org/drawingml/2006/main">
              <a:ext uri="{FF2B5EF4-FFF2-40B4-BE49-F238E27FC236}">
                <a16:creationId xmlns:a16="http://schemas.microsoft.com/office/drawing/2014/main" id="{1897A60E-8C69-457B-B796-5AFD9B548A9B}"/>
              </a:ext>
            </a:extLst>
          </p:cNvPr>
          <p:cNvSpPr>
            <a:spLocks xmlns:a="http://schemas.openxmlformats.org/drawingml/2006/main" noGrp="1"/>
          </p:cNvSpPr>
          <p:nvPr/>
        </p:nvSpPr>
        <p:spPr>
          <a:xfrm xmlns:a="http://schemas.openxmlformats.org/drawingml/2006/main">
            <a:off x="666750" y="16954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1  Define the signal</a:t>
            </a:r>
          </a:p>
        </p:txBody>
      </p:sp>
      <p:sp>
        <p:nvSpPr>
          <p:cNvPr id="5" name="text">
            <a:extLst xmlns:a="http://schemas.openxmlformats.org/drawingml/2006/main">
              <a:ext uri="{FF2B5EF4-FFF2-40B4-BE49-F238E27FC236}">
                <a16:creationId xmlns:a16="http://schemas.microsoft.com/office/drawing/2014/main" id="{1F28B585-6BE4-4EFF-BB75-B7D43AF0D589}"/>
              </a:ext>
            </a:extLst>
          </p:cNvPr>
          <p:cNvSpPr>
            <a:spLocks xmlns:a="http://schemas.openxmlformats.org/drawingml/2006/main" noGrp="1"/>
          </p:cNvSpPr>
          <p:nvPr/>
        </p:nvSpPr>
        <p:spPr>
          <a:xfrm xmlns:a="http://schemas.openxmlformats.org/drawingml/2006/main">
            <a:off x="666750" y="25431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2  Choose fs and create sample times</a:t>
            </a:r>
          </a:p>
        </p:txBody>
      </p:sp>
      <p:sp>
        <p:nvSpPr>
          <p:cNvPr id="6" name="text">
            <a:extLst xmlns:a="http://schemas.openxmlformats.org/drawingml/2006/main">
              <a:ext uri="{FF2B5EF4-FFF2-40B4-BE49-F238E27FC236}">
                <a16:creationId xmlns:a16="http://schemas.microsoft.com/office/drawing/2014/main" id="{4CFDB753-A037-43AF-9123-4623AA5780C8}"/>
              </a:ext>
            </a:extLst>
          </p:cNvPr>
          <p:cNvSpPr>
            <a:spLocks xmlns:a="http://schemas.openxmlformats.org/drawingml/2006/main" noGrp="1"/>
          </p:cNvSpPr>
          <p:nvPr/>
        </p:nvSpPr>
        <p:spPr>
          <a:xfrm xmlns:a="http://schemas.openxmlformats.org/drawingml/2006/main">
            <a:off x="666750" y="33909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3  Plot samples beside the reference</a:t>
            </a:r>
          </a:p>
        </p:txBody>
      </p:sp>
      <p:sp>
        <p:nvSpPr>
          <p:cNvPr id="7" name="text">
            <a:extLst xmlns:a="http://schemas.openxmlformats.org/drawingml/2006/main">
              <a:ext uri="{FF2B5EF4-FFF2-40B4-BE49-F238E27FC236}">
                <a16:creationId xmlns:a16="http://schemas.microsoft.com/office/drawing/2014/main" id="{48F4E63C-6B93-4B59-B339-3E801AAD47F3}"/>
              </a:ext>
            </a:extLst>
          </p:cNvPr>
          <p:cNvSpPr>
            <a:spLocks xmlns:a="http://schemas.openxmlformats.org/drawingml/2006/main" noGrp="1"/>
          </p:cNvSpPr>
          <p:nvPr/>
        </p:nvSpPr>
        <p:spPr>
          <a:xfrm xmlns:a="http://schemas.openxmlformats.org/drawingml/2006/main">
            <a:off x="666750" y="42386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4  Compute the one-sided FFT</a:t>
            </a:r>
          </a:p>
        </p:txBody>
      </p:sp>
      <p:sp>
        <p:nvSpPr>
          <p:cNvPr id="8" name="text">
            <a:extLst xmlns:a="http://schemas.openxmlformats.org/drawingml/2006/main">
              <a:ext uri="{FF2B5EF4-FFF2-40B4-BE49-F238E27FC236}">
                <a16:creationId xmlns:a16="http://schemas.microsoft.com/office/drawing/2014/main" id="{48AA7507-4458-4D71-8EE0-E8724A87DF14}"/>
              </a:ext>
            </a:extLst>
          </p:cNvPr>
          <p:cNvSpPr>
            <a:spLocks xmlns:a="http://schemas.openxmlformats.org/drawingml/2006/main" noGrp="1"/>
          </p:cNvSpPr>
          <p:nvPr/>
        </p:nvSpPr>
        <p:spPr>
          <a:xfrm xmlns:a="http://schemas.openxmlformats.org/drawingml/2006/main">
            <a:off x="666750" y="50863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5  Explain the physical meaning</a:t>
            </a:r>
          </a:p>
        </p:txBody>
      </p:sp>
    </p:spTree>
    <p:extLst>
      <p:ext uri="{BB962C8B-B14F-4D97-AF65-F5344CB8AC3E}">
        <p14:creationId xmlns:p14="http://schemas.microsoft.com/office/powerpoint/2010/main" val="133293559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B9C3DAF5-ED8A-4EE9-AE46-AF2576E73589}"/>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734E575-C8D2-434B-AFDD-BE0E615EE5D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Required data analysis</a:t>
            </a:r>
          </a:p>
        </p:txBody>
      </p:sp>
      <p:sp>
        <p:nvSpPr>
          <p:cNvPr id="3" name="page">
            <a:extLst xmlns:a="http://schemas.openxmlformats.org/drawingml/2006/main">
              <a:ext uri="{FF2B5EF4-FFF2-40B4-BE49-F238E27FC236}">
                <a16:creationId xmlns:a16="http://schemas.microsoft.com/office/drawing/2014/main" id="{4184A632-4448-4CB7-B410-8A594C5D5A8C}"/>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21</a:t>
            </a:r>
          </a:p>
        </p:txBody>
      </p:sp>
      <p:sp>
        <p:nvSpPr>
          <p:cNvPr id="4" name="text">
            <a:extLst xmlns:a="http://schemas.openxmlformats.org/drawingml/2006/main">
              <a:ext uri="{FF2B5EF4-FFF2-40B4-BE49-F238E27FC236}">
                <a16:creationId xmlns:a16="http://schemas.microsoft.com/office/drawing/2014/main" id="{AB755F58-BA37-4708-8698-D96AF0459587}"/>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6BD589E3-DEEB-47CC-AD0E-E2BB364675D7}"/>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Calculate theoretical mean and RMS, then compute RMS percent errors</a:t>
            </a:r>
          </a:p>
        </p:txBody>
      </p:sp>
      <p:sp>
        <p:nvSpPr>
          <p:cNvPr id="6" name="text">
            <a:extLst xmlns:a="http://schemas.openxmlformats.org/drawingml/2006/main">
              <a:ext uri="{FF2B5EF4-FFF2-40B4-BE49-F238E27FC236}">
                <a16:creationId xmlns:a16="http://schemas.microsoft.com/office/drawing/2014/main" id="{A91C83C7-13D8-4EBC-88D6-E0B8A03BC9C6}"/>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681A9EE4-544F-4402-8593-CEE6D0390B71}"/>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Predict every FFT peak before viewing the spectra</a:t>
            </a:r>
          </a:p>
        </p:txBody>
      </p:sp>
      <p:sp>
        <p:nvSpPr>
          <p:cNvPr id="8" name="text">
            <a:extLst xmlns:a="http://schemas.openxmlformats.org/drawingml/2006/main">
              <a:ext uri="{FF2B5EF4-FFF2-40B4-BE49-F238E27FC236}">
                <a16:creationId xmlns:a16="http://schemas.microsoft.com/office/drawing/2014/main" id="{3C289985-AF98-43AA-B2CD-CEB6F650857B}"/>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8C7713DF-75FD-4B13-8688-8E304824000E}"/>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predicted and observed peaks and explain aliasing</a:t>
            </a:r>
          </a:p>
        </p:txBody>
      </p:sp>
      <p:sp>
        <p:nvSpPr>
          <p:cNvPr id="10" name="text">
            <a:extLst xmlns:a="http://schemas.openxmlformats.org/drawingml/2006/main">
              <a:ext uri="{FF2B5EF4-FFF2-40B4-BE49-F238E27FC236}">
                <a16:creationId xmlns:a16="http://schemas.microsoft.com/office/drawing/2014/main" id="{AA7F7E8E-003F-48FD-A8D8-D77C9FF6F099}"/>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F9DF2136-8C8A-471E-8CDC-5B6B2090AB55}"/>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a sample rate and duration for a new measurement and justify both</a:t>
            </a:r>
          </a:p>
        </p:txBody>
      </p:sp>
    </p:spTree>
    <p:extLst>
      <p:ext uri="{BB962C8B-B14F-4D97-AF65-F5344CB8AC3E}">
        <p14:creationId xmlns:p14="http://schemas.microsoft.com/office/powerpoint/2010/main" val="75180293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1A026416-9C9A-4DD2-A00A-C8C1D91A60B0}"/>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33FE892-4D69-40B3-82D7-8217C3079EF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Common notebook problems</a:t>
            </a:r>
          </a:p>
        </p:txBody>
      </p:sp>
      <p:sp>
        <p:nvSpPr>
          <p:cNvPr id="3" name="page">
            <a:extLst xmlns:a="http://schemas.openxmlformats.org/drawingml/2006/main">
              <a:ext uri="{FF2B5EF4-FFF2-40B4-BE49-F238E27FC236}">
                <a16:creationId xmlns:a16="http://schemas.microsoft.com/office/drawing/2014/main" id="{57E966E4-4047-422D-8155-6778814617A1}"/>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22</a:t>
            </a:r>
          </a:p>
        </p:txBody>
      </p:sp>
      <p:sp>
        <p:nvSpPr>
          <p:cNvPr id="4" name="text">
            <a:extLst xmlns:a="http://schemas.openxmlformats.org/drawingml/2006/main">
              <a:ext uri="{FF2B5EF4-FFF2-40B4-BE49-F238E27FC236}">
                <a16:creationId xmlns:a16="http://schemas.microsoft.com/office/drawing/2014/main" id="{4CA0FC26-8F42-4E38-A728-799B870B7F97}"/>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CODE PROBLEMS</a:t>
            </a:r>
          </a:p>
        </p:txBody>
      </p:sp>
      <p:sp>
        <p:nvSpPr>
          <p:cNvPr id="5" name="text">
            <a:extLst xmlns:a="http://schemas.openxmlformats.org/drawingml/2006/main">
              <a:ext uri="{FF2B5EF4-FFF2-40B4-BE49-F238E27FC236}">
                <a16:creationId xmlns:a16="http://schemas.microsoft.com/office/drawing/2014/main" id="{0BBB5999-AAE1-4BF1-A64B-0DB10676BBD7}"/>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ANALYSIS PROBLEMS</a:t>
            </a:r>
          </a:p>
        </p:txBody>
      </p:sp>
      <p:sp>
        <p:nvSpPr>
          <p:cNvPr id="6" name="text">
            <a:extLst xmlns:a="http://schemas.openxmlformats.org/drawingml/2006/main">
              <a:ext uri="{FF2B5EF4-FFF2-40B4-BE49-F238E27FC236}">
                <a16:creationId xmlns:a16="http://schemas.microsoft.com/office/drawing/2014/main" id="{34FE250D-D412-46EC-886F-3BB8C37C82AF}"/>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NameError: run earlier cells.</a:t>
            </a:r>
          </a:p>
        </p:txBody>
      </p:sp>
      <p:sp>
        <p:nvSpPr>
          <p:cNvPr id="7" name="text">
            <a:extLst xmlns:a="http://schemas.openxmlformats.org/drawingml/2006/main">
              <a:ext uri="{FF2B5EF4-FFF2-40B4-BE49-F238E27FC236}">
                <a16:creationId xmlns:a16="http://schemas.microsoft.com/office/drawing/2014/main" id="{361B3907-013B-4F72-A6AC-F40BA9E8C233}"/>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Missing figure: run the plotting cell.</a:t>
            </a:r>
          </a:p>
        </p:txBody>
      </p:sp>
      <p:sp>
        <p:nvSpPr>
          <p:cNvPr id="8" name="text">
            <a:extLst xmlns:a="http://schemas.openxmlformats.org/drawingml/2006/main">
              <a:ext uri="{FF2B5EF4-FFF2-40B4-BE49-F238E27FC236}">
                <a16:creationId xmlns:a16="http://schemas.microsoft.com/office/drawing/2014/main" id="{A2EB8CCD-C546-423C-AA59-F03DBD1B48EB}"/>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Changed variable: restart and Run All.</a:t>
            </a:r>
          </a:p>
        </p:txBody>
      </p:sp>
      <p:sp>
        <p:nvSpPr>
          <p:cNvPr id="9" name="text">
            <a:extLst xmlns:a="http://schemas.openxmlformats.org/drawingml/2006/main">
              <a:ext uri="{FF2B5EF4-FFF2-40B4-BE49-F238E27FC236}">
                <a16:creationId xmlns:a16="http://schemas.microsoft.com/office/drawing/2014/main" id="{2C1E735E-AEAF-4141-886E-99F0CFD6CCEA}"/>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Wrong units for phase.</a:t>
            </a:r>
          </a:p>
        </p:txBody>
      </p:sp>
      <p:sp>
        <p:nvSpPr>
          <p:cNvPr id="10" name="text">
            <a:extLst xmlns:a="http://schemas.openxmlformats.org/drawingml/2006/main">
              <a:ext uri="{FF2B5EF4-FFF2-40B4-BE49-F238E27FC236}">
                <a16:creationId xmlns:a16="http://schemas.microsoft.com/office/drawing/2014/main" id="{555F1982-95FE-4CF2-A829-400102EEB71C}"/>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Confusing fs with signal frequency.</a:t>
            </a:r>
          </a:p>
        </p:txBody>
      </p:sp>
      <p:sp>
        <p:nvSpPr>
          <p:cNvPr id="11" name="text">
            <a:extLst xmlns:a="http://schemas.openxmlformats.org/drawingml/2006/main">
              <a:ext uri="{FF2B5EF4-FFF2-40B4-BE49-F238E27FC236}">
                <a16:creationId xmlns:a16="http://schemas.microsoft.com/office/drawing/2014/main" id="{57A5B053-5FF4-4A81-9B1C-A536927DC59B}"/>
              </a:ext>
            </a:extLst>
          </p:cNvPr>
          <p:cNvSpPr>
            <a:spLocks xmlns:a="http://schemas.openxmlformats.org/drawingml/2006/main" noGrp="1"/>
          </p:cNvSpPr>
          <p:nvPr/>
        </p:nvSpPr>
        <p:spPr>
          <a:xfrm xmlns:a="http://schemas.openxmlformats.org/drawingml/2006/main">
            <a:off x="6238875"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Calling a smooth line measured data.</a:t>
            </a:r>
          </a:p>
        </p:txBody>
      </p:sp>
      <p:sp>
        <p:nvSpPr>
          <p:cNvPr id="12" name="text">
            <a:extLst xmlns:a="http://schemas.openxmlformats.org/drawingml/2006/main">
              <a:ext uri="{FF2B5EF4-FFF2-40B4-BE49-F238E27FC236}">
                <a16:creationId xmlns:a16="http://schemas.microsoft.com/office/drawing/2014/main" id="{2E978C3C-99EE-4AFA-851F-2E26746499F5}"/>
              </a:ext>
            </a:extLst>
          </p:cNvPr>
          <p:cNvSpPr>
            <a:spLocks xmlns:a="http://schemas.openxmlformats.org/drawingml/2006/main" noGrp="1"/>
          </p:cNvSpPr>
          <p:nvPr/>
        </p:nvSpPr>
        <p:spPr>
          <a:xfrm xmlns:a="http://schemas.openxmlformats.org/drawingml/2006/main">
            <a:off x="6238875"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Reporting peaks without explaining aliasing.</a:t>
            </a:r>
          </a:p>
        </p:txBody>
      </p:sp>
    </p:spTree>
    <p:extLst>
      <p:ext uri="{BB962C8B-B14F-4D97-AF65-F5344CB8AC3E}">
        <p14:creationId xmlns:p14="http://schemas.microsoft.com/office/powerpoint/2010/main" val="61190055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B54EEC0F-0BCD-49E6-91FB-DDA74F6806F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7DD1CE1-9E92-432B-98F9-42C52AF2D45B}"/>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From the notebook to Moku:Go</a:t>
            </a:r>
          </a:p>
        </p:txBody>
      </p:sp>
      <p:sp>
        <p:nvSpPr>
          <p:cNvPr id="3" name="page">
            <a:extLst xmlns:a="http://schemas.openxmlformats.org/drawingml/2006/main">
              <a:ext uri="{FF2B5EF4-FFF2-40B4-BE49-F238E27FC236}">
                <a16:creationId xmlns:a16="http://schemas.microsoft.com/office/drawing/2014/main" id="{AB79A19B-E0C2-4B3A-906A-3C7C6541C7B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23</a:t>
            </a:r>
          </a:p>
        </p:txBody>
      </p:sp>
      <p:sp>
        <p:nvSpPr>
          <p:cNvPr id="4" name="text">
            <a:extLst xmlns:a="http://schemas.openxmlformats.org/drawingml/2006/main">
              <a:ext uri="{FF2B5EF4-FFF2-40B4-BE49-F238E27FC236}">
                <a16:creationId xmlns:a16="http://schemas.microsoft.com/office/drawing/2014/main" id="{543E21A4-B2A5-424C-B8F2-9A9BA0B2C3D3}"/>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9A1CBC7E-0566-4848-A730-B97568CFCD1F}"/>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a sample rate from the known or estimated sound frequency</a:t>
            </a:r>
          </a:p>
        </p:txBody>
      </p:sp>
      <p:sp>
        <p:nvSpPr>
          <p:cNvPr id="6" name="text">
            <a:extLst xmlns:a="http://schemas.openxmlformats.org/drawingml/2006/main">
              <a:ext uri="{FF2B5EF4-FFF2-40B4-BE49-F238E27FC236}">
                <a16:creationId xmlns:a16="http://schemas.microsoft.com/office/drawing/2014/main" id="{C5D90C50-673E-41EC-AFCA-0D6ECD639E7E}"/>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0E82CDE3-6B8A-4EE8-961B-A0763A896AB0}"/>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Record at least one second and save the data as a MAT file</a:t>
            </a:r>
          </a:p>
        </p:txBody>
      </p:sp>
      <p:sp>
        <p:nvSpPr>
          <p:cNvPr id="8" name="text">
            <a:extLst xmlns:a="http://schemas.openxmlformats.org/drawingml/2006/main">
              <a:ext uri="{FF2B5EF4-FFF2-40B4-BE49-F238E27FC236}">
                <a16:creationId xmlns:a16="http://schemas.microsoft.com/office/drawing/2014/main" id="{9EED488B-1095-413D-B49E-5277A5F1408B}"/>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343A73B5-1AC5-4748-A83C-FC8A5B240062}"/>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Plot the measured waveform and compute its spectrum</a:t>
            </a:r>
          </a:p>
        </p:txBody>
      </p:sp>
      <p:sp>
        <p:nvSpPr>
          <p:cNvPr id="10" name="text">
            <a:extLst xmlns:a="http://schemas.openxmlformats.org/drawingml/2006/main">
              <a:ext uri="{FF2B5EF4-FFF2-40B4-BE49-F238E27FC236}">
                <a16:creationId xmlns:a16="http://schemas.microsoft.com/office/drawing/2014/main" id="{6ABDA6F9-4A9E-4E70-A254-6481E88D9B49}"/>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8BEBB71B-4B41-4518-AE66-8ACBE0EC97CD}"/>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the dominant peak with the tuning-fork frequency and replay the recording</a:t>
            </a:r>
          </a:p>
        </p:txBody>
      </p:sp>
    </p:spTree>
    <p:extLst>
      <p:ext uri="{BB962C8B-B14F-4D97-AF65-F5344CB8AC3E}">
        <p14:creationId xmlns:p14="http://schemas.microsoft.com/office/powerpoint/2010/main" val="55026081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F6E35BCB-72F4-4C68-94CD-FDFD58D73AE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E1F926B9-326F-4CD1-83C7-6A775F392FE5}"/>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Pre-Lab 1 submission</a:t>
            </a:r>
          </a:p>
        </p:txBody>
      </p:sp>
      <p:sp>
        <p:nvSpPr>
          <p:cNvPr id="3" name="page">
            <a:extLst xmlns:a="http://schemas.openxmlformats.org/drawingml/2006/main">
              <a:ext uri="{FF2B5EF4-FFF2-40B4-BE49-F238E27FC236}">
                <a16:creationId xmlns:a16="http://schemas.microsoft.com/office/drawing/2014/main" id="{00F330C9-E5E6-4FA1-BD78-0230A33536A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24</a:t>
            </a:r>
          </a:p>
        </p:txBody>
      </p:sp>
      <p:sp>
        <p:nvSpPr>
          <p:cNvPr id="4" name="text">
            <a:extLst xmlns:a="http://schemas.openxmlformats.org/drawingml/2006/main">
              <a:ext uri="{FF2B5EF4-FFF2-40B4-BE49-F238E27FC236}">
                <a16:creationId xmlns:a16="http://schemas.microsoft.com/office/drawing/2014/main" id="{C5F5B578-27D6-4E1D-AFFE-293CC027EA77}"/>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BEFORE SUBMITTING</a:t>
            </a:r>
          </a:p>
        </p:txBody>
      </p:sp>
      <p:sp>
        <p:nvSpPr>
          <p:cNvPr id="5" name="text">
            <a:extLst xmlns:a="http://schemas.openxmlformats.org/drawingml/2006/main">
              <a:ext uri="{FF2B5EF4-FFF2-40B4-BE49-F238E27FC236}">
                <a16:creationId xmlns:a16="http://schemas.microsoft.com/office/drawing/2014/main" id="{F427E552-8E23-49F7-8F72-50D84046255B}"/>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DEADLINE</a:t>
            </a:r>
          </a:p>
        </p:txBody>
      </p:sp>
      <p:sp>
        <p:nvSpPr>
          <p:cNvPr id="6" name="text">
            <a:extLst xmlns:a="http://schemas.openxmlformats.org/drawingml/2006/main">
              <a:ext uri="{FF2B5EF4-FFF2-40B4-BE49-F238E27FC236}">
                <a16:creationId xmlns:a16="http://schemas.microsoft.com/office/drawing/2014/main" id="{DB5E5AF0-16E4-4D9D-AB99-3A9DC548D2D1}"/>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Run All cells.</a:t>
            </a:r>
          </a:p>
        </p:txBody>
      </p:sp>
      <p:sp>
        <p:nvSpPr>
          <p:cNvPr id="7" name="text">
            <a:extLst xmlns:a="http://schemas.openxmlformats.org/drawingml/2006/main">
              <a:ext uri="{FF2B5EF4-FFF2-40B4-BE49-F238E27FC236}">
                <a16:creationId xmlns:a16="http://schemas.microsoft.com/office/drawing/2014/main" id="{683FB8F7-0D54-41FD-B37F-F919312B6F33}"/>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Keep figures visible.</a:t>
            </a:r>
          </a:p>
        </p:txBody>
      </p:sp>
      <p:sp>
        <p:nvSpPr>
          <p:cNvPr id="8" name="text">
            <a:extLst xmlns:a="http://schemas.openxmlformats.org/drawingml/2006/main">
              <a:ext uri="{FF2B5EF4-FFF2-40B4-BE49-F238E27FC236}">
                <a16:creationId xmlns:a16="http://schemas.microsoft.com/office/drawing/2014/main" id="{199936B8-6A0C-4861-A28E-E4372E8CD104}"/>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Complete four response sections.</a:t>
            </a:r>
          </a:p>
        </p:txBody>
      </p:sp>
      <p:sp>
        <p:nvSpPr>
          <p:cNvPr id="9" name="text">
            <a:extLst xmlns:a="http://schemas.openxmlformats.org/drawingml/2006/main">
              <a:ext uri="{FF2B5EF4-FFF2-40B4-BE49-F238E27FC236}">
                <a16:creationId xmlns:a16="http://schemas.microsoft.com/office/drawing/2014/main" id="{05250DEA-56DA-44C5-A11A-ABC791E15CDC}"/>
              </a:ext>
            </a:extLst>
          </p:cNvPr>
          <p:cNvSpPr>
            <a:spLocks xmlns:a="http://schemas.openxmlformats.org/drawingml/2006/main" noGrp="1"/>
          </p:cNvSpPr>
          <p:nvPr/>
        </p:nvSpPr>
        <p:spPr>
          <a:xfrm xmlns:a="http://schemas.openxmlformats.org/drawingml/2006/main">
            <a:off x="1047750"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Export to HTML or PDF if Canvas requests it.</a:t>
            </a:r>
          </a:p>
        </p:txBody>
      </p:sp>
      <p:sp>
        <p:nvSpPr>
          <p:cNvPr id="10" name="text">
            <a:extLst xmlns:a="http://schemas.openxmlformats.org/drawingml/2006/main">
              <a:ext uri="{FF2B5EF4-FFF2-40B4-BE49-F238E27FC236}">
                <a16:creationId xmlns:a16="http://schemas.microsoft.com/office/drawing/2014/main" id="{71F08D22-DE89-4AFD-BF7F-1476F593A262}"/>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Normally posted Monday before the laboratory.</a:t>
            </a:r>
          </a:p>
        </p:txBody>
      </p:sp>
      <p:sp>
        <p:nvSpPr>
          <p:cNvPr id="11" name="text">
            <a:extLst xmlns:a="http://schemas.openxmlformats.org/drawingml/2006/main">
              <a:ext uri="{FF2B5EF4-FFF2-40B4-BE49-F238E27FC236}">
                <a16:creationId xmlns:a16="http://schemas.microsoft.com/office/drawing/2014/main" id="{EE6E88F1-6CE5-44F5-BC04-D611D4A919D2}"/>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Submit before your own section begins.</a:t>
            </a:r>
          </a:p>
        </p:txBody>
      </p:sp>
      <p:sp>
        <p:nvSpPr>
          <p:cNvPr id="12" name="text">
            <a:extLst xmlns:a="http://schemas.openxmlformats.org/drawingml/2006/main">
              <a:ext uri="{FF2B5EF4-FFF2-40B4-BE49-F238E27FC236}">
                <a16:creationId xmlns:a16="http://schemas.microsoft.com/office/drawing/2014/main" id="{9772C327-F77F-45A0-90E7-1E011444055E}"/>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Late pre-labs are not accepted.</a:t>
            </a:r>
          </a:p>
        </p:txBody>
      </p:sp>
    </p:spTree>
    <p:extLst>
      <p:ext uri="{BB962C8B-B14F-4D97-AF65-F5344CB8AC3E}">
        <p14:creationId xmlns:p14="http://schemas.microsoft.com/office/powerpoint/2010/main" val="15254880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2026-09-12T14:10:25.9880000Z</dcterms:created>
  <dcterms:modified xsi:type="dcterms:W3CDTF">2026-09-12T14:10:25.9890000Z</dcterms:modified>
</coreProperties>
</file>