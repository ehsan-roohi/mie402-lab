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8269d28bc0046d1" /><Relationship Type="http://schemas.openxmlformats.org/officeDocument/2006/relationships/extended-properties" Target="/docProps/app.xml" Id="R245f5787b17b4bca" /><Relationship Type="http://schemas.openxmlformats.org/officeDocument/2006/relationships/officeDocument" Target="/ppt/presentation.xml" Id="R15d5ad269c564dfe" /></Relationships>
</file>

<file path=ppt/presentation.xml><?xml version="1.0" encoding="utf-8"?>
<p:presentation xmlns:p="http://schemas.openxmlformats.org/presentationml/2006/main">
  <p:sldMasterIdLst>
    <p:sldMasterId xmlns:r="http://schemas.openxmlformats.org/officeDocument/2006/relationships" id="2147483648" r:id="Rf94b0d50e98c447a"/>
  </p:sldMasterIdLst>
  <p:notesMasterIdLst>
    <p:notesMasterId xmlns:r="http://schemas.openxmlformats.org/officeDocument/2006/relationships" r:id="Rced3ce7d23b14c21"/>
  </p:notesMasterIdLst>
  <p:sldIdLst>
    <p:sldId xmlns:r="http://schemas.openxmlformats.org/officeDocument/2006/relationships" id="256" r:id="Ra8e08303cdcf476f"/>
    <p:sldId xmlns:r="http://schemas.openxmlformats.org/officeDocument/2006/relationships" id="257" r:id="R0bef36d055664864"/>
    <p:sldId xmlns:r="http://schemas.openxmlformats.org/officeDocument/2006/relationships" id="258" r:id="R9ea24af863464044"/>
    <p:sldId xmlns:r="http://schemas.openxmlformats.org/officeDocument/2006/relationships" id="259" r:id="R38ab37ea21d74c3e"/>
    <p:sldId xmlns:r="http://schemas.openxmlformats.org/officeDocument/2006/relationships" id="260" r:id="R92fa41d594b747c0"/>
    <p:sldId xmlns:r="http://schemas.openxmlformats.org/officeDocument/2006/relationships" id="261" r:id="R68fa65d4fa1e4cc0"/>
    <p:sldId xmlns:r="http://schemas.openxmlformats.org/officeDocument/2006/relationships" id="262" r:id="R0e6cebc60f444739"/>
    <p:sldId xmlns:r="http://schemas.openxmlformats.org/officeDocument/2006/relationships" id="263" r:id="Re77b0ed97b8d41a7"/>
    <p:sldId xmlns:r="http://schemas.openxmlformats.org/officeDocument/2006/relationships" id="264" r:id="Red5b76ca1a5e4c43"/>
    <p:sldId xmlns:r="http://schemas.openxmlformats.org/officeDocument/2006/relationships" id="265" r:id="R896b227a6df14185"/>
    <p:sldId xmlns:r="http://schemas.openxmlformats.org/officeDocument/2006/relationships" id="266" r:id="R6d1e465075fd405f"/>
    <p:sldId xmlns:r="http://schemas.openxmlformats.org/officeDocument/2006/relationships" id="267" r:id="Rdcb8b2991f8c4e10"/>
    <p:sldId xmlns:r="http://schemas.openxmlformats.org/officeDocument/2006/relationships" id="268" r:id="R70d67b5562334a44"/>
    <p:sldId xmlns:r="http://schemas.openxmlformats.org/officeDocument/2006/relationships" id="269" r:id="R64796aa21c914221"/>
    <p:sldId xmlns:r="http://schemas.openxmlformats.org/officeDocument/2006/relationships" id="270" r:id="Raff2149416b94032"/>
    <p:sldId xmlns:r="http://schemas.openxmlformats.org/officeDocument/2006/relationships" id="271" r:id="Rd42c592af15a44c8"/>
    <p:sldId xmlns:r="http://schemas.openxmlformats.org/officeDocument/2006/relationships" id="272" r:id="R18072564e0bd4bd3"/>
    <p:sldId xmlns:r="http://schemas.openxmlformats.org/officeDocument/2006/relationships" id="273" r:id="R1c0749c5b3e14c9a"/>
    <p:sldId xmlns:r="http://schemas.openxmlformats.org/officeDocument/2006/relationships" id="274" r:id="R2d8c55ad9e144db6"/>
    <p:sldId xmlns:r="http://schemas.openxmlformats.org/officeDocument/2006/relationships" id="275" r:id="R06cbef156b0f452e"/>
    <p:sldId xmlns:r="http://schemas.openxmlformats.org/officeDocument/2006/relationships" id="276" r:id="R51561a2e96dc41f9"/>
    <p:sldId xmlns:r="http://schemas.openxmlformats.org/officeDocument/2006/relationships" id="277" r:id="Rf5088b71151c494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b10eac510a44f35" /><Relationship Type="http://schemas.openxmlformats.org/officeDocument/2006/relationships/slideMaster" Target="/ppt/slideMasters/slideMaster1.xml" Id="Rf94b0d50e98c447a" /><Relationship Type="http://schemas.openxmlformats.org/officeDocument/2006/relationships/notesMaster" Target="/ppt/notesMasters/notesMaster1.xml" Id="Rced3ce7d23b14c21" /><Relationship Type="http://schemas.openxmlformats.org/officeDocument/2006/relationships/presProps" Target="/ppt/presProps.xml" Id="Re5ec9fb96ce24fe5" /><Relationship Type="http://schemas.openxmlformats.org/officeDocument/2006/relationships/tableStyles" Target="/ppt/tableStyles.xml" Id="R8987f9f5ca1f4806" /><Relationship Type="http://schemas.openxmlformats.org/officeDocument/2006/relationships/slide" Target="/ppt/slides/slide1.xml" Id="Ra8e08303cdcf476f" /><Relationship Type="http://schemas.openxmlformats.org/officeDocument/2006/relationships/slide" Target="/ppt/slides/slide2.xml" Id="R0bef36d055664864" /><Relationship Type="http://schemas.openxmlformats.org/officeDocument/2006/relationships/slide" Target="/ppt/slides/slide3.xml" Id="R9ea24af863464044" /><Relationship Type="http://schemas.openxmlformats.org/officeDocument/2006/relationships/slide" Target="/ppt/slides/slide4.xml" Id="R38ab37ea21d74c3e" /><Relationship Type="http://schemas.openxmlformats.org/officeDocument/2006/relationships/slide" Target="/ppt/slides/slide5.xml" Id="R92fa41d594b747c0" /><Relationship Type="http://schemas.openxmlformats.org/officeDocument/2006/relationships/slide" Target="/ppt/slides/slide6.xml" Id="R68fa65d4fa1e4cc0" /><Relationship Type="http://schemas.openxmlformats.org/officeDocument/2006/relationships/slide" Target="/ppt/slides/slide7.xml" Id="R0e6cebc60f444739" /><Relationship Type="http://schemas.openxmlformats.org/officeDocument/2006/relationships/slide" Target="/ppt/slides/slide8.xml" Id="Re77b0ed97b8d41a7" /><Relationship Type="http://schemas.openxmlformats.org/officeDocument/2006/relationships/slide" Target="/ppt/slides/slide9.xml" Id="Red5b76ca1a5e4c43" /><Relationship Type="http://schemas.openxmlformats.org/officeDocument/2006/relationships/slide" Target="/ppt/slides/slide10.xml" Id="R896b227a6df14185" /><Relationship Type="http://schemas.openxmlformats.org/officeDocument/2006/relationships/slide" Target="/ppt/slides/slide11.xml" Id="R6d1e465075fd405f" /><Relationship Type="http://schemas.openxmlformats.org/officeDocument/2006/relationships/slide" Target="/ppt/slides/slide12.xml" Id="Rdcb8b2991f8c4e10" /><Relationship Type="http://schemas.openxmlformats.org/officeDocument/2006/relationships/slide" Target="/ppt/slides/slide13.xml" Id="R70d67b5562334a44" /><Relationship Type="http://schemas.openxmlformats.org/officeDocument/2006/relationships/slide" Target="/ppt/slides/slide14.xml" Id="R64796aa21c914221" /><Relationship Type="http://schemas.openxmlformats.org/officeDocument/2006/relationships/slide" Target="/ppt/slides/slide15.xml" Id="Raff2149416b94032" /><Relationship Type="http://schemas.openxmlformats.org/officeDocument/2006/relationships/slide" Target="/ppt/slides/slide16.xml" Id="Rd42c592af15a44c8" /><Relationship Type="http://schemas.openxmlformats.org/officeDocument/2006/relationships/slide" Target="/ppt/slides/slide17.xml" Id="R18072564e0bd4bd3" /><Relationship Type="http://schemas.openxmlformats.org/officeDocument/2006/relationships/slide" Target="/ppt/slides/slide18.xml" Id="R1c0749c5b3e14c9a" /><Relationship Type="http://schemas.openxmlformats.org/officeDocument/2006/relationships/slide" Target="/ppt/slides/slide19.xml" Id="R2d8c55ad9e144db6" /><Relationship Type="http://schemas.openxmlformats.org/officeDocument/2006/relationships/slide" Target="/ppt/slides/slide20.xml" Id="R06cbef156b0f452e" /><Relationship Type="http://schemas.openxmlformats.org/officeDocument/2006/relationships/slide" Target="/ppt/slides/slide21.xml" Id="R51561a2e96dc41f9" /><Relationship Type="http://schemas.openxmlformats.org/officeDocument/2006/relationships/slide" Target="/ppt/slides/slide22.xml" Id="Rf5088b71151c494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92a1bc7a5cb466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cbb06361c54fcf" /><Relationship Type="http://schemas.openxmlformats.org/officeDocument/2006/relationships/notesMaster" Target="/ppt/notesMasters/notesMaster1.xml" Id="R3f8a9ac7eef743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fad2851691274dc6" /><Relationship Type="http://schemas.openxmlformats.org/officeDocument/2006/relationships/notesMaster" Target="/ppt/notesMasters/notesMaster1.xml" Id="R7a57f9d5be804c4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ec1b04f42a45a9" /><Relationship Type="http://schemas.openxmlformats.org/officeDocument/2006/relationships/notesMaster" Target="/ppt/notesMasters/notesMaster1.xml" Id="Rca69914f44624b73" /></Relationships>
</file>

<file path=ppt/notesSlides/_rels/notesSlide4.xml.rels>&#65279;<?xml version="1.0" encoding="utf-8"?><Relationships xmlns="http://schemas.openxmlformats.org/package/2006/relationships"><Relationship Type="http://schemas.openxmlformats.org/officeDocument/2006/relationships/slide" Target="/ppt/slides/slide4.xml" Id="R1062c39448ff49e6" /><Relationship Type="http://schemas.openxmlformats.org/officeDocument/2006/relationships/notesMaster" Target="/ppt/notesMasters/notesMaster1.xml" Id="R5cd69a2ff44d49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25c0b441b80247b5" /><Relationship Type="http://schemas.openxmlformats.org/officeDocument/2006/relationships/notesMaster" Target="/ppt/notesMasters/notesMaster1.xml" Id="R3bee2d01296847b6" /></Relationships>
</file>

<file path=ppt/notesSlides/_rels/notesSlide6.xml.rels>&#65279;<?xml version="1.0" encoding="utf-8"?><Relationships xmlns="http://schemas.openxmlformats.org/package/2006/relationships"><Relationship Type="http://schemas.openxmlformats.org/officeDocument/2006/relationships/slide" Target="/ppt/slides/slide6.xml" Id="R10b94d9f25ad47d2" /><Relationship Type="http://schemas.openxmlformats.org/officeDocument/2006/relationships/notesMaster" Target="/ppt/notesMasters/notesMaster1.xml" Id="R913b3089653d40b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87ff648b65d4353" /><Relationship Type="http://schemas.openxmlformats.org/officeDocument/2006/relationships/notesMaster" Target="/ppt/notesMasters/notesMaster1.xml" Id="R50dbdd33db0041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2798a450bfe94554" /><Relationship Type="http://schemas.openxmlformats.org/officeDocument/2006/relationships/notesMaster" Target="/ppt/notesMasters/notesMaster1.xml" Id="R05ec4f20a686460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b81dcd38ad84b4e" /><Relationship Type="http://schemas.openxmlformats.org/officeDocument/2006/relationships/notesMaster" Target="/ppt/notesMasters/notesMaster1.xml" Id="Rf2b2fed8fcad466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fb35f83bd594560" /><Relationship Type="http://schemas.openxmlformats.org/officeDocument/2006/relationships/notesMaster" Target="/ppt/notesMasters/notesMaster1.xml" Id="Rf85cad85223b43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8c5f3d11140488a" /><Relationship Type="http://schemas.openxmlformats.org/officeDocument/2006/relationships/notesMaster" Target="/ppt/notesMasters/notesMaster1.xml" Id="Rfc03a79ef3584b0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269e72391b142d9" /><Relationship Type="http://schemas.openxmlformats.org/officeDocument/2006/relationships/notesMaster" Target="/ppt/notesMasters/notesMaster1.xml" Id="Rcff7a574a9694d4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d904523286549ef" /><Relationship Type="http://schemas.openxmlformats.org/officeDocument/2006/relationships/notesMaster" Target="/ppt/notesMasters/notesMaster1.xml" Id="Rcde09998b2ff469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87b7bff6bba4675" /><Relationship Type="http://schemas.openxmlformats.org/officeDocument/2006/relationships/notesMaster" Target="/ppt/notesMasters/notesMaster1.xml" Id="Rb6987fd2e474477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18dde55accd428e" /><Relationship Type="http://schemas.openxmlformats.org/officeDocument/2006/relationships/notesMaster" Target="/ppt/notesMasters/notesMaster1.xml" Id="R884c29f5ac25439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aa51d02c8ab4794" /><Relationship Type="http://schemas.openxmlformats.org/officeDocument/2006/relationships/notesMaster" Target="/ppt/notesMasters/notesMaster1.xml" Id="R51ea9f2d411d46f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1e03b5621d44b7f" /><Relationship Type="http://schemas.openxmlformats.org/officeDocument/2006/relationships/notesMaster" Target="/ppt/notesMasters/notesMaster1.xml" Id="R21495fe3338b48c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a0405ad5d3b4cea" /><Relationship Type="http://schemas.openxmlformats.org/officeDocument/2006/relationships/notesMaster" Target="/ppt/notesMasters/notesMaster1.xml" Id="Rb4727641ef434b0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ad628fd7f7848ca" /><Relationship Type="http://schemas.openxmlformats.org/officeDocument/2006/relationships/notesMaster" Target="/ppt/notesMasters/notesMaster1.xml" Id="R8d8285b3b03c4e3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6e914a3c1f84e69" /><Relationship Type="http://schemas.openxmlformats.org/officeDocument/2006/relationships/notesMaster" Target="/ppt/notesMasters/notesMaster1.xml" Id="Re675dec028ee4a5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9db5fae301146cf" /><Relationship Type="http://schemas.openxmlformats.org/officeDocument/2006/relationships/notesMaster" Target="/ppt/notesMasters/notesMaster1.xml" Id="Rccb0582d9e5d431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724b2c4d5054cdb" /><Relationship Type="http://schemas.openxmlformats.org/officeDocument/2006/relationships/notesMaster" Target="/ppt/notesMasters/notesMaster1.xml" Id="R292d6a4292114f1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 minutes (1 minutes)</a:t>
            </a:r>
          </a:p>
          <a:p xmlns:a="http://schemas.openxmlformats.org/drawingml/2006/main">
            <a:r>
              <a:t/>
            </a:r>
          </a:p>
          <a:p xmlns:a="http://schemas.openxmlformats.org/drawingml/2006/main">
            <a:r>
              <a:t>Welcome students. Explain that today has two goals: understand what sampling can change, and learn enough Jupyter to complete Pre-Lab 1. Ask students to open the notebook now, but wait before running cells.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1–3 minutes (2 minutes)</a:t>
            </a:r>
          </a:p>
          <a:p xmlns:a="http://schemas.openxmlformats.org/drawingml/2006/main">
            <a:r>
              <a:t/>
            </a:r>
          </a:p>
          <a:p xmlns:a="http://schemas.openxmlformats.org/drawingml/2006/main">
            <a:r>
              <a:t>Read the goals briefly. Tell students all Python code is provided. Their work is to calculate, predict, extract values from the output, compare cases, and explain the engineering meaning.</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3–5 minutes (2 minutes)</a:t>
            </a:r>
          </a:p>
          <a:p xmlns:a="http://schemas.openxmlformats.org/drawingml/2006/main">
            <a:r>
              <a:t/>
            </a:r>
          </a:p>
          <a:p xmlns:a="http://schemas.openxmlformats.org/drawingml/2006/main">
            <a:r>
              <a:t>Make the connection explicit. The pre-lab uses a clean mathematical signal. The laboratory adds noise, microphone response, amplitude changes, and imperfect excitation. The same analysis tools apply to both.</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5–8 minutes (3 minutes)</a:t>
            </a:r>
          </a:p>
          <a:p xmlns:a="http://schemas.openxmlformats.org/drawingml/2006/main">
            <a:r>
              <a:t/>
            </a:r>
          </a:p>
          <a:p xmlns:a="http://schemas.openxmlformats.org/drawingml/2006/main">
            <a:r>
              <a:t>Show the actual notebook on screen. Point to a Markdown cell and a code cell. Explain the execution count at the left. Emphasize that a notebook remembers variables only after the defining cell runs.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8–10 minutes (2 minutes)</a:t>
            </a:r>
          </a:p>
          <a:p xmlns:a="http://schemas.openxmlformats.org/drawingml/2006/main">
            <a:r>
              <a:t/>
            </a:r>
          </a:p>
          <a:p xmlns:a="http://schemas.openxmlformats.org/drawingml/2006/main">
            <a:r>
              <a:t>Demonstrate one route that matches the software available to students. In Colab, use File and Upload notebook. In JupyterLab, browse to the downloaded file. Remind students that the filename should include their name if Canvas requests it.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10–12 minutes (2 minutes)</a:t>
            </a:r>
          </a:p>
          <a:p xmlns:a="http://schemas.openxmlformats.org/drawingml/2006/main">
            <a:r>
              <a:t/>
            </a:r>
          </a:p>
          <a:p xmlns:a="http://schemas.openxmlformats.org/drawingml/2006/main">
            <a:r>
              <a:t>Run the second line before defining A to demonstrate a NameError only if time allows. Then run the defining cell and try again. Show Kernel or Runtime restart and explain why Run All is a useful final check before submission.</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12–15 minutes (3 minutes)</a:t>
            </a:r>
          </a:p>
          <a:p xmlns:a="http://schemas.openxmlformats.org/drawingml/2006/main">
            <a:r>
              <a:t/>
            </a:r>
          </a:p>
          <a:p xmlns:a="http://schemas.openxmlformats.org/drawingml/2006/main">
            <a:r>
              <a:t>Identify amplitude, frequency, phase, and units. Explain that NumPy evaluates the expression for every value in the time array. Point out the degree-to-radian conversion. Ask which tone has the larger amplitude.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15–17 minutes (2 minutes)</a:t>
            </a:r>
          </a:p>
          <a:p xmlns:a="http://schemas.openxmlformats.org/drawingml/2006/main">
            <a:r>
              <a:t/>
            </a:r>
          </a:p>
          <a:p xmlns:a="http://schemas.openxmlformats.org/drawingml/2006/main">
            <a:r>
              <a:t>Explain that students do not need advanced Python. The important distinction is between the continuous model represented by the function and the finite set of times sent into that function.</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17–20 minutes (3 minutes)</a:t>
            </a:r>
          </a:p>
          <a:p xmlns:a="http://schemas.openxmlformats.org/drawingml/2006/main">
            <a:r>
              <a:t/>
            </a:r>
          </a:p>
          <a:p xmlns:a="http://schemas.openxmlformats.org/drawingml/2006/main">
            <a:r>
              <a:t>Derive RMS slowly. A single sinusoid has RMS A divided by square root of two. The mean squares of distinct tones add over a record containing complete cycles. Stress that a plausible RMS does not prove the frequency content is correct.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20–23 minutes (3 minutes)</a:t>
            </a:r>
          </a:p>
          <a:p xmlns:a="http://schemas.openxmlformats.org/drawingml/2006/main">
            <a:r>
              <a:t/>
            </a:r>
          </a:p>
          <a:p xmlns:a="http://schemas.openxmlformats.org/drawingml/2006/main">
            <a:r>
              <a:t>Use the chart to distinguish the physical signal from its samples. The gray curve represents a dense numerical reference. Blue markers are the only values available to the data acquisition system at 48 Hz. Ask whether the connecting line proves what happened between samples. It does not.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23–25 minutes (2 minutes)</a:t>
            </a:r>
          </a:p>
          <a:p xmlns:a="http://schemas.openxmlformats.org/drawingml/2006/main">
            <a:r>
              <a:t/>
            </a:r>
          </a:p>
          <a:p xmlns:a="http://schemas.openxmlformats.org/drawingml/2006/main">
            <a:r>
              <a:t>Explain fs, dt, duration, and n. Point out that np.arange(n)/fs avoids an extra endpoint. Relate record duration to FFT-bin spacing. Students only need to understand what the variables mean so they can interpret the output.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25–28 minutes (3 minutes)</a:t>
            </a:r>
          </a:p>
          <a:p xmlns:a="http://schemas.openxmlformats.org/drawingml/2006/main">
            <a:r>
              <a:t/>
            </a:r>
          </a:p>
          <a:p xmlns:a="http://schemas.openxmlformats.org/drawingml/2006/main">
            <a:r>
              <a:t>Write fs greater than 2 fmax on the board. Clarify that two samples per cycle is a theoretical boundary and rarely gives a good-looking waveform. Ask students to classify all four sample rates before showing the FFT results.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28–31 minutes (3 minutes)</a:t>
            </a:r>
          </a:p>
          <a:p xmlns:a="http://schemas.openxmlformats.org/drawingml/2006/main">
            <a:r>
              <a:t/>
            </a:r>
          </a:p>
          <a:p xmlns:a="http://schemas.openxmlformats.org/drawingml/2006/main">
            <a:r>
              <a:t>At 126 Hz, both 18 and 42 Hz remain below Nyquist. At 48 Hz, Nyquist is 24 Hz, so the 42 Hz component folds to 6 Hz. The samples cannot tell the original 42 Hz tone from this false 6 Hz tone. Connect this to an audible change during replay.</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31–34 minutes (3 minutes)</a:t>
            </a:r>
          </a:p>
          <a:p xmlns:a="http://schemas.openxmlformats.org/drawingml/2006/main">
            <a:r>
              <a:t/>
            </a:r>
          </a:p>
          <a:p xmlns:a="http://schemas.openxmlformats.org/drawingml/2006/main">
            <a:r>
              <a:t>Trace one pass through the prepared loop so students understand the output. Their task starts after execution: record mean and RMS, calculate samples per 42 Hz cycle, compute percent error, and compare the time histories.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34–36 minutes (2 minutes)</a:t>
            </a:r>
          </a:p>
          <a:p xmlns:a="http://schemas.openxmlformats.org/drawingml/2006/main">
            <a:r>
              <a:t/>
            </a:r>
          </a:p>
          <a:p xmlns:a="http://schemas.openxmlformats.org/drawingml/2006/main">
            <a:r>
              <a:t>Open the notebook's 2 by 2 time-domain figure. Ask students which panel looks most trustworthy. Explain that the 336 Hz case has eight samples per cycle for the 42 Hz component, while the lowest rates distort the apparent shape.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36–39 minutes (3 minutes)</a:t>
            </a:r>
          </a:p>
          <a:p xmlns:a="http://schemas.openxmlformats.org/drawingml/2006/main">
            <a:r>
              <a:t/>
            </a:r>
          </a:p>
          <a:p xmlns:a="http://schemas.openxmlformats.org/drawingml/2006/main">
            <a:r>
              <a:t>Explain the purpose of each prepared operation without deriving the FFT. The window reduces leakage. The coherent-gain factor corrects amplitude. rfft keeps nonnegative frequencies. Students use the output to identify peaks and test their predictions.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39–41 minutes (2 minutes)</a:t>
            </a:r>
          </a:p>
          <a:p xmlns:a="http://schemas.openxmlformats.org/drawingml/2006/main">
            <a:r>
              <a:t/>
            </a:r>
          </a:p>
          <a:p xmlns:a="http://schemas.openxmlformats.org/drawingml/2006/main">
            <a:r>
              <a:t>Have students predict each result before revealing it. For 72 Hz, calculate absolute value of 42 minus 72 equals 30 Hz. For 48 Hz, calculate absolute value of 42 minus 48 equals 6 Hz.</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41–43 minutes (2 minutes)</a:t>
            </a:r>
          </a:p>
          <a:p xmlns:a="http://schemas.openxmlformats.org/drawingml/2006/main">
            <a:r>
              <a:t/>
            </a:r>
          </a:p>
          <a:p xmlns:a="http://schemas.openxmlformats.org/drawingml/2006/main">
            <a:r>
              <a:t>Run the notebook live from the beginning. Pause after each figure. Ask students to identify the sample rate, Nyquist frequency, expected tones, and observed peaks. Do not type their written answers for them. Show how to edit a Markdown response cell.</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43–45 minutes (2 minutes)</a:t>
            </a:r>
          </a:p>
          <a:p xmlns:a="http://schemas.openxmlformats.org/drawingml/2006/main">
            <a:r>
              <a:t/>
            </a:r>
          </a:p>
          <a:p xmlns:a="http://schemas.openxmlformats.org/drawingml/2006/main">
            <a:r>
              <a:t>Explain the 20-point structure. All code is prepared. Students earn credit for calculations, a completed comparison table, predictions, interpretation, and a measurement-design decision. Answers need numbers, units, and reasons.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45–47 minutes (2 minutes)</a:t>
            </a:r>
          </a:p>
          <a:p xmlns:a="http://schemas.openxmlformats.org/drawingml/2006/main">
            <a:r>
              <a:t/>
            </a:r>
          </a:p>
          <a:p xmlns:a="http://schemas.openxmlformats.org/drawingml/2006/main">
            <a:r>
              <a:t>Tell students to use restart and Run All before submission. Explain that changing one value and running cells out of order can create results that cannot be reproduced.</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47–49 minutes (2 minutes)</a:t>
            </a:r>
          </a:p>
          <a:p xmlns:a="http://schemas.openxmlformats.org/drawingml/2006/main">
            <a:r>
              <a:t/>
            </a:r>
          </a:p>
          <a:p xmlns:a="http://schemas.openxmlformats.org/drawingml/2006/main">
            <a:r>
              <a:t>Preview the laboratory workflow. Explain that real data may include background noise and extra harmonics. Students should still expect the largest relevant peak near the tuning-fork frequency when the sample rate is adequate.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49–50 minutes (1 minutes)</a:t>
            </a:r>
          </a:p>
          <a:p xmlns:a="http://schemas.openxmlformats.org/drawingml/2006/main">
            <a:r>
              <a:t/>
            </a:r>
          </a:p>
          <a:p xmlns:a="http://schemas.openxmlformats.org/drawingml/2006/main">
            <a:r>
              <a:t>End with the release and deadline rule. Ask one exit question: if fs equals 48 Hz, where will a 42 Hz tone appear? Expected answer: 6 Hz. Remind students to bring a way to save their Lab 1 data.</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f7f8703ed61413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a57dafcf4d41b9" /><Relationship Type="http://schemas.openxmlformats.org/officeDocument/2006/relationships/slideLayout" Target="/ppt/slideLayouts/slideLayout1.xml" Id="Rbb8475b5135046c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8475b5135046c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e07986b78204a40" /><Relationship Type="http://schemas.openxmlformats.org/officeDocument/2006/relationships/notesSlide" Target="/ppt/notesSlides/notesSlide1.xml" Id="R4c70499ed05542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2afeec79536429b" /><Relationship Type="http://schemas.openxmlformats.org/officeDocument/2006/relationships/notesSlide" Target="/ppt/notesSlides/notesSlide2.xml" Id="R7fe1beaaadf546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fb15d342d144d7c" /><Relationship Type="http://schemas.openxmlformats.org/officeDocument/2006/relationships/notesSlide" Target="/ppt/notesSlides/notesSlide3.xml" Id="R98381a7db8384e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1166f0a397d466a" /><Relationship Type="http://schemas.openxmlformats.org/officeDocument/2006/relationships/notesSlide" Target="/ppt/notesSlides/notesSlide4.xml" Id="R19ce36ba0f544e2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88aae0f1f654596" /><Relationship Type="http://schemas.openxmlformats.org/officeDocument/2006/relationships/notesSlide" Target="/ppt/notesSlides/notesSlide5.xml" Id="R034e5bbda7a946a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2038e15beaa49e3" /><Relationship Type="http://schemas.openxmlformats.org/officeDocument/2006/relationships/notesSlide" Target="/ppt/notesSlides/notesSlide6.xml" Id="Ra36545cd9315479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11380f21a214a35" /><Relationship Type="http://schemas.openxmlformats.org/officeDocument/2006/relationships/notesSlide" Target="/ppt/notesSlides/notesSlide7.xml" Id="R5aa61ef93190453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4cbd38274724d79" /><Relationship Type="http://schemas.openxmlformats.org/officeDocument/2006/relationships/notesSlide" Target="/ppt/notesSlides/notesSlide8.xml" Id="Rc0aca7c2629f4f1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07487b5ed3f4906" /><Relationship Type="http://schemas.openxmlformats.org/officeDocument/2006/relationships/notesSlide" Target="/ppt/notesSlides/notesSlide9.xml" Id="Rca842ac6b6bb485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aacbd482c7e4dcd" /><Relationship Type="http://schemas.openxmlformats.org/officeDocument/2006/relationships/notesSlide" Target="/ppt/notesSlides/notesSlide10.xml" Id="Rab85dd8bec1b47f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d0156e3733941bf" /><Relationship Type="http://schemas.openxmlformats.org/officeDocument/2006/relationships/notesSlide" Target="/ppt/notesSlides/notesSlide11.xml" Id="Ra05455983903499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06b32312b7543ef" /><Relationship Type="http://schemas.openxmlformats.org/officeDocument/2006/relationships/notesSlide" Target="/ppt/notesSlides/notesSlide12.xml" Id="R36956f1cab2b4b4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a59b55664924259" /><Relationship Type="http://schemas.openxmlformats.org/officeDocument/2006/relationships/notesSlide" Target="/ppt/notesSlides/notesSlide13.xml" Id="R18f45f018a5545f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82c1eaf0b774722" /><Relationship Type="http://schemas.openxmlformats.org/officeDocument/2006/relationships/notesSlide" Target="/ppt/notesSlides/notesSlide14.xml" Id="R1855c77cfe50457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f69060331124c10" /><Relationship Type="http://schemas.openxmlformats.org/officeDocument/2006/relationships/notesSlide" Target="/ppt/notesSlides/notesSlide15.xml" Id="Rb49e068fb82e49d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3de7d1c17ac428b" /><Relationship Type="http://schemas.openxmlformats.org/officeDocument/2006/relationships/notesSlide" Target="/ppt/notesSlides/notesSlide16.xml" Id="R2690a6e9d6934fd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46ac0c5fc434816" /><Relationship Type="http://schemas.openxmlformats.org/officeDocument/2006/relationships/notesSlide" Target="/ppt/notesSlides/notesSlide17.xml" Id="Reaa46d8375114fa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6b3f875313a401c" /><Relationship Type="http://schemas.openxmlformats.org/officeDocument/2006/relationships/notesSlide" Target="/ppt/notesSlides/notesSlide18.xml" Id="R4971b11061d6439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9ce6f88898042b0" /><Relationship Type="http://schemas.openxmlformats.org/officeDocument/2006/relationships/notesSlide" Target="/ppt/notesSlides/notesSlide19.xml" Id="R80d8c7a7afaa46f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085ae1ef3b946da" /><Relationship Type="http://schemas.openxmlformats.org/officeDocument/2006/relationships/notesSlide" Target="/ppt/notesSlides/notesSlide20.xml" Id="Rd531f0d1ef2d4c7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0a02e26d5ef4e7d" /><Relationship Type="http://schemas.openxmlformats.org/officeDocument/2006/relationships/notesSlide" Target="/ppt/notesSlides/notesSlide21.xml" Id="R6126a6873dba4fa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7522d0e45a94c2b" /><Relationship Type="http://schemas.openxmlformats.org/officeDocument/2006/relationships/notesSlide" Target="/ppt/notesSlides/notesSlide22.xml" Id="R57b8569ac84742e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E6880D69-6244-4445-AE47-DC8AA021928D}"/>
              </a:ext>
            </a:extLst>
          </p:cNvPr>
          <p:cNvSpPr>
            <a:spLocks xmlns:a="http://schemas.openxmlformats.org/drawingml/2006/main" noGrp="1"/>
          </p:cNvSpPr>
          <p:nvPr/>
        </p:nvSpPr>
        <p:spPr>
          <a:xfrm xmlns:a="http://schemas.openxmlformats.org/drawingml/2006/main">
            <a:off x="495300" y="40005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81C1C"/>
                </a:solidFill>
                <a:latin typeface="Calibri"/>
                <a:ea typeface="Calibri"/>
                <a:cs typeface="Calibri"/>
              </a:defRPr>
            </a:pPr>
            <a:r>
              <a:rPr sz="1350" b="1">
                <a:solidFill>
                  <a:srgbClr val="881C1C"/>
                </a:solidFill>
                <a:latin typeface="Calibri"/>
                <a:ea typeface="Calibri"/>
                <a:cs typeface="Calibri"/>
              </a:rPr>
              <a:t>MIE 402  |  ME LAB II</a:t>
            </a:r>
          </a:p>
        </p:txBody>
      </p:sp>
      <p:sp>
        <p:nvSpPr>
          <p:cNvPr id="2" name="text">
            <a:extLst xmlns:a="http://schemas.openxmlformats.org/drawingml/2006/main">
              <a:ext uri="{FF2B5EF4-FFF2-40B4-BE49-F238E27FC236}">
                <a16:creationId xmlns:a16="http://schemas.microsoft.com/office/drawing/2014/main" id="{DD799470-9C9E-4E42-B87F-285C7A169285}"/>
              </a:ext>
            </a:extLst>
          </p:cNvPr>
          <p:cNvSpPr>
            <a:spLocks xmlns:a="http://schemas.openxmlformats.org/drawingml/2006/main" noGrp="1"/>
          </p:cNvSpPr>
          <p:nvPr/>
        </p:nvSpPr>
        <p:spPr>
          <a:xfrm xmlns:a="http://schemas.openxmlformats.org/drawingml/2006/main">
            <a:off x="495300" y="1381125"/>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11111"/>
                </a:solidFill>
                <a:latin typeface="Calibri"/>
                <a:ea typeface="Calibri"/>
                <a:cs typeface="Calibri"/>
              </a:defRPr>
            </a:pPr>
            <a:r>
              <a:rPr sz="3900" b="1">
                <a:solidFill>
                  <a:srgbClr val="111111"/>
                </a:solidFill>
                <a:latin typeface="Calibri"/>
                <a:ea typeface="Calibri"/>
                <a:cs typeface="Calibri"/>
              </a:rPr>
              <a:t>Sampling, FFT, and</a:t>
            </a:r>
          </a:p>
          <a:p xmlns:a="http://schemas.openxmlformats.org/drawingml/2006/main">
            <a:pPr>
              <a:defRPr sz="3900" b="1">
                <a:solidFill>
                  <a:srgbClr val="111111"/>
                </a:solidFill>
                <a:latin typeface="Calibri"/>
                <a:ea typeface="Calibri"/>
                <a:cs typeface="Calibri"/>
              </a:defRPr>
            </a:pPr>
            <a:r>
              <a:rPr sz="3900" b="1">
                <a:solidFill>
                  <a:srgbClr val="111111"/>
                </a:solidFill>
                <a:latin typeface="Calibri"/>
                <a:ea typeface="Calibri"/>
                <a:cs typeface="Calibri"/>
              </a:rPr>
              <a:t>the Pre-Lab 1 notebook</a:t>
            </a:r>
          </a:p>
        </p:txBody>
      </p:sp>
      <p:sp>
        <p:nvSpPr>
          <p:cNvPr id="3" name="text">
            <a:extLst xmlns:a="http://schemas.openxmlformats.org/drawingml/2006/main">
              <a:ext uri="{FF2B5EF4-FFF2-40B4-BE49-F238E27FC236}">
                <a16:creationId xmlns:a16="http://schemas.microsoft.com/office/drawing/2014/main" id="{F3293DEF-C1A4-4397-AE1A-4A157E678CDB}"/>
              </a:ext>
            </a:extLst>
          </p:cNvPr>
          <p:cNvSpPr>
            <a:spLocks xmlns:a="http://schemas.openxmlformats.org/drawingml/2006/main" noGrp="1"/>
          </p:cNvSpPr>
          <p:nvPr/>
        </p:nvSpPr>
        <p:spPr>
          <a:xfrm xmlns:a="http://schemas.openxmlformats.org/drawingml/2006/main">
            <a:off x="523875" y="3333750"/>
            <a:ext cx="666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F6368"/>
                </a:solidFill>
                <a:latin typeface="Calibri"/>
                <a:ea typeface="Calibri"/>
                <a:cs typeface="Calibri"/>
              </a:defRPr>
            </a:pPr>
            <a:r>
              <a:rPr sz="2025" b="0">
                <a:solidFill>
                  <a:srgbClr val="5F6368"/>
                </a:solidFill>
                <a:latin typeface="Calibri"/>
                <a:ea typeface="Calibri"/>
                <a:cs typeface="Calibri"/>
              </a:rPr>
              <a:t>Fall 2026 · Prof. Ehsan Roohi</a:t>
            </a:r>
          </a:p>
        </p:txBody>
      </p:sp>
      <p:sp>
        <p:nvSpPr>
          <p:cNvPr id="4" name="text">
            <a:extLst xmlns:a="http://schemas.openxmlformats.org/drawingml/2006/main">
              <a:ext uri="{FF2B5EF4-FFF2-40B4-BE49-F238E27FC236}">
                <a16:creationId xmlns:a16="http://schemas.microsoft.com/office/drawing/2014/main" id="{FAFCED3D-6356-4863-9BA1-A89BF67F4346}"/>
              </a:ext>
            </a:extLst>
          </p:cNvPr>
          <p:cNvSpPr>
            <a:spLocks xmlns:a="http://schemas.openxmlformats.org/drawingml/2006/main" noGrp="1"/>
          </p:cNvSpPr>
          <p:nvPr/>
        </p:nvSpPr>
        <p:spPr>
          <a:xfrm xmlns:a="http://schemas.openxmlformats.org/drawingml/2006/main">
            <a:off x="523875" y="3952875"/>
            <a:ext cx="809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881C1C"/>
                </a:solidFill>
                <a:latin typeface="Calibri"/>
                <a:ea typeface="Calibri"/>
                <a:cs typeface="Calibri"/>
              </a:defRPr>
            </a:pPr>
            <a:r>
              <a:rPr sz="2100" b="1">
                <a:solidFill>
                  <a:srgbClr val="881C1C"/>
                </a:solidFill>
                <a:latin typeface="Calibri"/>
                <a:ea typeface="Calibri"/>
                <a:cs typeface="Calibri"/>
              </a:rPr>
              <a:t>Lecture and guided Jupyter walkthrough</a:t>
            </a:r>
          </a:p>
        </p:txBody>
      </p:sp>
      <p:sp>
        <p:nvSpPr>
          <p:cNvPr id="5" name="page">
            <a:extLst xmlns:a="http://schemas.openxmlformats.org/drawingml/2006/main">
              <a:ext uri="{FF2B5EF4-FFF2-40B4-BE49-F238E27FC236}">
                <a16:creationId xmlns:a16="http://schemas.microsoft.com/office/drawing/2014/main" id="{3104B6CA-D39F-4EE7-987F-FC122895C4B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a:t>
            </a:r>
          </a:p>
        </p:txBody>
      </p:sp>
    </p:spTree>
    <p:extLst>
      <p:ext uri="{BB962C8B-B14F-4D97-AF65-F5344CB8AC3E}">
        <p14:creationId xmlns:p14="http://schemas.microsoft.com/office/powerpoint/2010/main" val="147104609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1B5E944B-5900-4B17-9FDC-73FFAAAB7F1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9C35B37-8D01-46D1-9B9F-F0FA9F1AAFD6}"/>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Learning goals</a:t>
            </a:r>
          </a:p>
        </p:txBody>
      </p:sp>
      <p:sp>
        <p:nvSpPr>
          <p:cNvPr id="3" name="page">
            <a:extLst xmlns:a="http://schemas.openxmlformats.org/drawingml/2006/main">
              <a:ext uri="{FF2B5EF4-FFF2-40B4-BE49-F238E27FC236}">
                <a16:creationId xmlns:a16="http://schemas.microsoft.com/office/drawing/2014/main" id="{09D095AF-1CA0-4EFB-90B6-3D21A8CEF6BE}"/>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a:t>
            </a:r>
          </a:p>
        </p:txBody>
      </p:sp>
      <p:sp>
        <p:nvSpPr>
          <p:cNvPr id="4" name="text">
            <a:extLst xmlns:a="http://schemas.openxmlformats.org/drawingml/2006/main">
              <a:ext uri="{FF2B5EF4-FFF2-40B4-BE49-F238E27FC236}">
                <a16:creationId xmlns:a16="http://schemas.microsoft.com/office/drawing/2014/main" id="{79ADC1DE-B830-4CF1-944C-814B3F1A10F0}"/>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472C652E-CC69-4341-BE3A-F7B2335B7DD7}"/>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Explain sample rate, sample interval, record length, and Nyquist frequency</a:t>
            </a:r>
          </a:p>
        </p:txBody>
      </p:sp>
      <p:sp>
        <p:nvSpPr>
          <p:cNvPr id="6" name="text">
            <a:extLst xmlns:a="http://schemas.openxmlformats.org/drawingml/2006/main">
              <a:ext uri="{FF2B5EF4-FFF2-40B4-BE49-F238E27FC236}">
                <a16:creationId xmlns:a16="http://schemas.microsoft.com/office/drawing/2014/main" id="{F20F3F84-52D7-4EA5-8FF9-3AEDCB5F2B64}"/>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5FC631A5-1F8C-4A02-BCDC-8EAEAFD72CD5}"/>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Run prepared analysis cells in a Jupyter notebook</a:t>
            </a:r>
          </a:p>
        </p:txBody>
      </p:sp>
      <p:sp>
        <p:nvSpPr>
          <p:cNvPr id="8" name="text">
            <a:extLst xmlns:a="http://schemas.openxmlformats.org/drawingml/2006/main">
              <a:ext uri="{FF2B5EF4-FFF2-40B4-BE49-F238E27FC236}">
                <a16:creationId xmlns:a16="http://schemas.microsoft.com/office/drawing/2014/main" id="{196A452A-8204-4823-A117-717DA3BEB6E1}"/>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92ACA28E-18E5-48B9-9786-6A34C46A2B57}"/>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Interpret time histories, RMS values, and one-sided FFT spectra</a:t>
            </a:r>
          </a:p>
        </p:txBody>
      </p:sp>
      <p:sp>
        <p:nvSpPr>
          <p:cNvPr id="10" name="text">
            <a:extLst xmlns:a="http://schemas.openxmlformats.org/drawingml/2006/main">
              <a:ext uri="{FF2B5EF4-FFF2-40B4-BE49-F238E27FC236}">
                <a16:creationId xmlns:a16="http://schemas.microsoft.com/office/drawing/2014/main" id="{6A5B676F-631D-4D3F-8CA4-E31B7686ECED}"/>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4A5E2657-98A0-4373-B3EE-F7F1833B2A1F}"/>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Recognize aliasing before collecting Lab 1 sound data</a:t>
            </a:r>
          </a:p>
        </p:txBody>
      </p:sp>
    </p:spTree>
    <p:extLst>
      <p:ext uri="{BB962C8B-B14F-4D97-AF65-F5344CB8AC3E}">
        <p14:creationId xmlns:p14="http://schemas.microsoft.com/office/powerpoint/2010/main" val="158546558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5161F60D-8E53-4482-8401-A698D42F35F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3587500-EC27-4018-85F7-895C55DC430D}"/>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Connection to Lab 1</a:t>
            </a:r>
          </a:p>
        </p:txBody>
      </p:sp>
      <p:sp>
        <p:nvSpPr>
          <p:cNvPr id="3" name="page">
            <a:extLst xmlns:a="http://schemas.openxmlformats.org/drawingml/2006/main">
              <a:ext uri="{FF2B5EF4-FFF2-40B4-BE49-F238E27FC236}">
                <a16:creationId xmlns:a16="http://schemas.microsoft.com/office/drawing/2014/main" id="{0B19483D-EB2D-4B00-908A-26568CB04293}"/>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a:t>
            </a:r>
          </a:p>
        </p:txBody>
      </p:sp>
      <p:sp>
        <p:nvSpPr>
          <p:cNvPr id="4" name="text">
            <a:extLst xmlns:a="http://schemas.openxmlformats.org/drawingml/2006/main">
              <a:ext uri="{FF2B5EF4-FFF2-40B4-BE49-F238E27FC236}">
                <a16:creationId xmlns:a16="http://schemas.microsoft.com/office/drawing/2014/main" id="{1F572849-B4BD-4896-B9C1-2B8F1BC011AB}"/>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PRE-LAB</a:t>
            </a:r>
          </a:p>
        </p:txBody>
      </p:sp>
      <p:sp>
        <p:nvSpPr>
          <p:cNvPr id="5" name="text">
            <a:extLst xmlns:a="http://schemas.openxmlformats.org/drawingml/2006/main">
              <a:ext uri="{FF2B5EF4-FFF2-40B4-BE49-F238E27FC236}">
                <a16:creationId xmlns:a16="http://schemas.microsoft.com/office/drawing/2014/main" id="{A1A0AB64-3B64-47C4-964F-F3CBEDE2DB8E}"/>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LABORATORY</a:t>
            </a:r>
          </a:p>
        </p:txBody>
      </p:sp>
      <p:sp>
        <p:nvSpPr>
          <p:cNvPr id="6" name="text">
            <a:extLst xmlns:a="http://schemas.openxmlformats.org/drawingml/2006/main">
              <a:ext uri="{FF2B5EF4-FFF2-40B4-BE49-F238E27FC236}">
                <a16:creationId xmlns:a16="http://schemas.microsoft.com/office/drawing/2014/main" id="{FE20050E-FF54-4AC4-80F2-10B9E2B57315}"/>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known two-tone signal tests sampling and FFT ideas before the laboratory.</a:t>
            </a:r>
          </a:p>
        </p:txBody>
      </p:sp>
      <p:sp>
        <p:nvSpPr>
          <p:cNvPr id="7" name="text">
            <a:extLst xmlns:a="http://schemas.openxmlformats.org/drawingml/2006/main">
              <a:ext uri="{FF2B5EF4-FFF2-40B4-BE49-F238E27FC236}">
                <a16:creationId xmlns:a16="http://schemas.microsoft.com/office/drawing/2014/main" id="{E97B3C02-BF7A-4042-B007-E8E0C5595928}"/>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code provides a controlled result that you can predict.</a:t>
            </a:r>
          </a:p>
        </p:txBody>
      </p:sp>
      <p:sp>
        <p:nvSpPr>
          <p:cNvPr id="8" name="text">
            <a:extLst xmlns:a="http://schemas.openxmlformats.org/drawingml/2006/main">
              <a:ext uri="{FF2B5EF4-FFF2-40B4-BE49-F238E27FC236}">
                <a16:creationId xmlns:a16="http://schemas.microsoft.com/office/drawing/2014/main" id="{167C2361-EC24-4448-85CA-05EB70A473D3}"/>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Moku:Go records real microphone signals.</a:t>
            </a:r>
          </a:p>
        </p:txBody>
      </p:sp>
      <p:sp>
        <p:nvSpPr>
          <p:cNvPr id="9" name="text">
            <a:extLst xmlns:a="http://schemas.openxmlformats.org/drawingml/2006/main">
              <a:ext uri="{FF2B5EF4-FFF2-40B4-BE49-F238E27FC236}">
                <a16:creationId xmlns:a16="http://schemas.microsoft.com/office/drawing/2014/main" id="{5F5B95EB-6BB2-4951-A52A-045CCF96E055}"/>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You will compare waveforms, spectra, and replayed sound at several sample rates.</a:t>
            </a:r>
          </a:p>
        </p:txBody>
      </p:sp>
    </p:spTree>
    <p:extLst>
      <p:ext uri="{BB962C8B-B14F-4D97-AF65-F5344CB8AC3E}">
        <p14:creationId xmlns:p14="http://schemas.microsoft.com/office/powerpoint/2010/main" val="207419696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995476E4-27D7-42CF-9C14-5F4E964E48A8}"/>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5F4FD57-256E-47DF-820A-059196F1495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Jupyter notebook structure</a:t>
            </a:r>
          </a:p>
        </p:txBody>
      </p:sp>
      <p:sp>
        <p:nvSpPr>
          <p:cNvPr id="3" name="page">
            <a:extLst xmlns:a="http://schemas.openxmlformats.org/drawingml/2006/main">
              <a:ext uri="{FF2B5EF4-FFF2-40B4-BE49-F238E27FC236}">
                <a16:creationId xmlns:a16="http://schemas.microsoft.com/office/drawing/2014/main" id="{26279580-BA9E-4D88-89E6-D69D2455B739}"/>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4</a:t>
            </a:r>
          </a:p>
        </p:txBody>
      </p:sp>
      <p:sp>
        <p:nvSpPr>
          <p:cNvPr id="4" name="text">
            <a:extLst xmlns:a="http://schemas.openxmlformats.org/drawingml/2006/main">
              <a:ext uri="{FF2B5EF4-FFF2-40B4-BE49-F238E27FC236}">
                <a16:creationId xmlns:a16="http://schemas.microsoft.com/office/drawing/2014/main" id="{E6F0EF37-B837-433B-9A32-48ED3ABA48E8}"/>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MARKDOWN CELLS</a:t>
            </a:r>
          </a:p>
        </p:txBody>
      </p:sp>
      <p:sp>
        <p:nvSpPr>
          <p:cNvPr id="5" name="text">
            <a:extLst xmlns:a="http://schemas.openxmlformats.org/drawingml/2006/main">
              <a:ext uri="{FF2B5EF4-FFF2-40B4-BE49-F238E27FC236}">
                <a16:creationId xmlns:a16="http://schemas.microsoft.com/office/drawing/2014/main" id="{4B6F7460-F4F6-4865-A40D-EE8FA3C8C138}"/>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CODE CELLS</a:t>
            </a:r>
          </a:p>
        </p:txBody>
      </p:sp>
      <p:sp>
        <p:nvSpPr>
          <p:cNvPr id="6" name="text">
            <a:extLst xmlns:a="http://schemas.openxmlformats.org/drawingml/2006/main">
              <a:ext uri="{FF2B5EF4-FFF2-40B4-BE49-F238E27FC236}">
                <a16:creationId xmlns:a16="http://schemas.microsoft.com/office/drawing/2014/main" id="{51E0C151-7BA4-4B2C-921F-8ABF99E0C3FF}"/>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Instructions, equations, and response areas.</a:t>
            </a:r>
          </a:p>
        </p:txBody>
      </p:sp>
      <p:sp>
        <p:nvSpPr>
          <p:cNvPr id="7" name="text">
            <a:extLst xmlns:a="http://schemas.openxmlformats.org/drawingml/2006/main">
              <a:ext uri="{FF2B5EF4-FFF2-40B4-BE49-F238E27FC236}">
                <a16:creationId xmlns:a16="http://schemas.microsoft.com/office/drawing/2014/main" id="{BFFDCFC5-4D23-43C6-9077-D93EE943B4AC}"/>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Double-click to edit. Use Shift+Enter to render and move forward.</a:t>
            </a:r>
          </a:p>
        </p:txBody>
      </p:sp>
      <p:sp>
        <p:nvSpPr>
          <p:cNvPr id="8" name="text">
            <a:extLst xmlns:a="http://schemas.openxmlformats.org/drawingml/2006/main">
              <a:ext uri="{FF2B5EF4-FFF2-40B4-BE49-F238E27FC236}">
                <a16:creationId xmlns:a16="http://schemas.microsoft.com/office/drawing/2014/main" id="{1AD8F7EF-F628-4E1F-BCEE-72CE5BA32C46}"/>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Python commands that define variables, calculate results, and make figures.</a:t>
            </a:r>
          </a:p>
        </p:txBody>
      </p:sp>
      <p:sp>
        <p:nvSpPr>
          <p:cNvPr id="9" name="text">
            <a:extLst xmlns:a="http://schemas.openxmlformats.org/drawingml/2006/main">
              <a:ext uri="{FF2B5EF4-FFF2-40B4-BE49-F238E27FC236}">
                <a16:creationId xmlns:a16="http://schemas.microsoft.com/office/drawing/2014/main" id="{88B3C64B-FE14-4ABF-98E2-70FA12DDCC5F}"/>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Run from top to bottom with Shift+Enter.</a:t>
            </a:r>
          </a:p>
        </p:txBody>
      </p:sp>
    </p:spTree>
    <p:extLst>
      <p:ext uri="{BB962C8B-B14F-4D97-AF65-F5344CB8AC3E}">
        <p14:creationId xmlns:p14="http://schemas.microsoft.com/office/powerpoint/2010/main" val="111476679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A59A0FC6-86AD-4C64-AD22-9EDFB6ED15D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FE3B5FC-1B6A-43B4-8BF1-5B5CFF84FF60}"/>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Opening and saving the notebook</a:t>
            </a:r>
          </a:p>
        </p:txBody>
      </p:sp>
      <p:sp>
        <p:nvSpPr>
          <p:cNvPr id="3" name="page">
            <a:extLst xmlns:a="http://schemas.openxmlformats.org/drawingml/2006/main">
              <a:ext uri="{FF2B5EF4-FFF2-40B4-BE49-F238E27FC236}">
                <a16:creationId xmlns:a16="http://schemas.microsoft.com/office/drawing/2014/main" id="{9F862273-C277-42FC-A37F-9ACD79DED38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5</a:t>
            </a:r>
          </a:p>
        </p:txBody>
      </p:sp>
      <p:sp>
        <p:nvSpPr>
          <p:cNvPr id="4" name="text">
            <a:extLst xmlns:a="http://schemas.openxmlformats.org/drawingml/2006/main">
              <a:ext uri="{FF2B5EF4-FFF2-40B4-BE49-F238E27FC236}">
                <a16:creationId xmlns:a16="http://schemas.microsoft.com/office/drawing/2014/main" id="{F51655F0-CBF2-4B17-8590-E5DB84E0B162}"/>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19851FB0-3C6D-4648-BB68-B9E9F7702681}"/>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Download the .ipynb file from Canvas or the course website</a:t>
            </a:r>
          </a:p>
        </p:txBody>
      </p:sp>
      <p:sp>
        <p:nvSpPr>
          <p:cNvPr id="6" name="text">
            <a:extLst xmlns:a="http://schemas.openxmlformats.org/drawingml/2006/main">
              <a:ext uri="{FF2B5EF4-FFF2-40B4-BE49-F238E27FC236}">
                <a16:creationId xmlns:a16="http://schemas.microsoft.com/office/drawing/2014/main" id="{5463379E-3992-44A4-A363-FABED6909FA0}"/>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3E0CEFFF-84AE-4DFD-811E-2E6809354881}"/>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Open it in JupyterLab, Jupyter Notebook, or Google Colab</a:t>
            </a:r>
          </a:p>
        </p:txBody>
      </p:sp>
      <p:sp>
        <p:nvSpPr>
          <p:cNvPr id="8" name="text">
            <a:extLst xmlns:a="http://schemas.openxmlformats.org/drawingml/2006/main">
              <a:ext uri="{FF2B5EF4-FFF2-40B4-BE49-F238E27FC236}">
                <a16:creationId xmlns:a16="http://schemas.microsoft.com/office/drawing/2014/main" id="{2DED8EB3-AE47-47F2-BBD5-9363A578AFF2}"/>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13C318ED-1700-4C53-B482-7AC853AD5D02}"/>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Save a personal copy before editing</a:t>
            </a:r>
          </a:p>
        </p:txBody>
      </p:sp>
      <p:sp>
        <p:nvSpPr>
          <p:cNvPr id="10" name="text">
            <a:extLst xmlns:a="http://schemas.openxmlformats.org/drawingml/2006/main">
              <a:ext uri="{FF2B5EF4-FFF2-40B4-BE49-F238E27FC236}">
                <a16:creationId xmlns:a16="http://schemas.microsoft.com/office/drawing/2014/main" id="{59938CD1-84B6-48D3-A891-A8B4274D2483}"/>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2FE46551-6BB1-4A81-B520-CEC8739EE914}"/>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Keep code outputs and figures in the submitted file</a:t>
            </a:r>
          </a:p>
        </p:txBody>
      </p:sp>
    </p:spTree>
    <p:extLst>
      <p:ext uri="{BB962C8B-B14F-4D97-AF65-F5344CB8AC3E}">
        <p14:creationId xmlns:p14="http://schemas.microsoft.com/office/powerpoint/2010/main" val="168628933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EAEB55CB-E081-4D93-A3C7-594909FF1033}"/>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EBE8D37-F16A-4A4F-B350-E8D5AA65B6E4}"/>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Execution order matters</a:t>
            </a:r>
          </a:p>
        </p:txBody>
      </p:sp>
      <p:sp>
        <p:nvSpPr>
          <p:cNvPr id="3" name="page">
            <a:extLst xmlns:a="http://schemas.openxmlformats.org/drawingml/2006/main">
              <a:ext uri="{FF2B5EF4-FFF2-40B4-BE49-F238E27FC236}">
                <a16:creationId xmlns:a16="http://schemas.microsoft.com/office/drawing/2014/main" id="{11E2FCAA-9E36-4A97-80A6-D84E24B51996}"/>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6</a:t>
            </a:r>
          </a:p>
        </p:txBody>
      </p:sp>
      <p:sp>
        <p:nvSpPr>
          <p:cNvPr id="4" name="code">
            <a:extLst xmlns:a="http://schemas.openxmlformats.org/drawingml/2006/main">
              <a:ext uri="{FF2B5EF4-FFF2-40B4-BE49-F238E27FC236}">
                <a16:creationId xmlns:a16="http://schemas.microsoft.com/office/drawing/2014/main" id="{16DFD505-D9D4-4889-A1BA-88B9754C90EB}"/>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 = 1.20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print(A)</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A later cell can use A only after this cell runs.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rms_component = A / np.sqrt(2)</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print(rms_component)</a:t>
            </a:r>
          </a:p>
        </p:txBody>
      </p:sp>
      <p:sp>
        <p:nvSpPr>
          <p:cNvPr id="5" name="text">
            <a:extLst xmlns:a="http://schemas.openxmlformats.org/drawingml/2006/main">
              <a:ext uri="{FF2B5EF4-FFF2-40B4-BE49-F238E27FC236}">
                <a16:creationId xmlns:a16="http://schemas.microsoft.com/office/drawing/2014/main" id="{1F8E44F3-0638-4896-B7A2-411A05A4D14D}"/>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A restart clears stored variables. Run All rebuilds the notebook state from the first cell.</a:t>
            </a:r>
          </a:p>
        </p:txBody>
      </p:sp>
    </p:spTree>
    <p:extLst>
      <p:ext uri="{BB962C8B-B14F-4D97-AF65-F5344CB8AC3E}">
        <p14:creationId xmlns:p14="http://schemas.microsoft.com/office/powerpoint/2010/main" val="46360025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133824A9-99B1-4801-BFAC-A6715A97CCF5}"/>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1A8BA6F-A90A-4E75-B948-25CA12F7E737}"/>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new two-tone signal</a:t>
            </a:r>
          </a:p>
        </p:txBody>
      </p:sp>
      <p:sp>
        <p:nvSpPr>
          <p:cNvPr id="3" name="page">
            <a:extLst xmlns:a="http://schemas.openxmlformats.org/drawingml/2006/main">
              <a:ext uri="{FF2B5EF4-FFF2-40B4-BE49-F238E27FC236}">
                <a16:creationId xmlns:a16="http://schemas.microsoft.com/office/drawing/2014/main" id="{5C483C04-472C-4747-9A31-8463AB8CA1F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7</a:t>
            </a:r>
          </a:p>
        </p:txBody>
      </p:sp>
      <p:sp>
        <p:nvSpPr>
          <p:cNvPr id="4" name="code">
            <a:extLst xmlns:a="http://schemas.openxmlformats.org/drawingml/2006/main">
              <a:ext uri="{FF2B5EF4-FFF2-40B4-BE49-F238E27FC236}">
                <a16:creationId xmlns:a16="http://schemas.microsoft.com/office/drawing/2014/main" id="{A474F468-C44C-4EF7-98C8-0EF45A061CB3}"/>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A1, f1, phi1_deg = 1.20, 18.0, 25.0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A2, f2, phi2_deg = 0.45, 42.0, -15.0</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def signal(t):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return (A1*np.sin(2*np.pi*f1*t + np.deg2rad(phi1_deg))</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 A2*np.cos(2*np.pi*f2*t + np.deg2rad(phi2_deg)))</a:t>
            </a:r>
          </a:p>
        </p:txBody>
      </p:sp>
      <p:sp>
        <p:nvSpPr>
          <p:cNvPr id="5" name="text">
            <a:extLst xmlns:a="http://schemas.openxmlformats.org/drawingml/2006/main">
              <a:ext uri="{FF2B5EF4-FFF2-40B4-BE49-F238E27FC236}">
                <a16:creationId xmlns:a16="http://schemas.microsoft.com/office/drawing/2014/main" id="{B7BDFB4F-54E1-4085-980C-F1CE2E0C8B82}"/>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The function returns voltage values for any array of time values.</a:t>
            </a:r>
          </a:p>
        </p:txBody>
      </p:sp>
    </p:spTree>
    <p:extLst>
      <p:ext uri="{BB962C8B-B14F-4D97-AF65-F5344CB8AC3E}">
        <p14:creationId xmlns:p14="http://schemas.microsoft.com/office/powerpoint/2010/main" val="43800033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581A9820-6375-4671-90D7-2F42266011E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5018F4E-016C-4721-95CB-85BC6BD49216}"/>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Meaning of the Python syntax</a:t>
            </a:r>
          </a:p>
        </p:txBody>
      </p:sp>
      <p:sp>
        <p:nvSpPr>
          <p:cNvPr id="3" name="page">
            <a:extLst xmlns:a="http://schemas.openxmlformats.org/drawingml/2006/main">
              <a:ext uri="{FF2B5EF4-FFF2-40B4-BE49-F238E27FC236}">
                <a16:creationId xmlns:a16="http://schemas.microsoft.com/office/drawing/2014/main" id="{24FF7C02-D2FF-4438-A0CC-448487F3CA7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8</a:t>
            </a:r>
          </a:p>
        </p:txBody>
      </p:sp>
      <p:sp>
        <p:nvSpPr>
          <p:cNvPr id="4" name="text">
            <a:extLst xmlns:a="http://schemas.openxmlformats.org/drawingml/2006/main">
              <a:ext uri="{FF2B5EF4-FFF2-40B4-BE49-F238E27FC236}">
                <a16:creationId xmlns:a16="http://schemas.microsoft.com/office/drawing/2014/main" id="{2A9FB539-3815-4AB1-8D9C-E12A9DA0EDFE}"/>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ARRAY OPERATIONS</a:t>
            </a:r>
          </a:p>
        </p:txBody>
      </p:sp>
      <p:sp>
        <p:nvSpPr>
          <p:cNvPr id="5" name="text">
            <a:extLst xmlns:a="http://schemas.openxmlformats.org/drawingml/2006/main">
              <a:ext uri="{FF2B5EF4-FFF2-40B4-BE49-F238E27FC236}">
                <a16:creationId xmlns:a16="http://schemas.microsoft.com/office/drawing/2014/main" id="{7F4C448B-3A3A-4920-AFF9-E2F42209B2D9}"/>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FUNCTION OUTPUT</a:t>
            </a:r>
          </a:p>
        </p:txBody>
      </p:sp>
      <p:sp>
        <p:nvSpPr>
          <p:cNvPr id="6" name="text">
            <a:extLst xmlns:a="http://schemas.openxmlformats.org/drawingml/2006/main">
              <a:ext uri="{FF2B5EF4-FFF2-40B4-BE49-F238E27FC236}">
                <a16:creationId xmlns:a16="http://schemas.microsoft.com/office/drawing/2014/main" id="{D6CB9FA8-D908-44E6-96D9-C842EE9CBFAF}"/>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np.pi supplies π.</a:t>
            </a:r>
          </a:p>
        </p:txBody>
      </p:sp>
      <p:sp>
        <p:nvSpPr>
          <p:cNvPr id="7" name="text">
            <a:extLst xmlns:a="http://schemas.openxmlformats.org/drawingml/2006/main">
              <a:ext uri="{FF2B5EF4-FFF2-40B4-BE49-F238E27FC236}">
                <a16:creationId xmlns:a16="http://schemas.microsoft.com/office/drawing/2014/main" id="{A502CC4F-B125-4AC9-BFF5-E292C811E86C}"/>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np.sin and np.cos accept arrays.</a:t>
            </a:r>
          </a:p>
        </p:txBody>
      </p:sp>
      <p:sp>
        <p:nvSpPr>
          <p:cNvPr id="8" name="text">
            <a:extLst xmlns:a="http://schemas.openxmlformats.org/drawingml/2006/main">
              <a:ext uri="{FF2B5EF4-FFF2-40B4-BE49-F238E27FC236}">
                <a16:creationId xmlns:a16="http://schemas.microsoft.com/office/drawing/2014/main" id="{DC8319C9-2685-4F1C-9D21-1F11AA117377}"/>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np.deg2rad converts degrees to radians.</a:t>
            </a:r>
          </a:p>
        </p:txBody>
      </p:sp>
      <p:sp>
        <p:nvSpPr>
          <p:cNvPr id="9" name="text">
            <a:extLst xmlns:a="http://schemas.openxmlformats.org/drawingml/2006/main">
              <a:ext uri="{FF2B5EF4-FFF2-40B4-BE49-F238E27FC236}">
                <a16:creationId xmlns:a16="http://schemas.microsoft.com/office/drawing/2014/main" id="{0EC3C7E0-99BC-4FBD-97F1-4A0001624A36}"/>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signal(t) adds the two components at every requested time.</a:t>
            </a:r>
          </a:p>
        </p:txBody>
      </p:sp>
      <p:sp>
        <p:nvSpPr>
          <p:cNvPr id="10" name="text">
            <a:extLst xmlns:a="http://schemas.openxmlformats.org/drawingml/2006/main">
              <a:ext uri="{FF2B5EF4-FFF2-40B4-BE49-F238E27FC236}">
                <a16:creationId xmlns:a16="http://schemas.microsoft.com/office/drawing/2014/main" id="{0DA948EC-530B-48BE-8727-C1564C80533B}"/>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Changing t changes the sampling grid, not the physical signal definition.</a:t>
            </a:r>
          </a:p>
        </p:txBody>
      </p:sp>
    </p:spTree>
    <p:extLst>
      <p:ext uri="{BB962C8B-B14F-4D97-AF65-F5344CB8AC3E}">
        <p14:creationId xmlns:p14="http://schemas.microsoft.com/office/powerpoint/2010/main" val="2335385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3F8DF515-DC0B-40B9-989E-E43F186D2D18}"/>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0FFB6B8-0D52-4903-8CF5-676F69142EF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Mean and RMS</a:t>
            </a:r>
          </a:p>
        </p:txBody>
      </p:sp>
      <p:sp>
        <p:nvSpPr>
          <p:cNvPr id="3" name="page">
            <a:extLst xmlns:a="http://schemas.openxmlformats.org/drawingml/2006/main">
              <a:ext uri="{FF2B5EF4-FFF2-40B4-BE49-F238E27FC236}">
                <a16:creationId xmlns:a16="http://schemas.microsoft.com/office/drawing/2014/main" id="{BA6196B4-CECE-45BB-AA7F-A0B1FB3C9038}"/>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9</a:t>
            </a:r>
          </a:p>
        </p:txBody>
      </p:sp>
      <p:sp>
        <p:nvSpPr>
          <p:cNvPr id="4" name="text">
            <a:extLst xmlns:a="http://schemas.openxmlformats.org/drawingml/2006/main">
              <a:ext uri="{FF2B5EF4-FFF2-40B4-BE49-F238E27FC236}">
                <a16:creationId xmlns:a16="http://schemas.microsoft.com/office/drawing/2014/main" id="{76B16583-D4D7-4C86-A7A8-EDC29EFBDC7D}"/>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MEAN</a:t>
            </a:r>
          </a:p>
        </p:txBody>
      </p:sp>
      <p:sp>
        <p:nvSpPr>
          <p:cNvPr id="5" name="text">
            <a:extLst xmlns:a="http://schemas.openxmlformats.org/drawingml/2006/main">
              <a:ext uri="{FF2B5EF4-FFF2-40B4-BE49-F238E27FC236}">
                <a16:creationId xmlns:a16="http://schemas.microsoft.com/office/drawing/2014/main" id="{73E565E0-B34D-4331-B380-1921C8AB76E3}"/>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RMS</a:t>
            </a:r>
          </a:p>
        </p:txBody>
      </p:sp>
      <p:sp>
        <p:nvSpPr>
          <p:cNvPr id="6" name="text">
            <a:extLst xmlns:a="http://schemas.openxmlformats.org/drawingml/2006/main">
              <a:ext uri="{FF2B5EF4-FFF2-40B4-BE49-F238E27FC236}">
                <a16:creationId xmlns:a16="http://schemas.microsoft.com/office/drawing/2014/main" id="{CB355C99-AD91-44EC-8AC4-7BC4256B7FDD}"/>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average signed voltage over the record.</a:t>
            </a:r>
          </a:p>
        </p:txBody>
      </p:sp>
      <p:sp>
        <p:nvSpPr>
          <p:cNvPr id="7" name="text">
            <a:extLst xmlns:a="http://schemas.openxmlformats.org/drawingml/2006/main">
              <a:ext uri="{FF2B5EF4-FFF2-40B4-BE49-F238E27FC236}">
                <a16:creationId xmlns:a16="http://schemas.microsoft.com/office/drawing/2014/main" id="{8BD262CA-AB6D-49B4-B410-899DED45189C}"/>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Each tone has zero mean over complete cycles.</a:t>
            </a:r>
          </a:p>
        </p:txBody>
      </p:sp>
      <p:sp>
        <p:nvSpPr>
          <p:cNvPr id="8" name="text">
            <a:extLst xmlns:a="http://schemas.openxmlformats.org/drawingml/2006/main">
              <a:ext uri="{FF2B5EF4-FFF2-40B4-BE49-F238E27FC236}">
                <a16:creationId xmlns:a16="http://schemas.microsoft.com/office/drawing/2014/main" id="{40CA00EC-D815-4652-9AE9-DEF2FBC45450}"/>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measure related to signal energy.</a:t>
            </a:r>
          </a:p>
        </p:txBody>
      </p:sp>
      <p:sp>
        <p:nvSpPr>
          <p:cNvPr id="9" name="text">
            <a:extLst xmlns:a="http://schemas.openxmlformats.org/drawingml/2006/main">
              <a:ext uri="{FF2B5EF4-FFF2-40B4-BE49-F238E27FC236}">
                <a16:creationId xmlns:a16="http://schemas.microsoft.com/office/drawing/2014/main" id="{93DB729B-67A9-42A5-9A84-FE984C7D1FFB}"/>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distinct tones over complete cycles:</a:t>
            </a:r>
          </a:p>
        </p:txBody>
      </p:sp>
      <p:sp>
        <p:nvSpPr>
          <p:cNvPr id="10" name="text">
            <a:extLst xmlns:a="http://schemas.openxmlformats.org/drawingml/2006/main">
              <a:ext uri="{FF2B5EF4-FFF2-40B4-BE49-F238E27FC236}">
                <a16:creationId xmlns:a16="http://schemas.microsoft.com/office/drawing/2014/main" id="{F10FDB56-E0BF-4AE0-A4F1-B7CACBD53DB5}"/>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RMS = sqrt((A1² + A2²)/2) = 0.9062 V</a:t>
            </a:r>
          </a:p>
        </p:txBody>
      </p:sp>
    </p:spTree>
    <p:extLst>
      <p:ext uri="{BB962C8B-B14F-4D97-AF65-F5344CB8AC3E}">
        <p14:creationId xmlns:p14="http://schemas.microsoft.com/office/powerpoint/2010/main" val="202815226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A960548D-DA3E-4BDD-A26F-4589D2EA1B8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8634465-E081-4B4B-9480-A4C898790A3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Samples and the underlying waveform</a:t>
            </a:r>
          </a:p>
        </p:txBody>
      </p:sp>
      <p:sp>
        <p:nvSpPr>
          <p:cNvPr id="3" name="page">
            <a:extLst xmlns:a="http://schemas.openxmlformats.org/drawingml/2006/main">
              <a:ext uri="{FF2B5EF4-FFF2-40B4-BE49-F238E27FC236}">
                <a16:creationId xmlns:a16="http://schemas.microsoft.com/office/drawing/2014/main" id="{DA2471D6-3CC8-43EF-B75C-036D9060F3D4}"/>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10</a:t>
            </a:r>
          </a:p>
        </p:txBody>
      </p:sp>
      <p:sp>
        <p:nvSpPr>
          <p:cNvPr id="4" name="text">
            <a:extLst xmlns:a="http://schemas.openxmlformats.org/drawingml/2006/main">
              <a:ext uri="{FF2B5EF4-FFF2-40B4-BE49-F238E27FC236}">
                <a16:creationId xmlns:a16="http://schemas.microsoft.com/office/drawing/2014/main" id="{A3A8A3F1-A3BF-4D85-B0AD-DFD054BBB0A7}"/>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DENSE REFERENCE</a:t>
            </a:r>
          </a:p>
        </p:txBody>
      </p:sp>
      <p:sp>
        <p:nvSpPr>
          <p:cNvPr id="5" name="text">
            <a:extLst xmlns:a="http://schemas.openxmlformats.org/drawingml/2006/main">
              <a:ext uri="{FF2B5EF4-FFF2-40B4-BE49-F238E27FC236}">
                <a16:creationId xmlns:a16="http://schemas.microsoft.com/office/drawing/2014/main" id="{B905F51D-EA9F-4F03-813B-8928F2C9B905}"/>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48 HZ SAMPLES</a:t>
            </a:r>
          </a:p>
        </p:txBody>
      </p:sp>
      <p:sp>
        <p:nvSpPr>
          <p:cNvPr id="6" name="text">
            <a:extLst xmlns:a="http://schemas.openxmlformats.org/drawingml/2006/main">
              <a:ext uri="{FF2B5EF4-FFF2-40B4-BE49-F238E27FC236}">
                <a16:creationId xmlns:a16="http://schemas.microsoft.com/office/drawing/2014/main" id="{5BD60EC4-B04D-4EB1-A45E-6B255F810049}"/>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gray curve in the notebook uses 20,001 calculated time points. It shows the mathematical signal clearly.</a:t>
            </a:r>
          </a:p>
        </p:txBody>
      </p:sp>
      <p:sp>
        <p:nvSpPr>
          <p:cNvPr id="7" name="text">
            <a:extLst xmlns:a="http://schemas.openxmlformats.org/drawingml/2006/main">
              <a:ext uri="{FF2B5EF4-FFF2-40B4-BE49-F238E27FC236}">
                <a16:creationId xmlns:a16="http://schemas.microsoft.com/office/drawing/2014/main" id="{5AF4F533-75E3-4D88-847D-2CDB28A7D9A2}"/>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blue markers contain only 10 measured values in the first 0.20 s. Lines between markers do not add information.</a:t>
            </a:r>
          </a:p>
        </p:txBody>
      </p:sp>
    </p:spTree>
    <p:extLst>
      <p:ext uri="{BB962C8B-B14F-4D97-AF65-F5344CB8AC3E}">
        <p14:creationId xmlns:p14="http://schemas.microsoft.com/office/powerpoint/2010/main" val="6572410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F6160E71-7991-40DD-855E-9B4300BA082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8B34B3C-B284-4B0F-810C-13FEB67AC8F2}"/>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 rate, interval, and record length</a:t>
            </a:r>
          </a:p>
        </p:txBody>
      </p:sp>
      <p:sp>
        <p:nvSpPr>
          <p:cNvPr id="3" name="page">
            <a:extLst xmlns:a="http://schemas.openxmlformats.org/drawingml/2006/main">
              <a:ext uri="{FF2B5EF4-FFF2-40B4-BE49-F238E27FC236}">
                <a16:creationId xmlns:a16="http://schemas.microsoft.com/office/drawing/2014/main" id="{645D884C-77D5-4968-A58B-FAC2DB4BB24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11</a:t>
            </a:r>
          </a:p>
        </p:txBody>
      </p:sp>
      <p:sp>
        <p:nvSpPr>
          <p:cNvPr id="4" name="code">
            <a:extLst xmlns:a="http://schemas.openxmlformats.org/drawingml/2006/main">
              <a:ext uri="{FF2B5EF4-FFF2-40B4-BE49-F238E27FC236}">
                <a16:creationId xmlns:a16="http://schemas.microsoft.com/office/drawing/2014/main" id="{821F4B8B-B4A9-4E12-8A9E-9C72AA9CA828}"/>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fs = 126.0                 # samples per second</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dt = 1/fs                  # seconds between samples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duration = 1.00            # seconds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n = int(round(duration*fs))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t = np.arange(n)/fs</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print(dt, n, t[-1])</a:t>
            </a:r>
          </a:p>
        </p:txBody>
      </p:sp>
      <p:sp>
        <p:nvSpPr>
          <p:cNvPr id="5" name="text">
            <a:extLst xmlns:a="http://schemas.openxmlformats.org/drawingml/2006/main">
              <a:ext uri="{FF2B5EF4-FFF2-40B4-BE49-F238E27FC236}">
                <a16:creationId xmlns:a16="http://schemas.microsoft.com/office/drawing/2014/main" id="{97B3126D-C554-426D-B86A-E7360BD4BE92}"/>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Students read these settings and analyze the resulting data. They do not modify the code.</a:t>
            </a:r>
          </a:p>
        </p:txBody>
      </p:sp>
    </p:spTree>
    <p:extLst>
      <p:ext uri="{BB962C8B-B14F-4D97-AF65-F5344CB8AC3E}">
        <p14:creationId xmlns:p14="http://schemas.microsoft.com/office/powerpoint/2010/main" val="7316815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14FB4301-42CF-4361-9B74-123F7FCE7AF3}"/>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61E267E-1C42-4F4B-92A4-7C43F65BE17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Nyquist frequency</a:t>
            </a:r>
          </a:p>
        </p:txBody>
      </p:sp>
      <p:sp>
        <p:nvSpPr>
          <p:cNvPr id="3" name="page">
            <a:extLst xmlns:a="http://schemas.openxmlformats.org/drawingml/2006/main">
              <a:ext uri="{FF2B5EF4-FFF2-40B4-BE49-F238E27FC236}">
                <a16:creationId xmlns:a16="http://schemas.microsoft.com/office/drawing/2014/main" id="{F32B6940-365D-4FC0-BFA5-E6D4DC44ABD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12</a:t>
            </a:r>
          </a:p>
        </p:txBody>
      </p:sp>
      <p:sp>
        <p:nvSpPr>
          <p:cNvPr id="4" name="text">
            <a:extLst xmlns:a="http://schemas.openxmlformats.org/drawingml/2006/main">
              <a:ext uri="{FF2B5EF4-FFF2-40B4-BE49-F238E27FC236}">
                <a16:creationId xmlns:a16="http://schemas.microsoft.com/office/drawing/2014/main" id="{A84237AE-5413-455E-86AA-99FBB6EE1332}"/>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338B8A29-1878-4BE5-AEAD-4DAADE0E30BE}"/>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The Nyquist frequency equals fs/2</a:t>
            </a:r>
          </a:p>
        </p:txBody>
      </p:sp>
      <p:sp>
        <p:nvSpPr>
          <p:cNvPr id="6" name="text">
            <a:extLst xmlns:a="http://schemas.openxmlformats.org/drawingml/2006/main">
              <a:ext uri="{FF2B5EF4-FFF2-40B4-BE49-F238E27FC236}">
                <a16:creationId xmlns:a16="http://schemas.microsoft.com/office/drawing/2014/main" id="{77E0E44E-4CC8-4D27-A252-109EE16CA3D7}"/>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A50550A6-12D0-43F8-AD68-13912BD70987}"/>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 sampled record can represent frequencies only from 0 to fs/2</a:t>
            </a:r>
          </a:p>
        </p:txBody>
      </p:sp>
      <p:sp>
        <p:nvSpPr>
          <p:cNvPr id="8" name="text">
            <a:extLst xmlns:a="http://schemas.openxmlformats.org/drawingml/2006/main">
              <a:ext uri="{FF2B5EF4-FFF2-40B4-BE49-F238E27FC236}">
                <a16:creationId xmlns:a16="http://schemas.microsoft.com/office/drawing/2014/main" id="{9F44123E-AB17-42DA-BADC-1484357263F7}"/>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56F12702-43C3-47A1-8701-1618B68533C5}"/>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The 42 Hz tone requires fs greater than 84 Hz</a:t>
            </a:r>
          </a:p>
        </p:txBody>
      </p:sp>
      <p:sp>
        <p:nvSpPr>
          <p:cNvPr id="10" name="text">
            <a:extLst xmlns:a="http://schemas.openxmlformats.org/drawingml/2006/main">
              <a:ext uri="{FF2B5EF4-FFF2-40B4-BE49-F238E27FC236}">
                <a16:creationId xmlns:a16="http://schemas.microsoft.com/office/drawing/2014/main" id="{C8A58CCA-8D98-4FD8-AF02-7F0035273EAE}"/>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11D191EA-FD29-4255-8246-282DD7C101E1}"/>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Rates of 336 and 126 Hz meet this condition. Rates of 72 and 48 Hz do not</a:t>
            </a:r>
          </a:p>
        </p:txBody>
      </p:sp>
    </p:spTree>
    <p:extLst>
      <p:ext uri="{BB962C8B-B14F-4D97-AF65-F5344CB8AC3E}">
        <p14:creationId xmlns:p14="http://schemas.microsoft.com/office/powerpoint/2010/main" val="74346067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292D0884-7B20-465C-BA3F-723D9123B17A}"/>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2F490D6-D0BD-414A-9A99-493D7B744C4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Aliasing changes the measured frequency</a:t>
            </a:r>
          </a:p>
        </p:txBody>
      </p:sp>
      <p:sp>
        <p:nvSpPr>
          <p:cNvPr id="3" name="page">
            <a:extLst xmlns:a="http://schemas.openxmlformats.org/drawingml/2006/main">
              <a:ext uri="{FF2B5EF4-FFF2-40B4-BE49-F238E27FC236}">
                <a16:creationId xmlns:a16="http://schemas.microsoft.com/office/drawing/2014/main" id="{04C64AAB-0C62-4C31-9601-501E924861DA}"/>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13</a:t>
            </a:r>
          </a:p>
        </p:txBody>
      </p:sp>
      <p:sp>
        <p:nvSpPr>
          <p:cNvPr id="4" name="text">
            <a:extLst xmlns:a="http://schemas.openxmlformats.org/drawingml/2006/main">
              <a:ext uri="{FF2B5EF4-FFF2-40B4-BE49-F238E27FC236}">
                <a16:creationId xmlns:a16="http://schemas.microsoft.com/office/drawing/2014/main" id="{FC27E336-6228-41E1-8C29-487523370674}"/>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FS = 126 HZ</a:t>
            </a:r>
          </a:p>
        </p:txBody>
      </p:sp>
      <p:sp>
        <p:nvSpPr>
          <p:cNvPr id="5" name="text">
            <a:extLst xmlns:a="http://schemas.openxmlformats.org/drawingml/2006/main">
              <a:ext uri="{FF2B5EF4-FFF2-40B4-BE49-F238E27FC236}">
                <a16:creationId xmlns:a16="http://schemas.microsoft.com/office/drawing/2014/main" id="{97B9CBDD-79CB-4862-BA40-453CE8BC947F}"/>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FS = 48 HZ</a:t>
            </a:r>
          </a:p>
        </p:txBody>
      </p:sp>
      <p:sp>
        <p:nvSpPr>
          <p:cNvPr id="6" name="text">
            <a:extLst xmlns:a="http://schemas.openxmlformats.org/drawingml/2006/main">
              <a:ext uri="{FF2B5EF4-FFF2-40B4-BE49-F238E27FC236}">
                <a16:creationId xmlns:a16="http://schemas.microsoft.com/office/drawing/2014/main" id="{BFC90542-5624-47E6-96CE-BEF4E8C9FF74}"/>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Nyquist frequency: 63 Hz</a:t>
            </a:r>
          </a:p>
        </p:txBody>
      </p:sp>
      <p:sp>
        <p:nvSpPr>
          <p:cNvPr id="7" name="text">
            <a:extLst xmlns:a="http://schemas.openxmlformats.org/drawingml/2006/main">
              <a:ext uri="{FF2B5EF4-FFF2-40B4-BE49-F238E27FC236}">
                <a16:creationId xmlns:a16="http://schemas.microsoft.com/office/drawing/2014/main" id="{86CC2515-68DA-4839-852E-7B19EE2D37D6}"/>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Observed FFT peaks: 18 and 42 Hz</a:t>
            </a:r>
          </a:p>
        </p:txBody>
      </p:sp>
      <p:sp>
        <p:nvSpPr>
          <p:cNvPr id="8" name="text">
            <a:extLst xmlns:a="http://schemas.openxmlformats.org/drawingml/2006/main">
              <a:ext uri="{FF2B5EF4-FFF2-40B4-BE49-F238E27FC236}">
                <a16:creationId xmlns:a16="http://schemas.microsoft.com/office/drawing/2014/main" id="{691BCA60-755D-4BD7-80AA-7ABB229C2EF6}"/>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Both components remain below Nyquist.</a:t>
            </a:r>
          </a:p>
        </p:txBody>
      </p:sp>
      <p:sp>
        <p:nvSpPr>
          <p:cNvPr id="9" name="text">
            <a:extLst xmlns:a="http://schemas.openxmlformats.org/drawingml/2006/main">
              <a:ext uri="{FF2B5EF4-FFF2-40B4-BE49-F238E27FC236}">
                <a16:creationId xmlns:a16="http://schemas.microsoft.com/office/drawing/2014/main" id="{5EA9DDD7-A8AC-4028-8E83-BDB11B75DA02}"/>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Nyquist frequency: 24 Hz</a:t>
            </a:r>
          </a:p>
        </p:txBody>
      </p:sp>
      <p:sp>
        <p:nvSpPr>
          <p:cNvPr id="10" name="text">
            <a:extLst xmlns:a="http://schemas.openxmlformats.org/drawingml/2006/main">
              <a:ext uri="{FF2B5EF4-FFF2-40B4-BE49-F238E27FC236}">
                <a16:creationId xmlns:a16="http://schemas.microsoft.com/office/drawing/2014/main" id="{1442B973-3935-4CFD-BCE8-5D7427E0DB34}"/>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Observed FFT peaks: 18 and 6 Hz</a:t>
            </a:r>
          </a:p>
        </p:txBody>
      </p:sp>
      <p:sp>
        <p:nvSpPr>
          <p:cNvPr id="11" name="text">
            <a:extLst xmlns:a="http://schemas.openxmlformats.org/drawingml/2006/main">
              <a:ext uri="{FF2B5EF4-FFF2-40B4-BE49-F238E27FC236}">
                <a16:creationId xmlns:a16="http://schemas.microsoft.com/office/drawing/2014/main" id="{0D3365B4-54E3-48C5-AE62-1B1BC9D60141}"/>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42 Hz appears at |42 − 48| = 6 Hz.</a:t>
            </a:r>
          </a:p>
        </p:txBody>
      </p:sp>
    </p:spTree>
    <p:extLst>
      <p:ext uri="{BB962C8B-B14F-4D97-AF65-F5344CB8AC3E}">
        <p14:creationId xmlns:p14="http://schemas.microsoft.com/office/powerpoint/2010/main" val="13320206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2BBDEB80-0E70-4B69-8875-372442861745}"/>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7AEEAD2-CAD2-43F0-98F6-FD7D39B544E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prepared sampling analysis</a:t>
            </a:r>
          </a:p>
        </p:txBody>
      </p:sp>
      <p:sp>
        <p:nvSpPr>
          <p:cNvPr id="3" name="page">
            <a:extLst xmlns:a="http://schemas.openxmlformats.org/drawingml/2006/main">
              <a:ext uri="{FF2B5EF4-FFF2-40B4-BE49-F238E27FC236}">
                <a16:creationId xmlns:a16="http://schemas.microsoft.com/office/drawing/2014/main" id="{9C61FBAE-11D2-426B-A730-ABB9B5A4E5B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14</a:t>
            </a:r>
          </a:p>
        </p:txBody>
      </p:sp>
      <p:sp>
        <p:nvSpPr>
          <p:cNvPr id="4" name="code">
            <a:extLst xmlns:a="http://schemas.openxmlformats.org/drawingml/2006/main">
              <a:ext uri="{FF2B5EF4-FFF2-40B4-BE49-F238E27FC236}">
                <a16:creationId xmlns:a16="http://schemas.microsoft.com/office/drawing/2014/main" id="{870D6C95-8C2D-47F2-BC60-6815291CDDA9}"/>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for fs in sample_rates: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n = int(round(duration*fs))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t = np.arange(n)/fs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x = signal(t)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records[fs] = (t, x)</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sample_mean, sample_rms = mean_and_rms(x)</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print(fs, sample_mean, sample_rms)</a:t>
            </a:r>
          </a:p>
        </p:txBody>
      </p:sp>
      <p:sp>
        <p:nvSpPr>
          <p:cNvPr id="5" name="text">
            <a:extLst xmlns:a="http://schemas.openxmlformats.org/drawingml/2006/main">
              <a:ext uri="{FF2B5EF4-FFF2-40B4-BE49-F238E27FC236}">
                <a16:creationId xmlns:a16="http://schemas.microsoft.com/office/drawing/2014/main" id="{ED48EA8B-3158-4D81-9CC8-C3B452D5668F}"/>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Students transfer the printed values to an analysis table and calculate RMS percent error.</a:t>
            </a:r>
          </a:p>
        </p:txBody>
      </p:sp>
    </p:spTree>
    <p:extLst>
      <p:ext uri="{BB962C8B-B14F-4D97-AF65-F5344CB8AC3E}">
        <p14:creationId xmlns:p14="http://schemas.microsoft.com/office/powerpoint/2010/main" val="164306893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F60C2681-C659-4AD6-A3D5-D134EBC0FB1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86B01E4-6BAC-43FC-BD69-24223508D644}"/>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Reading the time-domain figures</a:t>
            </a:r>
          </a:p>
        </p:txBody>
      </p:sp>
      <p:sp>
        <p:nvSpPr>
          <p:cNvPr id="3" name="page">
            <a:extLst xmlns:a="http://schemas.openxmlformats.org/drawingml/2006/main">
              <a:ext uri="{FF2B5EF4-FFF2-40B4-BE49-F238E27FC236}">
                <a16:creationId xmlns:a16="http://schemas.microsoft.com/office/drawing/2014/main" id="{F5711892-6845-40A1-8348-3EE4CF1A9B3E}"/>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15</a:t>
            </a:r>
          </a:p>
        </p:txBody>
      </p:sp>
      <p:sp>
        <p:nvSpPr>
          <p:cNvPr id="4" name="text">
            <a:extLst xmlns:a="http://schemas.openxmlformats.org/drawingml/2006/main">
              <a:ext uri="{FF2B5EF4-FFF2-40B4-BE49-F238E27FC236}">
                <a16:creationId xmlns:a16="http://schemas.microsoft.com/office/drawing/2014/main" id="{D8B13FF0-FBB6-462F-84D4-A30817EA057B}"/>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62416061-3C3E-43D4-B474-DBBB8976EABA}"/>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sample markers with the dense reference over the same time window</a:t>
            </a:r>
          </a:p>
        </p:txBody>
      </p:sp>
      <p:sp>
        <p:nvSpPr>
          <p:cNvPr id="6" name="text">
            <a:extLst xmlns:a="http://schemas.openxmlformats.org/drawingml/2006/main">
              <a:ext uri="{FF2B5EF4-FFF2-40B4-BE49-F238E27FC236}">
                <a16:creationId xmlns:a16="http://schemas.microsoft.com/office/drawing/2014/main" id="{83C180B5-B289-4A74-B5F8-C39FCD76CA13}"/>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E6662309-D6C4-46EA-A497-DDB32CBA7532}"/>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Look for too few points per cycle and apparent changes in shape</a:t>
            </a:r>
          </a:p>
        </p:txBody>
      </p:sp>
      <p:sp>
        <p:nvSpPr>
          <p:cNvPr id="8" name="text">
            <a:extLst xmlns:a="http://schemas.openxmlformats.org/drawingml/2006/main">
              <a:ext uri="{FF2B5EF4-FFF2-40B4-BE49-F238E27FC236}">
                <a16:creationId xmlns:a16="http://schemas.microsoft.com/office/drawing/2014/main" id="{E0BF97C9-A033-445B-BCE9-728B14194AB9}"/>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DABAA696-116A-4F03-AFE1-33854F8F2ECD}"/>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Read the printed mean and RMS values</a:t>
            </a:r>
          </a:p>
        </p:txBody>
      </p:sp>
      <p:sp>
        <p:nvSpPr>
          <p:cNvPr id="10" name="text">
            <a:extLst xmlns:a="http://schemas.openxmlformats.org/drawingml/2006/main">
              <a:ext uri="{FF2B5EF4-FFF2-40B4-BE49-F238E27FC236}">
                <a16:creationId xmlns:a16="http://schemas.microsoft.com/office/drawing/2014/main" id="{E8F09A39-9C1B-4611-9762-A4A0BE7C4231}"/>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CF11160B-609C-4502-A322-8D35BEDF8816}"/>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Avoid judging sample quality from smooth connecting lines</a:t>
            </a:r>
          </a:p>
        </p:txBody>
      </p:sp>
    </p:spTree>
    <p:extLst>
      <p:ext uri="{BB962C8B-B14F-4D97-AF65-F5344CB8AC3E}">
        <p14:creationId xmlns:p14="http://schemas.microsoft.com/office/powerpoint/2010/main" val="160644502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539FFB4A-2E4E-46C2-85E5-C929E0EE89B3}"/>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8BC5523-706B-4CE9-B800-32F342EAF038}"/>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prepared FFT analysis</a:t>
            </a:r>
          </a:p>
        </p:txBody>
      </p:sp>
      <p:sp>
        <p:nvSpPr>
          <p:cNvPr id="3" name="page">
            <a:extLst xmlns:a="http://schemas.openxmlformats.org/drawingml/2006/main">
              <a:ext uri="{FF2B5EF4-FFF2-40B4-BE49-F238E27FC236}">
                <a16:creationId xmlns:a16="http://schemas.microsoft.com/office/drawing/2014/main" id="{D78AD75C-1216-4209-90E4-3D7F356A729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16</a:t>
            </a:r>
          </a:p>
        </p:txBody>
      </p:sp>
      <p:sp>
        <p:nvSpPr>
          <p:cNvPr id="4" name="code">
            <a:extLst xmlns:a="http://schemas.openxmlformats.org/drawingml/2006/main">
              <a:ext uri="{FF2B5EF4-FFF2-40B4-BE49-F238E27FC236}">
                <a16:creationId xmlns:a16="http://schemas.microsoft.com/office/drawing/2014/main" id="{91E6D633-97B1-4AD1-8F13-B549A5F4F458}"/>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X = np.fft.rfft(x*window)</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magnitude = np.abs(X)/(n*coherent_gain)</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magnitude[1:-1] *= 2</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frequency = np.fft.rfftfreq(n, d=1/fs)</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Read the dominant frequencies from the output.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Compare them with predictions made before execution.</a:t>
            </a:r>
          </a:p>
        </p:txBody>
      </p:sp>
      <p:sp>
        <p:nvSpPr>
          <p:cNvPr id="5" name="text">
            <a:extLst xmlns:a="http://schemas.openxmlformats.org/drawingml/2006/main">
              <a:ext uri="{FF2B5EF4-FFF2-40B4-BE49-F238E27FC236}">
                <a16:creationId xmlns:a16="http://schemas.microsoft.com/office/drawing/2014/main" id="{CA5B35C3-F64A-46DB-A041-1E3D422E649E}"/>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Students interpret the FFT output. They do not write or complete these lines.</a:t>
            </a:r>
          </a:p>
        </p:txBody>
      </p:sp>
    </p:spTree>
    <p:extLst>
      <p:ext uri="{BB962C8B-B14F-4D97-AF65-F5344CB8AC3E}">
        <p14:creationId xmlns:p14="http://schemas.microsoft.com/office/powerpoint/2010/main" val="137824163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7227EE61-FB31-49BE-938E-1B2154DFDDDA}"/>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768EED4-C4EE-48C9-B651-718A45EB84F0}"/>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Expected FFT peaks</a:t>
            </a:r>
          </a:p>
        </p:txBody>
      </p:sp>
      <p:sp>
        <p:nvSpPr>
          <p:cNvPr id="3" name="page">
            <a:extLst xmlns:a="http://schemas.openxmlformats.org/drawingml/2006/main">
              <a:ext uri="{FF2B5EF4-FFF2-40B4-BE49-F238E27FC236}">
                <a16:creationId xmlns:a16="http://schemas.microsoft.com/office/drawing/2014/main" id="{B5DB12ED-3BCE-439F-9C6F-5AD08BDC4D4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17</a:t>
            </a:r>
          </a:p>
        </p:txBody>
      </p:sp>
      <p:sp>
        <p:nvSpPr>
          <p:cNvPr id="4" name="text">
            <a:extLst xmlns:a="http://schemas.openxmlformats.org/drawingml/2006/main">
              <a:ext uri="{FF2B5EF4-FFF2-40B4-BE49-F238E27FC236}">
                <a16:creationId xmlns:a16="http://schemas.microsoft.com/office/drawing/2014/main" id="{BB6617B9-B34F-4BAE-A50A-0AFB9822B209}"/>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ADEQUATE SAMPLE RATE</a:t>
            </a:r>
          </a:p>
        </p:txBody>
      </p:sp>
      <p:sp>
        <p:nvSpPr>
          <p:cNvPr id="5" name="text">
            <a:extLst xmlns:a="http://schemas.openxmlformats.org/drawingml/2006/main">
              <a:ext uri="{FF2B5EF4-FFF2-40B4-BE49-F238E27FC236}">
                <a16:creationId xmlns:a16="http://schemas.microsoft.com/office/drawing/2014/main" id="{24435039-3F85-45F9-8C3B-EE1D0C5DF831}"/>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ALIASING</a:t>
            </a:r>
          </a:p>
        </p:txBody>
      </p:sp>
      <p:sp>
        <p:nvSpPr>
          <p:cNvPr id="6" name="text">
            <a:extLst xmlns:a="http://schemas.openxmlformats.org/drawingml/2006/main">
              <a:ext uri="{FF2B5EF4-FFF2-40B4-BE49-F238E27FC236}">
                <a16:creationId xmlns:a16="http://schemas.microsoft.com/office/drawing/2014/main" id="{9E8B7720-ECB2-4FA3-9783-A8D26731890C}"/>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336 Hz gives peaks at 18 and 42 Hz.</a:t>
            </a:r>
          </a:p>
        </p:txBody>
      </p:sp>
      <p:sp>
        <p:nvSpPr>
          <p:cNvPr id="7" name="text">
            <a:extLst xmlns:a="http://schemas.openxmlformats.org/drawingml/2006/main">
              <a:ext uri="{FF2B5EF4-FFF2-40B4-BE49-F238E27FC236}">
                <a16:creationId xmlns:a16="http://schemas.microsoft.com/office/drawing/2014/main" id="{ACCD9F31-C36C-4682-B7D9-EF543AB3D535}"/>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126 Hz gives peaks at 18 and 42 Hz.</a:t>
            </a:r>
          </a:p>
        </p:txBody>
      </p:sp>
      <p:sp>
        <p:nvSpPr>
          <p:cNvPr id="8" name="text">
            <a:extLst xmlns:a="http://schemas.openxmlformats.org/drawingml/2006/main">
              <a:ext uri="{FF2B5EF4-FFF2-40B4-BE49-F238E27FC236}">
                <a16:creationId xmlns:a16="http://schemas.microsoft.com/office/drawing/2014/main" id="{EAE09A38-4305-4D62-B6A3-4DF3CA30B023}"/>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72 Hz gives peaks at 18 and 30 Hz.</a:t>
            </a:r>
          </a:p>
        </p:txBody>
      </p:sp>
      <p:sp>
        <p:nvSpPr>
          <p:cNvPr id="9" name="text">
            <a:extLst xmlns:a="http://schemas.openxmlformats.org/drawingml/2006/main">
              <a:ext uri="{FF2B5EF4-FFF2-40B4-BE49-F238E27FC236}">
                <a16:creationId xmlns:a16="http://schemas.microsoft.com/office/drawing/2014/main" id="{3B164C96-C91A-41C7-91B1-83B3F2623E57}"/>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48 Hz gives peaks at 18 and 6 Hz.</a:t>
            </a:r>
          </a:p>
        </p:txBody>
      </p:sp>
    </p:spTree>
    <p:extLst>
      <p:ext uri="{BB962C8B-B14F-4D97-AF65-F5344CB8AC3E}">
        <p14:creationId xmlns:p14="http://schemas.microsoft.com/office/powerpoint/2010/main" val="2226264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382407BE-F854-409B-8C9D-F5058DAD7A7A}"/>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95A9A26-5E50-4BA5-8D72-442D35A0A71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Guided notebook walkthrough</a:t>
            </a:r>
          </a:p>
        </p:txBody>
      </p:sp>
      <p:sp>
        <p:nvSpPr>
          <p:cNvPr id="3" name="page">
            <a:extLst xmlns:a="http://schemas.openxmlformats.org/drawingml/2006/main">
              <a:ext uri="{FF2B5EF4-FFF2-40B4-BE49-F238E27FC236}">
                <a16:creationId xmlns:a16="http://schemas.microsoft.com/office/drawing/2014/main" id="{CDE41A73-B86C-42BA-B72B-5DC7746056F9}"/>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18</a:t>
            </a:r>
          </a:p>
        </p:txBody>
      </p:sp>
      <p:sp>
        <p:nvSpPr>
          <p:cNvPr id="4" name="text">
            <a:extLst xmlns:a="http://schemas.openxmlformats.org/drawingml/2006/main">
              <a:ext uri="{FF2B5EF4-FFF2-40B4-BE49-F238E27FC236}">
                <a16:creationId xmlns:a16="http://schemas.microsoft.com/office/drawing/2014/main" id="{50376216-3F34-45B0-B5AA-1D15DBC8C6E4}"/>
              </a:ext>
            </a:extLst>
          </p:cNvPr>
          <p:cNvSpPr>
            <a:spLocks xmlns:a="http://schemas.openxmlformats.org/drawingml/2006/main" noGrp="1"/>
          </p:cNvSpPr>
          <p:nvPr/>
        </p:nvSpPr>
        <p:spPr>
          <a:xfrm xmlns:a="http://schemas.openxmlformats.org/drawingml/2006/main">
            <a:off x="666750" y="16954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1  Define the signal</a:t>
            </a:r>
          </a:p>
        </p:txBody>
      </p:sp>
      <p:sp>
        <p:nvSpPr>
          <p:cNvPr id="5" name="text">
            <a:extLst xmlns:a="http://schemas.openxmlformats.org/drawingml/2006/main">
              <a:ext uri="{FF2B5EF4-FFF2-40B4-BE49-F238E27FC236}">
                <a16:creationId xmlns:a16="http://schemas.microsoft.com/office/drawing/2014/main" id="{CAF6D8AC-76F7-4E51-AA33-52B67CBFD640}"/>
              </a:ext>
            </a:extLst>
          </p:cNvPr>
          <p:cNvSpPr>
            <a:spLocks xmlns:a="http://schemas.openxmlformats.org/drawingml/2006/main" noGrp="1"/>
          </p:cNvSpPr>
          <p:nvPr/>
        </p:nvSpPr>
        <p:spPr>
          <a:xfrm xmlns:a="http://schemas.openxmlformats.org/drawingml/2006/main">
            <a:off x="666750" y="25431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2  Choose fs and create sample times</a:t>
            </a:r>
          </a:p>
        </p:txBody>
      </p:sp>
      <p:sp>
        <p:nvSpPr>
          <p:cNvPr id="6" name="text">
            <a:extLst xmlns:a="http://schemas.openxmlformats.org/drawingml/2006/main">
              <a:ext uri="{FF2B5EF4-FFF2-40B4-BE49-F238E27FC236}">
                <a16:creationId xmlns:a16="http://schemas.microsoft.com/office/drawing/2014/main" id="{4C4614D1-47B2-48D9-AC45-7E2E30F549AC}"/>
              </a:ext>
            </a:extLst>
          </p:cNvPr>
          <p:cNvSpPr>
            <a:spLocks xmlns:a="http://schemas.openxmlformats.org/drawingml/2006/main" noGrp="1"/>
          </p:cNvSpPr>
          <p:nvPr/>
        </p:nvSpPr>
        <p:spPr>
          <a:xfrm xmlns:a="http://schemas.openxmlformats.org/drawingml/2006/main">
            <a:off x="666750" y="33909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3  Plot samples beside the reference</a:t>
            </a:r>
          </a:p>
        </p:txBody>
      </p:sp>
      <p:sp>
        <p:nvSpPr>
          <p:cNvPr id="7" name="text">
            <a:extLst xmlns:a="http://schemas.openxmlformats.org/drawingml/2006/main">
              <a:ext uri="{FF2B5EF4-FFF2-40B4-BE49-F238E27FC236}">
                <a16:creationId xmlns:a16="http://schemas.microsoft.com/office/drawing/2014/main" id="{69C6D9B3-FC7B-409D-9FBC-EB9795DB9CD9}"/>
              </a:ext>
            </a:extLst>
          </p:cNvPr>
          <p:cNvSpPr>
            <a:spLocks xmlns:a="http://schemas.openxmlformats.org/drawingml/2006/main" noGrp="1"/>
          </p:cNvSpPr>
          <p:nvPr/>
        </p:nvSpPr>
        <p:spPr>
          <a:xfrm xmlns:a="http://schemas.openxmlformats.org/drawingml/2006/main">
            <a:off x="666750" y="42386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4  Compute the one-sided FFT</a:t>
            </a:r>
          </a:p>
        </p:txBody>
      </p:sp>
      <p:sp>
        <p:nvSpPr>
          <p:cNvPr id="8" name="text">
            <a:extLst xmlns:a="http://schemas.openxmlformats.org/drawingml/2006/main">
              <a:ext uri="{FF2B5EF4-FFF2-40B4-BE49-F238E27FC236}">
                <a16:creationId xmlns:a16="http://schemas.microsoft.com/office/drawing/2014/main" id="{75E39673-2D32-45A0-B15F-703CAE027E7F}"/>
              </a:ext>
            </a:extLst>
          </p:cNvPr>
          <p:cNvSpPr>
            <a:spLocks xmlns:a="http://schemas.openxmlformats.org/drawingml/2006/main" noGrp="1"/>
          </p:cNvSpPr>
          <p:nvPr/>
        </p:nvSpPr>
        <p:spPr>
          <a:xfrm xmlns:a="http://schemas.openxmlformats.org/drawingml/2006/main">
            <a:off x="666750" y="50863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5  Explain the physical meaning</a:t>
            </a:r>
          </a:p>
        </p:txBody>
      </p:sp>
    </p:spTree>
    <p:extLst>
      <p:ext uri="{BB962C8B-B14F-4D97-AF65-F5344CB8AC3E}">
        <p14:creationId xmlns:p14="http://schemas.microsoft.com/office/powerpoint/2010/main" val="150237314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2C515B10-E412-4CEB-9962-57FA27CC6A3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14F5FED-F56D-4264-9AE3-6B8D115A289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Required data analysis</a:t>
            </a:r>
          </a:p>
        </p:txBody>
      </p:sp>
      <p:sp>
        <p:nvSpPr>
          <p:cNvPr id="3" name="page">
            <a:extLst xmlns:a="http://schemas.openxmlformats.org/drawingml/2006/main">
              <a:ext uri="{FF2B5EF4-FFF2-40B4-BE49-F238E27FC236}">
                <a16:creationId xmlns:a16="http://schemas.microsoft.com/office/drawing/2014/main" id="{C584FC53-BFBA-4BFC-9523-A643D7CD850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19</a:t>
            </a:r>
          </a:p>
        </p:txBody>
      </p:sp>
      <p:sp>
        <p:nvSpPr>
          <p:cNvPr id="4" name="text">
            <a:extLst xmlns:a="http://schemas.openxmlformats.org/drawingml/2006/main">
              <a:ext uri="{FF2B5EF4-FFF2-40B4-BE49-F238E27FC236}">
                <a16:creationId xmlns:a16="http://schemas.microsoft.com/office/drawing/2014/main" id="{00ABF2DD-25D4-4062-BD7E-45B8446B4C7F}"/>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62D174AD-9F16-4D26-BE7A-EEEFA74B7BA0}"/>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Calculate theoretical mean and RMS, then compute RMS percent errors</a:t>
            </a:r>
          </a:p>
        </p:txBody>
      </p:sp>
      <p:sp>
        <p:nvSpPr>
          <p:cNvPr id="6" name="text">
            <a:extLst xmlns:a="http://schemas.openxmlformats.org/drawingml/2006/main">
              <a:ext uri="{FF2B5EF4-FFF2-40B4-BE49-F238E27FC236}">
                <a16:creationId xmlns:a16="http://schemas.microsoft.com/office/drawing/2014/main" id="{2CF65E71-9EA5-4537-BDDA-4041607E2731}"/>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EE561BDD-042F-4B13-B0E7-15C094091DFC}"/>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Predict every FFT peak before viewing the spectra</a:t>
            </a:r>
          </a:p>
        </p:txBody>
      </p:sp>
      <p:sp>
        <p:nvSpPr>
          <p:cNvPr id="8" name="text">
            <a:extLst xmlns:a="http://schemas.openxmlformats.org/drawingml/2006/main">
              <a:ext uri="{FF2B5EF4-FFF2-40B4-BE49-F238E27FC236}">
                <a16:creationId xmlns:a16="http://schemas.microsoft.com/office/drawing/2014/main" id="{0F2F3E36-CDF7-4443-B7E4-3B4AE69AEFEF}"/>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91FFC997-C763-4952-8BD6-9D09ECBA4829}"/>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predicted and observed peaks and explain aliasing</a:t>
            </a:r>
          </a:p>
        </p:txBody>
      </p:sp>
      <p:sp>
        <p:nvSpPr>
          <p:cNvPr id="10" name="text">
            <a:extLst xmlns:a="http://schemas.openxmlformats.org/drawingml/2006/main">
              <a:ext uri="{FF2B5EF4-FFF2-40B4-BE49-F238E27FC236}">
                <a16:creationId xmlns:a16="http://schemas.microsoft.com/office/drawing/2014/main" id="{24F5E090-F5B8-46F9-81B6-B1040DE74A0F}"/>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6B34BDA8-E691-41A4-A512-130F56E69D2C}"/>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a sample rate and duration for a new measurement and justify both</a:t>
            </a:r>
          </a:p>
        </p:txBody>
      </p:sp>
    </p:spTree>
    <p:extLst>
      <p:ext uri="{BB962C8B-B14F-4D97-AF65-F5344CB8AC3E}">
        <p14:creationId xmlns:p14="http://schemas.microsoft.com/office/powerpoint/2010/main" val="22639402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DCCEEE79-CBD2-437E-8AB1-C62B164E091D}"/>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B88D519-C9CE-43CE-9029-33AE5BE115F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Common notebook problems</a:t>
            </a:r>
          </a:p>
        </p:txBody>
      </p:sp>
      <p:sp>
        <p:nvSpPr>
          <p:cNvPr id="3" name="page">
            <a:extLst xmlns:a="http://schemas.openxmlformats.org/drawingml/2006/main">
              <a:ext uri="{FF2B5EF4-FFF2-40B4-BE49-F238E27FC236}">
                <a16:creationId xmlns:a16="http://schemas.microsoft.com/office/drawing/2014/main" id="{734DE9E0-BC58-442F-8C6F-4902B31E3083}"/>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20</a:t>
            </a:r>
          </a:p>
        </p:txBody>
      </p:sp>
      <p:sp>
        <p:nvSpPr>
          <p:cNvPr id="4" name="text">
            <a:extLst xmlns:a="http://schemas.openxmlformats.org/drawingml/2006/main">
              <a:ext uri="{FF2B5EF4-FFF2-40B4-BE49-F238E27FC236}">
                <a16:creationId xmlns:a16="http://schemas.microsoft.com/office/drawing/2014/main" id="{FC0A5FB1-2DC4-4339-B72E-9F471D71D8DC}"/>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CODE PROBLEMS</a:t>
            </a:r>
          </a:p>
        </p:txBody>
      </p:sp>
      <p:sp>
        <p:nvSpPr>
          <p:cNvPr id="5" name="text">
            <a:extLst xmlns:a="http://schemas.openxmlformats.org/drawingml/2006/main">
              <a:ext uri="{FF2B5EF4-FFF2-40B4-BE49-F238E27FC236}">
                <a16:creationId xmlns:a16="http://schemas.microsoft.com/office/drawing/2014/main" id="{8A3FCB8B-E880-49A7-9E43-F09DC07C178D}"/>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ANALYSIS PROBLEMS</a:t>
            </a:r>
          </a:p>
        </p:txBody>
      </p:sp>
      <p:sp>
        <p:nvSpPr>
          <p:cNvPr id="6" name="text">
            <a:extLst xmlns:a="http://schemas.openxmlformats.org/drawingml/2006/main">
              <a:ext uri="{FF2B5EF4-FFF2-40B4-BE49-F238E27FC236}">
                <a16:creationId xmlns:a16="http://schemas.microsoft.com/office/drawing/2014/main" id="{9721B461-1CA1-4676-8695-B5B88BF97467}"/>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NameError: run earlier cells.</a:t>
            </a:r>
          </a:p>
        </p:txBody>
      </p:sp>
      <p:sp>
        <p:nvSpPr>
          <p:cNvPr id="7" name="text">
            <a:extLst xmlns:a="http://schemas.openxmlformats.org/drawingml/2006/main">
              <a:ext uri="{FF2B5EF4-FFF2-40B4-BE49-F238E27FC236}">
                <a16:creationId xmlns:a16="http://schemas.microsoft.com/office/drawing/2014/main" id="{DADCB236-1A34-42C3-8F19-CC490A5BA630}"/>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Missing figure: run the plotting cell.</a:t>
            </a:r>
          </a:p>
        </p:txBody>
      </p:sp>
      <p:sp>
        <p:nvSpPr>
          <p:cNvPr id="8" name="text">
            <a:extLst xmlns:a="http://schemas.openxmlformats.org/drawingml/2006/main">
              <a:ext uri="{FF2B5EF4-FFF2-40B4-BE49-F238E27FC236}">
                <a16:creationId xmlns:a16="http://schemas.microsoft.com/office/drawing/2014/main" id="{53EBE5A9-1A60-4990-9361-EB9F2035C068}"/>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Changed variable: restart and Run All.</a:t>
            </a:r>
          </a:p>
        </p:txBody>
      </p:sp>
      <p:sp>
        <p:nvSpPr>
          <p:cNvPr id="9" name="text">
            <a:extLst xmlns:a="http://schemas.openxmlformats.org/drawingml/2006/main">
              <a:ext uri="{FF2B5EF4-FFF2-40B4-BE49-F238E27FC236}">
                <a16:creationId xmlns:a16="http://schemas.microsoft.com/office/drawing/2014/main" id="{A57FFC79-A10B-475A-8B9C-96ABC3291241}"/>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Wrong units for phase.</a:t>
            </a:r>
          </a:p>
        </p:txBody>
      </p:sp>
      <p:sp>
        <p:nvSpPr>
          <p:cNvPr id="10" name="text">
            <a:extLst xmlns:a="http://schemas.openxmlformats.org/drawingml/2006/main">
              <a:ext uri="{FF2B5EF4-FFF2-40B4-BE49-F238E27FC236}">
                <a16:creationId xmlns:a16="http://schemas.microsoft.com/office/drawing/2014/main" id="{0DEA1642-1D33-47FD-88DB-B4F84E42EC0E}"/>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Confusing fs with signal frequency.</a:t>
            </a:r>
          </a:p>
        </p:txBody>
      </p:sp>
      <p:sp>
        <p:nvSpPr>
          <p:cNvPr id="11" name="text">
            <a:extLst xmlns:a="http://schemas.openxmlformats.org/drawingml/2006/main">
              <a:ext uri="{FF2B5EF4-FFF2-40B4-BE49-F238E27FC236}">
                <a16:creationId xmlns:a16="http://schemas.microsoft.com/office/drawing/2014/main" id="{7635DD1E-E3B3-418C-9D21-1AB6A0874B8C}"/>
              </a:ext>
            </a:extLst>
          </p:cNvPr>
          <p:cNvSpPr>
            <a:spLocks xmlns:a="http://schemas.openxmlformats.org/drawingml/2006/main" noGrp="1"/>
          </p:cNvSpPr>
          <p:nvPr/>
        </p:nvSpPr>
        <p:spPr>
          <a:xfrm xmlns:a="http://schemas.openxmlformats.org/drawingml/2006/main">
            <a:off x="6238875"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Calling a smooth line measured data.</a:t>
            </a:r>
          </a:p>
        </p:txBody>
      </p:sp>
      <p:sp>
        <p:nvSpPr>
          <p:cNvPr id="12" name="text">
            <a:extLst xmlns:a="http://schemas.openxmlformats.org/drawingml/2006/main">
              <a:ext uri="{FF2B5EF4-FFF2-40B4-BE49-F238E27FC236}">
                <a16:creationId xmlns:a16="http://schemas.microsoft.com/office/drawing/2014/main" id="{96760160-499F-4766-9993-1BFD210DC59B}"/>
              </a:ext>
            </a:extLst>
          </p:cNvPr>
          <p:cNvSpPr>
            <a:spLocks xmlns:a="http://schemas.openxmlformats.org/drawingml/2006/main" noGrp="1"/>
          </p:cNvSpPr>
          <p:nvPr/>
        </p:nvSpPr>
        <p:spPr>
          <a:xfrm xmlns:a="http://schemas.openxmlformats.org/drawingml/2006/main">
            <a:off x="6238875"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Reporting peaks without explaining aliasing.</a:t>
            </a:r>
          </a:p>
        </p:txBody>
      </p:sp>
    </p:spTree>
    <p:extLst>
      <p:ext uri="{BB962C8B-B14F-4D97-AF65-F5344CB8AC3E}">
        <p14:creationId xmlns:p14="http://schemas.microsoft.com/office/powerpoint/2010/main" val="141262643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2EC8AFC1-CF23-443A-959A-6231F90D6AF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ABD792D-DF6D-4471-8034-88CB800F52CD}"/>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From the notebook to Moku:Go</a:t>
            </a:r>
          </a:p>
        </p:txBody>
      </p:sp>
      <p:sp>
        <p:nvSpPr>
          <p:cNvPr id="3" name="page">
            <a:extLst xmlns:a="http://schemas.openxmlformats.org/drawingml/2006/main">
              <a:ext uri="{FF2B5EF4-FFF2-40B4-BE49-F238E27FC236}">
                <a16:creationId xmlns:a16="http://schemas.microsoft.com/office/drawing/2014/main" id="{587916DE-1D99-4665-8FE7-FAE6DA164164}"/>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21</a:t>
            </a:r>
          </a:p>
        </p:txBody>
      </p:sp>
      <p:sp>
        <p:nvSpPr>
          <p:cNvPr id="4" name="text">
            <a:extLst xmlns:a="http://schemas.openxmlformats.org/drawingml/2006/main">
              <a:ext uri="{FF2B5EF4-FFF2-40B4-BE49-F238E27FC236}">
                <a16:creationId xmlns:a16="http://schemas.microsoft.com/office/drawing/2014/main" id="{0C97733B-A04B-4A77-B952-C72ACC009404}"/>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517CA938-E691-4751-900C-60BDA6094F45}"/>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a sample rate from the known or estimated sound frequency</a:t>
            </a:r>
          </a:p>
        </p:txBody>
      </p:sp>
      <p:sp>
        <p:nvSpPr>
          <p:cNvPr id="6" name="text">
            <a:extLst xmlns:a="http://schemas.openxmlformats.org/drawingml/2006/main">
              <a:ext uri="{FF2B5EF4-FFF2-40B4-BE49-F238E27FC236}">
                <a16:creationId xmlns:a16="http://schemas.microsoft.com/office/drawing/2014/main" id="{93B029C3-F085-41D4-9820-B4436AD19C39}"/>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058C8609-58B4-470F-9E15-935C7F89AEF0}"/>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Record at least one second and save the data as a MAT file</a:t>
            </a:r>
          </a:p>
        </p:txBody>
      </p:sp>
      <p:sp>
        <p:nvSpPr>
          <p:cNvPr id="8" name="text">
            <a:extLst xmlns:a="http://schemas.openxmlformats.org/drawingml/2006/main">
              <a:ext uri="{FF2B5EF4-FFF2-40B4-BE49-F238E27FC236}">
                <a16:creationId xmlns:a16="http://schemas.microsoft.com/office/drawing/2014/main" id="{D7F12CC4-1FA3-4D65-9FE8-BCC2D5C79897}"/>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5F87E4F9-510A-4222-8416-6B8E0E2671A2}"/>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Plot the measured waveform and compute its spectrum</a:t>
            </a:r>
          </a:p>
        </p:txBody>
      </p:sp>
      <p:sp>
        <p:nvSpPr>
          <p:cNvPr id="10" name="text">
            <a:extLst xmlns:a="http://schemas.openxmlformats.org/drawingml/2006/main">
              <a:ext uri="{FF2B5EF4-FFF2-40B4-BE49-F238E27FC236}">
                <a16:creationId xmlns:a16="http://schemas.microsoft.com/office/drawing/2014/main" id="{037C13ED-057D-4965-B0CA-2FC886B3F64A}"/>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2EDD0FFB-373B-456C-A697-66133E337380}"/>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the dominant peak with the tuning-fork frequency and replay the recording</a:t>
            </a:r>
          </a:p>
        </p:txBody>
      </p:sp>
    </p:spTree>
    <p:extLst>
      <p:ext uri="{BB962C8B-B14F-4D97-AF65-F5344CB8AC3E}">
        <p14:creationId xmlns:p14="http://schemas.microsoft.com/office/powerpoint/2010/main" val="154968858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18BCE9DF-2F04-4E35-8BE2-C68CFA72D0B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0555774-86BA-4D15-B0A0-4D42D14CE7D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Pre-Lab 1 submission</a:t>
            </a:r>
          </a:p>
        </p:txBody>
      </p:sp>
      <p:sp>
        <p:nvSpPr>
          <p:cNvPr id="3" name="page">
            <a:extLst xmlns:a="http://schemas.openxmlformats.org/drawingml/2006/main">
              <a:ext uri="{FF2B5EF4-FFF2-40B4-BE49-F238E27FC236}">
                <a16:creationId xmlns:a16="http://schemas.microsoft.com/office/drawing/2014/main" id="{F0918913-4DE6-4A03-9749-9B786895C2E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22</a:t>
            </a:r>
          </a:p>
        </p:txBody>
      </p:sp>
      <p:sp>
        <p:nvSpPr>
          <p:cNvPr id="4" name="text">
            <a:extLst xmlns:a="http://schemas.openxmlformats.org/drawingml/2006/main">
              <a:ext uri="{FF2B5EF4-FFF2-40B4-BE49-F238E27FC236}">
                <a16:creationId xmlns:a16="http://schemas.microsoft.com/office/drawing/2014/main" id="{C3A1EFB7-B807-4FFE-9A92-12952A7A576A}"/>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BEFORE SUBMITTING</a:t>
            </a:r>
          </a:p>
        </p:txBody>
      </p:sp>
      <p:sp>
        <p:nvSpPr>
          <p:cNvPr id="5" name="text">
            <a:extLst xmlns:a="http://schemas.openxmlformats.org/drawingml/2006/main">
              <a:ext uri="{FF2B5EF4-FFF2-40B4-BE49-F238E27FC236}">
                <a16:creationId xmlns:a16="http://schemas.microsoft.com/office/drawing/2014/main" id="{E9D5E372-7C87-4F83-9F25-695814F84279}"/>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DEADLINE</a:t>
            </a:r>
          </a:p>
        </p:txBody>
      </p:sp>
      <p:sp>
        <p:nvSpPr>
          <p:cNvPr id="6" name="text">
            <a:extLst xmlns:a="http://schemas.openxmlformats.org/drawingml/2006/main">
              <a:ext uri="{FF2B5EF4-FFF2-40B4-BE49-F238E27FC236}">
                <a16:creationId xmlns:a16="http://schemas.microsoft.com/office/drawing/2014/main" id="{89B46BE1-09F0-4B19-AB56-3F075B8D9414}"/>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Run All cells.</a:t>
            </a:r>
          </a:p>
        </p:txBody>
      </p:sp>
      <p:sp>
        <p:nvSpPr>
          <p:cNvPr id="7" name="text">
            <a:extLst xmlns:a="http://schemas.openxmlformats.org/drawingml/2006/main">
              <a:ext uri="{FF2B5EF4-FFF2-40B4-BE49-F238E27FC236}">
                <a16:creationId xmlns:a16="http://schemas.microsoft.com/office/drawing/2014/main" id="{4C62C89B-E7BB-4DED-BEEA-8153DC2568B0}"/>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Keep figures visible.</a:t>
            </a:r>
          </a:p>
        </p:txBody>
      </p:sp>
      <p:sp>
        <p:nvSpPr>
          <p:cNvPr id="8" name="text">
            <a:extLst xmlns:a="http://schemas.openxmlformats.org/drawingml/2006/main">
              <a:ext uri="{FF2B5EF4-FFF2-40B4-BE49-F238E27FC236}">
                <a16:creationId xmlns:a16="http://schemas.microsoft.com/office/drawing/2014/main" id="{A37BD46F-029B-4C21-8F96-0B90A96960BD}"/>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Complete four response sections.</a:t>
            </a:r>
          </a:p>
        </p:txBody>
      </p:sp>
      <p:sp>
        <p:nvSpPr>
          <p:cNvPr id="9" name="text">
            <a:extLst xmlns:a="http://schemas.openxmlformats.org/drawingml/2006/main">
              <a:ext uri="{FF2B5EF4-FFF2-40B4-BE49-F238E27FC236}">
                <a16:creationId xmlns:a16="http://schemas.microsoft.com/office/drawing/2014/main" id="{63C866AE-3240-43CC-ABE2-34F4CF927A01}"/>
              </a:ext>
            </a:extLst>
          </p:cNvPr>
          <p:cNvSpPr>
            <a:spLocks xmlns:a="http://schemas.openxmlformats.org/drawingml/2006/main" noGrp="1"/>
          </p:cNvSpPr>
          <p:nvPr/>
        </p:nvSpPr>
        <p:spPr>
          <a:xfrm xmlns:a="http://schemas.openxmlformats.org/drawingml/2006/main">
            <a:off x="1047750"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Export to HTML or PDF if Canvas requests it.</a:t>
            </a:r>
          </a:p>
        </p:txBody>
      </p:sp>
      <p:sp>
        <p:nvSpPr>
          <p:cNvPr id="10" name="text">
            <a:extLst xmlns:a="http://schemas.openxmlformats.org/drawingml/2006/main">
              <a:ext uri="{FF2B5EF4-FFF2-40B4-BE49-F238E27FC236}">
                <a16:creationId xmlns:a16="http://schemas.microsoft.com/office/drawing/2014/main" id="{067CF665-A993-4F52-AB75-7386329EFA46}"/>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Normally posted Monday before the laboratory.</a:t>
            </a:r>
          </a:p>
        </p:txBody>
      </p:sp>
      <p:sp>
        <p:nvSpPr>
          <p:cNvPr id="11" name="text">
            <a:extLst xmlns:a="http://schemas.openxmlformats.org/drawingml/2006/main">
              <a:ext uri="{FF2B5EF4-FFF2-40B4-BE49-F238E27FC236}">
                <a16:creationId xmlns:a16="http://schemas.microsoft.com/office/drawing/2014/main" id="{D2ADFB01-0D9D-4FBF-B69A-8784D2DEDFBC}"/>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Submit before your own section begins.</a:t>
            </a:r>
          </a:p>
        </p:txBody>
      </p:sp>
      <p:sp>
        <p:nvSpPr>
          <p:cNvPr id="12" name="text">
            <a:extLst xmlns:a="http://schemas.openxmlformats.org/drawingml/2006/main">
              <a:ext uri="{FF2B5EF4-FFF2-40B4-BE49-F238E27FC236}">
                <a16:creationId xmlns:a16="http://schemas.microsoft.com/office/drawing/2014/main" id="{C47AE377-FD52-455B-8816-FA9DE29DA66B}"/>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Late pre-labs are not accepted.</a:t>
            </a:r>
          </a:p>
        </p:txBody>
      </p:sp>
    </p:spTree>
    <p:extLst>
      <p:ext uri="{BB962C8B-B14F-4D97-AF65-F5344CB8AC3E}">
        <p14:creationId xmlns:p14="http://schemas.microsoft.com/office/powerpoint/2010/main" val="15196893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2026-09-09T19:09:40.1760000Z</dcterms:created>
  <dcterms:modified xsi:type="dcterms:W3CDTF">2026-09-09T19:09:40.1760000Z</dcterms:modified>
</coreProperties>
</file>