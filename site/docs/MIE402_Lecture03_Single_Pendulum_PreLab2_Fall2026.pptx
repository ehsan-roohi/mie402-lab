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image" Target="../media/image13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image" Target="../media/image17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16459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881C1C"/>
                </a:solidFill>
                <a:latin typeface="Aptos"/>
              </a:defRPr>
            </a:pPr>
            <a:r>
              <a:t>MIE 402  |  ME LAB II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69680" y="16459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666666"/>
                </a:solidFill>
                <a:latin typeface="Aptos"/>
              </a:defRPr>
            </a:pPr>
            <a:r>
              <a:t>0-2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" y="685800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900" b="1">
                <a:solidFill>
                  <a:srgbClr val="161616"/>
                </a:solidFill>
                <a:latin typeface="Aptos"/>
              </a:defRPr>
            </a:pPr>
            <a:r>
              <a:t>Lab 2: measuring a single pendulum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5486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881C1C"/>
                </a:solidFill>
                <a:latin typeface="Aptos"/>
              </a:defRPr>
            </a:pPr>
            <a:r>
              <a:t>From high-speed video to a defensible model comparison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971800"/>
            <a:ext cx="51206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0">
                <a:solidFill>
                  <a:srgbClr val="161616"/>
                </a:solidFill>
                <a:latin typeface="Aptos"/>
              </a:defRPr>
            </a:pPr>
            <a:r>
              <a:t>Physical model, finite-angle behavior, camera measurement, tracking, and Pre-Lab 2.</a:t>
            </a:r>
          </a:p>
        </p:txBody>
      </p:sp>
      <p:pic>
        <p:nvPicPr>
          <p:cNvPr id="7" name="Picture 6" descr="lab2-pendulum-phot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2280" y="1417320"/>
            <a:ext cx="4206240" cy="44805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16459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881C1C"/>
                </a:solidFill>
                <a:latin typeface="Aptos"/>
              </a:defRPr>
            </a:pPr>
            <a:r>
              <a:t>MIE 402  |  ME LAB II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69680" y="16459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666666"/>
                </a:solidFill>
                <a:latin typeface="Aptos"/>
              </a:defRPr>
            </a:pPr>
            <a:r>
              <a:t>2-4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" y="685800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900" b="1">
                <a:solidFill>
                  <a:srgbClr val="161616"/>
                </a:solidFill>
                <a:latin typeface="Aptos"/>
              </a:defRPr>
            </a:pPr>
            <a:r>
              <a:t>What you will do in Lab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50876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Release pendulum from rest at three angle ranges.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Record motion with high-speed camera.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Track bob and convert x(t), y(t) into theta(t).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Compare period and frequency with model.</a:t>
            </a:r>
          </a:p>
        </p:txBody>
      </p:sp>
      <p:pic>
        <p:nvPicPr>
          <p:cNvPr id="6" name="Picture 5" descr="lab2-pendulum-phot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371600"/>
            <a:ext cx="4754880" cy="44805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16459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881C1C"/>
                </a:solidFill>
                <a:latin typeface="Aptos"/>
              </a:defRPr>
            </a:pPr>
            <a:r>
              <a:t>MIE 402  |  ME LAB II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69680" y="16459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666666"/>
                </a:solidFill>
                <a:latin typeface="Aptos"/>
              </a:defRPr>
            </a:pPr>
            <a:r>
              <a:t>4-6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" y="685800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900" b="1">
                <a:solidFill>
                  <a:srgbClr val="161616"/>
                </a:solidFill>
                <a:latin typeface="Aptos"/>
              </a:defRPr>
            </a:pPr>
            <a:r>
              <a:t>Physical system and coordinate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50876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M: bob and attached hardware mass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m: uniform bar mass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l: pivot-to-bob-center distance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theta(t): angle from downward vertical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omega(t) = dtheta/dt; every release begins with omega(0) = 0.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16459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881C1C"/>
                </a:solidFill>
                <a:latin typeface="Aptos"/>
              </a:defRPr>
            </a:pPr>
            <a:r>
              <a:t>MIE 402  |  ME LAB II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69680" y="16459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666666"/>
                </a:solidFill>
                <a:latin typeface="Aptos"/>
              </a:defRPr>
            </a:pPr>
            <a:r>
              <a:t>6-8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" y="685800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900" b="1">
                <a:solidFill>
                  <a:srgbClr val="161616"/>
                </a:solidFill>
                <a:latin typeface="Aptos"/>
              </a:defRPr>
            </a:pPr>
            <a:r>
              <a:t>Ideal point-mass pendulum</a:t>
            </a:r>
          </a:p>
        </p:txBody>
      </p:sp>
      <p:pic>
        <p:nvPicPr>
          <p:cNvPr id="5" name="Picture 4" descr="point_torque-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0360" y="1481328"/>
            <a:ext cx="6400800" cy="658368"/>
          </a:xfrm>
          <a:prstGeom prst="rect">
            <a:avLst/>
          </a:prstGeom>
        </p:spPr>
      </p:pic>
      <p:pic>
        <p:nvPicPr>
          <p:cNvPr id="6" name="Picture 5" descr="point_eom-bla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6160" y="2395728"/>
            <a:ext cx="5029200" cy="71323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3749039"/>
            <a:ext cx="10332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Gravity drives the bob toward theta = 0.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The sine term makes exact motion nonlinear.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M cancels only because this ideal model treats the bar as massless.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16459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881C1C"/>
                </a:solidFill>
                <a:latin typeface="Aptos"/>
              </a:defRPr>
            </a:pPr>
            <a:r>
              <a:t>MIE 402  |  ME LAB II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69680" y="16459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666666"/>
                </a:solidFill>
                <a:latin typeface="Aptos"/>
              </a:defRPr>
            </a:pPr>
            <a:r>
              <a:t>8-11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" y="685800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900" b="1">
                <a:solidFill>
                  <a:srgbClr val="161616"/>
                </a:solidFill>
                <a:latin typeface="Aptos"/>
              </a:defRPr>
            </a:pPr>
            <a:r>
              <a:t>The bar mass changes the model</a:t>
            </a:r>
          </a:p>
        </p:txBody>
      </p:sp>
      <p:pic>
        <p:nvPicPr>
          <p:cNvPr id="5" name="Picture 4" descr="lab2-compound-schemat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417320"/>
            <a:ext cx="3108960" cy="44805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069080" y="1417320"/>
            <a:ext cx="7406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881C1C"/>
                </a:solidFill>
                <a:latin typeface="Aptos"/>
              </a:defRPr>
            </a:pPr>
            <a:r>
              <a:t>Moment of inertia about the pivot</a:t>
            </a:r>
          </a:p>
        </p:txBody>
      </p:sp>
      <p:pic>
        <p:nvPicPr>
          <p:cNvPr id="7" name="Picture 6" descr="inertia-bla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938528"/>
            <a:ext cx="5029200" cy="62179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069080" y="2788920"/>
            <a:ext cx="7406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881C1C"/>
                </a:solidFill>
                <a:latin typeface="Aptos"/>
              </a:defRPr>
            </a:pPr>
            <a:r>
              <a:t>Gravity torque</a:t>
            </a:r>
          </a:p>
        </p:txBody>
      </p:sp>
      <p:pic>
        <p:nvPicPr>
          <p:cNvPr id="9" name="Picture 8" descr="gravity_torque-blac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5968" y="3310128"/>
            <a:ext cx="5852160" cy="7315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069080" y="4572000"/>
            <a:ext cx="74066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61616"/>
                </a:solidFill>
                <a:latin typeface="Aptos"/>
              </a:defRPr>
            </a:pPr>
            <a:r>
              <a:t>The bob acts at l. The uniform bar acts through its center of mass at l/2.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16459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881C1C"/>
                </a:solidFill>
                <a:latin typeface="Aptos"/>
              </a:defRPr>
            </a:pPr>
            <a:r>
              <a:t>MIE 402  |  ME LAB II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69680" y="16459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666666"/>
                </a:solidFill>
                <a:latin typeface="Aptos"/>
              </a:defRPr>
            </a:pPr>
            <a:r>
              <a:t>11-13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" y="685800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900" b="1">
                <a:solidFill>
                  <a:srgbClr val="161616"/>
                </a:solidFill>
                <a:latin typeface="Aptos"/>
              </a:defRPr>
            </a:pPr>
            <a:r>
              <a:t>Compound-pendulum equation</a:t>
            </a:r>
          </a:p>
        </p:txBody>
      </p:sp>
      <p:pic>
        <p:nvPicPr>
          <p:cNvPr id="5" name="Picture 4" descr="compound_eom-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1481328"/>
            <a:ext cx="10149840" cy="731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251460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881C1C"/>
                </a:solidFill>
                <a:latin typeface="Aptos"/>
              </a:defRPr>
            </a:pPr>
            <a:r>
              <a:t>Small-angle approximation</a:t>
            </a:r>
          </a:p>
        </p:txBody>
      </p:sp>
      <p:pic>
        <p:nvPicPr>
          <p:cNvPr id="7" name="Picture 6" descr="small_angle-bla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2971800"/>
            <a:ext cx="7909560" cy="731520"/>
          </a:xfrm>
          <a:prstGeom prst="rect">
            <a:avLst/>
          </a:prstGeom>
        </p:spPr>
      </p:pic>
      <p:pic>
        <p:nvPicPr>
          <p:cNvPr id="8" name="Picture 7" descr="frequency_period-blac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86200" y="3886200"/>
            <a:ext cx="4389120" cy="6400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4709160"/>
            <a:ext cx="100584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800">
                <a:solidFill>
                  <a:srgbClr val="161616"/>
                </a:solidFill>
                <a:latin typeface="Aptos"/>
              </a:defRPr>
            </a:pPr>
            <a:r>
              <a:t>Measure M, m, and l for the apparatus.</a:t>
            </a:r>
          </a:p>
          <a:p>
            <a:pPr>
              <a:spcAft>
                <a:spcPts val="1100"/>
              </a:spcAft>
              <a:defRPr sz="1800">
                <a:solidFill>
                  <a:srgbClr val="161616"/>
                </a:solidFill>
                <a:latin typeface="Aptos"/>
              </a:defRPr>
            </a:pPr>
            <a:r>
              <a:t>The point-mass formula applies only when bar mass is negligible.</a:t>
            </a:r>
          </a:p>
          <a:p>
            <a:pPr>
              <a:spcAft>
                <a:spcPts val="1100"/>
              </a:spcAft>
              <a:defRPr sz="1800">
                <a:solidFill>
                  <a:srgbClr val="161616"/>
                </a:solidFill>
                <a:latin typeface="Aptos"/>
              </a:defRPr>
            </a:pPr>
            <a:r>
              <a:t>Mass distribution changes inertia and gravity torque by different amounts.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16459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881C1C"/>
                </a:solidFill>
                <a:latin typeface="Aptos"/>
              </a:defRPr>
            </a:pPr>
            <a:r>
              <a:t>MIE 402  |  ME LAB II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69680" y="16459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666666"/>
                </a:solidFill>
                <a:latin typeface="Aptos"/>
              </a:defRPr>
            </a:pPr>
            <a:r>
              <a:t>13-15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" y="685800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900" b="1">
                <a:solidFill>
                  <a:srgbClr val="161616"/>
                </a:solidFill>
                <a:latin typeface="Aptos"/>
              </a:defRPr>
            </a:pPr>
            <a:r>
              <a:t>Why large initial angle changes period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50876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At large angle, sin(theta) differs from theta.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Exact restoring torque is weaker than the linear model predicts at the same angle.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Finite-angle motion takes longer to complete a cycle.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Use the nonlinear equation from Pre-Lab 2 for all three releases.</a:t>
            </a:r>
          </a:p>
        </p:txBody>
      </p:sp>
      <p:pic>
        <p:nvPicPr>
          <p:cNvPr id="6" name="Picture 5" descr="lab2-pendulum-phot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371600"/>
            <a:ext cx="4754880" cy="44805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16459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881C1C"/>
                </a:solidFill>
                <a:latin typeface="Aptos"/>
              </a:defRPr>
            </a:pPr>
            <a:r>
              <a:t>MIE 402  |  ME LAB II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69680" y="16459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666666"/>
                </a:solidFill>
                <a:latin typeface="Aptos"/>
              </a:defRPr>
            </a:pPr>
            <a:r>
              <a:t>15-17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" y="685800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900" b="1">
                <a:solidFill>
                  <a:srgbClr val="161616"/>
                </a:solidFill>
                <a:latin typeface="Aptos"/>
              </a:defRPr>
            </a:pPr>
            <a:r>
              <a:t>Energy during a swing</a:t>
            </a:r>
          </a:p>
        </p:txBody>
      </p:sp>
      <p:pic>
        <p:nvPicPr>
          <p:cNvPr id="5" name="Picture 4" descr="energy-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1481328"/>
            <a:ext cx="10149840" cy="822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" y="297180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At release theta is largest and omega = 0.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Near the bottom theta = 0 and speed is largest.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Air drag and pivot friction cause measured amplitude and energy to decrease.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16459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881C1C"/>
                </a:solidFill>
                <a:latin typeface="Aptos"/>
              </a:defRPr>
            </a:pPr>
            <a:r>
              <a:t>MIE 402  |  ME LAB II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69680" y="16459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666666"/>
                </a:solidFill>
                <a:latin typeface="Aptos"/>
              </a:defRPr>
            </a:pPr>
            <a:r>
              <a:t>17-19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" y="685800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900" b="1">
                <a:solidFill>
                  <a:srgbClr val="161616"/>
                </a:solidFill>
                <a:latin typeface="Aptos"/>
              </a:defRPr>
            </a:pPr>
            <a:r>
              <a:t>What the camera actually measures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50876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Camera stores frames, not angle directly.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Every frame contains pivot and bob positions.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Useful record needs full motion in frame, sharp contrast, and visible bob center.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Frame rate becomes time spacing of measurement.</a:t>
            </a:r>
          </a:p>
        </p:txBody>
      </p:sp>
      <p:pic>
        <p:nvPicPr>
          <p:cNvPr id="6" name="Picture 5" descr="lab2-camera-main-scree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371600"/>
            <a:ext cx="4754880" cy="448056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16459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881C1C"/>
                </a:solidFill>
                <a:latin typeface="Aptos"/>
              </a:defRPr>
            </a:pPr>
            <a:r>
              <a:t>MIE 402  |  ME LAB II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69680" y="16459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666666"/>
                </a:solidFill>
                <a:latin typeface="Aptos"/>
              </a:defRPr>
            </a:pPr>
            <a:r>
              <a:t>19-21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" y="685800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900" b="1">
                <a:solidFill>
                  <a:srgbClr val="161616"/>
                </a:solidFill>
                <a:latin typeface="Aptos"/>
              </a:defRPr>
            </a:pPr>
            <a:r>
              <a:t>Camera settings and useful video</a:t>
            </a:r>
          </a:p>
        </p:txBody>
      </p:sp>
      <p:pic>
        <p:nvPicPr>
          <p:cNvPr id="5" name="Picture 4" descr="lab2-camera-record-setting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463040"/>
            <a:ext cx="4114800" cy="3063240"/>
          </a:xfrm>
          <a:prstGeom prst="rect">
            <a:avLst/>
          </a:prstGeom>
        </p:spPr>
      </p:pic>
      <p:pic>
        <p:nvPicPr>
          <p:cNvPr id="6" name="Picture 5" descr="lab2-camera-trigger-delay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463040"/>
            <a:ext cx="4114800" cy="3063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4800600"/>
            <a:ext cx="105156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700">
                <a:solidFill>
                  <a:srgbClr val="161616"/>
                </a:solidFill>
                <a:latin typeface="Aptos"/>
              </a:defRPr>
            </a:pPr>
            <a:r>
              <a:t>Record actual frame rate.</a:t>
            </a:r>
          </a:p>
          <a:p>
            <a:pPr>
              <a:spcAft>
                <a:spcPts val="1100"/>
              </a:spcAft>
              <a:defRPr sz="1700">
                <a:solidFill>
                  <a:srgbClr val="161616"/>
                </a:solidFill>
                <a:latin typeface="Aptos"/>
              </a:defRPr>
            </a:pPr>
            <a:r>
              <a:t>Use trigger delay that includes release and cycles.</a:t>
            </a:r>
          </a:p>
          <a:p>
            <a:pPr>
              <a:spcAft>
                <a:spcPts val="1100"/>
              </a:spcAft>
              <a:defRPr sz="1700">
                <a:solidFill>
                  <a:srgbClr val="161616"/>
                </a:solidFill>
                <a:latin typeface="Aptos"/>
              </a:defRPr>
            </a:pPr>
            <a:r>
              <a:t>Test framing before experiment.</a:t>
            </a:r>
          </a:p>
          <a:p>
            <a:pPr>
              <a:spcAft>
                <a:spcPts val="1100"/>
              </a:spcAft>
              <a:defRPr sz="1700">
                <a:solidFill>
                  <a:srgbClr val="161616"/>
                </a:solidFill>
                <a:latin typeface="Aptos"/>
              </a:defRPr>
            </a:pPr>
            <a:r>
              <a:t>Smooth video does not prove accurate tracking.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16459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881C1C"/>
                </a:solidFill>
                <a:latin typeface="Aptos"/>
              </a:defRPr>
            </a:pPr>
            <a:r>
              <a:t>MIE 402  |  ME LAB II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69680" y="16459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666666"/>
                </a:solidFill>
                <a:latin typeface="Aptos"/>
              </a:defRPr>
            </a:pPr>
            <a:r>
              <a:t>21-23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" y="685800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900" b="1">
                <a:solidFill>
                  <a:srgbClr val="161616"/>
                </a:solidFill>
                <a:latin typeface="Aptos"/>
              </a:defRPr>
            </a:pPr>
            <a:r>
              <a:t>From pixels to coordinates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50876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Calibration marks have known separation, normally 100 mm.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Calibration gives pixel-to-millimeter scale.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Do not move camera or change zoom after calibration.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App saves time and bob coordinates.</a:t>
            </a:r>
          </a:p>
        </p:txBody>
      </p:sp>
      <p:pic>
        <p:nvPicPr>
          <p:cNvPr id="6" name="Picture 5" descr="lab2-analyzer-calibrat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371600"/>
            <a:ext cx="4754880" cy="448056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16459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881C1C"/>
                </a:solidFill>
                <a:latin typeface="Aptos"/>
              </a:defRPr>
            </a:pPr>
            <a:r>
              <a:t>MIE 402  |  ME LAB II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69680" y="16459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666666"/>
                </a:solidFill>
                <a:latin typeface="Aptos"/>
              </a:defRPr>
            </a:pPr>
            <a:r>
              <a:t>23-25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" y="685800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900" b="1">
                <a:solidFill>
                  <a:srgbClr val="161616"/>
                </a:solidFill>
                <a:latin typeface="Aptos"/>
              </a:defRPr>
            </a:pPr>
            <a:r>
              <a:t>From coordinates to a signed angle</a:t>
            </a:r>
          </a:p>
        </p:txBody>
      </p:sp>
      <p:pic>
        <p:nvPicPr>
          <p:cNvPr id="5" name="Picture 4" descr="angle-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1481328"/>
            <a:ext cx="6583680" cy="777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68680" y="2880360"/>
            <a:ext cx="10058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For image coordinates, x points right and y points down.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The formula gives theta = 0 when the bob is directly below the pivot.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Verify zero and sign using one known frame before batch analysis.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Use radians for modeling and derivatives.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16459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881C1C"/>
                </a:solidFill>
                <a:latin typeface="Aptos"/>
              </a:defRPr>
            </a:pPr>
            <a:r>
              <a:t>MIE 402  |  ME LAB II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69680" y="16459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666666"/>
                </a:solidFill>
                <a:latin typeface="Aptos"/>
              </a:defRPr>
            </a:pPr>
            <a:r>
              <a:t>25-28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" y="685800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900" b="1">
                <a:solidFill>
                  <a:srgbClr val="161616"/>
                </a:solidFill>
                <a:latin typeface="Aptos"/>
              </a:defRPr>
            </a:pPr>
            <a:r>
              <a:t>Tracking workflow in MATLAB</a:t>
            </a:r>
          </a:p>
        </p:txBody>
      </p:sp>
      <p:pic>
        <p:nvPicPr>
          <p:cNvPr id="5" name="Picture 4" descr="lab2-analyzer-loa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3749039" cy="4389120"/>
          </a:xfrm>
          <a:prstGeom prst="rect">
            <a:avLst/>
          </a:prstGeom>
        </p:spPr>
      </p:pic>
      <p:pic>
        <p:nvPicPr>
          <p:cNvPr id="6" name="Picture 5" descr="lab2-analyzer-trackin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1371600"/>
            <a:ext cx="3749039" cy="43891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366760" y="1600200"/>
            <a:ext cx="33832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800">
                <a:solidFill>
                  <a:srgbClr val="161616"/>
                </a:solidFill>
                <a:latin typeface="Aptos"/>
              </a:defRPr>
            </a:pPr>
            <a:r>
              <a:t>Select Single pendulum.</a:t>
            </a:r>
          </a:p>
          <a:p>
            <a:pPr>
              <a:spcAft>
                <a:spcPts val="1100"/>
              </a:spcAft>
              <a:defRPr sz="1800">
                <a:solidFill>
                  <a:srgbClr val="161616"/>
                </a:solidFill>
                <a:latin typeface="Aptos"/>
              </a:defRPr>
            </a:pPr>
            <a:r>
              <a:t>Enter actual camera frame rate.</a:t>
            </a:r>
          </a:p>
          <a:p>
            <a:pPr>
              <a:spcAft>
                <a:spcPts val="1100"/>
              </a:spcAft>
              <a:defRPr sz="1800">
                <a:solidFill>
                  <a:srgbClr val="161616"/>
                </a:solidFill>
                <a:latin typeface="Aptos"/>
              </a:defRPr>
            </a:pPr>
            <a:r>
              <a:t>Calibrate, select pivot and bob, then Quick Review.</a:t>
            </a:r>
          </a:p>
          <a:p>
            <a:pPr>
              <a:spcAft>
                <a:spcPts val="1100"/>
              </a:spcAft>
              <a:defRPr sz="1800">
                <a:solidFill>
                  <a:srgbClr val="161616"/>
                </a:solidFill>
                <a:latin typeface="Aptos"/>
              </a:defRPr>
            </a:pPr>
            <a:r>
              <a:t>Run Analyze All Frames only after marker follows bob.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16459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881C1C"/>
                </a:solidFill>
                <a:latin typeface="Aptos"/>
              </a:defRPr>
            </a:pPr>
            <a:r>
              <a:t>MIE 402  |  ME LAB II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69680" y="16459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666666"/>
                </a:solidFill>
                <a:latin typeface="Aptos"/>
              </a:defRPr>
            </a:pPr>
            <a:r>
              <a:t>28-30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" y="685800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900" b="1">
                <a:solidFill>
                  <a:srgbClr val="161616"/>
                </a:solidFill>
                <a:latin typeface="Aptos"/>
              </a:defRPr>
            </a:pPr>
            <a:r>
              <a:t>Why frame rate belongs in report</a:t>
            </a:r>
          </a:p>
        </p:txBody>
      </p:sp>
      <p:pic>
        <p:nvPicPr>
          <p:cNvPr id="5" name="Picture 4" descr="nyquist-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1720" y="1481328"/>
            <a:ext cx="7498079" cy="731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68680" y="2788920"/>
            <a:ext cx="100584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For l = 0.82 m, one cycle contains roughly 1800 frames.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The rate greatly exceeds the Nyquist minimum for the pendulum.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Wrong frame rate gives wrong time, frequency, and angular velocity.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16459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881C1C"/>
                </a:solidFill>
                <a:latin typeface="Aptos"/>
              </a:defRPr>
            </a:pPr>
            <a:r>
              <a:t>MIE 402  |  ME LAB II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69680" y="16459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666666"/>
                </a:solidFill>
                <a:latin typeface="Aptos"/>
              </a:defRPr>
            </a:pPr>
            <a:r>
              <a:t>30-32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" y="685800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900" b="1">
                <a:solidFill>
                  <a:srgbClr val="161616"/>
                </a:solidFill>
                <a:latin typeface="Aptos"/>
              </a:defRPr>
            </a:pPr>
            <a:r>
              <a:t>Angular velocity and noise</a:t>
            </a:r>
          </a:p>
        </p:txBody>
      </p:sp>
      <p:pic>
        <p:nvPicPr>
          <p:cNvPr id="5" name="Picture 4" descr="omega-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4680" y="1481328"/>
            <a:ext cx="5852160" cy="7498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68680" y="2834640"/>
            <a:ext cx="10058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Differentiation magnifies frame-to-frame error.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Inspect theta(t) before interpreting omega(t).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State smoothing method and show it does not hide tracking problems.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Maximum speed occurs near the bottom.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16459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881C1C"/>
                </a:solidFill>
                <a:latin typeface="Aptos"/>
              </a:defRPr>
            </a:pPr>
            <a:r>
              <a:t>MIE 402  |  ME LAB II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69680" y="16459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666666"/>
                </a:solidFill>
                <a:latin typeface="Aptos"/>
              </a:defRPr>
            </a:pPr>
            <a:r>
              <a:t>32-34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" y="685800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900" b="1">
                <a:solidFill>
                  <a:srgbClr val="161616"/>
                </a:solidFill>
                <a:latin typeface="Aptos"/>
              </a:defRPr>
            </a:pPr>
            <a:r>
              <a:t>Period from time history and spectrum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54864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Time domain: measure several cycles between same-direction peaks.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Frequency domain: remove mean, compute FFT, identify dominant peak.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Report record duration Tᵣ and frequency-bin spacing.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Time-domain period and spectral frequency should agree within resolution.</a:t>
            </a:r>
          </a:p>
        </p:txBody>
      </p:sp>
      <p:pic>
        <p:nvPicPr>
          <p:cNvPr id="6" name="Picture 5" descr="period-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828800"/>
            <a:ext cx="4297680" cy="685800"/>
          </a:xfrm>
          <a:prstGeom prst="rect">
            <a:avLst/>
          </a:prstGeom>
        </p:spPr>
      </p:pic>
      <p:pic>
        <p:nvPicPr>
          <p:cNvPr id="7" name="Picture 6" descr="resolution-bla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400" y="3337560"/>
            <a:ext cx="4206240" cy="658368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16459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881C1C"/>
                </a:solidFill>
                <a:latin typeface="Aptos"/>
              </a:defRPr>
            </a:pPr>
            <a:r>
              <a:t>MIE 402  |  ME LAB II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69680" y="16459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666666"/>
                </a:solidFill>
                <a:latin typeface="Aptos"/>
              </a:defRPr>
            </a:pPr>
            <a:r>
              <a:t>34-36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" y="685800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900" b="1">
                <a:solidFill>
                  <a:srgbClr val="161616"/>
                </a:solidFill>
                <a:latin typeface="Aptos"/>
              </a:defRPr>
            </a:pPr>
            <a:r>
              <a:t>Lab 2 trial matrix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50876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Trial A: theta0 below 10 degrees. Closest test of small-angle theory.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Trial B: theta0 from 10 to 90 degrees. Observe period change.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Trial C: theta0 from 90 to 180 degrees. Expect strong nonlinearity; keep bob in frame.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All releases start from rest. Record theta0 from protractor.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16459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881C1C"/>
                </a:solidFill>
                <a:latin typeface="Aptos"/>
              </a:defRPr>
            </a:pPr>
            <a:r>
              <a:t>MIE 402  |  ME LAB II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69680" y="16459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666666"/>
                </a:solidFill>
                <a:latin typeface="Aptos"/>
              </a:defRPr>
            </a:pPr>
            <a:r>
              <a:t>36-38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" y="685800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900" b="1">
                <a:solidFill>
                  <a:srgbClr val="161616"/>
                </a:solidFill>
                <a:latin typeface="Aptos"/>
              </a:defRPr>
            </a:pPr>
            <a:r>
              <a:t>Data quality before accepting video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50876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Bob remains in frame.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Bob edge and center are visible without glare.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Pivot and calibration marks are visible.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Release begins from rest.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Quick Review follows bob for nearly all frames.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Notes include file name, angle, frame rate, and calibration distance.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16459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881C1C"/>
                </a:solidFill>
                <a:latin typeface="Aptos"/>
              </a:defRPr>
            </a:pPr>
            <a:r>
              <a:t>MIE 402  |  ME LAB II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69680" y="16459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666666"/>
                </a:solidFill>
                <a:latin typeface="Aptos"/>
              </a:defRPr>
            </a:pPr>
            <a:r>
              <a:t>38-41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" y="685800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900" b="1">
                <a:solidFill>
                  <a:srgbClr val="161616"/>
                </a:solidFill>
                <a:latin typeface="Aptos"/>
              </a:defRPr>
            </a:pPr>
            <a:r>
              <a:t>Pre-Lab 2: what you submit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50876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One Word or PDF before laboratory section.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Task 1: compare point-mass and compound-pendulum frequencies.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Task 2: predict behavior before running the supplied simulation.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Task 3: estimate periods and explain finite-angle behavior.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Tasks 4-6: explain coordinates, frame rate, and the laboratory plan.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16459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881C1C"/>
                </a:solidFill>
                <a:latin typeface="Aptos"/>
              </a:defRPr>
            </a:pPr>
            <a:r>
              <a:t>MIE 402  |  ME LAB II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69680" y="16459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666666"/>
                </a:solidFill>
                <a:latin typeface="Aptos"/>
              </a:defRPr>
            </a:pPr>
            <a:r>
              <a:t>41-44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" y="685800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900" b="1">
                <a:solidFill>
                  <a:srgbClr val="161616"/>
                </a:solidFill>
                <a:latin typeface="Aptos"/>
              </a:defRPr>
            </a:pPr>
            <a:r>
              <a:t>Evidence for combined Lab 2 and 3 report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50876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Schematic: pivot, l, M, m, theta, and positive direction.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Table: measured parameters and analytical, nonlinear, time-domain, and FFT frequencies.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Plots: theta(t), omega(t), and spectra with units.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Discussion: separate model limitations from measurement errors.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16459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881C1C"/>
                </a:solidFill>
                <a:latin typeface="Aptos"/>
              </a:defRPr>
            </a:pPr>
            <a:r>
              <a:t>MIE 402  |  ME LAB II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69680" y="16459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666666"/>
                </a:solidFill>
                <a:latin typeface="Aptos"/>
              </a:defRPr>
            </a:pPr>
            <a:r>
              <a:t>44-47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" y="685800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900" b="1">
                <a:solidFill>
                  <a:srgbClr val="161616"/>
                </a:solidFill>
                <a:latin typeface="Aptos"/>
              </a:defRPr>
            </a:pPr>
            <a:r>
              <a:t>In-class prediction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50876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881C1C"/>
                </a:solidFill>
                <a:latin typeface="Aptos"/>
              </a:defRPr>
            </a:pPr>
            <a:r>
              <a:t>For the same apparatus, which release has the longest period?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788920"/>
            <a:ext cx="81381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2400">
                <a:solidFill>
                  <a:srgbClr val="161616"/>
                </a:solidFill>
                <a:latin typeface="Aptos"/>
              </a:defRPr>
            </a:pPr>
            <a:r>
              <a:t>A. 8 degrees</a:t>
            </a:r>
          </a:p>
          <a:p>
            <a:pPr>
              <a:spcAft>
                <a:spcPts val="1100"/>
              </a:spcAft>
              <a:defRPr sz="2400">
                <a:solidFill>
                  <a:srgbClr val="161616"/>
                </a:solidFill>
                <a:latin typeface="Aptos"/>
              </a:defRPr>
            </a:pPr>
            <a:r>
              <a:t>B. 35 degrees</a:t>
            </a:r>
          </a:p>
          <a:p>
            <a:pPr>
              <a:spcAft>
                <a:spcPts val="1100"/>
              </a:spcAft>
              <a:defRPr sz="2400">
                <a:solidFill>
                  <a:srgbClr val="161616"/>
                </a:solidFill>
                <a:latin typeface="Aptos"/>
              </a:defRPr>
            </a:pPr>
            <a:r>
              <a:t>C. 105 degrees</a:t>
            </a:r>
          </a:p>
          <a:p>
            <a:pPr>
              <a:spcAft>
                <a:spcPts val="1100"/>
              </a:spcAft>
              <a:defRPr sz="2400">
                <a:solidFill>
                  <a:srgbClr val="161616"/>
                </a:solidFill>
                <a:latin typeface="Aptos"/>
              </a:defRPr>
            </a:pPr>
            <a:r>
              <a:t>Explain using the exact sine restoring torque.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16459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881C1C"/>
                </a:solidFill>
                <a:latin typeface="Aptos"/>
              </a:defRPr>
            </a:pPr>
            <a:r>
              <a:t>MIE 402  |  ME LAB II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69680" y="16459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666666"/>
                </a:solidFill>
                <a:latin typeface="Aptos"/>
              </a:defRPr>
            </a:pPr>
            <a:r>
              <a:t>47-49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" y="685800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900" b="1">
                <a:solidFill>
                  <a:srgbClr val="161616"/>
                </a:solidFill>
                <a:latin typeface="Aptos"/>
              </a:defRPr>
            </a:pPr>
            <a:r>
              <a:t>Before leaving laboratory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50876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Save and back up every video and MAT output.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Verify tracking for every trial.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Record initial angle, frame rate, calibration distance, l, M, m, and file names.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Check one theta(t) plot and one spectrum with the GTA.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16459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881C1C"/>
                </a:solidFill>
                <a:latin typeface="Aptos"/>
              </a:defRPr>
            </a:pPr>
            <a:r>
              <a:t>MIE 402  |  ME LAB II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69680" y="16459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666666"/>
                </a:solidFill>
                <a:latin typeface="Aptos"/>
              </a:defRPr>
            </a:pPr>
            <a:r>
              <a:t>49-50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" y="685800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900" b="1">
                <a:solidFill>
                  <a:srgbClr val="161616"/>
                </a:solidFill>
                <a:latin typeface="Aptos"/>
              </a:defRPr>
            </a:pPr>
            <a:r>
              <a:t>Key ideas for Lab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50876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The real apparatus is a compound pendulum because the bar has mass.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Initial angle changes the nonlinear period.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Camera coordinates require calibration, a fixed pivot, and a verified sign convention.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Compare analytical theory, nonlinear simulation, time history, and spectrum.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