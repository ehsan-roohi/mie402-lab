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0-2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Lab 2: measuring a single pendulum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81C1C"/>
                </a:solidFill>
                <a:latin typeface="Aptos"/>
              </a:defRPr>
            </a:pPr>
            <a:r>
              <a:t>From high-speed video to a defensible model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1616"/>
                </a:solidFill>
                <a:latin typeface="Aptos"/>
              </a:defRPr>
            </a:pPr>
            <a:r>
              <a:t>Physical model, finite-angle behavior, camera measurement, tracking, and Pre-Lab 2.</a:t>
            </a:r>
          </a:p>
        </p:txBody>
      </p:sp>
      <p:pic>
        <p:nvPicPr>
          <p:cNvPr id="7" name="Picture 6" descr="lab2-pendulum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17320"/>
            <a:ext cx="42062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2-4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What you will do in 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Release pendulum from rest at three angle ranges.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Record motion with high-speed camera.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Track bob and convert x(t), y(t) into theta(t).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Compare period and frequency with model.</a:t>
            </a:r>
          </a:p>
        </p:txBody>
      </p:sp>
      <p:pic>
        <p:nvPicPr>
          <p:cNvPr id="6" name="Picture 5" descr="lab2-pendulum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7548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4-6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Physical system and coordinate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M: bob and attached hardware mass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m: uniform bar mass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l: pivot-to-bob-center distance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theta(t): angle from downward vertical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omega(t) = dtheta/dt; every release begins with omega(0) = 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6-8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Ideal point-mass pendulum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81C1C"/>
                </a:solidFill>
                <a:latin typeface="Aptos"/>
              </a:defRPr>
            </a:pPr>
            <a:r>
              <a:t>M l^2 theta_double_dot = -M g l sin(theta)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61616"/>
                </a:solidFill>
                <a:latin typeface="Aptos"/>
              </a:defRPr>
            </a:pPr>
            <a:r>
              <a:t>theta_double_dot + (g/l) sin(theta)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Gravity drives the bob toward theta = 0.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The sine term makes exact motion nonlinear.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M cancels only because this ideal model treats the bar as massless.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8-11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The bar mass changes the model</a:t>
            </a:r>
          </a:p>
        </p:txBody>
      </p:sp>
      <p:pic>
        <p:nvPicPr>
          <p:cNvPr id="5" name="Picture 4" descr="lab2-compound-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310896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69080" y="1417320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81C1C"/>
                </a:solidFill>
                <a:latin typeface="Aptos"/>
              </a:defRPr>
            </a:pPr>
            <a:r>
              <a:t>Moment of inertia about the pivot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96596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1616"/>
                </a:solidFill>
                <a:latin typeface="Aptos"/>
              </a:defRPr>
            </a:pPr>
            <a:r>
              <a:t>I = M l^2 + m l^2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788920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81C1C"/>
                </a:solidFill>
                <a:latin typeface="Aptos"/>
              </a:defRPr>
            </a:pPr>
            <a:r>
              <a:t>Gravity torque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333756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Aptos"/>
              </a:defRPr>
            </a:pPr>
            <a:r>
              <a:t>tau_g = -(M g l + m g l / 2) sin(theta)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457200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61616"/>
                </a:solidFill>
                <a:latin typeface="Aptos"/>
              </a:defRPr>
            </a:pPr>
            <a:r>
              <a:t>The bob acts at l. The uniform bar acts through its center of mass at l/2.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11-13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Compound-pendulum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087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881C1C"/>
                </a:solidFill>
                <a:latin typeface="Aptos"/>
              </a:defRPr>
            </a:pPr>
            <a:r>
              <a:t>(M l^2 + m l^2/3) theta_double_dot + (M g l + m g l/2) sin(theta) 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61616"/>
                </a:solidFill>
                <a:latin typeface="Aptos"/>
              </a:defRPr>
            </a:pPr>
            <a:r>
              <a:t>Small angle: omega_n^2 = g(M + m/2) / [l(M + m/3)]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947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Measure M, m, and l for the apparatus.</a:t>
            </a:r>
          </a:p>
          <a:p>
            <a:pPr>
              <a:spcAft>
                <a:spcPts val="11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sqrt(g/l) applies only when bar mass is negligible.</a:t>
            </a:r>
          </a:p>
          <a:p>
            <a:pPr>
              <a:spcAft>
                <a:spcPts val="11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Mass distribution changes inertia and gravity torque by different amounts.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13-15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Why large initial angle changes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At large angle, sin(theta) differs from theta.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Exact restoring torque is weaker than the linear model predicts at the same angle.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Finite-angle motion takes longer to complete a cycle.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Use the nonlinear equation from Pre-Lab 2 for all three releases.</a:t>
            </a:r>
          </a:p>
        </p:txBody>
      </p:sp>
      <p:pic>
        <p:nvPicPr>
          <p:cNvPr id="6" name="Picture 5" descr="lab2-pendulum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7548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15-17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Energy during a swing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087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81C1C"/>
                </a:solidFill>
                <a:latin typeface="Aptos"/>
              </a:defRPr>
            </a:pPr>
            <a:r>
              <a:t>E = 1/2 (M l^2 + m l^2/3) omega^2 + (M g l + m g l/2)(1 - cos(theta))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At release theta is largest and omega = 0.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Near the bottom theta = 0 and speed is largest.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Air drag and pivot friction cause measured amplitude and energy to decrease.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17-19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What the camera actually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Camera stores frames, not angle directly.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Every frame contains pivot and bob positions.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Useful record needs full motion in frame, sharp contrast, and visible bob center.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Frame rate becomes time spacing of measurement.</a:t>
            </a:r>
          </a:p>
        </p:txBody>
      </p:sp>
      <p:pic>
        <p:nvPicPr>
          <p:cNvPr id="6" name="Picture 5" descr="lab2-camera-main-scre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7548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19-21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Camera settings and useful video</a:t>
            </a:r>
          </a:p>
        </p:txBody>
      </p:sp>
      <p:pic>
        <p:nvPicPr>
          <p:cNvPr id="5" name="Picture 4" descr="lab2-camera-record-sett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4114800" cy="3063240"/>
          </a:xfrm>
          <a:prstGeom prst="rect">
            <a:avLst/>
          </a:prstGeom>
        </p:spPr>
      </p:pic>
      <p:pic>
        <p:nvPicPr>
          <p:cNvPr id="6" name="Picture 5" descr="lab2-camera-trigger-de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63040"/>
            <a:ext cx="411480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800600"/>
            <a:ext cx="10515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61616"/>
                </a:solidFill>
                <a:latin typeface="Aptos"/>
              </a:defRPr>
            </a:pPr>
            <a:r>
              <a:t>Record actual frame rate.</a:t>
            </a:r>
          </a:p>
          <a:p>
            <a:pPr>
              <a:spcAft>
                <a:spcPts val="1100"/>
              </a:spcAft>
              <a:defRPr sz="1700">
                <a:solidFill>
                  <a:srgbClr val="161616"/>
                </a:solidFill>
                <a:latin typeface="Aptos"/>
              </a:defRPr>
            </a:pPr>
            <a:r>
              <a:t>Use trigger delay that includes release and cycles.</a:t>
            </a:r>
          </a:p>
          <a:p>
            <a:pPr>
              <a:spcAft>
                <a:spcPts val="1100"/>
              </a:spcAft>
              <a:defRPr sz="1700">
                <a:solidFill>
                  <a:srgbClr val="161616"/>
                </a:solidFill>
                <a:latin typeface="Aptos"/>
              </a:defRPr>
            </a:pPr>
            <a:r>
              <a:t>Test framing before experiment.</a:t>
            </a:r>
          </a:p>
          <a:p>
            <a:pPr>
              <a:spcAft>
                <a:spcPts val="1100"/>
              </a:spcAft>
              <a:defRPr sz="1700">
                <a:solidFill>
                  <a:srgbClr val="161616"/>
                </a:solidFill>
                <a:latin typeface="Aptos"/>
              </a:defRPr>
            </a:pPr>
            <a:r>
              <a:t>Smooth video does not prove accurate tracking.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21-23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From pixels to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Calibration marks have known separation, normally 100 mm.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Calibration gives pixel-to-millimeter scale.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Do not move camera or change zoom after calibration.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App saves time and bob coordinates.</a:t>
            </a:r>
          </a:p>
        </p:txBody>
      </p:sp>
      <p:pic>
        <p:nvPicPr>
          <p:cNvPr id="6" name="Picture 5" descr="lab2-analyzer-calib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7548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23-25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From coordinates to a signed 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81C1C"/>
                </a:solidFill>
                <a:latin typeface="Aptos"/>
              </a:defRPr>
            </a:pPr>
            <a:r>
              <a:t>theta(t) = atan2( xb - xp,  yb - yp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For image coordinates, x points right and y points down.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The formula gives theta = 0 when the bob is directly below the pivot.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Verify zero and sign using one known frame before batch analysis.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Use radians for modeling and derivatives.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25-28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Tracking workflow in MATLAB</a:t>
            </a:r>
          </a:p>
        </p:txBody>
      </p:sp>
      <p:pic>
        <p:nvPicPr>
          <p:cNvPr id="5" name="Picture 4" descr="lab2-analyzer-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749039" cy="4389120"/>
          </a:xfrm>
          <a:prstGeom prst="rect">
            <a:avLst/>
          </a:prstGeom>
        </p:spPr>
      </p:pic>
      <p:pic>
        <p:nvPicPr>
          <p:cNvPr id="6" name="Picture 5" descr="lab2-analyzer-track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749039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60020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61616"/>
                </a:solidFill>
                <a:latin typeface="Aptos"/>
              </a:defRPr>
            </a:pPr>
            <a:r>
              <a:t>Select Single pendulum.</a:t>
            </a:r>
          </a:p>
          <a:p>
            <a:pPr>
              <a:spcAft>
                <a:spcPts val="1100"/>
              </a:spcAft>
              <a:defRPr sz="1800">
                <a:solidFill>
                  <a:srgbClr val="161616"/>
                </a:solidFill>
                <a:latin typeface="Aptos"/>
              </a:defRPr>
            </a:pPr>
            <a:r>
              <a:t>Enter actual camera frame rate.</a:t>
            </a:r>
          </a:p>
          <a:p>
            <a:pPr>
              <a:spcAft>
                <a:spcPts val="1100"/>
              </a:spcAft>
              <a:defRPr sz="1800">
                <a:solidFill>
                  <a:srgbClr val="161616"/>
                </a:solidFill>
                <a:latin typeface="Aptos"/>
              </a:defRPr>
            </a:pPr>
            <a:r>
              <a:t>Calibrate, select pivot and bob, then Quick Review.</a:t>
            </a:r>
          </a:p>
          <a:p>
            <a:pPr>
              <a:spcAft>
                <a:spcPts val="1100"/>
              </a:spcAft>
              <a:defRPr sz="1800">
                <a:solidFill>
                  <a:srgbClr val="161616"/>
                </a:solidFill>
                <a:latin typeface="Aptos"/>
              </a:defRPr>
            </a:pPr>
            <a:r>
              <a:t>Run Analyze All Frames only after marker follows bob.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28-30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Why frame rate belongs in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881C1C"/>
                </a:solidFill>
                <a:latin typeface="Aptos"/>
              </a:defRPr>
            </a:pPr>
            <a:r>
              <a:t>At 1000 frames/s: Nyquist frequency = 500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For l = 0.82 m, one cycle contains roughly 1800 frames.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The rate greatly exceeds the Nyquist minimum for the pendulum.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Wrong frame rate gives wrong time, frequency, and angular velocity.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30-32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Angular velocity and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81C1C"/>
                </a:solidFill>
                <a:latin typeface="Aptos"/>
              </a:defRPr>
            </a:pPr>
            <a:r>
              <a:t>omega(t) = d theta(t) / 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Differentiation magnifies frame-to-frame error.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Inspect theta(t) before interpreting omega(t).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State smoothing method and show it does not hide tracking problems.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Maximum speed occurs near the bottom.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32-34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Period from time history and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Time domain: measure several cycles between same-direction peaks.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Frequency domain: remove mean, compute FFT, identify dominant peak.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Bin spacing Delta f = 1/T_record.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Time-domain period and spectral frequency should agree within resolution.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116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881C1C"/>
                </a:solidFill>
                <a:latin typeface="Aptos"/>
              </a:defRPr>
            </a:pPr>
            <a:r>
              <a:t>f = number of cycles / elapsed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4747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61616"/>
                </a:solidFill>
                <a:latin typeface="Aptos"/>
              </a:defRPr>
            </a:pPr>
            <a:r>
              <a:t>Delta f = 1/T_record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34-36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Lab 2 trial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Trial A: theta0 below 10 degrees. Closest test of small-angle theory.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Trial B: theta0 from 10 to 90 degrees. Observe period change.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Trial C: theta0 from 90 to 180 degrees. Expect strong nonlinearity; keep bob in frame.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All releases start from rest. Record theta0 from protractor.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36-38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Data quality before accepting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Bob remains in frame.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Bob edge and center are visible without glare.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Pivot and calibration marks are visible.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Release begins from rest.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Quick Review follows bob for nearly all frames.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Notes include file name, angle, frame rate, and calibration distance.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38-41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Pre-Lab 2: what you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One Word or PDF before laboratory section.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Task 1: compare point-mass and compound-pendulum frequencies.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Task 2: predict behavior before running the supplied simulation.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Task 3: estimate periods and explain finite-angle behavior.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Tasks 4-6: explain coordinates, frame rate, and the laboratory plan.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41-44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Evidence for combined Lab 2 and 3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Schematic: pivot, l, M, m, theta, and positive direction.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Table: measured parameters and analytical, nonlinear, time-domain, and FFT frequencies.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Plots: theta(t), omega(t), and spectra with units.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Discussion: separate model limitations from measurement errors.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44-47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In-class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81C1C"/>
                </a:solidFill>
                <a:latin typeface="Aptos"/>
              </a:defRPr>
            </a:pPr>
            <a:r>
              <a:t>For the same apparatus, which release has the longest period?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88920"/>
            <a:ext cx="8138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61616"/>
                </a:solidFill>
                <a:latin typeface="Aptos"/>
              </a:defRPr>
            </a:pPr>
            <a:r>
              <a:t>A. 8 degrees</a:t>
            </a:r>
          </a:p>
          <a:p>
            <a:pPr>
              <a:spcAft>
                <a:spcPts val="1100"/>
              </a:spcAft>
              <a:defRPr sz="2400">
                <a:solidFill>
                  <a:srgbClr val="161616"/>
                </a:solidFill>
                <a:latin typeface="Aptos"/>
              </a:defRPr>
            </a:pPr>
            <a:r>
              <a:t>B. 35 degrees</a:t>
            </a:r>
          </a:p>
          <a:p>
            <a:pPr>
              <a:spcAft>
                <a:spcPts val="1100"/>
              </a:spcAft>
              <a:defRPr sz="2400">
                <a:solidFill>
                  <a:srgbClr val="161616"/>
                </a:solidFill>
                <a:latin typeface="Aptos"/>
              </a:defRPr>
            </a:pPr>
            <a:r>
              <a:t>C. 105 degrees</a:t>
            </a:r>
          </a:p>
          <a:p>
            <a:pPr>
              <a:spcAft>
                <a:spcPts val="1100"/>
              </a:spcAft>
              <a:defRPr sz="2400">
                <a:solidFill>
                  <a:srgbClr val="161616"/>
                </a:solidFill>
                <a:latin typeface="Aptos"/>
              </a:defRPr>
            </a:pPr>
            <a:r>
              <a:t>Explain using the exact sine restoring torque.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47-49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Before leaving laboratory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Save and back up every video and MAT output.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Verify tracking for every trial.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Record initial angle, frame rate, calibration distance, l, M, m, and file names.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Check one theta(t) plot and one spectrum with the GTA.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Aptos"/>
              </a:defRPr>
            </a:pPr>
            <a:r>
              <a:t>49-50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858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61616"/>
                </a:solidFill>
                <a:latin typeface="Aptos"/>
              </a:defRPr>
            </a:pPr>
            <a:r>
              <a:t>Key ideas for 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The real apparatus is a compound pendulum because the bar has mass.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Initial angle changes the nonlinear period.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Camera coordinates require calibration, a fixed pivot, and a verified sign convention.</a:t>
            </a:r>
          </a:p>
          <a:p>
            <a:pPr>
              <a:spcAft>
                <a:spcPts val="1100"/>
              </a:spcAft>
              <a:defRPr sz="2100">
                <a:solidFill>
                  <a:srgbClr val="161616"/>
                </a:solidFill>
                <a:latin typeface="Aptos"/>
              </a:defRPr>
            </a:pPr>
            <a:r>
              <a:t>Compare analytical theory, nonlinear simulation, time history, and spectrum.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