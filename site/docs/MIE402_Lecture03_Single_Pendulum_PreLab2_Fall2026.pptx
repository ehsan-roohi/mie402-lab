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0-2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2: measuring a single pendulum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881C1C"/>
                </a:solidFill>
                <a:latin typeface="Aptos"/>
              </a:defRPr>
            </a:pPr>
            <a:r>
              <a:t>From high-speed video to a defensible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61616"/>
                </a:solidFill>
                <a:latin typeface="Aptos"/>
              </a:defRPr>
            </a:pPr>
            <a:r>
              <a:t>Physical model, finite-angle behavior, camera measurement, tracking, and Pre-Lab 2.</a:t>
            </a:r>
          </a:p>
        </p:txBody>
      </p:sp>
      <p:pic>
        <p:nvPicPr>
          <p:cNvPr id="7" name="Picture 6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206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2-4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you will do in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pendulum from rest at three angle ranges.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motion with high-speed camera.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Track bob and convert x(t), y(t) into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period and frequency with model.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4-6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Physical system and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bob and attached hardware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uniform bar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l: pivot-to-bob-center distance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theta(t): angle from downward vertical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omega(t) = dtheta/dt; every release begins with omega(0) =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6-8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Ideal point-mass pendulum</a:t>
            </a:r>
          </a:p>
        </p:txBody>
      </p:sp>
      <p:pic>
        <p:nvPicPr>
          <p:cNvPr id="5" name="Picture 4" descr="point_torqu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6400800" cy="658368"/>
          </a:xfrm>
          <a:prstGeom prst="rect">
            <a:avLst/>
          </a:prstGeom>
        </p:spPr>
      </p:pic>
      <p:pic>
        <p:nvPicPr>
          <p:cNvPr id="6" name="Picture 5" descr="point_eom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395728"/>
            <a:ext cx="5029200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Gravity drives the bob toward theta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sine term makes exact motion nonlinear.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 cancels only because this ideal model treats the bar as massless.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8-11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The bar mass changes the model</a:t>
            </a:r>
          </a:p>
        </p:txBody>
      </p:sp>
      <p:pic>
        <p:nvPicPr>
          <p:cNvPr id="5" name="Picture 4" descr="lab2-compound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69080" y="14173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Moment of inertia about the pivot</a:t>
            </a:r>
          </a:p>
        </p:txBody>
      </p:sp>
      <p:pic>
        <p:nvPicPr>
          <p:cNvPr id="7" name="Picture 6" descr="inertia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38528"/>
            <a:ext cx="5029200" cy="62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69080" y="27889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Gravity torque</a:t>
            </a:r>
          </a:p>
        </p:txBody>
      </p:sp>
      <p:pic>
        <p:nvPicPr>
          <p:cNvPr id="9" name="Picture 8" descr="gravity_torque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3310128"/>
            <a:ext cx="585216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9080" y="4572000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61616"/>
                </a:solidFill>
                <a:latin typeface="Aptos"/>
              </a:defRPr>
            </a:pPr>
            <a:r>
              <a:t>The bob acts at l. The uniform bar acts through its center of mass at l/2.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11-13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Compound-pendulum equation</a:t>
            </a:r>
          </a:p>
        </p:txBody>
      </p:sp>
      <p:pic>
        <p:nvPicPr>
          <p:cNvPr id="5" name="Picture 4" descr="compound_eom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514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1C1C"/>
                </a:solidFill>
                <a:latin typeface="Aptos"/>
              </a:defRPr>
            </a:pPr>
            <a:r>
              <a:t>Small-angle approximation</a:t>
            </a:r>
          </a:p>
        </p:txBody>
      </p:sp>
      <p:pic>
        <p:nvPicPr>
          <p:cNvPr id="7" name="Picture 6" descr="small_angle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971800"/>
            <a:ext cx="7909560" cy="731520"/>
          </a:xfrm>
          <a:prstGeom prst="rect">
            <a:avLst/>
          </a:prstGeom>
        </p:spPr>
      </p:pic>
      <p:pic>
        <p:nvPicPr>
          <p:cNvPr id="8" name="Picture 7" descr="frequency_peri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3886200"/>
            <a:ext cx="438912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4709160"/>
            <a:ext cx="10058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Measure M, m, and l for the apparatus.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The point-mass formula applies only when bar mass is negligible.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Mass distribution changes inertia and gravity torque by different amounts.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13-15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large initial angle changes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large angle, sin(theta) differs from theta.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Exact restoring torque is weaker than the linear model predicts at the same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Finite-angle motion takes longer to complete a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nonlinear equation from Pre-Lab 2 for all three releases.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15-17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Energy during a swing</a:t>
            </a:r>
          </a:p>
        </p:txBody>
      </p:sp>
      <p:pic>
        <p:nvPicPr>
          <p:cNvPr id="5" name="Picture 4" descr="energy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971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release theta is largest and omega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Near the bottom theta = 0 and speed is largest.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Air drag and pivot friction cause measured amplitude and energy to decrease.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17-19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camera actually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is recorded: a video frame</a:t>
            </a:r>
          </a:p>
        </p:txBody>
      </p:sp>
      <p:pic>
        <p:nvPicPr>
          <p:cNvPr id="6" name="Picture 5" descr="lab2-camera-frame-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72768"/>
            <a:ext cx="4800600" cy="2999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4636008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The frame must show the fixed pivot and the bob center.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controls the recording</a:t>
            </a:r>
          </a:p>
        </p:txBody>
      </p:sp>
      <p:pic>
        <p:nvPicPr>
          <p:cNvPr id="9" name="Picture 8" descr="lab2-camera-main-scre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72768"/>
            <a:ext cx="4681728" cy="2999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636008"/>
            <a:ext cx="4681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Camera interface: frame rate, exposure, focus, and Record.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48072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The camera stores frames, not angle directly.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For every frame, the analyzer finds the pivot and bob-center positions.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Those two positions give theta(t); the chosen frame rate gives the time step between frames.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Keep full motion in frame and use sharp contrast so the center can be tracked.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19-21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Camera settings and useful video</a:t>
            </a:r>
          </a:p>
        </p:txBody>
      </p:sp>
      <p:pic>
        <p:nvPicPr>
          <p:cNvPr id="5" name="Picture 4" descr="lab2-camera-record-sett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4114800" cy="3063240"/>
          </a:xfrm>
          <a:prstGeom prst="rect">
            <a:avLst/>
          </a:prstGeom>
        </p:spPr>
      </p:pic>
      <p:pic>
        <p:nvPicPr>
          <p:cNvPr id="6" name="Picture 5" descr="lab2-camera-trigger-de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11480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709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Record the actual frame rate and resolution shown by the camera; do not copy a number from this example screen.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Frame rate f_s sets the time spacing: Delta t = 1/f_s. Exposure/shutter controls blur. Playback rate only changes viewing speed.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Use trigger delay that includes release and several complete cycles.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Test framing before experiment. Smooth video does not prove accurate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21-23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pixels to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marks have known separation, normally 100 mm.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gives pixel-to-millimeter scale.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Do not move camera or change zoom after calibration.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App saves time and bob coordinates.</a:t>
            </a:r>
          </a:p>
        </p:txBody>
      </p:sp>
      <p:pic>
        <p:nvPicPr>
          <p:cNvPr id="6" name="Picture 5" descr="lab2-analyzer-cali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23-25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coordinates to a signed angle</a:t>
            </a:r>
          </a:p>
        </p:txBody>
      </p:sp>
      <p:pic>
        <p:nvPicPr>
          <p:cNvPr id="5" name="Picture 4" descr="angl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481328"/>
            <a:ext cx="658368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803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image coordinates, x points right and y points down.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formula gives theta = 0 when the bob is directly below the pivot.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zero and sign using one known frame before batch analysis.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radians for modeling and derivatives.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25-28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Tracking workflow in MATLAB</a:t>
            </a:r>
          </a:p>
        </p:txBody>
      </p:sp>
      <p:pic>
        <p:nvPicPr>
          <p:cNvPr id="5" name="Picture 4" descr="lab2-analyzer-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749039" cy="4389120"/>
          </a:xfrm>
          <a:prstGeom prst="rect">
            <a:avLst/>
          </a:prstGeom>
        </p:spPr>
      </p:pic>
      <p:pic>
        <p:nvPicPr>
          <p:cNvPr id="6" name="Picture 5" descr="lab2-analyzer-trac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749039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0020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Select Single pendulum.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Enter actual camera frame rate.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Calibrate, select pivot and bob, then Quick Review.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Run Analyze All Frames only after marker follows bob.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28-30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frame rate belongs in report</a:t>
            </a:r>
          </a:p>
        </p:txBody>
      </p:sp>
      <p:pic>
        <p:nvPicPr>
          <p:cNvPr id="5" name="Picture 4" descr="nyquis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481328"/>
            <a:ext cx="7498079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8892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this slow pendulum, the assigned high-speed rate provides many frames per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actual value of f_s becomes the time axis of the data: Delta t = 1/f_s.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Wrong f_s rescales time, frequency, and angular velocity. Record the value shown by the camera.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30-32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Angular velocity and noise</a:t>
            </a:r>
          </a:p>
        </p:txBody>
      </p:sp>
      <p:pic>
        <p:nvPicPr>
          <p:cNvPr id="5" name="Picture 4" descr="omega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81328"/>
            <a:ext cx="585216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346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Differentiation magnifies frame-to-frame error.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Inspect theta(t) before interpreting omega(t).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State smoothing method and show it does not hide tracking problems.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Maximum speed occurs near the bottom.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32-34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Period from time history and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Time domain: measure several cycles between same-direction peaks.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Frequency domain: remove mean, compute FFT, identify dominant peak.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Report record duration Tᵣ and frequency-bin spacing.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Time-domain period and spectral frequency should agree within resolution.</a:t>
            </a:r>
          </a:p>
        </p:txBody>
      </p:sp>
      <p:pic>
        <p:nvPicPr>
          <p:cNvPr id="6" name="Picture 5" descr="period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297680" cy="685800"/>
          </a:xfrm>
          <a:prstGeom prst="rect">
            <a:avLst/>
          </a:prstGeom>
        </p:spPr>
      </p:pic>
      <p:pic>
        <p:nvPicPr>
          <p:cNvPr id="7" name="Picture 6" descr="resolution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337560"/>
            <a:ext cx="420624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34-36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 trial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A: theta0 below 10 degrees. Closest test of small-angle theory.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B: theta0 from 10 to 90 degrees. Observe period change.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C: theta0 above 90 degrees only when approved by the GTA and the full swing stays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All releases start from rest. Record theta0 from protractor; do not push the bob.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36-38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Data quality before accepting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remains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edge and center are visible without glare.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and calibration marks are visible.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begins from rest.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Quick Review follows bob for nearly all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Notes include file name, angle, frame rate, and calibration distance.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38-41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Pre-Lab 2: what you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One Word or PDF before laboratory section.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supplied notebook: run the provided cells, keep requested figures, and write your own answers. No programming is assigned.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1: compare point-mass and compound-pendulum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2: predict behavior before running the supplied simulation.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Tasks 3-6: explain finite-angle behavior, coordinates, frame rate, and the laboratory plan.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41-44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Evidence for combined Lab 2 and 3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Schematic: pivot, l, M, m, theta, and positive direction.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Table: measured parameters and analytical, nonlinear, time-domain, and FFT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Plots: theta(t), omega(t), and spectra with units.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Discussion: separate model limitations from measurement errors.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44-47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In-class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1C1C"/>
                </a:solidFill>
                <a:latin typeface="Aptos"/>
              </a:defRPr>
            </a:pPr>
            <a:r>
              <a:t>For the same apparatus, which release has the longest period?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88920"/>
            <a:ext cx="8138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A. 8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B. 35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C. 105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Explain using the exact sine restoring torque.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47-49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Before leaving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Save and back up every video and MAT output.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tracking for every trial.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initial angle, frame rate, calibration distance, l, M, m, and file names.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Check one theta(t) plot and one spectrum with the GTA.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t>49-50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Key ideas for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real apparatus is a compound pendulum because the bar has mass.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Initial angle changes the nonlinear period.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coordinates require calibration, a fixed pivot, and a verified sign convention.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analytical theory, nonlinear simulation, time history, and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