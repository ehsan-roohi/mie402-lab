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0-2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Lab 2: measuring a single pendulum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881C1C"/>
                </a:solidFill>
                <a:latin typeface="Aptos"/>
              </a:defRPr>
            </a:pPr>
            <a:r>
              <a:t>From high-speed video to a defensible model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9718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161616"/>
                </a:solidFill>
                <a:latin typeface="Aptos"/>
              </a:defRPr>
            </a:pPr>
            <a:r>
              <a:t>Physical model, finite-angle behavior, camera measurement, tracking, and Pre-Lab 2.</a:t>
            </a:r>
          </a:p>
        </p:txBody>
      </p:sp>
      <p:pic>
        <p:nvPicPr>
          <p:cNvPr id="7" name="Picture 6" descr="lab2-pendulum-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417320"/>
            <a:ext cx="420624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2-4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What you will do in Lab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Release pendulum from rest at three angle ranges.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Record motion with high-speed camera.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Track bob and convert x(t), y(t) into theta(t).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Compare period and frequency with model.</a:t>
            </a:r>
          </a:p>
        </p:txBody>
      </p:sp>
      <p:pic>
        <p:nvPicPr>
          <p:cNvPr id="6" name="Picture 5" descr="lab2-pendulum-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475488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4-6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Physical system and coordinate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M: bob and attached hardware mass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m: uniform bar mass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l: pivot-to-bob-center distance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theta(t): angle from downward vertical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omega(t) = dtheta/dt; every release begins with omega(0) = 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6-8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Ideal point-mass pendulum</a:t>
            </a:r>
          </a:p>
        </p:txBody>
      </p:sp>
      <p:pic>
        <p:nvPicPr>
          <p:cNvPr id="5" name="Picture 4" descr="point_torque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1481328"/>
            <a:ext cx="6400800" cy="658368"/>
          </a:xfrm>
          <a:prstGeom prst="rect">
            <a:avLst/>
          </a:prstGeom>
        </p:spPr>
      </p:pic>
      <p:pic>
        <p:nvPicPr>
          <p:cNvPr id="6" name="Picture 5" descr="point_eom-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2395728"/>
            <a:ext cx="5029200" cy="713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749039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Gravity drives the bob toward theta = 0.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The sine term makes exact motion nonlinear.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M cancels only because this ideal model treats the bar as massless.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8-11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The bar mass changes the model</a:t>
            </a:r>
          </a:p>
        </p:txBody>
      </p:sp>
      <p:pic>
        <p:nvPicPr>
          <p:cNvPr id="5" name="Picture 4" descr="lab2-compound-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310896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069080" y="1417320"/>
            <a:ext cx="7406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81C1C"/>
                </a:solidFill>
                <a:latin typeface="Aptos"/>
              </a:defRPr>
            </a:pPr>
            <a:r>
              <a:t>Moment of inertia about the pivot</a:t>
            </a:r>
          </a:p>
        </p:txBody>
      </p:sp>
      <p:pic>
        <p:nvPicPr>
          <p:cNvPr id="7" name="Picture 6" descr="inertia-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938528"/>
            <a:ext cx="5029200" cy="6217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069080" y="2788920"/>
            <a:ext cx="7406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81C1C"/>
                </a:solidFill>
                <a:latin typeface="Aptos"/>
              </a:defRPr>
            </a:pPr>
            <a:r>
              <a:t>Gravity torque</a:t>
            </a:r>
          </a:p>
        </p:txBody>
      </p:sp>
      <p:pic>
        <p:nvPicPr>
          <p:cNvPr id="9" name="Picture 8" descr="gravity_torque-bl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5968" y="3310128"/>
            <a:ext cx="5852160" cy="731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69080" y="4572000"/>
            <a:ext cx="7406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61616"/>
                </a:solidFill>
                <a:latin typeface="Aptos"/>
              </a:defRPr>
            </a:pPr>
            <a:r>
              <a:t>The bob acts at l. The uniform bar acts through its center of mass at l/2.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11-13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Compound-pendulum equation</a:t>
            </a:r>
          </a:p>
        </p:txBody>
      </p:sp>
      <p:pic>
        <p:nvPicPr>
          <p:cNvPr id="5" name="Picture 4" descr="compound_eom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481328"/>
            <a:ext cx="1014984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2514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881C1C"/>
                </a:solidFill>
                <a:latin typeface="Aptos"/>
              </a:defRPr>
            </a:pPr>
            <a:r>
              <a:t>Small-angle approximation</a:t>
            </a:r>
          </a:p>
        </p:txBody>
      </p:sp>
      <p:pic>
        <p:nvPicPr>
          <p:cNvPr id="7" name="Picture 6" descr="small_angle-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2971800"/>
            <a:ext cx="7909560" cy="731520"/>
          </a:xfrm>
          <a:prstGeom prst="rect">
            <a:avLst/>
          </a:prstGeom>
        </p:spPr>
      </p:pic>
      <p:pic>
        <p:nvPicPr>
          <p:cNvPr id="8" name="Picture 7" descr="frequency_period-bl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3886200"/>
            <a:ext cx="4389120" cy="640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4709160"/>
            <a:ext cx="10058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Measure M, m, and l for the apparatus.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The point-mass formula applies only when bar mass is negligible.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Mass distribution changes inertia and gravity torque by different amounts.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13-15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Why large initial angle changes period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At large angle, sin(theta) differs from theta.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Exact restoring torque is weaker than the linear model predicts at the same angle.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Finite-angle motion takes longer to complete a cycle.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Use the nonlinear equation from Pre-Lab 2 for all three releases.</a:t>
            </a:r>
          </a:p>
        </p:txBody>
      </p:sp>
      <p:pic>
        <p:nvPicPr>
          <p:cNvPr id="6" name="Picture 5" descr="lab2-pendulum-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475488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15-17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Energy during a swing</a:t>
            </a:r>
          </a:p>
        </p:txBody>
      </p:sp>
      <p:pic>
        <p:nvPicPr>
          <p:cNvPr id="5" name="Picture 4" descr="energy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481328"/>
            <a:ext cx="1014984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2971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At release theta is largest and omega = 0.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Near the bottom theta = 0 and speed is largest.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Air drag and pivot friction cause measured amplitude and energy to decrease.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17-19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What the camera actually measures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618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881C1C"/>
                </a:solidFill>
                <a:latin typeface="Aptos"/>
              </a:defRPr>
            </a:pPr>
            <a:r>
              <a:t>What is recorded: a video frame</a:t>
            </a:r>
          </a:p>
        </p:txBody>
      </p:sp>
      <p:pic>
        <p:nvPicPr>
          <p:cNvPr id="6" name="Picture 5" descr="lab2-camera-frame-annot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572768"/>
            <a:ext cx="4800600" cy="2999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4636008"/>
            <a:ext cx="4800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666666"/>
                </a:solidFill>
                <a:latin typeface="Aptos"/>
              </a:defRPr>
            </a:pPr>
            <a:r>
              <a:t>The frame must show the fixed pivot and the bob center.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53912" y="12618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881C1C"/>
                </a:solidFill>
                <a:latin typeface="Aptos"/>
              </a:defRPr>
            </a:pPr>
            <a:r>
              <a:t>What controls the recording</a:t>
            </a:r>
          </a:p>
        </p:txBody>
      </p:sp>
      <p:pic>
        <p:nvPicPr>
          <p:cNvPr id="9" name="Picture 8" descr="lab2-camera-main-scre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572768"/>
            <a:ext cx="4681728" cy="2999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636008"/>
            <a:ext cx="46817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666666"/>
                </a:solidFill>
                <a:latin typeface="Aptos"/>
              </a:defRPr>
            </a:pPr>
            <a:r>
              <a:t>Camera interface: frame rate, exposure, focus, and Record.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48072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600">
                <a:solidFill>
                  <a:srgbClr val="161616"/>
                </a:solidFill>
                <a:latin typeface="Aptos"/>
              </a:defRPr>
            </a:pPr>
            <a:r>
              <a:t>The camera stores frames, not angle directly.</a:t>
            </a:r>
          </a:p>
          <a:p>
            <a:pPr>
              <a:spcAft>
                <a:spcPts val="1100"/>
              </a:spcAft>
              <a:defRPr sz="1600">
                <a:solidFill>
                  <a:srgbClr val="161616"/>
                </a:solidFill>
                <a:latin typeface="Aptos"/>
              </a:defRPr>
            </a:pPr>
            <a:r>
              <a:t>For every frame, the analyzer finds the pivot and bob-center positions.</a:t>
            </a:r>
          </a:p>
          <a:p>
            <a:pPr>
              <a:spcAft>
                <a:spcPts val="1100"/>
              </a:spcAft>
              <a:defRPr sz="1600">
                <a:solidFill>
                  <a:srgbClr val="161616"/>
                </a:solidFill>
                <a:latin typeface="Aptos"/>
              </a:defRPr>
            </a:pPr>
            <a:r>
              <a:t>Those two positions give theta(t); the chosen frame rate gives the time step between frames.</a:t>
            </a:r>
          </a:p>
          <a:p>
            <a:pPr>
              <a:spcAft>
                <a:spcPts val="1100"/>
              </a:spcAft>
              <a:defRPr sz="1600">
                <a:solidFill>
                  <a:srgbClr val="161616"/>
                </a:solidFill>
                <a:latin typeface="Aptos"/>
              </a:defRPr>
            </a:pPr>
            <a:r>
              <a:t>Keep full motion in frame and use sharp contrast so the center can be tracked.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19-21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Camera settings and useful video</a:t>
            </a:r>
          </a:p>
        </p:txBody>
      </p:sp>
      <p:pic>
        <p:nvPicPr>
          <p:cNvPr id="5" name="Picture 4" descr="lab2-camera-record-settin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63040"/>
            <a:ext cx="4114800" cy="3063240"/>
          </a:xfrm>
          <a:prstGeom prst="rect">
            <a:avLst/>
          </a:prstGeom>
        </p:spPr>
      </p:pic>
      <p:pic>
        <p:nvPicPr>
          <p:cNvPr id="6" name="Picture 5" descr="lab2-camera-trigger-del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463040"/>
            <a:ext cx="4114800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470916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161616"/>
                </a:solidFill>
                <a:latin typeface="Aptos"/>
              </a:defRPr>
            </a:pPr>
            <a:r>
              <a:t>Record the actual frame rate and resolution shown by the camera; do not copy a number from this example screen.</a:t>
            </a:r>
          </a:p>
          <a:p>
            <a:pPr>
              <a:spcAft>
                <a:spcPts val="1100"/>
              </a:spcAft>
              <a:defRPr sz="1500">
                <a:solidFill>
                  <a:srgbClr val="161616"/>
                </a:solidFill>
                <a:latin typeface="Aptos"/>
              </a:defRPr>
            </a:pPr>
            <a:r>
              <a:t>Frame rate f_s sets the time spacing: Delta t = 1/f_s. Exposure/shutter controls blur. Playback rate only changes viewing speed.</a:t>
            </a:r>
          </a:p>
          <a:p>
            <a:pPr>
              <a:spcAft>
                <a:spcPts val="1100"/>
              </a:spcAft>
              <a:defRPr sz="1500">
                <a:solidFill>
                  <a:srgbClr val="161616"/>
                </a:solidFill>
                <a:latin typeface="Aptos"/>
              </a:defRPr>
            </a:pPr>
            <a:r>
              <a:t>Use trigger delay that includes release and several complete cycles.</a:t>
            </a:r>
          </a:p>
          <a:p>
            <a:pPr>
              <a:spcAft>
                <a:spcPts val="1100"/>
              </a:spcAft>
              <a:defRPr sz="1500">
                <a:solidFill>
                  <a:srgbClr val="161616"/>
                </a:solidFill>
                <a:latin typeface="Aptos"/>
              </a:defRPr>
            </a:pPr>
            <a:r>
              <a:t>Test framing before experiment. Smooth video does not prove accurate tracking.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21-23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From pixels to coordinates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Calibration marks have known separation, normally 100 mm.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Calibration gives pixel-to-millimeter scale.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Do not move camera or change zoom after calibration.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App saves time and bob coordinates.</a:t>
            </a:r>
          </a:p>
        </p:txBody>
      </p:sp>
      <p:pic>
        <p:nvPicPr>
          <p:cNvPr id="6" name="Picture 5" descr="lab2-analyzer-calibr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475488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23-25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From coordinates to a signed angle</a:t>
            </a:r>
          </a:p>
        </p:txBody>
      </p:sp>
      <p:pic>
        <p:nvPicPr>
          <p:cNvPr id="5" name="Picture 4" descr="angle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1481328"/>
            <a:ext cx="658368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288036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For image coordinates, x points right and y points down.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The formula gives theta = 0 when the bob is directly below the pivot.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Verify zero and sign using one known frame before batch analysis.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Use radians for modeling and derivatives.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25-28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Tracking workflow in MATLAB</a:t>
            </a:r>
          </a:p>
        </p:txBody>
      </p:sp>
      <p:pic>
        <p:nvPicPr>
          <p:cNvPr id="5" name="Picture 4" descr="lab2-analyzer-lo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749039" cy="4389120"/>
          </a:xfrm>
          <a:prstGeom prst="rect">
            <a:avLst/>
          </a:prstGeom>
        </p:spPr>
      </p:pic>
      <p:pic>
        <p:nvPicPr>
          <p:cNvPr id="6" name="Picture 5" descr="lab2-analyzer-track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371600"/>
            <a:ext cx="3749039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66760" y="1600200"/>
            <a:ext cx="3383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Select Single pendulum.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Enter actual camera frame rate.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Calibrate, select pivot and bob, then Quick Review.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Run Analyze All Frames only after marker follows bob.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28-30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Why frame rate belongs in report</a:t>
            </a:r>
          </a:p>
        </p:txBody>
      </p:sp>
      <p:pic>
        <p:nvPicPr>
          <p:cNvPr id="5" name="Picture 4" descr="nyquist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1481328"/>
            <a:ext cx="7498079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2788920"/>
            <a:ext cx="10058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For this slow pendulum, the assigned high-speed rate provides many frames per cycle.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The actual value of f_s becomes the time axis of the data: Delta t = 1/f_s.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Wrong f_s rescales time, frequency, and angular velocity. Record the value shown by the camera.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30-32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Angular velocity and noise</a:t>
            </a:r>
          </a:p>
        </p:txBody>
      </p:sp>
      <p:pic>
        <p:nvPicPr>
          <p:cNvPr id="5" name="Picture 4" descr="omega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481328"/>
            <a:ext cx="5852160" cy="749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283464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Differentiation magnifies frame-to-frame error.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Inspect theta(t) before interpreting omega(t).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State smoothing method and show it does not hide tracking problems.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Maximum speed occurs near the bottom.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32-33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Period from time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Measure several cycles between same-direction peaks in theta(t).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Use T = (tₖ₊ₙ − tₖ)/N, then f = 1/T.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This is the direct physical measurement: “how long does one swing take?”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Use the FFT as an independent frequency-based check.</a:t>
            </a:r>
          </a:p>
        </p:txBody>
      </p:sp>
      <p:pic>
        <p:nvPicPr>
          <p:cNvPr id="6" name="Picture 5" descr="period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828800"/>
            <a:ext cx="429768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33-35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What the FFT means physically</a:t>
            </a:r>
          </a:p>
        </p:txBody>
      </p:sp>
      <p:pic>
        <p:nvPicPr>
          <p:cNvPr id="5" name="Picture 4" descr="fft_phys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1120140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806440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161616"/>
                </a:solidFill>
                <a:latin typeface="Aptos"/>
              </a:defRPr>
            </a:pPr>
            <a:r>
              <a:t>The FFT asks: how strongly does the measured theta(t) contain a sinusoid at each candidate frequency?</a:t>
            </a:r>
          </a:p>
          <a:p>
            <a:pPr>
              <a:spcAft>
                <a:spcPts val="1100"/>
              </a:spcAft>
              <a:defRPr sz="1500">
                <a:solidFill>
                  <a:srgbClr val="161616"/>
                </a:solidFill>
                <a:latin typeface="Aptos"/>
              </a:defRPr>
            </a:pPr>
            <a:r>
              <a:t>A tall peak near the pendulum frequency means that oscillation is the dominant repeating motion.</a:t>
            </a:r>
          </a:p>
          <a:p>
            <a:pPr>
              <a:spcAft>
                <a:spcPts val="1100"/>
              </a:spcAft>
              <a:defRPr sz="1500">
                <a:solidFill>
                  <a:srgbClr val="161616"/>
                </a:solidFill>
                <a:latin typeface="Aptos"/>
              </a:defRPr>
            </a:pPr>
            <a:r>
              <a:t>The FFT does not create a new physical tone; it reorganizes the same recorded motion by frequency.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35-37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FFT algorithm: same DFT, fewer repeated calculations</a:t>
            </a:r>
          </a:p>
        </p:txBody>
      </p:sp>
      <p:pic>
        <p:nvPicPr>
          <p:cNvPr id="5" name="Picture 4" descr="fft_dft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928" y="1234440"/>
            <a:ext cx="6492240" cy="640080"/>
          </a:xfrm>
          <a:prstGeom prst="rect">
            <a:avLst/>
          </a:prstGeom>
        </p:spPr>
      </p:pic>
      <p:pic>
        <p:nvPicPr>
          <p:cNvPr id="6" name="Picture 5" descr="fft_algorith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874519"/>
            <a:ext cx="11201400" cy="3429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22392"/>
            <a:ext cx="10698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400">
                <a:solidFill>
                  <a:srgbClr val="161616"/>
                </a:solidFill>
                <a:latin typeface="Aptos"/>
              </a:defRPr>
            </a:pPr>
            <a:r>
              <a:t>The DFT compares the record with complex sinusoids. The FFT is an efficient algorithm for computing that same DFT.</a:t>
            </a:r>
          </a:p>
          <a:p>
            <a:pPr>
              <a:spcAft>
                <a:spcPts val="1100"/>
              </a:spcAft>
              <a:defRPr sz="1400">
                <a:solidFill>
                  <a:srgbClr val="161616"/>
                </a:solidFill>
                <a:latin typeface="Aptos"/>
              </a:defRPr>
            </a:pPr>
            <a:r>
              <a:t>It splits the samples into even and odd groups, solves smaller transforms, then combines them.</a:t>
            </a:r>
          </a:p>
          <a:p>
            <a:pPr>
              <a:spcAft>
                <a:spcPts val="1100"/>
              </a:spcAft>
              <a:defRPr sz="1400">
                <a:solidFill>
                  <a:srgbClr val="161616"/>
                </a:solidFill>
                <a:latin typeface="Aptos"/>
              </a:defRPr>
            </a:pPr>
            <a:r>
              <a:t>For Lab 2, MATLAB performs this calculation. You must understand the input, the frequency axis, and the physical meaning of the peak.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37-39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Using FFT results in Lab 2</a:t>
            </a:r>
          </a:p>
        </p:txBody>
      </p:sp>
      <p:pic>
        <p:nvPicPr>
          <p:cNvPr id="5" name="Picture 4" descr="fft_bins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417320"/>
            <a:ext cx="5029200" cy="658368"/>
          </a:xfrm>
          <a:prstGeom prst="rect">
            <a:avLst/>
          </a:prstGeom>
        </p:spPr>
      </p:pic>
      <p:pic>
        <p:nvPicPr>
          <p:cNvPr id="6" name="Picture 5" descr="resolution-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2331720"/>
            <a:ext cx="365760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33756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Start with the usable theta(t) segment. Remove its mean before the FFT.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Nₛ samples at frame rate fₛ give record duration Tᵣ = Nₛ/fₛ and bin spacing Delta f = 1/Tᵣ.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Read f_peak from the largest physically meaningful peak, then use T_FFT = 1/f_peak.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A longer usable record narrows the bins. Zero-padding can make a smoother plot but does not improve the true resolution.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39-41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Lab 2 trial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Trial A: theta0 below 10 degrees. Closest test of small-angle theory.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Trial B: theta0 from 10 to 90 degrees. Observe period change.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Trial C: theta0 above 90 degrees only when approved by the GTA and the full swing stays in frame.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All releases start from rest. Record theta0 from protractor; do not push the bob.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41-43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Data quality before accepting 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Bob remains in frame.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Bob edge and center are visible without glare.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Pivot and calibration marks are visible.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Release begins from rest.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Quick Review follows bob for nearly all frames.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Notes include file name, angle, frame rate, and calibration distance.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43-45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Pre-Lab 2: what you submit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One Word or PDF before laboratory section.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Use the supplied notebook: run the provided cells, keep requested figures, and write your own answers. No programming is assigned.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Task 1: compare point-mass and compound-pendulum frequencies.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Task 2: predict behavior before running the supplied simulation.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Tasks 3-6: explain finite-angle behavior, coordinates, frame rate, and the laboratory plan.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45-47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Evidence for combined Lab 2 and 3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Schematic: pivot, l, M, m, theta, and positive direction.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Table: measured parameters and analytical, nonlinear, time-domain, and FFT frequencies.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Plots: theta(t), omega(t), and spectra with units.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Discussion: separate model limitations from measurement errors.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47-49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In-class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881C1C"/>
                </a:solidFill>
                <a:latin typeface="Aptos"/>
              </a:defRPr>
            </a:pPr>
            <a:r>
              <a:t>For the same apparatus, which release has the longest period?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788920"/>
            <a:ext cx="81381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400">
                <a:solidFill>
                  <a:srgbClr val="161616"/>
                </a:solidFill>
                <a:latin typeface="Aptos"/>
              </a:defRPr>
            </a:pPr>
            <a:r>
              <a:t>A. 8 degrees</a:t>
            </a:r>
          </a:p>
          <a:p>
            <a:pPr>
              <a:spcAft>
                <a:spcPts val="1100"/>
              </a:spcAft>
              <a:defRPr sz="2400">
                <a:solidFill>
                  <a:srgbClr val="161616"/>
                </a:solidFill>
                <a:latin typeface="Aptos"/>
              </a:defRPr>
            </a:pPr>
            <a:r>
              <a:t>B. 35 degrees</a:t>
            </a:r>
          </a:p>
          <a:p>
            <a:pPr>
              <a:spcAft>
                <a:spcPts val="1100"/>
              </a:spcAft>
              <a:defRPr sz="2400">
                <a:solidFill>
                  <a:srgbClr val="161616"/>
                </a:solidFill>
                <a:latin typeface="Aptos"/>
              </a:defRPr>
            </a:pPr>
            <a:r>
              <a:t>C. 105 degrees</a:t>
            </a:r>
          </a:p>
          <a:p>
            <a:pPr>
              <a:spcAft>
                <a:spcPts val="1100"/>
              </a:spcAft>
              <a:defRPr sz="2400">
                <a:solidFill>
                  <a:srgbClr val="161616"/>
                </a:solidFill>
                <a:latin typeface="Aptos"/>
              </a:defRPr>
            </a:pPr>
            <a:r>
              <a:t>Explain using the exact sine restoring torque.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49-50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Before leaving laboratory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Save and back up every video and MAT output.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Verify tracking for every trial.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Record initial angle, frame rate, calibration distance, l, M, m, and file names.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Check one theta(t) plot and one spectrum with the GTA.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49-50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Key ideas for Lab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The real apparatus is a compound pendulum because the bar has mass.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Initial angle changes the nonlinear period.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Camera coordinates require calibration, a fixed pivot, and a verified sign convention.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Compare analytical theory, nonlinear simulation, time history, and spectrum.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