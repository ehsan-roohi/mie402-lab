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5b431799d7471d" /><Relationship Type="http://schemas.openxmlformats.org/officeDocument/2006/relationships/extended-properties" Target="/docProps/app.xml" Id="R0bae01ae7b4e4f47" /><Relationship Type="http://schemas.openxmlformats.org/officeDocument/2006/relationships/officeDocument" Target="/ppt/presentation.xml" Id="R9660e6a1783240c5" /></Relationships>
</file>

<file path=ppt/presentation.xml><?xml version="1.0" encoding="utf-8"?>
<p:presentation xmlns:p="http://schemas.openxmlformats.org/presentationml/2006/main">
  <p:sldMasterIdLst>
    <p:sldMasterId xmlns:r="http://schemas.openxmlformats.org/officeDocument/2006/relationships" id="2147483648" r:id="R705d1e78f7c54323"/>
  </p:sldMasterIdLst>
  <p:notesMasterIdLst>
    <p:notesMasterId xmlns:r="http://schemas.openxmlformats.org/officeDocument/2006/relationships" r:id="Re80ee75307c04353"/>
  </p:notesMasterIdLst>
  <p:sldIdLst>
    <p:sldId xmlns:r="http://schemas.openxmlformats.org/officeDocument/2006/relationships" id="256" r:id="R459b9d9510b54ce7"/>
    <p:sldId xmlns:r="http://schemas.openxmlformats.org/officeDocument/2006/relationships" id="257" r:id="R19e0787bf168422f"/>
    <p:sldId xmlns:r="http://schemas.openxmlformats.org/officeDocument/2006/relationships" id="258" r:id="Re5a7a4d2a64d4625"/>
    <p:sldId xmlns:r="http://schemas.openxmlformats.org/officeDocument/2006/relationships" id="259" r:id="R11deb5d7fdb54284"/>
    <p:sldId xmlns:r="http://schemas.openxmlformats.org/officeDocument/2006/relationships" id="260" r:id="R578b181e5bc54aae"/>
    <p:sldId xmlns:r="http://schemas.openxmlformats.org/officeDocument/2006/relationships" id="261" r:id="Rd3bf704b48864ca5"/>
    <p:sldId xmlns:r="http://schemas.openxmlformats.org/officeDocument/2006/relationships" id="262" r:id="Re8661538eb3a40c8"/>
    <p:sldId xmlns:r="http://schemas.openxmlformats.org/officeDocument/2006/relationships" id="263" r:id="Re71f00c7d19a49a7"/>
    <p:sldId xmlns:r="http://schemas.openxmlformats.org/officeDocument/2006/relationships" id="264" r:id="R2c84f487cae64f1b"/>
    <p:sldId xmlns:r="http://schemas.openxmlformats.org/officeDocument/2006/relationships" id="265" r:id="R8cbd32886f254e4b"/>
    <p:sldId xmlns:r="http://schemas.openxmlformats.org/officeDocument/2006/relationships" id="266" r:id="Rbdeea36648554619"/>
    <p:sldId xmlns:r="http://schemas.openxmlformats.org/officeDocument/2006/relationships" id="267" r:id="R9840732acfca4068"/>
    <p:sldId xmlns:r="http://schemas.openxmlformats.org/officeDocument/2006/relationships" id="268" r:id="R11db3aba3ab14acc"/>
    <p:sldId xmlns:r="http://schemas.openxmlformats.org/officeDocument/2006/relationships" id="269" r:id="R250f72380aaa4471"/>
    <p:sldId xmlns:r="http://schemas.openxmlformats.org/officeDocument/2006/relationships" id="270" r:id="R32f69cad735b41f3"/>
    <p:sldId xmlns:r="http://schemas.openxmlformats.org/officeDocument/2006/relationships" id="271" r:id="R74147a3b5d744b4a"/>
    <p:sldId xmlns:r="http://schemas.openxmlformats.org/officeDocument/2006/relationships" id="272" r:id="Rbeee116eb043464c"/>
    <p:sldId xmlns:r="http://schemas.openxmlformats.org/officeDocument/2006/relationships" id="273" r:id="Rd1eab79a2d984cc5"/>
    <p:sldId xmlns:r="http://schemas.openxmlformats.org/officeDocument/2006/relationships" id="274" r:id="R569f9b730bec4178"/>
    <p:sldId xmlns:r="http://schemas.openxmlformats.org/officeDocument/2006/relationships" id="275" r:id="Rc520d36a20a4435a"/>
    <p:sldId xmlns:r="http://schemas.openxmlformats.org/officeDocument/2006/relationships" id="276" r:id="Ree8ca7cdf8524821"/>
    <p:sldId xmlns:r="http://schemas.openxmlformats.org/officeDocument/2006/relationships" id="277" r:id="Re6352200d902410a"/>
    <p:sldId xmlns:r="http://schemas.openxmlformats.org/officeDocument/2006/relationships" id="278" r:id="Rb21ae92e512947f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1ecde0792b94bb1" /><Relationship Type="http://schemas.openxmlformats.org/officeDocument/2006/relationships/slideMaster" Target="/ppt/slideMasters/slideMaster1.xml" Id="R705d1e78f7c54323" /><Relationship Type="http://schemas.openxmlformats.org/officeDocument/2006/relationships/notesMaster" Target="/ppt/notesMasters/notesMaster1.xml" Id="Re80ee75307c04353" /><Relationship Type="http://schemas.openxmlformats.org/officeDocument/2006/relationships/presProps" Target="/ppt/presProps.xml" Id="R68d4907dd5604e96" /><Relationship Type="http://schemas.openxmlformats.org/officeDocument/2006/relationships/viewProps" Target="/ppt/viewProps.xml" Id="R2abe56ae5eeb4a07" /><Relationship Type="http://schemas.openxmlformats.org/officeDocument/2006/relationships/tableStyles" Target="/ppt/tableStyles.xml" Id="R131da331d0614aa9" /><Relationship Type="http://schemas.openxmlformats.org/officeDocument/2006/relationships/slide" Target="/ppt/slides/slide1.xml" Id="R459b9d9510b54ce7" /><Relationship Type="http://schemas.openxmlformats.org/officeDocument/2006/relationships/slide" Target="/ppt/slides/slide2.xml" Id="R19e0787bf168422f" /><Relationship Type="http://schemas.openxmlformats.org/officeDocument/2006/relationships/slide" Target="/ppt/slides/slide3.xml" Id="Re5a7a4d2a64d4625" /><Relationship Type="http://schemas.openxmlformats.org/officeDocument/2006/relationships/slide" Target="/ppt/slides/slide4.xml" Id="R11deb5d7fdb54284" /><Relationship Type="http://schemas.openxmlformats.org/officeDocument/2006/relationships/slide" Target="/ppt/slides/slide5.xml" Id="R578b181e5bc54aae" /><Relationship Type="http://schemas.openxmlformats.org/officeDocument/2006/relationships/slide" Target="/ppt/slides/slide6.xml" Id="Rd3bf704b48864ca5" /><Relationship Type="http://schemas.openxmlformats.org/officeDocument/2006/relationships/slide" Target="/ppt/slides/slide7.xml" Id="Re8661538eb3a40c8" /><Relationship Type="http://schemas.openxmlformats.org/officeDocument/2006/relationships/slide" Target="/ppt/slides/slide8.xml" Id="Re71f00c7d19a49a7" /><Relationship Type="http://schemas.openxmlformats.org/officeDocument/2006/relationships/slide" Target="/ppt/slides/slide9.xml" Id="R2c84f487cae64f1b" /><Relationship Type="http://schemas.openxmlformats.org/officeDocument/2006/relationships/slide" Target="/ppt/slides/slide10.xml" Id="R8cbd32886f254e4b" /><Relationship Type="http://schemas.openxmlformats.org/officeDocument/2006/relationships/slide" Target="/ppt/slides/slide11.xml" Id="Rbdeea36648554619" /><Relationship Type="http://schemas.openxmlformats.org/officeDocument/2006/relationships/slide" Target="/ppt/slides/slide12.xml" Id="R9840732acfca4068" /><Relationship Type="http://schemas.openxmlformats.org/officeDocument/2006/relationships/slide" Target="/ppt/slides/slide13.xml" Id="R11db3aba3ab14acc" /><Relationship Type="http://schemas.openxmlformats.org/officeDocument/2006/relationships/slide" Target="/ppt/slides/slide14.xml" Id="R250f72380aaa4471" /><Relationship Type="http://schemas.openxmlformats.org/officeDocument/2006/relationships/slide" Target="/ppt/slides/slide15.xml" Id="R32f69cad735b41f3" /><Relationship Type="http://schemas.openxmlformats.org/officeDocument/2006/relationships/slide" Target="/ppt/slides/slide16.xml" Id="R74147a3b5d744b4a" /><Relationship Type="http://schemas.openxmlformats.org/officeDocument/2006/relationships/slide" Target="/ppt/slides/slide17.xml" Id="Rbeee116eb043464c" /><Relationship Type="http://schemas.openxmlformats.org/officeDocument/2006/relationships/slide" Target="/ppt/slides/slide18.xml" Id="Rd1eab79a2d984cc5" /><Relationship Type="http://schemas.openxmlformats.org/officeDocument/2006/relationships/slide" Target="/ppt/slides/slide19.xml" Id="R569f9b730bec4178" /><Relationship Type="http://schemas.openxmlformats.org/officeDocument/2006/relationships/slide" Target="/ppt/slides/slide20.xml" Id="Rc520d36a20a4435a" /><Relationship Type="http://schemas.openxmlformats.org/officeDocument/2006/relationships/slide" Target="/ppt/slides/slide21.xml" Id="Ree8ca7cdf8524821" /><Relationship Type="http://schemas.openxmlformats.org/officeDocument/2006/relationships/slide" Target="/ppt/slides/slide22.xml" Id="Re6352200d902410a" /><Relationship Type="http://schemas.openxmlformats.org/officeDocument/2006/relationships/slide" Target="/ppt/slides/slide23.xml" Id="Rb21ae92e512947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6b6c0197d547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c47b2a8e46d4f6a" /><Relationship Type="http://schemas.openxmlformats.org/officeDocument/2006/relationships/notesMaster" Target="/ppt/notesMasters/notesMaster1.xml" Id="Rd7887b78767146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54abbfbe5c4e4e" /><Relationship Type="http://schemas.openxmlformats.org/officeDocument/2006/relationships/notesMaster" Target="/ppt/notesMasters/notesMaster1.xml" Id="R5c79a91a93094b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ab5ff7e10f4e90" /><Relationship Type="http://schemas.openxmlformats.org/officeDocument/2006/relationships/notesMaster" Target="/ppt/notesMasters/notesMaster1.xml" Id="R9f501e39d37649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5103ceee854e59" /><Relationship Type="http://schemas.openxmlformats.org/officeDocument/2006/relationships/notesMaster" Target="/ppt/notesMasters/notesMaster1.xml" Id="Raf756f6475bb48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4abbf525d8d4c0c" /><Relationship Type="http://schemas.openxmlformats.org/officeDocument/2006/relationships/notesMaster" Target="/ppt/notesMasters/notesMaster1.xml" Id="R319bd20baf7f4c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7023e1dc84b4147" /><Relationship Type="http://schemas.openxmlformats.org/officeDocument/2006/relationships/notesMaster" Target="/ppt/notesMasters/notesMaster1.xml" Id="R30fc2ff4b75641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67ed9b5d58489d" /><Relationship Type="http://schemas.openxmlformats.org/officeDocument/2006/relationships/notesMaster" Target="/ppt/notesMasters/notesMaster1.xml" Id="R02d8ce0394c745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6d706c55524df0" /><Relationship Type="http://schemas.openxmlformats.org/officeDocument/2006/relationships/notesMaster" Target="/ppt/notesMasters/notesMaster1.xml" Id="R9990dcbd492a4b7d"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6b4e1b640a4f3c" /><Relationship Type="http://schemas.openxmlformats.org/officeDocument/2006/relationships/notesMaster" Target="/ppt/notesMasters/notesMaster1.xml" Id="R1ccee4c0789e436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310c55fd0e4382" /><Relationship Type="http://schemas.openxmlformats.org/officeDocument/2006/relationships/notesMaster" Target="/ppt/notesMasters/notesMaster1.xml" Id="R982fd8a01c4b45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9c017c4eca4417" /><Relationship Type="http://schemas.openxmlformats.org/officeDocument/2006/relationships/notesMaster" Target="/ppt/notesMasters/notesMaster1.xml" Id="R7ac9fe269db445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a07aafc23d45b4" /><Relationship Type="http://schemas.openxmlformats.org/officeDocument/2006/relationships/notesMaster" Target="/ppt/notesMasters/notesMaster1.xml" Id="Re5940a2033b84d6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458e86440c4da4" /><Relationship Type="http://schemas.openxmlformats.org/officeDocument/2006/relationships/notesMaster" Target="/ppt/notesMasters/notesMaster1.xml" Id="Rc24621df81194c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f1ecfa0dcd47aa" /><Relationship Type="http://schemas.openxmlformats.org/officeDocument/2006/relationships/notesMaster" Target="/ppt/notesMasters/notesMaster1.xml" Id="Rbb6e9053370c4f9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85b125ca1d94634" /><Relationship Type="http://schemas.openxmlformats.org/officeDocument/2006/relationships/notesMaster" Target="/ppt/notesMasters/notesMaster1.xml" Id="R7a4ac04654c344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255f331f0d54bda" /><Relationship Type="http://schemas.openxmlformats.org/officeDocument/2006/relationships/notesMaster" Target="/ppt/notesMasters/notesMaster1.xml" Id="R2c1293c7c8f1432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b4616772480453f" /><Relationship Type="http://schemas.openxmlformats.org/officeDocument/2006/relationships/notesMaster" Target="/ppt/notesMasters/notesMaster1.xml" Id="Raaa54773d58a413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0f61f31d9134801" /><Relationship Type="http://schemas.openxmlformats.org/officeDocument/2006/relationships/notesMaster" Target="/ppt/notesMasters/notesMaster1.xml" Id="R5adba7cda8e84e2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3fe2089c8314a06" /><Relationship Type="http://schemas.openxmlformats.org/officeDocument/2006/relationships/notesMaster" Target="/ppt/notesMasters/notesMaster1.xml" Id="R1b324f369c614f7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28a51104da04076" /><Relationship Type="http://schemas.openxmlformats.org/officeDocument/2006/relationships/notesMaster" Target="/ppt/notesMasters/notesMaster1.xml" Id="R5e8d0e4694a64ef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8a37aac5ea4948" /><Relationship Type="http://schemas.openxmlformats.org/officeDocument/2006/relationships/notesMaster" Target="/ppt/notesMasters/notesMaster1.xml" Id="R844955662dd94a7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7b4a1595d914258" /><Relationship Type="http://schemas.openxmlformats.org/officeDocument/2006/relationships/notesMaster" Target="/ppt/notesMasters/notesMaster1.xml" Id="R1e26275427164c8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214ebc9c3df4d17" /><Relationship Type="http://schemas.openxmlformats.org/officeDocument/2006/relationships/notesMaster" Target="/ppt/notesMasters/notesMaster1.xml" Id="Rda6ac76cc09541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begin with the physical object before the equations. Point to the pivot, the bob, and the bar. Explain that θ is a coordinate, not a force. We choose the downward vertical as zero because it is the stable equilibrium position. A release from rest means the student holds the bob still and then lets go without pushing.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derive the equation verbally. First write Στ = Iα. The gravitational force is Mg. Its moment arm is not ℓ for a displaced pendulum; it is ℓ sin θ. Therefore the gravity torque is −Mgℓ sin θ. The minus sign means the torque acts back toward θ = 0. For a point mass at radius ℓ, I = Mℓ². Substitute both expressions and divide by Mℓ². The mass cancels only because this simplified model assumes a massless bar.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the actual pendulum has two sources of rotational inertia: the bob and the bar. The bob acts like a lumped mass at ℓ, giving Mℓ². The uniform bar cannot be treated as one mass at its tip because its material extends from the pivot to the bob. Integrating r² dm gives one third mℓ². The bar's gravitational torque uses its center of mass at ℓ/2. This is why the laboratory model is a compound pendulum.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read the compound equation from left to right. The first bracket resists angular acceleration. The second bracket pulls the pendulum back toward vertical. For small angles, replace sin θ by θ. Dividing the restoring coefficient by the inertia coefficient gives ωn squared. Emphasize that the point-mass frequency is only a special case when m is negligible.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do not tell students that a large angle simply makes the pendulum move farther. The key change is the force law. The exact restoring torque is proportional to sin θ, whereas the small-angle model uses θ. The linear model therefore overestimates the restoring torque at larger angles and predicts a period that is too short. Ask students which of the three release angles should have the longest period.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use the energy equation as a physical check on the data. The peaks of θ(t) occur when angular speed is close to zero. The largest magnitude of angular velocity occurs close to θ = 0. If the measured traces violate this pattern, first inspect tracking and the angle-sign convention. A gradual amplitude decay is expected from damping; abrupt jumps usually indicate a measurement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connect the pendulum to engineering systems that students may encounter. A crane payload can swing after trolley motion. A robot link can vibrate after a fast move. Equipment on a flexible support can oscillate near a natural frequency. The central skill is not memorizing one pendulum formula. It is building a model, measuring a real system, checking data quality, and explaining the difference between prediction and measurement.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745110be1548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adb1d73640c4d9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7f0513cadb4c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e028d486d6542e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80e5dd320c48c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f5964e1248348d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7a87134b52cd47d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b87a7fd7bf041c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8c8fb147073418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a8a26cfebe54404"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1ce12463c2646b2"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C83AF7E-2893-4204-BBC0-3463732433D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CE9869A8-9E7C-4867-8AFE-6ED16CF78BB6}"/>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C8B39B2F-92F6-43AD-9C64-7F85820ABEA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4AED55E-0974-4562-9742-BA8D367F87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62F211F-0295-43D0-BD78-178C5096C4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1DEC895-BAB5-493F-9708-36959F1FDCB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3AA8782-D4D2-494D-A6D3-867AFF8D51F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232F2B9-9E36-4C11-BD68-5A415F7EC5F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DF221B5-6DA3-4EB9-A883-77821E7ED6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D2AFFC3-8043-4988-A0E1-F7CAA5956E5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B7B7F62-ABD3-4363-B343-778A6CC0D836}"/>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3A03747-854C-4968-89E2-C3D8C9562231}"/>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0895C00E-E5DC-4A50-8D5E-848865CF597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0646719-3D78-4128-9215-570988D0E88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E2F5B0D-A6AF-4A4A-8083-BFF880AEFF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4F2202F-FB9E-4356-8BCC-B38CFF3544B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42FD5AEC-BC95-41CD-A4F8-C6ED9D683F4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70EDB26B-FDF8-43B7-899B-A743B094359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DA012E0B-ADD6-43E5-AE9D-408568197B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AFB182AA-9EAC-4C21-9A69-5E778244B6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31BF33D-00B3-418B-B3FE-46B09990BA2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0EE2644-A438-4531-8702-A37CD5211A1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D2E34F1-0EA5-4B91-93D4-B2D1F5F61BE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D04C38E-6442-465B-9483-3625283F3658}"/>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91BA93EB-4BE0-4811-8BDA-DF94E457DE93}"/>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9AF503B-1639-41D8-A19D-C61DCADBEF11}"/>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6B45BF5F-C438-4110-9D82-85652C46DB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A58FE8C0-CFE4-4CF4-A362-A7B548B6B1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51EA518-4774-481D-9534-DB387754FA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32D175D-98C9-4A83-A5B6-6A2F44B0DD0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38E006F-93DE-4A27-B4B0-76EB98B37C1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9D390AF4-0723-434D-993C-58AE187E7C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4D00FC64-632E-4D96-A93D-F48AFDD3B24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B8025B0C-A352-4B89-AB5F-DA561991BC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5E785CC0-94C4-4233-925B-6C0ED41FF9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8AAFB69D-7A86-4AF3-BA62-C1A1FDF7E8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71BCA4B-6549-4A48-81AC-B4AE4C4C5908}"/>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CACF126-34E9-4058-A915-FDB41780A522}"/>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33F1EEB-5559-4A2F-A6C8-D257E32086ED}"/>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D66DD9E-0263-43F5-9EA2-2CFB8A5FAC2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6740946-3978-4D3C-8EDA-D66E3405411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26A5410-76E1-4FA2-9498-0503B050B81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513EB8-162D-432A-A1CD-D25693C73511}"/>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D384C01-2787-4FE4-B1CC-D659DCA9D140}"/>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36E3962C-8282-4A1F-91FB-7496EE6C1405}"/>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21D12F7-C0B7-43F7-AA4C-F09D834689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8C7BFCA-543E-40B4-BB20-CFCF8F996AC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75C9D1B-4043-49F0-99FF-4D7D31F575D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3148B3-A523-46DC-8F00-0EADE5C0F7F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91E27085-E803-4963-BFFA-09B8F4056CE2}"/>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CECD4AB-F302-4B2D-B8D3-67FB50E2D7A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5A3DBD1-F158-44FE-AAB5-86C229B51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596B65C-EC3E-4B14-A640-C33F9BB614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6958EB88-DCB7-4FD0-9024-5C56CB558AE6}"/>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348C57CC-19C7-4A65-9C3B-AB74FF477A28}"/>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48E1586-0A6A-4345-BAAE-24CFD43B8F8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CA63F7E-71A3-4116-AC9A-CFAC41057B4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D46DAF5-CBFF-4D38-9AD0-414D4BDEEDA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352a25e1e54251" /><Relationship Type="http://schemas.openxmlformats.org/officeDocument/2006/relationships/slideLayout" Target="/ppt/slideLayouts/slideLayout1.xml" Id="R6100ae115826421e" /><Relationship Type="http://schemas.openxmlformats.org/officeDocument/2006/relationships/slideLayout" Target="/ppt/slideLayouts/slideLayout2.xml" Id="Rfa67fd666351408a" /><Relationship Type="http://schemas.openxmlformats.org/officeDocument/2006/relationships/slideLayout" Target="/ppt/slideLayouts/slideLayout3.xml" Id="Rfcdd60e3f7e640c6" /><Relationship Type="http://schemas.openxmlformats.org/officeDocument/2006/relationships/slideLayout" Target="/ppt/slideLayouts/slideLayout4.xml" Id="R453915a515fd4632" /><Relationship Type="http://schemas.openxmlformats.org/officeDocument/2006/relationships/slideLayout" Target="/ppt/slideLayouts/slideLayout5.xml" Id="Rde44d2c478834a63" /><Relationship Type="http://schemas.openxmlformats.org/officeDocument/2006/relationships/slideLayout" Target="/ppt/slideLayouts/slideLayout6.xml" Id="Rdfff4e857ff8463f" /><Relationship Type="http://schemas.openxmlformats.org/officeDocument/2006/relationships/slideLayout" Target="/ppt/slideLayouts/slideLayout7.xml" Id="R27c8602646934c85" /><Relationship Type="http://schemas.openxmlformats.org/officeDocument/2006/relationships/slideLayout" Target="/ppt/slideLayouts/slideLayout8.xml" Id="R655320bc730744d7" /><Relationship Type="http://schemas.openxmlformats.org/officeDocument/2006/relationships/slideLayout" Target="/ppt/slideLayouts/slideLayout9.xml" Id="R44fc308142b64f84" /><Relationship Type="http://schemas.openxmlformats.org/officeDocument/2006/relationships/slideLayout" Target="/ppt/slideLayouts/slideLayout10.xml" Id="R54f1f58cd09c4686" /><Relationship Type="http://schemas.openxmlformats.org/officeDocument/2006/relationships/slideLayout" Target="/ppt/slideLayouts/slideLayout11.xml" Id="Rc5bc924c43d7463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185B75E-5752-4E29-94F8-BF8B8CC761E8}"/>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8E246FB-EBA8-49BC-B6B7-4A37B8954607}"/>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FCB8276-7AB9-4532-8B72-94A28C7952BB}"/>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99BE4F9-3E22-4772-B67A-1AEF3E34621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A2A33AF-46A4-4849-800A-27543A458EFE}"/>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00ae115826421e"/>
    <p:sldLayoutId xmlns:r="http://schemas.openxmlformats.org/officeDocument/2006/relationships" id="2147483650" r:id="Rfa67fd666351408a"/>
    <p:sldLayoutId xmlns:r="http://schemas.openxmlformats.org/officeDocument/2006/relationships" id="2147483651" r:id="Rfcdd60e3f7e640c6"/>
    <p:sldLayoutId xmlns:r="http://schemas.openxmlformats.org/officeDocument/2006/relationships" id="2147483652" r:id="R453915a515fd4632"/>
    <p:sldLayoutId xmlns:r="http://schemas.openxmlformats.org/officeDocument/2006/relationships" id="2147483653" r:id="Rde44d2c478834a63"/>
    <p:sldLayoutId xmlns:r="http://schemas.openxmlformats.org/officeDocument/2006/relationships" id="2147483654" r:id="Rdfff4e857ff8463f"/>
    <p:sldLayoutId xmlns:r="http://schemas.openxmlformats.org/officeDocument/2006/relationships" id="2147483655" r:id="R27c8602646934c85"/>
    <p:sldLayoutId xmlns:r="http://schemas.openxmlformats.org/officeDocument/2006/relationships" id="2147483656" r:id="R655320bc730744d7"/>
    <p:sldLayoutId xmlns:r="http://schemas.openxmlformats.org/officeDocument/2006/relationships" id="2147483657" r:id="R44fc308142b64f84"/>
    <p:sldLayoutId xmlns:r="http://schemas.openxmlformats.org/officeDocument/2006/relationships" id="2147483658" r:id="R54f1f58cd09c4686"/>
    <p:sldLayoutId xmlns:r="http://schemas.openxmlformats.org/officeDocument/2006/relationships" id="2147483659" r:id="Rc5bc924c43d74637"/>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2a3ed58755874310" /><Relationship Type="http://schemas.openxmlformats.org/officeDocument/2006/relationships/image" Target="/ppt/media/image.jpeg" Id="R3c0795da5bc14dd5" /><Relationship Type="http://schemas.openxmlformats.org/officeDocument/2006/relationships/notesSlide" Target="/ppt/notesSlides/notesSlide1.xml" Id="Rc3cc52a8c3ec47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88f3be9ccd04612" /><Relationship Type="http://schemas.openxmlformats.org/officeDocument/2006/relationships/image" Target="/ppt/media/image.jpeg" Id="R282a6f1b35514520" /><Relationship Type="http://schemas.openxmlformats.org/officeDocument/2006/relationships/notesSlide" Target="/ppt/notesSlides/notesSlide2.xml" Id="R7d02a1d313834c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8bd12747d672498e" /><Relationship Type="http://schemas.openxmlformats.org/officeDocument/2006/relationships/image" Target="/ppt/media/image.png" Id="R6070dc78ae8840c5" /><Relationship Type="http://schemas.openxmlformats.org/officeDocument/2006/relationships/notesSlide" Target="/ppt/notesSlides/notesSlide3.xml" Id="R36181bf7535245ff"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02f027727c8b473d" /><Relationship Type="http://schemas.openxmlformats.org/officeDocument/2006/relationships/image" Target="/ppt/media/image2.png" Id="R75cac146836b4a66" /><Relationship Type="http://schemas.openxmlformats.org/officeDocument/2006/relationships/image" Target="/ppt/media/image3.png" Id="R1caf5bb1c1f04b25" /><Relationship Type="http://schemas.openxmlformats.org/officeDocument/2006/relationships/notesSlide" Target="/ppt/notesSlides/notesSlide4.xml" Id="Rb9211d0d821848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0b75e6deff3d4916" /><Relationship Type="http://schemas.openxmlformats.org/officeDocument/2006/relationships/image" Target="/ppt/media/image4.png" Id="R4f860b8924014fc5" /><Relationship Type="http://schemas.openxmlformats.org/officeDocument/2006/relationships/image" Target="/ppt/media/image5.png" Id="R1dc76c9cca0446b5" /><Relationship Type="http://schemas.openxmlformats.org/officeDocument/2006/relationships/image" Target="/ppt/media/image6.png" Id="R48ca4ce637834b3c" /><Relationship Type="http://schemas.openxmlformats.org/officeDocument/2006/relationships/notesSlide" Target="/ppt/notesSlides/notesSlide5.xml" Id="R31329385b26f48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41dfd61956734ef7" /><Relationship Type="http://schemas.openxmlformats.org/officeDocument/2006/relationships/image" Target="/ppt/media/image7.png" Id="R659ba146cdbf4553" /><Relationship Type="http://schemas.openxmlformats.org/officeDocument/2006/relationships/image" Target="/ppt/media/image8.png" Id="R3bb678f6d5584b7f" /><Relationship Type="http://schemas.openxmlformats.org/officeDocument/2006/relationships/image" Target="/ppt/media/image9.png" Id="Rdf2846521baa4227" /><Relationship Type="http://schemas.openxmlformats.org/officeDocument/2006/relationships/notesSlide" Target="/ppt/notesSlides/notesSlide6.xml" Id="R97403b01866c4a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f7eeddfbb7434511" /><Relationship Type="http://schemas.openxmlformats.org/officeDocument/2006/relationships/image" Target="/ppt/media/image.jpeg" Id="R0a730a4d96b7460d" /><Relationship Type="http://schemas.openxmlformats.org/officeDocument/2006/relationships/notesSlide" Target="/ppt/notesSlides/notesSlide7.xml" Id="R6e4515376a3e43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9f7c7b33b941485b" /><Relationship Type="http://schemas.openxmlformats.org/officeDocument/2006/relationships/image" Target="/ppt/media/image10.png" Id="R97f2dbdd9ec14c45" /><Relationship Type="http://schemas.openxmlformats.org/officeDocument/2006/relationships/notesSlide" Target="/ppt/notesSlides/notesSlide8.xml" Id="R1382a36871974f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25d43fe351e243e4" /><Relationship Type="http://schemas.openxmlformats.org/officeDocument/2006/relationships/image" Target="/ppt/media/image2.jpeg" Id="R30644e783e6044dc" /><Relationship Type="http://schemas.openxmlformats.org/officeDocument/2006/relationships/notesSlide" Target="/ppt/notesSlides/notesSlide9.xml" Id="R2e51a370c0054d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a8225c267e474e02" /><Relationship Type="http://schemas.openxmlformats.org/officeDocument/2006/relationships/image" Target="/ppt/media/image3.jpeg" Id="R327130831cfa471a" /><Relationship Type="http://schemas.openxmlformats.org/officeDocument/2006/relationships/image" Target="/ppt/media/image4.jpeg" Id="Rc6097b7c99a5488a" /><Relationship Type="http://schemas.openxmlformats.org/officeDocument/2006/relationships/notesSlide" Target="/ppt/notesSlides/notesSlide10.xml" Id="R42757d00d8c940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49c63deeec464c83" /><Relationship Type="http://schemas.openxmlformats.org/officeDocument/2006/relationships/image" Target="/ppt/media/image5.jpeg" Id="R7bb76632fdb34889" /><Relationship Type="http://schemas.openxmlformats.org/officeDocument/2006/relationships/notesSlide" Target="/ppt/notesSlides/notesSlide11.xml" Id="Rfeccada04014427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9b9c2a1be1e74c6a" /><Relationship Type="http://schemas.openxmlformats.org/officeDocument/2006/relationships/image" Target="/ppt/media/image11.png" Id="Rec6e4b6e993e494d" /><Relationship Type="http://schemas.openxmlformats.org/officeDocument/2006/relationships/notesSlide" Target="/ppt/notesSlides/notesSlide12.xml" Id="R03ddd639e3684b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6bab6e849ab444e6" /><Relationship Type="http://schemas.openxmlformats.org/officeDocument/2006/relationships/image" Target="/ppt/media/image6.jpeg" Id="Re270618635ec4f77" /><Relationship Type="http://schemas.openxmlformats.org/officeDocument/2006/relationships/image" Target="/ppt/media/image7.jpeg" Id="R3273f10aa3e048b6" /><Relationship Type="http://schemas.openxmlformats.org/officeDocument/2006/relationships/notesSlide" Target="/ppt/notesSlides/notesSlide13.xml" Id="Ree4c226fbb524a3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47066823cba2484f" /><Relationship Type="http://schemas.openxmlformats.org/officeDocument/2006/relationships/image" Target="/ppt/media/image12.png" Id="R10e84a884bee4311" /><Relationship Type="http://schemas.openxmlformats.org/officeDocument/2006/relationships/notesSlide" Target="/ppt/notesSlides/notesSlide14.xml" Id="R3530230a9606442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418fc006da9e410d" /><Relationship Type="http://schemas.openxmlformats.org/officeDocument/2006/relationships/image" Target="/ppt/media/image13.png" Id="Rb2c1ce3c778744f8" /><Relationship Type="http://schemas.openxmlformats.org/officeDocument/2006/relationships/notesSlide" Target="/ppt/notesSlides/notesSlide15.xml" Id="R69ec5e72f51147e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26d2df6403af4833" /><Relationship Type="http://schemas.openxmlformats.org/officeDocument/2006/relationships/image" Target="/ppt/media/image14.png" Id="R01bfc0f98b7a4d07" /><Relationship Type="http://schemas.openxmlformats.org/officeDocument/2006/relationships/image" Target="/ppt/media/image15.png" Id="Rd9771c8d99df460a" /><Relationship Type="http://schemas.openxmlformats.org/officeDocument/2006/relationships/notesSlide" Target="/ppt/notesSlides/notesSlide16.xml" Id="Rebe8a6945a7242a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ce49fc1417c041a7" /><Relationship Type="http://schemas.openxmlformats.org/officeDocument/2006/relationships/notesSlide" Target="/ppt/notesSlides/notesSlide17.xml" Id="Rb9baebf8238e4a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f6755cf35c4c4337" /><Relationship Type="http://schemas.openxmlformats.org/officeDocument/2006/relationships/notesSlide" Target="/ppt/notesSlides/notesSlide18.xml" Id="R4f5e4c5df8324c5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1e0c1441776640b0" /><Relationship Type="http://schemas.openxmlformats.org/officeDocument/2006/relationships/notesSlide" Target="/ppt/notesSlides/notesSlide19.xml" Id="R929b7e5a2fc940b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777ecbfa20b44f51" /><Relationship Type="http://schemas.openxmlformats.org/officeDocument/2006/relationships/notesSlide" Target="/ppt/notesSlides/notesSlide20.xml" Id="Ra7b20c77a0c0455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a8dba4b712a54652" /><Relationship Type="http://schemas.openxmlformats.org/officeDocument/2006/relationships/notesSlide" Target="/ppt/notesSlides/notesSlide21.xml" Id="R7256e46bda7b433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92c78ac9db054d1e" /><Relationship Type="http://schemas.openxmlformats.org/officeDocument/2006/relationships/notesSlide" Target="/ppt/notesSlides/notesSlide22.xml" Id="Rb872d593ae1d45a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eb00b0bd7b084262" /><Relationship Type="http://schemas.openxmlformats.org/officeDocument/2006/relationships/notesSlide" Target="/ppt/notesSlides/notesSlide23.xml" Id="R12429af1e2824ef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F1450D7-DED2-41BF-859F-7CBDAF5B0103}"/>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3F73D094-6DE3-4E54-89A3-30646156FF0F}"/>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0-2 min</a:t>
            </a:r>
          </a:p>
        </p:txBody>
      </p:sp>
      <p:sp>
        <p:nvSpPr>
          <p:cNvPr id="4" name="TextBox 3">
            <a:extLst xmlns:a="http://schemas.openxmlformats.org/drawingml/2006/main">
              <a:ext uri="{FF2B5EF4-FFF2-40B4-BE49-F238E27FC236}">
                <a16:creationId xmlns:a16="http://schemas.microsoft.com/office/drawing/2014/main" id="{65A34932-9ECF-4FEC-A416-359B34EE96E1}"/>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Lab 2: measuring a single pendulum</a:t>
            </a:r>
          </a:p>
        </p:txBody>
      </p:sp>
      <p:sp>
        <p:nvSpPr>
          <p:cNvPr id="5" name="TextBox 4">
            <a:extLst xmlns:a="http://schemas.openxmlformats.org/drawingml/2006/main">
              <a:ext uri="{FF2B5EF4-FFF2-40B4-BE49-F238E27FC236}">
                <a16:creationId xmlns:a16="http://schemas.microsoft.com/office/drawing/2014/main" id="{9E25D453-7E32-4393-B079-EB4FDD4C81C6}"/>
              </a:ext>
            </a:extLst>
          </p:cNvPr>
          <p:cNvSpPr>
            <a:spLocks xmlns:a="http://schemas.openxmlformats.org/drawingml/2006/main" noGrp="1"/>
          </p:cNvSpPr>
          <p:nvPr/>
        </p:nvSpPr>
        <p:spPr>
          <a:xfrm xmlns:a="http://schemas.openxmlformats.org/drawingml/2006/main">
            <a:off x="640080" y="1645920"/>
            <a:ext cx="5486400" cy="10058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3000" b="1">
                <a:solidFill>
                  <a:srgbClr val="881C1C"/>
                </a:solidFill>
                <a:latin typeface="Aptos"/>
                <a:ea typeface="Aptos"/>
                <a:cs typeface="Aptos"/>
              </a:defRPr>
            </a:pPr>
            <a:r>
              <a:t>From high-speed video to a defensible model comparison</a:t>
            </a:r>
          </a:p>
        </p:txBody>
      </p:sp>
      <p:sp>
        <p:nvSpPr>
          <p:cNvPr id="6" name="TextBox 5">
            <a:extLst xmlns:a="http://schemas.openxmlformats.org/drawingml/2006/main">
              <a:ext uri="{FF2B5EF4-FFF2-40B4-BE49-F238E27FC236}">
                <a16:creationId xmlns:a16="http://schemas.microsoft.com/office/drawing/2014/main" id="{63F34104-BE1C-493E-9E78-A65B9F8C93D7}"/>
              </a:ext>
            </a:extLst>
          </p:cNvPr>
          <p:cNvSpPr>
            <a:spLocks xmlns:a="http://schemas.openxmlformats.org/drawingml/2006/main" noGrp="1"/>
          </p:cNvSpPr>
          <p:nvPr/>
        </p:nvSpPr>
        <p:spPr>
          <a:xfrm xmlns:a="http://schemas.openxmlformats.org/drawingml/2006/main">
            <a:off x="658368" y="2971800"/>
            <a:ext cx="512064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100" b="0">
                <a:solidFill>
                  <a:srgbClr val="161616"/>
                </a:solidFill>
                <a:latin typeface="Aptos"/>
                <a:ea typeface="Aptos"/>
                <a:cs typeface="Aptos"/>
              </a:defRPr>
            </a:pPr>
            <a:r>
              <a:t>Physical model, finite-angle behavior, camera measurement, tracking, and Pre-Lab 2.</a:t>
            </a:r>
          </a:p>
        </p:txBody>
      </p:sp>
      <p:pic>
        <p:nvPicPr>
          <p:cNvPr id="13" name="Picture 6"/>
          <p:cNvPicPr>
            <a:picLocks xmlns:a="http://schemas.openxmlformats.org/drawingml/2006/main" noChangeAspect="1"/>
          </p:cNvPicPr>
          <p:nvPr/>
        </p:nvPicPr>
        <p:blipFill>
          <a:blip xmlns:r="http://schemas.openxmlformats.org/officeDocument/2006/relationships" xmlns:a="http://schemas.openxmlformats.org/drawingml/2006/main" r:embed="R3c0795da5bc14dd5"/>
          <a:stretch xmlns:a="http://schemas.openxmlformats.org/drawingml/2006/main">
            <a:fillRect l="0" t="0" r="0" b="0"/>
          </a:stretch>
        </p:blipFill>
        <p:spPr>
          <a:xfrm xmlns:a="http://schemas.openxmlformats.org/drawingml/2006/main">
            <a:off x="6812280" y="1417320"/>
            <a:ext cx="4206240" cy="4480560"/>
          </a:xfrm>
          <a:prstGeom xmlns:a="http://schemas.openxmlformats.org/drawingml/2006/main" prst="rect">
            <a:avLst/>
          </a:prstGeom>
        </p:spPr>
      </p:pic>
    </p:spTree>
    <p:extLst>
      <p:ext uri="{BB962C8B-B14F-4D97-AF65-F5344CB8AC3E}">
        <p14:creationId xmlns:p14="http://schemas.microsoft.com/office/powerpoint/2010/main" val="199272096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16416BBD-6CEC-48F6-8CBE-BF2A30D52CCD}"/>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CE548784-74C9-4082-98C9-67D353787FBB}"/>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2-4 min</a:t>
            </a:r>
          </a:p>
        </p:txBody>
      </p:sp>
      <p:sp>
        <p:nvSpPr>
          <p:cNvPr id="4" name="TextBox 3">
            <a:extLst xmlns:a="http://schemas.openxmlformats.org/drawingml/2006/main">
              <a:ext uri="{FF2B5EF4-FFF2-40B4-BE49-F238E27FC236}">
                <a16:creationId xmlns:a16="http://schemas.microsoft.com/office/drawing/2014/main" id="{12336E7C-A3A2-4B0F-876D-82C2F7217CF5}"/>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What you will do in Lab 2</a:t>
            </a:r>
          </a:p>
        </p:txBody>
      </p:sp>
      <p:sp>
        <p:nvSpPr>
          <p:cNvPr id="5" name="TextBox 4">
            <a:extLst xmlns:a="http://schemas.openxmlformats.org/drawingml/2006/main">
              <a:ext uri="{FF2B5EF4-FFF2-40B4-BE49-F238E27FC236}">
                <a16:creationId xmlns:a16="http://schemas.microsoft.com/office/drawing/2014/main" id="{281237D8-8978-4327-835A-BC72C412BECC}"/>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Release pendulum from rest at three angle ranges.</a:t>
            </a:r>
          </a:p>
          <a:p xmlns:a="http://schemas.openxmlformats.org/drawingml/2006/main">
            <a:pPr>
              <a:spcAft>
                <a:spcPts val="1100"/>
              </a:spcAft>
              <a:buNone/>
              <a:defRPr sz="2100">
                <a:solidFill>
                  <a:srgbClr val="161616"/>
                </a:solidFill>
                <a:latin typeface="Aptos"/>
                <a:ea typeface="Aptos"/>
                <a:cs typeface="Aptos"/>
              </a:defRPr>
            </a:pPr>
            <a:r>
              <a:t>Record motion with high-speed camera.</a:t>
            </a:r>
          </a:p>
          <a:p xmlns:a="http://schemas.openxmlformats.org/drawingml/2006/main">
            <a:pPr>
              <a:spcAft>
                <a:spcPts val="1100"/>
              </a:spcAft>
              <a:buNone/>
              <a:defRPr sz="2100">
                <a:solidFill>
                  <a:srgbClr val="161616"/>
                </a:solidFill>
                <a:latin typeface="Aptos"/>
                <a:ea typeface="Aptos"/>
                <a:cs typeface="Aptos"/>
              </a:defRPr>
            </a:pPr>
            <a:r>
              <a:t>Track bob and convert x(t), y(t) into theta(t).</a:t>
            </a:r>
          </a:p>
          <a:p xmlns:a="http://schemas.openxmlformats.org/drawingml/2006/main">
            <a:pPr>
              <a:spcAft>
                <a:spcPts val="1100"/>
              </a:spcAft>
              <a:buNone/>
              <a:defRPr sz="2100">
                <a:solidFill>
                  <a:srgbClr val="161616"/>
                </a:solidFill>
                <a:latin typeface="Aptos"/>
                <a:ea typeface="Aptos"/>
                <a:cs typeface="Aptos"/>
              </a:defRPr>
            </a:pPr>
            <a:r>
              <a:t>Compare period and frequency with model.</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282a6f1b35514520"/>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156115742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1BB4F31-CCA8-4255-9525-F82F3F7E3005}"/>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04EE91A1-7C74-4425-B8DD-9FE4CBF15CA2}"/>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4-6 min</a:t>
            </a:r>
          </a:p>
        </p:txBody>
      </p:sp>
      <p:sp>
        <p:nvSpPr>
          <p:cNvPr id="4" name="TextBox 3">
            <a:extLst xmlns:a="http://schemas.openxmlformats.org/drawingml/2006/main">
              <a:ext uri="{FF2B5EF4-FFF2-40B4-BE49-F238E27FC236}">
                <a16:creationId xmlns:a16="http://schemas.microsoft.com/office/drawing/2014/main" id="{24FB4DD6-3BF9-409E-8253-563AC76ABD75}"/>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Physical system and coordinate</a:t>
            </a:r>
          </a:p>
        </p:txBody>
      </p:sp>
      <p:sp>
        <p:nvSpPr>
          <p:cNvPr id="5" name="TextBox 4">
            <a:extLst xmlns:a="http://schemas.openxmlformats.org/drawingml/2006/main">
              <a:ext uri="{FF2B5EF4-FFF2-40B4-BE49-F238E27FC236}">
                <a16:creationId xmlns:a16="http://schemas.microsoft.com/office/drawing/2014/main" id="{1283C2D0-3B1D-4E5C-BF37-F11B99625CC5}"/>
              </a:ext>
            </a:extLst>
          </p:cNvPr>
          <p:cNvSpPr>
            <a:spLocks xmlns:a="http://schemas.openxmlformats.org/drawingml/2006/main" noGrp="1"/>
          </p:cNvSpPr>
          <p:nvPr/>
        </p:nvSpPr>
        <p:spPr>
          <a:xfrm xmlns:a="http://schemas.openxmlformats.org/drawingml/2006/main">
            <a:off x="685800" y="1619250"/>
            <a:ext cx="5619750" cy="257175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M is the bob and attached hardware mass. m is the uniform bar mass. ℓ is the pivot-to-bob-center distance. θ(t) is measured from the downward vertical, so θ = 0 at equilibrium. ω(t) = dθ/dt. Every trial begins from rest, so ω(0) = 0.</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070dc78ae8840c5"/>
          <a:stretch xmlns:a="http://schemas.openxmlformats.org/drawingml/2006/main"/>
        </p:blipFill>
        <p:spPr>
          <a:xfrm xmlns:a="http://schemas.openxmlformats.org/drawingml/2006/main">
            <a:off x="7615859" y="1619250"/>
            <a:ext cx="2484783" cy="3810000"/>
          </a:xfrm>
          <a:prstGeom xmlns:a="http://schemas.openxmlformats.org/drawingml/2006/main" prst="rect">
            <a:avLst/>
          </a:prstGeom>
        </p:spPr>
      </p:pic>
    </p:spTree>
    <p:extLst>
      <p:ext uri="{BB962C8B-B14F-4D97-AF65-F5344CB8AC3E}">
        <p14:creationId xmlns:p14="http://schemas.microsoft.com/office/powerpoint/2010/main" val="173082204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AC7F0A6-D63B-4B8D-8232-894F0E521961}"/>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E601176F-0923-4F71-B9A8-2CCE84903521}"/>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6-8 min</a:t>
            </a:r>
          </a:p>
        </p:txBody>
      </p:sp>
      <p:sp>
        <p:nvSpPr>
          <p:cNvPr id="4" name="TextBox 3">
            <a:extLst xmlns:a="http://schemas.openxmlformats.org/drawingml/2006/main">
              <a:ext uri="{FF2B5EF4-FFF2-40B4-BE49-F238E27FC236}">
                <a16:creationId xmlns:a16="http://schemas.microsoft.com/office/drawing/2014/main" id="{434D3F9C-ADC4-4605-9DE5-641882F5A20C}"/>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From gravity to the pendulum equation</a:t>
            </a:r>
          </a:p>
        </p:txBody>
      </p:sp>
      <p:pic>
        <p:nvPicPr>
          <p:cNvPr id="13" name="Picture 4"/>
          <p:cNvPicPr>
            <a:picLocks xmlns:a="http://schemas.openxmlformats.org/drawingml/2006/main" noChangeAspect="1"/>
          </p:cNvPicPr>
          <p:nvPr/>
        </p:nvPicPr>
        <p:blipFill>
          <a:blip xmlns:r="http://schemas.openxmlformats.org/officeDocument/2006/relationships" xmlns:a="http://schemas.openxmlformats.org/drawingml/2006/main" r:embed="R75cac146836b4a66"/>
          <a:stretch xmlns:a="http://schemas.openxmlformats.org/drawingml/2006/main">
            <a:fillRect l="0" t="0" r="0" b="0"/>
          </a:stretch>
        </p:blipFill>
        <p:spPr>
          <a:xfrm xmlns:a="http://schemas.openxmlformats.org/drawingml/2006/main">
            <a:off x="2880360" y="1481328"/>
            <a:ext cx="6400800" cy="658368"/>
          </a:xfrm>
          <a:prstGeom xmlns:a="http://schemas.openxmlformats.org/drawingml/2006/main" prst="rect">
            <a:avLst/>
          </a:prstGeom>
        </p:spPr>
      </p:pic>
      <p:pic>
        <p:nvPicPr>
          <p:cNvPr id="14" name="Picture 5"/>
          <p:cNvPicPr>
            <a:picLocks xmlns:a="http://schemas.openxmlformats.org/drawingml/2006/main" noChangeAspect="1"/>
          </p:cNvPicPr>
          <p:nvPr/>
        </p:nvPicPr>
        <p:blipFill>
          <a:blip xmlns:r="http://schemas.openxmlformats.org/officeDocument/2006/relationships" xmlns:a="http://schemas.openxmlformats.org/drawingml/2006/main" r:embed="R1caf5bb1c1f04b25"/>
          <a:stretch xmlns:a="http://schemas.openxmlformats.org/drawingml/2006/main">
            <a:fillRect l="0" t="0" r="0" b="0"/>
          </a:stretch>
        </p:blipFill>
        <p:spPr>
          <a:xfrm xmlns:a="http://schemas.openxmlformats.org/drawingml/2006/main">
            <a:off x="3566160" y="2395728"/>
            <a:ext cx="5029200" cy="713232"/>
          </a:xfrm>
          <a:prstGeom xmlns:a="http://schemas.openxmlformats.org/drawingml/2006/main" prst="rect">
            <a:avLst/>
          </a:prstGeom>
        </p:spPr>
      </p:pic>
      <p:sp>
        <p:nvSpPr>
          <p:cNvPr id="7" name="TextBox 6">
            <a:extLst xmlns:a="http://schemas.openxmlformats.org/drawingml/2006/main">
              <a:ext uri="{FF2B5EF4-FFF2-40B4-BE49-F238E27FC236}">
                <a16:creationId xmlns:a16="http://schemas.microsoft.com/office/drawing/2014/main" id="{F6564149-1AA8-4C44-A8B8-F3D9018A955E}"/>
              </a:ext>
            </a:extLst>
          </p:cNvPr>
          <p:cNvSpPr>
            <a:spLocks xmlns:a="http://schemas.openxmlformats.org/drawingml/2006/main" noGrp="1"/>
          </p:cNvSpPr>
          <p:nvPr/>
        </p:nvSpPr>
        <p:spPr>
          <a:xfrm xmlns:a="http://schemas.openxmlformats.org/drawingml/2006/main">
            <a:off x="822960" y="3749039"/>
            <a:ext cx="10332720" cy="164592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Choose the pivot as the rotation axis. Rotational Newton's law gives Στ = Iα. Gravity applies Mg at the bob, with perpendicular lever arm ℓ sin θ, so τg = −Mgℓ sin θ. For a point mass, I = Mℓ². Combining torque and inertia gives the equation shown above.</a:t>
            </a:r>
          </a:p>
        </p:txBody>
      </p:sp>
    </p:spTree>
    <p:extLst>
      <p:ext uri="{BB962C8B-B14F-4D97-AF65-F5344CB8AC3E}">
        <p14:creationId xmlns:p14="http://schemas.microsoft.com/office/powerpoint/2010/main" val="203172774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48D747C-BAD4-4482-BF68-38E662D8D514}"/>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79A86F53-2F64-4CF3-A45D-8BD7DF80D27B}"/>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8-11 min</a:t>
            </a:r>
          </a:p>
        </p:txBody>
      </p:sp>
      <p:sp>
        <p:nvSpPr>
          <p:cNvPr id="4" name="TextBox 3">
            <a:extLst xmlns:a="http://schemas.openxmlformats.org/drawingml/2006/main">
              <a:ext uri="{FF2B5EF4-FFF2-40B4-BE49-F238E27FC236}">
                <a16:creationId xmlns:a16="http://schemas.microsoft.com/office/drawing/2014/main" id="{835851AD-26FD-40F8-AB06-20DB74359DCB}"/>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Why the real apparatus needs a second model</a:t>
            </a:r>
          </a:p>
        </p:txBody>
      </p:sp>
      <p:pic>
        <p:nvPicPr>
          <p:cNvPr id="17" name="Picture 4"/>
          <p:cNvPicPr>
            <a:picLocks xmlns:a="http://schemas.openxmlformats.org/drawingml/2006/main" noChangeAspect="1"/>
          </p:cNvPicPr>
          <p:nvPr/>
        </p:nvPicPr>
        <p:blipFill>
          <a:blip xmlns:r="http://schemas.openxmlformats.org/officeDocument/2006/relationships" xmlns:a="http://schemas.openxmlformats.org/drawingml/2006/main" r:embed="R4f860b8924014fc5"/>
          <a:stretch xmlns:a="http://schemas.openxmlformats.org/drawingml/2006/main">
            <a:fillRect l="0" t="0" r="0" b="0"/>
          </a:stretch>
        </p:blipFill>
        <p:spPr>
          <a:xfrm xmlns:a="http://schemas.openxmlformats.org/drawingml/2006/main">
            <a:off x="685800" y="1417320"/>
            <a:ext cx="3108960" cy="448056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6A8D7B2E-2C13-450D-A138-FB1FEFB788E1}"/>
              </a:ext>
            </a:extLst>
          </p:cNvPr>
          <p:cNvSpPr>
            <a:spLocks xmlns:a="http://schemas.openxmlformats.org/drawingml/2006/main" noGrp="1"/>
          </p:cNvSpPr>
          <p:nvPr/>
        </p:nvSpPr>
        <p:spPr>
          <a:xfrm xmlns:a="http://schemas.openxmlformats.org/drawingml/2006/main">
            <a:off x="4069080" y="1417320"/>
            <a:ext cx="7406640" cy="5029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200" b="1">
                <a:solidFill>
                  <a:srgbClr val="881C1C"/>
                </a:solidFill>
                <a:latin typeface="Aptos"/>
                <a:ea typeface="Aptos"/>
                <a:cs typeface="Aptos"/>
              </a:defRPr>
            </a:pPr>
            <a:r>
              <a:t>Moment of inertia about the pivot</a:t>
            </a:r>
          </a:p>
        </p:txBody>
      </p:sp>
      <p:pic>
        <p:nvPicPr>
          <p:cNvPr id="19" name="Picture 6"/>
          <p:cNvPicPr>
            <a:picLocks xmlns:a="http://schemas.openxmlformats.org/drawingml/2006/main" noChangeAspect="1"/>
          </p:cNvPicPr>
          <p:nvPr/>
        </p:nvPicPr>
        <p:blipFill>
          <a:blip xmlns:r="http://schemas.openxmlformats.org/officeDocument/2006/relationships" xmlns:a="http://schemas.openxmlformats.org/drawingml/2006/main" r:embed="R1dc76c9cca0446b5"/>
          <a:stretch xmlns:a="http://schemas.openxmlformats.org/drawingml/2006/main">
            <a:fillRect l="0" t="0" r="0" b="0"/>
          </a:stretch>
        </p:blipFill>
        <p:spPr>
          <a:xfrm xmlns:a="http://schemas.openxmlformats.org/drawingml/2006/main">
            <a:off x="4572000" y="1938528"/>
            <a:ext cx="5029200" cy="621792"/>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B6DF0A7E-5388-4486-B438-BC889FB80671}"/>
              </a:ext>
            </a:extLst>
          </p:cNvPr>
          <p:cNvSpPr>
            <a:spLocks xmlns:a="http://schemas.openxmlformats.org/drawingml/2006/main" noGrp="1"/>
          </p:cNvSpPr>
          <p:nvPr/>
        </p:nvSpPr>
        <p:spPr>
          <a:xfrm xmlns:a="http://schemas.openxmlformats.org/drawingml/2006/main">
            <a:off x="4069080" y="2788920"/>
            <a:ext cx="7406640" cy="5029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200" b="1">
                <a:solidFill>
                  <a:srgbClr val="881C1C"/>
                </a:solidFill>
                <a:latin typeface="Aptos"/>
                <a:ea typeface="Aptos"/>
                <a:cs typeface="Aptos"/>
              </a:defRPr>
            </a:pPr>
            <a:r>
              <a:t>Gravity torque</a:t>
            </a:r>
          </a:p>
        </p:txBody>
      </p:sp>
      <p:pic>
        <p:nvPicPr>
          <p:cNvPr id="21" name="Picture 8"/>
          <p:cNvPicPr>
            <a:picLocks xmlns:a="http://schemas.openxmlformats.org/drawingml/2006/main" noChangeAspect="1"/>
          </p:cNvPicPr>
          <p:nvPr/>
        </p:nvPicPr>
        <p:blipFill>
          <a:blip xmlns:r="http://schemas.openxmlformats.org/officeDocument/2006/relationships" xmlns:a="http://schemas.openxmlformats.org/drawingml/2006/main" r:embed="R48ca4ce637834b3c"/>
          <a:stretch xmlns:a="http://schemas.openxmlformats.org/drawingml/2006/main">
            <a:fillRect l="0" t="0" r="0" b="0"/>
          </a:stretch>
        </p:blipFill>
        <p:spPr>
          <a:xfrm xmlns:a="http://schemas.openxmlformats.org/drawingml/2006/main">
            <a:off x="4315968" y="3310128"/>
            <a:ext cx="5852160" cy="731520"/>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308A0790-DC4B-4113-B0BC-3EDEF55BDF9C}"/>
              </a:ext>
            </a:extLst>
          </p:cNvPr>
          <p:cNvSpPr>
            <a:spLocks xmlns:a="http://schemas.openxmlformats.org/drawingml/2006/main" noGrp="1"/>
          </p:cNvSpPr>
          <p:nvPr/>
        </p:nvSpPr>
        <p:spPr>
          <a:xfrm xmlns:a="http://schemas.openxmlformats.org/drawingml/2006/main">
            <a:off x="4069080" y="4572000"/>
            <a:ext cx="7406640" cy="100584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1350" b="0">
                <a:solidFill>
                  <a:srgbClr val="282828"/>
                </a:solidFill>
                <a:latin typeface="Aptos"/>
                <a:ea typeface="Aptos"/>
                <a:cs typeface="Aptos"/>
              </a:defRPr>
            </a:pPr>
            <a:r>
              <a:rPr sz="1350" b="0">
                <a:solidFill>
                  <a:srgbClr val="282828"/>
                </a:solidFill>
                <a:latin typeface="Aptos"/>
                <a:ea typeface="Aptos"/>
                <a:cs typeface="Aptos"/>
              </a:rPr>
              <a:t>The bob acts at ℓ. Each piece of the uniform bar lies at a different radius, so the bar contributes to inertia and its weight acts through the bar center of mass at ℓ/2.</a:t>
            </a:r>
          </a:p>
        </p:txBody>
      </p:sp>
    </p:spTree>
    <p:extLst>
      <p:ext uri="{BB962C8B-B14F-4D97-AF65-F5344CB8AC3E}">
        <p14:creationId xmlns:p14="http://schemas.microsoft.com/office/powerpoint/2010/main" val="109478982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442A45B-77AE-4497-B004-CCE166E2A706}"/>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F7B5CDA7-F5A6-4CDC-91A1-F7F515FFCDE1}"/>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11-13 min</a:t>
            </a:r>
          </a:p>
        </p:txBody>
      </p:sp>
      <p:sp>
        <p:nvSpPr>
          <p:cNvPr id="4" name="TextBox 3">
            <a:extLst xmlns:a="http://schemas.openxmlformats.org/drawingml/2006/main">
              <a:ext uri="{FF2B5EF4-FFF2-40B4-BE49-F238E27FC236}">
                <a16:creationId xmlns:a16="http://schemas.microsoft.com/office/drawing/2014/main" id="{31079C0E-DBA4-47DA-BC97-BFC41CCD38AE}"/>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Compound-pendulum equation and natural frequency</a:t>
            </a:r>
          </a:p>
        </p:txBody>
      </p:sp>
      <p:pic>
        <p:nvPicPr>
          <p:cNvPr id="16" name="Picture 4"/>
          <p:cNvPicPr>
            <a:picLocks xmlns:a="http://schemas.openxmlformats.org/drawingml/2006/main" noChangeAspect="1"/>
          </p:cNvPicPr>
          <p:nvPr/>
        </p:nvPicPr>
        <p:blipFill>
          <a:blip xmlns:r="http://schemas.openxmlformats.org/officeDocument/2006/relationships" xmlns:a="http://schemas.openxmlformats.org/drawingml/2006/main" r:embed="R659ba146cdbf4553"/>
          <a:stretch xmlns:a="http://schemas.openxmlformats.org/drawingml/2006/main">
            <a:fillRect l="0" t="0" r="0" b="0"/>
          </a:stretch>
        </p:blipFill>
        <p:spPr>
          <a:xfrm xmlns:a="http://schemas.openxmlformats.org/drawingml/2006/main">
            <a:off x="1005840" y="1481328"/>
            <a:ext cx="10149840" cy="73152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F3F316F5-EBC8-4DDB-A7B5-C87FAF84F9AE}"/>
              </a:ext>
            </a:extLst>
          </p:cNvPr>
          <p:cNvSpPr>
            <a:spLocks xmlns:a="http://schemas.openxmlformats.org/drawingml/2006/main" noGrp="1"/>
          </p:cNvSpPr>
          <p:nvPr/>
        </p:nvSpPr>
        <p:spPr>
          <a:xfrm xmlns:a="http://schemas.openxmlformats.org/drawingml/2006/main">
            <a:off x="640080" y="2514600"/>
            <a:ext cx="10972800" cy="411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200" b="1">
                <a:solidFill>
                  <a:srgbClr val="881C1C"/>
                </a:solidFill>
                <a:latin typeface="Aptos"/>
                <a:ea typeface="Aptos"/>
                <a:cs typeface="Aptos"/>
              </a:defRPr>
            </a:pPr>
            <a:r>
              <a:t>Small-angle approximation</a:t>
            </a:r>
          </a:p>
        </p:txBody>
      </p:sp>
      <p:pic>
        <p:nvPicPr>
          <p:cNvPr id="18" name="Picture 6"/>
          <p:cNvPicPr>
            <a:picLocks xmlns:a="http://schemas.openxmlformats.org/drawingml/2006/main" noChangeAspect="1"/>
          </p:cNvPicPr>
          <p:nvPr/>
        </p:nvPicPr>
        <p:blipFill>
          <a:blip xmlns:r="http://schemas.openxmlformats.org/officeDocument/2006/relationships" xmlns:a="http://schemas.openxmlformats.org/drawingml/2006/main" r:embed="R3bb678f6d5584b7f"/>
          <a:stretch xmlns:a="http://schemas.openxmlformats.org/drawingml/2006/main">
            <a:fillRect l="0" t="0" r="0" b="0"/>
          </a:stretch>
        </p:blipFill>
        <p:spPr>
          <a:xfrm xmlns:a="http://schemas.openxmlformats.org/drawingml/2006/main">
            <a:off x="2148840" y="2971800"/>
            <a:ext cx="7909560" cy="731520"/>
          </a:xfrm>
          <a:prstGeom xmlns:a="http://schemas.openxmlformats.org/drawingml/2006/main" prst="rect">
            <a:avLst/>
          </a:prstGeom>
        </p:spPr>
      </p:pic>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df2846521baa4227"/>
          <a:stretch xmlns:a="http://schemas.openxmlformats.org/drawingml/2006/main">
            <a:fillRect l="0" t="0" r="0" b="0"/>
          </a:stretch>
        </p:blipFill>
        <p:spPr>
          <a:xfrm xmlns:a="http://schemas.openxmlformats.org/drawingml/2006/main">
            <a:off x="3886200" y="3886200"/>
            <a:ext cx="4389120" cy="640080"/>
          </a:xfrm>
          <a:prstGeom xmlns:a="http://schemas.openxmlformats.org/drawingml/2006/main" prst="rect">
            <a:avLst/>
          </a:prstGeom>
        </p:spPr>
      </p:pic>
      <p:sp>
        <p:nvSpPr>
          <p:cNvPr id="9" name="TextBox 8">
            <a:extLst xmlns:a="http://schemas.openxmlformats.org/drawingml/2006/main">
              <a:ext uri="{FF2B5EF4-FFF2-40B4-BE49-F238E27FC236}">
                <a16:creationId xmlns:a16="http://schemas.microsoft.com/office/drawing/2014/main" id="{729366F6-A0D7-44DC-9661-2FEAF90D2175}"/>
              </a:ext>
            </a:extLst>
          </p:cNvPr>
          <p:cNvSpPr>
            <a:spLocks xmlns:a="http://schemas.openxmlformats.org/drawingml/2006/main" noGrp="1"/>
          </p:cNvSpPr>
          <p:nvPr/>
        </p:nvSpPr>
        <p:spPr>
          <a:xfrm xmlns:a="http://schemas.openxmlformats.org/drawingml/2006/main">
            <a:off x="960120" y="4709160"/>
            <a:ext cx="10058400" cy="132588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350">
                <a:solidFill>
                  <a:srgbClr val="282828"/>
                </a:solidFill>
                <a:latin typeface="Aptos"/>
                <a:ea typeface="Aptos"/>
                <a:cs typeface="Aptos"/>
              </a:defRPr>
            </a:pPr>
            <a:r>
              <a:rPr sz="1350">
                <a:solidFill>
                  <a:srgbClr val="282828"/>
                </a:solidFill>
                <a:latin typeface="Aptos"/>
                <a:ea typeface="Aptos"/>
                <a:cs typeface="Aptos"/>
              </a:rPr>
              <a:t>The coefficient of d²θ/dt² is rotational inertia. The coefficient of sin θ is the gravity restoring torque. For small angles in radians, sin θ ≈ θ. The equation then becomes a linear free-vibration model, and their ratio sets the natural frequency.</a:t>
            </a:r>
          </a:p>
        </p:txBody>
      </p:sp>
    </p:spTree>
    <p:extLst>
      <p:ext uri="{BB962C8B-B14F-4D97-AF65-F5344CB8AC3E}">
        <p14:creationId xmlns:p14="http://schemas.microsoft.com/office/powerpoint/2010/main" val="13341823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5B41E19-5A0E-476D-A916-1DF959F9B1E4}"/>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6E453230-ECD3-44BC-8F78-C8CD3535526A}"/>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13-15 min</a:t>
            </a:r>
          </a:p>
        </p:txBody>
      </p:sp>
      <p:sp>
        <p:nvSpPr>
          <p:cNvPr id="4" name="TextBox 3">
            <a:extLst xmlns:a="http://schemas.openxmlformats.org/drawingml/2006/main">
              <a:ext uri="{FF2B5EF4-FFF2-40B4-BE49-F238E27FC236}">
                <a16:creationId xmlns:a16="http://schemas.microsoft.com/office/drawing/2014/main" id="{6438CF5A-7F9C-42B1-93DD-F641BF455ECC}"/>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Why large initial angle changes period</a:t>
            </a:r>
          </a:p>
        </p:txBody>
      </p:sp>
      <p:sp>
        <p:nvSpPr>
          <p:cNvPr id="5" name="TextBox 4">
            <a:extLst xmlns:a="http://schemas.openxmlformats.org/drawingml/2006/main">
              <a:ext uri="{FF2B5EF4-FFF2-40B4-BE49-F238E27FC236}">
                <a16:creationId xmlns:a16="http://schemas.microsoft.com/office/drawing/2014/main" id="{0E6252F4-66AC-47C7-9BF1-9185980D8658}"/>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For small angles in radians, sin θ ≈ θ and the response resembles a linear oscillator. At larger angles, sin θ is smaller than θ, so gravity provides less restoring torque than the linear model predicts. The pendulum then takes longer to complete a cycle. The three Lab 2 releases test this change directly.</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0a730a4d96b7460d"/>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6131945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1065999B-ECC5-4399-8AF7-E520BE7887E0}"/>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63A9F0C3-78D1-4A81-9470-9074A27185EF}"/>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15-17 min</a:t>
            </a:r>
          </a:p>
        </p:txBody>
      </p:sp>
      <p:sp>
        <p:nvSpPr>
          <p:cNvPr id="4" name="TextBox 3">
            <a:extLst xmlns:a="http://schemas.openxmlformats.org/drawingml/2006/main">
              <a:ext uri="{FF2B5EF4-FFF2-40B4-BE49-F238E27FC236}">
                <a16:creationId xmlns:a16="http://schemas.microsoft.com/office/drawing/2014/main" id="{1EA4BB20-6C3B-40EF-A33E-B0CE50FE8FC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Energy during a swing</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97f2dbdd9ec14c45"/>
          <a:stretch xmlns:a="http://schemas.openxmlformats.org/drawingml/2006/main">
            <a:fillRect l="0" t="0" r="0" b="0"/>
          </a:stretch>
        </p:blipFill>
        <p:spPr>
          <a:xfrm xmlns:a="http://schemas.openxmlformats.org/drawingml/2006/main">
            <a:off x="1005840" y="1481328"/>
            <a:ext cx="10149840" cy="82296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B5EAE37D-2525-4249-B5C1-118C73793010}"/>
              </a:ext>
            </a:extLst>
          </p:cNvPr>
          <p:cNvSpPr>
            <a:spLocks xmlns:a="http://schemas.openxmlformats.org/drawingml/2006/main" noGrp="1"/>
          </p:cNvSpPr>
          <p:nvPr/>
        </p:nvSpPr>
        <p:spPr>
          <a:xfrm xmlns:a="http://schemas.openxmlformats.org/drawingml/2006/main">
            <a:off x="914400" y="2971800"/>
            <a:ext cx="10058400" cy="182880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At release, potential energy is largest and angular speed is zero. Near the bottom, potential energy has converted to kinetic energy and angular speed is largest. Pivot friction and air drag remove energy, so amplitude decreases over time. This is visible in θ(t) and in the angular-velocity plot.</a:t>
            </a:r>
          </a:p>
        </p:txBody>
      </p:sp>
    </p:spTree>
    <p:extLst>
      <p:ext uri="{BB962C8B-B14F-4D97-AF65-F5344CB8AC3E}">
        <p14:creationId xmlns:p14="http://schemas.microsoft.com/office/powerpoint/2010/main" val="183050348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A1C0C48-80CA-4F10-AD84-1727491B5A3F}"/>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1171307F-C227-4F5F-BCE5-4E6FE70DDA9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17-19 min</a:t>
            </a:r>
          </a:p>
        </p:txBody>
      </p:sp>
      <p:sp>
        <p:nvSpPr>
          <p:cNvPr id="4" name="TextBox 3">
            <a:extLst xmlns:a="http://schemas.openxmlformats.org/drawingml/2006/main">
              <a:ext uri="{FF2B5EF4-FFF2-40B4-BE49-F238E27FC236}">
                <a16:creationId xmlns:a16="http://schemas.microsoft.com/office/drawing/2014/main" id="{D136171B-12FC-4985-A2A7-9CAC89BE69B7}"/>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What the camera actually measures</a:t>
            </a:r>
          </a:p>
        </p:txBody>
      </p:sp>
      <p:sp>
        <p:nvSpPr>
          <p:cNvPr id="5" name="TextBox 4">
            <a:extLst xmlns:a="http://schemas.openxmlformats.org/drawingml/2006/main">
              <a:ext uri="{FF2B5EF4-FFF2-40B4-BE49-F238E27FC236}">
                <a16:creationId xmlns:a16="http://schemas.microsoft.com/office/drawing/2014/main" id="{1E372E4A-2DD9-4516-965D-EF808D610BD4}"/>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Camera stores frames, not angle directly.</a:t>
            </a:r>
          </a:p>
          <a:p xmlns:a="http://schemas.openxmlformats.org/drawingml/2006/main">
            <a:pPr>
              <a:spcAft>
                <a:spcPts val="1100"/>
              </a:spcAft>
              <a:buNone/>
              <a:defRPr sz="2100">
                <a:solidFill>
                  <a:srgbClr val="161616"/>
                </a:solidFill>
                <a:latin typeface="Aptos"/>
                <a:ea typeface="Aptos"/>
                <a:cs typeface="Aptos"/>
              </a:defRPr>
            </a:pPr>
            <a:r>
              <a:t>Every frame contains pivot and bob positions.</a:t>
            </a:r>
          </a:p>
          <a:p xmlns:a="http://schemas.openxmlformats.org/drawingml/2006/main">
            <a:pPr>
              <a:spcAft>
                <a:spcPts val="1100"/>
              </a:spcAft>
              <a:buNone/>
              <a:defRPr sz="2100">
                <a:solidFill>
                  <a:srgbClr val="161616"/>
                </a:solidFill>
                <a:latin typeface="Aptos"/>
                <a:ea typeface="Aptos"/>
                <a:cs typeface="Aptos"/>
              </a:defRPr>
            </a:pPr>
            <a:r>
              <a:t>Useful record needs full motion in frame, sharp contrast, and visible bob center.</a:t>
            </a:r>
          </a:p>
          <a:p xmlns:a="http://schemas.openxmlformats.org/drawingml/2006/main">
            <a:pPr>
              <a:spcAft>
                <a:spcPts val="1100"/>
              </a:spcAft>
              <a:buNone/>
              <a:defRPr sz="2100">
                <a:solidFill>
                  <a:srgbClr val="161616"/>
                </a:solidFill>
                <a:latin typeface="Aptos"/>
                <a:ea typeface="Aptos"/>
                <a:cs typeface="Aptos"/>
              </a:defRPr>
            </a:pPr>
            <a:r>
              <a:t>Frame rate becomes time spacing of measurement.</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30644e783e6044dc"/>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150738391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BDF14A9D-1471-472A-B41D-1258F69AADEE}"/>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5CAA9A0D-FECA-43C0-8785-04D9042C1A39}"/>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19-21 min</a:t>
            </a:r>
          </a:p>
        </p:txBody>
      </p:sp>
      <p:sp>
        <p:nvSpPr>
          <p:cNvPr id="4" name="TextBox 3">
            <a:extLst xmlns:a="http://schemas.openxmlformats.org/drawingml/2006/main">
              <a:ext uri="{FF2B5EF4-FFF2-40B4-BE49-F238E27FC236}">
                <a16:creationId xmlns:a16="http://schemas.microsoft.com/office/drawing/2014/main" id="{60C4D3FD-44E4-4ACA-91EC-A5EA57F5F8D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Camera settings and useful video</a:t>
            </a:r>
          </a:p>
        </p:txBody>
      </p:sp>
      <p:pic>
        <p:nvPicPr>
          <p:cNvPr id="13" name="Picture 4"/>
          <p:cNvPicPr>
            <a:picLocks xmlns:a="http://schemas.openxmlformats.org/drawingml/2006/main" noChangeAspect="1"/>
          </p:cNvPicPr>
          <p:nvPr/>
        </p:nvPicPr>
        <p:blipFill>
          <a:blip xmlns:r="http://schemas.openxmlformats.org/officeDocument/2006/relationships" xmlns:a="http://schemas.openxmlformats.org/drawingml/2006/main" r:embed="R327130831cfa471a"/>
          <a:stretch xmlns:a="http://schemas.openxmlformats.org/drawingml/2006/main">
            <a:fillRect l="0" t="0" r="0" b="0"/>
          </a:stretch>
        </p:blipFill>
        <p:spPr>
          <a:xfrm xmlns:a="http://schemas.openxmlformats.org/drawingml/2006/main">
            <a:off x="594360" y="1463040"/>
            <a:ext cx="4114800" cy="3063240"/>
          </a:xfrm>
          <a:prstGeom xmlns:a="http://schemas.openxmlformats.org/drawingml/2006/main" prst="rect">
            <a:avLst/>
          </a:prstGeom>
        </p:spPr>
      </p:pic>
      <p:pic>
        <p:nvPicPr>
          <p:cNvPr id="14" name="Picture 5"/>
          <p:cNvPicPr>
            <a:picLocks xmlns:a="http://schemas.openxmlformats.org/drawingml/2006/main" noChangeAspect="1"/>
          </p:cNvPicPr>
          <p:nvPr/>
        </p:nvPicPr>
        <p:blipFill>
          <a:blip xmlns:r="http://schemas.openxmlformats.org/officeDocument/2006/relationships" xmlns:a="http://schemas.openxmlformats.org/drawingml/2006/main" r:embed="Rc6097b7c99a5488a"/>
          <a:stretch xmlns:a="http://schemas.openxmlformats.org/drawingml/2006/main">
            <a:fillRect l="0" t="0" r="0" b="0"/>
          </a:stretch>
        </p:blipFill>
        <p:spPr>
          <a:xfrm xmlns:a="http://schemas.openxmlformats.org/drawingml/2006/main">
            <a:off x="4892040" y="1463040"/>
            <a:ext cx="4114800" cy="3063240"/>
          </a:xfrm>
          <a:prstGeom xmlns:a="http://schemas.openxmlformats.org/drawingml/2006/main" prst="rect">
            <a:avLst/>
          </a:prstGeom>
        </p:spPr>
      </p:pic>
      <p:sp>
        <p:nvSpPr>
          <p:cNvPr id="7" name="TextBox 6">
            <a:extLst xmlns:a="http://schemas.openxmlformats.org/drawingml/2006/main">
              <a:ext uri="{FF2B5EF4-FFF2-40B4-BE49-F238E27FC236}">
                <a16:creationId xmlns:a16="http://schemas.microsoft.com/office/drawing/2014/main" id="{185A065A-5BB5-49F3-9C9A-AA4643D9D500}"/>
              </a:ext>
            </a:extLst>
          </p:cNvPr>
          <p:cNvSpPr>
            <a:spLocks xmlns:a="http://schemas.openxmlformats.org/drawingml/2006/main" noGrp="1"/>
          </p:cNvSpPr>
          <p:nvPr/>
        </p:nvSpPr>
        <p:spPr>
          <a:xfrm xmlns:a="http://schemas.openxmlformats.org/drawingml/2006/main">
            <a:off x="777240" y="4800600"/>
            <a:ext cx="10515600" cy="1051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1700">
                <a:solidFill>
                  <a:srgbClr val="161616"/>
                </a:solidFill>
                <a:latin typeface="Aptos"/>
                <a:ea typeface="Aptos"/>
                <a:cs typeface="Aptos"/>
              </a:defRPr>
            </a:pPr>
            <a:r>
              <a:t>Record actual frame rate.</a:t>
            </a:r>
          </a:p>
          <a:p xmlns:a="http://schemas.openxmlformats.org/drawingml/2006/main">
            <a:pPr>
              <a:spcAft>
                <a:spcPts val="1100"/>
              </a:spcAft>
              <a:buNone/>
              <a:defRPr sz="1700">
                <a:solidFill>
                  <a:srgbClr val="161616"/>
                </a:solidFill>
                <a:latin typeface="Aptos"/>
                <a:ea typeface="Aptos"/>
                <a:cs typeface="Aptos"/>
              </a:defRPr>
            </a:pPr>
            <a:r>
              <a:t>Use trigger delay that includes release and cycles.</a:t>
            </a:r>
          </a:p>
          <a:p xmlns:a="http://schemas.openxmlformats.org/drawingml/2006/main">
            <a:pPr>
              <a:spcAft>
                <a:spcPts val="1100"/>
              </a:spcAft>
              <a:buNone/>
              <a:defRPr sz="1700">
                <a:solidFill>
                  <a:srgbClr val="161616"/>
                </a:solidFill>
                <a:latin typeface="Aptos"/>
                <a:ea typeface="Aptos"/>
                <a:cs typeface="Aptos"/>
              </a:defRPr>
            </a:pPr>
            <a:r>
              <a:t>Test framing before experiment.</a:t>
            </a:r>
          </a:p>
          <a:p xmlns:a="http://schemas.openxmlformats.org/drawingml/2006/main">
            <a:pPr>
              <a:spcAft>
                <a:spcPts val="1100"/>
              </a:spcAft>
              <a:buNone/>
              <a:defRPr sz="1700">
                <a:solidFill>
                  <a:srgbClr val="161616"/>
                </a:solidFill>
                <a:latin typeface="Aptos"/>
                <a:ea typeface="Aptos"/>
                <a:cs typeface="Aptos"/>
              </a:defRPr>
            </a:pPr>
            <a:r>
              <a:t>Smooth video does not prove accurate tracking.</a:t>
            </a:r>
          </a:p>
        </p:txBody>
      </p:sp>
    </p:spTree>
    <p:extLst>
      <p:ext uri="{BB962C8B-B14F-4D97-AF65-F5344CB8AC3E}">
        <p14:creationId xmlns:p14="http://schemas.microsoft.com/office/powerpoint/2010/main" val="88304102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091BC6F-2373-4A3B-B06E-CA26E2FB408D}"/>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89C54191-93F6-4D65-A298-F2F27C9D687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21-23 min</a:t>
            </a:r>
          </a:p>
        </p:txBody>
      </p:sp>
      <p:sp>
        <p:nvSpPr>
          <p:cNvPr id="4" name="TextBox 3">
            <a:extLst xmlns:a="http://schemas.openxmlformats.org/drawingml/2006/main">
              <a:ext uri="{FF2B5EF4-FFF2-40B4-BE49-F238E27FC236}">
                <a16:creationId xmlns:a16="http://schemas.microsoft.com/office/drawing/2014/main" id="{4A3CE92F-CCEB-4F58-B0CC-2284D4BE24A0}"/>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From pixels to coordinates</a:t>
            </a:r>
          </a:p>
        </p:txBody>
      </p:sp>
      <p:sp>
        <p:nvSpPr>
          <p:cNvPr id="5" name="TextBox 4">
            <a:extLst xmlns:a="http://schemas.openxmlformats.org/drawingml/2006/main">
              <a:ext uri="{FF2B5EF4-FFF2-40B4-BE49-F238E27FC236}">
                <a16:creationId xmlns:a16="http://schemas.microsoft.com/office/drawing/2014/main" id="{56DFD7DE-005F-4462-874C-17B2F43F4950}"/>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Calibration marks have known separation, normally 100 mm.</a:t>
            </a:r>
          </a:p>
          <a:p xmlns:a="http://schemas.openxmlformats.org/drawingml/2006/main">
            <a:pPr>
              <a:spcAft>
                <a:spcPts val="1100"/>
              </a:spcAft>
              <a:buNone/>
              <a:defRPr sz="2100">
                <a:solidFill>
                  <a:srgbClr val="161616"/>
                </a:solidFill>
                <a:latin typeface="Aptos"/>
                <a:ea typeface="Aptos"/>
                <a:cs typeface="Aptos"/>
              </a:defRPr>
            </a:pPr>
            <a:r>
              <a:t>Calibration gives pixel-to-millimeter scale.</a:t>
            </a:r>
          </a:p>
          <a:p xmlns:a="http://schemas.openxmlformats.org/drawingml/2006/main">
            <a:pPr>
              <a:spcAft>
                <a:spcPts val="1100"/>
              </a:spcAft>
              <a:buNone/>
              <a:defRPr sz="2100">
                <a:solidFill>
                  <a:srgbClr val="161616"/>
                </a:solidFill>
                <a:latin typeface="Aptos"/>
                <a:ea typeface="Aptos"/>
                <a:cs typeface="Aptos"/>
              </a:defRPr>
            </a:pPr>
            <a:r>
              <a:t>Do not move camera or change zoom after calibration.</a:t>
            </a:r>
          </a:p>
          <a:p xmlns:a="http://schemas.openxmlformats.org/drawingml/2006/main">
            <a:pPr>
              <a:spcAft>
                <a:spcPts val="1100"/>
              </a:spcAft>
              <a:buNone/>
              <a:defRPr sz="2100">
                <a:solidFill>
                  <a:srgbClr val="161616"/>
                </a:solidFill>
                <a:latin typeface="Aptos"/>
                <a:ea typeface="Aptos"/>
                <a:cs typeface="Aptos"/>
              </a:defRPr>
            </a:pPr>
            <a:r>
              <a:t>App saves time and bob coordinates.</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7bb76632fdb34889"/>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185592090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BF5978B-E3CC-4EE6-99D6-AB92DD393345}"/>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FB8B68C7-1576-4512-9E39-79808749046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23-25 min</a:t>
            </a:r>
          </a:p>
        </p:txBody>
      </p:sp>
      <p:sp>
        <p:nvSpPr>
          <p:cNvPr id="4" name="TextBox 3">
            <a:extLst xmlns:a="http://schemas.openxmlformats.org/drawingml/2006/main">
              <a:ext uri="{FF2B5EF4-FFF2-40B4-BE49-F238E27FC236}">
                <a16:creationId xmlns:a16="http://schemas.microsoft.com/office/drawing/2014/main" id="{A3C195FE-42D0-4718-AC46-1A5125FD0362}"/>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From coordinates to a signed angle</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ec6e4b6e993e494d"/>
          <a:stretch xmlns:a="http://schemas.openxmlformats.org/drawingml/2006/main">
            <a:fillRect l="0" t="0" r="0" b="0"/>
          </a:stretch>
        </p:blipFill>
        <p:spPr>
          <a:xfrm xmlns:a="http://schemas.openxmlformats.org/drawingml/2006/main">
            <a:off x="2834640" y="1481328"/>
            <a:ext cx="6583680" cy="77724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E86E207A-049F-4401-9217-4B6CC2C3EC67}"/>
              </a:ext>
            </a:extLst>
          </p:cNvPr>
          <p:cNvSpPr>
            <a:spLocks xmlns:a="http://schemas.openxmlformats.org/drawingml/2006/main" noGrp="1"/>
          </p:cNvSpPr>
          <p:nvPr/>
        </p:nvSpPr>
        <p:spPr>
          <a:xfrm xmlns:a="http://schemas.openxmlformats.org/drawingml/2006/main">
            <a:off x="868680" y="2880360"/>
            <a:ext cx="10058400" cy="2286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For image coordinates, x points right and y points down.</a:t>
            </a:r>
          </a:p>
          <a:p xmlns:a="http://schemas.openxmlformats.org/drawingml/2006/main">
            <a:pPr>
              <a:spcAft>
                <a:spcPts val="1100"/>
              </a:spcAft>
              <a:buNone/>
              <a:defRPr sz="2100">
                <a:solidFill>
                  <a:srgbClr val="161616"/>
                </a:solidFill>
                <a:latin typeface="Aptos"/>
                <a:ea typeface="Aptos"/>
                <a:cs typeface="Aptos"/>
              </a:defRPr>
            </a:pPr>
            <a:r>
              <a:t>The formula gives theta = 0 when the bob is directly below the pivot.</a:t>
            </a:r>
          </a:p>
          <a:p xmlns:a="http://schemas.openxmlformats.org/drawingml/2006/main">
            <a:pPr>
              <a:spcAft>
                <a:spcPts val="1100"/>
              </a:spcAft>
              <a:buNone/>
              <a:defRPr sz="2100">
                <a:solidFill>
                  <a:srgbClr val="161616"/>
                </a:solidFill>
                <a:latin typeface="Aptos"/>
                <a:ea typeface="Aptos"/>
                <a:cs typeface="Aptos"/>
              </a:defRPr>
            </a:pPr>
            <a:r>
              <a:t>Verify zero and sign using one known frame before batch analysis.</a:t>
            </a:r>
          </a:p>
          <a:p xmlns:a="http://schemas.openxmlformats.org/drawingml/2006/main">
            <a:pPr>
              <a:spcAft>
                <a:spcPts val="1100"/>
              </a:spcAft>
              <a:buNone/>
              <a:defRPr sz="2100">
                <a:solidFill>
                  <a:srgbClr val="161616"/>
                </a:solidFill>
                <a:latin typeface="Aptos"/>
                <a:ea typeface="Aptos"/>
                <a:cs typeface="Aptos"/>
              </a:defRPr>
            </a:pPr>
            <a:r>
              <a:t>Use radians for modeling and derivatives.</a:t>
            </a:r>
          </a:p>
        </p:txBody>
      </p:sp>
    </p:spTree>
    <p:extLst>
      <p:ext uri="{BB962C8B-B14F-4D97-AF65-F5344CB8AC3E}">
        <p14:creationId xmlns:p14="http://schemas.microsoft.com/office/powerpoint/2010/main" val="185845488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B03A739-D1AA-4E82-93A8-BB7C7934E7C1}"/>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159ABB5D-09E6-4C78-8C86-2FEB8572ACB9}"/>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25-28 min</a:t>
            </a:r>
          </a:p>
        </p:txBody>
      </p:sp>
      <p:sp>
        <p:nvSpPr>
          <p:cNvPr id="4" name="TextBox 3">
            <a:extLst xmlns:a="http://schemas.openxmlformats.org/drawingml/2006/main">
              <a:ext uri="{FF2B5EF4-FFF2-40B4-BE49-F238E27FC236}">
                <a16:creationId xmlns:a16="http://schemas.microsoft.com/office/drawing/2014/main" id="{FB3E887A-9F6C-4A87-A989-6BDC798F39B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Tracking workflow in MATLAB</a:t>
            </a:r>
          </a:p>
        </p:txBody>
      </p:sp>
      <p:pic>
        <p:nvPicPr>
          <p:cNvPr id="13" name="Picture 4"/>
          <p:cNvPicPr>
            <a:picLocks xmlns:a="http://schemas.openxmlformats.org/drawingml/2006/main" noChangeAspect="1"/>
          </p:cNvPicPr>
          <p:nvPr/>
        </p:nvPicPr>
        <p:blipFill>
          <a:blip xmlns:r="http://schemas.openxmlformats.org/officeDocument/2006/relationships" xmlns:a="http://schemas.openxmlformats.org/drawingml/2006/main" r:embed="Re270618635ec4f77"/>
          <a:stretch xmlns:a="http://schemas.openxmlformats.org/drawingml/2006/main">
            <a:fillRect l="0" t="0" r="0" b="0"/>
          </a:stretch>
        </p:blipFill>
        <p:spPr>
          <a:xfrm xmlns:a="http://schemas.openxmlformats.org/drawingml/2006/main">
            <a:off x="457200" y="1371600"/>
            <a:ext cx="3749039" cy="4389120"/>
          </a:xfrm>
          <a:prstGeom xmlns:a="http://schemas.openxmlformats.org/drawingml/2006/main" prst="rect">
            <a:avLst/>
          </a:prstGeom>
        </p:spPr>
      </p:pic>
      <p:pic>
        <p:nvPicPr>
          <p:cNvPr id="14" name="Picture 5"/>
          <p:cNvPicPr>
            <a:picLocks xmlns:a="http://schemas.openxmlformats.org/drawingml/2006/main" noChangeAspect="1"/>
          </p:cNvPicPr>
          <p:nvPr/>
        </p:nvPicPr>
        <p:blipFill>
          <a:blip xmlns:r="http://schemas.openxmlformats.org/officeDocument/2006/relationships" xmlns:a="http://schemas.openxmlformats.org/drawingml/2006/main" r:embed="R3273f10aa3e048b6"/>
          <a:stretch xmlns:a="http://schemas.openxmlformats.org/drawingml/2006/main">
            <a:fillRect l="0" t="0" r="0" b="0"/>
          </a:stretch>
        </p:blipFill>
        <p:spPr>
          <a:xfrm xmlns:a="http://schemas.openxmlformats.org/drawingml/2006/main">
            <a:off x="4389120" y="1371600"/>
            <a:ext cx="3749039" cy="4389120"/>
          </a:xfrm>
          <a:prstGeom xmlns:a="http://schemas.openxmlformats.org/drawingml/2006/main" prst="rect">
            <a:avLst/>
          </a:prstGeom>
        </p:spPr>
      </p:pic>
      <p:sp>
        <p:nvSpPr>
          <p:cNvPr id="7" name="TextBox 6">
            <a:extLst xmlns:a="http://schemas.openxmlformats.org/drawingml/2006/main">
              <a:ext uri="{FF2B5EF4-FFF2-40B4-BE49-F238E27FC236}">
                <a16:creationId xmlns:a16="http://schemas.microsoft.com/office/drawing/2014/main" id="{965FEB7D-DDFF-471F-84C3-6298455F7604}"/>
              </a:ext>
            </a:extLst>
          </p:cNvPr>
          <p:cNvSpPr>
            <a:spLocks xmlns:a="http://schemas.openxmlformats.org/drawingml/2006/main" noGrp="1"/>
          </p:cNvSpPr>
          <p:nvPr/>
        </p:nvSpPr>
        <p:spPr>
          <a:xfrm xmlns:a="http://schemas.openxmlformats.org/drawingml/2006/main">
            <a:off x="8366760" y="1600200"/>
            <a:ext cx="3383280" cy="39319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1800">
                <a:solidFill>
                  <a:srgbClr val="161616"/>
                </a:solidFill>
                <a:latin typeface="Aptos"/>
                <a:ea typeface="Aptos"/>
                <a:cs typeface="Aptos"/>
              </a:defRPr>
            </a:pPr>
            <a:r>
              <a:t>Select Single pendulum.</a:t>
            </a:r>
          </a:p>
          <a:p xmlns:a="http://schemas.openxmlformats.org/drawingml/2006/main">
            <a:pPr>
              <a:spcAft>
                <a:spcPts val="1100"/>
              </a:spcAft>
              <a:buNone/>
              <a:defRPr sz="1800">
                <a:solidFill>
                  <a:srgbClr val="161616"/>
                </a:solidFill>
                <a:latin typeface="Aptos"/>
                <a:ea typeface="Aptos"/>
                <a:cs typeface="Aptos"/>
              </a:defRPr>
            </a:pPr>
            <a:r>
              <a:t>Enter actual camera frame rate.</a:t>
            </a:r>
          </a:p>
          <a:p xmlns:a="http://schemas.openxmlformats.org/drawingml/2006/main">
            <a:pPr>
              <a:spcAft>
                <a:spcPts val="1100"/>
              </a:spcAft>
              <a:buNone/>
              <a:defRPr sz="1800">
                <a:solidFill>
                  <a:srgbClr val="161616"/>
                </a:solidFill>
                <a:latin typeface="Aptos"/>
                <a:ea typeface="Aptos"/>
                <a:cs typeface="Aptos"/>
              </a:defRPr>
            </a:pPr>
            <a:r>
              <a:t>Calibrate, select pivot and bob, then Quick Review.</a:t>
            </a:r>
          </a:p>
          <a:p xmlns:a="http://schemas.openxmlformats.org/drawingml/2006/main">
            <a:pPr>
              <a:spcAft>
                <a:spcPts val="1100"/>
              </a:spcAft>
              <a:buNone/>
              <a:defRPr sz="1800">
                <a:solidFill>
                  <a:srgbClr val="161616"/>
                </a:solidFill>
                <a:latin typeface="Aptos"/>
                <a:ea typeface="Aptos"/>
                <a:cs typeface="Aptos"/>
              </a:defRPr>
            </a:pPr>
            <a:r>
              <a:t>Run Analyze All Frames only after marker follows bob.</a:t>
            </a:r>
          </a:p>
        </p:txBody>
      </p:sp>
    </p:spTree>
    <p:extLst>
      <p:ext uri="{BB962C8B-B14F-4D97-AF65-F5344CB8AC3E}">
        <p14:creationId xmlns:p14="http://schemas.microsoft.com/office/powerpoint/2010/main" val="105805939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61ACA026-F6AD-41D4-9681-8F1407526610}"/>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AF76EDC6-856E-488A-9203-CE637920FAFB}"/>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28-30 min</a:t>
            </a:r>
          </a:p>
        </p:txBody>
      </p:sp>
      <p:sp>
        <p:nvSpPr>
          <p:cNvPr id="4" name="TextBox 3">
            <a:extLst xmlns:a="http://schemas.openxmlformats.org/drawingml/2006/main">
              <a:ext uri="{FF2B5EF4-FFF2-40B4-BE49-F238E27FC236}">
                <a16:creationId xmlns:a16="http://schemas.microsoft.com/office/drawing/2014/main" id="{1BACDE57-05FC-4189-A4AF-FF3E0009CE12}"/>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Why frame rate belongs in report</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10e84a884bee4311"/>
          <a:stretch xmlns:a="http://schemas.openxmlformats.org/drawingml/2006/main">
            <a:fillRect l="0" t="0" r="0" b="0"/>
          </a:stretch>
        </p:blipFill>
        <p:spPr>
          <a:xfrm xmlns:a="http://schemas.openxmlformats.org/drawingml/2006/main">
            <a:off x="2331720" y="1481328"/>
            <a:ext cx="7498079" cy="73152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E167906F-C9DC-4F9F-A477-8E5EBCE95BD0}"/>
              </a:ext>
            </a:extLst>
          </p:cNvPr>
          <p:cNvSpPr>
            <a:spLocks xmlns:a="http://schemas.openxmlformats.org/drawingml/2006/main" noGrp="1"/>
          </p:cNvSpPr>
          <p:nvPr/>
        </p:nvSpPr>
        <p:spPr>
          <a:xfrm xmlns:a="http://schemas.openxmlformats.org/drawingml/2006/main">
            <a:off x="868680" y="2788920"/>
            <a:ext cx="10058400" cy="2103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For l = 0.82 m, one cycle contains roughly 1800 frames.</a:t>
            </a:r>
          </a:p>
          <a:p xmlns:a="http://schemas.openxmlformats.org/drawingml/2006/main">
            <a:pPr>
              <a:spcAft>
                <a:spcPts val="1100"/>
              </a:spcAft>
              <a:buNone/>
              <a:defRPr sz="2100">
                <a:solidFill>
                  <a:srgbClr val="161616"/>
                </a:solidFill>
                <a:latin typeface="Aptos"/>
                <a:ea typeface="Aptos"/>
                <a:cs typeface="Aptos"/>
              </a:defRPr>
            </a:pPr>
            <a:r>
              <a:t>The rate greatly exceeds the Nyquist minimum for the pendulum.</a:t>
            </a:r>
          </a:p>
          <a:p xmlns:a="http://schemas.openxmlformats.org/drawingml/2006/main">
            <a:pPr>
              <a:spcAft>
                <a:spcPts val="1100"/>
              </a:spcAft>
              <a:buNone/>
              <a:defRPr sz="2100">
                <a:solidFill>
                  <a:srgbClr val="161616"/>
                </a:solidFill>
                <a:latin typeface="Aptos"/>
                <a:ea typeface="Aptos"/>
                <a:cs typeface="Aptos"/>
              </a:defRPr>
            </a:pPr>
            <a:r>
              <a:t>Wrong frame rate gives wrong time, frequency, and angular velocity.</a:t>
            </a:r>
          </a:p>
        </p:txBody>
      </p:sp>
    </p:spTree>
    <p:extLst>
      <p:ext uri="{BB962C8B-B14F-4D97-AF65-F5344CB8AC3E}">
        <p14:creationId xmlns:p14="http://schemas.microsoft.com/office/powerpoint/2010/main" val="14028229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830F899-65C7-48A2-B550-3E4EA6284B9F}"/>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C1931FF1-4DDD-4177-9183-4D10261CE626}"/>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30-32 min</a:t>
            </a:r>
          </a:p>
        </p:txBody>
      </p:sp>
      <p:sp>
        <p:nvSpPr>
          <p:cNvPr id="4" name="TextBox 3">
            <a:extLst xmlns:a="http://schemas.openxmlformats.org/drawingml/2006/main">
              <a:ext uri="{FF2B5EF4-FFF2-40B4-BE49-F238E27FC236}">
                <a16:creationId xmlns:a16="http://schemas.microsoft.com/office/drawing/2014/main" id="{D3E28EF5-1474-4EBB-A8EB-9C1C6CA6BA4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Angular velocity and noise</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b2c1ce3c778744f8"/>
          <a:stretch xmlns:a="http://schemas.openxmlformats.org/drawingml/2006/main">
            <a:fillRect l="0" t="0" r="0" b="0"/>
          </a:stretch>
        </p:blipFill>
        <p:spPr>
          <a:xfrm xmlns:a="http://schemas.openxmlformats.org/drawingml/2006/main">
            <a:off x="3154680" y="1481328"/>
            <a:ext cx="5852160" cy="749808"/>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91A627DF-738B-45DA-B7D5-28DB20B40B5E}"/>
              </a:ext>
            </a:extLst>
          </p:cNvPr>
          <p:cNvSpPr>
            <a:spLocks xmlns:a="http://schemas.openxmlformats.org/drawingml/2006/main" noGrp="1"/>
          </p:cNvSpPr>
          <p:nvPr/>
        </p:nvSpPr>
        <p:spPr>
          <a:xfrm xmlns:a="http://schemas.openxmlformats.org/drawingml/2006/main">
            <a:off x="868680" y="2834640"/>
            <a:ext cx="10058400" cy="2286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Differentiation magnifies frame-to-frame error.</a:t>
            </a:r>
          </a:p>
          <a:p xmlns:a="http://schemas.openxmlformats.org/drawingml/2006/main">
            <a:pPr>
              <a:spcAft>
                <a:spcPts val="1100"/>
              </a:spcAft>
              <a:buNone/>
              <a:defRPr sz="2100">
                <a:solidFill>
                  <a:srgbClr val="161616"/>
                </a:solidFill>
                <a:latin typeface="Aptos"/>
                <a:ea typeface="Aptos"/>
                <a:cs typeface="Aptos"/>
              </a:defRPr>
            </a:pPr>
            <a:r>
              <a:t>Inspect theta(t) before interpreting omega(t).</a:t>
            </a:r>
          </a:p>
          <a:p xmlns:a="http://schemas.openxmlformats.org/drawingml/2006/main">
            <a:pPr>
              <a:spcAft>
                <a:spcPts val="1100"/>
              </a:spcAft>
              <a:buNone/>
              <a:defRPr sz="2100">
                <a:solidFill>
                  <a:srgbClr val="161616"/>
                </a:solidFill>
                <a:latin typeface="Aptos"/>
                <a:ea typeface="Aptos"/>
                <a:cs typeface="Aptos"/>
              </a:defRPr>
            </a:pPr>
            <a:r>
              <a:t>State smoothing method and show it does not hide tracking problems.</a:t>
            </a:r>
          </a:p>
          <a:p xmlns:a="http://schemas.openxmlformats.org/drawingml/2006/main">
            <a:pPr>
              <a:spcAft>
                <a:spcPts val="1100"/>
              </a:spcAft>
              <a:buNone/>
              <a:defRPr sz="2100">
                <a:solidFill>
                  <a:srgbClr val="161616"/>
                </a:solidFill>
                <a:latin typeface="Aptos"/>
                <a:ea typeface="Aptos"/>
                <a:cs typeface="Aptos"/>
              </a:defRPr>
            </a:pPr>
            <a:r>
              <a:t>Maximum speed occurs near the bottom.</a:t>
            </a:r>
          </a:p>
        </p:txBody>
      </p:sp>
    </p:spTree>
    <p:extLst>
      <p:ext uri="{BB962C8B-B14F-4D97-AF65-F5344CB8AC3E}">
        <p14:creationId xmlns:p14="http://schemas.microsoft.com/office/powerpoint/2010/main" val="45978197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941933A-49F5-43C2-A8EA-D144DB7B4D65}"/>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54E233CB-0105-441D-A2F2-C061698E4C6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32-34 min</a:t>
            </a:r>
          </a:p>
        </p:txBody>
      </p:sp>
      <p:sp>
        <p:nvSpPr>
          <p:cNvPr id="4" name="TextBox 3">
            <a:extLst xmlns:a="http://schemas.openxmlformats.org/drawingml/2006/main">
              <a:ext uri="{FF2B5EF4-FFF2-40B4-BE49-F238E27FC236}">
                <a16:creationId xmlns:a16="http://schemas.microsoft.com/office/drawing/2014/main" id="{4FA3BFBB-10D3-4E5D-8B63-A826D4026712}"/>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Period from time history and spectrum</a:t>
            </a:r>
          </a:p>
        </p:txBody>
      </p:sp>
      <p:sp>
        <p:nvSpPr>
          <p:cNvPr id="5" name="TextBox 4">
            <a:extLst xmlns:a="http://schemas.openxmlformats.org/drawingml/2006/main">
              <a:ext uri="{FF2B5EF4-FFF2-40B4-BE49-F238E27FC236}">
                <a16:creationId xmlns:a16="http://schemas.microsoft.com/office/drawing/2014/main" id="{9747D644-6303-4C45-8D0F-747514D1F49C}"/>
              </a:ext>
            </a:extLst>
          </p:cNvPr>
          <p:cNvSpPr>
            <a:spLocks xmlns:a="http://schemas.openxmlformats.org/drawingml/2006/main" noGrp="1"/>
          </p:cNvSpPr>
          <p:nvPr/>
        </p:nvSpPr>
        <p:spPr>
          <a:xfrm xmlns:a="http://schemas.openxmlformats.org/drawingml/2006/main">
            <a:off x="640080" y="1508760"/>
            <a:ext cx="54864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Time domain: measure several cycles between same-direction peaks.</a:t>
            </a:r>
          </a:p>
          <a:p xmlns:a="http://schemas.openxmlformats.org/drawingml/2006/main">
            <a:pPr>
              <a:spcAft>
                <a:spcPts val="1100"/>
              </a:spcAft>
              <a:buNone/>
              <a:defRPr sz="2100">
                <a:solidFill>
                  <a:srgbClr val="161616"/>
                </a:solidFill>
                <a:latin typeface="Aptos"/>
                <a:ea typeface="Aptos"/>
                <a:cs typeface="Aptos"/>
              </a:defRPr>
            </a:pPr>
            <a:r>
              <a:t>Frequency domain: remove mean, compute FFT, identify dominant peak.</a:t>
            </a:r>
          </a:p>
          <a:p xmlns:a="http://schemas.openxmlformats.org/drawingml/2006/main">
            <a:pPr>
              <a:spcAft>
                <a:spcPts val="1100"/>
              </a:spcAft>
              <a:buNone/>
              <a:defRPr sz="2100">
                <a:solidFill>
                  <a:srgbClr val="161616"/>
                </a:solidFill>
                <a:latin typeface="Aptos"/>
                <a:ea typeface="Aptos"/>
                <a:cs typeface="Aptos"/>
              </a:defRPr>
            </a:pPr>
            <a:r>
              <a:t>Report record duration Tᵣ and frequency-bin spacing.</a:t>
            </a:r>
          </a:p>
          <a:p xmlns:a="http://schemas.openxmlformats.org/drawingml/2006/main">
            <a:pPr>
              <a:spcAft>
                <a:spcPts val="1100"/>
              </a:spcAft>
              <a:buNone/>
              <a:defRPr sz="2100">
                <a:solidFill>
                  <a:srgbClr val="161616"/>
                </a:solidFill>
                <a:latin typeface="Aptos"/>
                <a:ea typeface="Aptos"/>
                <a:cs typeface="Aptos"/>
              </a:defRPr>
            </a:pPr>
            <a:r>
              <a:t>Time-domain period and spectral frequency should agree within resolution.</a:t>
            </a:r>
          </a:p>
        </p:txBody>
      </p:sp>
      <p:pic>
        <p:nvPicPr>
          <p:cNvPr id="12" name="Picture 5"/>
          <p:cNvPicPr>
            <a:picLocks xmlns:a="http://schemas.openxmlformats.org/drawingml/2006/main" noChangeAspect="1"/>
          </p:cNvPicPr>
          <p:nvPr/>
        </p:nvPicPr>
        <p:blipFill>
          <a:blip xmlns:r="http://schemas.openxmlformats.org/officeDocument/2006/relationships" xmlns:a="http://schemas.openxmlformats.org/drawingml/2006/main" r:embed="R01bfc0f98b7a4d07"/>
          <a:stretch xmlns:a="http://schemas.openxmlformats.org/drawingml/2006/main">
            <a:fillRect l="0" t="0" r="0" b="0"/>
          </a:stretch>
        </p:blipFill>
        <p:spPr>
          <a:xfrm xmlns:a="http://schemas.openxmlformats.org/drawingml/2006/main">
            <a:off x="6583680" y="1828800"/>
            <a:ext cx="4297680" cy="685800"/>
          </a:xfrm>
          <a:prstGeom xmlns:a="http://schemas.openxmlformats.org/drawingml/2006/main" prst="rect">
            <a:avLst/>
          </a:prstGeom>
        </p:spPr>
      </p:pic>
      <p:pic>
        <p:nvPicPr>
          <p:cNvPr id="13" name="Picture 6"/>
          <p:cNvPicPr>
            <a:picLocks xmlns:a="http://schemas.openxmlformats.org/drawingml/2006/main" noChangeAspect="1"/>
          </p:cNvPicPr>
          <p:nvPr/>
        </p:nvPicPr>
        <p:blipFill>
          <a:blip xmlns:r="http://schemas.openxmlformats.org/officeDocument/2006/relationships" xmlns:a="http://schemas.openxmlformats.org/drawingml/2006/main" r:embed="Rd9771c8d99df460a"/>
          <a:stretch xmlns:a="http://schemas.openxmlformats.org/drawingml/2006/main">
            <a:fillRect l="0" t="0" r="0" b="0"/>
          </a:stretch>
        </p:blipFill>
        <p:spPr>
          <a:xfrm xmlns:a="http://schemas.openxmlformats.org/drawingml/2006/main">
            <a:off x="6629400" y="3337560"/>
            <a:ext cx="4206240" cy="658368"/>
          </a:xfrm>
          <a:prstGeom xmlns:a="http://schemas.openxmlformats.org/drawingml/2006/main" prst="rect">
            <a:avLst/>
          </a:prstGeom>
        </p:spPr>
      </p:pic>
    </p:spTree>
    <p:extLst>
      <p:ext uri="{BB962C8B-B14F-4D97-AF65-F5344CB8AC3E}">
        <p14:creationId xmlns:p14="http://schemas.microsoft.com/office/powerpoint/2010/main" val="202665760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FDBF5FD-45E1-47B3-94F9-82656A8E6AD3}"/>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503C4229-4EC4-4AD6-AEDA-16DA20CC4F4D}"/>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34-36 min</a:t>
            </a:r>
          </a:p>
        </p:txBody>
      </p:sp>
      <p:sp>
        <p:nvSpPr>
          <p:cNvPr id="4" name="TextBox 3">
            <a:extLst xmlns:a="http://schemas.openxmlformats.org/drawingml/2006/main">
              <a:ext uri="{FF2B5EF4-FFF2-40B4-BE49-F238E27FC236}">
                <a16:creationId xmlns:a16="http://schemas.microsoft.com/office/drawing/2014/main" id="{BFA9504D-6B91-470D-A286-F6891BC17C4F}"/>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Lab 2 trial matrix</a:t>
            </a:r>
          </a:p>
        </p:txBody>
      </p:sp>
      <p:sp>
        <p:nvSpPr>
          <p:cNvPr id="5" name="TextBox 4">
            <a:extLst xmlns:a="http://schemas.openxmlformats.org/drawingml/2006/main">
              <a:ext uri="{FF2B5EF4-FFF2-40B4-BE49-F238E27FC236}">
                <a16:creationId xmlns:a16="http://schemas.microsoft.com/office/drawing/2014/main" id="{08F3B4EE-626F-4324-B3B3-F25C97892C28}"/>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Trial A: theta0 below 10 degrees. Closest test of small-angle theory.</a:t>
            </a:r>
          </a:p>
          <a:p xmlns:a="http://schemas.openxmlformats.org/drawingml/2006/main">
            <a:pPr>
              <a:spcAft>
                <a:spcPts val="1100"/>
              </a:spcAft>
              <a:buNone/>
              <a:defRPr sz="2100">
                <a:solidFill>
                  <a:srgbClr val="161616"/>
                </a:solidFill>
                <a:latin typeface="Aptos"/>
                <a:ea typeface="Aptos"/>
                <a:cs typeface="Aptos"/>
              </a:defRPr>
            </a:pPr>
            <a:r>
              <a:t>Trial B: theta0 from 10 to 90 degrees. Observe period change.</a:t>
            </a:r>
          </a:p>
          <a:p xmlns:a="http://schemas.openxmlformats.org/drawingml/2006/main">
            <a:pPr>
              <a:spcAft>
                <a:spcPts val="1100"/>
              </a:spcAft>
              <a:buNone/>
              <a:defRPr sz="2100">
                <a:solidFill>
                  <a:srgbClr val="161616"/>
                </a:solidFill>
                <a:latin typeface="Aptos"/>
                <a:ea typeface="Aptos"/>
                <a:cs typeface="Aptos"/>
              </a:defRPr>
            </a:pPr>
            <a:r>
              <a:t>Trial C: theta0 from 90 to 180 degrees. Expect strong nonlinearity; keep bob in frame.</a:t>
            </a:r>
          </a:p>
          <a:p xmlns:a="http://schemas.openxmlformats.org/drawingml/2006/main">
            <a:pPr>
              <a:spcAft>
                <a:spcPts val="1100"/>
              </a:spcAft>
              <a:buNone/>
              <a:defRPr sz="2100">
                <a:solidFill>
                  <a:srgbClr val="161616"/>
                </a:solidFill>
                <a:latin typeface="Aptos"/>
                <a:ea typeface="Aptos"/>
                <a:cs typeface="Aptos"/>
              </a:defRPr>
            </a:pPr>
            <a:r>
              <a:t>All releases start from rest. Record theta0 from protractor.</a:t>
            </a:r>
          </a:p>
        </p:txBody>
      </p:sp>
    </p:spTree>
    <p:extLst>
      <p:ext uri="{BB962C8B-B14F-4D97-AF65-F5344CB8AC3E}">
        <p14:creationId xmlns:p14="http://schemas.microsoft.com/office/powerpoint/2010/main" val="206313861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FE720EA-43F2-43CE-8AD5-DC19FD0C9129}"/>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2F9BE1EC-439E-42AD-B4C6-489D4C54156A}"/>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36-38 min</a:t>
            </a:r>
          </a:p>
        </p:txBody>
      </p:sp>
      <p:sp>
        <p:nvSpPr>
          <p:cNvPr id="4" name="TextBox 3">
            <a:extLst xmlns:a="http://schemas.openxmlformats.org/drawingml/2006/main">
              <a:ext uri="{FF2B5EF4-FFF2-40B4-BE49-F238E27FC236}">
                <a16:creationId xmlns:a16="http://schemas.microsoft.com/office/drawing/2014/main" id="{D5AB94B9-E93E-4B3D-A5BB-11DAEBDB7B21}"/>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Data quality before accepting video</a:t>
            </a:r>
          </a:p>
        </p:txBody>
      </p:sp>
      <p:sp>
        <p:nvSpPr>
          <p:cNvPr id="5" name="TextBox 4">
            <a:extLst xmlns:a="http://schemas.openxmlformats.org/drawingml/2006/main">
              <a:ext uri="{FF2B5EF4-FFF2-40B4-BE49-F238E27FC236}">
                <a16:creationId xmlns:a16="http://schemas.microsoft.com/office/drawing/2014/main" id="{F70A4C32-4FAB-4EB0-85A8-C7F0CA7E61A2}"/>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Bob remains in frame.</a:t>
            </a:r>
          </a:p>
          <a:p xmlns:a="http://schemas.openxmlformats.org/drawingml/2006/main">
            <a:pPr>
              <a:spcAft>
                <a:spcPts val="1100"/>
              </a:spcAft>
              <a:buNone/>
              <a:defRPr sz="2100">
                <a:solidFill>
                  <a:srgbClr val="161616"/>
                </a:solidFill>
                <a:latin typeface="Aptos"/>
                <a:ea typeface="Aptos"/>
                <a:cs typeface="Aptos"/>
              </a:defRPr>
            </a:pPr>
            <a:r>
              <a:t>Bob edge and center are visible without glare.</a:t>
            </a:r>
          </a:p>
          <a:p xmlns:a="http://schemas.openxmlformats.org/drawingml/2006/main">
            <a:pPr>
              <a:spcAft>
                <a:spcPts val="1100"/>
              </a:spcAft>
              <a:buNone/>
              <a:defRPr sz="2100">
                <a:solidFill>
                  <a:srgbClr val="161616"/>
                </a:solidFill>
                <a:latin typeface="Aptos"/>
                <a:ea typeface="Aptos"/>
                <a:cs typeface="Aptos"/>
              </a:defRPr>
            </a:pPr>
            <a:r>
              <a:t>Pivot and calibration marks are visible.</a:t>
            </a:r>
          </a:p>
          <a:p xmlns:a="http://schemas.openxmlformats.org/drawingml/2006/main">
            <a:pPr>
              <a:spcAft>
                <a:spcPts val="1100"/>
              </a:spcAft>
              <a:buNone/>
              <a:defRPr sz="2100">
                <a:solidFill>
                  <a:srgbClr val="161616"/>
                </a:solidFill>
                <a:latin typeface="Aptos"/>
                <a:ea typeface="Aptos"/>
                <a:cs typeface="Aptos"/>
              </a:defRPr>
            </a:pPr>
            <a:r>
              <a:t>Release begins from rest.</a:t>
            </a:r>
          </a:p>
          <a:p xmlns:a="http://schemas.openxmlformats.org/drawingml/2006/main">
            <a:pPr>
              <a:spcAft>
                <a:spcPts val="1100"/>
              </a:spcAft>
              <a:buNone/>
              <a:defRPr sz="2100">
                <a:solidFill>
                  <a:srgbClr val="161616"/>
                </a:solidFill>
                <a:latin typeface="Aptos"/>
                <a:ea typeface="Aptos"/>
                <a:cs typeface="Aptos"/>
              </a:defRPr>
            </a:pPr>
            <a:r>
              <a:t>Quick Review follows bob for nearly all frames.</a:t>
            </a:r>
          </a:p>
          <a:p xmlns:a="http://schemas.openxmlformats.org/drawingml/2006/main">
            <a:pPr>
              <a:spcAft>
                <a:spcPts val="1100"/>
              </a:spcAft>
              <a:buNone/>
              <a:defRPr sz="2100">
                <a:solidFill>
                  <a:srgbClr val="161616"/>
                </a:solidFill>
                <a:latin typeface="Aptos"/>
                <a:ea typeface="Aptos"/>
                <a:cs typeface="Aptos"/>
              </a:defRPr>
            </a:pPr>
            <a:r>
              <a:t>Notes include file name, angle, frame rate, and calibration distance.</a:t>
            </a:r>
          </a:p>
        </p:txBody>
      </p:sp>
    </p:spTree>
    <p:extLst>
      <p:ext uri="{BB962C8B-B14F-4D97-AF65-F5344CB8AC3E}">
        <p14:creationId xmlns:p14="http://schemas.microsoft.com/office/powerpoint/2010/main" val="197136023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5C81512-0F9F-466E-8507-1AFD46E2405E}"/>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46E6B86C-E086-4E52-BBF1-C54904658549}"/>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38-41 min</a:t>
            </a:r>
          </a:p>
        </p:txBody>
      </p:sp>
      <p:sp>
        <p:nvSpPr>
          <p:cNvPr id="4" name="TextBox 3">
            <a:extLst xmlns:a="http://schemas.openxmlformats.org/drawingml/2006/main">
              <a:ext uri="{FF2B5EF4-FFF2-40B4-BE49-F238E27FC236}">
                <a16:creationId xmlns:a16="http://schemas.microsoft.com/office/drawing/2014/main" id="{192D3E97-C817-4F5A-9F36-568BDB4A8DA1}"/>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Pre-Lab 2: what you submit</a:t>
            </a:r>
          </a:p>
        </p:txBody>
      </p:sp>
      <p:sp>
        <p:nvSpPr>
          <p:cNvPr id="5" name="TextBox 4">
            <a:extLst xmlns:a="http://schemas.openxmlformats.org/drawingml/2006/main">
              <a:ext uri="{FF2B5EF4-FFF2-40B4-BE49-F238E27FC236}">
                <a16:creationId xmlns:a16="http://schemas.microsoft.com/office/drawing/2014/main" id="{78A43DE4-5C00-4255-9D63-F59ED2752CBA}"/>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One Word or PDF before laboratory section.</a:t>
            </a:r>
          </a:p>
          <a:p xmlns:a="http://schemas.openxmlformats.org/drawingml/2006/main">
            <a:pPr>
              <a:spcAft>
                <a:spcPts val="1100"/>
              </a:spcAft>
              <a:buNone/>
              <a:defRPr sz="2100">
                <a:solidFill>
                  <a:srgbClr val="161616"/>
                </a:solidFill>
                <a:latin typeface="Aptos"/>
                <a:ea typeface="Aptos"/>
                <a:cs typeface="Aptos"/>
              </a:defRPr>
            </a:pPr>
            <a:r>
              <a:t>Task 1: compare point-mass and compound-pendulum frequencies.</a:t>
            </a:r>
          </a:p>
          <a:p xmlns:a="http://schemas.openxmlformats.org/drawingml/2006/main">
            <a:pPr>
              <a:spcAft>
                <a:spcPts val="1100"/>
              </a:spcAft>
              <a:buNone/>
              <a:defRPr sz="2100">
                <a:solidFill>
                  <a:srgbClr val="161616"/>
                </a:solidFill>
                <a:latin typeface="Aptos"/>
                <a:ea typeface="Aptos"/>
                <a:cs typeface="Aptos"/>
              </a:defRPr>
            </a:pPr>
            <a:r>
              <a:t>Task 2: predict behavior before running the supplied simulation.</a:t>
            </a:r>
          </a:p>
          <a:p xmlns:a="http://schemas.openxmlformats.org/drawingml/2006/main">
            <a:pPr>
              <a:spcAft>
                <a:spcPts val="1100"/>
              </a:spcAft>
              <a:buNone/>
              <a:defRPr sz="2100">
                <a:solidFill>
                  <a:srgbClr val="161616"/>
                </a:solidFill>
                <a:latin typeface="Aptos"/>
                <a:ea typeface="Aptos"/>
                <a:cs typeface="Aptos"/>
              </a:defRPr>
            </a:pPr>
            <a:r>
              <a:t>Task 3: estimate periods and explain finite-angle behavior.</a:t>
            </a:r>
          </a:p>
          <a:p xmlns:a="http://schemas.openxmlformats.org/drawingml/2006/main">
            <a:pPr>
              <a:spcAft>
                <a:spcPts val="1100"/>
              </a:spcAft>
              <a:buNone/>
              <a:defRPr sz="2100">
                <a:solidFill>
                  <a:srgbClr val="161616"/>
                </a:solidFill>
                <a:latin typeface="Aptos"/>
                <a:ea typeface="Aptos"/>
                <a:cs typeface="Aptos"/>
              </a:defRPr>
            </a:pPr>
            <a:r>
              <a:t>Tasks 4-6: explain coordinates, frame rate, and the laboratory plan.</a:t>
            </a:r>
          </a:p>
        </p:txBody>
      </p:sp>
    </p:spTree>
    <p:extLst>
      <p:ext uri="{BB962C8B-B14F-4D97-AF65-F5344CB8AC3E}">
        <p14:creationId xmlns:p14="http://schemas.microsoft.com/office/powerpoint/2010/main" val="178474311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E72E96BD-0178-4799-84B9-4B1944E728B8}"/>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C625DB2C-9D56-464E-A0D7-167E1064E772}"/>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41-44 min</a:t>
            </a:r>
          </a:p>
        </p:txBody>
      </p:sp>
      <p:sp>
        <p:nvSpPr>
          <p:cNvPr id="4" name="TextBox 3">
            <a:extLst xmlns:a="http://schemas.openxmlformats.org/drawingml/2006/main">
              <a:ext uri="{FF2B5EF4-FFF2-40B4-BE49-F238E27FC236}">
                <a16:creationId xmlns:a16="http://schemas.microsoft.com/office/drawing/2014/main" id="{63CC6799-5815-44C5-ADD7-22B88EA48F4E}"/>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Evidence for combined Lab 2 and 3 report</a:t>
            </a:r>
          </a:p>
        </p:txBody>
      </p:sp>
      <p:sp>
        <p:nvSpPr>
          <p:cNvPr id="5" name="TextBox 4">
            <a:extLst xmlns:a="http://schemas.openxmlformats.org/drawingml/2006/main">
              <a:ext uri="{FF2B5EF4-FFF2-40B4-BE49-F238E27FC236}">
                <a16:creationId xmlns:a16="http://schemas.microsoft.com/office/drawing/2014/main" id="{0F228006-D906-487C-87E6-501B7769935F}"/>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Schematic: pivot, l, M, m, theta, and positive direction.</a:t>
            </a:r>
          </a:p>
          <a:p xmlns:a="http://schemas.openxmlformats.org/drawingml/2006/main">
            <a:pPr>
              <a:spcAft>
                <a:spcPts val="1100"/>
              </a:spcAft>
              <a:buNone/>
              <a:defRPr sz="2100">
                <a:solidFill>
                  <a:srgbClr val="161616"/>
                </a:solidFill>
                <a:latin typeface="Aptos"/>
                <a:ea typeface="Aptos"/>
                <a:cs typeface="Aptos"/>
              </a:defRPr>
            </a:pPr>
            <a:r>
              <a:t>Table: measured parameters and analytical, nonlinear, time-domain, and FFT frequencies.</a:t>
            </a:r>
          </a:p>
          <a:p xmlns:a="http://schemas.openxmlformats.org/drawingml/2006/main">
            <a:pPr>
              <a:spcAft>
                <a:spcPts val="1100"/>
              </a:spcAft>
              <a:buNone/>
              <a:defRPr sz="2100">
                <a:solidFill>
                  <a:srgbClr val="161616"/>
                </a:solidFill>
                <a:latin typeface="Aptos"/>
                <a:ea typeface="Aptos"/>
                <a:cs typeface="Aptos"/>
              </a:defRPr>
            </a:pPr>
            <a:r>
              <a:t>Plots: theta(t), omega(t), and spectra with units.</a:t>
            </a:r>
          </a:p>
          <a:p xmlns:a="http://schemas.openxmlformats.org/drawingml/2006/main">
            <a:pPr>
              <a:spcAft>
                <a:spcPts val="1100"/>
              </a:spcAft>
              <a:buNone/>
              <a:defRPr sz="2100">
                <a:solidFill>
                  <a:srgbClr val="161616"/>
                </a:solidFill>
                <a:latin typeface="Aptos"/>
                <a:ea typeface="Aptos"/>
                <a:cs typeface="Aptos"/>
              </a:defRPr>
            </a:pPr>
            <a:r>
              <a:t>Discussion: separate model limitations from measurement errors.</a:t>
            </a:r>
          </a:p>
        </p:txBody>
      </p:sp>
    </p:spTree>
    <p:extLst>
      <p:ext uri="{BB962C8B-B14F-4D97-AF65-F5344CB8AC3E}">
        <p14:creationId xmlns:p14="http://schemas.microsoft.com/office/powerpoint/2010/main" val="117723870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319291F-6B6E-483A-A194-3F54CFE1C3B2}"/>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A5C60923-C7B8-4766-B064-35EFF83748A4}"/>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44-47 min</a:t>
            </a:r>
          </a:p>
        </p:txBody>
      </p:sp>
      <p:sp>
        <p:nvSpPr>
          <p:cNvPr id="4" name="TextBox 3">
            <a:extLst xmlns:a="http://schemas.openxmlformats.org/drawingml/2006/main">
              <a:ext uri="{FF2B5EF4-FFF2-40B4-BE49-F238E27FC236}">
                <a16:creationId xmlns:a16="http://schemas.microsoft.com/office/drawing/2014/main" id="{CF1D1814-BD6D-4D6D-BE32-A92CF521B89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In-class prediction</a:t>
            </a:r>
          </a:p>
        </p:txBody>
      </p:sp>
      <p:sp>
        <p:nvSpPr>
          <p:cNvPr id="5" name="TextBox 4">
            <a:extLst xmlns:a="http://schemas.openxmlformats.org/drawingml/2006/main">
              <a:ext uri="{FF2B5EF4-FFF2-40B4-BE49-F238E27FC236}">
                <a16:creationId xmlns:a16="http://schemas.microsoft.com/office/drawing/2014/main" id="{12DAFFED-0893-4032-9889-16F206B49538}"/>
              </a:ext>
            </a:extLst>
          </p:cNvPr>
          <p:cNvSpPr>
            <a:spLocks xmlns:a="http://schemas.openxmlformats.org/drawingml/2006/main" noGrp="1"/>
          </p:cNvSpPr>
          <p:nvPr/>
        </p:nvSpPr>
        <p:spPr>
          <a:xfrm xmlns:a="http://schemas.openxmlformats.org/drawingml/2006/main">
            <a:off x="777240" y="1508760"/>
            <a:ext cx="1069848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600" b="1">
                <a:solidFill>
                  <a:srgbClr val="881C1C"/>
                </a:solidFill>
                <a:latin typeface="Aptos"/>
                <a:ea typeface="Aptos"/>
                <a:cs typeface="Aptos"/>
              </a:defRPr>
            </a:pPr>
            <a:r>
              <a:t>For the same apparatus, which release has the longest period?</a:t>
            </a:r>
          </a:p>
        </p:txBody>
      </p:sp>
      <p:sp>
        <p:nvSpPr>
          <p:cNvPr id="6" name="TextBox 5">
            <a:extLst xmlns:a="http://schemas.openxmlformats.org/drawingml/2006/main">
              <a:ext uri="{FF2B5EF4-FFF2-40B4-BE49-F238E27FC236}">
                <a16:creationId xmlns:a16="http://schemas.microsoft.com/office/drawing/2014/main" id="{2E10C478-022F-4068-9DFE-5972EE6DAF49}"/>
              </a:ext>
            </a:extLst>
          </p:cNvPr>
          <p:cNvSpPr>
            <a:spLocks xmlns:a="http://schemas.openxmlformats.org/drawingml/2006/main" noGrp="1"/>
          </p:cNvSpPr>
          <p:nvPr/>
        </p:nvSpPr>
        <p:spPr>
          <a:xfrm xmlns:a="http://schemas.openxmlformats.org/drawingml/2006/main">
            <a:off x="2011680" y="2788920"/>
            <a:ext cx="8138160" cy="2103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400">
                <a:solidFill>
                  <a:srgbClr val="161616"/>
                </a:solidFill>
                <a:latin typeface="Aptos"/>
                <a:ea typeface="Aptos"/>
                <a:cs typeface="Aptos"/>
              </a:defRPr>
            </a:pPr>
            <a:r>
              <a:t>A. 8 degrees</a:t>
            </a:r>
          </a:p>
          <a:p xmlns:a="http://schemas.openxmlformats.org/drawingml/2006/main">
            <a:pPr>
              <a:spcAft>
                <a:spcPts val="1100"/>
              </a:spcAft>
              <a:buNone/>
              <a:defRPr sz="2400">
                <a:solidFill>
                  <a:srgbClr val="161616"/>
                </a:solidFill>
                <a:latin typeface="Aptos"/>
                <a:ea typeface="Aptos"/>
                <a:cs typeface="Aptos"/>
              </a:defRPr>
            </a:pPr>
            <a:r>
              <a:t>B. 35 degrees</a:t>
            </a:r>
          </a:p>
          <a:p xmlns:a="http://schemas.openxmlformats.org/drawingml/2006/main">
            <a:pPr>
              <a:spcAft>
                <a:spcPts val="1100"/>
              </a:spcAft>
              <a:buNone/>
              <a:defRPr sz="2400">
                <a:solidFill>
                  <a:srgbClr val="161616"/>
                </a:solidFill>
                <a:latin typeface="Aptos"/>
                <a:ea typeface="Aptos"/>
                <a:cs typeface="Aptos"/>
              </a:defRPr>
            </a:pPr>
            <a:r>
              <a:t>C. 105 degrees</a:t>
            </a:r>
          </a:p>
          <a:p xmlns:a="http://schemas.openxmlformats.org/drawingml/2006/main">
            <a:pPr>
              <a:spcAft>
                <a:spcPts val="1100"/>
              </a:spcAft>
              <a:buNone/>
              <a:defRPr sz="2400">
                <a:solidFill>
                  <a:srgbClr val="161616"/>
                </a:solidFill>
                <a:latin typeface="Aptos"/>
                <a:ea typeface="Aptos"/>
                <a:cs typeface="Aptos"/>
              </a:defRPr>
            </a:pPr>
            <a:r>
              <a:t>Explain using the exact sine restoring torque.</a:t>
            </a:r>
          </a:p>
        </p:txBody>
      </p:sp>
    </p:spTree>
    <p:extLst>
      <p:ext uri="{BB962C8B-B14F-4D97-AF65-F5344CB8AC3E}">
        <p14:creationId xmlns:p14="http://schemas.microsoft.com/office/powerpoint/2010/main" val="2178697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2F58E18E-12F5-48A9-9D4A-154E9A252A34}"/>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FF2B4DAB-8BD3-418A-89B0-BC901BA4B361}"/>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47-49 min</a:t>
            </a:r>
          </a:p>
        </p:txBody>
      </p:sp>
      <p:sp>
        <p:nvSpPr>
          <p:cNvPr id="4" name="TextBox 3">
            <a:extLst xmlns:a="http://schemas.openxmlformats.org/drawingml/2006/main">
              <a:ext uri="{FF2B5EF4-FFF2-40B4-BE49-F238E27FC236}">
                <a16:creationId xmlns:a16="http://schemas.microsoft.com/office/drawing/2014/main" id="{A2A3282F-BEAD-4CA4-8825-C59659315800}"/>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Before leaving laboratory</a:t>
            </a:r>
          </a:p>
        </p:txBody>
      </p:sp>
      <p:sp>
        <p:nvSpPr>
          <p:cNvPr id="5" name="TextBox 4">
            <a:extLst xmlns:a="http://schemas.openxmlformats.org/drawingml/2006/main">
              <a:ext uri="{FF2B5EF4-FFF2-40B4-BE49-F238E27FC236}">
                <a16:creationId xmlns:a16="http://schemas.microsoft.com/office/drawing/2014/main" id="{3EBDEECD-936C-4760-98B2-4017072C0F39}"/>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Save and back up every video and MAT output.</a:t>
            </a:r>
          </a:p>
          <a:p xmlns:a="http://schemas.openxmlformats.org/drawingml/2006/main">
            <a:pPr>
              <a:spcAft>
                <a:spcPts val="1100"/>
              </a:spcAft>
              <a:buNone/>
              <a:defRPr sz="2100">
                <a:solidFill>
                  <a:srgbClr val="161616"/>
                </a:solidFill>
                <a:latin typeface="Aptos"/>
                <a:ea typeface="Aptos"/>
                <a:cs typeface="Aptos"/>
              </a:defRPr>
            </a:pPr>
            <a:r>
              <a:t>Verify tracking for every trial.</a:t>
            </a:r>
          </a:p>
          <a:p xmlns:a="http://schemas.openxmlformats.org/drawingml/2006/main">
            <a:pPr>
              <a:spcAft>
                <a:spcPts val="1100"/>
              </a:spcAft>
              <a:buNone/>
              <a:defRPr sz="2100">
                <a:solidFill>
                  <a:srgbClr val="161616"/>
                </a:solidFill>
                <a:latin typeface="Aptos"/>
                <a:ea typeface="Aptos"/>
                <a:cs typeface="Aptos"/>
              </a:defRPr>
            </a:pPr>
            <a:r>
              <a:t>Record initial angle, frame rate, calibration distance, l, M, m, and file names.</a:t>
            </a:r>
          </a:p>
          <a:p xmlns:a="http://schemas.openxmlformats.org/drawingml/2006/main">
            <a:pPr>
              <a:spcAft>
                <a:spcPts val="1100"/>
              </a:spcAft>
              <a:buNone/>
              <a:defRPr sz="2100">
                <a:solidFill>
                  <a:srgbClr val="161616"/>
                </a:solidFill>
                <a:latin typeface="Aptos"/>
                <a:ea typeface="Aptos"/>
                <a:cs typeface="Aptos"/>
              </a:defRPr>
            </a:pPr>
            <a:r>
              <a:t>Check one theta(t) plot and one spectrum with the GTA.</a:t>
            </a:r>
          </a:p>
        </p:txBody>
      </p:sp>
    </p:spTree>
    <p:extLst>
      <p:ext uri="{BB962C8B-B14F-4D97-AF65-F5344CB8AC3E}">
        <p14:creationId xmlns:p14="http://schemas.microsoft.com/office/powerpoint/2010/main" val="9379418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C6D4D4D-2095-4589-9390-F1A231C8AF1C}"/>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86B186F6-4379-4372-BD09-F6D4B8953FB8}"/>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49-50 min</a:t>
            </a:r>
          </a:p>
        </p:txBody>
      </p:sp>
      <p:sp>
        <p:nvSpPr>
          <p:cNvPr id="4" name="TextBox 3">
            <a:extLst xmlns:a="http://schemas.openxmlformats.org/drawingml/2006/main">
              <a:ext uri="{FF2B5EF4-FFF2-40B4-BE49-F238E27FC236}">
                <a16:creationId xmlns:a16="http://schemas.microsoft.com/office/drawing/2014/main" id="{E6695989-288F-4FF9-B66F-74F3CFE0485E}"/>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Why Lab 2 matters in engineering</a:t>
            </a:r>
          </a:p>
        </p:txBody>
      </p:sp>
      <p:sp>
        <p:nvSpPr>
          <p:cNvPr id="5" name="TextBox 4">
            <a:extLst xmlns:a="http://schemas.openxmlformats.org/drawingml/2006/main">
              <a:ext uri="{FF2B5EF4-FFF2-40B4-BE49-F238E27FC236}">
                <a16:creationId xmlns:a16="http://schemas.microsoft.com/office/drawing/2014/main" id="{4A93BF22-79BB-4864-81AB-25E9B16CC25C}"/>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Suspended crane loads, robot arms, machinery, and flexible structures can oscillate after a disturbance. Engineers predict natural frequency to avoid resonance and excessive motion. An engineering model predicts a response before operation. Camera data then tests the assumptions. Your report should identify whether a mismatch comes from finite angle, bar mass, damping, or measurement error.</a:t>
            </a:r>
          </a:p>
        </p:txBody>
      </p:sp>
    </p:spTree>
    <p:extLst>
      <p:ext uri="{BB962C8B-B14F-4D97-AF65-F5344CB8AC3E}">
        <p14:creationId xmlns:p14="http://schemas.microsoft.com/office/powerpoint/2010/main" val="63272838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2026-09-20T15:12:28.6080000Z</dcterms:created>
  <dcterms:modified xsi:type="dcterms:W3CDTF">2026-09-20T15:12:28.6080000Z</dcterms:modified>
</coreProperties>
</file>