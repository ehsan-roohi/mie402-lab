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3" r:id="rId20"/>
    <p:sldId id="284" r:id="rId21"/>
    <p:sldId id="285" r:id="rId22"/>
    <p:sldId id="286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BC7B7A-10C7-4EB2-80B4-6ACAE2F5865B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8A03DE-AF1B-4CD4-86CF-A42FB3B468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55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Begin with the time trace: count complete cycles, not half swings. Explain A in radians, t in seconds, frequency in Hz and phase φ in radians. With adequate sampling and after subtracting the mean, the fundamental is normally the dominant peak for the small-angle pendulum. Real finite records can spread it over adjacent bins.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1338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computation: C(f)=sum x[n] cos(2πft[n]); S(f)=sum x[n] sin(2πft[n]); magnitude=sqrt(C²+S²). The DFT evaluates these at its frequency bins. A phase shift can make one sum zero, which is why both are needed. Cancellation is approximate for finite off-bin records. Remove the mean so DC does not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381331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tone values are illustrative, not prescribed settings for Lab 1. Assume adequate sampling without clipping or aliasing. The largest spectral component need not equal perceived pitch for a complex sound. FFT magnitude alone does not fully explain timbre or perceived loudness. Link to the earlier two-tone pre-lab: the same decomposition applies to microphone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0686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After these slides return to the FFT algorithm and measurement workflow. Ask students: if a pendulum has T=2 s, where should the main peak be? If two pure sounds are recorded together, how many principal peaks do you expect? Distinguish record duration from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76201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86864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0-2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2: measuring a single pendulum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881C1C"/>
                </a:solidFill>
                <a:latin typeface="Aptos"/>
              </a:defRPr>
            </a:pPr>
            <a:r>
              <a:t>From high-speed video to a defensible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971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161616"/>
                </a:solidFill>
                <a:latin typeface="Aptos"/>
              </a:defRPr>
            </a:pPr>
            <a:r>
              <a:t>Physical model, finite-angle behavior, camera measurement, tracking, and Pre-Lab 2.</a:t>
            </a:r>
          </a:p>
        </p:txBody>
      </p:sp>
      <p:pic>
        <p:nvPicPr>
          <p:cNvPr id="7" name="Picture 6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417320"/>
            <a:ext cx="42062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2-4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you will do in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pendulum from rest at three angle ranges.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motion with high-speed camera.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Track bob and convert x(t), y(t) into theta(t).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period and frequency with model.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4-6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Physical system and coordinate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bob and attached hardware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m: uniform bar mass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l: pivot-to-bob-center distance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theta(t): angle from downward vertical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omega(t) = dtheta/dt; every release begins with omega(0) = 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6-8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Ideal point-mass pendulum</a:t>
            </a:r>
          </a:p>
        </p:txBody>
      </p:sp>
      <p:pic>
        <p:nvPicPr>
          <p:cNvPr id="5" name="Picture 4" descr="point_torqu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481328"/>
            <a:ext cx="6400800" cy="658368"/>
          </a:xfrm>
          <a:prstGeom prst="rect">
            <a:avLst/>
          </a:prstGeom>
        </p:spPr>
      </p:pic>
      <p:pic>
        <p:nvPicPr>
          <p:cNvPr id="6" name="Picture 5" descr="point_eom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395728"/>
            <a:ext cx="5029200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749039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Gravity drives the bob toward theta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sine term makes exact motion nonlinear.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 cancels only because this ideal model treats the bar as massless.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8-11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The bar mass changes the model</a:t>
            </a:r>
          </a:p>
        </p:txBody>
      </p:sp>
      <p:pic>
        <p:nvPicPr>
          <p:cNvPr id="5" name="Picture 4" descr="lab2-compound-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10896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69080" y="14173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Moment of inertia about the pivot</a:t>
            </a:r>
          </a:p>
        </p:txBody>
      </p:sp>
      <p:pic>
        <p:nvPicPr>
          <p:cNvPr id="7" name="Picture 6" descr="inertia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938528"/>
            <a:ext cx="5029200" cy="621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69080" y="2788920"/>
            <a:ext cx="7406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81C1C"/>
                </a:solidFill>
                <a:latin typeface="Aptos"/>
              </a:defRPr>
            </a:pPr>
            <a:r>
              <a:t>Gravity torque</a:t>
            </a:r>
          </a:p>
        </p:txBody>
      </p:sp>
      <p:pic>
        <p:nvPicPr>
          <p:cNvPr id="9" name="Picture 8" descr="gravity_torque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3310128"/>
            <a:ext cx="585216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9080" y="4572000"/>
            <a:ext cx="7406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61616"/>
                </a:solidFill>
                <a:latin typeface="Aptos"/>
              </a:defRPr>
            </a:pPr>
            <a:r>
              <a:t>The bob acts at l. The uniform bar acts through its center of mass at l/2.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11-13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Compound-pendulum equation</a:t>
            </a:r>
          </a:p>
        </p:txBody>
      </p:sp>
      <p:pic>
        <p:nvPicPr>
          <p:cNvPr id="5" name="Picture 4" descr="compound_eom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2514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81C1C"/>
                </a:solidFill>
                <a:latin typeface="Aptos"/>
              </a:defRPr>
            </a:pPr>
            <a:r>
              <a:t>Small-angle approximation</a:t>
            </a:r>
          </a:p>
        </p:txBody>
      </p:sp>
      <p:pic>
        <p:nvPicPr>
          <p:cNvPr id="7" name="Picture 6" descr="small_angle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971800"/>
            <a:ext cx="7909560" cy="731520"/>
          </a:xfrm>
          <a:prstGeom prst="rect">
            <a:avLst/>
          </a:prstGeom>
        </p:spPr>
      </p:pic>
      <p:pic>
        <p:nvPicPr>
          <p:cNvPr id="8" name="Picture 7" descr="frequency_peri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3886200"/>
            <a:ext cx="438912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4709160"/>
            <a:ext cx="10058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Measure M, m, and l for the apparatus.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The point-mass formula applies only when bar mass is negligible.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Mass distribution changes inertia and gravity torque by different amounts.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13-15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large initial angle changes period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large angle, sin(theta) differs from theta.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Exact restoring torque is weaker than the linear model predicts at the same angle.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Finite-angle motion takes longer to complete a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nonlinear equation from Pre-Lab 2 for all three releases.</a:t>
            </a:r>
          </a:p>
        </p:txBody>
      </p:sp>
      <p:pic>
        <p:nvPicPr>
          <p:cNvPr id="6" name="Picture 5" descr="lab2-pendulum-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15-17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Energy during a swing</a:t>
            </a:r>
          </a:p>
        </p:txBody>
      </p:sp>
      <p:pic>
        <p:nvPicPr>
          <p:cNvPr id="5" name="Picture 4" descr="energy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81328"/>
            <a:ext cx="1014984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971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At release theta is largest and omega = 0.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Near the bottom theta = 0 and speed is largest.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Air drag and pivot friction cause measured amplitude and energy to decrease.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17-19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the camera actually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81C1C"/>
                </a:solidFill>
                <a:latin typeface="Aptos"/>
              </a:defRPr>
            </a:pPr>
            <a:r>
              <a:t>What is recorded: a video frame</a:t>
            </a:r>
          </a:p>
        </p:txBody>
      </p:sp>
      <p:pic>
        <p:nvPicPr>
          <p:cNvPr id="6" name="Picture 5" descr="lab2-camera-frame-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572768"/>
            <a:ext cx="4800600" cy="2999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4636008"/>
            <a:ext cx="4800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Aptos"/>
              </a:defRPr>
            </a:pPr>
            <a:r>
              <a:t>The frame must show the fixed pivot and the bob center.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126187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881C1C"/>
                </a:solidFill>
                <a:latin typeface="Aptos"/>
              </a:defRPr>
            </a:pPr>
            <a:r>
              <a:t>What controls the recording</a:t>
            </a:r>
          </a:p>
        </p:txBody>
      </p:sp>
      <p:pic>
        <p:nvPicPr>
          <p:cNvPr id="9" name="Picture 8" descr="lab2-camera-main-scre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72768"/>
            <a:ext cx="4681728" cy="2999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636008"/>
            <a:ext cx="46817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666666"/>
                </a:solidFill>
                <a:latin typeface="Aptos"/>
              </a:defRPr>
            </a:pPr>
            <a:r>
              <a:t>Camera interface: frame rate, exposure, focus, and Record.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48072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The camera stores frames, not angle directly.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For every frame, the analyzer finds the pivot and bob-center positions.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Those two positions give theta(t); the chosen frame rate gives the time step between frames.</a:t>
            </a:r>
          </a:p>
          <a:p>
            <a:pPr>
              <a:spcAft>
                <a:spcPts val="1100"/>
              </a:spcAft>
              <a:defRPr sz="1600">
                <a:solidFill>
                  <a:srgbClr val="161616"/>
                </a:solidFill>
                <a:latin typeface="Aptos"/>
              </a:defRPr>
            </a:pPr>
            <a:r>
              <a:t>Keep full motion in frame and use sharp contrast so the center can be tracked.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19-21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Camera settings and useful video</a:t>
            </a:r>
          </a:p>
        </p:txBody>
      </p:sp>
      <p:pic>
        <p:nvPicPr>
          <p:cNvPr id="5" name="Picture 4" descr="lab2-camera-record-sett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4114800" cy="3063240"/>
          </a:xfrm>
          <a:prstGeom prst="rect">
            <a:avLst/>
          </a:prstGeom>
        </p:spPr>
      </p:pic>
      <p:pic>
        <p:nvPicPr>
          <p:cNvPr id="6" name="Picture 5" descr="lab2-camera-trigger-del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463040"/>
            <a:ext cx="4114800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47091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Record the actual frame rate and resolution shown by the camera; do not copy a number from this example screen.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Frame rate f_s sets the time spacing: Delta t = 1/f_s. Exposure/shutter controls blur. Playback rate only changes viewing speed.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Use trigger delay that includes release and several complete cycles.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Test framing before experiment. Smooth video does not prove accurate tracking.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21-23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pixels to 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marks have known separation, normally 100 mm.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Calibration gives pixel-to-millimeter scale.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Do not move camera or change zoom after calibration.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App saves time and bob coordinates.</a:t>
            </a:r>
          </a:p>
        </p:txBody>
      </p:sp>
      <p:pic>
        <p:nvPicPr>
          <p:cNvPr id="6" name="Picture 5" descr="lab2-analyzer-calib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475488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23-25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From coordinates to a signed angle</a:t>
            </a:r>
          </a:p>
        </p:txBody>
      </p:sp>
      <p:pic>
        <p:nvPicPr>
          <p:cNvPr id="5" name="Picture 4" descr="angle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1481328"/>
            <a:ext cx="658368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8036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image coordinates, x points right and y points down.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formula gives theta = 0 when the bob is directly below the pivot.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zero and sign using one known frame before batch analysis.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radians for modeling and derivatives.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25-28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Tracking workflow in MATLAB</a:t>
            </a:r>
          </a:p>
        </p:txBody>
      </p:sp>
      <p:pic>
        <p:nvPicPr>
          <p:cNvPr id="5" name="Picture 4" descr="lab2-analyzer-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749039" cy="4389120"/>
          </a:xfrm>
          <a:prstGeom prst="rect">
            <a:avLst/>
          </a:prstGeom>
        </p:spPr>
      </p:pic>
      <p:pic>
        <p:nvPicPr>
          <p:cNvPr id="6" name="Picture 5" descr="lab2-analyzer-track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371600"/>
            <a:ext cx="3749039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00200"/>
            <a:ext cx="33832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Select Single pendulum.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Enter actual camera frame rate.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Calibrate, select pivot and bob, then Quick Review.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Run Analyze All Frames only after marker follows bob.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28-30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Why frame rate belongs in report</a:t>
            </a:r>
          </a:p>
        </p:txBody>
      </p:sp>
      <p:pic>
        <p:nvPicPr>
          <p:cNvPr id="5" name="Picture 4" descr="nyquist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1481328"/>
            <a:ext cx="7498079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788920"/>
            <a:ext cx="10058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For this slow pendulum, the assigned high-speed rate provides many frames per cycle.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actual value of f_s becomes the time axis of the data: Delta t = 1/f_s.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Wrong f_s rescales time, frequency, and angular velocity. Record the value shown by the camera.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30-31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Angular velocity and noise</a:t>
            </a:r>
          </a:p>
        </p:txBody>
      </p:sp>
      <p:pic>
        <p:nvPicPr>
          <p:cNvPr id="5" name="Picture 4" descr="omega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81328"/>
            <a:ext cx="585216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283464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Differentiation magnifies frame-to-frame error.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Inspect theta(t) before interpreting omega(t).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State smoothing method and show it does not hide tracking problems.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Maximum speed occurs near the bottom.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31-32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Period from time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Measure several cycles between same-direction peaks in theta(t).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 = (tₖ₊ₙ − tₖ)/N, then f = 1/T.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This is the direct physical measurement: “how long does one swing take?”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FFT as an independent frequency-based check.</a:t>
            </a:r>
          </a:p>
        </p:txBody>
      </p:sp>
      <p:pic>
        <p:nvPicPr>
          <p:cNvPr id="6" name="Picture 5" descr="period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28800"/>
            <a:ext cx="429768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32-33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this video shows: Fourier synthesis</a:t>
            </a:r>
          </a:p>
        </p:txBody>
      </p:sp>
      <p:pic>
        <p:nvPicPr>
          <p:cNvPr id="5" name="linkedin-vide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5800" y="1234440"/>
            <a:ext cx="5120640" cy="4983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1417320"/>
            <a:ext cx="5166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81C1C"/>
                </a:solidFill>
                <a:latin typeface="Aptos"/>
              </a:defRPr>
            </a:pPr>
            <a:r>
              <a:t>Watch the embedded 29-second video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011680"/>
            <a:ext cx="4983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The colored circles are rotating vectors (phasors), each representing one sinusoidal component with its own amplitude, frequency, and phase.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The trace at right is their instantaneous sum. The video therefore builds a waveform from known components: this is Fourier synthesis or a Fourier series.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It is not an FFT calculation and it is not pendulum data. Use it as a visual model for the phrase “a signal can be represented by sinusoidal components.”</a:t>
            </a:r>
          </a:p>
          <a:p>
            <a:pPr>
              <a:spcAft>
                <a:spcPts val="1100"/>
              </a:spcAft>
              <a:defRPr sz="1700">
                <a:solidFill>
                  <a:srgbClr val="161616"/>
                </a:solidFill>
                <a:latin typeface="Aptos"/>
              </a:defRPr>
            </a:pPr>
            <a:r>
              <a:t>In Lab 2 we do the reverse: we start with measured theta(t), and the FFT estimates the components that best describe that record.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33-34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What the FFT means physically</a:t>
            </a:r>
          </a:p>
        </p:txBody>
      </p:sp>
      <p:pic>
        <p:nvPicPr>
          <p:cNvPr id="5" name="Picture 4" descr="fft_phys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2014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80644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The FFT asks: how strongly does the measured theta(t) contain a sinusoid at each candidate frequency?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A tall peak near the pendulum frequency means that oscillation is the dominant repeating motion.</a:t>
            </a:r>
          </a:p>
          <a:p>
            <a:pPr>
              <a:spcAft>
                <a:spcPts val="1100"/>
              </a:spcAft>
              <a:defRPr sz="1500">
                <a:solidFill>
                  <a:srgbClr val="161616"/>
                </a:solidFill>
                <a:latin typeface="Aptos"/>
              </a:defRPr>
            </a:pPr>
            <a:r>
              <a:t>The FFT does not create a new physical tone; it reorganizes the same recorded motion by frequency.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F2F354E-CE31-48F7-9272-542953B24143}"/>
              </a:ext>
            </a:extLst>
          </p:cNvPr>
          <p:cNvSpPr>
            <a:spLocks noGrp="1"/>
          </p:cNvSpPr>
          <p:nvPr/>
        </p:nvSpPr>
        <p:spPr>
          <a:xfrm>
            <a:off x="266700" y="171450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350" b="1">
                <a:solidFill>
                  <a:srgbClr val="881C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81C1C"/>
                </a:solidFill>
                <a:latin typeface="Aptos"/>
                <a:ea typeface="Aptos"/>
                <a:cs typeface="Aptos"/>
              </a:rPr>
              <a:t>MIE 402  |  ME LAB II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1523D3-06A1-4849-8FF3-1EF4F09E77DE}"/>
              </a:ext>
            </a:extLst>
          </p:cNvPr>
          <p:cNvSpPr>
            <a:spLocks noGrp="1"/>
          </p:cNvSpPr>
          <p:nvPr/>
        </p:nvSpPr>
        <p:spPr>
          <a:xfrm>
            <a:off x="266700" y="714375"/>
            <a:ext cx="11620500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925" b="1">
                <a:solidFill>
                  <a:srgbClr val="161616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1616"/>
                </a:solidFill>
                <a:latin typeface="Aptos"/>
                <a:ea typeface="Aptos"/>
                <a:cs typeface="Aptos"/>
              </a:rPr>
              <a:t>Why the pendulum produces an FFT peak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64A824-A0A3-4333-977A-8789E6AA6373}"/>
              </a:ext>
            </a:extLst>
          </p:cNvPr>
          <p:cNvSpPr>
            <a:spLocks noGrp="1"/>
          </p:cNvSpPr>
          <p:nvPr/>
        </p:nvSpPr>
        <p:spPr>
          <a:xfrm>
            <a:off x="647700" y="18097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Example: one complete swing every 2 s gives a frequency of 0.5 Hz.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51D79-5A6A-4F16-BA21-154F68EF4ABE}"/>
              </a:ext>
            </a:extLst>
          </p:cNvPr>
          <p:cNvSpPr>
            <a:spLocks noGrp="1"/>
          </p:cNvSpPr>
          <p:nvPr/>
        </p:nvSpPr>
        <p:spPr>
          <a:xfrm>
            <a:off x="647700" y="28765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For a small release, the angle is approximately a sinusoid:</a:t>
            </a:r>
          </a:p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θ(t) = A cos(2π × 0.5t + φ). This is an illustrative example, not a measured result.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A12E7A-A28C-418B-A01B-FA0EE1607043}"/>
              </a:ext>
            </a:extLst>
          </p:cNvPr>
          <p:cNvSpPr>
            <a:spLocks noGrp="1"/>
          </p:cNvSpPr>
          <p:nvPr/>
        </p:nvSpPr>
        <p:spPr>
          <a:xfrm>
            <a:off x="647700" y="39433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The DFT measures how much of each candidate sinusoid is present.</a:t>
            </a:r>
          </a:p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The FFT computes those same comparisons efficiently.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9443AC-0BA2-4EC1-B8EB-664232AA148E}"/>
              </a:ext>
            </a:extLst>
          </p:cNvPr>
          <p:cNvSpPr>
            <a:spLocks noGrp="1"/>
          </p:cNvSpPr>
          <p:nvPr/>
        </p:nvSpPr>
        <p:spPr>
          <a:xfrm>
            <a:off x="647700" y="50101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The spectrum has its main peak near 0.5 Hz because that sinusoid matches the repeated motion. Check it against the period measured between peaks.</a:t>
            </a:r>
          </a:p>
        </p:txBody>
      </p:sp>
    </p:spTree>
    <p:extLst>
      <p:ext uri="{BB962C8B-B14F-4D97-AF65-F5344CB8AC3E}">
        <p14:creationId xmlns:p14="http://schemas.microsoft.com/office/powerpoint/2010/main" val="16030720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7C5028-8065-42A7-BD86-FA688CAE5F20}"/>
              </a:ext>
            </a:extLst>
          </p:cNvPr>
          <p:cNvSpPr>
            <a:spLocks noGrp="1"/>
          </p:cNvSpPr>
          <p:nvPr/>
        </p:nvSpPr>
        <p:spPr>
          <a:xfrm>
            <a:off x="266700" y="171450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350" b="1">
                <a:solidFill>
                  <a:srgbClr val="881C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81C1C"/>
                </a:solidFill>
                <a:latin typeface="Aptos"/>
                <a:ea typeface="Aptos"/>
                <a:cs typeface="Aptos"/>
              </a:rPr>
              <a:t>MIE 402  |  ME LAB II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1CF005-C947-4E2F-AA96-AEABCF5ED6DE}"/>
              </a:ext>
            </a:extLst>
          </p:cNvPr>
          <p:cNvSpPr>
            <a:spLocks noGrp="1"/>
          </p:cNvSpPr>
          <p:nvPr/>
        </p:nvSpPr>
        <p:spPr>
          <a:xfrm>
            <a:off x="266700" y="714375"/>
            <a:ext cx="11620500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925" b="1">
                <a:solidFill>
                  <a:srgbClr val="161616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1616"/>
                </a:solidFill>
                <a:latin typeface="Aptos"/>
                <a:ea typeface="Aptos"/>
                <a:cs typeface="Aptos"/>
              </a:rPr>
              <a:t>Matching frequency makes the products add up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76F9CF-0950-4B94-BE6F-E3431437EBBD}"/>
              </a:ext>
            </a:extLst>
          </p:cNvPr>
          <p:cNvSpPr>
            <a:spLocks noGrp="1"/>
          </p:cNvSpPr>
          <p:nvPr/>
        </p:nvSpPr>
        <p:spPr>
          <a:xfrm>
            <a:off x="647700" y="18097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Multiply the angle samples by a reference cosine and add the products. For an aligned reference, positive × positive and negative × negative both add positively.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57FDD8-CF91-406E-9137-8C9A6C147A26}"/>
              </a:ext>
            </a:extLst>
          </p:cNvPr>
          <p:cNvSpPr>
            <a:spLocks noGrp="1"/>
          </p:cNvSpPr>
          <p:nvPr/>
        </p:nvSpPr>
        <p:spPr>
          <a:xfrm>
            <a:off x="647700" y="28765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At a different frequency, the reference drifts in and out of step. Positive and negative products largely cancel over a sufficiently long record.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43A473-007D-4366-B527-1848F195C9FE}"/>
              </a:ext>
            </a:extLst>
          </p:cNvPr>
          <p:cNvSpPr>
            <a:spLocks noGrp="1"/>
          </p:cNvSpPr>
          <p:nvPr/>
        </p:nvSpPr>
        <p:spPr>
          <a:xfrm>
            <a:off x="647700" y="39433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Use BOTH a sine and a cosine reference at each frequency. Their combined magnitude detects the component regardless of its initial phase.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831240-38AB-46E2-B46B-63EA479EAD68}"/>
              </a:ext>
            </a:extLst>
          </p:cNvPr>
          <p:cNvSpPr>
            <a:spLocks noGrp="1"/>
          </p:cNvSpPr>
          <p:nvPr/>
        </p:nvSpPr>
        <p:spPr>
          <a:xfrm>
            <a:off x="647700" y="50101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Peak position tells us the repetition frequency. Peak height depends on component amplitude and spectrum scaling, not the largest angle at one instant.</a:t>
            </a:r>
          </a:p>
        </p:txBody>
      </p:sp>
    </p:spTree>
    <p:extLst>
      <p:ext uri="{BB962C8B-B14F-4D97-AF65-F5344CB8AC3E}">
        <p14:creationId xmlns:p14="http://schemas.microsoft.com/office/powerpoint/2010/main" val="79895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9263866-C153-4379-84D6-9D174FDFBA5A}"/>
              </a:ext>
            </a:extLst>
          </p:cNvPr>
          <p:cNvSpPr>
            <a:spLocks noGrp="1"/>
          </p:cNvSpPr>
          <p:nvPr/>
        </p:nvSpPr>
        <p:spPr>
          <a:xfrm>
            <a:off x="266700" y="171450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350" b="1">
                <a:solidFill>
                  <a:srgbClr val="881C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81C1C"/>
                </a:solidFill>
                <a:latin typeface="Aptos"/>
                <a:ea typeface="Aptos"/>
                <a:cs typeface="Aptos"/>
              </a:rPr>
              <a:t>MIE 402  |  ME LAB II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B138F86-C42A-458A-B8F3-B8630BF752AB}"/>
              </a:ext>
            </a:extLst>
          </p:cNvPr>
          <p:cNvSpPr>
            <a:spLocks noGrp="1"/>
          </p:cNvSpPr>
          <p:nvPr/>
        </p:nvSpPr>
        <p:spPr>
          <a:xfrm>
            <a:off x="266700" y="714375"/>
            <a:ext cx="11620500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925" b="1">
                <a:solidFill>
                  <a:srgbClr val="161616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1616"/>
                </a:solidFill>
                <a:latin typeface="Aptos"/>
                <a:ea typeface="Aptos"/>
                <a:cs typeface="Aptos"/>
              </a:rPr>
              <a:t>What FFT measures in the sound experiment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FDC04C-16CF-4FD3-B6A6-7B8D6848872F}"/>
              </a:ext>
            </a:extLst>
          </p:cNvPr>
          <p:cNvSpPr>
            <a:spLocks noGrp="1"/>
          </p:cNvSpPr>
          <p:nvPr/>
        </p:nvSpPr>
        <p:spPr>
          <a:xfrm>
            <a:off x="647700" y="18097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Sound pressure moves the microphone diaphragm. The microphone and acquisition system produce sampled voltage V(t).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556A63-338A-4C66-AF3E-2CDD8328763A}"/>
              </a:ext>
            </a:extLst>
          </p:cNvPr>
          <p:cNvSpPr>
            <a:spLocks noGrp="1"/>
          </p:cNvSpPr>
          <p:nvPr/>
        </p:nvSpPr>
        <p:spPr>
          <a:xfrm>
            <a:off x="647700" y="28765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One pure 440 Hz tone gives a main spectral peak near 440 Hz.</a:t>
            </a:r>
          </a:p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Two tones at 440 and 700 Hz give two main peaks if the record resolves them.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19C9B6-A5AB-4A8B-91BC-71C6899601EE}"/>
              </a:ext>
            </a:extLst>
          </p:cNvPr>
          <p:cNvSpPr>
            <a:spLocks noGrp="1"/>
          </p:cNvSpPr>
          <p:nvPr/>
        </p:nvSpPr>
        <p:spPr>
          <a:xfrm>
            <a:off x="647700" y="39433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A musical note may include a fundamental and higher harmonics. Their relative amplitudes help explain why instruments sound different.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A1CB93-9DC6-4650-B8AE-6EDA5580D864}"/>
              </a:ext>
            </a:extLst>
          </p:cNvPr>
          <p:cNvSpPr>
            <a:spLocks noGrp="1"/>
          </p:cNvSpPr>
          <p:nvPr/>
        </p:nvSpPr>
        <p:spPr>
          <a:xfrm>
            <a:off x="647700" y="50101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The horizontal axis is frequency in Hz. A correctly scaled amplitude spectrum has voltage units. Pressure and sound level require calibration.</a:t>
            </a:r>
          </a:p>
        </p:txBody>
      </p:sp>
    </p:spTree>
    <p:extLst>
      <p:ext uri="{BB962C8B-B14F-4D97-AF65-F5344CB8AC3E}">
        <p14:creationId xmlns:p14="http://schemas.microsoft.com/office/powerpoint/2010/main" val="9083946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0878D6C-8530-42E6-AC17-FEEB17895C29}"/>
              </a:ext>
            </a:extLst>
          </p:cNvPr>
          <p:cNvSpPr>
            <a:spLocks noGrp="1"/>
          </p:cNvSpPr>
          <p:nvPr/>
        </p:nvSpPr>
        <p:spPr>
          <a:xfrm>
            <a:off x="266700" y="171450"/>
            <a:ext cx="4762500" cy="333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350" b="1">
                <a:solidFill>
                  <a:srgbClr val="881C1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81C1C"/>
                </a:solidFill>
                <a:latin typeface="Aptos"/>
                <a:ea typeface="Aptos"/>
                <a:cs typeface="Aptos"/>
              </a:rPr>
              <a:t>MIE 402  |  ME LAB II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85BF91-5702-4D44-8006-8E46CE860F5E}"/>
              </a:ext>
            </a:extLst>
          </p:cNvPr>
          <p:cNvSpPr>
            <a:spLocks noGrp="1"/>
          </p:cNvSpPr>
          <p:nvPr/>
        </p:nvSpPr>
        <p:spPr>
          <a:xfrm>
            <a:off x="266700" y="714375"/>
            <a:ext cx="11620500" cy="80962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925" b="1">
                <a:solidFill>
                  <a:srgbClr val="161616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161616"/>
                </a:solidFill>
                <a:latin typeface="Aptos"/>
                <a:ea typeface="Aptos"/>
                <a:cs typeface="Aptos"/>
              </a:rPr>
              <a:t>The same FFT connects Lab 1 and Lab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EA4F0B-0A84-4C27-B6D8-779505867F74}"/>
              </a:ext>
            </a:extLst>
          </p:cNvPr>
          <p:cNvSpPr>
            <a:spLocks noGrp="1"/>
          </p:cNvSpPr>
          <p:nvPr/>
        </p:nvSpPr>
        <p:spPr>
          <a:xfrm>
            <a:off x="647700" y="18097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Lab 1 input: microphone voltage V(t). Peaks identify frequency components in the recorded sound.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A64BF5-6B34-45C2-A7E8-923195AD920A}"/>
              </a:ext>
            </a:extLst>
          </p:cNvPr>
          <p:cNvSpPr>
            <a:spLocks noGrp="1"/>
          </p:cNvSpPr>
          <p:nvPr/>
        </p:nvSpPr>
        <p:spPr>
          <a:xfrm>
            <a:off x="647700" y="28765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Lab 2 input: tracked angle θ(t). The main oscillation peak gives a period estimate through T = 1/f.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C10E78-3987-4FEA-BD92-AFC6F5881860}"/>
              </a:ext>
            </a:extLst>
          </p:cNvPr>
          <p:cNvSpPr>
            <a:spLocks noGrp="1"/>
          </p:cNvSpPr>
          <p:nvPr/>
        </p:nvSpPr>
        <p:spPr>
          <a:xfrm>
            <a:off x="647700" y="39433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For both: inspect the samples, subtract the mean, use the actual sample rate, and label the spectrum and its units.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770AF4-72FB-400A-B850-B3A2DF37742D}"/>
              </a:ext>
            </a:extLst>
          </p:cNvPr>
          <p:cNvSpPr>
            <a:spLocks noGrp="1"/>
          </p:cNvSpPr>
          <p:nvPr/>
        </p:nvSpPr>
        <p:spPr>
          <a:xfrm>
            <a:off x="647700" y="5010150"/>
            <a:ext cx="1085850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100" b="0">
                <a:solidFill>
                  <a:srgbClr val="192126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192126"/>
                </a:solidFill>
                <a:latin typeface="Aptos"/>
                <a:ea typeface="Aptos"/>
                <a:cs typeface="Aptos"/>
              </a:rPr>
              <a:t>Longer records give finer frequency bins: Δf = 1/Trecord. Noise, leakage and aliasing can mislead us. Verify the pendulum peak against the time trace.</a:t>
            </a:r>
          </a:p>
        </p:txBody>
      </p:sp>
    </p:spTree>
    <p:extLst>
      <p:ext uri="{BB962C8B-B14F-4D97-AF65-F5344CB8AC3E}">
        <p14:creationId xmlns:p14="http://schemas.microsoft.com/office/powerpoint/2010/main" val="27113394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41-42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FFT algorithm: same DFT, fewer repeated calculations</a:t>
            </a:r>
          </a:p>
        </p:txBody>
      </p:sp>
      <p:pic>
        <p:nvPicPr>
          <p:cNvPr id="5" name="Picture 4" descr="fft_dft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234440"/>
            <a:ext cx="6492240" cy="640080"/>
          </a:xfrm>
          <a:prstGeom prst="rect">
            <a:avLst/>
          </a:prstGeom>
        </p:spPr>
      </p:pic>
      <p:pic>
        <p:nvPicPr>
          <p:cNvPr id="6" name="Picture 5" descr="fft_algorith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11201400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22392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400">
                <a:solidFill>
                  <a:srgbClr val="161616"/>
                </a:solidFill>
                <a:latin typeface="Aptos"/>
              </a:defRPr>
            </a:pPr>
            <a:r>
              <a:t>The DFT compares the record with complex sinusoids. The FFT is an efficient algorithm for computing that same DFT.</a:t>
            </a:r>
          </a:p>
          <a:p>
            <a:pPr>
              <a:spcAft>
                <a:spcPts val="1100"/>
              </a:spcAft>
              <a:defRPr sz="1400">
                <a:solidFill>
                  <a:srgbClr val="161616"/>
                </a:solidFill>
                <a:latin typeface="Aptos"/>
              </a:defRPr>
            </a:pPr>
            <a:r>
              <a:t>It splits the samples into even and odd groups, solves smaller transforms, then combines them.</a:t>
            </a:r>
          </a:p>
          <a:p>
            <a:pPr>
              <a:spcAft>
                <a:spcPts val="1100"/>
              </a:spcAft>
              <a:defRPr sz="1400">
                <a:solidFill>
                  <a:srgbClr val="161616"/>
                </a:solidFill>
                <a:latin typeface="Aptos"/>
              </a:defRPr>
            </a:pPr>
            <a:r>
              <a:t>For Lab 2, MATLAB performs this calculation. You must understand the input, the frequency axis, and the physical meaning of the peak.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42-43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Using FFT results in Lab 2</a:t>
            </a:r>
          </a:p>
        </p:txBody>
      </p:sp>
      <p:pic>
        <p:nvPicPr>
          <p:cNvPr id="5" name="Picture 4" descr="fft_bins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417320"/>
            <a:ext cx="5029200" cy="658368"/>
          </a:xfrm>
          <a:prstGeom prst="rect">
            <a:avLst/>
          </a:prstGeom>
        </p:spPr>
      </p:pic>
      <p:pic>
        <p:nvPicPr>
          <p:cNvPr id="6" name="Picture 5" descr="resolution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2331720"/>
            <a:ext cx="365760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33756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Start with the usable theta(t) segment. Remove its mean before the FFT.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Nₛ samples at frame rate fₛ give record duration Tᵣ = Nₛ/fₛ and bin spacing Delta f = 1/Tᵣ.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Read f_peak from the largest physically meaningful peak, then use T_FFT = 1/f_peak.</a:t>
            </a:r>
          </a:p>
          <a:p>
            <a:pPr>
              <a:spcAft>
                <a:spcPts val="1100"/>
              </a:spcAft>
              <a:defRPr sz="1800">
                <a:solidFill>
                  <a:srgbClr val="161616"/>
                </a:solidFill>
                <a:latin typeface="Aptos"/>
              </a:defRPr>
            </a:pPr>
            <a:r>
              <a:t>A longer usable record narrows the bins. Zero-padding can make a smoother plot but does not improve the true resolution.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43-44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Lab 2 trial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A: theta0 below 10 degrees. Closest test of small-angle theory.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B: theta0 from 10 to 90 degrees. Observe period change.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Trial C: theta0 above 90 degrees only when approved by the GTA and the full swing stays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All releases start from rest. Record theta0 from protractor; do not push the bob.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44-45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Data quality before accepting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remains in frame.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Bob edge and center are visible without glare.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Pivot and calibration marks are visible.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Release begins from rest.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Quick Review follows bob for nearly all frames.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Notes include file name, angle, frame rate, and calibration distance.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45-46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Pre-Lab 2: what you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One Word or PDF before laboratory section.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Use the supplied notebook: run the provided cells, keep requested figures, and write your own answers. No programming is assigned.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1: compare point-mass and compound-pendulum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 2: predict behavior before running the supplied simulation.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Tasks 3-6: explain finite-angle behavior, coordinates, frame rate, and the laboratory plan.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46-47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Evidence for combined Lab 2 and 3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Schematic: pivot, l, M, m, theta, and positive direction.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Table: measured parameters and analytical, nonlinear, time-domain, and FFT frequencies.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Plots: theta(t), omega(t), and spectra with units.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Discussion: separate model limitations from measurement errors.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47-48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In-class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881C1C"/>
                </a:solidFill>
                <a:latin typeface="Aptos"/>
              </a:defRPr>
            </a:pPr>
            <a:r>
              <a:t>For the same apparatus, which release has the longest period?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788920"/>
            <a:ext cx="8138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A. 8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B. 35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C. 105 degrees</a:t>
            </a:r>
          </a:p>
          <a:p>
            <a:pPr>
              <a:spcAft>
                <a:spcPts val="1100"/>
              </a:spcAft>
              <a:defRPr sz="2400">
                <a:solidFill>
                  <a:srgbClr val="161616"/>
                </a:solidFill>
                <a:latin typeface="Aptos"/>
              </a:defRPr>
            </a:pPr>
            <a:r>
              <a:t>Explain using the exact sine restoring torque.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48-49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Before leaving laboratory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Save and back up every video and MAT output.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Verify tracking for every trial.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Record initial angle, frame rate, calibration distance, l, M, m, and file names.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Check one theta(t) plot and one spectrum with the GTA.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81C1C"/>
                </a:solidFill>
                <a:latin typeface="Aptos"/>
              </a:defRPr>
            </a:pPr>
            <a:r>
              <a:t>MIE 402  |  ME LAB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0" y="1645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666666"/>
                </a:solidFill>
                <a:latin typeface="Aptos"/>
              </a:defRPr>
            </a:pPr>
            <a:r>
              <a:rPr lang="en-US"/>
              <a:t>49-50 min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68580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161616"/>
                </a:solidFill>
                <a:latin typeface="Aptos"/>
              </a:defRPr>
            </a:pPr>
            <a:r>
              <a:t>Key ideas for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087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The real apparatus is a compound pendulum because the bar has mass.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Initial angle changes the nonlinear period.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Camera coordinates require calibration, a fixed pivot, and a verified sign convention.</a:t>
            </a:r>
          </a:p>
          <a:p>
            <a:pPr>
              <a:spcAft>
                <a:spcPts val="1100"/>
              </a:spcAft>
              <a:defRPr sz="2100">
                <a:solidFill>
                  <a:srgbClr val="161616"/>
                </a:solidFill>
                <a:latin typeface="Aptos"/>
              </a:defRPr>
            </a:pPr>
            <a:r>
              <a:t>Compare analytical theory, nonlinear simulation, time history, and spectrum.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2475</Words>
  <Application>Microsoft Office PowerPoint</Application>
  <PresentationFormat>Widescreen</PresentationFormat>
  <Paragraphs>222</Paragraphs>
  <Slides>31</Slides>
  <Notes>4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Ehsan Roohi Golkhatmi</cp:lastModifiedBy>
  <cp:revision>2</cp:revision>
  <dcterms:created xsi:type="dcterms:W3CDTF">2013-01-27T09:14:16Z</dcterms:created>
  <dcterms:modified xsi:type="dcterms:W3CDTF">2026-09-21T02:46:18Z</dcterms:modified>
  <cp:category/>
</cp:coreProperties>
</file>