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0–2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Double pendulum: from video to physics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Lecture 04 · Monday, October 5,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Lab 3 takes place October 19–23; October 12 has no class or lab.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66744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Today: understand the device, predict motion, prepare measurements and analysis.</a:t>
            </a:r>
          </a:p>
        </p:txBody>
      </p:sp>
      <p:pic>
        <p:nvPicPr>
          <p:cNvPr id="8" name="Picture 7" descr="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42519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2–4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What will students actually do?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Build and measure a two-link pendulum; record four or more useful releases.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Track two moving bob centers with the high-speed camera and MATLAB app.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66744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Convert saved coordinates to two angles; compare traces and spectra with a model.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0016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Keep raw MP4, MAT, masses, lengths, settings, and a trial log.</a:t>
            </a:r>
          </a:p>
        </p:txBody>
      </p:sp>
      <p:pic>
        <p:nvPicPr>
          <p:cNvPr id="9" name="Picture 8" descr="lab3-apparatus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4–6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The two links and two angles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Upper link: fixed pivot to joint/bob 1; lower link: joint to bob 2.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θ₁ and θ₂ are each measured from the downward vertical, positive to the right.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66744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θ₂ is the absolute orientation of link 2; θ₂ − θ₁ is its relative angle.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0016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Measure pivot-to-joint L₁ and joint-to-bob-center L₂.</a:t>
            </a:r>
          </a:p>
        </p:txBody>
      </p:sp>
      <p:pic>
        <p:nvPicPr>
          <p:cNvPr id="9" name="Picture 8" descr="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6–8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One pendulum versus two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Lab 2 had one angle and one principal oscillation frequency.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Lab 3 has two angles: motion of one link changes the other.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66744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Energy transfers between the links; even small motion can contain two normal modes.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0016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At large amplitudes the sine and angle-difference terms make the motion nonlinear.</a:t>
            </a:r>
          </a:p>
        </p:txBody>
      </p:sp>
      <p:pic>
        <p:nvPicPr>
          <p:cNvPr id="9" name="Picture 8" descr="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8–10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The physical model we will test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m₁,m₂: upper/lower uniform bar masses; M₁,M₂: lumped joint/lower-bob masses.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L₁,L₂: pivot-to-joint and joint-to-lower-bob-center distances.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66744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Assume planar rigid links, frictionless pivots, and release from rest for baseline.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0016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Measured masses and lengths replace last year’s illustrative numbers.</a:t>
            </a:r>
          </a:p>
        </p:txBody>
      </p:sp>
      <p:pic>
        <p:nvPicPr>
          <p:cNvPr id="9" name="Picture 8" descr="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10–12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Where the restoring torque comes from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Gravity acts at each bar’s center and at each bob/hardware mass.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For a displaced angle θ, the horizontal lever arm is distance × sin 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6557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Bar centers lie at L₁/2 and L₂/2 for uniform bars.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9826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Potential energy rises as each mass moves above its hanging position.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12–15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Energy of the double pendulum</a:t>
            </a:r>
          </a:p>
        </p:txBody>
      </p:sp>
      <p:pic>
        <p:nvPicPr>
          <p:cNvPr id="5" name="Picture 4" descr="eq-7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4328983" cy="457200"/>
          </a:xfrm>
          <a:prstGeom prst="rect">
            <a:avLst/>
          </a:prstGeom>
        </p:spPr>
      </p:pic>
      <p:pic>
        <p:nvPicPr>
          <p:cNvPr id="6" name="Picture 5" descr="eq-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331720"/>
            <a:ext cx="5887232" cy="457200"/>
          </a:xfrm>
          <a:prstGeom prst="rect">
            <a:avLst/>
          </a:prstGeom>
        </p:spPr>
      </p:pic>
      <p:pic>
        <p:nvPicPr>
          <p:cNvPr id="7" name="Picture 6" descr="eq-7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54680"/>
            <a:ext cx="7248417" cy="457200"/>
          </a:xfrm>
          <a:prstGeom prst="rect">
            <a:avLst/>
          </a:prstGeom>
        </p:spPr>
      </p:pic>
      <p:pic>
        <p:nvPicPr>
          <p:cNvPr id="8" name="Picture 7" descr="eq-7-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977639"/>
            <a:ext cx="3517899" cy="457200"/>
          </a:xfrm>
          <a:prstGeom prst="rect">
            <a:avLst/>
          </a:prstGeom>
        </p:spPr>
      </p:pic>
      <p:pic>
        <p:nvPicPr>
          <p:cNvPr id="9" name="Picture 8" descr="eq-7-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4800600"/>
            <a:ext cx="937895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15–18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Equations used by the supplied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The coupled accelerations are solved together at each time step:</a:t>
            </a:r>
          </a:p>
        </p:txBody>
      </p:sp>
      <p:pic>
        <p:nvPicPr>
          <p:cNvPr id="6" name="Picture 5" descr="eq-8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148840"/>
            <a:ext cx="1935271" cy="457200"/>
          </a:xfrm>
          <a:prstGeom prst="rect">
            <a:avLst/>
          </a:prstGeom>
        </p:spPr>
      </p:pic>
      <p:pic>
        <p:nvPicPr>
          <p:cNvPr id="7" name="Picture 6" descr="eq-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154680"/>
            <a:ext cx="4605866" cy="457200"/>
          </a:xfrm>
          <a:prstGeom prst="rect">
            <a:avLst/>
          </a:prstGeom>
        </p:spPr>
      </p:pic>
      <p:pic>
        <p:nvPicPr>
          <p:cNvPr id="8" name="Picture 7" descr="eq-8-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4160520"/>
            <a:ext cx="4411133" cy="4572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" y="4800600"/>
            <a:ext cx="10881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MATLAB solves this 2×2 system inside ode45; students do not write an ODE solver.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18–20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Why the coupling terms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The off-diagonal C cosΔ couples both angular accelerations.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The sinΔ × angular-speed-squared terms vary as the geometry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6557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Setting both bar masses to zero gives the ideal point-mass limit.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9826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A real bar has mass: leaving it out can shift predicted timing.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20–22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Small motion: two normal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For small angles, sinθ ≈ θ and cos(θ₁−θ₂) ≈ 1.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The linearized model is M₀ q¨ + Kq = 0, with q=[θ₁,θ₂]ᵀ.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66744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In one mode links move mostly together; in the other they move mainly oppositely.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0016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The two frequencies depend on measured masses and lengths.</a:t>
            </a:r>
          </a:p>
        </p:txBody>
      </p:sp>
      <p:pic>
        <p:nvPicPr>
          <p:cNvPr id="9" name="Picture 8" descr="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22–24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Large motion and initial conditions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At large angles, the small-angle approximation is no longer reliable.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Two nearly identical starts may separate over time as coupling changes.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6557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A short finite trace shows sensitivity; it does not by itself prove chaos.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9826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Release without a push; document both initial angles and whether initial speeds are near zero.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24–26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Design the four required trials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A: small nonzero, roughly aligned links, released from rest.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B–D: at least three larger initial-angle combinations.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6557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Include one pair with similar but distinct starting angles to compare sensitivity.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9826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Record actual θ₁(0), θ₂(0), masses, lengths, frame rate, and file names.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26–28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What the high-speed camera records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The camera stores images, not angles or angular velocities.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Use black background, bright bobs, sharp focus, and full-motion framing.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66744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Set 1280×1024 and nominal 1000 capture frames/s, then record actual setting.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0016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Saved MP4 playback frame rate may differ from capture frame rate.</a:t>
            </a:r>
          </a:p>
        </p:txBody>
      </p:sp>
      <p:pic>
        <p:nvPicPr>
          <p:cNvPr id="9" name="Picture 8" descr="lab3-apparatus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28–30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From video to two trajectories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Select Double Pendulum in Pendulum Motion Analyzer V4.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Enter capture frame rate and known calibration distance between black marks.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66744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Locate fixed pivot and centers of both bobs in first frame.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0016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Quick Review first; rerun setup if &gt;10% are missing, then analyze all frames.</a:t>
            </a:r>
          </a:p>
        </p:txBody>
      </p:sp>
      <p:pic>
        <p:nvPicPr>
          <p:cNvPr id="9" name="Picture 8" descr="coordin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30–32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What the MAT file contains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ExpData: time [s], x₁ [mm], y₁ [mm], x₂ [mm], y₂ [mm].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App coordinates are relative to pivot: x is right-positive, y is up-positive.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66744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The lower-link vector is (x₂−x₁, y₂−y₁).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0016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Inspect one saved file before leaving; preserve the raw MP4 as well.</a:t>
            </a:r>
          </a:p>
        </p:txBody>
      </p:sp>
      <p:pic>
        <p:nvPicPr>
          <p:cNvPr id="9" name="Picture 8" descr="coordin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32–34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Convert tracked positions to angles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141414"/>
                </a:solidFill>
                <a:latin typeface="Aptos"/>
              </a:defRPr>
            </a:pPr>
            <a:r>
              <a:t>From the app’s pivot-relative, right-positive and up-positive coordinates:</a:t>
            </a:r>
          </a:p>
        </p:txBody>
      </p:sp>
      <p:pic>
        <p:nvPicPr>
          <p:cNvPr id="6" name="Picture 5" descr="eq-16-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5004147" cy="457200"/>
          </a:xfrm>
          <a:prstGeom prst="rect">
            <a:avLst/>
          </a:prstGeom>
        </p:spPr>
      </p:pic>
      <p:pic>
        <p:nvPicPr>
          <p:cNvPr id="7" name="Picture 6" descr="eq-1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560320"/>
            <a:ext cx="6851736" cy="4572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3794760"/>
            <a:ext cx="54864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Both angles should be near zero when both links hang down. Check one known frame and sign before processing all trials.</a:t>
            </a:r>
          </a:p>
        </p:txBody>
      </p:sp>
      <p:pic>
        <p:nvPicPr>
          <p:cNvPr id="9" name="Picture 8" descr="coordinat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3703320"/>
            <a:ext cx="4754880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34–36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Velocity and frequency: what can we trust?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Angular velocity is the slope of the angle trace; missing points and jitter can amplify noise.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FFT displays frequencies present in a finite record; subtract the mean first.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66744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A coupled pendulum need not have a single “pendulum frequency.”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0016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Use spectra to compare dominant components; inspect time traces and record duration too.</a:t>
            </a:r>
          </a:p>
        </p:txBody>
      </p:sp>
      <p:pic>
        <p:nvPicPr>
          <p:cNvPr id="9" name="Picture 8" descr="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36–39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Compare measured and simulated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Use measured masses, lengths, initial angles, and approximate initial speeds.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Overlay θ₁(t) and θ₂(t) for each trial; compare early timing and shape.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6557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For large-angle trials, focus on short-time agreement and qualitative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9826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Explain discrepancies: release push, calibration, friction, air drag, out-of-plane motion.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39–41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What model omits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The required baseline model has no damping. Real pivots and moving links lose energy.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Amplitude decay is observable, but one recording cannot isolate air drag from pivot friction.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6557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Joint hardware is treated as a lumped mass; real bars and hardware are not perfectly uniform.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9826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Do not tune damping to make one plot look good without documenting a new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41–43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Pre-Lab 3: different from last year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No student coding: run supplied Colab cells and answer in Word/PDF.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Compare a low-angle release with two near-identical large-angle starts.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6557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Predict which trace is simpler; quantify divergence and inspect both angle spectra.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9826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Explain why model mismatch does not automatically mean a tracking error.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43–46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In the lab: a practical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1 Measure parts; log which hardware belongs to which link/bob.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33472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2 Set camera, calibrate, frame, focus, and record four releases.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666744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3 Save MP4; in app select Double Pendulum and Quick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700016"/>
            <a:ext cx="56235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4 Analyze full video, save MAT, make trial plots; show one complete set to GTA.</a:t>
            </a:r>
          </a:p>
        </p:txBody>
      </p:sp>
      <p:pic>
        <p:nvPicPr>
          <p:cNvPr id="9" name="Picture 8" descr="lab3-apparatus-phot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03520" cy="42519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46–48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Before leaving: evidence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Four trial labels with measured initial conditions.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Masses and lengths with units; capture fps and calibration distance.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6557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Raw MP4 and ExpData MAT for each trial.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9826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For one trial: two angle traces, two angular-velocity traces, and spectra checked with GTA.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7315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81C1C"/>
                </a:solidFill>
                <a:latin typeface="Aptos"/>
              </a:defRPr>
            </a:pPr>
            <a:r>
              <a:t>MIE 402  |  ME LAB 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875520" y="201168"/>
            <a:ext cx="17373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4E545B"/>
                </a:solidFill>
                <a:latin typeface="Aptos"/>
              </a:defRPr>
            </a:pPr>
            <a:r>
              <a:t>48–50 min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68096"/>
            <a:ext cx="112471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900" b="1">
                <a:solidFill>
                  <a:srgbClr val="141414"/>
                </a:solidFill>
                <a:latin typeface="Aptos"/>
              </a:defRPr>
            </a:pPr>
            <a:r>
              <a:t>Question for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600200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If θ₁ and θ₂ start almost equal, must they remain equal?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32888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What extra observation distinguishes a bad tracking trace from real coupling?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65576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Which parameter in the model changes if you add washers to the lower bob?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398264"/>
            <a:ext cx="108813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0">
                <a:solidFill>
                  <a:srgbClr val="141414"/>
                </a:solidFill>
                <a:latin typeface="Aptos"/>
              </a:defRPr>
            </a:pPr>
            <a:r>
              <a:t>• Use the pre-lab to test your answer before Lab 3.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4E545B"/>
                </a:solidFill>
                <a:latin typeface="Aptos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