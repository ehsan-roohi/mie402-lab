
<file path=[Content_Types].xml><?xml version="1.0" encoding="utf-8"?>
<Types xmlns="http://schemas.openxmlformats.org/package/2006/content-types">
  <Default Extension="jpe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a:p>
            <a:r>
              <a:t>Course sources: original Lecture 04; Lecture Notes/8_Lab3_Theory.pdf and 9_Lab3_Exp.pdf. Energy derivation uses uniform rigid bars and lumped bob masses defined in the lecture. Expanded explanation for teaching and review.</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a:p>
            <a:r>
              <a:t>Course sources: original Lecture 04; Lecture Notes/8_Lab3_Theory.pdf and 9_Lab3_Exp.pdf. Energy derivation uses uniform rigid bars and lumped bob masses defined in the lecture. Expanded explanation for teaching and review.</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a:p>
            <a:r>
              <a:t>Course sources: original Lecture 04; Lecture Notes/8_Lab3_Theory.pdf and 9_Lab3_Exp.pdf. Energy derivation uses uniform rigid bars and lumped bob masses defined in the lecture. Expanded explanation for teaching and review.</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Upper-bar mass m1 and lower-bar mass m2 are distributed along uniform links. M1 sits at the end of link 1; M2 sits at the end of link 2. This idealization omits the finite rotational inertia of bob bodies. Explain the physical allocation before entering values.</a:t>
            </a:r>
          </a:p>
          <a:p>
            <a:r>
              <a:t>Course sources: original Lecture 04; Lecture Notes/8_Lab3_Theory.pdf and 9_Lab3_Exp.pdf. Energy derivation uses uniform rigid bars and lumped bob masses defined in the lecture. Expanded explanation for teaching and review.</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Do not confuse angular speed omega_i with a normal-mode angular frequency Omega. The latter describes repetition of a small oscillation and is introduced later.</a:t>
            </a:r>
          </a:p>
          <a:p>
            <a:r>
              <a:t>Course sources: original Lecture 04; Lecture Notes/8_Lab3_Theory.pdf and 9_Lab3_Exp.pdf. Energy derivation uses uniform rigid bars and lumped bob masses defined in the lecture. Expanded explanation for teaching and review.</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Define these symbols before showing the following equations. Ask students to identify the corresponding physical part or measured quantity.</a:t>
            </a:r>
          </a:p>
          <a:p>
            <a:r>
              <a:t>Course sources: original Lecture 04; Lecture Notes/8_Lab3_Theory.pdf and 9_Lab3_Exp.pdf. Energy derivation uses uniform rigid bars and lumped bob masses defined in the lecture. Expanded explanation for teaching and review.</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a:p>
            <a:r>
              <a:t>Course sources: original Lecture 04; Lecture Notes/8_Lab3_Theory.pdf and 9_Lab3_Exp.pdf. Energy derivation uses uniform rigid bars and lumped bob masses defined in the lecture. Expanded explanation for teaching and review.</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Internal forces at a frictionless ideal joint exchange energy between components. Their net contribution to the virtual work of the complete constrained system vanishes. Energy is a derivation tool, not an unexplained black box.</a:t>
            </a:r>
          </a:p>
          <a:p>
            <a:r>
              <a:t>Course sources: original Lecture 04; Lecture Notes/8_Lab3_Theory.pdf and 9_Lab3_Exp.pdf. Energy derivation uses uniform rigid bars and lumped bob masses defined in the lecture. Expanded explanation for teaching and review.</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Define these symbols before showing the following equations. Ask students to identify the corresponding physical part or measured quantity.</a:t>
            </a:r>
          </a:p>
          <a:p>
            <a:r>
              <a:t>Course sources: original Lecture 04; Lecture Notes/8_Lab3_Theory.pdf and 9_Lab3_Exp.pdf. Energy derivation uses uniform rigid bars and lumped bob masses defined in the lecture. Expanded explanation for teaching and review.</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h1 is the height increase of the joint, hG1 of the upper bar center, hG2 of the lower bar center, and h2 of the lower bob. The same L1(1-cos theta1) term occurs in hG2 and h2 because their support point moves.</a:t>
            </a:r>
          </a:p>
          <a:p>
            <a:r>
              <a:t>Course sources: original Lecture 04; Lecture Notes/8_Lab3_Theory.pdf and 9_Lab3_Exp.pdf. Energy derivation uses uniform rigid bars and lumped bob masses defined in the lecture. Expanded explanation for teaching and review.</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Define these symbols before showing the following equations. Ask students to identify the corresponding physical part or measured quantity.</a:t>
            </a:r>
          </a:p>
          <a:p>
            <a:r>
              <a:t>Course sources: original Lecture 04; Lecture Notes/8_Lab3_Theory.pdf and 9_Lab3_Exp.pdf. Energy derivation uses uniform rigid bars and lumped bob masses defined in the lecture. Expanded explanation for teaching and review.</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Start with V=m1*g*hG1+M1*g*h1+m2*g*hG2+M2*g*h2, then collect the theta1 and theta2 terms. This gives G1=(m1/2+M1+m2+M2)gL1 and G2=(m2/2+M2)gL2. At zero angles the energy is zero.</a:t>
            </a:r>
          </a:p>
          <a:p>
            <a:r>
              <a:t>Course sources: original Lecture 04; Lecture Notes/8_Lab3_Theory.pdf and 9_Lab3_Exp.pdf. Energy derivation uses uniform rigid bars and lumped bob masses defined in the lecture. Expanded explanation for teaching and review.</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These are generalized torques for the two absolute-angle coordinates, not simply the net torque on an isolated lower bar about a moving pivot. That distinction prevents double-counting joint reactions.</a:t>
            </a:r>
          </a:p>
          <a:p>
            <a:r>
              <a:t>Course sources: original Lecture 04; Lecture Notes/8_Lab3_Theory.pdf and 9_Lab3_Exp.pdf. Energy derivation uses uniform rigid bars and lumped bob masses defined in the lecture. Expanded explanation for teaching and review.</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Define these symbols before showing the following equations. Ask students to identify the corresponding physical part or measured quantity.</a:t>
            </a:r>
          </a:p>
          <a:p>
            <a:r>
              <a:t>Course sources: original Lecture 04; Lecture Notes/8_Lab3_Theory.pdf and 9_Lab3_Exp.pdf. Energy derivation uses uniform rigid bars and lumped bob masses defined in the lecture. Expanded explanation for teaching and review.</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Differentiate the coordinate equations. The two velocity vectors are tangent to their respective links. Their dot product is L1*L2*omega1*omega2*cos(theta1-theta2). This is a geometric projection, not a new force.</a:t>
            </a:r>
          </a:p>
          <a:p>
            <a:r>
              <a:t>Course sources: original Lecture 04; Lecture Notes/8_Lab3_Theory.pdf and 9_Lab3_Exp.pdf. Energy derivation uses uniform rigid bars and lumped bob masses defined in the lecture. Expanded explanation for teaching and review.</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Define these symbols before showing the following equations. Ask students to identify the corresponding physical part or measured quantity.</a:t>
            </a:r>
          </a:p>
          <a:p>
            <a:r>
              <a:t>Course sources: original Lecture 04; Lecture Notes/8_Lab3_Theory.pdf and 9_Lab3_Exp.pdf. Energy derivation uses uniform rigid bars and lumped bob masses defined in the lecture. Expanded explanation for teaching and review.</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end inertia follows from I=integral_0^L s^2(m/L) ds=mL^2/3. The center inertia is mL^2/12. For the lower bar, T=1/2 m2 vG2^2+1/2 (m2 L2^2/12) omega2^2. Combining these gives the m2/3 and m2/2 factors on the next slide.</a:t>
            </a:r>
          </a:p>
          <a:p>
            <a:r>
              <a:t>Course sources: original Lecture 04; Lecture Notes/8_Lab3_Theory.pdf and 9_Lab3_Exp.pdf. Energy derivation uses uniform rigid bars and lumped bob masses defined in the lecture. Expanded explanation for teaching and review.</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Define these symbols before showing the following equations. Ask students to identify the corresponding physical part or measured quantity.</a:t>
            </a:r>
          </a:p>
          <a:p>
            <a:r>
              <a:t>Course sources: original Lecture 04; Lecture Notes/8_Lab3_Theory.pdf and 9_Lab3_Exp.pdf. Energy derivation uses uniform rigid bars and lumped bob masses defined in the lecture. Expanded explanation for teaching and review.</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Collect all four components. I11 includes the mass of the whole lower assembly because rotation of link 1 carries it through space. I22 is the lower assembly inertia about the moving joint. C is the coupling coefficient. T is a positive quadratic form for physical positive masses; a negative cross term does not mean negative total kinetic energy.</a:t>
            </a:r>
          </a:p>
          <a:p>
            <a:r>
              <a:t>Course sources: original Lecture 04; Lecture Notes/8_Lab3_Theory.pdf and 9_Lab3_Exp.pdf. Energy derivation uses uniform rigid bars and lumped bob masses defined in the lecture. Expanded explanation for teaching and review.</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a:p>
            <a:r>
              <a:t>Course sources: original Lecture 04; Lecture Notes/8_Lab3_Theory.pdf and 9_Lab3_Exp.pdf. Energy derivation uses uniform rigid bars and lumped bob masses defined in the lecture. Expanded explanation for teaching and review.</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Define these symbols before showing the following equations. Ask students to identify the corresponding physical part or measured quantity.</a:t>
            </a:r>
          </a:p>
          <a:p>
            <a:r>
              <a:t>Course sources: original Lecture 04; Lecture Notes/8_Lab3_Theory.pdf and 9_Lab3_Exp.pdf. Energy derivation uses uniform rigid bars and lumped bob masses defined in the lecture. Expanded explanation for teaching and review.</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Q1 and Q2 are generalized nonconservative torques conjugate to the absolute angles. A torque at the moving joint does work at the relative angular speed, so it must contribute consistently to both generalized torques. Do not simply assign every damping effect to independent terms without defining the model.</a:t>
            </a:r>
          </a:p>
          <a:p>
            <a:r>
              <a:t>Course sources: original Lecture 04; Lecture Notes/8_Lab3_Theory.pdf and 9_Lab3_Exp.pdf. Energy derivation uses uniform rigid bars and lumped bob masses defined in the lecture. Expanded explanation for teaching and review.</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Show the sequence rather than asking students to memorize the final result: positions, velocities, T and V, Lagrange equations, coupled accelerations. The derivatives introduce the sin Delta angular-speed-squared terms.</a:t>
            </a:r>
          </a:p>
          <a:p>
            <a:r>
              <a:t>Course sources: original Lecture 04; Lecture Notes/8_Lab3_Theory.pdf and 9_Lab3_Exp.pdf. Energy derivation uses uniform rigid bars and lumped bob masses defined in the lecture. Expanded explanation for teaching and review.</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Delta=theta1-theta2. Equation 1 has +C*sin Delta*omega2^2 on the left; equation 2 has -C*sin Delta*omega1^2 on the left. In the supplied right-hand-side code these become -C*sin Delta*omega2^2 and +C*sin Delta*omega1^2 respectively. Signs have been checked against the Lagrangian.</a:t>
            </a:r>
          </a:p>
          <a:p>
            <a:r>
              <a:t>Course sources: original Lecture 04; Lecture Notes/8_Lab3_Theory.pdf and 9_Lab3_Exp.pdf. Energy derivation uses uniform rigid bars and lumped bob masses defined in the lecture. Expanded explanation for teaching and review.</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MATLAB baseline uses ode45; the current supplied pre-lab notebook uses a fixed-step RK4 implementation. State vector is [theta1, omega1, theta2, omega2]. Check numerical energy drift separately from real physical dissipation.</a:t>
            </a:r>
          </a:p>
          <a:p>
            <a:r>
              <a:t>Course sources: original Lecture 04; Lecture Notes/8_Lab3_Theory.pdf and 9_Lab3_Exp.pdf. Energy derivation uses uniform rigid bars and lumped bob masses defined in the lecture. Expanded explanation for teaching and review.</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Define these symbols before showing the following equations. Ask students to identify the corresponding physical part or measured quantity.</a:t>
            </a:r>
          </a:p>
          <a:p>
            <a:r>
              <a:t>Course sources: original Lecture 04; Lecture Notes/8_Lab3_Theory.pdf and 9_Lab3_Exp.pdf. Energy derivation uses uniform rigid bars and lumped bob masses defined in the lecture. Expanded explanation for teaching and review.</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Do not say the two angles always have equal amplitudes in a mode. Their amplitude ratio depends on masses and lengths. Equal initial angles are not generally an exact normal mode.</a:t>
            </a:r>
          </a:p>
          <a:p>
            <a:r>
              <a:t>Course sources: original Lecture 04; Lecture Notes/8_Lab3_Theory.pdf and 9_Lab3_Exp.pdf. Energy derivation uses uniform rigid bars and lumped bob masses defined in the lecture. Expanded explanation for teaching and review.</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vector a contains the two mode amplitudes. This is a generalized eigenvalue problem K*a=Omega^2*M0*a. M0=[[I11,C],[C,I22]] and K=diag(G1,G2). Use this connection when explaining why spectra of both angles may contain both natural frequencies.</a:t>
            </a:r>
          </a:p>
          <a:p>
            <a:r>
              <a:t>Course sources: original Lecture 04; Lecture Notes/8_Lab3_Theory.pdf and 9_Lab3_Exp.pdf. Energy derivation uses uniform rigid bars and lumped bob masses defined in the lecture. Expanded explanation for teaching and review.</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Play the embedded video in Slide Show. The PDF poster and the online playback text link to the same MP4. Computed from the Lecture 04 linear model and Pre-Lab 3 illustrative parameters. 12 s simulation.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Play the embedded video in Slide Show. The PDF poster and the online playback text link to the same MP4. Computed from the Lecture 04 linear model and Pre-Lab 3 illustrative parameters. 12 s simulation.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Play the embedded video in Slide Show. The PDF poster and the online playback text link to the same MP4. Computed superposition of the two Lecture 04 linear modes. Ideal spectral lines are not an FFT of a finite record.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a:p>
            <a:r>
              <a:t>Course sources: original Lecture 04; Lecture Notes/8_Lab3_Theory.pdf and 9_Lab3_Exp.pdf. Energy derivation uses uniform rigid bars and lumped bob masses defined in the lecture. Expanded explanation for teaching and review.</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Play the embedded video in Slide Show. The PDF poster and the online playback text link to the same MP4. Course-folder recording DP_Test.mp4, excerpt 00:35–01:07. Recorded playback timing is not the measurement clock.</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a:p>
            <a:r>
              <a:t>Course sources: original Lecture 04; Lecture Notes/8_Lab3_Theory.pdf and 9_Lab3_Exp.pdf. Energy derivation uses uniform rigid bars and lumped bob masses defined in the lecture. Expanded explanation for teaching and review.</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a:p>
            <a:r>
              <a:t>Course sources: original Lecture 04; Lecture Notes/8_Lab3_Theory.pdf and 9_Lab3_Exp.pdf. Energy derivation uses uniform rigid bars and lumped bob masses defined in the lecture. Expanded explanation for teaching and review.</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Experience from Lab 2: a high percentage of finite coordinates does not prove the correct bob was tracked. Check movement and link lengths visually. Do not force a sinusoid through an invalid trajectory.</a:t>
            </a:r>
          </a:p>
          <a:p>
            <a:r>
              <a:t>Course sources: original Lecture 04; Lecture Notes/8_Lab3_Theory.pdf and 9_Lab3_Exp.pdf. Energy derivation uses uniform rigid bars and lumped bob masses defined in the lecture. Expanded explanation for teaching and review.</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a:p>
            <a:r>
              <a:t>Course sources: original Lecture 04; Lecture Notes/8_Lab3_Theory.pdf and 9_Lab3_Exp.pdf. Energy derivation uses uniform rigid bars and lumped bob masses defined in the lecture. Expanded explanation for teaching and review.</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For the up-positive coordinates, the downward component is -y. For link 2 it is -(y2-y1). In MATLAB atan2 takes the first and second component in the order shown here. Use the relative link vector, not the lower bob position relative to the fixed pivot.</a:t>
            </a:r>
          </a:p>
          <a:p>
            <a:r>
              <a:t>Course sources: original Lecture 04; Lecture Notes/8_Lab3_Theory.pdf and 9_Lab3_Exp.pdf. Energy derivation uses uniform rigid bars and lumped bob masses defined in the lecture. Expanded explanation for teaching and review.</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Define these symbols before showing the following equations. Ask students to identify the corresponding physical part or measured quantity.</a:t>
            </a:r>
          </a:p>
          <a:p>
            <a:r>
              <a:t>Course sources: original Lecture 04; Lecture Notes/8_Lab3_Theory.pdf and 9_Lab3_Exp.pdf. Energy derivation uses uniform rigid bars and lumped bob masses defined in the lecture. Expanded explanation for teaching and review.</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Ns is the number of equally spaced samples, fs is the sample rate of the analyzed angle series, and Tr=Ns/fs is its record duration convention. If processing every tenth camera frame, fs is lower than the capture rate. Do not feed irregularly missing samples into an ordinary FFT as if the spacing were unchanged.</a:t>
            </a:r>
          </a:p>
          <a:p>
            <a:r>
              <a:t>Course sources: original Lecture 04; Lecture Notes/8_Lab3_Theory.pdf and 9_Lab3_Exp.pdf. Energy derivation uses uniform rigid bars and lumped bob masses defined in the lecture. Expanded explanation for teaching and review.</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a:p>
            <a:r>
              <a:t>Course sources: original Lecture 04; Lecture Notes/8_Lab3_Theory.pdf and 9_Lab3_Exp.pdf. Energy derivation uses uniform rigid bars and lumped bob masses defined in the lecture. Expanded explanation for teaching and review.</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a:p>
            <a:r>
              <a:t>Course sources: original Lecture 04; Lecture Notes/8_Lab3_Theory.pdf and 9_Lab3_Exp.pdf. Energy derivation uses uniform rigid bars and lumped bob masses defined in the lecture. Expanded explanation for teaching and review.</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a:p>
            <a:r>
              <a:t>Course sources: original Lecture 04; Lecture Notes/8_Lab3_Theory.pdf and 9_Lab3_Exp.pdf. Energy derivation uses uniform rigid bars and lumped bob masses defined in the lecture. Expanded explanation for teaching and review.</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a:p>
            <a:r>
              <a:t>Course sources: original Lecture 04; Lecture Notes/8_Lab3_Theory.pdf and 9_Lab3_Exp.pdf. Energy derivation uses uniform rigid bars and lumped bob masses defined in the lecture. Expanded explanation for teaching and review.</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Answers: alignment is not generally an invariant motion or a pure mode; link-1 rotation carries the whole lower assembly; M2 enters I11,I22,C,G1,G2; compare markers and approximately constant link lengths with the raw video, rather than judging only plot smoothness.</a:t>
            </a:r>
          </a:p>
          <a:p>
            <a:r>
              <a:t>Course sources: original Lecture 04; Lecture Notes/8_Lab3_Theory.pdf and 9_Lab3_Exp.pdf. Energy derivation uses uniform rigid bars and lumped bob masses defined in the lecture. Expanded explanation for teaching and review.</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a:p>
            <a:r>
              <a:t>Course sources: original Lecture 04; Lecture Notes/8_Lab3_Theory.pdf and 9_Lab3_Exp.pdf. Energy derivation uses uniform rigid bars and lumped bob masses defined in the lecture. Expanded explanation for teaching and review.</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9.xml"/><Relationship Id="rId1" Type="http://schemas.openxmlformats.org/officeDocument/2006/relationships/slideLayout" Target="../slideLayouts/slideLayout1.xml"/><Relationship Id="rId5" Type="http://schemas.openxmlformats.org/officeDocument/2006/relationships/image" Target="../media/image16.png"/><Relationship Id="rId4" Type="http://schemas.openxmlformats.org/officeDocument/2006/relationships/image" Target="../media/image15.png"/></Relationships>
</file>

<file path=ppt/slides/_rels/slide2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19.png"/></Relationships>
</file>

<file path=ppt/slides/_rels/slide2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4.xml"/><Relationship Id="rId1" Type="http://schemas.openxmlformats.org/officeDocument/2006/relationships/slideLayout" Target="../slideLayouts/slideLayout1.xml"/><Relationship Id="rId4" Type="http://schemas.openxmlformats.org/officeDocument/2006/relationships/image" Target="../media/image22.png"/></Relationships>
</file>

<file path=ppt/slides/_rels/slide2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hyperlink" Target="https://ehsan-roohi.github.io/MIE402-Lab/assets/lab3-mode1.mp4" TargetMode="External"/><Relationship Id="rId5" Type="http://schemas.openxmlformats.org/officeDocument/2006/relationships/image" Target="../media/image26.jpe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video" Target="../media/media2.mp4"/><Relationship Id="rId1" Type="http://schemas.microsoft.com/office/2007/relationships/media" Target="../media/media2.mp4"/><Relationship Id="rId6" Type="http://schemas.openxmlformats.org/officeDocument/2006/relationships/hyperlink" Target="https://ehsan-roohi.github.io/MIE402-Lab/assets/lab3-mode2.mp4" TargetMode="External"/><Relationship Id="rId5" Type="http://schemas.openxmlformats.org/officeDocument/2006/relationships/image" Target="../media/image27.jpe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video" Target="../media/media3.mp4"/><Relationship Id="rId1" Type="http://schemas.microsoft.com/office/2007/relationships/media" Target="../media/media3.mp4"/><Relationship Id="rId6" Type="http://schemas.openxmlformats.org/officeDocument/2006/relationships/hyperlink" Target="https://ehsan-roohi.github.io/MIE402-Lab/assets/lab3-mixed.mp4" TargetMode="External"/><Relationship Id="rId5" Type="http://schemas.openxmlformats.org/officeDocument/2006/relationships/image" Target="../media/image28.jpe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video" Target="../media/media4.mp4"/><Relationship Id="rId1" Type="http://schemas.microsoft.com/office/2007/relationships/media" Target="../media/media4.mp4"/><Relationship Id="rId6" Type="http://schemas.openxmlformats.org/officeDocument/2006/relationships/hyperlink" Target="https://ehsan-roohi.github.io/MIE402-Lab/assets/lab3-nonlinear.mp4" TargetMode="External"/><Relationship Id="rId5" Type="http://schemas.openxmlformats.org/officeDocument/2006/relationships/image" Target="../media/image29.jpe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38.xml"/><Relationship Id="rId1" Type="http://schemas.openxmlformats.org/officeDocument/2006/relationships/slideLayout" Target="../slideLayouts/slideLayout1.xml"/><Relationship Id="rId4" Type="http://schemas.openxmlformats.org/officeDocument/2006/relationships/image" Target="../media/image32.png"/></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course">
            <a:extLst>
              <a:ext uri="{FF2B5EF4-FFF2-40B4-BE49-F238E27FC236}">
                <a16:creationId xmlns:a16="http://schemas.microsoft.com/office/drawing/2014/main" id="{4291FC86-2A25-4A67-86BB-1E1EB65401E5}"/>
              </a:ext>
            </a:extLst>
          </p:cNvPr>
          <p:cNvSpPr>
            <a:spLocks noGrp="1"/>
          </p:cNvSpPr>
          <p:nvPr/>
        </p:nvSpPr>
        <p:spPr>
          <a:xfrm>
            <a:off x="495300" y="190500"/>
            <a:ext cx="8572500" cy="285750"/>
          </a:xfrm>
          <a:prstGeom prst="rect">
            <a:avLst/>
          </a:prstGeom>
          <a:noFill/>
          <a:ln w="0">
            <a:noFill/>
          </a:ln>
        </p:spPr>
        <p:txBody>
          <a:bodyPr anchor="t">
            <a:noAutofit/>
          </a:bodyPr>
          <a:lstStyle/>
          <a:p>
            <a:pPr>
              <a:defRPr sz="1275" b="1">
                <a:solidFill>
                  <a:srgbClr val="881C1C"/>
                </a:solidFill>
                <a:latin typeface="Aptos"/>
                <a:ea typeface="Aptos"/>
                <a:cs typeface="Aptos"/>
              </a:defRPr>
            </a:pPr>
            <a:r>
              <a:rPr sz="1275" b="1">
                <a:solidFill>
                  <a:srgbClr val="881C1C"/>
                </a:solidFill>
                <a:latin typeface="Aptos"/>
                <a:ea typeface="Aptos"/>
                <a:cs typeface="Aptos"/>
              </a:rPr>
              <a:t>MIE 402   ME LAB II</a:t>
            </a:r>
          </a:p>
        </p:txBody>
      </p:sp>
      <p:sp>
        <p:nvSpPr>
          <p:cNvPr id="2" name="title">
            <a:extLst>
              <a:ext uri="{FF2B5EF4-FFF2-40B4-BE49-F238E27FC236}">
                <a16:creationId xmlns:a16="http://schemas.microsoft.com/office/drawing/2014/main" id="{EBBB1573-A493-4F4D-9D66-0E2D57E7A3A8}"/>
              </a:ext>
            </a:extLst>
          </p:cNvPr>
          <p:cNvSpPr>
            <a:spLocks noGrp="1"/>
          </p:cNvSpPr>
          <p:nvPr/>
        </p:nvSpPr>
        <p:spPr>
          <a:xfrm>
            <a:off x="495300" y="666750"/>
            <a:ext cx="11125200" cy="742950"/>
          </a:xfrm>
          <a:prstGeom prst="rect">
            <a:avLst/>
          </a:prstGeom>
          <a:noFill/>
          <a:ln w="0">
            <a:noFill/>
          </a:ln>
        </p:spPr>
        <p:txBody>
          <a:bodyPr anchor="t">
            <a:noAutofit/>
          </a:bodyPr>
          <a:lstStyle/>
          <a:p>
            <a:pPr>
              <a:defRPr sz="2925" b="1">
                <a:solidFill>
                  <a:srgbClr val="152437"/>
                </a:solidFill>
                <a:latin typeface="Aptos"/>
                <a:ea typeface="Aptos"/>
                <a:cs typeface="Aptos"/>
              </a:defRPr>
            </a:pPr>
            <a:r>
              <a:rPr sz="2925" b="1">
                <a:solidFill>
                  <a:srgbClr val="152437"/>
                </a:solidFill>
                <a:latin typeface="Aptos"/>
                <a:ea typeface="Aptos"/>
                <a:cs typeface="Aptos"/>
              </a:rPr>
              <a:t>Double pendulum: motion, energy and measurement</a:t>
            </a:r>
          </a:p>
        </p:txBody>
      </p:sp>
      <p:sp>
        <p:nvSpPr>
          <p:cNvPr id="3" name="body0">
            <a:extLst>
              <a:ext uri="{FF2B5EF4-FFF2-40B4-BE49-F238E27FC236}">
                <a16:creationId xmlns:a16="http://schemas.microsoft.com/office/drawing/2014/main" id="{19A144F7-6EF6-4AC9-9F0F-8F66D1D3233E}"/>
              </a:ext>
            </a:extLst>
          </p:cNvPr>
          <p:cNvSpPr>
            <a:spLocks noGrp="1"/>
          </p:cNvSpPr>
          <p:nvPr/>
        </p:nvSpPr>
        <p:spPr>
          <a:xfrm>
            <a:off x="666750" y="1666875"/>
            <a:ext cx="5429250" cy="1028700"/>
          </a:xfrm>
          <a:prstGeom prst="rect">
            <a:avLst/>
          </a:prstGeom>
          <a:noFill/>
          <a:ln w="0">
            <a:noFill/>
          </a:ln>
        </p:spPr>
        <p:txBody>
          <a:bodyPr anchor="t">
            <a:noAutofit/>
          </a:bodyPr>
          <a:lstStyle/>
          <a:p>
            <a:pPr>
              <a:defRPr sz="1875" b="0">
                <a:solidFill>
                  <a:srgbClr val="202D3C"/>
                </a:solidFill>
                <a:latin typeface="Aptos"/>
                <a:ea typeface="Aptos"/>
                <a:cs typeface="Aptos"/>
              </a:defRPr>
            </a:pPr>
            <a:r>
              <a:rPr sz="1875" b="0">
                <a:solidFill>
                  <a:srgbClr val="202D3C"/>
                </a:solidFill>
                <a:latin typeface="Aptos"/>
                <a:ea typeface="Aptos"/>
                <a:cs typeface="Aptos"/>
              </a:rPr>
              <a:t>Lecture 04 · MIE 402 · Fall 2026</a:t>
            </a:r>
          </a:p>
        </p:txBody>
      </p:sp>
      <p:sp>
        <p:nvSpPr>
          <p:cNvPr id="4" name="body1">
            <a:extLst>
              <a:ext uri="{FF2B5EF4-FFF2-40B4-BE49-F238E27FC236}">
                <a16:creationId xmlns:a16="http://schemas.microsoft.com/office/drawing/2014/main" id="{E71B1626-79A1-49CE-BAC0-2D27FEAD02AB}"/>
              </a:ext>
            </a:extLst>
          </p:cNvPr>
          <p:cNvSpPr>
            <a:spLocks noGrp="1"/>
          </p:cNvSpPr>
          <p:nvPr/>
        </p:nvSpPr>
        <p:spPr>
          <a:xfrm>
            <a:off x="666750" y="2790825"/>
            <a:ext cx="5429250" cy="1028700"/>
          </a:xfrm>
          <a:prstGeom prst="rect">
            <a:avLst/>
          </a:prstGeom>
          <a:noFill/>
          <a:ln w="0">
            <a:noFill/>
          </a:ln>
        </p:spPr>
        <p:txBody>
          <a:bodyPr anchor="t">
            <a:noAutofit/>
          </a:bodyPr>
          <a:lstStyle/>
          <a:p>
            <a:pPr>
              <a:defRPr sz="1875" b="0">
                <a:solidFill>
                  <a:srgbClr val="202D3C"/>
                </a:solidFill>
                <a:latin typeface="Aptos"/>
                <a:ea typeface="Aptos"/>
                <a:cs typeface="Aptos"/>
              </a:defRPr>
            </a:pPr>
            <a:r>
              <a:rPr sz="1875" b="0">
                <a:solidFill>
                  <a:srgbClr val="202D3C"/>
                </a:solidFill>
                <a:latin typeface="Aptos"/>
                <a:ea typeface="Aptos"/>
                <a:cs typeface="Aptos"/>
              </a:rPr>
              <a:t>A physical explanation of the model and the Lab 3 workflow.</a:t>
            </a:r>
          </a:p>
        </p:txBody>
      </p:sp>
      <p:sp>
        <p:nvSpPr>
          <p:cNvPr id="5" name="body2">
            <a:extLst>
              <a:ext uri="{FF2B5EF4-FFF2-40B4-BE49-F238E27FC236}">
                <a16:creationId xmlns:a16="http://schemas.microsoft.com/office/drawing/2014/main" id="{E4F0E773-7FC2-414D-9A38-F16835848AFF}"/>
              </a:ext>
            </a:extLst>
          </p:cNvPr>
          <p:cNvSpPr>
            <a:spLocks noGrp="1"/>
          </p:cNvSpPr>
          <p:nvPr/>
        </p:nvSpPr>
        <p:spPr>
          <a:xfrm>
            <a:off x="666750" y="3914775"/>
            <a:ext cx="5429250" cy="1028700"/>
          </a:xfrm>
          <a:prstGeom prst="rect">
            <a:avLst/>
          </a:prstGeom>
          <a:noFill/>
          <a:ln w="0">
            <a:noFill/>
          </a:ln>
        </p:spPr>
        <p:txBody>
          <a:bodyPr anchor="t">
            <a:noAutofit/>
          </a:bodyPr>
          <a:lstStyle/>
          <a:p>
            <a:pPr>
              <a:defRPr sz="1875" b="0">
                <a:solidFill>
                  <a:srgbClr val="202D3C"/>
                </a:solidFill>
                <a:latin typeface="Aptos"/>
                <a:ea typeface="Aptos"/>
                <a:cs typeface="Aptos"/>
              </a:defRPr>
            </a:pPr>
            <a:r>
              <a:rPr sz="1875" b="0">
                <a:solidFill>
                  <a:srgbClr val="202D3C"/>
                </a:solidFill>
                <a:latin typeface="Aptos"/>
                <a:ea typeface="Aptos"/>
                <a:cs typeface="Aptos"/>
              </a:rPr>
              <a:t>Core lesson plus derivations for discussion and review.</a:t>
            </a:r>
          </a:p>
        </p:txBody>
      </p:sp>
      <p:pic>
        <p:nvPicPr>
          <p:cNvPr id="13" name="Picture 12"/>
          <p:cNvPicPr>
            <a:picLocks noChangeAspect="1"/>
          </p:cNvPicPr>
          <p:nvPr/>
        </p:nvPicPr>
        <p:blipFill>
          <a:blip r:embed="rId3"/>
          <a:stretch/>
        </p:blipFill>
        <p:spPr>
          <a:xfrm>
            <a:off x="6524625" y="1666875"/>
            <a:ext cx="5238750" cy="4191000"/>
          </a:xfrm>
          <a:prstGeom prst="rect">
            <a:avLst/>
          </a:prstGeom>
        </p:spPr>
      </p:pic>
      <p:sp>
        <p:nvSpPr>
          <p:cNvPr id="7" name="page">
            <a:extLst>
              <a:ext uri="{FF2B5EF4-FFF2-40B4-BE49-F238E27FC236}">
                <a16:creationId xmlns:a16="http://schemas.microsoft.com/office/drawing/2014/main" id="{AD937DB6-B80E-4FB0-95D9-1EB30D9102E5}"/>
              </a:ext>
            </a:extLst>
          </p:cNvPr>
          <p:cNvSpPr>
            <a:spLocks noGrp="1"/>
          </p:cNvSpPr>
          <p:nvPr/>
        </p:nvSpPr>
        <p:spPr>
          <a:xfrm>
            <a:off x="11449050" y="6515100"/>
            <a:ext cx="333375" cy="190500"/>
          </a:xfrm>
          <a:prstGeom prst="rect">
            <a:avLst/>
          </a:prstGeom>
          <a:noFill/>
          <a:ln w="0">
            <a:noFill/>
          </a:ln>
        </p:spPr>
        <p:txBody>
          <a:bodyPr anchor="t">
            <a:noAutofit/>
          </a:bodyPr>
          <a:lstStyle/>
          <a:p>
            <a:pPr>
              <a:defRPr sz="1050" b="0">
                <a:solidFill>
                  <a:srgbClr val="6B7280"/>
                </a:solidFill>
                <a:latin typeface="Aptos"/>
                <a:ea typeface="Aptos"/>
                <a:cs typeface="Aptos"/>
              </a:defRPr>
            </a:pPr>
            <a:r>
              <a:rPr sz="1050" b="0">
                <a:solidFill>
                  <a:srgbClr val="6B7280"/>
                </a:solidFill>
                <a:latin typeface="Aptos"/>
                <a:ea typeface="Aptos"/>
                <a:cs typeface="Aptos"/>
              </a:rPr>
              <a:t>1</a:t>
            </a:r>
          </a:p>
        </p:txBody>
      </p:sp>
    </p:spTree>
    <p:extLst>
      <p:ext uri="{BB962C8B-B14F-4D97-AF65-F5344CB8AC3E}">
        <p14:creationId xmlns:p14="http://schemas.microsoft.com/office/powerpoint/2010/main" val="6988929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course">
            <a:extLst>
              <a:ext uri="{FF2B5EF4-FFF2-40B4-BE49-F238E27FC236}">
                <a16:creationId xmlns:a16="http://schemas.microsoft.com/office/drawing/2014/main" id="{840A0892-8614-4094-A388-A31898D7650B}"/>
              </a:ext>
            </a:extLst>
          </p:cNvPr>
          <p:cNvSpPr>
            <a:spLocks noGrp="1"/>
          </p:cNvSpPr>
          <p:nvPr/>
        </p:nvSpPr>
        <p:spPr>
          <a:xfrm>
            <a:off x="495300" y="190500"/>
            <a:ext cx="8572500" cy="285750"/>
          </a:xfrm>
          <a:prstGeom prst="rect">
            <a:avLst/>
          </a:prstGeom>
          <a:noFill/>
          <a:ln w="0">
            <a:noFill/>
          </a:ln>
        </p:spPr>
        <p:txBody>
          <a:bodyPr anchor="t">
            <a:noAutofit/>
          </a:bodyPr>
          <a:lstStyle/>
          <a:p>
            <a:pPr>
              <a:defRPr sz="1275" b="1">
                <a:solidFill>
                  <a:srgbClr val="881C1C"/>
                </a:solidFill>
                <a:latin typeface="Aptos"/>
                <a:ea typeface="Aptos"/>
                <a:cs typeface="Aptos"/>
              </a:defRPr>
            </a:pPr>
            <a:r>
              <a:rPr sz="1275" b="1">
                <a:solidFill>
                  <a:srgbClr val="881C1C"/>
                </a:solidFill>
                <a:latin typeface="Aptos"/>
                <a:ea typeface="Aptos"/>
                <a:cs typeface="Aptos"/>
              </a:rPr>
              <a:t>MIE 402   ME LAB II</a:t>
            </a:r>
          </a:p>
        </p:txBody>
      </p:sp>
      <p:sp>
        <p:nvSpPr>
          <p:cNvPr id="2" name="title">
            <a:extLst>
              <a:ext uri="{FF2B5EF4-FFF2-40B4-BE49-F238E27FC236}">
                <a16:creationId xmlns:a16="http://schemas.microsoft.com/office/drawing/2014/main" id="{AC920CDC-F591-4B02-B4AA-02FB716505AE}"/>
              </a:ext>
            </a:extLst>
          </p:cNvPr>
          <p:cNvSpPr>
            <a:spLocks noGrp="1"/>
          </p:cNvSpPr>
          <p:nvPr/>
        </p:nvSpPr>
        <p:spPr>
          <a:xfrm>
            <a:off x="495300" y="666750"/>
            <a:ext cx="11125200" cy="742950"/>
          </a:xfrm>
          <a:prstGeom prst="rect">
            <a:avLst/>
          </a:prstGeom>
          <a:noFill/>
          <a:ln w="0">
            <a:noFill/>
          </a:ln>
        </p:spPr>
        <p:txBody>
          <a:bodyPr anchor="t">
            <a:noAutofit/>
          </a:bodyPr>
          <a:lstStyle/>
          <a:p>
            <a:pPr>
              <a:defRPr sz="2925" b="1">
                <a:solidFill>
                  <a:srgbClr val="152437"/>
                </a:solidFill>
                <a:latin typeface="Aptos"/>
                <a:ea typeface="Aptos"/>
                <a:cs typeface="Aptos"/>
              </a:defRPr>
            </a:pPr>
            <a:r>
              <a:rPr sz="2925" b="1">
                <a:solidFill>
                  <a:srgbClr val="152437"/>
                </a:solidFill>
                <a:latin typeface="Aptos"/>
                <a:ea typeface="Aptos"/>
                <a:cs typeface="Aptos"/>
              </a:rPr>
              <a:t>The work students will do</a:t>
            </a:r>
          </a:p>
        </p:txBody>
      </p:sp>
      <p:sp>
        <p:nvSpPr>
          <p:cNvPr id="3" name="body0">
            <a:extLst>
              <a:ext uri="{FF2B5EF4-FFF2-40B4-BE49-F238E27FC236}">
                <a16:creationId xmlns:a16="http://schemas.microsoft.com/office/drawing/2014/main" id="{9660795C-BDDF-4D16-B4AD-BA98E2A45802}"/>
              </a:ext>
            </a:extLst>
          </p:cNvPr>
          <p:cNvSpPr>
            <a:spLocks noGrp="1"/>
          </p:cNvSpPr>
          <p:nvPr/>
        </p:nvSpPr>
        <p:spPr>
          <a:xfrm>
            <a:off x="666750" y="1666875"/>
            <a:ext cx="10858500" cy="971550"/>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Measure the two links and the masses attached to them.</a:t>
            </a:r>
          </a:p>
        </p:txBody>
      </p:sp>
      <p:sp>
        <p:nvSpPr>
          <p:cNvPr id="4" name="body1">
            <a:extLst>
              <a:ext uri="{FF2B5EF4-FFF2-40B4-BE49-F238E27FC236}">
                <a16:creationId xmlns:a16="http://schemas.microsoft.com/office/drawing/2014/main" id="{36FF0EBC-32D4-4E5B-9ABD-C21DDC4669BA}"/>
              </a:ext>
            </a:extLst>
          </p:cNvPr>
          <p:cNvSpPr>
            <a:spLocks noGrp="1"/>
          </p:cNvSpPr>
          <p:nvPr/>
        </p:nvSpPr>
        <p:spPr>
          <a:xfrm>
            <a:off x="666750" y="2733675"/>
            <a:ext cx="10858500" cy="971550"/>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Record at least four releases and track both moving bob centers.</a:t>
            </a:r>
          </a:p>
        </p:txBody>
      </p:sp>
      <p:sp>
        <p:nvSpPr>
          <p:cNvPr id="5" name="body2">
            <a:extLst>
              <a:ext uri="{FF2B5EF4-FFF2-40B4-BE49-F238E27FC236}">
                <a16:creationId xmlns:a16="http://schemas.microsoft.com/office/drawing/2014/main" id="{74FF7E56-8249-4255-BF91-75562AC8901E}"/>
              </a:ext>
            </a:extLst>
          </p:cNvPr>
          <p:cNvSpPr>
            <a:spLocks noGrp="1"/>
          </p:cNvSpPr>
          <p:nvPr/>
        </p:nvSpPr>
        <p:spPr>
          <a:xfrm>
            <a:off x="666750" y="3800475"/>
            <a:ext cx="10858500" cy="971550"/>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Convert saved positions into angles and compare the measured motion with a simulation.</a:t>
            </a:r>
          </a:p>
        </p:txBody>
      </p:sp>
      <p:sp>
        <p:nvSpPr>
          <p:cNvPr id="6" name="body3">
            <a:extLst>
              <a:ext uri="{FF2B5EF4-FFF2-40B4-BE49-F238E27FC236}">
                <a16:creationId xmlns:a16="http://schemas.microsoft.com/office/drawing/2014/main" id="{11AD3A5F-7E3F-4262-A03F-BB2F5FD506B8}"/>
              </a:ext>
            </a:extLst>
          </p:cNvPr>
          <p:cNvSpPr>
            <a:spLocks noGrp="1"/>
          </p:cNvSpPr>
          <p:nvPr/>
        </p:nvSpPr>
        <p:spPr>
          <a:xfrm>
            <a:off x="666750" y="4867275"/>
            <a:ext cx="10858500" cy="971550"/>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Keep the MP4, ExpData MAT file, settings and trial log for every release.</a:t>
            </a:r>
          </a:p>
        </p:txBody>
      </p:sp>
      <p:sp>
        <p:nvSpPr>
          <p:cNvPr id="7" name="page">
            <a:extLst>
              <a:ext uri="{FF2B5EF4-FFF2-40B4-BE49-F238E27FC236}">
                <a16:creationId xmlns:a16="http://schemas.microsoft.com/office/drawing/2014/main" id="{2E391C10-2774-4CA9-906A-5F044D215EAB}"/>
              </a:ext>
            </a:extLst>
          </p:cNvPr>
          <p:cNvSpPr>
            <a:spLocks noGrp="1"/>
          </p:cNvSpPr>
          <p:nvPr/>
        </p:nvSpPr>
        <p:spPr>
          <a:xfrm>
            <a:off x="11449050" y="6515100"/>
            <a:ext cx="333375" cy="190500"/>
          </a:xfrm>
          <a:prstGeom prst="rect">
            <a:avLst/>
          </a:prstGeom>
          <a:noFill/>
          <a:ln w="0">
            <a:noFill/>
          </a:ln>
        </p:spPr>
        <p:txBody>
          <a:bodyPr anchor="t">
            <a:noAutofit/>
          </a:bodyPr>
          <a:lstStyle/>
          <a:p>
            <a:pPr>
              <a:defRPr sz="1050" b="0">
                <a:solidFill>
                  <a:srgbClr val="6B7280"/>
                </a:solidFill>
                <a:latin typeface="Aptos"/>
                <a:ea typeface="Aptos"/>
                <a:cs typeface="Aptos"/>
              </a:defRPr>
            </a:pPr>
            <a:r>
              <a:rPr sz="1050" b="0">
                <a:solidFill>
                  <a:srgbClr val="6B7280"/>
                </a:solidFill>
                <a:latin typeface="Aptos"/>
                <a:ea typeface="Aptos"/>
                <a:cs typeface="Aptos"/>
              </a:rPr>
              <a:t>2</a:t>
            </a:r>
          </a:p>
        </p:txBody>
      </p:sp>
    </p:spTree>
    <p:extLst>
      <p:ext uri="{BB962C8B-B14F-4D97-AF65-F5344CB8AC3E}">
        <p14:creationId xmlns:p14="http://schemas.microsoft.com/office/powerpoint/2010/main" val="30195931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course">
            <a:extLst>
              <a:ext uri="{FF2B5EF4-FFF2-40B4-BE49-F238E27FC236}">
                <a16:creationId xmlns:a16="http://schemas.microsoft.com/office/drawing/2014/main" id="{563AFEBD-0B16-4C89-878F-FCEB80544D3D}"/>
              </a:ext>
            </a:extLst>
          </p:cNvPr>
          <p:cNvSpPr>
            <a:spLocks noGrp="1"/>
          </p:cNvSpPr>
          <p:nvPr/>
        </p:nvSpPr>
        <p:spPr>
          <a:xfrm>
            <a:off x="495300" y="190500"/>
            <a:ext cx="8572500" cy="285750"/>
          </a:xfrm>
          <a:prstGeom prst="rect">
            <a:avLst/>
          </a:prstGeom>
          <a:noFill/>
          <a:ln w="0">
            <a:noFill/>
          </a:ln>
        </p:spPr>
        <p:txBody>
          <a:bodyPr anchor="t">
            <a:noAutofit/>
          </a:bodyPr>
          <a:lstStyle/>
          <a:p>
            <a:pPr>
              <a:defRPr sz="1275" b="1">
                <a:solidFill>
                  <a:srgbClr val="881C1C"/>
                </a:solidFill>
                <a:latin typeface="Aptos"/>
                <a:ea typeface="Aptos"/>
                <a:cs typeface="Aptos"/>
              </a:defRPr>
            </a:pPr>
            <a:r>
              <a:rPr sz="1275" b="1">
                <a:solidFill>
                  <a:srgbClr val="881C1C"/>
                </a:solidFill>
                <a:latin typeface="Aptos"/>
                <a:ea typeface="Aptos"/>
                <a:cs typeface="Aptos"/>
              </a:rPr>
              <a:t>MIE 402   ME LAB II</a:t>
            </a:r>
          </a:p>
        </p:txBody>
      </p:sp>
      <p:sp>
        <p:nvSpPr>
          <p:cNvPr id="2" name="title">
            <a:extLst>
              <a:ext uri="{FF2B5EF4-FFF2-40B4-BE49-F238E27FC236}">
                <a16:creationId xmlns:a16="http://schemas.microsoft.com/office/drawing/2014/main" id="{65D70B24-1669-4C98-852E-5AE554FB4663}"/>
              </a:ext>
            </a:extLst>
          </p:cNvPr>
          <p:cNvSpPr>
            <a:spLocks noGrp="1"/>
          </p:cNvSpPr>
          <p:nvPr/>
        </p:nvSpPr>
        <p:spPr>
          <a:xfrm>
            <a:off x="495300" y="666750"/>
            <a:ext cx="11125200" cy="742950"/>
          </a:xfrm>
          <a:prstGeom prst="rect">
            <a:avLst/>
          </a:prstGeom>
          <a:noFill/>
          <a:ln w="0">
            <a:noFill/>
          </a:ln>
        </p:spPr>
        <p:txBody>
          <a:bodyPr anchor="t">
            <a:noAutofit/>
          </a:bodyPr>
          <a:lstStyle/>
          <a:p>
            <a:pPr>
              <a:defRPr sz="2925" b="1">
                <a:solidFill>
                  <a:srgbClr val="152437"/>
                </a:solidFill>
                <a:latin typeface="Aptos"/>
                <a:ea typeface="Aptos"/>
                <a:cs typeface="Aptos"/>
              </a:defRPr>
            </a:pPr>
            <a:r>
              <a:rPr sz="2925" b="1">
                <a:solidFill>
                  <a:srgbClr val="152437"/>
                </a:solidFill>
                <a:latin typeface="Aptos"/>
                <a:ea typeface="Aptos"/>
                <a:cs typeface="Aptos"/>
              </a:rPr>
              <a:t>Two links and two absolute angles</a:t>
            </a:r>
          </a:p>
        </p:txBody>
      </p:sp>
      <p:sp>
        <p:nvSpPr>
          <p:cNvPr id="3" name="body0">
            <a:extLst>
              <a:ext uri="{FF2B5EF4-FFF2-40B4-BE49-F238E27FC236}">
                <a16:creationId xmlns:a16="http://schemas.microsoft.com/office/drawing/2014/main" id="{3DC8FDFE-09F4-4D37-80D8-BCEB2AA56E24}"/>
              </a:ext>
            </a:extLst>
          </p:cNvPr>
          <p:cNvSpPr>
            <a:spLocks noGrp="1"/>
          </p:cNvSpPr>
          <p:nvPr/>
        </p:nvSpPr>
        <p:spPr>
          <a:xfrm>
            <a:off x="666750" y="1666875"/>
            <a:ext cx="5429250" cy="1028700"/>
          </a:xfrm>
          <a:prstGeom prst="rect">
            <a:avLst/>
          </a:prstGeom>
          <a:noFill/>
          <a:ln w="0">
            <a:noFill/>
          </a:ln>
        </p:spPr>
        <p:txBody>
          <a:bodyPr anchor="t">
            <a:noAutofit/>
          </a:bodyPr>
          <a:lstStyle/>
          <a:p>
            <a:pPr>
              <a:defRPr sz="1875" b="0">
                <a:solidFill>
                  <a:srgbClr val="202D3C"/>
                </a:solidFill>
                <a:latin typeface="Aptos"/>
                <a:ea typeface="Aptos"/>
                <a:cs typeface="Aptos"/>
              </a:defRPr>
            </a:pPr>
            <a:r>
              <a:rPr sz="1875" b="0">
                <a:solidFill>
                  <a:srgbClr val="202D3C"/>
                </a:solidFill>
                <a:latin typeface="Aptos"/>
                <a:ea typeface="Aptos"/>
                <a:cs typeface="Aptos"/>
              </a:rPr>
              <a:t>θ₁ [rad]: orientation of the upper link. θ₂ [rad]: orientation of the lower link. Both start from the downward vertical.</a:t>
            </a:r>
          </a:p>
        </p:txBody>
      </p:sp>
      <p:sp>
        <p:nvSpPr>
          <p:cNvPr id="4" name="body1">
            <a:extLst>
              <a:ext uri="{FF2B5EF4-FFF2-40B4-BE49-F238E27FC236}">
                <a16:creationId xmlns:a16="http://schemas.microsoft.com/office/drawing/2014/main" id="{ACEF989D-959F-4065-A112-BFB8DF2551C1}"/>
              </a:ext>
            </a:extLst>
          </p:cNvPr>
          <p:cNvSpPr>
            <a:spLocks noGrp="1"/>
          </p:cNvSpPr>
          <p:nvPr/>
        </p:nvSpPr>
        <p:spPr>
          <a:xfrm>
            <a:off x="666750" y="2790825"/>
            <a:ext cx="5429250" cy="1028700"/>
          </a:xfrm>
          <a:prstGeom prst="rect">
            <a:avLst/>
          </a:prstGeom>
          <a:noFill/>
          <a:ln w="0">
            <a:noFill/>
          </a:ln>
        </p:spPr>
        <p:txBody>
          <a:bodyPr anchor="t">
            <a:noAutofit/>
          </a:bodyPr>
          <a:lstStyle/>
          <a:p>
            <a:pPr>
              <a:defRPr sz="1875" b="0">
                <a:solidFill>
                  <a:srgbClr val="202D3C"/>
                </a:solidFill>
                <a:latin typeface="Aptos"/>
                <a:ea typeface="Aptos"/>
                <a:cs typeface="Aptos"/>
              </a:defRPr>
            </a:pPr>
            <a:r>
              <a:rPr sz="1875" b="0">
                <a:solidFill>
                  <a:srgbClr val="202D3C"/>
                </a:solidFill>
                <a:latin typeface="Aptos"/>
                <a:ea typeface="Aptos"/>
                <a:cs typeface="Aptos"/>
              </a:rPr>
              <a:t>L₁ [m]: fixed pivot to joint. L₂ [m]: joint to lower-bob center. Positive angles turn each downward link toward the right.</a:t>
            </a:r>
          </a:p>
        </p:txBody>
      </p:sp>
      <p:sp>
        <p:nvSpPr>
          <p:cNvPr id="5" name="body2">
            <a:extLst>
              <a:ext uri="{FF2B5EF4-FFF2-40B4-BE49-F238E27FC236}">
                <a16:creationId xmlns:a16="http://schemas.microsoft.com/office/drawing/2014/main" id="{FBB94308-7766-484B-8090-7FC48F08027F}"/>
              </a:ext>
            </a:extLst>
          </p:cNvPr>
          <p:cNvSpPr>
            <a:spLocks noGrp="1"/>
          </p:cNvSpPr>
          <p:nvPr/>
        </p:nvSpPr>
        <p:spPr>
          <a:xfrm>
            <a:off x="666750" y="3914775"/>
            <a:ext cx="5429250" cy="1028700"/>
          </a:xfrm>
          <a:prstGeom prst="rect">
            <a:avLst/>
          </a:prstGeom>
          <a:noFill/>
          <a:ln w="0">
            <a:noFill/>
          </a:ln>
        </p:spPr>
        <p:txBody>
          <a:bodyPr anchor="t">
            <a:noAutofit/>
          </a:bodyPr>
          <a:lstStyle/>
          <a:p>
            <a:pPr>
              <a:defRPr sz="1875" b="0">
                <a:solidFill>
                  <a:srgbClr val="202D3C"/>
                </a:solidFill>
                <a:latin typeface="Aptos"/>
                <a:ea typeface="Aptos"/>
                <a:cs typeface="Aptos"/>
              </a:defRPr>
            </a:pPr>
            <a:r>
              <a:rPr sz="1875" b="0">
                <a:solidFill>
                  <a:srgbClr val="202D3C"/>
                </a:solidFill>
                <a:latin typeface="Aptos"/>
                <a:ea typeface="Aptos"/>
                <a:cs typeface="Aptos"/>
              </a:rPr>
              <a:t>The joint angle is θ₂ − θ₁. The lower-link absolute angle θ₂ is measured from the vertical, even while the upper link moves.</a:t>
            </a:r>
          </a:p>
        </p:txBody>
      </p:sp>
      <p:pic>
        <p:nvPicPr>
          <p:cNvPr id="13" name="Picture 12"/>
          <p:cNvPicPr>
            <a:picLocks noChangeAspect="1"/>
          </p:cNvPicPr>
          <p:nvPr/>
        </p:nvPicPr>
        <p:blipFill>
          <a:blip r:embed="rId3"/>
          <a:stretch/>
        </p:blipFill>
        <p:spPr>
          <a:xfrm>
            <a:off x="6524625" y="1941001"/>
            <a:ext cx="5238750" cy="3642748"/>
          </a:xfrm>
          <a:prstGeom prst="rect">
            <a:avLst/>
          </a:prstGeom>
        </p:spPr>
      </p:pic>
      <p:sp>
        <p:nvSpPr>
          <p:cNvPr id="7" name="page">
            <a:extLst>
              <a:ext uri="{FF2B5EF4-FFF2-40B4-BE49-F238E27FC236}">
                <a16:creationId xmlns:a16="http://schemas.microsoft.com/office/drawing/2014/main" id="{43F6CC80-65C1-450A-ADB0-ECD4B10365E7}"/>
              </a:ext>
            </a:extLst>
          </p:cNvPr>
          <p:cNvSpPr>
            <a:spLocks noGrp="1"/>
          </p:cNvSpPr>
          <p:nvPr/>
        </p:nvSpPr>
        <p:spPr>
          <a:xfrm>
            <a:off x="11449050" y="6515100"/>
            <a:ext cx="333375" cy="190500"/>
          </a:xfrm>
          <a:prstGeom prst="rect">
            <a:avLst/>
          </a:prstGeom>
          <a:noFill/>
          <a:ln w="0">
            <a:noFill/>
          </a:ln>
        </p:spPr>
        <p:txBody>
          <a:bodyPr anchor="t">
            <a:noAutofit/>
          </a:bodyPr>
          <a:lstStyle/>
          <a:p>
            <a:pPr>
              <a:defRPr sz="1050" b="0">
                <a:solidFill>
                  <a:srgbClr val="6B7280"/>
                </a:solidFill>
                <a:latin typeface="Aptos"/>
                <a:ea typeface="Aptos"/>
                <a:cs typeface="Aptos"/>
              </a:defRPr>
            </a:pPr>
            <a:r>
              <a:rPr sz="1050" b="0">
                <a:solidFill>
                  <a:srgbClr val="6B7280"/>
                </a:solidFill>
                <a:latin typeface="Aptos"/>
                <a:ea typeface="Aptos"/>
                <a:cs typeface="Aptos"/>
              </a:rPr>
              <a:t>3</a:t>
            </a:r>
          </a:p>
        </p:txBody>
      </p:sp>
    </p:spTree>
    <p:extLst>
      <p:ext uri="{BB962C8B-B14F-4D97-AF65-F5344CB8AC3E}">
        <p14:creationId xmlns:p14="http://schemas.microsoft.com/office/powerpoint/2010/main" val="122198495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course">
            <a:extLst>
              <a:ext uri="{FF2B5EF4-FFF2-40B4-BE49-F238E27FC236}">
                <a16:creationId xmlns:a16="http://schemas.microsoft.com/office/drawing/2014/main" id="{5536ED0F-16C4-4A80-818C-35F785CD94E2}"/>
              </a:ext>
            </a:extLst>
          </p:cNvPr>
          <p:cNvSpPr>
            <a:spLocks noGrp="1"/>
          </p:cNvSpPr>
          <p:nvPr/>
        </p:nvSpPr>
        <p:spPr>
          <a:xfrm>
            <a:off x="495300" y="190500"/>
            <a:ext cx="8572500" cy="285750"/>
          </a:xfrm>
          <a:prstGeom prst="rect">
            <a:avLst/>
          </a:prstGeom>
          <a:noFill/>
          <a:ln w="0">
            <a:noFill/>
          </a:ln>
        </p:spPr>
        <p:txBody>
          <a:bodyPr anchor="t">
            <a:noAutofit/>
          </a:bodyPr>
          <a:lstStyle/>
          <a:p>
            <a:pPr>
              <a:defRPr sz="1275" b="1">
                <a:solidFill>
                  <a:srgbClr val="881C1C"/>
                </a:solidFill>
                <a:latin typeface="Aptos"/>
                <a:ea typeface="Aptos"/>
                <a:cs typeface="Aptos"/>
              </a:defRPr>
            </a:pPr>
            <a:r>
              <a:rPr sz="1275" b="1">
                <a:solidFill>
                  <a:srgbClr val="881C1C"/>
                </a:solidFill>
                <a:latin typeface="Aptos"/>
                <a:ea typeface="Aptos"/>
                <a:cs typeface="Aptos"/>
              </a:rPr>
              <a:t>MIE 402   ME LAB II</a:t>
            </a:r>
          </a:p>
        </p:txBody>
      </p:sp>
      <p:sp>
        <p:nvSpPr>
          <p:cNvPr id="2" name="title">
            <a:extLst>
              <a:ext uri="{FF2B5EF4-FFF2-40B4-BE49-F238E27FC236}">
                <a16:creationId xmlns:a16="http://schemas.microsoft.com/office/drawing/2014/main" id="{505FB34C-FBB5-4BCF-9786-1D5F571710D6}"/>
              </a:ext>
            </a:extLst>
          </p:cNvPr>
          <p:cNvSpPr>
            <a:spLocks noGrp="1"/>
          </p:cNvSpPr>
          <p:nvPr/>
        </p:nvSpPr>
        <p:spPr>
          <a:xfrm>
            <a:off x="495300" y="666750"/>
            <a:ext cx="11125200" cy="742950"/>
          </a:xfrm>
          <a:prstGeom prst="rect">
            <a:avLst/>
          </a:prstGeom>
          <a:noFill/>
          <a:ln w="0">
            <a:noFill/>
          </a:ln>
        </p:spPr>
        <p:txBody>
          <a:bodyPr anchor="t">
            <a:noAutofit/>
          </a:bodyPr>
          <a:lstStyle/>
          <a:p>
            <a:pPr>
              <a:defRPr sz="2925" b="1">
                <a:solidFill>
                  <a:srgbClr val="152437"/>
                </a:solidFill>
                <a:latin typeface="Aptos"/>
                <a:ea typeface="Aptos"/>
                <a:cs typeface="Aptos"/>
              </a:defRPr>
            </a:pPr>
            <a:r>
              <a:rPr sz="2925" b="1">
                <a:solidFill>
                  <a:srgbClr val="152437"/>
                </a:solidFill>
                <a:latin typeface="Aptos"/>
                <a:ea typeface="Aptos"/>
                <a:cs typeface="Aptos"/>
              </a:rPr>
              <a:t>Masses and lengths in the model</a:t>
            </a:r>
          </a:p>
        </p:txBody>
      </p:sp>
      <p:sp>
        <p:nvSpPr>
          <p:cNvPr id="3" name="body0">
            <a:extLst>
              <a:ext uri="{FF2B5EF4-FFF2-40B4-BE49-F238E27FC236}">
                <a16:creationId xmlns:a16="http://schemas.microsoft.com/office/drawing/2014/main" id="{FDF6F12F-35C4-4B2B-B9B8-CC8D95D8B125}"/>
              </a:ext>
            </a:extLst>
          </p:cNvPr>
          <p:cNvSpPr>
            <a:spLocks noGrp="1"/>
          </p:cNvSpPr>
          <p:nvPr/>
        </p:nvSpPr>
        <p:spPr>
          <a:xfrm>
            <a:off x="666750" y="1666875"/>
            <a:ext cx="10858500" cy="971550"/>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m₁, m₂ [kg]: masses of the upper and lower uniform bars.</a:t>
            </a:r>
          </a:p>
        </p:txBody>
      </p:sp>
      <p:sp>
        <p:nvSpPr>
          <p:cNvPr id="4" name="body1">
            <a:extLst>
              <a:ext uri="{FF2B5EF4-FFF2-40B4-BE49-F238E27FC236}">
                <a16:creationId xmlns:a16="http://schemas.microsoft.com/office/drawing/2014/main" id="{5E2C39DA-6371-4FD5-9F07-995CCC245CDA}"/>
              </a:ext>
            </a:extLst>
          </p:cNvPr>
          <p:cNvSpPr>
            <a:spLocks noGrp="1"/>
          </p:cNvSpPr>
          <p:nvPr/>
        </p:nvSpPr>
        <p:spPr>
          <a:xfrm>
            <a:off x="666750" y="2733675"/>
            <a:ext cx="10858500" cy="971550"/>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M₁ [kg]: lumped mass at the moving joint. M₂ [kg]: lumped mass at the lower bob.</a:t>
            </a:r>
          </a:p>
        </p:txBody>
      </p:sp>
      <p:sp>
        <p:nvSpPr>
          <p:cNvPr id="5" name="body2">
            <a:extLst>
              <a:ext uri="{FF2B5EF4-FFF2-40B4-BE49-F238E27FC236}">
                <a16:creationId xmlns:a16="http://schemas.microsoft.com/office/drawing/2014/main" id="{8B4F5B9D-F6DF-446A-9E27-0E413ADF089B}"/>
              </a:ext>
            </a:extLst>
          </p:cNvPr>
          <p:cNvSpPr>
            <a:spLocks noGrp="1"/>
          </p:cNvSpPr>
          <p:nvPr/>
        </p:nvSpPr>
        <p:spPr>
          <a:xfrm>
            <a:off x="666750" y="3800475"/>
            <a:ext cx="10858500" cy="971550"/>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L₁ [m]: fixed pivot to moving joint. L₂ [m]: moving joint to lower-bob center.</a:t>
            </a:r>
          </a:p>
        </p:txBody>
      </p:sp>
      <p:sp>
        <p:nvSpPr>
          <p:cNvPr id="6" name="body3">
            <a:extLst>
              <a:ext uri="{FF2B5EF4-FFF2-40B4-BE49-F238E27FC236}">
                <a16:creationId xmlns:a16="http://schemas.microsoft.com/office/drawing/2014/main" id="{F94D5C96-78F7-40CF-BB08-C5F59AF1C1C2}"/>
              </a:ext>
            </a:extLst>
          </p:cNvPr>
          <p:cNvSpPr>
            <a:spLocks noGrp="1"/>
          </p:cNvSpPr>
          <p:nvPr/>
        </p:nvSpPr>
        <p:spPr>
          <a:xfrm>
            <a:off x="666750" y="4867275"/>
            <a:ext cx="10858500" cy="971550"/>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Assign each washer and attachment to one component only. Use measured values, not the pre-lab example.</a:t>
            </a:r>
          </a:p>
        </p:txBody>
      </p:sp>
      <p:sp>
        <p:nvSpPr>
          <p:cNvPr id="7" name="page">
            <a:extLst>
              <a:ext uri="{FF2B5EF4-FFF2-40B4-BE49-F238E27FC236}">
                <a16:creationId xmlns:a16="http://schemas.microsoft.com/office/drawing/2014/main" id="{B8E6927B-9F65-4D95-90FE-1C9E316A6381}"/>
              </a:ext>
            </a:extLst>
          </p:cNvPr>
          <p:cNvSpPr>
            <a:spLocks noGrp="1"/>
          </p:cNvSpPr>
          <p:nvPr/>
        </p:nvSpPr>
        <p:spPr>
          <a:xfrm>
            <a:off x="11449050" y="6515100"/>
            <a:ext cx="333375" cy="190500"/>
          </a:xfrm>
          <a:prstGeom prst="rect">
            <a:avLst/>
          </a:prstGeom>
          <a:noFill/>
          <a:ln w="0">
            <a:noFill/>
          </a:ln>
        </p:spPr>
        <p:txBody>
          <a:bodyPr anchor="t">
            <a:noAutofit/>
          </a:bodyPr>
          <a:lstStyle/>
          <a:p>
            <a:pPr>
              <a:defRPr sz="1050" b="0">
                <a:solidFill>
                  <a:srgbClr val="6B7280"/>
                </a:solidFill>
                <a:latin typeface="Aptos"/>
                <a:ea typeface="Aptos"/>
                <a:cs typeface="Aptos"/>
              </a:defRPr>
            </a:pPr>
            <a:r>
              <a:rPr sz="1050" b="0">
                <a:solidFill>
                  <a:srgbClr val="6B7280"/>
                </a:solidFill>
                <a:latin typeface="Aptos"/>
                <a:ea typeface="Aptos"/>
                <a:cs typeface="Aptos"/>
              </a:rPr>
              <a:t>4</a:t>
            </a:r>
          </a:p>
        </p:txBody>
      </p:sp>
    </p:spTree>
    <p:extLst>
      <p:ext uri="{BB962C8B-B14F-4D97-AF65-F5344CB8AC3E}">
        <p14:creationId xmlns:p14="http://schemas.microsoft.com/office/powerpoint/2010/main" val="6109304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course">
            <a:extLst>
              <a:ext uri="{FF2B5EF4-FFF2-40B4-BE49-F238E27FC236}">
                <a16:creationId xmlns:a16="http://schemas.microsoft.com/office/drawing/2014/main" id="{5A127EDD-D968-456D-8ECF-0D15B9642BD7}"/>
              </a:ext>
            </a:extLst>
          </p:cNvPr>
          <p:cNvSpPr>
            <a:spLocks noGrp="1"/>
          </p:cNvSpPr>
          <p:nvPr/>
        </p:nvSpPr>
        <p:spPr>
          <a:xfrm>
            <a:off x="495300" y="190500"/>
            <a:ext cx="8572500" cy="285750"/>
          </a:xfrm>
          <a:prstGeom prst="rect">
            <a:avLst/>
          </a:prstGeom>
          <a:noFill/>
          <a:ln w="0">
            <a:noFill/>
          </a:ln>
        </p:spPr>
        <p:txBody>
          <a:bodyPr anchor="t">
            <a:noAutofit/>
          </a:bodyPr>
          <a:lstStyle/>
          <a:p>
            <a:pPr>
              <a:defRPr sz="1275" b="1">
                <a:solidFill>
                  <a:srgbClr val="881C1C"/>
                </a:solidFill>
                <a:latin typeface="Aptos"/>
                <a:ea typeface="Aptos"/>
                <a:cs typeface="Aptos"/>
              </a:defRPr>
            </a:pPr>
            <a:r>
              <a:rPr sz="1275" b="1">
                <a:solidFill>
                  <a:srgbClr val="881C1C"/>
                </a:solidFill>
                <a:latin typeface="Aptos"/>
                <a:ea typeface="Aptos"/>
                <a:cs typeface="Aptos"/>
              </a:rPr>
              <a:t>MIE 402   ME LAB II</a:t>
            </a:r>
          </a:p>
        </p:txBody>
      </p:sp>
      <p:sp>
        <p:nvSpPr>
          <p:cNvPr id="2" name="title">
            <a:extLst>
              <a:ext uri="{FF2B5EF4-FFF2-40B4-BE49-F238E27FC236}">
                <a16:creationId xmlns:a16="http://schemas.microsoft.com/office/drawing/2014/main" id="{5F145B04-C5EF-4EF6-AA04-5C47DEE89B24}"/>
              </a:ext>
            </a:extLst>
          </p:cNvPr>
          <p:cNvSpPr>
            <a:spLocks noGrp="1"/>
          </p:cNvSpPr>
          <p:nvPr/>
        </p:nvSpPr>
        <p:spPr>
          <a:xfrm>
            <a:off x="495300" y="666750"/>
            <a:ext cx="11125200" cy="742950"/>
          </a:xfrm>
          <a:prstGeom prst="rect">
            <a:avLst/>
          </a:prstGeom>
          <a:noFill/>
          <a:ln w="0">
            <a:noFill/>
          </a:ln>
        </p:spPr>
        <p:txBody>
          <a:bodyPr anchor="t">
            <a:noAutofit/>
          </a:bodyPr>
          <a:lstStyle/>
          <a:p>
            <a:pPr>
              <a:defRPr sz="2925" b="1">
                <a:solidFill>
                  <a:srgbClr val="152437"/>
                </a:solidFill>
                <a:latin typeface="Aptos"/>
                <a:ea typeface="Aptos"/>
                <a:cs typeface="Aptos"/>
              </a:defRPr>
            </a:pPr>
            <a:r>
              <a:rPr sz="2925" b="1">
                <a:solidFill>
                  <a:srgbClr val="152437"/>
                </a:solidFill>
                <a:latin typeface="Aptos"/>
                <a:ea typeface="Aptos"/>
                <a:cs typeface="Aptos"/>
              </a:rPr>
              <a:t>Angular velocity: what ω₁ and ω₂ mean</a:t>
            </a:r>
          </a:p>
        </p:txBody>
      </p:sp>
      <mc:AlternateContent xmlns:mc="http://schemas.openxmlformats.org/markup-compatibility/2006">
        <mc:Choice xmlns:a14="http://schemas.microsoft.com/office/drawing/2010/main" Requires="a14">
          <p:sp>
            <p:nvSpPr>
              <p:cNvPr id="3" name="EQ_rates">
                <a:extLst>
                  <a:ext uri="{FF2B5EF4-FFF2-40B4-BE49-F238E27FC236}">
                    <a16:creationId xmlns:a16="http://schemas.microsoft.com/office/drawing/2014/main" id="{80489387-D664-4B4E-8894-FB84F73B1A72}"/>
                  </a:ext>
                </a:extLst>
              </p:cNvPr>
              <p:cNvSpPr>
                <a:spLocks noGrp="1"/>
              </p:cNvSpPr>
              <p:nvPr/>
            </p:nvSpPr>
            <p:spPr>
              <a:xfrm>
                <a:off x="666750" y="1666875"/>
                <a:ext cx="10858500" cy="647700"/>
              </a:xfrm>
              <a:prstGeom prst="rect">
                <a:avLst/>
              </a:prstGeom>
              <a:noFill/>
              <a:ln w="0">
                <a:noFill/>
              </a:ln>
            </p:spPr>
            <p:txBody>
              <a:bodyPr anchor="t">
                <a:noAutofit/>
              </a:bodyPr>
              <a:lstStyle/>
              <a:p>
                <a:pPr algn="l"/>
                <a14:m>
                  <m:oMathPara xmlns:m="http://schemas.openxmlformats.org/officeDocument/2006/math">
                    <m:oMathParaPr>
                      <m:jc m:val="left"/>
                    </m:oMathParaPr>
                    <m:oMath>
                      <m:sSub>
                        <m:sSubPr>
                          <m:ctrlPr>
                            <a:rPr lang="en-US" sz="2400">
                              <a:latin typeface="Cambria Math"/>
                            </a:rPr>
                          </m:ctrlPr>
                        </m:sSubPr>
                        <m:e>
                          <m:r>
                            <a:rPr lang="en-US" sz="2400">
                              <a:latin typeface="Cambria Math"/>
                            </a:rPr>
                            <m:t>𝜔</m:t>
                          </m:r>
                        </m:e>
                        <m:sub>
                          <m:r>
                            <a:rPr lang="en-US" sz="2400">
                              <a:latin typeface="Cambria Math"/>
                            </a:rPr>
                            <m:t>1</m:t>
                          </m:r>
                        </m:sub>
                      </m:sSub>
                      <m:r>
                        <a:rPr lang="en-US" sz="2400">
                          <a:latin typeface="Cambria Math"/>
                        </a:rPr>
                        <m:t> = </m:t>
                      </m:r>
                      <m:acc>
                        <m:accPr>
                          <m:chr m:val="̇"/>
                          <m:ctrlPr>
                            <a:rPr lang="en-US" sz="2400" i="1">
                              <a:latin typeface="Cambria Math" panose="02040503050406030204" pitchFamily="18" charset="0"/>
                            </a:rPr>
                          </m:ctrlPr>
                        </m:accPr>
                        <m:e>
                          <m:sSub>
                            <m:sSubPr>
                              <m:ctrlPr>
                                <a:rPr lang="en-US" sz="2400">
                                  <a:latin typeface="Cambria Math"/>
                                </a:rPr>
                              </m:ctrlPr>
                            </m:sSubPr>
                            <m:e>
                              <m:r>
                                <a:rPr lang="en-US" sz="2400">
                                  <a:latin typeface="Cambria Math"/>
                                </a:rPr>
                                <m:t>𝜃</m:t>
                              </m:r>
                            </m:e>
                            <m:sub>
                              <m:r>
                                <a:rPr lang="en-US" sz="2400">
                                  <a:latin typeface="Cambria Math"/>
                                </a:rPr>
                                <m:t>1</m:t>
                              </m:r>
                            </m:sub>
                          </m:sSub>
                        </m:e>
                      </m:acc>
                      <m:r>
                        <a:rPr lang="en-US" sz="2400">
                          <a:latin typeface="Cambria Math"/>
                        </a:rPr>
                        <m:t> = </m:t>
                      </m:r>
                      <m:f>
                        <m:fPr>
                          <m:ctrlPr>
                            <a:rPr lang="en-US" sz="2400">
                              <a:latin typeface="Cambria Math"/>
                            </a:rPr>
                          </m:ctrlPr>
                        </m:fPr>
                        <m:num>
                          <m:r>
                            <a:rPr lang="en-US" sz="2400">
                              <a:latin typeface="Cambria Math"/>
                            </a:rPr>
                            <m:t>𝑑</m:t>
                          </m:r>
                          <m:sSub>
                            <m:sSubPr>
                              <m:ctrlPr>
                                <a:rPr lang="en-US" sz="2400">
                                  <a:latin typeface="Cambria Math"/>
                                </a:rPr>
                              </m:ctrlPr>
                            </m:sSubPr>
                            <m:e>
                              <m:r>
                                <a:rPr lang="en-US" sz="2400">
                                  <a:latin typeface="Cambria Math"/>
                                </a:rPr>
                                <m:t>𝜃</m:t>
                              </m:r>
                            </m:e>
                            <m:sub>
                              <m:r>
                                <a:rPr lang="en-US" sz="2400">
                                  <a:latin typeface="Cambria Math"/>
                                </a:rPr>
                                <m:t>1</m:t>
                              </m:r>
                            </m:sub>
                          </m:sSub>
                        </m:num>
                        <m:den>
                          <m:r>
                            <a:rPr lang="en-US" sz="2400">
                              <a:latin typeface="Cambria Math"/>
                            </a:rPr>
                            <m:t>𝑑𝑡</m:t>
                          </m:r>
                        </m:den>
                      </m:f>
                      <m:r>
                        <a:rPr lang="en-US" sz="2400">
                          <a:latin typeface="Cambria Math"/>
                        </a:rPr>
                        <m:t>     </m:t>
                      </m:r>
                      <m:sSub>
                        <m:sSubPr>
                          <m:ctrlPr>
                            <a:rPr lang="en-US" sz="2400">
                              <a:latin typeface="Cambria Math"/>
                            </a:rPr>
                          </m:ctrlPr>
                        </m:sSubPr>
                        <m:e>
                          <m:r>
                            <a:rPr lang="en-US" sz="2400">
                              <a:latin typeface="Cambria Math"/>
                            </a:rPr>
                            <m:t>𝜔</m:t>
                          </m:r>
                        </m:e>
                        <m:sub>
                          <m:r>
                            <a:rPr lang="en-US" sz="2400">
                              <a:latin typeface="Cambria Math"/>
                            </a:rPr>
                            <m:t>2</m:t>
                          </m:r>
                        </m:sub>
                      </m:sSub>
                      <m:r>
                        <a:rPr lang="en-US" sz="2400">
                          <a:latin typeface="Cambria Math"/>
                        </a:rPr>
                        <m:t> = </m:t>
                      </m:r>
                      <m:acc>
                        <m:accPr>
                          <m:chr m:val="̇"/>
                          <m:ctrlPr>
                            <a:rPr lang="en-US" sz="2400" i="1">
                              <a:latin typeface="Cambria Math" panose="02040503050406030204" pitchFamily="18" charset="0"/>
                            </a:rPr>
                          </m:ctrlPr>
                        </m:accPr>
                        <m:e>
                          <m:sSub>
                            <m:sSubPr>
                              <m:ctrlPr>
                                <a:rPr lang="en-US" sz="2400">
                                  <a:latin typeface="Cambria Math"/>
                                </a:rPr>
                              </m:ctrlPr>
                            </m:sSubPr>
                            <m:e>
                              <m:r>
                                <a:rPr lang="en-US" sz="2400">
                                  <a:latin typeface="Cambria Math"/>
                                </a:rPr>
                                <m:t>𝜃</m:t>
                              </m:r>
                            </m:e>
                            <m:sub>
                              <m:r>
                                <a:rPr lang="en-US" sz="2400">
                                  <a:latin typeface="Cambria Math"/>
                                </a:rPr>
                                <m:t>2</m:t>
                              </m:r>
                            </m:sub>
                          </m:sSub>
                        </m:e>
                      </m:acc>
                      <m:r>
                        <a:rPr lang="en-US" sz="2400">
                          <a:latin typeface="Cambria Math"/>
                        </a:rPr>
                        <m:t> = </m:t>
                      </m:r>
                      <m:f>
                        <m:fPr>
                          <m:ctrlPr>
                            <a:rPr lang="en-US" sz="2400">
                              <a:latin typeface="Cambria Math"/>
                            </a:rPr>
                          </m:ctrlPr>
                        </m:fPr>
                        <m:num>
                          <m:r>
                            <a:rPr lang="en-US" sz="2400">
                              <a:latin typeface="Cambria Math"/>
                            </a:rPr>
                            <m:t>𝑑</m:t>
                          </m:r>
                          <m:sSub>
                            <m:sSubPr>
                              <m:ctrlPr>
                                <a:rPr lang="en-US" sz="2400">
                                  <a:latin typeface="Cambria Math"/>
                                </a:rPr>
                              </m:ctrlPr>
                            </m:sSubPr>
                            <m:e>
                              <m:r>
                                <a:rPr lang="en-US" sz="2400">
                                  <a:latin typeface="Cambria Math"/>
                                </a:rPr>
                                <m:t>𝜃</m:t>
                              </m:r>
                            </m:e>
                            <m:sub>
                              <m:r>
                                <a:rPr lang="en-US" sz="2400">
                                  <a:latin typeface="Cambria Math"/>
                                </a:rPr>
                                <m:t>2</m:t>
                              </m:r>
                            </m:sub>
                          </m:sSub>
                        </m:num>
                        <m:den>
                          <m:r>
                            <a:rPr lang="en-US" sz="2400">
                              <a:latin typeface="Cambria Math"/>
                            </a:rPr>
                            <m:t>𝑑𝑡</m:t>
                          </m:r>
                        </m:den>
                      </m:f>
                    </m:oMath>
                  </m:oMathPara>
                </a14:m>
                <a:endParaRPr lang="en-US" sz="2400"/>
              </a:p>
            </p:txBody>
          </p:sp>
        </mc:Choice>
        <mc:Fallback>
          <p:sp>
            <p:nvSpPr>
              <p:cNvPr id="3" name="EQ_rates">
                <a:extLst>
                  <a:ext uri="{FF2B5EF4-FFF2-40B4-BE49-F238E27FC236}">
                    <a16:creationId xmlns:a16="http://schemas.microsoft.com/office/drawing/2014/main" id="{80489387-D664-4B4E-8894-FB84F73B1A72}"/>
                  </a:ext>
                </a:extLst>
              </p:cNvPr>
              <p:cNvSpPr>
                <a:spLocks noGrp="1" noRot="1" noChangeAspect="1" noMove="1" noResize="1" noEditPoints="1" noAdjustHandles="1" noChangeArrowheads="1" noChangeShapeType="1" noTextEdit="1"/>
              </p:cNvSpPr>
              <p:nvPr/>
            </p:nvSpPr>
            <p:spPr>
              <a:xfrm>
                <a:off x="666750" y="1666875"/>
                <a:ext cx="10858500" cy="647700"/>
              </a:xfrm>
              <a:prstGeom prst="rect">
                <a:avLst/>
              </a:prstGeom>
              <a:blipFill>
                <a:blip r:embed="rId3"/>
                <a:stretch>
                  <a:fillRect b="-14019"/>
                </a:stretch>
              </a:blipFill>
              <a:ln w="0">
                <a:noFill/>
              </a:ln>
            </p:spPr>
            <p:txBody>
              <a:bodyPr/>
              <a:lstStyle/>
              <a:p>
                <a:r>
                  <a:rPr lang="en-US">
                    <a:noFill/>
                  </a:rPr>
                  <a:t> </a:t>
                </a:r>
              </a:p>
            </p:txBody>
          </p:sp>
        </mc:Fallback>
      </mc:AlternateContent>
      <p:sp>
        <p:nvSpPr>
          <p:cNvPr id="4" name="body0">
            <a:extLst>
              <a:ext uri="{FF2B5EF4-FFF2-40B4-BE49-F238E27FC236}">
                <a16:creationId xmlns:a16="http://schemas.microsoft.com/office/drawing/2014/main" id="{75DDB7B0-0268-4E34-AB72-101C19CD6884}"/>
              </a:ext>
            </a:extLst>
          </p:cNvPr>
          <p:cNvSpPr>
            <a:spLocks noGrp="1"/>
          </p:cNvSpPr>
          <p:nvPr/>
        </p:nvSpPr>
        <p:spPr>
          <a:xfrm>
            <a:off x="666750" y="2447925"/>
            <a:ext cx="10858500" cy="864394"/>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ω₁ = dθ₁/dt [rad/s]: angular velocity of the upper link relative to the fixed vertical.</a:t>
            </a:r>
          </a:p>
        </p:txBody>
      </p:sp>
      <p:sp>
        <p:nvSpPr>
          <p:cNvPr id="5" name="body1">
            <a:extLst>
              <a:ext uri="{FF2B5EF4-FFF2-40B4-BE49-F238E27FC236}">
                <a16:creationId xmlns:a16="http://schemas.microsoft.com/office/drawing/2014/main" id="{AF66E013-BB15-4684-B68E-B164C209A95E}"/>
              </a:ext>
            </a:extLst>
          </p:cNvPr>
          <p:cNvSpPr>
            <a:spLocks noGrp="1"/>
          </p:cNvSpPr>
          <p:nvPr/>
        </p:nvSpPr>
        <p:spPr>
          <a:xfrm>
            <a:off x="666750" y="3407569"/>
            <a:ext cx="10858500" cy="864394"/>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ω₂ = dθ₂/dt [rad/s]: angular velocity of the lower link relative to the fixed vertical. The joint’s relative angular velocity is ω₂ − ω₁.</a:t>
            </a:r>
          </a:p>
        </p:txBody>
      </p:sp>
      <p:sp>
        <p:nvSpPr>
          <p:cNvPr id="6" name="body2">
            <a:extLst>
              <a:ext uri="{FF2B5EF4-FFF2-40B4-BE49-F238E27FC236}">
                <a16:creationId xmlns:a16="http://schemas.microsoft.com/office/drawing/2014/main" id="{E4E4AD1D-2D36-40FD-B5B1-1498628E7DD1}"/>
              </a:ext>
            </a:extLst>
          </p:cNvPr>
          <p:cNvSpPr>
            <a:spLocks noGrp="1"/>
          </p:cNvSpPr>
          <p:nvPr/>
        </p:nvSpPr>
        <p:spPr>
          <a:xfrm>
            <a:off x="666750" y="4367213"/>
            <a:ext cx="10858500" cy="864394"/>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α₁ and α₂ [rad/s²]: rates of change of ω₁ and ω₂. Here t is time [s], i = 1 or 2, and a dot denotes a time derivative.</a:t>
            </a:r>
          </a:p>
        </p:txBody>
      </p:sp>
      <p:sp>
        <p:nvSpPr>
          <p:cNvPr id="7" name="body3">
            <a:extLst>
              <a:ext uri="{FF2B5EF4-FFF2-40B4-BE49-F238E27FC236}">
                <a16:creationId xmlns:a16="http://schemas.microsoft.com/office/drawing/2014/main" id="{E0331CF0-31A4-4630-A49A-3CA1D450718C}"/>
              </a:ext>
            </a:extLst>
          </p:cNvPr>
          <p:cNvSpPr>
            <a:spLocks noGrp="1"/>
          </p:cNvSpPr>
          <p:nvPr/>
        </p:nvSpPr>
        <p:spPr>
          <a:xfrm>
            <a:off x="666750" y="5326856"/>
            <a:ext cx="10858500" cy="864394"/>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The sign gives rotation direction. Angular speed is |ωᵢ|. These instantaneous velocities are not oscillation frequencies in hertz.</a:t>
            </a:r>
          </a:p>
        </p:txBody>
      </p:sp>
      <p:sp>
        <p:nvSpPr>
          <p:cNvPr id="8" name="page">
            <a:extLst>
              <a:ext uri="{FF2B5EF4-FFF2-40B4-BE49-F238E27FC236}">
                <a16:creationId xmlns:a16="http://schemas.microsoft.com/office/drawing/2014/main" id="{C0994143-B734-4F6B-9C76-2D2C221ECB48}"/>
              </a:ext>
            </a:extLst>
          </p:cNvPr>
          <p:cNvSpPr>
            <a:spLocks noGrp="1"/>
          </p:cNvSpPr>
          <p:nvPr/>
        </p:nvSpPr>
        <p:spPr>
          <a:xfrm>
            <a:off x="11449050" y="6515100"/>
            <a:ext cx="333375" cy="190500"/>
          </a:xfrm>
          <a:prstGeom prst="rect">
            <a:avLst/>
          </a:prstGeom>
          <a:noFill/>
          <a:ln w="0">
            <a:noFill/>
          </a:ln>
        </p:spPr>
        <p:txBody>
          <a:bodyPr anchor="t">
            <a:noAutofit/>
          </a:bodyPr>
          <a:lstStyle/>
          <a:p>
            <a:pPr>
              <a:defRPr sz="1050" b="0">
                <a:solidFill>
                  <a:srgbClr val="6B7280"/>
                </a:solidFill>
                <a:latin typeface="Aptos"/>
                <a:ea typeface="Aptos"/>
                <a:cs typeface="Aptos"/>
              </a:defRPr>
            </a:pPr>
            <a:r>
              <a:rPr sz="1050" b="0">
                <a:solidFill>
                  <a:srgbClr val="6B7280"/>
                </a:solidFill>
                <a:latin typeface="Aptos"/>
                <a:ea typeface="Aptos"/>
                <a:cs typeface="Aptos"/>
              </a:rPr>
              <a:t>5</a:t>
            </a:r>
          </a:p>
        </p:txBody>
      </p:sp>
    </p:spTree>
    <p:extLst>
      <p:ext uri="{BB962C8B-B14F-4D97-AF65-F5344CB8AC3E}">
        <p14:creationId xmlns:p14="http://schemas.microsoft.com/office/powerpoint/2010/main" val="167628168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course">
            <a:extLst>
              <a:ext uri="{FF2B5EF4-FFF2-40B4-BE49-F238E27FC236}">
                <a16:creationId xmlns:a16="http://schemas.microsoft.com/office/drawing/2014/main" id="{05975448-4D20-4BDB-9E3F-5E91E50BFBDD}"/>
              </a:ext>
            </a:extLst>
          </p:cNvPr>
          <p:cNvSpPr>
            <a:spLocks noGrp="1"/>
          </p:cNvSpPr>
          <p:nvPr/>
        </p:nvSpPr>
        <p:spPr>
          <a:xfrm>
            <a:off x="495300" y="190500"/>
            <a:ext cx="8572500" cy="285750"/>
          </a:xfrm>
          <a:prstGeom prst="rect">
            <a:avLst/>
          </a:prstGeom>
          <a:noFill/>
          <a:ln w="0">
            <a:noFill/>
          </a:ln>
        </p:spPr>
        <p:txBody>
          <a:bodyPr anchor="t">
            <a:noAutofit/>
          </a:bodyPr>
          <a:lstStyle/>
          <a:p>
            <a:pPr>
              <a:defRPr sz="1275" b="1">
                <a:solidFill>
                  <a:srgbClr val="881C1C"/>
                </a:solidFill>
                <a:latin typeface="Aptos"/>
                <a:ea typeface="Aptos"/>
                <a:cs typeface="Aptos"/>
              </a:defRPr>
            </a:pPr>
            <a:r>
              <a:rPr sz="1275" b="1">
                <a:solidFill>
                  <a:srgbClr val="881C1C"/>
                </a:solidFill>
                <a:latin typeface="Aptos"/>
                <a:ea typeface="Aptos"/>
                <a:cs typeface="Aptos"/>
              </a:rPr>
              <a:t>MIE 402   ME LAB II</a:t>
            </a:r>
          </a:p>
        </p:txBody>
      </p:sp>
      <p:sp>
        <p:nvSpPr>
          <p:cNvPr id="2" name="title">
            <a:extLst>
              <a:ext uri="{FF2B5EF4-FFF2-40B4-BE49-F238E27FC236}">
                <a16:creationId xmlns:a16="http://schemas.microsoft.com/office/drawing/2014/main" id="{4020A02F-1C23-49F0-9B31-53A236780C64}"/>
              </a:ext>
            </a:extLst>
          </p:cNvPr>
          <p:cNvSpPr>
            <a:spLocks noGrp="1"/>
          </p:cNvSpPr>
          <p:nvPr/>
        </p:nvSpPr>
        <p:spPr>
          <a:xfrm>
            <a:off x="495300" y="666750"/>
            <a:ext cx="11125200" cy="742950"/>
          </a:xfrm>
          <a:prstGeom prst="rect">
            <a:avLst/>
          </a:prstGeom>
          <a:noFill/>
          <a:ln w="0">
            <a:noFill/>
          </a:ln>
        </p:spPr>
        <p:txBody>
          <a:bodyPr anchor="t">
            <a:noAutofit/>
          </a:bodyPr>
          <a:lstStyle/>
          <a:p>
            <a:pPr>
              <a:defRPr sz="2925" b="1">
                <a:solidFill>
                  <a:srgbClr val="152437"/>
                </a:solidFill>
                <a:latin typeface="Aptos"/>
                <a:ea typeface="Aptos"/>
                <a:cs typeface="Aptos"/>
              </a:defRPr>
            </a:pPr>
            <a:r>
              <a:rPr sz="2925" b="1">
                <a:solidFill>
                  <a:srgbClr val="152437"/>
                </a:solidFill>
                <a:latin typeface="Aptos"/>
                <a:ea typeface="Aptos"/>
                <a:cs typeface="Aptos"/>
              </a:rPr>
              <a:t>Position symbols and coordinate convention</a:t>
            </a:r>
          </a:p>
        </p:txBody>
      </p:sp>
      <p:sp>
        <p:nvSpPr>
          <p:cNvPr id="3" name="body0">
            <a:extLst>
              <a:ext uri="{FF2B5EF4-FFF2-40B4-BE49-F238E27FC236}">
                <a16:creationId xmlns:a16="http://schemas.microsoft.com/office/drawing/2014/main" id="{CCDDC019-FE3E-430C-9FE6-B8991D840B78}"/>
              </a:ext>
            </a:extLst>
          </p:cNvPr>
          <p:cNvSpPr>
            <a:spLocks noGrp="1"/>
          </p:cNvSpPr>
          <p:nvPr/>
        </p:nvSpPr>
        <p:spPr>
          <a:xfrm>
            <a:off x="666750" y="1666875"/>
            <a:ext cx="10858500" cy="971550"/>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(x₁, y₁) [m]: position of the joint / first bob relative to the fixed pivot.</a:t>
            </a:r>
          </a:p>
        </p:txBody>
      </p:sp>
      <p:sp>
        <p:nvSpPr>
          <p:cNvPr id="4" name="body1">
            <a:extLst>
              <a:ext uri="{FF2B5EF4-FFF2-40B4-BE49-F238E27FC236}">
                <a16:creationId xmlns:a16="http://schemas.microsoft.com/office/drawing/2014/main" id="{1C8D7327-7B32-4ABD-B7BD-EB8E66D5D8E9}"/>
              </a:ext>
            </a:extLst>
          </p:cNvPr>
          <p:cNvSpPr>
            <a:spLocks noGrp="1"/>
          </p:cNvSpPr>
          <p:nvPr/>
        </p:nvSpPr>
        <p:spPr>
          <a:xfrm>
            <a:off x="666750" y="2733675"/>
            <a:ext cx="10858500" cy="971550"/>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(x₂, y₂) [m]: position of the lower bob relative to the same fixed pivot.</a:t>
            </a:r>
          </a:p>
        </p:txBody>
      </p:sp>
      <p:sp>
        <p:nvSpPr>
          <p:cNvPr id="5" name="body2">
            <a:extLst>
              <a:ext uri="{FF2B5EF4-FFF2-40B4-BE49-F238E27FC236}">
                <a16:creationId xmlns:a16="http://schemas.microsoft.com/office/drawing/2014/main" id="{BE9F9AF7-B8E9-4171-A24B-9F4FBB03F194}"/>
              </a:ext>
            </a:extLst>
          </p:cNvPr>
          <p:cNvSpPr>
            <a:spLocks noGrp="1"/>
          </p:cNvSpPr>
          <p:nvPr/>
        </p:nvSpPr>
        <p:spPr>
          <a:xfrm>
            <a:off x="666750" y="3800475"/>
            <a:ext cx="10858500" cy="971550"/>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The origin is the fixed pivot. x increases rightward and y increases upward. A point below the pivot has negative y.</a:t>
            </a:r>
          </a:p>
        </p:txBody>
      </p:sp>
      <p:sp>
        <p:nvSpPr>
          <p:cNvPr id="6" name="body3">
            <a:extLst>
              <a:ext uri="{FF2B5EF4-FFF2-40B4-BE49-F238E27FC236}">
                <a16:creationId xmlns:a16="http://schemas.microsoft.com/office/drawing/2014/main" id="{D02C66C3-BDD6-41EE-8C5B-7AA2F0A3D3FF}"/>
              </a:ext>
            </a:extLst>
          </p:cNvPr>
          <p:cNvSpPr>
            <a:spLocks noGrp="1"/>
          </p:cNvSpPr>
          <p:nvPr/>
        </p:nvSpPr>
        <p:spPr>
          <a:xfrm>
            <a:off x="666750" y="4867275"/>
            <a:ext cx="10858500" cy="971550"/>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Use meters in the energy model. Later, convert the analyzer’s saved millimeter coordinates to meters when needed.</a:t>
            </a:r>
          </a:p>
        </p:txBody>
      </p:sp>
      <p:sp>
        <p:nvSpPr>
          <p:cNvPr id="7" name="page">
            <a:extLst>
              <a:ext uri="{FF2B5EF4-FFF2-40B4-BE49-F238E27FC236}">
                <a16:creationId xmlns:a16="http://schemas.microsoft.com/office/drawing/2014/main" id="{2C060374-A871-4F03-A090-519DEAEC2978}"/>
              </a:ext>
            </a:extLst>
          </p:cNvPr>
          <p:cNvSpPr>
            <a:spLocks noGrp="1"/>
          </p:cNvSpPr>
          <p:nvPr/>
        </p:nvSpPr>
        <p:spPr>
          <a:xfrm>
            <a:off x="11449050" y="6515100"/>
            <a:ext cx="333375" cy="190500"/>
          </a:xfrm>
          <a:prstGeom prst="rect">
            <a:avLst/>
          </a:prstGeom>
          <a:noFill/>
          <a:ln w="0">
            <a:noFill/>
          </a:ln>
        </p:spPr>
        <p:txBody>
          <a:bodyPr anchor="t">
            <a:noAutofit/>
          </a:bodyPr>
          <a:lstStyle/>
          <a:p>
            <a:pPr>
              <a:defRPr sz="1050" b="0">
                <a:solidFill>
                  <a:srgbClr val="6B7280"/>
                </a:solidFill>
                <a:latin typeface="Aptos"/>
                <a:ea typeface="Aptos"/>
                <a:cs typeface="Aptos"/>
              </a:defRPr>
            </a:pPr>
            <a:r>
              <a:rPr sz="1050" b="0">
                <a:solidFill>
                  <a:srgbClr val="6B7280"/>
                </a:solidFill>
                <a:latin typeface="Aptos"/>
                <a:ea typeface="Aptos"/>
                <a:cs typeface="Aptos"/>
              </a:rPr>
              <a:t>6</a:t>
            </a:r>
          </a:p>
        </p:txBody>
      </p:sp>
    </p:spTree>
    <p:extLst>
      <p:ext uri="{BB962C8B-B14F-4D97-AF65-F5344CB8AC3E}">
        <p14:creationId xmlns:p14="http://schemas.microsoft.com/office/powerpoint/2010/main" val="209156178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course">
            <a:extLst>
              <a:ext uri="{FF2B5EF4-FFF2-40B4-BE49-F238E27FC236}">
                <a16:creationId xmlns:a16="http://schemas.microsoft.com/office/drawing/2014/main" id="{2EFB30E2-0F75-4E07-B9AA-7AF42CE95F91}"/>
              </a:ext>
            </a:extLst>
          </p:cNvPr>
          <p:cNvSpPr>
            <a:spLocks noGrp="1"/>
          </p:cNvSpPr>
          <p:nvPr/>
        </p:nvSpPr>
        <p:spPr>
          <a:xfrm>
            <a:off x="495300" y="190500"/>
            <a:ext cx="8572500" cy="285750"/>
          </a:xfrm>
          <a:prstGeom prst="rect">
            <a:avLst/>
          </a:prstGeom>
          <a:noFill/>
          <a:ln w="0">
            <a:noFill/>
          </a:ln>
        </p:spPr>
        <p:txBody>
          <a:bodyPr anchor="t">
            <a:noAutofit/>
          </a:bodyPr>
          <a:lstStyle/>
          <a:p>
            <a:pPr>
              <a:defRPr sz="1275" b="1">
                <a:solidFill>
                  <a:srgbClr val="881C1C"/>
                </a:solidFill>
                <a:latin typeface="Aptos"/>
                <a:ea typeface="Aptos"/>
                <a:cs typeface="Aptos"/>
              </a:defRPr>
            </a:pPr>
            <a:r>
              <a:rPr sz="1275" b="1">
                <a:solidFill>
                  <a:srgbClr val="881C1C"/>
                </a:solidFill>
                <a:latin typeface="Aptos"/>
                <a:ea typeface="Aptos"/>
                <a:cs typeface="Aptos"/>
              </a:rPr>
              <a:t>MIE 402   ME LAB II</a:t>
            </a:r>
          </a:p>
        </p:txBody>
      </p:sp>
      <p:sp>
        <p:nvSpPr>
          <p:cNvPr id="2" name="title">
            <a:extLst>
              <a:ext uri="{FF2B5EF4-FFF2-40B4-BE49-F238E27FC236}">
                <a16:creationId xmlns:a16="http://schemas.microsoft.com/office/drawing/2014/main" id="{DEB43CA6-9B9F-4C00-BE3B-F8939E12B095}"/>
              </a:ext>
            </a:extLst>
          </p:cNvPr>
          <p:cNvSpPr>
            <a:spLocks noGrp="1"/>
          </p:cNvSpPr>
          <p:nvPr/>
        </p:nvSpPr>
        <p:spPr>
          <a:xfrm>
            <a:off x="495300" y="666750"/>
            <a:ext cx="11125200" cy="742950"/>
          </a:xfrm>
          <a:prstGeom prst="rect">
            <a:avLst/>
          </a:prstGeom>
          <a:noFill/>
          <a:ln w="0">
            <a:noFill/>
          </a:ln>
        </p:spPr>
        <p:txBody>
          <a:bodyPr anchor="t">
            <a:noAutofit/>
          </a:bodyPr>
          <a:lstStyle/>
          <a:p>
            <a:pPr>
              <a:defRPr sz="2925" b="1">
                <a:solidFill>
                  <a:srgbClr val="152437"/>
                </a:solidFill>
                <a:latin typeface="Aptos"/>
                <a:ea typeface="Aptos"/>
                <a:cs typeface="Aptos"/>
              </a:defRPr>
            </a:pPr>
            <a:r>
              <a:rPr sz="2925" b="1">
                <a:solidFill>
                  <a:srgbClr val="152437"/>
                </a:solidFill>
                <a:latin typeface="Aptos"/>
                <a:ea typeface="Aptos"/>
                <a:cs typeface="Aptos"/>
              </a:rPr>
              <a:t>Positions follow from the geometry</a:t>
            </a:r>
          </a:p>
        </p:txBody>
      </p:sp>
      <mc:AlternateContent xmlns:mc="http://schemas.openxmlformats.org/markup-compatibility/2006">
        <mc:Choice xmlns:a14="http://schemas.microsoft.com/office/drawing/2010/main" Requires="a14">
          <p:sp>
            <p:nvSpPr>
              <p:cNvPr id="3" name="EQ_xy1">
                <a:extLst>
                  <a:ext uri="{FF2B5EF4-FFF2-40B4-BE49-F238E27FC236}">
                    <a16:creationId xmlns:a16="http://schemas.microsoft.com/office/drawing/2014/main" id="{241A42E5-7864-40F0-B9F7-168975F7F423}"/>
                  </a:ext>
                </a:extLst>
              </p:cNvPr>
              <p:cNvSpPr>
                <a:spLocks noGrp="1"/>
              </p:cNvSpPr>
              <p:nvPr/>
            </p:nvSpPr>
            <p:spPr>
              <a:xfrm>
                <a:off x="666750" y="1666875"/>
                <a:ext cx="10858500" cy="647700"/>
              </a:xfrm>
              <a:prstGeom prst="rect">
                <a:avLst/>
              </a:prstGeom>
              <a:noFill/>
              <a:ln w="0">
                <a:noFill/>
              </a:ln>
            </p:spPr>
            <p:txBody>
              <a:bodyPr anchor="t">
                <a:noAutofit/>
              </a:bodyPr>
              <a:lstStyle/>
              <a:p>
                <a:pPr algn="l"/>
                <a14:m>
                  <m:oMathPara xmlns:m="http://schemas.openxmlformats.org/officeDocument/2006/math">
                    <m:oMathParaPr>
                      <m:jc m:val="left"/>
                    </m:oMathParaPr>
                    <m:oMath>
                      <m:sSub>
                        <m:sSubPr>
                          <m:ctrlPr>
                            <a:rPr lang="en-US" sz="2400">
                              <a:latin typeface="Cambria Math"/>
                            </a:rPr>
                          </m:ctrlPr>
                        </m:sSubPr>
                        <m:e>
                          <m:r>
                            <a:rPr lang="en-US" sz="2400">
                              <a:latin typeface="Cambria Math"/>
                            </a:rPr>
                            <m:t>𝑥</m:t>
                          </m:r>
                        </m:e>
                        <m:sub>
                          <m:r>
                            <a:rPr lang="en-US" sz="2400">
                              <a:latin typeface="Cambria Math"/>
                            </a:rPr>
                            <m:t>1</m:t>
                          </m:r>
                        </m:sub>
                      </m:sSub>
                      <m:r>
                        <a:rPr lang="en-US" sz="2400">
                          <a:latin typeface="Cambria Math"/>
                        </a:rPr>
                        <m:t> = </m:t>
                      </m:r>
                      <m:sSub>
                        <m:sSubPr>
                          <m:ctrlPr>
                            <a:rPr lang="en-US" sz="2400">
                              <a:latin typeface="Cambria Math"/>
                            </a:rPr>
                          </m:ctrlPr>
                        </m:sSubPr>
                        <m:e>
                          <m:r>
                            <a:rPr lang="en-US" sz="2400">
                              <a:latin typeface="Cambria Math"/>
                            </a:rPr>
                            <m:t>𝐿</m:t>
                          </m:r>
                        </m:e>
                        <m:sub>
                          <m:r>
                            <a:rPr lang="en-US" sz="2400">
                              <a:latin typeface="Cambria Math"/>
                            </a:rPr>
                            <m:t>1</m:t>
                          </m:r>
                        </m:sub>
                      </m:sSub>
                      <m:r>
                        <a:rPr lang="en-US" sz="2400">
                          <a:latin typeface="Cambria Math"/>
                        </a:rPr>
                        <m:t> </m:t>
                      </m:r>
                      <m:r>
                        <a:rPr lang="en-US" sz="2400">
                          <a:latin typeface="Cambria Math"/>
                        </a:rPr>
                        <m:t>𝑠𝑖𝑛</m:t>
                      </m:r>
                      <m:r>
                        <a:rPr lang="en-US" sz="2400">
                          <a:latin typeface="Cambria Math"/>
                        </a:rPr>
                        <m:t> </m:t>
                      </m:r>
                      <m:sSub>
                        <m:sSubPr>
                          <m:ctrlPr>
                            <a:rPr lang="en-US" sz="2400">
                              <a:latin typeface="Cambria Math"/>
                            </a:rPr>
                          </m:ctrlPr>
                        </m:sSubPr>
                        <m:e>
                          <m:r>
                            <a:rPr lang="en-US" sz="2400">
                              <a:latin typeface="Cambria Math"/>
                            </a:rPr>
                            <m:t>𝜃</m:t>
                          </m:r>
                        </m:e>
                        <m:sub>
                          <m:r>
                            <a:rPr lang="en-US" sz="2400">
                              <a:latin typeface="Cambria Math"/>
                            </a:rPr>
                            <m:t>1</m:t>
                          </m:r>
                        </m:sub>
                      </m:sSub>
                      <m:r>
                        <a:rPr lang="en-US" sz="2400">
                          <a:latin typeface="Cambria Math"/>
                        </a:rPr>
                        <m:t>      </m:t>
                      </m:r>
                      <m:sSub>
                        <m:sSubPr>
                          <m:ctrlPr>
                            <a:rPr lang="en-US" sz="2400">
                              <a:latin typeface="Cambria Math"/>
                            </a:rPr>
                          </m:ctrlPr>
                        </m:sSubPr>
                        <m:e>
                          <m:r>
                            <a:rPr lang="en-US" sz="2400">
                              <a:latin typeface="Cambria Math"/>
                            </a:rPr>
                            <m:t>𝑦</m:t>
                          </m:r>
                        </m:e>
                        <m:sub>
                          <m:r>
                            <a:rPr lang="en-US" sz="2400">
                              <a:latin typeface="Cambria Math"/>
                            </a:rPr>
                            <m:t>1</m:t>
                          </m:r>
                        </m:sub>
                      </m:sSub>
                      <m:r>
                        <a:rPr lang="en-US" sz="2400">
                          <a:latin typeface="Cambria Math"/>
                        </a:rPr>
                        <m:t> = −</m:t>
                      </m:r>
                      <m:sSub>
                        <m:sSubPr>
                          <m:ctrlPr>
                            <a:rPr lang="en-US" sz="2400">
                              <a:latin typeface="Cambria Math"/>
                            </a:rPr>
                          </m:ctrlPr>
                        </m:sSubPr>
                        <m:e>
                          <m:r>
                            <a:rPr lang="en-US" sz="2400">
                              <a:latin typeface="Cambria Math"/>
                            </a:rPr>
                            <m:t>𝐿</m:t>
                          </m:r>
                        </m:e>
                        <m:sub>
                          <m:r>
                            <a:rPr lang="en-US" sz="2400">
                              <a:latin typeface="Cambria Math"/>
                            </a:rPr>
                            <m:t>1</m:t>
                          </m:r>
                        </m:sub>
                      </m:sSub>
                      <m:r>
                        <a:rPr lang="en-US" sz="2400">
                          <a:latin typeface="Cambria Math"/>
                        </a:rPr>
                        <m:t> </m:t>
                      </m:r>
                      <m:r>
                        <a:rPr lang="en-US" sz="2400">
                          <a:latin typeface="Cambria Math"/>
                        </a:rPr>
                        <m:t>𝑐𝑜𝑠</m:t>
                      </m:r>
                      <m:r>
                        <a:rPr lang="en-US" sz="2400">
                          <a:latin typeface="Cambria Math"/>
                        </a:rPr>
                        <m:t> </m:t>
                      </m:r>
                      <m:sSub>
                        <m:sSubPr>
                          <m:ctrlPr>
                            <a:rPr lang="en-US" sz="2400">
                              <a:latin typeface="Cambria Math"/>
                            </a:rPr>
                          </m:ctrlPr>
                        </m:sSubPr>
                        <m:e>
                          <m:r>
                            <a:rPr lang="en-US" sz="2400">
                              <a:latin typeface="Cambria Math"/>
                            </a:rPr>
                            <m:t>𝜃</m:t>
                          </m:r>
                        </m:e>
                        <m:sub>
                          <m:r>
                            <a:rPr lang="en-US" sz="2400">
                              <a:latin typeface="Cambria Math"/>
                            </a:rPr>
                            <m:t>1</m:t>
                          </m:r>
                        </m:sub>
                      </m:sSub>
                    </m:oMath>
                  </m:oMathPara>
                </a14:m>
                <a:endParaRPr lang="en-US" sz="2400"/>
              </a:p>
            </p:txBody>
          </p:sp>
        </mc:Choice>
        <mc:Fallback>
          <p:sp>
            <p:nvSpPr>
              <p:cNvPr id="3" name="EQ_xy1">
                <a:extLst>
                  <a:ext uri="{FF2B5EF4-FFF2-40B4-BE49-F238E27FC236}">
                    <a16:creationId xmlns:a16="http://schemas.microsoft.com/office/drawing/2014/main" id="{241A42E5-7864-40F0-B9F7-168975F7F423}"/>
                  </a:ext>
                </a:extLst>
              </p:cNvPr>
              <p:cNvSpPr>
                <a:spLocks noGrp="1" noRot="1" noChangeAspect="1" noMove="1" noResize="1" noEditPoints="1" noAdjustHandles="1" noChangeArrowheads="1" noChangeShapeType="1" noTextEdit="1"/>
              </p:cNvSpPr>
              <p:nvPr/>
            </p:nvSpPr>
            <p:spPr>
              <a:xfrm>
                <a:off x="666750" y="1666875"/>
                <a:ext cx="10858500" cy="647700"/>
              </a:xfrm>
              <a:prstGeom prst="rect">
                <a:avLst/>
              </a:prstGeom>
              <a:blipFill>
                <a:blip r:embed="rId3"/>
                <a:stretch>
                  <a:fillRect/>
                </a:stretch>
              </a:blipFill>
              <a:ln w="0">
                <a:no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 name="EQ_xy2">
                <a:extLst>
                  <a:ext uri="{FF2B5EF4-FFF2-40B4-BE49-F238E27FC236}">
                    <a16:creationId xmlns:a16="http://schemas.microsoft.com/office/drawing/2014/main" id="{321D4945-870E-4A93-9A03-54FF968D5503}"/>
                  </a:ext>
                </a:extLst>
              </p:cNvPr>
              <p:cNvSpPr>
                <a:spLocks noGrp="1"/>
              </p:cNvSpPr>
              <p:nvPr/>
            </p:nvSpPr>
            <p:spPr>
              <a:xfrm>
                <a:off x="666750" y="2447925"/>
                <a:ext cx="10858500" cy="952500"/>
              </a:xfrm>
              <a:prstGeom prst="rect">
                <a:avLst/>
              </a:prstGeom>
              <a:noFill/>
              <a:ln w="0">
                <a:noFill/>
              </a:ln>
            </p:spPr>
            <p:txBody>
              <a:bodyPr anchor="t">
                <a:noAutofit/>
              </a:bodyPr>
              <a:lstStyle/>
              <a:p>
                <a:pPr algn="l"/>
                <a14:m>
                  <m:oMathPara xmlns:m="http://schemas.openxmlformats.org/officeDocument/2006/math">
                    <m:oMathParaPr>
                      <m:jc m:val="left"/>
                    </m:oMathParaPr>
                    <m:oMath>
                      <m:eqArr>
                        <m:eqArrPr>
                          <m:ctrlPr>
                            <a:rPr lang="en-US" sz="2400">
                              <a:latin typeface="Cambria Math" panose="02040503050406030204" pitchFamily="18" charset="0"/>
                            </a:rPr>
                          </m:ctrlPr>
                        </m:eqArrPr>
                        <m:e>
                          <m:sSub>
                            <m:sSubPr>
                              <m:ctrlPr>
                                <a:rPr lang="en-US" sz="2400">
                                  <a:latin typeface="Cambria Math"/>
                                </a:rPr>
                              </m:ctrlPr>
                            </m:sSubPr>
                            <m:e>
                              <m:r>
                                <a:rPr lang="en-US" sz="2400">
                                  <a:latin typeface="Cambria Math"/>
                                </a:rPr>
                                <m:t>𝑥</m:t>
                              </m:r>
                            </m:e>
                            <m:sub>
                              <m:r>
                                <a:rPr lang="en-US" sz="2400">
                                  <a:latin typeface="Cambria Math"/>
                                </a:rPr>
                                <m:t>2</m:t>
                              </m:r>
                            </m:sub>
                          </m:sSub>
                          <m:r>
                            <a:rPr lang="en-US" sz="2400">
                              <a:latin typeface="Cambria Math"/>
                            </a:rPr>
                            <m:t> = </m:t>
                          </m:r>
                          <m:sSub>
                            <m:sSubPr>
                              <m:ctrlPr>
                                <a:rPr lang="en-US" sz="2400">
                                  <a:latin typeface="Cambria Math"/>
                                </a:rPr>
                              </m:ctrlPr>
                            </m:sSubPr>
                            <m:e>
                              <m:r>
                                <a:rPr lang="en-US" sz="2400">
                                  <a:latin typeface="Cambria Math"/>
                                </a:rPr>
                                <m:t>𝐿</m:t>
                              </m:r>
                            </m:e>
                            <m:sub>
                              <m:r>
                                <a:rPr lang="en-US" sz="2400">
                                  <a:latin typeface="Cambria Math"/>
                                </a:rPr>
                                <m:t>1</m:t>
                              </m:r>
                            </m:sub>
                          </m:sSub>
                          <m:r>
                            <a:rPr lang="en-US" sz="2400">
                              <a:latin typeface="Cambria Math"/>
                            </a:rPr>
                            <m:t> </m:t>
                          </m:r>
                          <m:r>
                            <a:rPr lang="en-US" sz="2400">
                              <a:latin typeface="Cambria Math"/>
                            </a:rPr>
                            <m:t>𝑠𝑖𝑛</m:t>
                          </m:r>
                          <m:r>
                            <a:rPr lang="en-US" sz="2400">
                              <a:latin typeface="Cambria Math"/>
                            </a:rPr>
                            <m:t> </m:t>
                          </m:r>
                          <m:sSub>
                            <m:sSubPr>
                              <m:ctrlPr>
                                <a:rPr lang="en-US" sz="2400">
                                  <a:latin typeface="Cambria Math"/>
                                </a:rPr>
                              </m:ctrlPr>
                            </m:sSubPr>
                            <m:e>
                              <m:r>
                                <a:rPr lang="en-US" sz="2400">
                                  <a:latin typeface="Cambria Math"/>
                                </a:rPr>
                                <m:t>𝜃</m:t>
                              </m:r>
                            </m:e>
                            <m:sub>
                              <m:r>
                                <a:rPr lang="en-US" sz="2400">
                                  <a:latin typeface="Cambria Math"/>
                                </a:rPr>
                                <m:t>1</m:t>
                              </m:r>
                            </m:sub>
                          </m:sSub>
                          <m:r>
                            <a:rPr lang="en-US" sz="2400">
                              <a:latin typeface="Cambria Math"/>
                            </a:rPr>
                            <m:t> + </m:t>
                          </m:r>
                          <m:sSub>
                            <m:sSubPr>
                              <m:ctrlPr>
                                <a:rPr lang="en-US" sz="2400">
                                  <a:latin typeface="Cambria Math"/>
                                </a:rPr>
                              </m:ctrlPr>
                            </m:sSubPr>
                            <m:e>
                              <m:r>
                                <a:rPr lang="en-US" sz="2400">
                                  <a:latin typeface="Cambria Math"/>
                                </a:rPr>
                                <m:t>𝐿</m:t>
                              </m:r>
                            </m:e>
                            <m:sub>
                              <m:r>
                                <a:rPr lang="en-US" sz="2400">
                                  <a:latin typeface="Cambria Math"/>
                                </a:rPr>
                                <m:t>2</m:t>
                              </m:r>
                            </m:sub>
                          </m:sSub>
                          <m:r>
                            <a:rPr lang="en-US" sz="2400">
                              <a:latin typeface="Cambria Math"/>
                            </a:rPr>
                            <m:t> </m:t>
                          </m:r>
                          <m:r>
                            <a:rPr lang="en-US" sz="2400">
                              <a:latin typeface="Cambria Math"/>
                            </a:rPr>
                            <m:t>𝑠𝑖𝑛</m:t>
                          </m:r>
                          <m:r>
                            <a:rPr lang="en-US" sz="2400">
                              <a:latin typeface="Cambria Math"/>
                            </a:rPr>
                            <m:t> </m:t>
                          </m:r>
                          <m:sSub>
                            <m:sSubPr>
                              <m:ctrlPr>
                                <a:rPr lang="en-US" sz="2400">
                                  <a:latin typeface="Cambria Math"/>
                                </a:rPr>
                              </m:ctrlPr>
                            </m:sSubPr>
                            <m:e>
                              <m:r>
                                <a:rPr lang="en-US" sz="2400">
                                  <a:latin typeface="Cambria Math"/>
                                </a:rPr>
                                <m:t>𝜃</m:t>
                              </m:r>
                            </m:e>
                            <m:sub>
                              <m:r>
                                <a:rPr lang="en-US" sz="2400">
                                  <a:latin typeface="Cambria Math"/>
                                </a:rPr>
                                <m:t>2</m:t>
                              </m:r>
                            </m:sub>
                          </m:sSub>
                        </m:e>
                        <m:e>
                          <m:sSub>
                            <m:sSubPr>
                              <m:ctrlPr>
                                <a:rPr lang="en-US" sz="2400">
                                  <a:latin typeface="Cambria Math"/>
                                </a:rPr>
                              </m:ctrlPr>
                            </m:sSubPr>
                            <m:e>
                              <m:r>
                                <a:rPr lang="en-US" sz="2400">
                                  <a:latin typeface="Cambria Math"/>
                                </a:rPr>
                                <m:t>𝑦</m:t>
                              </m:r>
                            </m:e>
                            <m:sub>
                              <m:r>
                                <a:rPr lang="en-US" sz="2400">
                                  <a:latin typeface="Cambria Math"/>
                                </a:rPr>
                                <m:t>2</m:t>
                              </m:r>
                            </m:sub>
                          </m:sSub>
                          <m:r>
                            <a:rPr lang="en-US" sz="2400">
                              <a:latin typeface="Cambria Math"/>
                            </a:rPr>
                            <m:t> = −</m:t>
                          </m:r>
                          <m:sSub>
                            <m:sSubPr>
                              <m:ctrlPr>
                                <a:rPr lang="en-US" sz="2400">
                                  <a:latin typeface="Cambria Math"/>
                                </a:rPr>
                              </m:ctrlPr>
                            </m:sSubPr>
                            <m:e>
                              <m:r>
                                <a:rPr lang="en-US" sz="2400">
                                  <a:latin typeface="Cambria Math"/>
                                </a:rPr>
                                <m:t>𝐿</m:t>
                              </m:r>
                            </m:e>
                            <m:sub>
                              <m:r>
                                <a:rPr lang="en-US" sz="2400">
                                  <a:latin typeface="Cambria Math"/>
                                </a:rPr>
                                <m:t>1</m:t>
                              </m:r>
                            </m:sub>
                          </m:sSub>
                          <m:r>
                            <a:rPr lang="en-US" sz="2400">
                              <a:latin typeface="Cambria Math"/>
                            </a:rPr>
                            <m:t> </m:t>
                          </m:r>
                          <m:r>
                            <a:rPr lang="en-US" sz="2400">
                              <a:latin typeface="Cambria Math"/>
                            </a:rPr>
                            <m:t>𝑐𝑜𝑠</m:t>
                          </m:r>
                          <m:r>
                            <a:rPr lang="en-US" sz="2400">
                              <a:latin typeface="Cambria Math"/>
                            </a:rPr>
                            <m:t> </m:t>
                          </m:r>
                          <m:sSub>
                            <m:sSubPr>
                              <m:ctrlPr>
                                <a:rPr lang="en-US" sz="2400">
                                  <a:latin typeface="Cambria Math"/>
                                </a:rPr>
                              </m:ctrlPr>
                            </m:sSubPr>
                            <m:e>
                              <m:r>
                                <a:rPr lang="en-US" sz="2400">
                                  <a:latin typeface="Cambria Math"/>
                                </a:rPr>
                                <m:t>𝜃</m:t>
                              </m:r>
                            </m:e>
                            <m:sub>
                              <m:r>
                                <a:rPr lang="en-US" sz="2400">
                                  <a:latin typeface="Cambria Math"/>
                                </a:rPr>
                                <m:t>1</m:t>
                              </m:r>
                            </m:sub>
                          </m:sSub>
                          <m:r>
                            <a:rPr lang="en-US" sz="2400">
                              <a:latin typeface="Cambria Math"/>
                            </a:rPr>
                            <m:t> − </m:t>
                          </m:r>
                          <m:sSub>
                            <m:sSubPr>
                              <m:ctrlPr>
                                <a:rPr lang="en-US" sz="2400">
                                  <a:latin typeface="Cambria Math"/>
                                </a:rPr>
                              </m:ctrlPr>
                            </m:sSubPr>
                            <m:e>
                              <m:r>
                                <a:rPr lang="en-US" sz="2400">
                                  <a:latin typeface="Cambria Math"/>
                                </a:rPr>
                                <m:t>𝐿</m:t>
                              </m:r>
                            </m:e>
                            <m:sub>
                              <m:r>
                                <a:rPr lang="en-US" sz="2400">
                                  <a:latin typeface="Cambria Math"/>
                                </a:rPr>
                                <m:t>2</m:t>
                              </m:r>
                            </m:sub>
                          </m:sSub>
                          <m:r>
                            <a:rPr lang="en-US" sz="2400">
                              <a:latin typeface="Cambria Math"/>
                            </a:rPr>
                            <m:t> </m:t>
                          </m:r>
                          <m:r>
                            <a:rPr lang="en-US" sz="2400">
                              <a:latin typeface="Cambria Math"/>
                            </a:rPr>
                            <m:t>𝑐𝑜𝑠</m:t>
                          </m:r>
                          <m:r>
                            <a:rPr lang="en-US" sz="2400">
                              <a:latin typeface="Cambria Math"/>
                            </a:rPr>
                            <m:t> </m:t>
                          </m:r>
                          <m:sSub>
                            <m:sSubPr>
                              <m:ctrlPr>
                                <a:rPr lang="en-US" sz="2400">
                                  <a:latin typeface="Cambria Math"/>
                                </a:rPr>
                              </m:ctrlPr>
                            </m:sSubPr>
                            <m:e>
                              <m:r>
                                <a:rPr lang="en-US" sz="2400">
                                  <a:latin typeface="Cambria Math"/>
                                </a:rPr>
                                <m:t>𝜃</m:t>
                              </m:r>
                            </m:e>
                            <m:sub>
                              <m:r>
                                <a:rPr lang="en-US" sz="2400">
                                  <a:latin typeface="Cambria Math"/>
                                </a:rPr>
                                <m:t>2</m:t>
                              </m:r>
                            </m:sub>
                          </m:sSub>
                        </m:e>
                      </m:eqArr>
                    </m:oMath>
                  </m:oMathPara>
                </a14:m>
                <a:endParaRPr lang="en-US" sz="2400"/>
              </a:p>
            </p:txBody>
          </p:sp>
        </mc:Choice>
        <mc:Fallback>
          <p:sp>
            <p:nvSpPr>
              <p:cNvPr id="4" name="EQ_xy2">
                <a:extLst>
                  <a:ext uri="{FF2B5EF4-FFF2-40B4-BE49-F238E27FC236}">
                    <a16:creationId xmlns:a16="http://schemas.microsoft.com/office/drawing/2014/main" id="{321D4945-870E-4A93-9A03-54FF968D5503}"/>
                  </a:ext>
                </a:extLst>
              </p:cNvPr>
              <p:cNvSpPr>
                <a:spLocks noGrp="1" noRot="1" noChangeAspect="1" noMove="1" noResize="1" noEditPoints="1" noAdjustHandles="1" noChangeArrowheads="1" noChangeShapeType="1" noTextEdit="1"/>
              </p:cNvSpPr>
              <p:nvPr/>
            </p:nvSpPr>
            <p:spPr>
              <a:xfrm>
                <a:off x="666750" y="2447925"/>
                <a:ext cx="10858500" cy="952500"/>
              </a:xfrm>
              <a:prstGeom prst="rect">
                <a:avLst/>
              </a:prstGeom>
              <a:blipFill>
                <a:blip r:embed="rId4"/>
                <a:stretch>
                  <a:fillRect/>
                </a:stretch>
              </a:blipFill>
              <a:ln w="0">
                <a:noFill/>
              </a:ln>
            </p:spPr>
            <p:txBody>
              <a:bodyPr/>
              <a:lstStyle/>
              <a:p>
                <a:r>
                  <a:rPr lang="en-US">
                    <a:noFill/>
                  </a:rPr>
                  <a:t> </a:t>
                </a:r>
              </a:p>
            </p:txBody>
          </p:sp>
        </mc:Fallback>
      </mc:AlternateContent>
      <p:sp>
        <p:nvSpPr>
          <p:cNvPr id="5" name="body0">
            <a:extLst>
              <a:ext uri="{FF2B5EF4-FFF2-40B4-BE49-F238E27FC236}">
                <a16:creationId xmlns:a16="http://schemas.microsoft.com/office/drawing/2014/main" id="{1B354046-4E22-4D67-881C-6C31DEF05549}"/>
              </a:ext>
            </a:extLst>
          </p:cNvPr>
          <p:cNvSpPr>
            <a:spLocks noGrp="1"/>
          </p:cNvSpPr>
          <p:nvPr/>
        </p:nvSpPr>
        <p:spPr>
          <a:xfrm>
            <a:off x="666750" y="3533775"/>
            <a:ext cx="10858500" cy="971550"/>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Choose the fixed pivot as (0,0), with x positive right and y positive upward.</a:t>
            </a:r>
          </a:p>
        </p:txBody>
      </p:sp>
      <p:sp>
        <p:nvSpPr>
          <p:cNvPr id="6" name="body1">
            <a:extLst>
              <a:ext uri="{FF2B5EF4-FFF2-40B4-BE49-F238E27FC236}">
                <a16:creationId xmlns:a16="http://schemas.microsoft.com/office/drawing/2014/main" id="{9088DD29-CFFF-4C8F-B66B-DCE90A0AA6D3}"/>
              </a:ext>
            </a:extLst>
          </p:cNvPr>
          <p:cNvSpPr>
            <a:spLocks noGrp="1"/>
          </p:cNvSpPr>
          <p:nvPr/>
        </p:nvSpPr>
        <p:spPr>
          <a:xfrm>
            <a:off x="666750" y="4600575"/>
            <a:ext cx="10858500" cy="971550"/>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Bob 2 moves because both links move. Its coordinates contain a contribution from each link.</a:t>
            </a:r>
          </a:p>
        </p:txBody>
      </p:sp>
      <p:sp>
        <p:nvSpPr>
          <p:cNvPr id="7" name="page">
            <a:extLst>
              <a:ext uri="{FF2B5EF4-FFF2-40B4-BE49-F238E27FC236}">
                <a16:creationId xmlns:a16="http://schemas.microsoft.com/office/drawing/2014/main" id="{B41AAEBA-055F-4815-A220-D580EB08DD20}"/>
              </a:ext>
            </a:extLst>
          </p:cNvPr>
          <p:cNvSpPr>
            <a:spLocks noGrp="1"/>
          </p:cNvSpPr>
          <p:nvPr/>
        </p:nvSpPr>
        <p:spPr>
          <a:xfrm>
            <a:off x="11449050" y="6515100"/>
            <a:ext cx="333375" cy="190500"/>
          </a:xfrm>
          <a:prstGeom prst="rect">
            <a:avLst/>
          </a:prstGeom>
          <a:noFill/>
          <a:ln w="0">
            <a:noFill/>
          </a:ln>
        </p:spPr>
        <p:txBody>
          <a:bodyPr anchor="t">
            <a:noAutofit/>
          </a:bodyPr>
          <a:lstStyle/>
          <a:p>
            <a:pPr>
              <a:defRPr sz="1050" b="0">
                <a:solidFill>
                  <a:srgbClr val="6B7280"/>
                </a:solidFill>
                <a:latin typeface="Aptos"/>
                <a:ea typeface="Aptos"/>
                <a:cs typeface="Aptos"/>
              </a:defRPr>
            </a:pPr>
            <a:r>
              <a:rPr sz="1050" b="0">
                <a:solidFill>
                  <a:srgbClr val="6B7280"/>
                </a:solidFill>
                <a:latin typeface="Aptos"/>
                <a:ea typeface="Aptos"/>
                <a:cs typeface="Aptos"/>
              </a:rPr>
              <a:t>7</a:t>
            </a:r>
          </a:p>
        </p:txBody>
      </p:sp>
    </p:spTree>
    <p:extLst>
      <p:ext uri="{BB962C8B-B14F-4D97-AF65-F5344CB8AC3E}">
        <p14:creationId xmlns:p14="http://schemas.microsoft.com/office/powerpoint/2010/main" val="8755845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course">
            <a:extLst>
              <a:ext uri="{FF2B5EF4-FFF2-40B4-BE49-F238E27FC236}">
                <a16:creationId xmlns:a16="http://schemas.microsoft.com/office/drawing/2014/main" id="{85876925-CF5E-49D4-AE62-12A91B06EA79}"/>
              </a:ext>
            </a:extLst>
          </p:cNvPr>
          <p:cNvSpPr>
            <a:spLocks noGrp="1"/>
          </p:cNvSpPr>
          <p:nvPr/>
        </p:nvSpPr>
        <p:spPr>
          <a:xfrm>
            <a:off x="495300" y="190500"/>
            <a:ext cx="8572500" cy="285750"/>
          </a:xfrm>
          <a:prstGeom prst="rect">
            <a:avLst/>
          </a:prstGeom>
          <a:noFill/>
          <a:ln w="0">
            <a:noFill/>
          </a:ln>
        </p:spPr>
        <p:txBody>
          <a:bodyPr anchor="t">
            <a:noAutofit/>
          </a:bodyPr>
          <a:lstStyle/>
          <a:p>
            <a:pPr>
              <a:defRPr sz="1275" b="1">
                <a:solidFill>
                  <a:srgbClr val="881C1C"/>
                </a:solidFill>
                <a:latin typeface="Aptos"/>
                <a:ea typeface="Aptos"/>
                <a:cs typeface="Aptos"/>
              </a:defRPr>
            </a:pPr>
            <a:r>
              <a:rPr sz="1275" b="1">
                <a:solidFill>
                  <a:srgbClr val="881C1C"/>
                </a:solidFill>
                <a:latin typeface="Aptos"/>
                <a:ea typeface="Aptos"/>
                <a:cs typeface="Aptos"/>
              </a:rPr>
              <a:t>MIE 402   ME LAB II</a:t>
            </a:r>
          </a:p>
        </p:txBody>
      </p:sp>
      <p:sp>
        <p:nvSpPr>
          <p:cNvPr id="2" name="title">
            <a:extLst>
              <a:ext uri="{FF2B5EF4-FFF2-40B4-BE49-F238E27FC236}">
                <a16:creationId xmlns:a16="http://schemas.microsoft.com/office/drawing/2014/main" id="{106D0DD9-D34C-47FE-A0D9-59FCD097F471}"/>
              </a:ext>
            </a:extLst>
          </p:cNvPr>
          <p:cNvSpPr>
            <a:spLocks noGrp="1"/>
          </p:cNvSpPr>
          <p:nvPr/>
        </p:nvSpPr>
        <p:spPr>
          <a:xfrm>
            <a:off x="495300" y="666750"/>
            <a:ext cx="11125200" cy="742950"/>
          </a:xfrm>
          <a:prstGeom prst="rect">
            <a:avLst/>
          </a:prstGeom>
          <a:noFill/>
          <a:ln w="0">
            <a:noFill/>
          </a:ln>
        </p:spPr>
        <p:txBody>
          <a:bodyPr anchor="t">
            <a:noAutofit/>
          </a:bodyPr>
          <a:lstStyle/>
          <a:p>
            <a:pPr>
              <a:defRPr sz="2925" b="1">
                <a:solidFill>
                  <a:srgbClr val="152437"/>
                </a:solidFill>
                <a:latin typeface="Aptos"/>
                <a:ea typeface="Aptos"/>
                <a:cs typeface="Aptos"/>
              </a:defRPr>
            </a:pPr>
            <a:r>
              <a:rPr sz="2925" b="1">
                <a:solidFill>
                  <a:srgbClr val="152437"/>
                </a:solidFill>
                <a:latin typeface="Aptos"/>
                <a:ea typeface="Aptos"/>
                <a:cs typeface="Aptos"/>
              </a:rPr>
              <a:t>Why we use energy to derive the model</a:t>
            </a:r>
          </a:p>
        </p:txBody>
      </p:sp>
      <p:sp>
        <p:nvSpPr>
          <p:cNvPr id="3" name="body0">
            <a:extLst>
              <a:ext uri="{FF2B5EF4-FFF2-40B4-BE49-F238E27FC236}">
                <a16:creationId xmlns:a16="http://schemas.microsoft.com/office/drawing/2014/main" id="{EFABEB99-91F8-4FF4-8EB2-397ED5B4A646}"/>
              </a:ext>
            </a:extLst>
          </p:cNvPr>
          <p:cNvSpPr>
            <a:spLocks noGrp="1"/>
          </p:cNvSpPr>
          <p:nvPr/>
        </p:nvSpPr>
        <p:spPr>
          <a:xfrm>
            <a:off x="666750" y="1666875"/>
            <a:ext cx="10858500" cy="971550"/>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T [J] is kinetic energy, the energy of motion. V [J] is gravitational potential energy, determined by mass height.</a:t>
            </a:r>
          </a:p>
        </p:txBody>
      </p:sp>
      <p:sp>
        <p:nvSpPr>
          <p:cNvPr id="4" name="body1">
            <a:extLst>
              <a:ext uri="{FF2B5EF4-FFF2-40B4-BE49-F238E27FC236}">
                <a16:creationId xmlns:a16="http://schemas.microsoft.com/office/drawing/2014/main" id="{21565E38-5BF2-45C5-B887-4291B2A74E57}"/>
              </a:ext>
            </a:extLst>
          </p:cNvPr>
          <p:cNvSpPr>
            <a:spLocks noGrp="1"/>
          </p:cNvSpPr>
          <p:nvPr/>
        </p:nvSpPr>
        <p:spPr>
          <a:xfrm>
            <a:off x="666750" y="2733675"/>
            <a:ext cx="10858500" cy="971550"/>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E = T + V [J] is total mechanical energy. ℒ = T − V [J] is the Lagrangian, the quantity used to derive the motion equations.</a:t>
            </a:r>
          </a:p>
        </p:txBody>
      </p:sp>
      <p:sp>
        <p:nvSpPr>
          <p:cNvPr id="5" name="body2">
            <a:extLst>
              <a:ext uri="{FF2B5EF4-FFF2-40B4-BE49-F238E27FC236}">
                <a16:creationId xmlns:a16="http://schemas.microsoft.com/office/drawing/2014/main" id="{62473614-A21E-4FA1-A1BA-D53068614E64}"/>
              </a:ext>
            </a:extLst>
          </p:cNvPr>
          <p:cNvSpPr>
            <a:spLocks noGrp="1"/>
          </p:cNvSpPr>
          <p:nvPr/>
        </p:nvSpPr>
        <p:spPr>
          <a:xfrm>
            <a:off x="666750" y="3800475"/>
            <a:ext cx="10858500" cy="971550"/>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The energy method includes joint constraints without introducing every unknown internal force.</a:t>
            </a:r>
          </a:p>
        </p:txBody>
      </p:sp>
      <p:sp>
        <p:nvSpPr>
          <p:cNvPr id="6" name="body3">
            <a:extLst>
              <a:ext uri="{FF2B5EF4-FFF2-40B4-BE49-F238E27FC236}">
                <a16:creationId xmlns:a16="http://schemas.microsoft.com/office/drawing/2014/main" id="{9714E2F7-1B6F-4605-B6E4-A6DB708B8F84}"/>
              </a:ext>
            </a:extLst>
          </p:cNvPr>
          <p:cNvSpPr>
            <a:spLocks noGrp="1"/>
          </p:cNvSpPr>
          <p:nvPr/>
        </p:nvSpPr>
        <p:spPr>
          <a:xfrm>
            <a:off x="666750" y="4867275"/>
            <a:ext cx="10858500" cy="971550"/>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Baseline assumptions: rigid planar links, uniform bars, fixed pivot and no friction or air drag.</a:t>
            </a:r>
          </a:p>
        </p:txBody>
      </p:sp>
      <p:sp>
        <p:nvSpPr>
          <p:cNvPr id="7" name="page">
            <a:extLst>
              <a:ext uri="{FF2B5EF4-FFF2-40B4-BE49-F238E27FC236}">
                <a16:creationId xmlns:a16="http://schemas.microsoft.com/office/drawing/2014/main" id="{3AEFBC5B-DBED-4108-9D77-1B9CB9B59BD1}"/>
              </a:ext>
            </a:extLst>
          </p:cNvPr>
          <p:cNvSpPr>
            <a:spLocks noGrp="1"/>
          </p:cNvSpPr>
          <p:nvPr/>
        </p:nvSpPr>
        <p:spPr>
          <a:xfrm>
            <a:off x="11449050" y="6515100"/>
            <a:ext cx="333375" cy="190500"/>
          </a:xfrm>
          <a:prstGeom prst="rect">
            <a:avLst/>
          </a:prstGeom>
          <a:noFill/>
          <a:ln w="0">
            <a:noFill/>
          </a:ln>
        </p:spPr>
        <p:txBody>
          <a:bodyPr anchor="t">
            <a:noAutofit/>
          </a:bodyPr>
          <a:lstStyle/>
          <a:p>
            <a:pPr>
              <a:defRPr sz="1050" b="0">
                <a:solidFill>
                  <a:srgbClr val="6B7280"/>
                </a:solidFill>
                <a:latin typeface="Aptos"/>
                <a:ea typeface="Aptos"/>
                <a:cs typeface="Aptos"/>
              </a:defRPr>
            </a:pPr>
            <a:r>
              <a:rPr sz="1050" b="0">
                <a:solidFill>
                  <a:srgbClr val="6B7280"/>
                </a:solidFill>
                <a:latin typeface="Aptos"/>
                <a:ea typeface="Aptos"/>
                <a:cs typeface="Aptos"/>
              </a:rPr>
              <a:t>8</a:t>
            </a:r>
          </a:p>
        </p:txBody>
      </p:sp>
    </p:spTree>
    <p:extLst>
      <p:ext uri="{BB962C8B-B14F-4D97-AF65-F5344CB8AC3E}">
        <p14:creationId xmlns:p14="http://schemas.microsoft.com/office/powerpoint/2010/main" val="113737627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course">
            <a:extLst>
              <a:ext uri="{FF2B5EF4-FFF2-40B4-BE49-F238E27FC236}">
                <a16:creationId xmlns:a16="http://schemas.microsoft.com/office/drawing/2014/main" id="{9A674849-0320-495E-9B63-7EBC20D3929C}"/>
              </a:ext>
            </a:extLst>
          </p:cNvPr>
          <p:cNvSpPr>
            <a:spLocks noGrp="1"/>
          </p:cNvSpPr>
          <p:nvPr/>
        </p:nvSpPr>
        <p:spPr>
          <a:xfrm>
            <a:off x="495300" y="190500"/>
            <a:ext cx="8572500" cy="285750"/>
          </a:xfrm>
          <a:prstGeom prst="rect">
            <a:avLst/>
          </a:prstGeom>
          <a:noFill/>
          <a:ln w="0">
            <a:noFill/>
          </a:ln>
        </p:spPr>
        <p:txBody>
          <a:bodyPr anchor="t">
            <a:noAutofit/>
          </a:bodyPr>
          <a:lstStyle/>
          <a:p>
            <a:pPr>
              <a:defRPr sz="1275" b="1">
                <a:solidFill>
                  <a:srgbClr val="881C1C"/>
                </a:solidFill>
                <a:latin typeface="Aptos"/>
                <a:ea typeface="Aptos"/>
                <a:cs typeface="Aptos"/>
              </a:defRPr>
            </a:pPr>
            <a:r>
              <a:rPr sz="1275" b="1">
                <a:solidFill>
                  <a:srgbClr val="881C1C"/>
                </a:solidFill>
                <a:latin typeface="Aptos"/>
                <a:ea typeface="Aptos"/>
                <a:cs typeface="Aptos"/>
              </a:rPr>
              <a:t>MIE 402   ME LAB II</a:t>
            </a:r>
          </a:p>
        </p:txBody>
      </p:sp>
      <p:sp>
        <p:nvSpPr>
          <p:cNvPr id="2" name="title">
            <a:extLst>
              <a:ext uri="{FF2B5EF4-FFF2-40B4-BE49-F238E27FC236}">
                <a16:creationId xmlns:a16="http://schemas.microsoft.com/office/drawing/2014/main" id="{E0D59BB0-242D-47D2-911F-C79F832C5B8D}"/>
              </a:ext>
            </a:extLst>
          </p:cNvPr>
          <p:cNvSpPr>
            <a:spLocks noGrp="1"/>
          </p:cNvSpPr>
          <p:nvPr/>
        </p:nvSpPr>
        <p:spPr>
          <a:xfrm>
            <a:off x="495300" y="666750"/>
            <a:ext cx="11125200" cy="742950"/>
          </a:xfrm>
          <a:prstGeom prst="rect">
            <a:avLst/>
          </a:prstGeom>
          <a:noFill/>
          <a:ln w="0">
            <a:noFill/>
          </a:ln>
        </p:spPr>
        <p:txBody>
          <a:bodyPr anchor="t">
            <a:noAutofit/>
          </a:bodyPr>
          <a:lstStyle/>
          <a:p>
            <a:pPr>
              <a:defRPr sz="2925" b="1">
                <a:solidFill>
                  <a:srgbClr val="152437"/>
                </a:solidFill>
                <a:latin typeface="Aptos"/>
                <a:ea typeface="Aptos"/>
                <a:cs typeface="Aptos"/>
              </a:defRPr>
            </a:pPr>
            <a:r>
              <a:rPr sz="2925" b="1">
                <a:solidFill>
                  <a:srgbClr val="152437"/>
                </a:solidFill>
                <a:latin typeface="Aptos"/>
                <a:ea typeface="Aptos"/>
                <a:cs typeface="Aptos"/>
              </a:rPr>
              <a:t>Height symbols before calculating potential energy</a:t>
            </a:r>
          </a:p>
        </p:txBody>
      </p:sp>
      <p:sp>
        <p:nvSpPr>
          <p:cNvPr id="3" name="body0">
            <a:extLst>
              <a:ext uri="{FF2B5EF4-FFF2-40B4-BE49-F238E27FC236}">
                <a16:creationId xmlns:a16="http://schemas.microsoft.com/office/drawing/2014/main" id="{1DEA0709-BCB4-4117-A6BC-37CF9B00C202}"/>
              </a:ext>
            </a:extLst>
          </p:cNvPr>
          <p:cNvSpPr>
            <a:spLocks noGrp="1"/>
          </p:cNvSpPr>
          <p:nvPr/>
        </p:nvSpPr>
        <p:spPr>
          <a:xfrm>
            <a:off x="666750" y="1666875"/>
            <a:ext cx="10858500" cy="971550"/>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h₁ and h₂ [m]: upward displacement of bob 1 and bob 2 from their positions when both links hang vertically downward.</a:t>
            </a:r>
          </a:p>
        </p:txBody>
      </p:sp>
      <p:sp>
        <p:nvSpPr>
          <p:cNvPr id="4" name="body1">
            <a:extLst>
              <a:ext uri="{FF2B5EF4-FFF2-40B4-BE49-F238E27FC236}">
                <a16:creationId xmlns:a16="http://schemas.microsoft.com/office/drawing/2014/main" id="{23F969C6-F26E-49E9-9CBB-231D1121DC2C}"/>
              </a:ext>
            </a:extLst>
          </p:cNvPr>
          <p:cNvSpPr>
            <a:spLocks noGrp="1"/>
          </p:cNvSpPr>
          <p:nvPr/>
        </p:nvSpPr>
        <p:spPr>
          <a:xfrm>
            <a:off x="666750" y="2733675"/>
            <a:ext cx="10858500" cy="971550"/>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h</a:t>
            </a:r>
            <a:r>
              <a:rPr sz="1462" b="0" baseline="-25000">
                <a:solidFill>
                  <a:srgbClr val="202D3C"/>
                </a:solidFill>
                <a:latin typeface="Aptos"/>
                <a:ea typeface="Aptos"/>
                <a:cs typeface="Aptos"/>
              </a:rPr>
              <a:t>G1</a:t>
            </a:r>
            <a:r>
              <a:rPr sz="1950" b="0">
                <a:solidFill>
                  <a:srgbClr val="202D3C"/>
                </a:solidFill>
                <a:latin typeface="Aptos"/>
                <a:ea typeface="Aptos"/>
                <a:cs typeface="Aptos"/>
              </a:rPr>
              <a:t> and h</a:t>
            </a:r>
            <a:r>
              <a:rPr sz="1462" b="0" baseline="-25000">
                <a:solidFill>
                  <a:srgbClr val="202D3C"/>
                </a:solidFill>
                <a:latin typeface="Aptos"/>
                <a:ea typeface="Aptos"/>
                <a:cs typeface="Aptos"/>
              </a:rPr>
              <a:t>G2</a:t>
            </a:r>
            <a:r>
              <a:rPr sz="1950" b="0">
                <a:solidFill>
                  <a:srgbClr val="202D3C"/>
                </a:solidFill>
                <a:latin typeface="Aptos"/>
                <a:ea typeface="Aptos"/>
                <a:cs typeface="Aptos"/>
              </a:rPr>
              <a:t> [m]: upward displacement of the centers of the upper and lower bars from that same reference configuration.</a:t>
            </a:r>
          </a:p>
        </p:txBody>
      </p:sp>
      <p:sp>
        <p:nvSpPr>
          <p:cNvPr id="5" name="body2">
            <a:extLst>
              <a:ext uri="{FF2B5EF4-FFF2-40B4-BE49-F238E27FC236}">
                <a16:creationId xmlns:a16="http://schemas.microsoft.com/office/drawing/2014/main" id="{C948AF1C-12AA-4B1D-BC1C-EA699D973104}"/>
              </a:ext>
            </a:extLst>
          </p:cNvPr>
          <p:cNvSpPr>
            <a:spLocks noGrp="1"/>
          </p:cNvSpPr>
          <p:nvPr/>
        </p:nvSpPr>
        <p:spPr>
          <a:xfrm>
            <a:off x="666750" y="3800475"/>
            <a:ext cx="10858500" cy="971550"/>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The subscript G denotes a bar’s center of mass. For a uniform bar, this center is halfway along its length.</a:t>
            </a:r>
          </a:p>
        </p:txBody>
      </p:sp>
      <p:sp>
        <p:nvSpPr>
          <p:cNvPr id="6" name="body3">
            <a:extLst>
              <a:ext uri="{FF2B5EF4-FFF2-40B4-BE49-F238E27FC236}">
                <a16:creationId xmlns:a16="http://schemas.microsoft.com/office/drawing/2014/main" id="{34E51809-5B96-4DD5-AEA5-B70693E4443A}"/>
              </a:ext>
            </a:extLst>
          </p:cNvPr>
          <p:cNvSpPr>
            <a:spLocks noGrp="1"/>
          </p:cNvSpPr>
          <p:nvPr/>
        </p:nvSpPr>
        <p:spPr>
          <a:xfrm>
            <a:off x="666750" y="4867275"/>
            <a:ext cx="10858500" cy="971550"/>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For a generic mass m [kg] raised by h [m], the energy increase is mgh [J]. g ≈ 9.81 m/s² is gravitational acceleration.</a:t>
            </a:r>
          </a:p>
        </p:txBody>
      </p:sp>
      <p:sp>
        <p:nvSpPr>
          <p:cNvPr id="7" name="page">
            <a:extLst>
              <a:ext uri="{FF2B5EF4-FFF2-40B4-BE49-F238E27FC236}">
                <a16:creationId xmlns:a16="http://schemas.microsoft.com/office/drawing/2014/main" id="{90CE7883-1B50-491F-B014-767062F156EB}"/>
              </a:ext>
            </a:extLst>
          </p:cNvPr>
          <p:cNvSpPr>
            <a:spLocks noGrp="1"/>
          </p:cNvSpPr>
          <p:nvPr/>
        </p:nvSpPr>
        <p:spPr>
          <a:xfrm>
            <a:off x="11449050" y="6515100"/>
            <a:ext cx="333375" cy="190500"/>
          </a:xfrm>
          <a:prstGeom prst="rect">
            <a:avLst/>
          </a:prstGeom>
          <a:noFill/>
          <a:ln w="0">
            <a:noFill/>
          </a:ln>
        </p:spPr>
        <p:txBody>
          <a:bodyPr anchor="t">
            <a:noAutofit/>
          </a:bodyPr>
          <a:lstStyle/>
          <a:p>
            <a:pPr>
              <a:defRPr sz="1050" b="0">
                <a:solidFill>
                  <a:srgbClr val="6B7280"/>
                </a:solidFill>
                <a:latin typeface="Aptos"/>
                <a:ea typeface="Aptos"/>
                <a:cs typeface="Aptos"/>
              </a:defRPr>
            </a:pPr>
            <a:r>
              <a:rPr sz="1050" b="0">
                <a:solidFill>
                  <a:srgbClr val="6B7280"/>
                </a:solidFill>
                <a:latin typeface="Aptos"/>
                <a:ea typeface="Aptos"/>
                <a:cs typeface="Aptos"/>
              </a:rPr>
              <a:t>9</a:t>
            </a:r>
          </a:p>
        </p:txBody>
      </p:sp>
    </p:spTree>
    <p:extLst>
      <p:ext uri="{BB962C8B-B14F-4D97-AF65-F5344CB8AC3E}">
        <p14:creationId xmlns:p14="http://schemas.microsoft.com/office/powerpoint/2010/main" val="6617495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course">
            <a:extLst>
              <a:ext uri="{FF2B5EF4-FFF2-40B4-BE49-F238E27FC236}">
                <a16:creationId xmlns:a16="http://schemas.microsoft.com/office/drawing/2014/main" id="{F7885AE4-85AB-489B-BB94-0A4EC8684F0F}"/>
              </a:ext>
            </a:extLst>
          </p:cNvPr>
          <p:cNvSpPr>
            <a:spLocks noGrp="1"/>
          </p:cNvSpPr>
          <p:nvPr/>
        </p:nvSpPr>
        <p:spPr>
          <a:xfrm>
            <a:off x="495300" y="190500"/>
            <a:ext cx="8572500" cy="285750"/>
          </a:xfrm>
          <a:prstGeom prst="rect">
            <a:avLst/>
          </a:prstGeom>
          <a:noFill/>
          <a:ln w="0">
            <a:noFill/>
          </a:ln>
        </p:spPr>
        <p:txBody>
          <a:bodyPr anchor="t">
            <a:noAutofit/>
          </a:bodyPr>
          <a:lstStyle/>
          <a:p>
            <a:pPr>
              <a:defRPr sz="1275" b="1">
                <a:solidFill>
                  <a:srgbClr val="881C1C"/>
                </a:solidFill>
                <a:latin typeface="Aptos"/>
                <a:ea typeface="Aptos"/>
                <a:cs typeface="Aptos"/>
              </a:defRPr>
            </a:pPr>
            <a:r>
              <a:rPr sz="1275" b="1">
                <a:solidFill>
                  <a:srgbClr val="881C1C"/>
                </a:solidFill>
                <a:latin typeface="Aptos"/>
                <a:ea typeface="Aptos"/>
                <a:cs typeface="Aptos"/>
              </a:rPr>
              <a:t>MIE 402   ME LAB II</a:t>
            </a:r>
          </a:p>
        </p:txBody>
      </p:sp>
      <p:sp>
        <p:nvSpPr>
          <p:cNvPr id="2" name="title">
            <a:extLst>
              <a:ext uri="{FF2B5EF4-FFF2-40B4-BE49-F238E27FC236}">
                <a16:creationId xmlns:a16="http://schemas.microsoft.com/office/drawing/2014/main" id="{5C261665-D6C2-42FE-A3AB-DC096338F291}"/>
              </a:ext>
            </a:extLst>
          </p:cNvPr>
          <p:cNvSpPr>
            <a:spLocks noGrp="1"/>
          </p:cNvSpPr>
          <p:nvPr/>
        </p:nvSpPr>
        <p:spPr>
          <a:xfrm>
            <a:off x="495300" y="666750"/>
            <a:ext cx="11125200" cy="742950"/>
          </a:xfrm>
          <a:prstGeom prst="rect">
            <a:avLst/>
          </a:prstGeom>
          <a:noFill/>
          <a:ln w="0">
            <a:noFill/>
          </a:ln>
        </p:spPr>
        <p:txBody>
          <a:bodyPr anchor="t">
            <a:noAutofit/>
          </a:bodyPr>
          <a:lstStyle/>
          <a:p>
            <a:pPr>
              <a:defRPr sz="2925" b="1">
                <a:solidFill>
                  <a:srgbClr val="152437"/>
                </a:solidFill>
                <a:latin typeface="Aptos"/>
                <a:ea typeface="Aptos"/>
                <a:cs typeface="Aptos"/>
              </a:defRPr>
            </a:pPr>
            <a:r>
              <a:rPr sz="2925" b="1">
                <a:solidFill>
                  <a:srgbClr val="152437"/>
                </a:solidFill>
                <a:latin typeface="Aptos"/>
                <a:ea typeface="Aptos"/>
                <a:cs typeface="Aptos"/>
              </a:rPr>
              <a:t>Potential energy begins with height</a:t>
            </a:r>
          </a:p>
        </p:txBody>
      </p:sp>
      <mc:AlternateContent xmlns:mc="http://schemas.openxmlformats.org/markup-compatibility/2006">
        <mc:Choice xmlns:a14="http://schemas.microsoft.com/office/drawing/2010/main" Requires="a14">
          <p:sp>
            <p:nvSpPr>
              <p:cNvPr id="3" name="EQ_heights">
                <a:extLst>
                  <a:ext uri="{FF2B5EF4-FFF2-40B4-BE49-F238E27FC236}">
                    <a16:creationId xmlns:a16="http://schemas.microsoft.com/office/drawing/2014/main" id="{B65577AE-3080-4EA5-9C11-EFE2B040EC14}"/>
                  </a:ext>
                </a:extLst>
              </p:cNvPr>
              <p:cNvSpPr>
                <a:spLocks noGrp="1"/>
              </p:cNvSpPr>
              <p:nvPr/>
            </p:nvSpPr>
            <p:spPr>
              <a:xfrm>
                <a:off x="666750" y="1666875"/>
                <a:ext cx="10858500" cy="2286000"/>
              </a:xfrm>
              <a:prstGeom prst="rect">
                <a:avLst/>
              </a:prstGeom>
              <a:noFill/>
              <a:ln w="0">
                <a:noFill/>
              </a:ln>
            </p:spPr>
            <p:txBody>
              <a:bodyPr anchor="t">
                <a:noAutofit/>
              </a:bodyPr>
              <a:lstStyle/>
              <a:p>
                <a:pPr algn="l"/>
                <a14:m>
                  <m:oMathPara xmlns:m="http://schemas.openxmlformats.org/officeDocument/2006/math">
                    <m:oMathParaPr>
                      <m:jc m:val="left"/>
                    </m:oMathParaPr>
                    <m:oMath>
                      <m:eqArr>
                        <m:eqArrPr>
                          <m:ctrlPr>
                            <a:rPr lang="en-US" sz="2400">
                              <a:latin typeface="Cambria Math" panose="02040503050406030204" pitchFamily="18" charset="0"/>
                            </a:rPr>
                          </m:ctrlPr>
                        </m:eqArrPr>
                        <m:e>
                          <m:sSub>
                            <m:sSubPr>
                              <m:ctrlPr>
                                <a:rPr lang="en-US" sz="2400">
                                  <a:latin typeface="Cambria Math"/>
                                </a:rPr>
                              </m:ctrlPr>
                            </m:sSubPr>
                            <m:e>
                              <m:r>
                                <a:rPr lang="en-US" sz="2400">
                                  <a:latin typeface="Cambria Math"/>
                                </a:rPr>
                                <m:t>ℎ</m:t>
                              </m:r>
                            </m:e>
                            <m:sub>
                              <m:r>
                                <a:rPr lang="en-US" sz="2400">
                                  <a:latin typeface="Cambria Math"/>
                                </a:rPr>
                                <m:t>𝐺</m:t>
                              </m:r>
                              <m:r>
                                <a:rPr lang="en-US" sz="2400">
                                  <a:latin typeface="Cambria Math"/>
                                </a:rPr>
                                <m:t>1</m:t>
                              </m:r>
                            </m:sub>
                          </m:sSub>
                          <m:r>
                            <a:rPr lang="en-US" sz="2400">
                              <a:latin typeface="Cambria Math"/>
                            </a:rPr>
                            <m:t> = </m:t>
                          </m:r>
                          <m:f>
                            <m:fPr>
                              <m:ctrlPr>
                                <a:rPr lang="en-US" sz="2400" i="1">
                                  <a:latin typeface="Cambria Math" panose="02040503050406030204" pitchFamily="18" charset="0"/>
                                </a:rPr>
                              </m:ctrlPr>
                            </m:fPr>
                            <m:num>
                              <m:sSub>
                                <m:sSubPr>
                                  <m:ctrlPr>
                                    <a:rPr lang="en-US" sz="2400">
                                      <a:latin typeface="Cambria Math"/>
                                    </a:rPr>
                                  </m:ctrlPr>
                                </m:sSubPr>
                                <m:e>
                                  <m:r>
                                    <a:rPr lang="en-US" sz="2400">
                                      <a:latin typeface="Cambria Math"/>
                                    </a:rPr>
                                    <m:t>𝐿</m:t>
                                  </m:r>
                                </m:e>
                                <m:sub>
                                  <m:r>
                                    <a:rPr lang="en-US" sz="2400">
                                      <a:latin typeface="Cambria Math"/>
                                    </a:rPr>
                                    <m:t>1</m:t>
                                  </m:r>
                                </m:sub>
                              </m:sSub>
                            </m:num>
                            <m:den>
                              <m:r>
                                <a:rPr lang="en-US" sz="2400">
                                  <a:latin typeface="Cambria Math"/>
                                </a:rPr>
                                <m:t>2</m:t>
                              </m:r>
                            </m:den>
                          </m:f>
                          <m:r>
                            <a:rPr lang="en-US" sz="2400">
                              <a:latin typeface="Cambria Math"/>
                            </a:rPr>
                            <m:t>(1 − </m:t>
                          </m:r>
                          <m:r>
                            <a:rPr lang="en-US" sz="2400">
                              <a:latin typeface="Cambria Math"/>
                            </a:rPr>
                            <m:t>𝑐𝑜𝑠</m:t>
                          </m:r>
                          <m:r>
                            <a:rPr lang="en-US" sz="2400">
                              <a:latin typeface="Cambria Math"/>
                            </a:rPr>
                            <m:t> </m:t>
                          </m:r>
                          <m:sSub>
                            <m:sSubPr>
                              <m:ctrlPr>
                                <a:rPr lang="en-US" sz="2400">
                                  <a:latin typeface="Cambria Math"/>
                                </a:rPr>
                              </m:ctrlPr>
                            </m:sSubPr>
                            <m:e>
                              <m:r>
                                <a:rPr lang="en-US" sz="2400">
                                  <a:latin typeface="Cambria Math"/>
                                </a:rPr>
                                <m:t>𝜃</m:t>
                              </m:r>
                            </m:e>
                            <m:sub>
                              <m:r>
                                <a:rPr lang="en-US" sz="2400">
                                  <a:latin typeface="Cambria Math"/>
                                </a:rPr>
                                <m:t>1</m:t>
                              </m:r>
                            </m:sub>
                          </m:sSub>
                          <m:r>
                            <a:rPr lang="en-US" sz="2400">
                              <a:latin typeface="Cambria Math"/>
                            </a:rPr>
                            <m:t>)</m:t>
                          </m:r>
                        </m:e>
                        <m:e>
                          <m:sSub>
                            <m:sSubPr>
                              <m:ctrlPr>
                                <a:rPr lang="en-US" sz="2400">
                                  <a:latin typeface="Cambria Math"/>
                                </a:rPr>
                              </m:ctrlPr>
                            </m:sSubPr>
                            <m:e>
                              <m:r>
                                <a:rPr lang="en-US" sz="2400">
                                  <a:latin typeface="Cambria Math"/>
                                </a:rPr>
                                <m:t>ℎ</m:t>
                              </m:r>
                            </m:e>
                            <m:sub>
                              <m:r>
                                <a:rPr lang="en-US" sz="2400">
                                  <a:latin typeface="Cambria Math"/>
                                </a:rPr>
                                <m:t>1</m:t>
                              </m:r>
                            </m:sub>
                          </m:sSub>
                          <m:r>
                            <a:rPr lang="en-US" sz="2400">
                              <a:latin typeface="Cambria Math"/>
                            </a:rPr>
                            <m:t> = </m:t>
                          </m:r>
                          <m:sSub>
                            <m:sSubPr>
                              <m:ctrlPr>
                                <a:rPr lang="en-US" sz="2400">
                                  <a:latin typeface="Cambria Math"/>
                                </a:rPr>
                              </m:ctrlPr>
                            </m:sSubPr>
                            <m:e>
                              <m:r>
                                <a:rPr lang="en-US" sz="2400">
                                  <a:latin typeface="Cambria Math"/>
                                </a:rPr>
                                <m:t>𝐿</m:t>
                              </m:r>
                            </m:e>
                            <m:sub>
                              <m:r>
                                <a:rPr lang="en-US" sz="2400">
                                  <a:latin typeface="Cambria Math"/>
                                </a:rPr>
                                <m:t>1</m:t>
                              </m:r>
                            </m:sub>
                          </m:sSub>
                          <m:r>
                            <a:rPr lang="en-US" sz="2400">
                              <a:latin typeface="Cambria Math"/>
                            </a:rPr>
                            <m:t>(1 − </m:t>
                          </m:r>
                          <m:r>
                            <a:rPr lang="en-US" sz="2400">
                              <a:latin typeface="Cambria Math"/>
                            </a:rPr>
                            <m:t>𝑐𝑜𝑠</m:t>
                          </m:r>
                          <m:r>
                            <a:rPr lang="en-US" sz="2400">
                              <a:latin typeface="Cambria Math"/>
                            </a:rPr>
                            <m:t> </m:t>
                          </m:r>
                          <m:sSub>
                            <m:sSubPr>
                              <m:ctrlPr>
                                <a:rPr lang="en-US" sz="2400">
                                  <a:latin typeface="Cambria Math"/>
                                </a:rPr>
                              </m:ctrlPr>
                            </m:sSubPr>
                            <m:e>
                              <m:r>
                                <a:rPr lang="en-US" sz="2400">
                                  <a:latin typeface="Cambria Math"/>
                                </a:rPr>
                                <m:t>𝜃</m:t>
                              </m:r>
                            </m:e>
                            <m:sub>
                              <m:r>
                                <a:rPr lang="en-US" sz="2400">
                                  <a:latin typeface="Cambria Math"/>
                                </a:rPr>
                                <m:t>1</m:t>
                              </m:r>
                            </m:sub>
                          </m:sSub>
                          <m:r>
                            <a:rPr lang="en-US" sz="2400">
                              <a:latin typeface="Cambria Math"/>
                            </a:rPr>
                            <m:t>)</m:t>
                          </m:r>
                        </m:e>
                        <m:e>
                          <m:sSub>
                            <m:sSubPr>
                              <m:ctrlPr>
                                <a:rPr lang="en-US" sz="2400">
                                  <a:latin typeface="Cambria Math"/>
                                </a:rPr>
                              </m:ctrlPr>
                            </m:sSubPr>
                            <m:e>
                              <m:r>
                                <a:rPr lang="en-US" sz="2400">
                                  <a:latin typeface="Cambria Math"/>
                                </a:rPr>
                                <m:t>ℎ</m:t>
                              </m:r>
                            </m:e>
                            <m:sub>
                              <m:r>
                                <a:rPr lang="en-US" sz="2400">
                                  <a:latin typeface="Cambria Math"/>
                                </a:rPr>
                                <m:t>𝐺</m:t>
                              </m:r>
                              <m:r>
                                <a:rPr lang="en-US" sz="2400">
                                  <a:latin typeface="Cambria Math"/>
                                </a:rPr>
                                <m:t>2</m:t>
                              </m:r>
                            </m:sub>
                          </m:sSub>
                          <m:r>
                            <a:rPr lang="en-US" sz="2400">
                              <a:latin typeface="Cambria Math"/>
                            </a:rPr>
                            <m:t> = </m:t>
                          </m:r>
                          <m:sSub>
                            <m:sSubPr>
                              <m:ctrlPr>
                                <a:rPr lang="en-US" sz="2400">
                                  <a:latin typeface="Cambria Math"/>
                                </a:rPr>
                              </m:ctrlPr>
                            </m:sSubPr>
                            <m:e>
                              <m:r>
                                <a:rPr lang="en-US" sz="2400">
                                  <a:latin typeface="Cambria Math"/>
                                </a:rPr>
                                <m:t>ℎ</m:t>
                              </m:r>
                            </m:e>
                            <m:sub>
                              <m:r>
                                <a:rPr lang="en-US" sz="2400">
                                  <a:latin typeface="Cambria Math"/>
                                </a:rPr>
                                <m:t>1</m:t>
                              </m:r>
                            </m:sub>
                          </m:sSub>
                          <m:r>
                            <a:rPr lang="en-US" sz="2400">
                              <a:latin typeface="Cambria Math"/>
                            </a:rPr>
                            <m:t> + </m:t>
                          </m:r>
                          <m:f>
                            <m:fPr>
                              <m:ctrlPr>
                                <a:rPr lang="en-US" sz="2400" i="1">
                                  <a:latin typeface="Cambria Math" panose="02040503050406030204" pitchFamily="18" charset="0"/>
                                </a:rPr>
                              </m:ctrlPr>
                            </m:fPr>
                            <m:num>
                              <m:sSub>
                                <m:sSubPr>
                                  <m:ctrlPr>
                                    <a:rPr lang="en-US" sz="2400">
                                      <a:latin typeface="Cambria Math"/>
                                    </a:rPr>
                                  </m:ctrlPr>
                                </m:sSubPr>
                                <m:e>
                                  <m:r>
                                    <a:rPr lang="en-US" sz="2400">
                                      <a:latin typeface="Cambria Math"/>
                                    </a:rPr>
                                    <m:t>𝐿</m:t>
                                  </m:r>
                                </m:e>
                                <m:sub>
                                  <m:r>
                                    <a:rPr lang="en-US" sz="2400">
                                      <a:latin typeface="Cambria Math"/>
                                    </a:rPr>
                                    <m:t>2</m:t>
                                  </m:r>
                                </m:sub>
                              </m:sSub>
                            </m:num>
                            <m:den>
                              <m:r>
                                <a:rPr lang="en-US" sz="2400">
                                  <a:latin typeface="Cambria Math"/>
                                </a:rPr>
                                <m:t>2</m:t>
                              </m:r>
                            </m:den>
                          </m:f>
                          <m:r>
                            <a:rPr lang="en-US" sz="2400">
                              <a:latin typeface="Cambria Math"/>
                            </a:rPr>
                            <m:t>(1 − </m:t>
                          </m:r>
                          <m:r>
                            <a:rPr lang="en-US" sz="2400">
                              <a:latin typeface="Cambria Math"/>
                            </a:rPr>
                            <m:t>𝑐𝑜𝑠</m:t>
                          </m:r>
                          <m:r>
                            <a:rPr lang="en-US" sz="2400">
                              <a:latin typeface="Cambria Math"/>
                            </a:rPr>
                            <m:t> </m:t>
                          </m:r>
                          <m:sSub>
                            <m:sSubPr>
                              <m:ctrlPr>
                                <a:rPr lang="en-US" sz="2400">
                                  <a:latin typeface="Cambria Math"/>
                                </a:rPr>
                              </m:ctrlPr>
                            </m:sSubPr>
                            <m:e>
                              <m:r>
                                <a:rPr lang="en-US" sz="2400">
                                  <a:latin typeface="Cambria Math"/>
                                </a:rPr>
                                <m:t>𝜃</m:t>
                              </m:r>
                            </m:e>
                            <m:sub>
                              <m:r>
                                <a:rPr lang="en-US" sz="2400">
                                  <a:latin typeface="Cambria Math"/>
                                </a:rPr>
                                <m:t>2</m:t>
                              </m:r>
                            </m:sub>
                          </m:sSub>
                          <m:r>
                            <a:rPr lang="en-US" sz="2400">
                              <a:latin typeface="Cambria Math"/>
                            </a:rPr>
                            <m:t>)</m:t>
                          </m:r>
                        </m:e>
                        <m:e>
                          <m:sSub>
                            <m:sSubPr>
                              <m:ctrlPr>
                                <a:rPr lang="en-US" sz="2400">
                                  <a:latin typeface="Cambria Math"/>
                                </a:rPr>
                              </m:ctrlPr>
                            </m:sSubPr>
                            <m:e>
                              <m:r>
                                <a:rPr lang="en-US" sz="2400">
                                  <a:latin typeface="Cambria Math"/>
                                </a:rPr>
                                <m:t>ℎ</m:t>
                              </m:r>
                            </m:e>
                            <m:sub>
                              <m:r>
                                <a:rPr lang="en-US" sz="2400">
                                  <a:latin typeface="Cambria Math"/>
                                </a:rPr>
                                <m:t>2</m:t>
                              </m:r>
                            </m:sub>
                          </m:sSub>
                          <m:r>
                            <a:rPr lang="en-US" sz="2400">
                              <a:latin typeface="Cambria Math"/>
                            </a:rPr>
                            <m:t> = </m:t>
                          </m:r>
                          <m:sSub>
                            <m:sSubPr>
                              <m:ctrlPr>
                                <a:rPr lang="en-US" sz="2400">
                                  <a:latin typeface="Cambria Math"/>
                                </a:rPr>
                              </m:ctrlPr>
                            </m:sSubPr>
                            <m:e>
                              <m:r>
                                <a:rPr lang="en-US" sz="2400">
                                  <a:latin typeface="Cambria Math"/>
                                </a:rPr>
                                <m:t>ℎ</m:t>
                              </m:r>
                            </m:e>
                            <m:sub>
                              <m:r>
                                <a:rPr lang="en-US" sz="2400">
                                  <a:latin typeface="Cambria Math"/>
                                </a:rPr>
                                <m:t>1</m:t>
                              </m:r>
                            </m:sub>
                          </m:sSub>
                          <m:r>
                            <a:rPr lang="en-US" sz="2400">
                              <a:latin typeface="Cambria Math"/>
                            </a:rPr>
                            <m:t> + </m:t>
                          </m:r>
                          <m:sSub>
                            <m:sSubPr>
                              <m:ctrlPr>
                                <a:rPr lang="en-US" sz="2400">
                                  <a:latin typeface="Cambria Math"/>
                                </a:rPr>
                              </m:ctrlPr>
                            </m:sSubPr>
                            <m:e>
                              <m:r>
                                <a:rPr lang="en-US" sz="2400">
                                  <a:latin typeface="Cambria Math"/>
                                </a:rPr>
                                <m:t>𝐿</m:t>
                              </m:r>
                            </m:e>
                            <m:sub>
                              <m:r>
                                <a:rPr lang="en-US" sz="2400">
                                  <a:latin typeface="Cambria Math"/>
                                </a:rPr>
                                <m:t>2</m:t>
                              </m:r>
                            </m:sub>
                          </m:sSub>
                          <m:r>
                            <a:rPr lang="en-US" sz="2400">
                              <a:latin typeface="Cambria Math"/>
                            </a:rPr>
                            <m:t>(1 − </m:t>
                          </m:r>
                          <m:r>
                            <a:rPr lang="en-US" sz="2400">
                              <a:latin typeface="Cambria Math"/>
                            </a:rPr>
                            <m:t>𝑐𝑜𝑠</m:t>
                          </m:r>
                          <m:r>
                            <a:rPr lang="en-US" sz="2400">
                              <a:latin typeface="Cambria Math"/>
                            </a:rPr>
                            <m:t> </m:t>
                          </m:r>
                          <m:sSub>
                            <m:sSubPr>
                              <m:ctrlPr>
                                <a:rPr lang="en-US" sz="2400">
                                  <a:latin typeface="Cambria Math"/>
                                </a:rPr>
                              </m:ctrlPr>
                            </m:sSubPr>
                            <m:e>
                              <m:r>
                                <a:rPr lang="en-US" sz="2400">
                                  <a:latin typeface="Cambria Math"/>
                                </a:rPr>
                                <m:t>𝜃</m:t>
                              </m:r>
                            </m:e>
                            <m:sub>
                              <m:r>
                                <a:rPr lang="en-US" sz="2400">
                                  <a:latin typeface="Cambria Math"/>
                                </a:rPr>
                                <m:t>2</m:t>
                              </m:r>
                            </m:sub>
                          </m:sSub>
                          <m:r>
                            <a:rPr lang="en-US" sz="2400">
                              <a:latin typeface="Cambria Math"/>
                            </a:rPr>
                            <m:t>)</m:t>
                          </m:r>
                        </m:e>
                      </m:eqArr>
                    </m:oMath>
                  </m:oMathPara>
                </a14:m>
                <a:endParaRPr lang="en-US" sz="2400"/>
              </a:p>
            </p:txBody>
          </p:sp>
        </mc:Choice>
        <mc:Fallback>
          <p:sp>
            <p:nvSpPr>
              <p:cNvPr id="3" name="EQ_heights">
                <a:extLst>
                  <a:ext uri="{FF2B5EF4-FFF2-40B4-BE49-F238E27FC236}">
                    <a16:creationId xmlns:a16="http://schemas.microsoft.com/office/drawing/2014/main" id="{B65577AE-3080-4EA5-9C11-EFE2B040EC14}"/>
                  </a:ext>
                </a:extLst>
              </p:cNvPr>
              <p:cNvSpPr>
                <a:spLocks noGrp="1" noRot="1" noChangeAspect="1" noMove="1" noResize="1" noEditPoints="1" noAdjustHandles="1" noChangeArrowheads="1" noChangeShapeType="1" noTextEdit="1"/>
              </p:cNvSpPr>
              <p:nvPr/>
            </p:nvSpPr>
            <p:spPr>
              <a:xfrm>
                <a:off x="666750" y="1666875"/>
                <a:ext cx="10858500" cy="2286000"/>
              </a:xfrm>
              <a:prstGeom prst="rect">
                <a:avLst/>
              </a:prstGeom>
              <a:blipFill>
                <a:blip r:embed="rId3"/>
                <a:stretch>
                  <a:fillRect/>
                </a:stretch>
              </a:blipFill>
              <a:ln w="0">
                <a:noFill/>
              </a:ln>
            </p:spPr>
            <p:txBody>
              <a:bodyPr/>
              <a:lstStyle/>
              <a:p>
                <a:r>
                  <a:rPr lang="en-US">
                    <a:noFill/>
                  </a:rPr>
                  <a:t> </a:t>
                </a:r>
              </a:p>
            </p:txBody>
          </p:sp>
        </mc:Fallback>
      </mc:AlternateContent>
      <p:sp>
        <p:nvSpPr>
          <p:cNvPr id="4" name="body0">
            <a:extLst>
              <a:ext uri="{FF2B5EF4-FFF2-40B4-BE49-F238E27FC236}">
                <a16:creationId xmlns:a16="http://schemas.microsoft.com/office/drawing/2014/main" id="{0BE17D67-ED5F-4430-9F5C-B20658A40958}"/>
              </a:ext>
            </a:extLst>
          </p:cNvPr>
          <p:cNvSpPr>
            <a:spLocks noGrp="1"/>
          </p:cNvSpPr>
          <p:nvPr/>
        </p:nvSpPr>
        <p:spPr>
          <a:xfrm>
            <a:off x="666750" y="4086225"/>
            <a:ext cx="10858500" cy="638175"/>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Set V = 0 when both links hang vertically downward.</a:t>
            </a:r>
          </a:p>
        </p:txBody>
      </p:sp>
      <p:sp>
        <p:nvSpPr>
          <p:cNvPr id="5" name="body1">
            <a:extLst>
              <a:ext uri="{FF2B5EF4-FFF2-40B4-BE49-F238E27FC236}">
                <a16:creationId xmlns:a16="http://schemas.microsoft.com/office/drawing/2014/main" id="{653D2734-69A8-47C3-B657-98013A3E3B6A}"/>
              </a:ext>
            </a:extLst>
          </p:cNvPr>
          <p:cNvSpPr>
            <a:spLocks noGrp="1"/>
          </p:cNvSpPr>
          <p:nvPr/>
        </p:nvSpPr>
        <p:spPr>
          <a:xfrm>
            <a:off x="666750" y="4819650"/>
            <a:ext cx="10858500" cy="638175"/>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Raising any mass by h increases its gravitational potential energy by mgh.</a:t>
            </a:r>
          </a:p>
        </p:txBody>
      </p:sp>
      <p:sp>
        <p:nvSpPr>
          <p:cNvPr id="6" name="body2">
            <a:extLst>
              <a:ext uri="{FF2B5EF4-FFF2-40B4-BE49-F238E27FC236}">
                <a16:creationId xmlns:a16="http://schemas.microsoft.com/office/drawing/2014/main" id="{F12B53B3-3079-4F1C-A7A8-3D2E95CE5654}"/>
              </a:ext>
            </a:extLst>
          </p:cNvPr>
          <p:cNvSpPr>
            <a:spLocks noGrp="1"/>
          </p:cNvSpPr>
          <p:nvPr/>
        </p:nvSpPr>
        <p:spPr>
          <a:xfrm>
            <a:off x="666750" y="5553075"/>
            <a:ext cx="10858500" cy="638175"/>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The center of a uniform bar lies halfway along it. The entire lower assembly also rises when link 1 rotates.</a:t>
            </a:r>
          </a:p>
        </p:txBody>
      </p:sp>
      <p:sp>
        <p:nvSpPr>
          <p:cNvPr id="7" name="page">
            <a:extLst>
              <a:ext uri="{FF2B5EF4-FFF2-40B4-BE49-F238E27FC236}">
                <a16:creationId xmlns:a16="http://schemas.microsoft.com/office/drawing/2014/main" id="{C37679C5-67D3-4BAD-956B-909D72E627D1}"/>
              </a:ext>
            </a:extLst>
          </p:cNvPr>
          <p:cNvSpPr>
            <a:spLocks noGrp="1"/>
          </p:cNvSpPr>
          <p:nvPr/>
        </p:nvSpPr>
        <p:spPr>
          <a:xfrm>
            <a:off x="11449050" y="6515100"/>
            <a:ext cx="333375" cy="190500"/>
          </a:xfrm>
          <a:prstGeom prst="rect">
            <a:avLst/>
          </a:prstGeom>
          <a:noFill/>
          <a:ln w="0">
            <a:noFill/>
          </a:ln>
        </p:spPr>
        <p:txBody>
          <a:bodyPr anchor="t">
            <a:noAutofit/>
          </a:bodyPr>
          <a:lstStyle/>
          <a:p>
            <a:pPr>
              <a:defRPr sz="1050" b="0">
                <a:solidFill>
                  <a:srgbClr val="6B7280"/>
                </a:solidFill>
                <a:latin typeface="Aptos"/>
                <a:ea typeface="Aptos"/>
                <a:cs typeface="Aptos"/>
              </a:defRPr>
            </a:pPr>
            <a:r>
              <a:rPr sz="1050" b="0">
                <a:solidFill>
                  <a:srgbClr val="6B7280"/>
                </a:solidFill>
                <a:latin typeface="Aptos"/>
                <a:ea typeface="Aptos"/>
                <a:cs typeface="Aptos"/>
              </a:rPr>
              <a:t>10</a:t>
            </a:r>
          </a:p>
        </p:txBody>
      </p:sp>
    </p:spTree>
    <p:extLst>
      <p:ext uri="{BB962C8B-B14F-4D97-AF65-F5344CB8AC3E}">
        <p14:creationId xmlns:p14="http://schemas.microsoft.com/office/powerpoint/2010/main" val="23830518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course">
            <a:extLst>
              <a:ext uri="{FF2B5EF4-FFF2-40B4-BE49-F238E27FC236}">
                <a16:creationId xmlns:a16="http://schemas.microsoft.com/office/drawing/2014/main" id="{F29E1775-C122-4940-B720-05679F52319A}"/>
              </a:ext>
            </a:extLst>
          </p:cNvPr>
          <p:cNvSpPr>
            <a:spLocks noGrp="1"/>
          </p:cNvSpPr>
          <p:nvPr/>
        </p:nvSpPr>
        <p:spPr>
          <a:xfrm>
            <a:off x="495300" y="190500"/>
            <a:ext cx="8572500" cy="285750"/>
          </a:xfrm>
          <a:prstGeom prst="rect">
            <a:avLst/>
          </a:prstGeom>
          <a:noFill/>
          <a:ln w="0">
            <a:noFill/>
          </a:ln>
        </p:spPr>
        <p:txBody>
          <a:bodyPr anchor="t">
            <a:noAutofit/>
          </a:bodyPr>
          <a:lstStyle/>
          <a:p>
            <a:pPr>
              <a:defRPr sz="1275" b="1">
                <a:solidFill>
                  <a:srgbClr val="881C1C"/>
                </a:solidFill>
                <a:latin typeface="Aptos"/>
                <a:ea typeface="Aptos"/>
                <a:cs typeface="Aptos"/>
              </a:defRPr>
            </a:pPr>
            <a:r>
              <a:rPr sz="1275" b="1">
                <a:solidFill>
                  <a:srgbClr val="881C1C"/>
                </a:solidFill>
                <a:latin typeface="Aptos"/>
                <a:ea typeface="Aptos"/>
                <a:cs typeface="Aptos"/>
              </a:rPr>
              <a:t>MIE 402   ME LAB II</a:t>
            </a:r>
          </a:p>
        </p:txBody>
      </p:sp>
      <p:sp>
        <p:nvSpPr>
          <p:cNvPr id="2" name="title">
            <a:extLst>
              <a:ext uri="{FF2B5EF4-FFF2-40B4-BE49-F238E27FC236}">
                <a16:creationId xmlns:a16="http://schemas.microsoft.com/office/drawing/2014/main" id="{CE9862F6-5CDA-4FC8-8F12-A6FBF873A61F}"/>
              </a:ext>
            </a:extLst>
          </p:cNvPr>
          <p:cNvSpPr>
            <a:spLocks noGrp="1"/>
          </p:cNvSpPr>
          <p:nvPr/>
        </p:nvSpPr>
        <p:spPr>
          <a:xfrm>
            <a:off x="495300" y="666750"/>
            <a:ext cx="11125200" cy="742950"/>
          </a:xfrm>
          <a:prstGeom prst="rect">
            <a:avLst/>
          </a:prstGeom>
          <a:noFill/>
          <a:ln w="0">
            <a:noFill/>
          </a:ln>
        </p:spPr>
        <p:txBody>
          <a:bodyPr anchor="t">
            <a:noAutofit/>
          </a:bodyPr>
          <a:lstStyle/>
          <a:p>
            <a:pPr>
              <a:defRPr sz="2925" b="1">
                <a:solidFill>
                  <a:srgbClr val="152437"/>
                </a:solidFill>
                <a:latin typeface="Aptos"/>
                <a:ea typeface="Aptos"/>
                <a:cs typeface="Aptos"/>
              </a:defRPr>
            </a:pPr>
            <a:r>
              <a:rPr sz="2925" b="1">
                <a:solidFill>
                  <a:srgbClr val="152437"/>
                </a:solidFill>
                <a:latin typeface="Aptos"/>
                <a:ea typeface="Aptos"/>
                <a:cs typeface="Aptos"/>
              </a:rPr>
              <a:t>The gravity coefficients G₁ and G₂</a:t>
            </a:r>
          </a:p>
        </p:txBody>
      </p:sp>
      <p:sp>
        <p:nvSpPr>
          <p:cNvPr id="3" name="body0">
            <a:extLst>
              <a:ext uri="{FF2B5EF4-FFF2-40B4-BE49-F238E27FC236}">
                <a16:creationId xmlns:a16="http://schemas.microsoft.com/office/drawing/2014/main" id="{38F9FCF4-AF30-4FC1-8065-A1A19DACC69B}"/>
              </a:ext>
            </a:extLst>
          </p:cNvPr>
          <p:cNvSpPr>
            <a:spLocks noGrp="1"/>
          </p:cNvSpPr>
          <p:nvPr/>
        </p:nvSpPr>
        <p:spPr>
          <a:xfrm>
            <a:off x="666750" y="1666875"/>
            <a:ext cx="10858500" cy="971550"/>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G₁ [N·m = J]: coefficient collecting the gravitational effect of all masses raised when θ₁ changes.</a:t>
            </a:r>
          </a:p>
        </p:txBody>
      </p:sp>
      <p:sp>
        <p:nvSpPr>
          <p:cNvPr id="4" name="body1">
            <a:extLst>
              <a:ext uri="{FF2B5EF4-FFF2-40B4-BE49-F238E27FC236}">
                <a16:creationId xmlns:a16="http://schemas.microsoft.com/office/drawing/2014/main" id="{24C201C3-4BF7-4F4C-BBCD-962921A4473F}"/>
              </a:ext>
            </a:extLst>
          </p:cNvPr>
          <p:cNvSpPr>
            <a:spLocks noGrp="1"/>
          </p:cNvSpPr>
          <p:nvPr/>
        </p:nvSpPr>
        <p:spPr>
          <a:xfrm>
            <a:off x="666750" y="2733675"/>
            <a:ext cx="10858500" cy="971550"/>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G₂ [N·m = J]: coefficient collecting the gravitational effect of the lower bar and bob when θ₂ changes.</a:t>
            </a:r>
          </a:p>
        </p:txBody>
      </p:sp>
      <p:sp>
        <p:nvSpPr>
          <p:cNvPr id="5" name="body2">
            <a:extLst>
              <a:ext uri="{FF2B5EF4-FFF2-40B4-BE49-F238E27FC236}">
                <a16:creationId xmlns:a16="http://schemas.microsoft.com/office/drawing/2014/main" id="{C7A7879C-EA8E-47F9-B5D2-FB0A4AC33FB4}"/>
              </a:ext>
            </a:extLst>
          </p:cNvPr>
          <p:cNvSpPr>
            <a:spLocks noGrp="1"/>
          </p:cNvSpPr>
          <p:nvPr/>
        </p:nvSpPr>
        <p:spPr>
          <a:xfrm>
            <a:off x="666750" y="3800475"/>
            <a:ext cx="10858500" cy="971550"/>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These capital G symbols are energy coefficients. The G in a center-of-mass subscript, such as h</a:t>
            </a:r>
            <a:r>
              <a:rPr sz="1462" b="0" baseline="-25000">
                <a:solidFill>
                  <a:srgbClr val="202D3C"/>
                </a:solidFill>
                <a:latin typeface="Aptos"/>
                <a:ea typeface="Aptos"/>
                <a:cs typeface="Aptos"/>
              </a:rPr>
              <a:t>G2</a:t>
            </a:r>
            <a:r>
              <a:rPr sz="1950" b="0">
                <a:solidFill>
                  <a:srgbClr val="202D3C"/>
                </a:solidFill>
                <a:latin typeface="Aptos"/>
                <a:ea typeface="Aptos"/>
                <a:cs typeface="Aptos"/>
              </a:rPr>
              <a:t>, only labels a location.</a:t>
            </a:r>
          </a:p>
        </p:txBody>
      </p:sp>
      <p:sp>
        <p:nvSpPr>
          <p:cNvPr id="6" name="body3">
            <a:extLst>
              <a:ext uri="{FF2B5EF4-FFF2-40B4-BE49-F238E27FC236}">
                <a16:creationId xmlns:a16="http://schemas.microsoft.com/office/drawing/2014/main" id="{803C5FCA-E9D2-484D-AF57-98D530EEC5EC}"/>
              </a:ext>
            </a:extLst>
          </p:cNvPr>
          <p:cNvSpPr>
            <a:spLocks noGrp="1"/>
          </p:cNvSpPr>
          <p:nvPr/>
        </p:nvSpPr>
        <p:spPr>
          <a:xfrm>
            <a:off x="666750" y="4867275"/>
            <a:ext cx="10858500" cy="971550"/>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We will group the four contributions to V using these two coefficients. They depend on measured masses, lengths and g.</a:t>
            </a:r>
          </a:p>
        </p:txBody>
      </p:sp>
      <p:sp>
        <p:nvSpPr>
          <p:cNvPr id="7" name="page">
            <a:extLst>
              <a:ext uri="{FF2B5EF4-FFF2-40B4-BE49-F238E27FC236}">
                <a16:creationId xmlns:a16="http://schemas.microsoft.com/office/drawing/2014/main" id="{614D481A-8243-4359-BF3C-DC398E488970}"/>
              </a:ext>
            </a:extLst>
          </p:cNvPr>
          <p:cNvSpPr>
            <a:spLocks noGrp="1"/>
          </p:cNvSpPr>
          <p:nvPr/>
        </p:nvSpPr>
        <p:spPr>
          <a:xfrm>
            <a:off x="11449050" y="6515100"/>
            <a:ext cx="333375" cy="190500"/>
          </a:xfrm>
          <a:prstGeom prst="rect">
            <a:avLst/>
          </a:prstGeom>
          <a:noFill/>
          <a:ln w="0">
            <a:noFill/>
          </a:ln>
        </p:spPr>
        <p:txBody>
          <a:bodyPr anchor="t">
            <a:noAutofit/>
          </a:bodyPr>
          <a:lstStyle/>
          <a:p>
            <a:pPr>
              <a:defRPr sz="1050" b="0">
                <a:solidFill>
                  <a:srgbClr val="6B7280"/>
                </a:solidFill>
                <a:latin typeface="Aptos"/>
                <a:ea typeface="Aptos"/>
                <a:cs typeface="Aptos"/>
              </a:defRPr>
            </a:pPr>
            <a:r>
              <a:rPr sz="1050" b="0">
                <a:solidFill>
                  <a:srgbClr val="6B7280"/>
                </a:solidFill>
                <a:latin typeface="Aptos"/>
                <a:ea typeface="Aptos"/>
                <a:cs typeface="Aptos"/>
              </a:rPr>
              <a:t>11</a:t>
            </a:r>
          </a:p>
        </p:txBody>
      </p:sp>
    </p:spTree>
    <p:extLst>
      <p:ext uri="{BB962C8B-B14F-4D97-AF65-F5344CB8AC3E}">
        <p14:creationId xmlns:p14="http://schemas.microsoft.com/office/powerpoint/2010/main" val="19237172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course">
            <a:extLst>
              <a:ext uri="{FF2B5EF4-FFF2-40B4-BE49-F238E27FC236}">
                <a16:creationId xmlns:a16="http://schemas.microsoft.com/office/drawing/2014/main" id="{AE559603-7157-4336-9A0C-94EF00552710}"/>
              </a:ext>
            </a:extLst>
          </p:cNvPr>
          <p:cNvSpPr>
            <a:spLocks noGrp="1"/>
          </p:cNvSpPr>
          <p:nvPr/>
        </p:nvSpPr>
        <p:spPr>
          <a:xfrm>
            <a:off x="495300" y="190500"/>
            <a:ext cx="8572500" cy="285750"/>
          </a:xfrm>
          <a:prstGeom prst="rect">
            <a:avLst/>
          </a:prstGeom>
          <a:noFill/>
          <a:ln w="0">
            <a:noFill/>
          </a:ln>
        </p:spPr>
        <p:txBody>
          <a:bodyPr anchor="t">
            <a:noAutofit/>
          </a:bodyPr>
          <a:lstStyle/>
          <a:p>
            <a:pPr>
              <a:defRPr sz="1275" b="1">
                <a:solidFill>
                  <a:srgbClr val="881C1C"/>
                </a:solidFill>
                <a:latin typeface="Aptos"/>
                <a:ea typeface="Aptos"/>
                <a:cs typeface="Aptos"/>
              </a:defRPr>
            </a:pPr>
            <a:r>
              <a:rPr sz="1275" b="1">
                <a:solidFill>
                  <a:srgbClr val="881C1C"/>
                </a:solidFill>
                <a:latin typeface="Aptos"/>
                <a:ea typeface="Aptos"/>
                <a:cs typeface="Aptos"/>
              </a:rPr>
              <a:t>MIE 402   ME LAB II</a:t>
            </a:r>
          </a:p>
        </p:txBody>
      </p:sp>
      <p:sp>
        <p:nvSpPr>
          <p:cNvPr id="2" name="title">
            <a:extLst>
              <a:ext uri="{FF2B5EF4-FFF2-40B4-BE49-F238E27FC236}">
                <a16:creationId xmlns:a16="http://schemas.microsoft.com/office/drawing/2014/main" id="{4D9EEFF3-E229-427E-908C-CEDDCC47642A}"/>
              </a:ext>
            </a:extLst>
          </p:cNvPr>
          <p:cNvSpPr>
            <a:spLocks noGrp="1"/>
          </p:cNvSpPr>
          <p:nvPr/>
        </p:nvSpPr>
        <p:spPr>
          <a:xfrm>
            <a:off x="495300" y="666750"/>
            <a:ext cx="11125200" cy="742950"/>
          </a:xfrm>
          <a:prstGeom prst="rect">
            <a:avLst/>
          </a:prstGeom>
          <a:noFill/>
          <a:ln w="0">
            <a:noFill/>
          </a:ln>
        </p:spPr>
        <p:txBody>
          <a:bodyPr anchor="t">
            <a:noAutofit/>
          </a:bodyPr>
          <a:lstStyle/>
          <a:p>
            <a:pPr>
              <a:defRPr sz="2925" b="1">
                <a:solidFill>
                  <a:srgbClr val="152437"/>
                </a:solidFill>
                <a:latin typeface="Aptos"/>
                <a:ea typeface="Aptos"/>
                <a:cs typeface="Aptos"/>
              </a:defRPr>
            </a:pPr>
            <a:r>
              <a:rPr sz="2925" b="1">
                <a:solidFill>
                  <a:srgbClr val="152437"/>
                </a:solidFill>
                <a:latin typeface="Aptos"/>
                <a:ea typeface="Aptos"/>
                <a:cs typeface="Aptos"/>
              </a:rPr>
              <a:t>Potential energy of all four components</a:t>
            </a:r>
          </a:p>
        </p:txBody>
      </p:sp>
      <mc:AlternateContent xmlns:mc="http://schemas.openxmlformats.org/markup-compatibility/2006">
        <mc:Choice xmlns:a14="http://schemas.microsoft.com/office/drawing/2010/main" Requires="a14">
          <p:sp>
            <p:nvSpPr>
              <p:cNvPr id="3" name="EQ_potential">
                <a:extLst>
                  <a:ext uri="{FF2B5EF4-FFF2-40B4-BE49-F238E27FC236}">
                    <a16:creationId xmlns:a16="http://schemas.microsoft.com/office/drawing/2014/main" id="{08479BD9-69B9-4A8F-8B09-1A0EF317487B}"/>
                  </a:ext>
                </a:extLst>
              </p:cNvPr>
              <p:cNvSpPr>
                <a:spLocks noGrp="1"/>
              </p:cNvSpPr>
              <p:nvPr/>
            </p:nvSpPr>
            <p:spPr>
              <a:xfrm>
                <a:off x="666750" y="1666875"/>
                <a:ext cx="10858500" cy="647700"/>
              </a:xfrm>
              <a:prstGeom prst="rect">
                <a:avLst/>
              </a:prstGeom>
              <a:noFill/>
              <a:ln w="0">
                <a:noFill/>
              </a:ln>
            </p:spPr>
            <p:txBody>
              <a:bodyPr anchor="t">
                <a:noAutofit/>
              </a:bodyPr>
              <a:lstStyle/>
              <a:p>
                <a:pPr algn="l"/>
                <a14:m>
                  <m:oMathPara xmlns:m="http://schemas.openxmlformats.org/officeDocument/2006/math">
                    <m:oMathParaPr>
                      <m:jc m:val="left"/>
                    </m:oMathParaPr>
                    <m:oMath>
                      <m:r>
                        <a:rPr lang="en-US" sz="2400">
                          <a:latin typeface="Cambria Math"/>
                        </a:rPr>
                        <m:t>𝑉</m:t>
                      </m:r>
                      <m:r>
                        <a:rPr lang="en-US" sz="2400">
                          <a:latin typeface="Cambria Math"/>
                        </a:rPr>
                        <m:t> = </m:t>
                      </m:r>
                      <m:sSub>
                        <m:sSubPr>
                          <m:ctrlPr>
                            <a:rPr lang="en-US" sz="2400">
                              <a:latin typeface="Cambria Math"/>
                            </a:rPr>
                          </m:ctrlPr>
                        </m:sSubPr>
                        <m:e>
                          <m:r>
                            <a:rPr lang="en-US" sz="2400">
                              <a:latin typeface="Cambria Math"/>
                            </a:rPr>
                            <m:t>𝐺</m:t>
                          </m:r>
                        </m:e>
                        <m:sub>
                          <m:r>
                            <a:rPr lang="en-US" sz="2400">
                              <a:latin typeface="Cambria Math"/>
                            </a:rPr>
                            <m:t>1</m:t>
                          </m:r>
                        </m:sub>
                      </m:sSub>
                      <m:r>
                        <a:rPr lang="en-US" sz="2400">
                          <a:latin typeface="Cambria Math"/>
                        </a:rPr>
                        <m:t>(1 − </m:t>
                      </m:r>
                      <m:r>
                        <a:rPr lang="en-US" sz="2400">
                          <a:latin typeface="Cambria Math"/>
                        </a:rPr>
                        <m:t>𝑐𝑜𝑠</m:t>
                      </m:r>
                      <m:r>
                        <a:rPr lang="en-US" sz="2400">
                          <a:latin typeface="Cambria Math"/>
                        </a:rPr>
                        <m:t> </m:t>
                      </m:r>
                      <m:sSub>
                        <m:sSubPr>
                          <m:ctrlPr>
                            <a:rPr lang="en-US" sz="2400">
                              <a:latin typeface="Cambria Math"/>
                            </a:rPr>
                          </m:ctrlPr>
                        </m:sSubPr>
                        <m:e>
                          <m:r>
                            <a:rPr lang="en-US" sz="2400">
                              <a:latin typeface="Cambria Math"/>
                            </a:rPr>
                            <m:t>𝜃</m:t>
                          </m:r>
                        </m:e>
                        <m:sub>
                          <m:r>
                            <a:rPr lang="en-US" sz="2400">
                              <a:latin typeface="Cambria Math"/>
                            </a:rPr>
                            <m:t>1</m:t>
                          </m:r>
                        </m:sub>
                      </m:sSub>
                      <m:r>
                        <a:rPr lang="en-US" sz="2400">
                          <a:latin typeface="Cambria Math"/>
                        </a:rPr>
                        <m:t>) + </m:t>
                      </m:r>
                      <m:sSub>
                        <m:sSubPr>
                          <m:ctrlPr>
                            <a:rPr lang="en-US" sz="2400">
                              <a:latin typeface="Cambria Math"/>
                            </a:rPr>
                          </m:ctrlPr>
                        </m:sSubPr>
                        <m:e>
                          <m:r>
                            <a:rPr lang="en-US" sz="2400">
                              <a:latin typeface="Cambria Math"/>
                            </a:rPr>
                            <m:t>𝐺</m:t>
                          </m:r>
                        </m:e>
                        <m:sub>
                          <m:r>
                            <a:rPr lang="en-US" sz="2400">
                              <a:latin typeface="Cambria Math"/>
                            </a:rPr>
                            <m:t>2</m:t>
                          </m:r>
                        </m:sub>
                      </m:sSub>
                      <m:r>
                        <a:rPr lang="en-US" sz="2400">
                          <a:latin typeface="Cambria Math"/>
                        </a:rPr>
                        <m:t>(1 − </m:t>
                      </m:r>
                      <m:r>
                        <a:rPr lang="en-US" sz="2400">
                          <a:latin typeface="Cambria Math"/>
                        </a:rPr>
                        <m:t>𝑐𝑜𝑠</m:t>
                      </m:r>
                      <m:r>
                        <a:rPr lang="en-US" sz="2400">
                          <a:latin typeface="Cambria Math"/>
                        </a:rPr>
                        <m:t> </m:t>
                      </m:r>
                      <m:sSub>
                        <m:sSubPr>
                          <m:ctrlPr>
                            <a:rPr lang="en-US" sz="2400">
                              <a:latin typeface="Cambria Math"/>
                            </a:rPr>
                          </m:ctrlPr>
                        </m:sSubPr>
                        <m:e>
                          <m:r>
                            <a:rPr lang="en-US" sz="2400">
                              <a:latin typeface="Cambria Math"/>
                            </a:rPr>
                            <m:t>𝜃</m:t>
                          </m:r>
                        </m:e>
                        <m:sub>
                          <m:r>
                            <a:rPr lang="en-US" sz="2400">
                              <a:latin typeface="Cambria Math"/>
                            </a:rPr>
                            <m:t>2</m:t>
                          </m:r>
                        </m:sub>
                      </m:sSub>
                      <m:r>
                        <a:rPr lang="en-US" sz="2400">
                          <a:latin typeface="Cambria Math"/>
                        </a:rPr>
                        <m:t>)</m:t>
                      </m:r>
                    </m:oMath>
                  </m:oMathPara>
                </a14:m>
                <a:endParaRPr lang="en-US" sz="2400"/>
              </a:p>
            </p:txBody>
          </p:sp>
        </mc:Choice>
        <mc:Fallback>
          <p:sp>
            <p:nvSpPr>
              <p:cNvPr id="3" name="EQ_potential">
                <a:extLst>
                  <a:ext uri="{FF2B5EF4-FFF2-40B4-BE49-F238E27FC236}">
                    <a16:creationId xmlns:a16="http://schemas.microsoft.com/office/drawing/2014/main" id="{08479BD9-69B9-4A8F-8B09-1A0EF317487B}"/>
                  </a:ext>
                </a:extLst>
              </p:cNvPr>
              <p:cNvSpPr>
                <a:spLocks noGrp="1" noRot="1" noChangeAspect="1" noMove="1" noResize="1" noEditPoints="1" noAdjustHandles="1" noChangeArrowheads="1" noChangeShapeType="1" noTextEdit="1"/>
              </p:cNvSpPr>
              <p:nvPr/>
            </p:nvSpPr>
            <p:spPr>
              <a:xfrm>
                <a:off x="666750" y="1666875"/>
                <a:ext cx="10858500" cy="647700"/>
              </a:xfrm>
              <a:prstGeom prst="rect">
                <a:avLst/>
              </a:prstGeom>
              <a:blipFill>
                <a:blip r:embed="rId3"/>
                <a:stretch>
                  <a:fillRect l="-112"/>
                </a:stretch>
              </a:blipFill>
              <a:ln w="0">
                <a:no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 name="EQ_gravitycoeff">
                <a:extLst>
                  <a:ext uri="{FF2B5EF4-FFF2-40B4-BE49-F238E27FC236}">
                    <a16:creationId xmlns:a16="http://schemas.microsoft.com/office/drawing/2014/main" id="{A627421D-77D3-4AA3-9688-BFA19AEE3C99}"/>
                  </a:ext>
                </a:extLst>
              </p:cNvPr>
              <p:cNvSpPr>
                <a:spLocks noGrp="1"/>
              </p:cNvSpPr>
              <p:nvPr/>
            </p:nvSpPr>
            <p:spPr>
              <a:xfrm>
                <a:off x="666750" y="2447925"/>
                <a:ext cx="10858500" cy="1428750"/>
              </a:xfrm>
              <a:prstGeom prst="rect">
                <a:avLst/>
              </a:prstGeom>
              <a:noFill/>
              <a:ln w="0">
                <a:noFill/>
              </a:ln>
            </p:spPr>
            <p:txBody>
              <a:bodyPr anchor="t">
                <a:noAutofit/>
              </a:bodyPr>
              <a:lstStyle/>
              <a:p>
                <a:pPr algn="l"/>
                <a14:m>
                  <m:oMathPara xmlns:m="http://schemas.openxmlformats.org/officeDocument/2006/math">
                    <m:oMathParaPr>
                      <m:jc m:val="left"/>
                    </m:oMathParaPr>
                    <m:oMath>
                      <m:eqArr>
                        <m:eqArrPr>
                          <m:ctrlPr>
                            <a:rPr lang="en-US" sz="2400">
                              <a:latin typeface="Cambria Math" panose="02040503050406030204" pitchFamily="18" charset="0"/>
                            </a:rPr>
                          </m:ctrlPr>
                        </m:eqArrPr>
                        <m:e>
                          <m:sSub>
                            <m:sSubPr>
                              <m:ctrlPr>
                                <a:rPr lang="en-US" sz="2400">
                                  <a:latin typeface="Cambria Math"/>
                                </a:rPr>
                              </m:ctrlPr>
                            </m:sSubPr>
                            <m:e>
                              <m:r>
                                <a:rPr lang="en-US" sz="2400">
                                  <a:latin typeface="Cambria Math"/>
                                </a:rPr>
                                <m:t>𝐺</m:t>
                              </m:r>
                            </m:e>
                            <m:sub>
                              <m:r>
                                <a:rPr lang="en-US" sz="2400">
                                  <a:latin typeface="Cambria Math"/>
                                </a:rPr>
                                <m:t>1</m:t>
                              </m:r>
                            </m:sub>
                          </m:sSub>
                          <m:r>
                            <a:rPr lang="en-US" sz="2400">
                              <a:latin typeface="Cambria Math"/>
                            </a:rPr>
                            <m:t> = (</m:t>
                          </m:r>
                          <m:f>
                            <m:fPr>
                              <m:ctrlPr>
                                <a:rPr lang="en-US" sz="2400" i="1">
                                  <a:latin typeface="Cambria Math" panose="02040503050406030204" pitchFamily="18" charset="0"/>
                                </a:rPr>
                              </m:ctrlPr>
                            </m:fPr>
                            <m:num>
                              <m:sSub>
                                <m:sSubPr>
                                  <m:ctrlPr>
                                    <a:rPr lang="en-US" sz="2400">
                                      <a:latin typeface="Cambria Math"/>
                                    </a:rPr>
                                  </m:ctrlPr>
                                </m:sSubPr>
                                <m:e>
                                  <m:r>
                                    <a:rPr lang="en-US" sz="2400">
                                      <a:latin typeface="Cambria Math"/>
                                    </a:rPr>
                                    <m:t>𝑚</m:t>
                                  </m:r>
                                </m:e>
                                <m:sub>
                                  <m:r>
                                    <a:rPr lang="en-US" sz="2400">
                                      <a:latin typeface="Cambria Math"/>
                                    </a:rPr>
                                    <m:t>1</m:t>
                                  </m:r>
                                </m:sub>
                              </m:sSub>
                            </m:num>
                            <m:den>
                              <m:r>
                                <a:rPr lang="en-US" sz="2400">
                                  <a:latin typeface="Cambria Math"/>
                                </a:rPr>
                                <m:t>2</m:t>
                              </m:r>
                            </m:den>
                          </m:f>
                          <m:r>
                            <a:rPr lang="en-US" sz="2400">
                              <a:latin typeface="Cambria Math"/>
                            </a:rPr>
                            <m:t>+</m:t>
                          </m:r>
                          <m:sSub>
                            <m:sSubPr>
                              <m:ctrlPr>
                                <a:rPr lang="en-US" sz="2400">
                                  <a:latin typeface="Cambria Math"/>
                                </a:rPr>
                              </m:ctrlPr>
                            </m:sSubPr>
                            <m:e>
                              <m:r>
                                <a:rPr lang="en-US" sz="2400">
                                  <a:latin typeface="Cambria Math"/>
                                </a:rPr>
                                <m:t>𝑀</m:t>
                              </m:r>
                            </m:e>
                            <m:sub>
                              <m:r>
                                <a:rPr lang="en-US" sz="2400">
                                  <a:latin typeface="Cambria Math"/>
                                </a:rPr>
                                <m:t>1</m:t>
                              </m:r>
                            </m:sub>
                          </m:sSub>
                          <m:r>
                            <a:rPr lang="en-US" sz="2400">
                              <a:latin typeface="Cambria Math"/>
                            </a:rPr>
                            <m:t>+</m:t>
                          </m:r>
                          <m:sSub>
                            <m:sSubPr>
                              <m:ctrlPr>
                                <a:rPr lang="en-US" sz="2400">
                                  <a:latin typeface="Cambria Math"/>
                                </a:rPr>
                              </m:ctrlPr>
                            </m:sSubPr>
                            <m:e>
                              <m:r>
                                <a:rPr lang="en-US" sz="2400">
                                  <a:latin typeface="Cambria Math"/>
                                </a:rPr>
                                <m:t>𝑚</m:t>
                              </m:r>
                            </m:e>
                            <m:sub>
                              <m:r>
                                <a:rPr lang="en-US" sz="2400">
                                  <a:latin typeface="Cambria Math"/>
                                </a:rPr>
                                <m:t>2</m:t>
                              </m:r>
                            </m:sub>
                          </m:sSub>
                          <m:r>
                            <a:rPr lang="en-US" sz="2400">
                              <a:latin typeface="Cambria Math"/>
                            </a:rPr>
                            <m:t>+</m:t>
                          </m:r>
                          <m:sSub>
                            <m:sSubPr>
                              <m:ctrlPr>
                                <a:rPr lang="en-US" sz="2400">
                                  <a:latin typeface="Cambria Math"/>
                                </a:rPr>
                              </m:ctrlPr>
                            </m:sSubPr>
                            <m:e>
                              <m:r>
                                <a:rPr lang="en-US" sz="2400">
                                  <a:latin typeface="Cambria Math"/>
                                </a:rPr>
                                <m:t>𝑀</m:t>
                              </m:r>
                            </m:e>
                            <m:sub>
                              <m:r>
                                <a:rPr lang="en-US" sz="2400">
                                  <a:latin typeface="Cambria Math"/>
                                </a:rPr>
                                <m:t>2</m:t>
                              </m:r>
                            </m:sub>
                          </m:sSub>
                          <m:r>
                            <a:rPr lang="en-US" sz="2400">
                              <a:latin typeface="Cambria Math"/>
                            </a:rPr>
                            <m:t>)</m:t>
                          </m:r>
                          <m:r>
                            <a:rPr lang="en-US" sz="2400">
                              <a:latin typeface="Cambria Math"/>
                            </a:rPr>
                            <m:t>𝑔</m:t>
                          </m:r>
                          <m:sSub>
                            <m:sSubPr>
                              <m:ctrlPr>
                                <a:rPr lang="en-US" sz="2400">
                                  <a:latin typeface="Cambria Math"/>
                                </a:rPr>
                              </m:ctrlPr>
                            </m:sSubPr>
                            <m:e>
                              <m:r>
                                <a:rPr lang="en-US" sz="2400">
                                  <a:latin typeface="Cambria Math"/>
                                </a:rPr>
                                <m:t>𝐿</m:t>
                              </m:r>
                            </m:e>
                            <m:sub>
                              <m:r>
                                <a:rPr lang="en-US" sz="2400">
                                  <a:latin typeface="Cambria Math"/>
                                </a:rPr>
                                <m:t>1</m:t>
                              </m:r>
                            </m:sub>
                          </m:sSub>
                        </m:e>
                        <m:e>
                          <m:sSub>
                            <m:sSubPr>
                              <m:ctrlPr>
                                <a:rPr lang="en-US" sz="2400">
                                  <a:latin typeface="Cambria Math"/>
                                </a:rPr>
                              </m:ctrlPr>
                            </m:sSubPr>
                            <m:e>
                              <m:r>
                                <a:rPr lang="en-US" sz="2400">
                                  <a:latin typeface="Cambria Math"/>
                                </a:rPr>
                                <m:t>𝐺</m:t>
                              </m:r>
                            </m:e>
                            <m:sub>
                              <m:r>
                                <a:rPr lang="en-US" sz="2400">
                                  <a:latin typeface="Cambria Math"/>
                                </a:rPr>
                                <m:t>2</m:t>
                              </m:r>
                            </m:sub>
                          </m:sSub>
                          <m:r>
                            <a:rPr lang="en-US" sz="2400">
                              <a:latin typeface="Cambria Math"/>
                            </a:rPr>
                            <m:t> = (</m:t>
                          </m:r>
                          <m:f>
                            <m:fPr>
                              <m:ctrlPr>
                                <a:rPr lang="en-US" sz="2400" i="1">
                                  <a:latin typeface="Cambria Math" panose="02040503050406030204" pitchFamily="18" charset="0"/>
                                </a:rPr>
                              </m:ctrlPr>
                            </m:fPr>
                            <m:num>
                              <m:sSub>
                                <m:sSubPr>
                                  <m:ctrlPr>
                                    <a:rPr lang="en-US" sz="2400">
                                      <a:latin typeface="Cambria Math"/>
                                    </a:rPr>
                                  </m:ctrlPr>
                                </m:sSubPr>
                                <m:e>
                                  <m:r>
                                    <a:rPr lang="en-US" sz="2400">
                                      <a:latin typeface="Cambria Math"/>
                                    </a:rPr>
                                    <m:t>𝑚</m:t>
                                  </m:r>
                                </m:e>
                                <m:sub>
                                  <m:r>
                                    <a:rPr lang="en-US" sz="2400">
                                      <a:latin typeface="Cambria Math"/>
                                    </a:rPr>
                                    <m:t>2</m:t>
                                  </m:r>
                                </m:sub>
                              </m:sSub>
                            </m:num>
                            <m:den>
                              <m:r>
                                <a:rPr lang="en-US" sz="2400">
                                  <a:latin typeface="Cambria Math"/>
                                </a:rPr>
                                <m:t>2</m:t>
                              </m:r>
                            </m:den>
                          </m:f>
                          <m:r>
                            <a:rPr lang="en-US" sz="2400">
                              <a:latin typeface="Cambria Math"/>
                            </a:rPr>
                            <m:t>+</m:t>
                          </m:r>
                          <m:sSub>
                            <m:sSubPr>
                              <m:ctrlPr>
                                <a:rPr lang="en-US" sz="2400">
                                  <a:latin typeface="Cambria Math"/>
                                </a:rPr>
                              </m:ctrlPr>
                            </m:sSubPr>
                            <m:e>
                              <m:r>
                                <a:rPr lang="en-US" sz="2400">
                                  <a:latin typeface="Cambria Math"/>
                                </a:rPr>
                                <m:t>𝑀</m:t>
                              </m:r>
                            </m:e>
                            <m:sub>
                              <m:r>
                                <a:rPr lang="en-US" sz="2400">
                                  <a:latin typeface="Cambria Math"/>
                                </a:rPr>
                                <m:t>2</m:t>
                              </m:r>
                            </m:sub>
                          </m:sSub>
                          <m:r>
                            <a:rPr lang="en-US" sz="2400">
                              <a:latin typeface="Cambria Math"/>
                            </a:rPr>
                            <m:t>)</m:t>
                          </m:r>
                          <m:r>
                            <a:rPr lang="en-US" sz="2400">
                              <a:latin typeface="Cambria Math"/>
                            </a:rPr>
                            <m:t>𝑔</m:t>
                          </m:r>
                          <m:sSub>
                            <m:sSubPr>
                              <m:ctrlPr>
                                <a:rPr lang="en-US" sz="2400">
                                  <a:latin typeface="Cambria Math"/>
                                </a:rPr>
                              </m:ctrlPr>
                            </m:sSubPr>
                            <m:e>
                              <m:r>
                                <a:rPr lang="en-US" sz="2400">
                                  <a:latin typeface="Cambria Math"/>
                                </a:rPr>
                                <m:t>𝐿</m:t>
                              </m:r>
                            </m:e>
                            <m:sub>
                              <m:r>
                                <a:rPr lang="en-US" sz="2400">
                                  <a:latin typeface="Cambria Math"/>
                                </a:rPr>
                                <m:t>2</m:t>
                              </m:r>
                            </m:sub>
                          </m:sSub>
                        </m:e>
                      </m:eqArr>
                    </m:oMath>
                  </m:oMathPara>
                </a14:m>
                <a:endParaRPr lang="en-US" sz="2400"/>
              </a:p>
            </p:txBody>
          </p:sp>
        </mc:Choice>
        <mc:Fallback>
          <p:sp>
            <p:nvSpPr>
              <p:cNvPr id="4" name="EQ_gravitycoeff">
                <a:extLst>
                  <a:ext uri="{FF2B5EF4-FFF2-40B4-BE49-F238E27FC236}">
                    <a16:creationId xmlns:a16="http://schemas.microsoft.com/office/drawing/2014/main" id="{A627421D-77D3-4AA3-9688-BFA19AEE3C99}"/>
                  </a:ext>
                </a:extLst>
              </p:cNvPr>
              <p:cNvSpPr>
                <a:spLocks noGrp="1" noRot="1" noChangeAspect="1" noMove="1" noResize="1" noEditPoints="1" noAdjustHandles="1" noChangeArrowheads="1" noChangeShapeType="1" noTextEdit="1"/>
              </p:cNvSpPr>
              <p:nvPr/>
            </p:nvSpPr>
            <p:spPr>
              <a:xfrm>
                <a:off x="666750" y="2447925"/>
                <a:ext cx="10858500" cy="1428750"/>
              </a:xfrm>
              <a:prstGeom prst="rect">
                <a:avLst/>
              </a:prstGeom>
              <a:blipFill>
                <a:blip r:embed="rId4"/>
                <a:stretch>
                  <a:fillRect/>
                </a:stretch>
              </a:blipFill>
              <a:ln w="0">
                <a:noFill/>
              </a:ln>
            </p:spPr>
            <p:txBody>
              <a:bodyPr/>
              <a:lstStyle/>
              <a:p>
                <a:r>
                  <a:rPr lang="en-US">
                    <a:noFill/>
                  </a:rPr>
                  <a:t> </a:t>
                </a:r>
              </a:p>
            </p:txBody>
          </p:sp>
        </mc:Fallback>
      </mc:AlternateContent>
      <p:sp>
        <p:nvSpPr>
          <p:cNvPr id="5" name="body0">
            <a:extLst>
              <a:ext uri="{FF2B5EF4-FFF2-40B4-BE49-F238E27FC236}">
                <a16:creationId xmlns:a16="http://schemas.microsoft.com/office/drawing/2014/main" id="{A6D1EC46-9E3A-40A1-9ACB-D38E3BACBEE9}"/>
              </a:ext>
            </a:extLst>
          </p:cNvPr>
          <p:cNvSpPr>
            <a:spLocks noGrp="1"/>
          </p:cNvSpPr>
          <p:nvPr/>
        </p:nvSpPr>
        <p:spPr>
          <a:xfrm>
            <a:off x="666750" y="4010025"/>
            <a:ext cx="10858500" cy="663575"/>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Add the energy of both bars and both lumped masses.</a:t>
            </a:r>
          </a:p>
        </p:txBody>
      </p:sp>
      <p:sp>
        <p:nvSpPr>
          <p:cNvPr id="6" name="body1">
            <a:extLst>
              <a:ext uri="{FF2B5EF4-FFF2-40B4-BE49-F238E27FC236}">
                <a16:creationId xmlns:a16="http://schemas.microsoft.com/office/drawing/2014/main" id="{7B8C286F-8BDF-4016-8DF8-B9D20AA50909}"/>
              </a:ext>
            </a:extLst>
          </p:cNvPr>
          <p:cNvSpPr>
            <a:spLocks noGrp="1"/>
          </p:cNvSpPr>
          <p:nvPr/>
        </p:nvSpPr>
        <p:spPr>
          <a:xfrm>
            <a:off x="666750" y="4768850"/>
            <a:ext cx="10858500" cy="663575"/>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G₁ and G₂ are constants with units N·m, or joules. They collect mass, gravity and distance.</a:t>
            </a:r>
          </a:p>
        </p:txBody>
      </p:sp>
      <p:sp>
        <p:nvSpPr>
          <p:cNvPr id="7" name="body2">
            <a:extLst>
              <a:ext uri="{FF2B5EF4-FFF2-40B4-BE49-F238E27FC236}">
                <a16:creationId xmlns:a16="http://schemas.microsoft.com/office/drawing/2014/main" id="{9A1E66A0-83F2-4408-B716-DAED73F4703D}"/>
              </a:ext>
            </a:extLst>
          </p:cNvPr>
          <p:cNvSpPr>
            <a:spLocks noGrp="1"/>
          </p:cNvSpPr>
          <p:nvPr/>
        </p:nvSpPr>
        <p:spPr>
          <a:xfrm>
            <a:off x="666750" y="5527675"/>
            <a:ext cx="10858500" cy="663575"/>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A larger mass or longer lever arm increases the energy needed to raise the system.</a:t>
            </a:r>
          </a:p>
        </p:txBody>
      </p:sp>
      <p:sp>
        <p:nvSpPr>
          <p:cNvPr id="8" name="page">
            <a:extLst>
              <a:ext uri="{FF2B5EF4-FFF2-40B4-BE49-F238E27FC236}">
                <a16:creationId xmlns:a16="http://schemas.microsoft.com/office/drawing/2014/main" id="{DBE180A2-75BA-4D9D-A683-B48DCF9F455E}"/>
              </a:ext>
            </a:extLst>
          </p:cNvPr>
          <p:cNvSpPr>
            <a:spLocks noGrp="1"/>
          </p:cNvSpPr>
          <p:nvPr/>
        </p:nvSpPr>
        <p:spPr>
          <a:xfrm>
            <a:off x="11449050" y="6515100"/>
            <a:ext cx="333375" cy="190500"/>
          </a:xfrm>
          <a:prstGeom prst="rect">
            <a:avLst/>
          </a:prstGeom>
          <a:noFill/>
          <a:ln w="0">
            <a:noFill/>
          </a:ln>
        </p:spPr>
        <p:txBody>
          <a:bodyPr anchor="t">
            <a:noAutofit/>
          </a:bodyPr>
          <a:lstStyle/>
          <a:p>
            <a:pPr>
              <a:defRPr sz="1050" b="0">
                <a:solidFill>
                  <a:srgbClr val="6B7280"/>
                </a:solidFill>
                <a:latin typeface="Aptos"/>
                <a:ea typeface="Aptos"/>
                <a:cs typeface="Aptos"/>
              </a:defRPr>
            </a:pPr>
            <a:r>
              <a:rPr sz="1050" b="0">
                <a:solidFill>
                  <a:srgbClr val="6B7280"/>
                </a:solidFill>
                <a:latin typeface="Aptos"/>
                <a:ea typeface="Aptos"/>
                <a:cs typeface="Aptos"/>
              </a:rPr>
              <a:t>12</a:t>
            </a:r>
          </a:p>
        </p:txBody>
      </p:sp>
    </p:spTree>
    <p:extLst>
      <p:ext uri="{BB962C8B-B14F-4D97-AF65-F5344CB8AC3E}">
        <p14:creationId xmlns:p14="http://schemas.microsoft.com/office/powerpoint/2010/main" val="184060334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course">
            <a:extLst>
              <a:ext uri="{FF2B5EF4-FFF2-40B4-BE49-F238E27FC236}">
                <a16:creationId xmlns:a16="http://schemas.microsoft.com/office/drawing/2014/main" id="{2A9881F1-5EFE-49C2-828B-7049BE8DA504}"/>
              </a:ext>
            </a:extLst>
          </p:cNvPr>
          <p:cNvSpPr>
            <a:spLocks noGrp="1"/>
          </p:cNvSpPr>
          <p:nvPr/>
        </p:nvSpPr>
        <p:spPr>
          <a:xfrm>
            <a:off x="495300" y="190500"/>
            <a:ext cx="8572500" cy="285750"/>
          </a:xfrm>
          <a:prstGeom prst="rect">
            <a:avLst/>
          </a:prstGeom>
          <a:noFill/>
          <a:ln w="0">
            <a:noFill/>
          </a:ln>
        </p:spPr>
        <p:txBody>
          <a:bodyPr anchor="t">
            <a:noAutofit/>
          </a:bodyPr>
          <a:lstStyle/>
          <a:p>
            <a:pPr>
              <a:defRPr sz="1275" b="1">
                <a:solidFill>
                  <a:srgbClr val="881C1C"/>
                </a:solidFill>
                <a:latin typeface="Aptos"/>
                <a:ea typeface="Aptos"/>
                <a:cs typeface="Aptos"/>
              </a:defRPr>
            </a:pPr>
            <a:r>
              <a:rPr sz="1275" b="1">
                <a:solidFill>
                  <a:srgbClr val="881C1C"/>
                </a:solidFill>
                <a:latin typeface="Aptos"/>
                <a:ea typeface="Aptos"/>
                <a:cs typeface="Aptos"/>
              </a:rPr>
              <a:t>MIE 402   ME LAB II</a:t>
            </a:r>
          </a:p>
        </p:txBody>
      </p:sp>
      <p:sp>
        <p:nvSpPr>
          <p:cNvPr id="2" name="title">
            <a:extLst>
              <a:ext uri="{FF2B5EF4-FFF2-40B4-BE49-F238E27FC236}">
                <a16:creationId xmlns:a16="http://schemas.microsoft.com/office/drawing/2014/main" id="{061669CB-85FD-4EA4-B118-983C79D0327A}"/>
              </a:ext>
            </a:extLst>
          </p:cNvPr>
          <p:cNvSpPr>
            <a:spLocks noGrp="1"/>
          </p:cNvSpPr>
          <p:nvPr/>
        </p:nvSpPr>
        <p:spPr>
          <a:xfrm>
            <a:off x="495300" y="666750"/>
            <a:ext cx="11125200" cy="742950"/>
          </a:xfrm>
          <a:prstGeom prst="rect">
            <a:avLst/>
          </a:prstGeom>
          <a:noFill/>
          <a:ln w="0">
            <a:noFill/>
          </a:ln>
        </p:spPr>
        <p:txBody>
          <a:bodyPr anchor="t">
            <a:noAutofit/>
          </a:bodyPr>
          <a:lstStyle/>
          <a:p>
            <a:pPr>
              <a:defRPr sz="2925" b="1">
                <a:solidFill>
                  <a:srgbClr val="152437"/>
                </a:solidFill>
                <a:latin typeface="Aptos"/>
                <a:ea typeface="Aptos"/>
                <a:cs typeface="Aptos"/>
              </a:defRPr>
            </a:pPr>
            <a:r>
              <a:rPr sz="2925" b="1">
                <a:solidFill>
                  <a:srgbClr val="152437"/>
                </a:solidFill>
                <a:latin typeface="Aptos"/>
                <a:ea typeface="Aptos"/>
                <a:cs typeface="Aptos"/>
              </a:rPr>
              <a:t>Gravity produces a restoring torque</a:t>
            </a:r>
          </a:p>
        </p:txBody>
      </p:sp>
      <mc:AlternateContent xmlns:mc="http://schemas.openxmlformats.org/markup-compatibility/2006">
        <mc:Choice xmlns:a14="http://schemas.microsoft.com/office/drawing/2010/main" Requires="a14">
          <p:sp>
            <p:nvSpPr>
              <p:cNvPr id="3" name="EQ_gravtorque">
                <a:extLst>
                  <a:ext uri="{FF2B5EF4-FFF2-40B4-BE49-F238E27FC236}">
                    <a16:creationId xmlns:a16="http://schemas.microsoft.com/office/drawing/2014/main" id="{B55D975F-EE31-420E-B6DF-CDEB7BE0F8E1}"/>
                  </a:ext>
                </a:extLst>
              </p:cNvPr>
              <p:cNvSpPr>
                <a:spLocks noGrp="1"/>
              </p:cNvSpPr>
              <p:nvPr/>
            </p:nvSpPr>
            <p:spPr>
              <a:xfrm>
                <a:off x="666750" y="1666875"/>
                <a:ext cx="10858500" cy="647700"/>
              </a:xfrm>
              <a:prstGeom prst="rect">
                <a:avLst/>
              </a:prstGeom>
              <a:noFill/>
              <a:ln w="0">
                <a:noFill/>
              </a:ln>
            </p:spPr>
            <p:txBody>
              <a:bodyPr anchor="t">
                <a:noAutofit/>
              </a:bodyPr>
              <a:lstStyle/>
              <a:p>
                <a:pPr algn="l"/>
                <a14:m>
                  <m:oMathPara xmlns:m="http://schemas.openxmlformats.org/officeDocument/2006/math">
                    <m:oMathParaPr>
                      <m:jc m:val="left"/>
                    </m:oMathParaPr>
                    <m:oMath>
                      <m:sSub>
                        <m:sSubPr>
                          <m:ctrlPr>
                            <a:rPr lang="en-US" sz="2400">
                              <a:latin typeface="Cambria Math"/>
                            </a:rPr>
                          </m:ctrlPr>
                        </m:sSubPr>
                        <m:e>
                          <m:r>
                            <a:rPr lang="en-US" sz="2400">
                              <a:latin typeface="Cambria Math"/>
                            </a:rPr>
                            <m:t>𝑄</m:t>
                          </m:r>
                        </m:e>
                        <m:sub>
                          <m:r>
                            <a:rPr lang="en-US" sz="2400">
                              <a:latin typeface="Cambria Math"/>
                            </a:rPr>
                            <m:t>𝑔</m:t>
                          </m:r>
                          <m:r>
                            <a:rPr lang="en-US" sz="2400">
                              <a:latin typeface="Cambria Math"/>
                            </a:rPr>
                            <m:t>,</m:t>
                          </m:r>
                          <m:r>
                            <a:rPr lang="en-US" sz="2400">
                              <a:latin typeface="Cambria Math"/>
                            </a:rPr>
                            <m:t>𝑖</m:t>
                          </m:r>
                        </m:sub>
                      </m:sSub>
                      <m:r>
                        <a:rPr lang="en-US" sz="2400">
                          <a:latin typeface="Cambria Math"/>
                        </a:rPr>
                        <m:t> = −</m:t>
                      </m:r>
                      <m:f>
                        <m:fPr>
                          <m:ctrlPr>
                            <a:rPr lang="en-US" sz="2400">
                              <a:latin typeface="Cambria Math"/>
                            </a:rPr>
                          </m:ctrlPr>
                        </m:fPr>
                        <m:num>
                          <m:r>
                            <a:rPr lang="en-US" sz="2400">
                              <a:latin typeface="Cambria Math"/>
                            </a:rPr>
                            <m:t>𝜕</m:t>
                          </m:r>
                          <m:r>
                            <a:rPr lang="en-US" sz="2400">
                              <a:latin typeface="Cambria Math"/>
                            </a:rPr>
                            <m:t>𝑉</m:t>
                          </m:r>
                        </m:num>
                        <m:den>
                          <m:r>
                            <a:rPr lang="en-US" sz="2400">
                              <a:latin typeface="Cambria Math"/>
                            </a:rPr>
                            <m:t>𝜕</m:t>
                          </m:r>
                          <m:sSub>
                            <m:sSubPr>
                              <m:ctrlPr>
                                <a:rPr lang="en-US" sz="2400">
                                  <a:latin typeface="Cambria Math"/>
                                </a:rPr>
                              </m:ctrlPr>
                            </m:sSubPr>
                            <m:e>
                              <m:r>
                                <a:rPr lang="en-US" sz="2400">
                                  <a:latin typeface="Cambria Math"/>
                                </a:rPr>
                                <m:t>𝜃</m:t>
                              </m:r>
                            </m:e>
                            <m:sub>
                              <m:r>
                                <a:rPr lang="en-US" sz="2400">
                                  <a:latin typeface="Cambria Math"/>
                                </a:rPr>
                                <m:t>𝑖</m:t>
                              </m:r>
                            </m:sub>
                          </m:sSub>
                        </m:den>
                      </m:f>
                      <m:r>
                        <a:rPr lang="en-US" sz="2400">
                          <a:latin typeface="Cambria Math"/>
                        </a:rPr>
                        <m:t> = −</m:t>
                      </m:r>
                      <m:sSub>
                        <m:sSubPr>
                          <m:ctrlPr>
                            <a:rPr lang="en-US" sz="2400">
                              <a:latin typeface="Cambria Math"/>
                            </a:rPr>
                          </m:ctrlPr>
                        </m:sSubPr>
                        <m:e>
                          <m:r>
                            <a:rPr lang="en-US" sz="2400">
                              <a:latin typeface="Cambria Math"/>
                            </a:rPr>
                            <m:t>𝐺</m:t>
                          </m:r>
                        </m:e>
                        <m:sub>
                          <m:r>
                            <a:rPr lang="en-US" sz="2400">
                              <a:latin typeface="Cambria Math"/>
                            </a:rPr>
                            <m:t>𝑖</m:t>
                          </m:r>
                        </m:sub>
                      </m:sSub>
                      <m:r>
                        <a:rPr lang="en-US" sz="2400">
                          <a:latin typeface="Cambria Math"/>
                        </a:rPr>
                        <m:t> </m:t>
                      </m:r>
                      <m:r>
                        <a:rPr lang="en-US" sz="2400">
                          <a:latin typeface="Cambria Math"/>
                        </a:rPr>
                        <m:t>𝑠𝑖𝑛</m:t>
                      </m:r>
                      <m:r>
                        <a:rPr lang="en-US" sz="2400">
                          <a:latin typeface="Cambria Math"/>
                        </a:rPr>
                        <m:t> </m:t>
                      </m:r>
                      <m:sSub>
                        <m:sSubPr>
                          <m:ctrlPr>
                            <a:rPr lang="en-US" sz="2400">
                              <a:latin typeface="Cambria Math"/>
                            </a:rPr>
                          </m:ctrlPr>
                        </m:sSubPr>
                        <m:e>
                          <m:r>
                            <a:rPr lang="en-US" sz="2400">
                              <a:latin typeface="Cambria Math"/>
                            </a:rPr>
                            <m:t>𝜃</m:t>
                          </m:r>
                        </m:e>
                        <m:sub>
                          <m:r>
                            <a:rPr lang="en-US" sz="2400">
                              <a:latin typeface="Cambria Math"/>
                            </a:rPr>
                            <m:t>𝑖</m:t>
                          </m:r>
                        </m:sub>
                      </m:sSub>
                    </m:oMath>
                  </m:oMathPara>
                </a14:m>
                <a:endParaRPr lang="en-US" sz="2400"/>
              </a:p>
            </p:txBody>
          </p:sp>
        </mc:Choice>
        <mc:Fallback>
          <p:sp>
            <p:nvSpPr>
              <p:cNvPr id="3" name="EQ_gravtorque">
                <a:extLst>
                  <a:ext uri="{FF2B5EF4-FFF2-40B4-BE49-F238E27FC236}">
                    <a16:creationId xmlns:a16="http://schemas.microsoft.com/office/drawing/2014/main" id="{B55D975F-EE31-420E-B6DF-CDEB7BE0F8E1}"/>
                  </a:ext>
                </a:extLst>
              </p:cNvPr>
              <p:cNvSpPr>
                <a:spLocks noGrp="1" noRot="1" noChangeAspect="1" noMove="1" noResize="1" noEditPoints="1" noAdjustHandles="1" noChangeArrowheads="1" noChangeShapeType="1" noTextEdit="1"/>
              </p:cNvSpPr>
              <p:nvPr/>
            </p:nvSpPr>
            <p:spPr>
              <a:xfrm>
                <a:off x="666750" y="1666875"/>
                <a:ext cx="10858500" cy="647700"/>
              </a:xfrm>
              <a:prstGeom prst="rect">
                <a:avLst/>
              </a:prstGeom>
              <a:blipFill>
                <a:blip r:embed="rId3"/>
                <a:stretch>
                  <a:fillRect b="-23364"/>
                </a:stretch>
              </a:blipFill>
              <a:ln w="0">
                <a:noFill/>
              </a:ln>
            </p:spPr>
            <p:txBody>
              <a:bodyPr/>
              <a:lstStyle/>
              <a:p>
                <a:r>
                  <a:rPr lang="en-US">
                    <a:noFill/>
                  </a:rPr>
                  <a:t> </a:t>
                </a:r>
              </a:p>
            </p:txBody>
          </p:sp>
        </mc:Fallback>
      </mc:AlternateContent>
      <p:sp>
        <p:nvSpPr>
          <p:cNvPr id="4" name="body0">
            <a:extLst>
              <a:ext uri="{FF2B5EF4-FFF2-40B4-BE49-F238E27FC236}">
                <a16:creationId xmlns:a16="http://schemas.microsoft.com/office/drawing/2014/main" id="{C4070B44-7286-49CC-A8DE-7D84AF95553E}"/>
              </a:ext>
            </a:extLst>
          </p:cNvPr>
          <p:cNvSpPr>
            <a:spLocks noGrp="1"/>
          </p:cNvSpPr>
          <p:nvPr/>
        </p:nvSpPr>
        <p:spPr>
          <a:xfrm>
            <a:off x="666750" y="2447925"/>
            <a:ext cx="10858500" cy="971550"/>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Q</a:t>
            </a:r>
            <a:r>
              <a:rPr sz="1462" b="0" baseline="-25000">
                <a:solidFill>
                  <a:srgbClr val="202D3C"/>
                </a:solidFill>
                <a:latin typeface="Aptos"/>
                <a:ea typeface="Aptos"/>
                <a:cs typeface="Aptos"/>
              </a:rPr>
              <a:t>g,i</a:t>
            </a:r>
            <a:r>
              <a:rPr sz="1950" b="0">
                <a:solidFill>
                  <a:srgbClr val="202D3C"/>
                </a:solidFill>
                <a:latin typeface="Aptos"/>
                <a:ea typeface="Aptos"/>
                <a:cs typeface="Aptos"/>
              </a:rPr>
              <a:t> [N·m]: generalized gravitational torque associated with angle θᵢ, for i = 1 or 2. Subscript g denotes gravity.</a:t>
            </a:r>
          </a:p>
        </p:txBody>
      </p:sp>
      <p:sp>
        <p:nvSpPr>
          <p:cNvPr id="5" name="body1">
            <a:extLst>
              <a:ext uri="{FF2B5EF4-FFF2-40B4-BE49-F238E27FC236}">
                <a16:creationId xmlns:a16="http://schemas.microsoft.com/office/drawing/2014/main" id="{A99963D6-432A-460C-88E9-5EC9F8BFC536}"/>
              </a:ext>
            </a:extLst>
          </p:cNvPr>
          <p:cNvSpPr>
            <a:spLocks noGrp="1"/>
          </p:cNvSpPr>
          <p:nvPr/>
        </p:nvSpPr>
        <p:spPr>
          <a:xfrm>
            <a:off x="666750" y="3514725"/>
            <a:ext cx="10858500" cy="971550"/>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∂V/∂θᵢ means the change in potential energy per change of θᵢ while holding the other angle fixed.</a:t>
            </a:r>
          </a:p>
        </p:txBody>
      </p:sp>
      <p:sp>
        <p:nvSpPr>
          <p:cNvPr id="6" name="body2">
            <a:extLst>
              <a:ext uri="{FF2B5EF4-FFF2-40B4-BE49-F238E27FC236}">
                <a16:creationId xmlns:a16="http://schemas.microsoft.com/office/drawing/2014/main" id="{0181FC53-08AD-4A87-BD8F-444F6947E19C}"/>
              </a:ext>
            </a:extLst>
          </p:cNvPr>
          <p:cNvSpPr>
            <a:spLocks noGrp="1"/>
          </p:cNvSpPr>
          <p:nvPr/>
        </p:nvSpPr>
        <p:spPr>
          <a:xfrm>
            <a:off x="666750" y="4581525"/>
            <a:ext cx="10858500" cy="971550"/>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For a small positive angle, the negative sign means gravity acts to reduce that angle. Each Gᵢ includes the masses raised by that angle.</a:t>
            </a:r>
          </a:p>
        </p:txBody>
      </p:sp>
      <p:sp>
        <p:nvSpPr>
          <p:cNvPr id="7" name="page">
            <a:extLst>
              <a:ext uri="{FF2B5EF4-FFF2-40B4-BE49-F238E27FC236}">
                <a16:creationId xmlns:a16="http://schemas.microsoft.com/office/drawing/2014/main" id="{B3BAB857-5068-4E89-828E-3384A325B445}"/>
              </a:ext>
            </a:extLst>
          </p:cNvPr>
          <p:cNvSpPr>
            <a:spLocks noGrp="1"/>
          </p:cNvSpPr>
          <p:nvPr/>
        </p:nvSpPr>
        <p:spPr>
          <a:xfrm>
            <a:off x="11449050" y="6515100"/>
            <a:ext cx="333375" cy="190500"/>
          </a:xfrm>
          <a:prstGeom prst="rect">
            <a:avLst/>
          </a:prstGeom>
          <a:noFill/>
          <a:ln w="0">
            <a:noFill/>
          </a:ln>
        </p:spPr>
        <p:txBody>
          <a:bodyPr anchor="t">
            <a:noAutofit/>
          </a:bodyPr>
          <a:lstStyle/>
          <a:p>
            <a:pPr>
              <a:defRPr sz="1050" b="0">
                <a:solidFill>
                  <a:srgbClr val="6B7280"/>
                </a:solidFill>
                <a:latin typeface="Aptos"/>
                <a:ea typeface="Aptos"/>
                <a:cs typeface="Aptos"/>
              </a:defRPr>
            </a:pPr>
            <a:r>
              <a:rPr sz="1050" b="0">
                <a:solidFill>
                  <a:srgbClr val="6B7280"/>
                </a:solidFill>
                <a:latin typeface="Aptos"/>
                <a:ea typeface="Aptos"/>
                <a:cs typeface="Aptos"/>
              </a:rPr>
              <a:t>13</a:t>
            </a:r>
          </a:p>
        </p:txBody>
      </p:sp>
    </p:spTree>
    <p:extLst>
      <p:ext uri="{BB962C8B-B14F-4D97-AF65-F5344CB8AC3E}">
        <p14:creationId xmlns:p14="http://schemas.microsoft.com/office/powerpoint/2010/main" val="149568345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course">
            <a:extLst>
              <a:ext uri="{FF2B5EF4-FFF2-40B4-BE49-F238E27FC236}">
                <a16:creationId xmlns:a16="http://schemas.microsoft.com/office/drawing/2014/main" id="{DCB7BA30-2FB7-47F8-AF86-E36C21EBDF90}"/>
              </a:ext>
            </a:extLst>
          </p:cNvPr>
          <p:cNvSpPr>
            <a:spLocks noGrp="1"/>
          </p:cNvSpPr>
          <p:nvPr/>
        </p:nvSpPr>
        <p:spPr>
          <a:xfrm>
            <a:off x="495300" y="190500"/>
            <a:ext cx="8572500" cy="285750"/>
          </a:xfrm>
          <a:prstGeom prst="rect">
            <a:avLst/>
          </a:prstGeom>
          <a:noFill/>
          <a:ln w="0">
            <a:noFill/>
          </a:ln>
        </p:spPr>
        <p:txBody>
          <a:bodyPr anchor="t">
            <a:noAutofit/>
          </a:bodyPr>
          <a:lstStyle/>
          <a:p>
            <a:pPr>
              <a:defRPr sz="1275" b="1">
                <a:solidFill>
                  <a:srgbClr val="881C1C"/>
                </a:solidFill>
                <a:latin typeface="Aptos"/>
                <a:ea typeface="Aptos"/>
                <a:cs typeface="Aptos"/>
              </a:defRPr>
            </a:pPr>
            <a:r>
              <a:rPr sz="1275" b="1">
                <a:solidFill>
                  <a:srgbClr val="881C1C"/>
                </a:solidFill>
                <a:latin typeface="Aptos"/>
                <a:ea typeface="Aptos"/>
                <a:cs typeface="Aptos"/>
              </a:rPr>
              <a:t>MIE 402   ME LAB II</a:t>
            </a:r>
          </a:p>
        </p:txBody>
      </p:sp>
      <p:sp>
        <p:nvSpPr>
          <p:cNvPr id="2" name="title">
            <a:extLst>
              <a:ext uri="{FF2B5EF4-FFF2-40B4-BE49-F238E27FC236}">
                <a16:creationId xmlns:a16="http://schemas.microsoft.com/office/drawing/2014/main" id="{21F6FB54-CC06-4DD7-9657-359E860991BB}"/>
              </a:ext>
            </a:extLst>
          </p:cNvPr>
          <p:cNvSpPr>
            <a:spLocks noGrp="1"/>
          </p:cNvSpPr>
          <p:nvPr/>
        </p:nvSpPr>
        <p:spPr>
          <a:xfrm>
            <a:off x="495300" y="666750"/>
            <a:ext cx="11125200" cy="742950"/>
          </a:xfrm>
          <a:prstGeom prst="rect">
            <a:avLst/>
          </a:prstGeom>
          <a:noFill/>
          <a:ln w="0">
            <a:noFill/>
          </a:ln>
        </p:spPr>
        <p:txBody>
          <a:bodyPr anchor="t">
            <a:noAutofit/>
          </a:bodyPr>
          <a:lstStyle/>
          <a:p>
            <a:pPr>
              <a:defRPr sz="2925" b="1">
                <a:solidFill>
                  <a:srgbClr val="152437"/>
                </a:solidFill>
                <a:latin typeface="Aptos"/>
                <a:ea typeface="Aptos"/>
                <a:cs typeface="Aptos"/>
              </a:defRPr>
            </a:pPr>
            <a:r>
              <a:rPr sz="2925" b="1">
                <a:solidFill>
                  <a:srgbClr val="152437"/>
                </a:solidFill>
                <a:latin typeface="Aptos"/>
                <a:ea typeface="Aptos"/>
                <a:cs typeface="Aptos"/>
              </a:rPr>
              <a:t>Speed and angle symbols in the bob energy</a:t>
            </a:r>
          </a:p>
        </p:txBody>
      </p:sp>
      <p:sp>
        <p:nvSpPr>
          <p:cNvPr id="3" name="body0">
            <a:extLst>
              <a:ext uri="{FF2B5EF4-FFF2-40B4-BE49-F238E27FC236}">
                <a16:creationId xmlns:a16="http://schemas.microsoft.com/office/drawing/2014/main" id="{8CB3474A-FFF2-409C-A43B-B823D6EAFF60}"/>
              </a:ext>
            </a:extLst>
          </p:cNvPr>
          <p:cNvSpPr>
            <a:spLocks noGrp="1"/>
          </p:cNvSpPr>
          <p:nvPr/>
        </p:nvSpPr>
        <p:spPr>
          <a:xfrm>
            <a:off x="666750" y="1666875"/>
            <a:ext cx="10858500" cy="971550"/>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v₁ and v₂ [m/s]: magnitudes of the translational velocities of bob 1 and bob 2, measured relative to the fixed laboratory.</a:t>
            </a:r>
          </a:p>
        </p:txBody>
      </p:sp>
      <p:sp>
        <p:nvSpPr>
          <p:cNvPr id="4" name="body1">
            <a:extLst>
              <a:ext uri="{FF2B5EF4-FFF2-40B4-BE49-F238E27FC236}">
                <a16:creationId xmlns:a16="http://schemas.microsoft.com/office/drawing/2014/main" id="{42E1D3DA-2B01-4807-8D68-7FA227003761}"/>
              </a:ext>
            </a:extLst>
          </p:cNvPr>
          <p:cNvSpPr>
            <a:spLocks noGrp="1"/>
          </p:cNvSpPr>
          <p:nvPr/>
        </p:nvSpPr>
        <p:spPr>
          <a:xfrm>
            <a:off x="666750" y="2733675"/>
            <a:ext cx="10858500" cy="971550"/>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T</a:t>
            </a:r>
            <a:r>
              <a:rPr sz="1462" b="0" baseline="-25000">
                <a:solidFill>
                  <a:srgbClr val="202D3C"/>
                </a:solidFill>
                <a:latin typeface="Aptos"/>
                <a:ea typeface="Aptos"/>
                <a:cs typeface="Aptos"/>
              </a:rPr>
              <a:t>bob 1</a:t>
            </a:r>
            <a:r>
              <a:rPr sz="1950" b="0">
                <a:solidFill>
                  <a:srgbClr val="202D3C"/>
                </a:solidFill>
                <a:latin typeface="Aptos"/>
                <a:ea typeface="Aptos"/>
                <a:cs typeface="Aptos"/>
              </a:rPr>
              <a:t> [J]: kinetic energy of bob 1. In the generic point-mass formula T = ½Mv², M is that point’s mass [kg] and v is its speed [m/s].</a:t>
            </a:r>
          </a:p>
        </p:txBody>
      </p:sp>
      <p:sp>
        <p:nvSpPr>
          <p:cNvPr id="5" name="body2">
            <a:extLst>
              <a:ext uri="{FF2B5EF4-FFF2-40B4-BE49-F238E27FC236}">
                <a16:creationId xmlns:a16="http://schemas.microsoft.com/office/drawing/2014/main" id="{59B4FE54-0756-47B8-8E63-FBE926B2211A}"/>
              </a:ext>
            </a:extLst>
          </p:cNvPr>
          <p:cNvSpPr>
            <a:spLocks noGrp="1"/>
          </p:cNvSpPr>
          <p:nvPr/>
        </p:nvSpPr>
        <p:spPr>
          <a:xfrm>
            <a:off x="666750" y="3800475"/>
            <a:ext cx="10858500" cy="971550"/>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Δ = θ₁ − θ₂ [rad]: difference between the two absolute link angles. It determines the angle between the two velocity contributions.</a:t>
            </a:r>
          </a:p>
        </p:txBody>
      </p:sp>
      <p:sp>
        <p:nvSpPr>
          <p:cNvPr id="6" name="body3">
            <a:extLst>
              <a:ext uri="{FF2B5EF4-FFF2-40B4-BE49-F238E27FC236}">
                <a16:creationId xmlns:a16="http://schemas.microsoft.com/office/drawing/2014/main" id="{BB3F1F03-6349-45EB-80FE-488E4B839046}"/>
              </a:ext>
            </a:extLst>
          </p:cNvPr>
          <p:cNvSpPr>
            <a:spLocks noGrp="1"/>
          </p:cNvSpPr>
          <p:nvPr/>
        </p:nvSpPr>
        <p:spPr>
          <a:xfrm>
            <a:off x="666750" y="4867275"/>
            <a:ext cx="10858500" cy="971550"/>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ω₁ and ω₂ are signed angular velocities [rad/s]. Multiplying a link length by angular velocity gives a tangential velocity contribution.</a:t>
            </a:r>
          </a:p>
        </p:txBody>
      </p:sp>
      <p:sp>
        <p:nvSpPr>
          <p:cNvPr id="7" name="page">
            <a:extLst>
              <a:ext uri="{FF2B5EF4-FFF2-40B4-BE49-F238E27FC236}">
                <a16:creationId xmlns:a16="http://schemas.microsoft.com/office/drawing/2014/main" id="{30917877-AA90-4D7D-91E1-CE59316D09A5}"/>
              </a:ext>
            </a:extLst>
          </p:cNvPr>
          <p:cNvSpPr>
            <a:spLocks noGrp="1"/>
          </p:cNvSpPr>
          <p:nvPr/>
        </p:nvSpPr>
        <p:spPr>
          <a:xfrm>
            <a:off x="11449050" y="6515100"/>
            <a:ext cx="333375" cy="190500"/>
          </a:xfrm>
          <a:prstGeom prst="rect">
            <a:avLst/>
          </a:prstGeom>
          <a:noFill/>
          <a:ln w="0">
            <a:noFill/>
          </a:ln>
        </p:spPr>
        <p:txBody>
          <a:bodyPr anchor="t">
            <a:noAutofit/>
          </a:bodyPr>
          <a:lstStyle/>
          <a:p>
            <a:pPr>
              <a:defRPr sz="1050" b="0">
                <a:solidFill>
                  <a:srgbClr val="6B7280"/>
                </a:solidFill>
                <a:latin typeface="Aptos"/>
                <a:ea typeface="Aptos"/>
                <a:cs typeface="Aptos"/>
              </a:defRPr>
            </a:pPr>
            <a:r>
              <a:rPr sz="1050" b="0">
                <a:solidFill>
                  <a:srgbClr val="6B7280"/>
                </a:solidFill>
                <a:latin typeface="Aptos"/>
                <a:ea typeface="Aptos"/>
                <a:cs typeface="Aptos"/>
              </a:rPr>
              <a:t>14</a:t>
            </a:r>
          </a:p>
        </p:txBody>
      </p:sp>
    </p:spTree>
    <p:extLst>
      <p:ext uri="{BB962C8B-B14F-4D97-AF65-F5344CB8AC3E}">
        <p14:creationId xmlns:p14="http://schemas.microsoft.com/office/powerpoint/2010/main" val="20448139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course">
            <a:extLst>
              <a:ext uri="{FF2B5EF4-FFF2-40B4-BE49-F238E27FC236}">
                <a16:creationId xmlns:a16="http://schemas.microsoft.com/office/drawing/2014/main" id="{2375E283-B8CC-4FAC-B4B9-5758A325D050}"/>
              </a:ext>
            </a:extLst>
          </p:cNvPr>
          <p:cNvSpPr>
            <a:spLocks noGrp="1"/>
          </p:cNvSpPr>
          <p:nvPr/>
        </p:nvSpPr>
        <p:spPr>
          <a:xfrm>
            <a:off x="495300" y="190500"/>
            <a:ext cx="8572500" cy="285750"/>
          </a:xfrm>
          <a:prstGeom prst="rect">
            <a:avLst/>
          </a:prstGeom>
          <a:noFill/>
          <a:ln w="0">
            <a:noFill/>
          </a:ln>
        </p:spPr>
        <p:txBody>
          <a:bodyPr anchor="t">
            <a:noAutofit/>
          </a:bodyPr>
          <a:lstStyle/>
          <a:p>
            <a:pPr>
              <a:defRPr sz="1275" b="1">
                <a:solidFill>
                  <a:srgbClr val="881C1C"/>
                </a:solidFill>
                <a:latin typeface="Aptos"/>
                <a:ea typeface="Aptos"/>
                <a:cs typeface="Aptos"/>
              </a:defRPr>
            </a:pPr>
            <a:r>
              <a:rPr sz="1275" b="1">
                <a:solidFill>
                  <a:srgbClr val="881C1C"/>
                </a:solidFill>
                <a:latin typeface="Aptos"/>
                <a:ea typeface="Aptos"/>
                <a:cs typeface="Aptos"/>
              </a:rPr>
              <a:t>MIE 402   ME LAB II</a:t>
            </a:r>
          </a:p>
        </p:txBody>
      </p:sp>
      <p:sp>
        <p:nvSpPr>
          <p:cNvPr id="2" name="title">
            <a:extLst>
              <a:ext uri="{FF2B5EF4-FFF2-40B4-BE49-F238E27FC236}">
                <a16:creationId xmlns:a16="http://schemas.microsoft.com/office/drawing/2014/main" id="{18E057B0-29B4-4BE7-BBAF-CB565AC65205}"/>
              </a:ext>
            </a:extLst>
          </p:cNvPr>
          <p:cNvSpPr>
            <a:spLocks noGrp="1"/>
          </p:cNvSpPr>
          <p:nvPr/>
        </p:nvSpPr>
        <p:spPr>
          <a:xfrm>
            <a:off x="495300" y="666750"/>
            <a:ext cx="11125200" cy="742950"/>
          </a:xfrm>
          <a:prstGeom prst="rect">
            <a:avLst/>
          </a:prstGeom>
          <a:noFill/>
          <a:ln w="0">
            <a:noFill/>
          </a:ln>
        </p:spPr>
        <p:txBody>
          <a:bodyPr anchor="t">
            <a:noAutofit/>
          </a:bodyPr>
          <a:lstStyle/>
          <a:p>
            <a:pPr>
              <a:defRPr sz="2925" b="1">
                <a:solidFill>
                  <a:srgbClr val="152437"/>
                </a:solidFill>
                <a:latin typeface="Aptos"/>
                <a:ea typeface="Aptos"/>
                <a:cs typeface="Aptos"/>
              </a:defRPr>
            </a:pPr>
            <a:r>
              <a:rPr sz="2925" b="1">
                <a:solidFill>
                  <a:srgbClr val="152437"/>
                </a:solidFill>
                <a:latin typeface="Aptos"/>
                <a:ea typeface="Aptos"/>
                <a:cs typeface="Aptos"/>
              </a:rPr>
              <a:t>Kinetic energy of a moving bob</a:t>
            </a:r>
          </a:p>
        </p:txBody>
      </p:sp>
      <mc:AlternateContent xmlns:mc="http://schemas.openxmlformats.org/markup-compatibility/2006">
        <mc:Choice xmlns:a14="http://schemas.microsoft.com/office/drawing/2010/main" Requires="a14">
          <p:sp>
            <p:nvSpPr>
              <p:cNvPr id="3" name="EQ_bobkinetic">
                <a:extLst>
                  <a:ext uri="{FF2B5EF4-FFF2-40B4-BE49-F238E27FC236}">
                    <a16:creationId xmlns:a16="http://schemas.microsoft.com/office/drawing/2014/main" id="{10D83C43-EA7B-476C-8DC7-7B6DB009873C}"/>
                  </a:ext>
                </a:extLst>
              </p:cNvPr>
              <p:cNvSpPr>
                <a:spLocks noGrp="1"/>
              </p:cNvSpPr>
              <p:nvPr/>
            </p:nvSpPr>
            <p:spPr>
              <a:xfrm>
                <a:off x="666750" y="1666875"/>
                <a:ext cx="10858500" cy="647700"/>
              </a:xfrm>
              <a:prstGeom prst="rect">
                <a:avLst/>
              </a:prstGeom>
              <a:noFill/>
              <a:ln w="0">
                <a:noFill/>
              </a:ln>
            </p:spPr>
            <p:txBody>
              <a:bodyPr anchor="t">
                <a:noAutofit/>
              </a:bodyPr>
              <a:lstStyle/>
              <a:p>
                <a:pPr algn="l"/>
                <a14:m>
                  <m:oMathPara xmlns:m="http://schemas.openxmlformats.org/officeDocument/2006/math">
                    <m:oMathParaPr>
                      <m:jc m:val="left"/>
                    </m:oMathParaPr>
                    <m:oMath>
                      <m:sSub>
                        <m:sSubPr>
                          <m:ctrlPr>
                            <a:rPr lang="en-US" sz="2400">
                              <a:latin typeface="Cambria Math"/>
                            </a:rPr>
                          </m:ctrlPr>
                        </m:sSubPr>
                        <m:e>
                          <m:r>
                            <a:rPr lang="en-US" sz="2400">
                              <a:latin typeface="Cambria Math"/>
                            </a:rPr>
                            <m:t>𝑇</m:t>
                          </m:r>
                        </m:e>
                        <m:sub>
                          <m:r>
                            <a:rPr lang="en-US" sz="2400">
                              <a:latin typeface="Cambria Math"/>
                            </a:rPr>
                            <m:t>𝑏𝑜𝑏</m:t>
                          </m:r>
                          <m:r>
                            <a:rPr lang="en-US" sz="2400">
                              <a:latin typeface="Cambria Math"/>
                            </a:rPr>
                            <m:t> 1</m:t>
                          </m:r>
                        </m:sub>
                      </m:sSub>
                      <m:r>
                        <a:rPr lang="en-US" sz="2400">
                          <a:latin typeface="Cambria Math"/>
                        </a:rPr>
                        <m:t> = </m:t>
                      </m:r>
                      <m:f>
                        <m:fPr>
                          <m:ctrlPr>
                            <a:rPr lang="en-US" sz="2400">
                              <a:latin typeface="Cambria Math"/>
                            </a:rPr>
                          </m:ctrlPr>
                        </m:fPr>
                        <m:num>
                          <m:r>
                            <a:rPr lang="en-US" sz="2400">
                              <a:latin typeface="Cambria Math"/>
                            </a:rPr>
                            <m:t>1</m:t>
                          </m:r>
                        </m:num>
                        <m:den>
                          <m:r>
                            <a:rPr lang="en-US" sz="2400">
                              <a:latin typeface="Cambria Math"/>
                            </a:rPr>
                            <m:t>2</m:t>
                          </m:r>
                        </m:den>
                      </m:f>
                      <m:sSub>
                        <m:sSubPr>
                          <m:ctrlPr>
                            <a:rPr lang="en-US" sz="2400">
                              <a:latin typeface="Cambria Math"/>
                            </a:rPr>
                          </m:ctrlPr>
                        </m:sSubPr>
                        <m:e>
                          <m:r>
                            <a:rPr lang="en-US" sz="2400">
                              <a:latin typeface="Cambria Math"/>
                            </a:rPr>
                            <m:t>𝑀</m:t>
                          </m:r>
                        </m:e>
                        <m:sub>
                          <m:r>
                            <a:rPr lang="en-US" sz="2400">
                              <a:latin typeface="Cambria Math"/>
                            </a:rPr>
                            <m:t>1</m:t>
                          </m:r>
                        </m:sub>
                      </m:sSub>
                      <m:sSup>
                        <m:sSupPr>
                          <m:ctrlPr>
                            <a:rPr lang="en-US" sz="2400" i="1">
                              <a:latin typeface="Cambria Math" panose="02040503050406030204" pitchFamily="18" charset="0"/>
                            </a:rPr>
                          </m:ctrlPr>
                        </m:sSupPr>
                        <m:e>
                          <m:sSub>
                            <m:sSubPr>
                              <m:ctrlPr>
                                <a:rPr lang="en-US" sz="2400">
                                  <a:latin typeface="Cambria Math"/>
                                </a:rPr>
                              </m:ctrlPr>
                            </m:sSubPr>
                            <m:e>
                              <m:r>
                                <a:rPr lang="en-US" sz="2400">
                                  <a:latin typeface="Cambria Math"/>
                                </a:rPr>
                                <m:t>𝐿</m:t>
                              </m:r>
                            </m:e>
                            <m:sub>
                              <m:r>
                                <a:rPr lang="en-US" sz="2400">
                                  <a:latin typeface="Cambria Math"/>
                                </a:rPr>
                                <m:t>1</m:t>
                              </m:r>
                            </m:sub>
                          </m:sSub>
                        </m:e>
                        <m:sup>
                          <m:r>
                            <a:rPr lang="en-US" sz="2400">
                              <a:latin typeface="Cambria Math"/>
                            </a:rPr>
                            <m:t>2</m:t>
                          </m:r>
                        </m:sup>
                      </m:sSup>
                      <m:sSup>
                        <m:sSupPr>
                          <m:ctrlPr>
                            <a:rPr lang="en-US" sz="2400" i="1">
                              <a:latin typeface="Cambria Math" panose="02040503050406030204" pitchFamily="18" charset="0"/>
                            </a:rPr>
                          </m:ctrlPr>
                        </m:sSupPr>
                        <m:e>
                          <m:sSub>
                            <m:sSubPr>
                              <m:ctrlPr>
                                <a:rPr lang="en-US" sz="2400">
                                  <a:latin typeface="Cambria Math"/>
                                </a:rPr>
                              </m:ctrlPr>
                            </m:sSubPr>
                            <m:e>
                              <m:r>
                                <a:rPr lang="en-US" sz="2400">
                                  <a:latin typeface="Cambria Math"/>
                                </a:rPr>
                                <m:t>𝜔</m:t>
                              </m:r>
                            </m:e>
                            <m:sub>
                              <m:r>
                                <a:rPr lang="en-US" sz="2400">
                                  <a:latin typeface="Cambria Math"/>
                                </a:rPr>
                                <m:t>1</m:t>
                              </m:r>
                            </m:sub>
                          </m:sSub>
                        </m:e>
                        <m:sup>
                          <m:r>
                            <a:rPr lang="en-US" sz="2400">
                              <a:latin typeface="Cambria Math"/>
                            </a:rPr>
                            <m:t>2</m:t>
                          </m:r>
                        </m:sup>
                      </m:sSup>
                    </m:oMath>
                  </m:oMathPara>
                </a14:m>
                <a:endParaRPr lang="en-US" sz="2400"/>
              </a:p>
            </p:txBody>
          </p:sp>
        </mc:Choice>
        <mc:Fallback>
          <p:sp>
            <p:nvSpPr>
              <p:cNvPr id="3" name="EQ_bobkinetic">
                <a:extLst>
                  <a:ext uri="{FF2B5EF4-FFF2-40B4-BE49-F238E27FC236}">
                    <a16:creationId xmlns:a16="http://schemas.microsoft.com/office/drawing/2014/main" id="{10D83C43-EA7B-476C-8DC7-7B6DB009873C}"/>
                  </a:ext>
                </a:extLst>
              </p:cNvPr>
              <p:cNvSpPr>
                <a:spLocks noGrp="1" noRot="1" noChangeAspect="1" noMove="1" noResize="1" noEditPoints="1" noAdjustHandles="1" noChangeArrowheads="1" noChangeShapeType="1" noTextEdit="1"/>
              </p:cNvSpPr>
              <p:nvPr/>
            </p:nvSpPr>
            <p:spPr>
              <a:xfrm>
                <a:off x="666750" y="1666875"/>
                <a:ext cx="10858500" cy="647700"/>
              </a:xfrm>
              <a:prstGeom prst="rect">
                <a:avLst/>
              </a:prstGeom>
              <a:blipFill>
                <a:blip r:embed="rId3"/>
                <a:stretch>
                  <a:fillRect b="-12150"/>
                </a:stretch>
              </a:blipFill>
              <a:ln w="0">
                <a:no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 name="EQ_v2">
                <a:extLst>
                  <a:ext uri="{FF2B5EF4-FFF2-40B4-BE49-F238E27FC236}">
                    <a16:creationId xmlns:a16="http://schemas.microsoft.com/office/drawing/2014/main" id="{3C021EF8-215C-43E0-9EC1-513977613BEB}"/>
                  </a:ext>
                </a:extLst>
              </p:cNvPr>
              <p:cNvSpPr>
                <a:spLocks noGrp="1"/>
              </p:cNvSpPr>
              <p:nvPr/>
            </p:nvSpPr>
            <p:spPr>
              <a:xfrm>
                <a:off x="666750" y="2447925"/>
                <a:ext cx="10858500" cy="819150"/>
              </a:xfrm>
              <a:prstGeom prst="rect">
                <a:avLst/>
              </a:prstGeom>
              <a:noFill/>
              <a:ln w="0">
                <a:noFill/>
              </a:ln>
            </p:spPr>
            <p:txBody>
              <a:bodyPr anchor="t">
                <a:noAutofit/>
              </a:bodyPr>
              <a:lstStyle/>
              <a:p>
                <a:pPr algn="l"/>
                <a14:m>
                  <m:oMathPara xmlns:m="http://schemas.openxmlformats.org/officeDocument/2006/math">
                    <m:oMathParaPr>
                      <m:jc m:val="left"/>
                    </m:oMathParaPr>
                    <m:oMath>
                      <m:sSup>
                        <m:sSupPr>
                          <m:ctrlPr>
                            <a:rPr lang="en-US" sz="2400">
                              <a:latin typeface="Cambria Math" panose="02040503050406030204" pitchFamily="18" charset="0"/>
                            </a:rPr>
                          </m:ctrlPr>
                        </m:sSupPr>
                        <m:e>
                          <m:sSub>
                            <m:sSubPr>
                              <m:ctrlPr>
                                <a:rPr lang="en-US" sz="2400">
                                  <a:latin typeface="Cambria Math"/>
                                </a:rPr>
                              </m:ctrlPr>
                            </m:sSubPr>
                            <m:e>
                              <m:r>
                                <a:rPr lang="en-US" sz="2400">
                                  <a:latin typeface="Cambria Math"/>
                                </a:rPr>
                                <m:t>𝑣</m:t>
                              </m:r>
                            </m:e>
                            <m:sub>
                              <m:r>
                                <a:rPr lang="en-US" sz="2400">
                                  <a:latin typeface="Cambria Math"/>
                                </a:rPr>
                                <m:t>2</m:t>
                              </m:r>
                            </m:sub>
                          </m:sSub>
                        </m:e>
                        <m:sup>
                          <m:r>
                            <a:rPr lang="en-US" sz="2400">
                              <a:latin typeface="Cambria Math"/>
                            </a:rPr>
                            <m:t>2</m:t>
                          </m:r>
                        </m:sup>
                      </m:sSup>
                      <m:r>
                        <a:rPr lang="en-US" sz="2400">
                          <a:latin typeface="Cambria Math"/>
                        </a:rPr>
                        <m:t> = </m:t>
                      </m:r>
                      <m:sSup>
                        <m:sSupPr>
                          <m:ctrlPr>
                            <a:rPr lang="en-US" sz="2400" i="1">
                              <a:latin typeface="Cambria Math" panose="02040503050406030204" pitchFamily="18" charset="0"/>
                            </a:rPr>
                          </m:ctrlPr>
                        </m:sSupPr>
                        <m:e>
                          <m:sSub>
                            <m:sSubPr>
                              <m:ctrlPr>
                                <a:rPr lang="en-US" sz="2400">
                                  <a:latin typeface="Cambria Math"/>
                                </a:rPr>
                              </m:ctrlPr>
                            </m:sSubPr>
                            <m:e>
                              <m:r>
                                <a:rPr lang="en-US" sz="2400">
                                  <a:latin typeface="Cambria Math"/>
                                </a:rPr>
                                <m:t>𝐿</m:t>
                              </m:r>
                            </m:e>
                            <m:sub>
                              <m:r>
                                <a:rPr lang="en-US" sz="2400">
                                  <a:latin typeface="Cambria Math"/>
                                </a:rPr>
                                <m:t>1</m:t>
                              </m:r>
                            </m:sub>
                          </m:sSub>
                        </m:e>
                        <m:sup>
                          <m:r>
                            <a:rPr lang="en-US" sz="2400">
                              <a:latin typeface="Cambria Math"/>
                            </a:rPr>
                            <m:t>2</m:t>
                          </m:r>
                        </m:sup>
                      </m:sSup>
                      <m:sSup>
                        <m:sSupPr>
                          <m:ctrlPr>
                            <a:rPr lang="en-US" sz="2400" i="1">
                              <a:latin typeface="Cambria Math" panose="02040503050406030204" pitchFamily="18" charset="0"/>
                            </a:rPr>
                          </m:ctrlPr>
                        </m:sSupPr>
                        <m:e>
                          <m:sSub>
                            <m:sSubPr>
                              <m:ctrlPr>
                                <a:rPr lang="en-US" sz="2400">
                                  <a:latin typeface="Cambria Math"/>
                                </a:rPr>
                              </m:ctrlPr>
                            </m:sSubPr>
                            <m:e>
                              <m:r>
                                <a:rPr lang="en-US" sz="2400">
                                  <a:latin typeface="Cambria Math"/>
                                </a:rPr>
                                <m:t>𝜔</m:t>
                              </m:r>
                            </m:e>
                            <m:sub>
                              <m:r>
                                <a:rPr lang="en-US" sz="2400">
                                  <a:latin typeface="Cambria Math"/>
                                </a:rPr>
                                <m:t>1</m:t>
                              </m:r>
                            </m:sub>
                          </m:sSub>
                        </m:e>
                        <m:sup>
                          <m:r>
                            <a:rPr lang="en-US" sz="2400">
                              <a:latin typeface="Cambria Math"/>
                            </a:rPr>
                            <m:t>2</m:t>
                          </m:r>
                        </m:sup>
                      </m:sSup>
                      <m:r>
                        <a:rPr lang="en-US" sz="2400">
                          <a:latin typeface="Cambria Math"/>
                        </a:rPr>
                        <m:t> + </m:t>
                      </m:r>
                      <m:sSup>
                        <m:sSupPr>
                          <m:ctrlPr>
                            <a:rPr lang="en-US" sz="2400" i="1">
                              <a:latin typeface="Cambria Math" panose="02040503050406030204" pitchFamily="18" charset="0"/>
                            </a:rPr>
                          </m:ctrlPr>
                        </m:sSupPr>
                        <m:e>
                          <m:sSub>
                            <m:sSubPr>
                              <m:ctrlPr>
                                <a:rPr lang="en-US" sz="2400">
                                  <a:latin typeface="Cambria Math"/>
                                </a:rPr>
                              </m:ctrlPr>
                            </m:sSubPr>
                            <m:e>
                              <m:r>
                                <a:rPr lang="en-US" sz="2400">
                                  <a:latin typeface="Cambria Math"/>
                                </a:rPr>
                                <m:t>𝐿</m:t>
                              </m:r>
                            </m:e>
                            <m:sub>
                              <m:r>
                                <a:rPr lang="en-US" sz="2400">
                                  <a:latin typeface="Cambria Math"/>
                                </a:rPr>
                                <m:t>2</m:t>
                              </m:r>
                            </m:sub>
                          </m:sSub>
                        </m:e>
                        <m:sup>
                          <m:r>
                            <a:rPr lang="en-US" sz="2400">
                              <a:latin typeface="Cambria Math"/>
                            </a:rPr>
                            <m:t>2</m:t>
                          </m:r>
                        </m:sup>
                      </m:sSup>
                      <m:sSup>
                        <m:sSupPr>
                          <m:ctrlPr>
                            <a:rPr lang="en-US" sz="2400" i="1">
                              <a:latin typeface="Cambria Math" panose="02040503050406030204" pitchFamily="18" charset="0"/>
                            </a:rPr>
                          </m:ctrlPr>
                        </m:sSupPr>
                        <m:e>
                          <m:sSub>
                            <m:sSubPr>
                              <m:ctrlPr>
                                <a:rPr lang="en-US" sz="2400">
                                  <a:latin typeface="Cambria Math"/>
                                </a:rPr>
                              </m:ctrlPr>
                            </m:sSubPr>
                            <m:e>
                              <m:r>
                                <a:rPr lang="en-US" sz="2400">
                                  <a:latin typeface="Cambria Math"/>
                                </a:rPr>
                                <m:t>𝜔</m:t>
                              </m:r>
                            </m:e>
                            <m:sub>
                              <m:r>
                                <a:rPr lang="en-US" sz="2400">
                                  <a:latin typeface="Cambria Math"/>
                                </a:rPr>
                                <m:t>2</m:t>
                              </m:r>
                            </m:sub>
                          </m:sSub>
                        </m:e>
                        <m:sup>
                          <m:r>
                            <a:rPr lang="en-US" sz="2400">
                              <a:latin typeface="Cambria Math"/>
                            </a:rPr>
                            <m:t>2</m:t>
                          </m:r>
                        </m:sup>
                      </m:sSup>
                      <m:r>
                        <a:rPr lang="en-US" sz="2400">
                          <a:latin typeface="Cambria Math"/>
                        </a:rPr>
                        <m:t> + 2</m:t>
                      </m:r>
                      <m:sSub>
                        <m:sSubPr>
                          <m:ctrlPr>
                            <a:rPr lang="en-US" sz="2400">
                              <a:latin typeface="Cambria Math"/>
                            </a:rPr>
                          </m:ctrlPr>
                        </m:sSubPr>
                        <m:e>
                          <m:r>
                            <a:rPr lang="en-US" sz="2400">
                              <a:latin typeface="Cambria Math"/>
                            </a:rPr>
                            <m:t>𝐿</m:t>
                          </m:r>
                        </m:e>
                        <m:sub>
                          <m:r>
                            <a:rPr lang="en-US" sz="2400">
                              <a:latin typeface="Cambria Math"/>
                            </a:rPr>
                            <m:t>1</m:t>
                          </m:r>
                        </m:sub>
                      </m:sSub>
                      <m:sSub>
                        <m:sSubPr>
                          <m:ctrlPr>
                            <a:rPr lang="en-US" sz="2400">
                              <a:latin typeface="Cambria Math"/>
                            </a:rPr>
                          </m:ctrlPr>
                        </m:sSubPr>
                        <m:e>
                          <m:r>
                            <a:rPr lang="en-US" sz="2400">
                              <a:latin typeface="Cambria Math"/>
                            </a:rPr>
                            <m:t>𝐿</m:t>
                          </m:r>
                        </m:e>
                        <m:sub>
                          <m:r>
                            <a:rPr lang="en-US" sz="2400">
                              <a:latin typeface="Cambria Math"/>
                            </a:rPr>
                            <m:t>2</m:t>
                          </m:r>
                        </m:sub>
                      </m:sSub>
                      <m:sSub>
                        <m:sSubPr>
                          <m:ctrlPr>
                            <a:rPr lang="en-US" sz="2400">
                              <a:latin typeface="Cambria Math"/>
                            </a:rPr>
                          </m:ctrlPr>
                        </m:sSubPr>
                        <m:e>
                          <m:r>
                            <a:rPr lang="en-US" sz="2400">
                              <a:latin typeface="Cambria Math"/>
                            </a:rPr>
                            <m:t>𝜔</m:t>
                          </m:r>
                        </m:e>
                        <m:sub>
                          <m:r>
                            <a:rPr lang="en-US" sz="2400">
                              <a:latin typeface="Cambria Math"/>
                            </a:rPr>
                            <m:t>1</m:t>
                          </m:r>
                        </m:sub>
                      </m:sSub>
                      <m:sSub>
                        <m:sSubPr>
                          <m:ctrlPr>
                            <a:rPr lang="en-US" sz="2400">
                              <a:latin typeface="Cambria Math"/>
                            </a:rPr>
                          </m:ctrlPr>
                        </m:sSubPr>
                        <m:e>
                          <m:r>
                            <a:rPr lang="en-US" sz="2400">
                              <a:latin typeface="Cambria Math"/>
                            </a:rPr>
                            <m:t>𝜔</m:t>
                          </m:r>
                        </m:e>
                        <m:sub>
                          <m:r>
                            <a:rPr lang="en-US" sz="2400">
                              <a:latin typeface="Cambria Math"/>
                            </a:rPr>
                            <m:t>2</m:t>
                          </m:r>
                        </m:sub>
                      </m:sSub>
                      <m:r>
                        <a:rPr lang="en-US" sz="2400">
                          <a:latin typeface="Cambria Math"/>
                        </a:rPr>
                        <m:t> </m:t>
                      </m:r>
                      <m:r>
                        <a:rPr lang="en-US" sz="2400">
                          <a:latin typeface="Cambria Math"/>
                        </a:rPr>
                        <m:t>𝑐𝑜𝑠</m:t>
                      </m:r>
                      <m:r>
                        <a:rPr lang="en-US" sz="2400">
                          <a:latin typeface="Cambria Math"/>
                        </a:rPr>
                        <m:t> </m:t>
                      </m:r>
                      <m:r>
                        <a:rPr lang="en-US" sz="2400">
                          <a:latin typeface="Cambria Math"/>
                        </a:rPr>
                        <m:t>𝛥</m:t>
                      </m:r>
                    </m:oMath>
                  </m:oMathPara>
                </a14:m>
                <a:endParaRPr lang="en-US" sz="2400"/>
              </a:p>
            </p:txBody>
          </p:sp>
        </mc:Choice>
        <mc:Fallback>
          <p:sp>
            <p:nvSpPr>
              <p:cNvPr id="4" name="EQ_v2">
                <a:extLst>
                  <a:ext uri="{FF2B5EF4-FFF2-40B4-BE49-F238E27FC236}">
                    <a16:creationId xmlns:a16="http://schemas.microsoft.com/office/drawing/2014/main" id="{3C021EF8-215C-43E0-9EC1-513977613BEB}"/>
                  </a:ext>
                </a:extLst>
              </p:cNvPr>
              <p:cNvSpPr>
                <a:spLocks noGrp="1" noRot="1" noChangeAspect="1" noMove="1" noResize="1" noEditPoints="1" noAdjustHandles="1" noChangeArrowheads="1" noChangeShapeType="1" noTextEdit="1"/>
              </p:cNvSpPr>
              <p:nvPr/>
            </p:nvSpPr>
            <p:spPr>
              <a:xfrm>
                <a:off x="666750" y="2447925"/>
                <a:ext cx="10858500" cy="819150"/>
              </a:xfrm>
              <a:prstGeom prst="rect">
                <a:avLst/>
              </a:prstGeom>
              <a:blipFill>
                <a:blip r:embed="rId4"/>
                <a:stretch>
                  <a:fillRect/>
                </a:stretch>
              </a:blipFill>
              <a:ln w="0">
                <a:noFill/>
              </a:ln>
            </p:spPr>
            <p:txBody>
              <a:bodyPr/>
              <a:lstStyle/>
              <a:p>
                <a:r>
                  <a:rPr lang="en-US">
                    <a:noFill/>
                  </a:rPr>
                  <a:t> </a:t>
                </a:r>
              </a:p>
            </p:txBody>
          </p:sp>
        </mc:Fallback>
      </mc:AlternateContent>
      <p:sp>
        <p:nvSpPr>
          <p:cNvPr id="5" name="body0">
            <a:extLst>
              <a:ext uri="{FF2B5EF4-FFF2-40B4-BE49-F238E27FC236}">
                <a16:creationId xmlns:a16="http://schemas.microsoft.com/office/drawing/2014/main" id="{5DEED662-FE75-4BD2-9703-BA0BF3E5A429}"/>
              </a:ext>
            </a:extLst>
          </p:cNvPr>
          <p:cNvSpPr>
            <a:spLocks noGrp="1"/>
          </p:cNvSpPr>
          <p:nvPr/>
        </p:nvSpPr>
        <p:spPr>
          <a:xfrm>
            <a:off x="666750" y="3400425"/>
            <a:ext cx="10858500" cy="866775"/>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For a point mass, T = ½ Mv². Bob 1 moves on a circle about the fixed pivot.</a:t>
            </a:r>
          </a:p>
        </p:txBody>
      </p:sp>
      <p:sp>
        <p:nvSpPr>
          <p:cNvPr id="6" name="body1">
            <a:extLst>
              <a:ext uri="{FF2B5EF4-FFF2-40B4-BE49-F238E27FC236}">
                <a16:creationId xmlns:a16="http://schemas.microsoft.com/office/drawing/2014/main" id="{C9ED225D-EE3D-447D-BA2D-1F34E1ED5A74}"/>
              </a:ext>
            </a:extLst>
          </p:cNvPr>
          <p:cNvSpPr>
            <a:spLocks noGrp="1"/>
          </p:cNvSpPr>
          <p:nvPr/>
        </p:nvSpPr>
        <p:spPr>
          <a:xfrm>
            <a:off x="666750" y="4362450"/>
            <a:ext cx="10858500" cy="866775"/>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Bob 2 has the velocity of the moving joint plus its motion relative to that joint.</a:t>
            </a:r>
          </a:p>
        </p:txBody>
      </p:sp>
      <p:sp>
        <p:nvSpPr>
          <p:cNvPr id="7" name="body2">
            <a:extLst>
              <a:ext uri="{FF2B5EF4-FFF2-40B4-BE49-F238E27FC236}">
                <a16:creationId xmlns:a16="http://schemas.microsoft.com/office/drawing/2014/main" id="{C3D6B032-5947-42AF-8F3C-57D06108A188}"/>
              </a:ext>
            </a:extLst>
          </p:cNvPr>
          <p:cNvSpPr>
            <a:spLocks noGrp="1"/>
          </p:cNvSpPr>
          <p:nvPr/>
        </p:nvSpPr>
        <p:spPr>
          <a:xfrm>
            <a:off x="666750" y="5324475"/>
            <a:ext cx="10858500" cy="866775"/>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Squaring that sum produces a cross term. This is the origin of kinetic coupling.</a:t>
            </a:r>
          </a:p>
        </p:txBody>
      </p:sp>
      <p:sp>
        <p:nvSpPr>
          <p:cNvPr id="8" name="page">
            <a:extLst>
              <a:ext uri="{FF2B5EF4-FFF2-40B4-BE49-F238E27FC236}">
                <a16:creationId xmlns:a16="http://schemas.microsoft.com/office/drawing/2014/main" id="{15DAB9F4-110D-4E58-86DC-296E92829A2A}"/>
              </a:ext>
            </a:extLst>
          </p:cNvPr>
          <p:cNvSpPr>
            <a:spLocks noGrp="1"/>
          </p:cNvSpPr>
          <p:nvPr/>
        </p:nvSpPr>
        <p:spPr>
          <a:xfrm>
            <a:off x="11449050" y="6515100"/>
            <a:ext cx="333375" cy="190500"/>
          </a:xfrm>
          <a:prstGeom prst="rect">
            <a:avLst/>
          </a:prstGeom>
          <a:noFill/>
          <a:ln w="0">
            <a:noFill/>
          </a:ln>
        </p:spPr>
        <p:txBody>
          <a:bodyPr anchor="t">
            <a:noAutofit/>
          </a:bodyPr>
          <a:lstStyle/>
          <a:p>
            <a:pPr>
              <a:defRPr sz="1050" b="0">
                <a:solidFill>
                  <a:srgbClr val="6B7280"/>
                </a:solidFill>
                <a:latin typeface="Aptos"/>
                <a:ea typeface="Aptos"/>
                <a:cs typeface="Aptos"/>
              </a:defRPr>
            </a:pPr>
            <a:r>
              <a:rPr sz="1050" b="0">
                <a:solidFill>
                  <a:srgbClr val="6B7280"/>
                </a:solidFill>
                <a:latin typeface="Aptos"/>
                <a:ea typeface="Aptos"/>
                <a:cs typeface="Aptos"/>
              </a:rPr>
              <a:t>15</a:t>
            </a:r>
          </a:p>
        </p:txBody>
      </p:sp>
    </p:spTree>
    <p:extLst>
      <p:ext uri="{BB962C8B-B14F-4D97-AF65-F5344CB8AC3E}">
        <p14:creationId xmlns:p14="http://schemas.microsoft.com/office/powerpoint/2010/main" val="7806932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course">
            <a:extLst>
              <a:ext uri="{FF2B5EF4-FFF2-40B4-BE49-F238E27FC236}">
                <a16:creationId xmlns:a16="http://schemas.microsoft.com/office/drawing/2014/main" id="{82018224-B995-4850-8308-E165D637DBD4}"/>
              </a:ext>
            </a:extLst>
          </p:cNvPr>
          <p:cNvSpPr>
            <a:spLocks noGrp="1"/>
          </p:cNvSpPr>
          <p:nvPr/>
        </p:nvSpPr>
        <p:spPr>
          <a:xfrm>
            <a:off x="495300" y="190500"/>
            <a:ext cx="8572500" cy="285750"/>
          </a:xfrm>
          <a:prstGeom prst="rect">
            <a:avLst/>
          </a:prstGeom>
          <a:noFill/>
          <a:ln w="0">
            <a:noFill/>
          </a:ln>
        </p:spPr>
        <p:txBody>
          <a:bodyPr anchor="t">
            <a:noAutofit/>
          </a:bodyPr>
          <a:lstStyle/>
          <a:p>
            <a:pPr>
              <a:defRPr sz="1275" b="1">
                <a:solidFill>
                  <a:srgbClr val="881C1C"/>
                </a:solidFill>
                <a:latin typeface="Aptos"/>
                <a:ea typeface="Aptos"/>
                <a:cs typeface="Aptos"/>
              </a:defRPr>
            </a:pPr>
            <a:r>
              <a:rPr sz="1275" b="1">
                <a:solidFill>
                  <a:srgbClr val="881C1C"/>
                </a:solidFill>
                <a:latin typeface="Aptos"/>
                <a:ea typeface="Aptos"/>
                <a:cs typeface="Aptos"/>
              </a:rPr>
              <a:t>MIE 402   ME LAB II</a:t>
            </a:r>
          </a:p>
        </p:txBody>
      </p:sp>
      <p:sp>
        <p:nvSpPr>
          <p:cNvPr id="2" name="title">
            <a:extLst>
              <a:ext uri="{FF2B5EF4-FFF2-40B4-BE49-F238E27FC236}">
                <a16:creationId xmlns:a16="http://schemas.microsoft.com/office/drawing/2014/main" id="{7B5DB45B-123D-4E4B-A230-C3570CFC92FD}"/>
              </a:ext>
            </a:extLst>
          </p:cNvPr>
          <p:cNvSpPr>
            <a:spLocks noGrp="1"/>
          </p:cNvSpPr>
          <p:nvPr/>
        </p:nvSpPr>
        <p:spPr>
          <a:xfrm>
            <a:off x="495300" y="666750"/>
            <a:ext cx="11125200" cy="742950"/>
          </a:xfrm>
          <a:prstGeom prst="rect">
            <a:avLst/>
          </a:prstGeom>
          <a:noFill/>
          <a:ln w="0">
            <a:noFill/>
          </a:ln>
        </p:spPr>
        <p:txBody>
          <a:bodyPr anchor="t">
            <a:noAutofit/>
          </a:bodyPr>
          <a:lstStyle/>
          <a:p>
            <a:pPr>
              <a:defRPr sz="2925" b="1">
                <a:solidFill>
                  <a:srgbClr val="152437"/>
                </a:solidFill>
                <a:latin typeface="Aptos"/>
                <a:ea typeface="Aptos"/>
                <a:cs typeface="Aptos"/>
              </a:defRPr>
            </a:pPr>
            <a:r>
              <a:rPr sz="2925" b="1">
                <a:solidFill>
                  <a:srgbClr val="152437"/>
                </a:solidFill>
                <a:latin typeface="Aptos"/>
                <a:ea typeface="Aptos"/>
                <a:cs typeface="Aptos"/>
              </a:rPr>
              <a:t>Symbols for a moving bar</a:t>
            </a:r>
          </a:p>
        </p:txBody>
      </p:sp>
      <p:sp>
        <p:nvSpPr>
          <p:cNvPr id="3" name="body0">
            <a:extLst>
              <a:ext uri="{FF2B5EF4-FFF2-40B4-BE49-F238E27FC236}">
                <a16:creationId xmlns:a16="http://schemas.microsoft.com/office/drawing/2014/main" id="{AE789BE7-D667-41CB-A995-CA922E9E45C7}"/>
              </a:ext>
            </a:extLst>
          </p:cNvPr>
          <p:cNvSpPr>
            <a:spLocks noGrp="1"/>
          </p:cNvSpPr>
          <p:nvPr/>
        </p:nvSpPr>
        <p:spPr>
          <a:xfrm>
            <a:off x="666750" y="1666875"/>
            <a:ext cx="10858500" cy="971550"/>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For a generic uniform bar, m [kg] is its mass and L [m] is its length.</a:t>
            </a:r>
          </a:p>
        </p:txBody>
      </p:sp>
      <p:sp>
        <p:nvSpPr>
          <p:cNvPr id="4" name="body1">
            <a:extLst>
              <a:ext uri="{FF2B5EF4-FFF2-40B4-BE49-F238E27FC236}">
                <a16:creationId xmlns:a16="http://schemas.microsoft.com/office/drawing/2014/main" id="{CA6CB4E1-0FD1-4397-B9A8-F82267008FB1}"/>
              </a:ext>
            </a:extLst>
          </p:cNvPr>
          <p:cNvSpPr>
            <a:spLocks noGrp="1"/>
          </p:cNvSpPr>
          <p:nvPr/>
        </p:nvSpPr>
        <p:spPr>
          <a:xfrm>
            <a:off x="666750" y="2733675"/>
            <a:ext cx="10858500" cy="971550"/>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I</a:t>
            </a:r>
            <a:r>
              <a:rPr sz="1462" b="0" baseline="-25000">
                <a:solidFill>
                  <a:srgbClr val="202D3C"/>
                </a:solidFill>
                <a:latin typeface="Aptos"/>
                <a:ea typeface="Aptos"/>
                <a:cs typeface="Aptos"/>
              </a:rPr>
              <a:t>center</a:t>
            </a:r>
            <a:r>
              <a:rPr sz="1950" b="0">
                <a:solidFill>
                  <a:srgbClr val="202D3C"/>
                </a:solidFill>
                <a:latin typeface="Aptos"/>
                <a:ea typeface="Aptos"/>
                <a:cs typeface="Aptos"/>
              </a:rPr>
              <a:t> and I</a:t>
            </a:r>
            <a:r>
              <a:rPr sz="1462" b="0" baseline="-25000">
                <a:solidFill>
                  <a:srgbClr val="202D3C"/>
                </a:solidFill>
                <a:latin typeface="Aptos"/>
                <a:ea typeface="Aptos"/>
                <a:cs typeface="Aptos"/>
              </a:rPr>
              <a:t>end</a:t>
            </a:r>
            <a:r>
              <a:rPr sz="1950" b="0">
                <a:solidFill>
                  <a:srgbClr val="202D3C"/>
                </a:solidFill>
                <a:latin typeface="Aptos"/>
                <a:ea typeface="Aptos"/>
                <a:cs typeface="Aptos"/>
              </a:rPr>
              <a:t> [kg·m²]: mass moments of inertia about axes through the bar center and end, perpendicular to the motion plane.</a:t>
            </a:r>
          </a:p>
        </p:txBody>
      </p:sp>
      <p:sp>
        <p:nvSpPr>
          <p:cNvPr id="5" name="body2">
            <a:extLst>
              <a:ext uri="{FF2B5EF4-FFF2-40B4-BE49-F238E27FC236}">
                <a16:creationId xmlns:a16="http://schemas.microsoft.com/office/drawing/2014/main" id="{559983CE-2C53-41A9-96D8-72681BF301E7}"/>
              </a:ext>
            </a:extLst>
          </p:cNvPr>
          <p:cNvSpPr>
            <a:spLocks noGrp="1"/>
          </p:cNvSpPr>
          <p:nvPr/>
        </p:nvSpPr>
        <p:spPr>
          <a:xfrm>
            <a:off x="666750" y="3800475"/>
            <a:ext cx="10858500" cy="971550"/>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v</a:t>
            </a:r>
            <a:r>
              <a:rPr sz="1462" b="0" baseline="-25000">
                <a:solidFill>
                  <a:srgbClr val="202D3C"/>
                </a:solidFill>
                <a:latin typeface="Aptos"/>
                <a:ea typeface="Aptos"/>
                <a:cs typeface="Aptos"/>
              </a:rPr>
              <a:t>G2</a:t>
            </a:r>
            <a:r>
              <a:rPr sz="1950" b="0">
                <a:solidFill>
                  <a:srgbClr val="202D3C"/>
                </a:solidFill>
                <a:latin typeface="Aptos"/>
                <a:ea typeface="Aptos"/>
                <a:cs typeface="Aptos"/>
              </a:rPr>
              <a:t> [m/s]: translational speed of the lower bar’s center of mass. I</a:t>
            </a:r>
            <a:r>
              <a:rPr sz="1462" b="0" baseline="-25000">
                <a:solidFill>
                  <a:srgbClr val="202D3C"/>
                </a:solidFill>
                <a:latin typeface="Aptos"/>
                <a:ea typeface="Aptos"/>
                <a:cs typeface="Aptos"/>
              </a:rPr>
              <a:t>G2</a:t>
            </a:r>
            <a:r>
              <a:rPr sz="1950" b="0">
                <a:solidFill>
                  <a:srgbClr val="202D3C"/>
                </a:solidFill>
                <a:latin typeface="Aptos"/>
                <a:ea typeface="Aptos"/>
                <a:cs typeface="Aptos"/>
              </a:rPr>
              <a:t> [kg·m²] is its inertia about that center.</a:t>
            </a:r>
          </a:p>
        </p:txBody>
      </p:sp>
      <p:sp>
        <p:nvSpPr>
          <p:cNvPr id="6" name="body3">
            <a:extLst>
              <a:ext uri="{FF2B5EF4-FFF2-40B4-BE49-F238E27FC236}">
                <a16:creationId xmlns:a16="http://schemas.microsoft.com/office/drawing/2014/main" id="{65D9D4CA-2790-4C0A-8823-90D118DC1838}"/>
              </a:ext>
            </a:extLst>
          </p:cNvPr>
          <p:cNvSpPr>
            <a:spLocks noGrp="1"/>
          </p:cNvSpPr>
          <p:nvPr/>
        </p:nvSpPr>
        <p:spPr>
          <a:xfrm>
            <a:off x="666750" y="4867275"/>
            <a:ext cx="10858500" cy="971550"/>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T</a:t>
            </a:r>
            <a:r>
              <a:rPr sz="1462" b="0" baseline="-25000">
                <a:solidFill>
                  <a:srgbClr val="202D3C"/>
                </a:solidFill>
                <a:latin typeface="Aptos"/>
                <a:ea typeface="Aptos"/>
                <a:cs typeface="Aptos"/>
              </a:rPr>
              <a:t>bar 2</a:t>
            </a:r>
            <a:r>
              <a:rPr sz="1950" b="0">
                <a:solidFill>
                  <a:srgbClr val="202D3C"/>
                </a:solidFill>
                <a:latin typeface="Aptos"/>
                <a:ea typeface="Aptos"/>
                <a:cs typeface="Aptos"/>
              </a:rPr>
              <a:t> [J]: lower-bar kinetic energy. It includes translation of the center and rotation about the center.</a:t>
            </a:r>
          </a:p>
        </p:txBody>
      </p:sp>
      <p:sp>
        <p:nvSpPr>
          <p:cNvPr id="7" name="page">
            <a:extLst>
              <a:ext uri="{FF2B5EF4-FFF2-40B4-BE49-F238E27FC236}">
                <a16:creationId xmlns:a16="http://schemas.microsoft.com/office/drawing/2014/main" id="{345835DB-857E-4F22-A8B8-65E1A2784323}"/>
              </a:ext>
            </a:extLst>
          </p:cNvPr>
          <p:cNvSpPr>
            <a:spLocks noGrp="1"/>
          </p:cNvSpPr>
          <p:nvPr/>
        </p:nvSpPr>
        <p:spPr>
          <a:xfrm>
            <a:off x="11449050" y="6515100"/>
            <a:ext cx="333375" cy="190500"/>
          </a:xfrm>
          <a:prstGeom prst="rect">
            <a:avLst/>
          </a:prstGeom>
          <a:noFill/>
          <a:ln w="0">
            <a:noFill/>
          </a:ln>
        </p:spPr>
        <p:txBody>
          <a:bodyPr anchor="t">
            <a:noAutofit/>
          </a:bodyPr>
          <a:lstStyle/>
          <a:p>
            <a:pPr>
              <a:defRPr sz="1050" b="0">
                <a:solidFill>
                  <a:srgbClr val="6B7280"/>
                </a:solidFill>
                <a:latin typeface="Aptos"/>
                <a:ea typeface="Aptos"/>
                <a:cs typeface="Aptos"/>
              </a:defRPr>
            </a:pPr>
            <a:r>
              <a:rPr sz="1050" b="0">
                <a:solidFill>
                  <a:srgbClr val="6B7280"/>
                </a:solidFill>
                <a:latin typeface="Aptos"/>
                <a:ea typeface="Aptos"/>
                <a:cs typeface="Aptos"/>
              </a:rPr>
              <a:t>16</a:t>
            </a:r>
          </a:p>
        </p:txBody>
      </p:sp>
    </p:spTree>
    <p:extLst>
      <p:ext uri="{BB962C8B-B14F-4D97-AF65-F5344CB8AC3E}">
        <p14:creationId xmlns:p14="http://schemas.microsoft.com/office/powerpoint/2010/main" val="213995071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course">
            <a:extLst>
              <a:ext uri="{FF2B5EF4-FFF2-40B4-BE49-F238E27FC236}">
                <a16:creationId xmlns:a16="http://schemas.microsoft.com/office/drawing/2014/main" id="{DAF27865-A1C5-4941-91BE-83A56C6158D5}"/>
              </a:ext>
            </a:extLst>
          </p:cNvPr>
          <p:cNvSpPr>
            <a:spLocks noGrp="1"/>
          </p:cNvSpPr>
          <p:nvPr/>
        </p:nvSpPr>
        <p:spPr>
          <a:xfrm>
            <a:off x="495300" y="190500"/>
            <a:ext cx="8572500" cy="285750"/>
          </a:xfrm>
          <a:prstGeom prst="rect">
            <a:avLst/>
          </a:prstGeom>
          <a:noFill/>
          <a:ln w="0">
            <a:noFill/>
          </a:ln>
        </p:spPr>
        <p:txBody>
          <a:bodyPr anchor="t">
            <a:noAutofit/>
          </a:bodyPr>
          <a:lstStyle/>
          <a:p>
            <a:pPr>
              <a:defRPr sz="1275" b="1">
                <a:solidFill>
                  <a:srgbClr val="881C1C"/>
                </a:solidFill>
                <a:latin typeface="Aptos"/>
                <a:ea typeface="Aptos"/>
                <a:cs typeface="Aptos"/>
              </a:defRPr>
            </a:pPr>
            <a:r>
              <a:rPr sz="1275" b="1">
                <a:solidFill>
                  <a:srgbClr val="881C1C"/>
                </a:solidFill>
                <a:latin typeface="Aptos"/>
                <a:ea typeface="Aptos"/>
                <a:cs typeface="Aptos"/>
              </a:rPr>
              <a:t>MIE 402   ME LAB II</a:t>
            </a:r>
          </a:p>
        </p:txBody>
      </p:sp>
      <p:sp>
        <p:nvSpPr>
          <p:cNvPr id="2" name="title">
            <a:extLst>
              <a:ext uri="{FF2B5EF4-FFF2-40B4-BE49-F238E27FC236}">
                <a16:creationId xmlns:a16="http://schemas.microsoft.com/office/drawing/2014/main" id="{BE74779E-A912-4ED2-8A44-4CC84893884E}"/>
              </a:ext>
            </a:extLst>
          </p:cNvPr>
          <p:cNvSpPr>
            <a:spLocks noGrp="1"/>
          </p:cNvSpPr>
          <p:nvPr/>
        </p:nvSpPr>
        <p:spPr>
          <a:xfrm>
            <a:off x="495300" y="666750"/>
            <a:ext cx="11125200" cy="742950"/>
          </a:xfrm>
          <a:prstGeom prst="rect">
            <a:avLst/>
          </a:prstGeom>
          <a:noFill/>
          <a:ln w="0">
            <a:noFill/>
          </a:ln>
        </p:spPr>
        <p:txBody>
          <a:bodyPr anchor="t">
            <a:noAutofit/>
          </a:bodyPr>
          <a:lstStyle/>
          <a:p>
            <a:pPr>
              <a:defRPr sz="2925" b="1">
                <a:solidFill>
                  <a:srgbClr val="152437"/>
                </a:solidFill>
                <a:latin typeface="Aptos"/>
                <a:ea typeface="Aptos"/>
                <a:cs typeface="Aptos"/>
              </a:defRPr>
            </a:pPr>
            <a:r>
              <a:rPr sz="2925" b="1">
                <a:solidFill>
                  <a:srgbClr val="152437"/>
                </a:solidFill>
                <a:latin typeface="Aptos"/>
                <a:ea typeface="Aptos"/>
                <a:cs typeface="Aptos"/>
              </a:rPr>
              <a:t>A bar also carries kinetic energy</a:t>
            </a:r>
          </a:p>
        </p:txBody>
      </p:sp>
      <mc:AlternateContent xmlns:mc="http://schemas.openxmlformats.org/markup-compatibility/2006">
        <mc:Choice xmlns:a14="http://schemas.microsoft.com/office/drawing/2010/main" Requires="a14">
          <p:sp>
            <p:nvSpPr>
              <p:cNvPr id="3" name="EQ_barinertia">
                <a:extLst>
                  <a:ext uri="{FF2B5EF4-FFF2-40B4-BE49-F238E27FC236}">
                    <a16:creationId xmlns:a16="http://schemas.microsoft.com/office/drawing/2014/main" id="{A7EE138B-74FD-40C9-BCF3-F50C85078BF1}"/>
                  </a:ext>
                </a:extLst>
              </p:cNvPr>
              <p:cNvSpPr>
                <a:spLocks noGrp="1"/>
              </p:cNvSpPr>
              <p:nvPr/>
            </p:nvSpPr>
            <p:spPr>
              <a:xfrm>
                <a:off x="666750" y="1666875"/>
                <a:ext cx="10858500" cy="609600"/>
              </a:xfrm>
              <a:prstGeom prst="rect">
                <a:avLst/>
              </a:prstGeom>
              <a:noFill/>
              <a:ln w="0">
                <a:noFill/>
              </a:ln>
            </p:spPr>
            <p:txBody>
              <a:bodyPr anchor="t">
                <a:noAutofit/>
              </a:bodyPr>
              <a:lstStyle/>
              <a:p>
                <a:pPr algn="l"/>
                <a14:m>
                  <m:oMathPara xmlns:m="http://schemas.openxmlformats.org/officeDocument/2006/math">
                    <m:oMathParaPr>
                      <m:jc m:val="left"/>
                    </m:oMathParaPr>
                    <m:oMath>
                      <m:sSub>
                        <m:sSubPr>
                          <m:ctrlPr>
                            <a:rPr lang="en-US" sz="2400">
                              <a:latin typeface="Cambria Math"/>
                            </a:rPr>
                          </m:ctrlPr>
                        </m:sSubPr>
                        <m:e>
                          <m:r>
                            <a:rPr lang="en-US" sz="2400">
                              <a:latin typeface="Cambria Math"/>
                            </a:rPr>
                            <m:t>𝐼</m:t>
                          </m:r>
                        </m:e>
                        <m:sub>
                          <m:r>
                            <a:rPr lang="en-US" sz="2400">
                              <a:latin typeface="Cambria Math"/>
                            </a:rPr>
                            <m:t>𝑐𝑒𝑛𝑡𝑒𝑟</m:t>
                          </m:r>
                        </m:sub>
                      </m:sSub>
                      <m:r>
                        <a:rPr lang="en-US" sz="2400">
                          <a:latin typeface="Cambria Math"/>
                        </a:rPr>
                        <m:t> = </m:t>
                      </m:r>
                      <m:f>
                        <m:fPr>
                          <m:ctrlPr>
                            <a:rPr lang="en-US" sz="2400">
                              <a:latin typeface="Cambria Math"/>
                            </a:rPr>
                          </m:ctrlPr>
                        </m:fPr>
                        <m:num>
                          <m:r>
                            <a:rPr lang="en-US" sz="2400">
                              <a:latin typeface="Cambria Math"/>
                            </a:rPr>
                            <m:t>𝑚</m:t>
                          </m:r>
                          <m:sSup>
                            <m:sSupPr>
                              <m:ctrlPr>
                                <a:rPr lang="en-US" sz="2400">
                                  <a:latin typeface="Cambria Math"/>
                                </a:rPr>
                              </m:ctrlPr>
                            </m:sSupPr>
                            <m:e>
                              <m:r>
                                <a:rPr lang="en-US" sz="2400">
                                  <a:latin typeface="Cambria Math"/>
                                </a:rPr>
                                <m:t>𝐿</m:t>
                              </m:r>
                            </m:e>
                            <m:sup>
                              <m:r>
                                <a:rPr lang="en-US" sz="2400">
                                  <a:latin typeface="Cambria Math"/>
                                </a:rPr>
                                <m:t>2</m:t>
                              </m:r>
                            </m:sup>
                          </m:sSup>
                        </m:num>
                        <m:den>
                          <m:r>
                            <a:rPr lang="en-US" sz="2400">
                              <a:latin typeface="Cambria Math"/>
                            </a:rPr>
                            <m:t>12</m:t>
                          </m:r>
                        </m:den>
                      </m:f>
                      <m:r>
                        <a:rPr lang="en-US" sz="2400">
                          <a:latin typeface="Cambria Math"/>
                        </a:rPr>
                        <m:t>      </m:t>
                      </m:r>
                      <m:sSub>
                        <m:sSubPr>
                          <m:ctrlPr>
                            <a:rPr lang="en-US" sz="2400">
                              <a:latin typeface="Cambria Math"/>
                            </a:rPr>
                          </m:ctrlPr>
                        </m:sSubPr>
                        <m:e>
                          <m:r>
                            <a:rPr lang="en-US" sz="2400">
                              <a:latin typeface="Cambria Math"/>
                            </a:rPr>
                            <m:t>𝐼</m:t>
                          </m:r>
                        </m:e>
                        <m:sub>
                          <m:r>
                            <a:rPr lang="en-US" sz="2400">
                              <a:latin typeface="Cambria Math"/>
                            </a:rPr>
                            <m:t>𝑒𝑛𝑑</m:t>
                          </m:r>
                        </m:sub>
                      </m:sSub>
                      <m:r>
                        <a:rPr lang="en-US" sz="2400">
                          <a:latin typeface="Cambria Math"/>
                        </a:rPr>
                        <m:t> = </m:t>
                      </m:r>
                      <m:f>
                        <m:fPr>
                          <m:ctrlPr>
                            <a:rPr lang="en-US" sz="2400">
                              <a:latin typeface="Cambria Math"/>
                            </a:rPr>
                          </m:ctrlPr>
                        </m:fPr>
                        <m:num>
                          <m:r>
                            <a:rPr lang="en-US" sz="2400">
                              <a:latin typeface="Cambria Math"/>
                            </a:rPr>
                            <m:t>𝑚</m:t>
                          </m:r>
                          <m:sSup>
                            <m:sSupPr>
                              <m:ctrlPr>
                                <a:rPr lang="en-US" sz="2400">
                                  <a:latin typeface="Cambria Math"/>
                                </a:rPr>
                              </m:ctrlPr>
                            </m:sSupPr>
                            <m:e>
                              <m:r>
                                <a:rPr lang="en-US" sz="2400">
                                  <a:latin typeface="Cambria Math"/>
                                </a:rPr>
                                <m:t>𝐿</m:t>
                              </m:r>
                            </m:e>
                            <m:sup>
                              <m:r>
                                <a:rPr lang="en-US" sz="2400">
                                  <a:latin typeface="Cambria Math"/>
                                </a:rPr>
                                <m:t>2</m:t>
                              </m:r>
                            </m:sup>
                          </m:sSup>
                        </m:num>
                        <m:den>
                          <m:r>
                            <a:rPr lang="en-US" sz="2400">
                              <a:latin typeface="Cambria Math"/>
                            </a:rPr>
                            <m:t>3</m:t>
                          </m:r>
                        </m:den>
                      </m:f>
                    </m:oMath>
                  </m:oMathPara>
                </a14:m>
                <a:endParaRPr lang="en-US" sz="2400"/>
              </a:p>
            </p:txBody>
          </p:sp>
        </mc:Choice>
        <mc:Fallback>
          <p:sp>
            <p:nvSpPr>
              <p:cNvPr id="3" name="EQ_barinertia">
                <a:extLst>
                  <a:ext uri="{FF2B5EF4-FFF2-40B4-BE49-F238E27FC236}">
                    <a16:creationId xmlns:a16="http://schemas.microsoft.com/office/drawing/2014/main" id="{A7EE138B-74FD-40C9-BCF3-F50C85078BF1}"/>
                  </a:ext>
                </a:extLst>
              </p:cNvPr>
              <p:cNvSpPr>
                <a:spLocks noGrp="1" noRot="1" noChangeAspect="1" noMove="1" noResize="1" noEditPoints="1" noAdjustHandles="1" noChangeArrowheads="1" noChangeShapeType="1" noTextEdit="1"/>
              </p:cNvSpPr>
              <p:nvPr/>
            </p:nvSpPr>
            <p:spPr>
              <a:xfrm>
                <a:off x="666750" y="1666875"/>
                <a:ext cx="10858500" cy="609600"/>
              </a:xfrm>
              <a:prstGeom prst="rect">
                <a:avLst/>
              </a:prstGeom>
              <a:blipFill>
                <a:blip r:embed="rId3"/>
                <a:stretch>
                  <a:fillRect b="-29000"/>
                </a:stretch>
              </a:blipFill>
              <a:ln w="0">
                <a:no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 name="EQ_bart">
                <a:extLst>
                  <a:ext uri="{FF2B5EF4-FFF2-40B4-BE49-F238E27FC236}">
                    <a16:creationId xmlns:a16="http://schemas.microsoft.com/office/drawing/2014/main" id="{C581E859-026D-44CA-84FF-FACA3FDB27A7}"/>
                  </a:ext>
                </a:extLst>
              </p:cNvPr>
              <p:cNvSpPr>
                <a:spLocks noGrp="1"/>
              </p:cNvSpPr>
              <p:nvPr/>
            </p:nvSpPr>
            <p:spPr>
              <a:xfrm>
                <a:off x="666750" y="2409825"/>
                <a:ext cx="10858500" cy="685800"/>
              </a:xfrm>
              <a:prstGeom prst="rect">
                <a:avLst/>
              </a:prstGeom>
              <a:noFill/>
              <a:ln w="0">
                <a:noFill/>
              </a:ln>
            </p:spPr>
            <p:txBody>
              <a:bodyPr anchor="t">
                <a:noAutofit/>
              </a:bodyPr>
              <a:lstStyle/>
              <a:p>
                <a:pPr algn="l"/>
                <a14:m>
                  <m:oMathPara xmlns:m="http://schemas.openxmlformats.org/officeDocument/2006/math">
                    <m:oMathParaPr>
                      <m:jc m:val="left"/>
                    </m:oMathParaPr>
                    <m:oMath>
                      <m:sSub>
                        <m:sSubPr>
                          <m:ctrlPr>
                            <a:rPr lang="en-US" sz="2400">
                              <a:latin typeface="Cambria Math"/>
                            </a:rPr>
                          </m:ctrlPr>
                        </m:sSubPr>
                        <m:e>
                          <m:r>
                            <a:rPr lang="en-US" sz="2400">
                              <a:latin typeface="Cambria Math"/>
                            </a:rPr>
                            <m:t>𝑇</m:t>
                          </m:r>
                        </m:e>
                        <m:sub>
                          <m:r>
                            <a:rPr lang="en-US" sz="2400">
                              <a:latin typeface="Cambria Math"/>
                            </a:rPr>
                            <m:t>𝑏𝑎𝑟</m:t>
                          </m:r>
                          <m:r>
                            <a:rPr lang="en-US" sz="2400">
                              <a:latin typeface="Cambria Math"/>
                            </a:rPr>
                            <m:t> 2</m:t>
                          </m:r>
                        </m:sub>
                      </m:sSub>
                      <m:r>
                        <a:rPr lang="en-US" sz="2400">
                          <a:latin typeface="Cambria Math"/>
                        </a:rPr>
                        <m:t> = </m:t>
                      </m:r>
                      <m:f>
                        <m:fPr>
                          <m:ctrlPr>
                            <a:rPr lang="en-US" sz="2400">
                              <a:latin typeface="Cambria Math"/>
                            </a:rPr>
                          </m:ctrlPr>
                        </m:fPr>
                        <m:num>
                          <m:r>
                            <a:rPr lang="en-US" sz="2400">
                              <a:latin typeface="Cambria Math"/>
                            </a:rPr>
                            <m:t>1</m:t>
                          </m:r>
                        </m:num>
                        <m:den>
                          <m:r>
                            <a:rPr lang="en-US" sz="2400">
                              <a:latin typeface="Cambria Math"/>
                            </a:rPr>
                            <m:t>2</m:t>
                          </m:r>
                        </m:den>
                      </m:f>
                      <m:sSub>
                        <m:sSubPr>
                          <m:ctrlPr>
                            <a:rPr lang="en-US" sz="2400">
                              <a:latin typeface="Cambria Math"/>
                            </a:rPr>
                          </m:ctrlPr>
                        </m:sSubPr>
                        <m:e>
                          <m:r>
                            <a:rPr lang="en-US" sz="2400">
                              <a:latin typeface="Cambria Math"/>
                            </a:rPr>
                            <m:t>𝑚</m:t>
                          </m:r>
                        </m:e>
                        <m:sub>
                          <m:r>
                            <a:rPr lang="en-US" sz="2400">
                              <a:latin typeface="Cambria Math"/>
                            </a:rPr>
                            <m:t>2</m:t>
                          </m:r>
                        </m:sub>
                      </m:sSub>
                      <m:sSup>
                        <m:sSupPr>
                          <m:ctrlPr>
                            <a:rPr lang="en-US" sz="2400" i="1">
                              <a:latin typeface="Cambria Math" panose="02040503050406030204" pitchFamily="18" charset="0"/>
                            </a:rPr>
                          </m:ctrlPr>
                        </m:sSupPr>
                        <m:e>
                          <m:sSub>
                            <m:sSubPr>
                              <m:ctrlPr>
                                <a:rPr lang="en-US" sz="2400">
                                  <a:latin typeface="Cambria Math"/>
                                </a:rPr>
                              </m:ctrlPr>
                            </m:sSubPr>
                            <m:e>
                              <m:r>
                                <a:rPr lang="en-US" sz="2400">
                                  <a:latin typeface="Cambria Math"/>
                                </a:rPr>
                                <m:t>𝑣</m:t>
                              </m:r>
                            </m:e>
                            <m:sub>
                              <m:r>
                                <a:rPr lang="en-US" sz="2400">
                                  <a:latin typeface="Cambria Math"/>
                                </a:rPr>
                                <m:t>𝐺</m:t>
                              </m:r>
                              <m:r>
                                <a:rPr lang="en-US" sz="2400">
                                  <a:latin typeface="Cambria Math"/>
                                </a:rPr>
                                <m:t>2</m:t>
                              </m:r>
                            </m:sub>
                          </m:sSub>
                        </m:e>
                        <m:sup>
                          <m:r>
                            <a:rPr lang="en-US" sz="2400">
                              <a:latin typeface="Cambria Math"/>
                            </a:rPr>
                            <m:t>2</m:t>
                          </m:r>
                        </m:sup>
                      </m:sSup>
                      <m:r>
                        <a:rPr lang="en-US" sz="2400">
                          <a:latin typeface="Cambria Math"/>
                        </a:rPr>
                        <m:t> + </m:t>
                      </m:r>
                      <m:f>
                        <m:fPr>
                          <m:ctrlPr>
                            <a:rPr lang="en-US" sz="2400">
                              <a:latin typeface="Cambria Math"/>
                            </a:rPr>
                          </m:ctrlPr>
                        </m:fPr>
                        <m:num>
                          <m:r>
                            <a:rPr lang="en-US" sz="2400">
                              <a:latin typeface="Cambria Math"/>
                            </a:rPr>
                            <m:t>1</m:t>
                          </m:r>
                        </m:num>
                        <m:den>
                          <m:r>
                            <a:rPr lang="en-US" sz="2400">
                              <a:latin typeface="Cambria Math"/>
                            </a:rPr>
                            <m:t>2</m:t>
                          </m:r>
                        </m:den>
                      </m:f>
                      <m:sSub>
                        <m:sSubPr>
                          <m:ctrlPr>
                            <a:rPr lang="en-US" sz="2400">
                              <a:latin typeface="Cambria Math"/>
                            </a:rPr>
                          </m:ctrlPr>
                        </m:sSubPr>
                        <m:e>
                          <m:r>
                            <a:rPr lang="en-US" sz="2400">
                              <a:latin typeface="Cambria Math"/>
                            </a:rPr>
                            <m:t>𝐼</m:t>
                          </m:r>
                        </m:e>
                        <m:sub>
                          <m:r>
                            <a:rPr lang="en-US" sz="2400">
                              <a:latin typeface="Cambria Math"/>
                            </a:rPr>
                            <m:t>𝐺</m:t>
                          </m:r>
                          <m:r>
                            <a:rPr lang="en-US" sz="2400">
                              <a:latin typeface="Cambria Math"/>
                            </a:rPr>
                            <m:t>2</m:t>
                          </m:r>
                        </m:sub>
                      </m:sSub>
                      <m:sSup>
                        <m:sSupPr>
                          <m:ctrlPr>
                            <a:rPr lang="en-US" sz="2400" i="1">
                              <a:latin typeface="Cambria Math" panose="02040503050406030204" pitchFamily="18" charset="0"/>
                            </a:rPr>
                          </m:ctrlPr>
                        </m:sSupPr>
                        <m:e>
                          <m:sSub>
                            <m:sSubPr>
                              <m:ctrlPr>
                                <a:rPr lang="en-US" sz="2400">
                                  <a:latin typeface="Cambria Math"/>
                                </a:rPr>
                              </m:ctrlPr>
                            </m:sSubPr>
                            <m:e>
                              <m:r>
                                <a:rPr lang="en-US" sz="2400">
                                  <a:latin typeface="Cambria Math"/>
                                </a:rPr>
                                <m:t>𝜔</m:t>
                              </m:r>
                            </m:e>
                            <m:sub>
                              <m:r>
                                <a:rPr lang="en-US" sz="2400">
                                  <a:latin typeface="Cambria Math"/>
                                </a:rPr>
                                <m:t>2</m:t>
                              </m:r>
                            </m:sub>
                          </m:sSub>
                        </m:e>
                        <m:sup>
                          <m:r>
                            <a:rPr lang="en-US" sz="2400">
                              <a:latin typeface="Cambria Math"/>
                            </a:rPr>
                            <m:t>2</m:t>
                          </m:r>
                        </m:sup>
                      </m:sSup>
                    </m:oMath>
                  </m:oMathPara>
                </a14:m>
                <a:endParaRPr lang="en-US" sz="2400"/>
              </a:p>
            </p:txBody>
          </p:sp>
        </mc:Choice>
        <mc:Fallback>
          <p:sp>
            <p:nvSpPr>
              <p:cNvPr id="4" name="EQ_bart">
                <a:extLst>
                  <a:ext uri="{FF2B5EF4-FFF2-40B4-BE49-F238E27FC236}">
                    <a16:creationId xmlns:a16="http://schemas.microsoft.com/office/drawing/2014/main" id="{C581E859-026D-44CA-84FF-FACA3FDB27A7}"/>
                  </a:ext>
                </a:extLst>
              </p:cNvPr>
              <p:cNvSpPr>
                <a:spLocks noGrp="1" noRot="1" noChangeAspect="1" noMove="1" noResize="1" noEditPoints="1" noAdjustHandles="1" noChangeArrowheads="1" noChangeShapeType="1" noTextEdit="1"/>
              </p:cNvSpPr>
              <p:nvPr/>
            </p:nvSpPr>
            <p:spPr>
              <a:xfrm>
                <a:off x="666750" y="2409825"/>
                <a:ext cx="10858500" cy="685800"/>
              </a:xfrm>
              <a:prstGeom prst="rect">
                <a:avLst/>
              </a:prstGeom>
              <a:blipFill>
                <a:blip r:embed="rId4"/>
                <a:stretch>
                  <a:fillRect b="-6195"/>
                </a:stretch>
              </a:blipFill>
              <a:ln w="0">
                <a:noFill/>
              </a:ln>
            </p:spPr>
            <p:txBody>
              <a:bodyPr/>
              <a:lstStyle/>
              <a:p>
                <a:r>
                  <a:rPr lang="en-US">
                    <a:noFill/>
                  </a:rPr>
                  <a:t> </a:t>
                </a:r>
              </a:p>
            </p:txBody>
          </p:sp>
        </mc:Fallback>
      </mc:AlternateContent>
      <p:sp>
        <p:nvSpPr>
          <p:cNvPr id="5" name="body0">
            <a:extLst>
              <a:ext uri="{FF2B5EF4-FFF2-40B4-BE49-F238E27FC236}">
                <a16:creationId xmlns:a16="http://schemas.microsoft.com/office/drawing/2014/main" id="{02B1EC18-70BD-47BF-9BD3-D2B901687978}"/>
              </a:ext>
            </a:extLst>
          </p:cNvPr>
          <p:cNvSpPr>
            <a:spLocks noGrp="1"/>
          </p:cNvSpPr>
          <p:nvPr/>
        </p:nvSpPr>
        <p:spPr>
          <a:xfrm>
            <a:off x="666750" y="3228975"/>
            <a:ext cx="10858500" cy="923925"/>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A uniform bar rotating about its end has moment of inertia mL²/3.</a:t>
            </a:r>
          </a:p>
        </p:txBody>
      </p:sp>
      <p:sp>
        <p:nvSpPr>
          <p:cNvPr id="6" name="body1">
            <a:extLst>
              <a:ext uri="{FF2B5EF4-FFF2-40B4-BE49-F238E27FC236}">
                <a16:creationId xmlns:a16="http://schemas.microsoft.com/office/drawing/2014/main" id="{8DC848B0-85F6-483E-8432-21E0D26FDF20}"/>
              </a:ext>
            </a:extLst>
          </p:cNvPr>
          <p:cNvSpPr>
            <a:spLocks noGrp="1"/>
          </p:cNvSpPr>
          <p:nvPr/>
        </p:nvSpPr>
        <p:spPr>
          <a:xfrm>
            <a:off x="666750" y="4248150"/>
            <a:ext cx="10858500" cy="923925"/>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The upper bar rotates about the fixed pivot. The lower bar also translates because its upper joint moves.</a:t>
            </a:r>
          </a:p>
        </p:txBody>
      </p:sp>
      <p:sp>
        <p:nvSpPr>
          <p:cNvPr id="7" name="body2">
            <a:extLst>
              <a:ext uri="{FF2B5EF4-FFF2-40B4-BE49-F238E27FC236}">
                <a16:creationId xmlns:a16="http://schemas.microsoft.com/office/drawing/2014/main" id="{835D344F-CD3A-4CD4-AD90-1BEBE68778F1}"/>
              </a:ext>
            </a:extLst>
          </p:cNvPr>
          <p:cNvSpPr>
            <a:spLocks noGrp="1"/>
          </p:cNvSpPr>
          <p:nvPr/>
        </p:nvSpPr>
        <p:spPr>
          <a:xfrm>
            <a:off x="666750" y="5267325"/>
            <a:ext cx="10858500" cy="923925"/>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Include both translation of the center and rotation about the center for the lower bar.</a:t>
            </a:r>
          </a:p>
        </p:txBody>
      </p:sp>
      <p:sp>
        <p:nvSpPr>
          <p:cNvPr id="8" name="page">
            <a:extLst>
              <a:ext uri="{FF2B5EF4-FFF2-40B4-BE49-F238E27FC236}">
                <a16:creationId xmlns:a16="http://schemas.microsoft.com/office/drawing/2014/main" id="{5BC72611-11CE-4B30-AA74-C0F4E9B812A9}"/>
              </a:ext>
            </a:extLst>
          </p:cNvPr>
          <p:cNvSpPr>
            <a:spLocks noGrp="1"/>
          </p:cNvSpPr>
          <p:nvPr/>
        </p:nvSpPr>
        <p:spPr>
          <a:xfrm>
            <a:off x="11449050" y="6515100"/>
            <a:ext cx="333375" cy="190500"/>
          </a:xfrm>
          <a:prstGeom prst="rect">
            <a:avLst/>
          </a:prstGeom>
          <a:noFill/>
          <a:ln w="0">
            <a:noFill/>
          </a:ln>
        </p:spPr>
        <p:txBody>
          <a:bodyPr anchor="t">
            <a:noAutofit/>
          </a:bodyPr>
          <a:lstStyle/>
          <a:p>
            <a:pPr>
              <a:defRPr sz="1050" b="0">
                <a:solidFill>
                  <a:srgbClr val="6B7280"/>
                </a:solidFill>
                <a:latin typeface="Aptos"/>
                <a:ea typeface="Aptos"/>
                <a:cs typeface="Aptos"/>
              </a:defRPr>
            </a:pPr>
            <a:r>
              <a:rPr sz="1050" b="0">
                <a:solidFill>
                  <a:srgbClr val="6B7280"/>
                </a:solidFill>
                <a:latin typeface="Aptos"/>
                <a:ea typeface="Aptos"/>
                <a:cs typeface="Aptos"/>
              </a:rPr>
              <a:t>17</a:t>
            </a:r>
          </a:p>
        </p:txBody>
      </p:sp>
    </p:spTree>
    <p:extLst>
      <p:ext uri="{BB962C8B-B14F-4D97-AF65-F5344CB8AC3E}">
        <p14:creationId xmlns:p14="http://schemas.microsoft.com/office/powerpoint/2010/main" val="167877469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course">
            <a:extLst>
              <a:ext uri="{FF2B5EF4-FFF2-40B4-BE49-F238E27FC236}">
                <a16:creationId xmlns:a16="http://schemas.microsoft.com/office/drawing/2014/main" id="{1F5DDAF3-60F9-46B8-85DF-B2296A9777D7}"/>
              </a:ext>
            </a:extLst>
          </p:cNvPr>
          <p:cNvSpPr>
            <a:spLocks noGrp="1"/>
          </p:cNvSpPr>
          <p:nvPr/>
        </p:nvSpPr>
        <p:spPr>
          <a:xfrm>
            <a:off x="495300" y="190500"/>
            <a:ext cx="8572500" cy="285750"/>
          </a:xfrm>
          <a:prstGeom prst="rect">
            <a:avLst/>
          </a:prstGeom>
          <a:noFill/>
          <a:ln w="0">
            <a:noFill/>
          </a:ln>
        </p:spPr>
        <p:txBody>
          <a:bodyPr anchor="t">
            <a:noAutofit/>
          </a:bodyPr>
          <a:lstStyle/>
          <a:p>
            <a:pPr>
              <a:defRPr sz="1275" b="1">
                <a:solidFill>
                  <a:srgbClr val="881C1C"/>
                </a:solidFill>
                <a:latin typeface="Aptos"/>
                <a:ea typeface="Aptos"/>
                <a:cs typeface="Aptos"/>
              </a:defRPr>
            </a:pPr>
            <a:r>
              <a:rPr sz="1275" b="1">
                <a:solidFill>
                  <a:srgbClr val="881C1C"/>
                </a:solidFill>
                <a:latin typeface="Aptos"/>
                <a:ea typeface="Aptos"/>
                <a:cs typeface="Aptos"/>
              </a:rPr>
              <a:t>MIE 402   ME LAB II</a:t>
            </a:r>
          </a:p>
        </p:txBody>
      </p:sp>
      <p:sp>
        <p:nvSpPr>
          <p:cNvPr id="2" name="title">
            <a:extLst>
              <a:ext uri="{FF2B5EF4-FFF2-40B4-BE49-F238E27FC236}">
                <a16:creationId xmlns:a16="http://schemas.microsoft.com/office/drawing/2014/main" id="{BE4BF4D8-4CD3-4079-A32D-89AD63799FBE}"/>
              </a:ext>
            </a:extLst>
          </p:cNvPr>
          <p:cNvSpPr>
            <a:spLocks noGrp="1"/>
          </p:cNvSpPr>
          <p:nvPr/>
        </p:nvSpPr>
        <p:spPr>
          <a:xfrm>
            <a:off x="495300" y="666750"/>
            <a:ext cx="11125200" cy="742950"/>
          </a:xfrm>
          <a:prstGeom prst="rect">
            <a:avLst/>
          </a:prstGeom>
          <a:noFill/>
          <a:ln w="0">
            <a:noFill/>
          </a:ln>
        </p:spPr>
        <p:txBody>
          <a:bodyPr anchor="t">
            <a:noAutofit/>
          </a:bodyPr>
          <a:lstStyle/>
          <a:p>
            <a:pPr>
              <a:defRPr sz="2925" b="1">
                <a:solidFill>
                  <a:srgbClr val="152437"/>
                </a:solidFill>
                <a:latin typeface="Aptos"/>
                <a:ea typeface="Aptos"/>
                <a:cs typeface="Aptos"/>
              </a:defRPr>
            </a:pPr>
            <a:r>
              <a:rPr sz="2925" b="1">
                <a:solidFill>
                  <a:srgbClr val="152437"/>
                </a:solidFill>
                <a:latin typeface="Aptos"/>
                <a:ea typeface="Aptos"/>
                <a:cs typeface="Aptos"/>
              </a:rPr>
              <a:t>The inertia coefficients I₁₁, I₂₂ and C</a:t>
            </a:r>
          </a:p>
        </p:txBody>
      </p:sp>
      <p:sp>
        <p:nvSpPr>
          <p:cNvPr id="3" name="body0">
            <a:extLst>
              <a:ext uri="{FF2B5EF4-FFF2-40B4-BE49-F238E27FC236}">
                <a16:creationId xmlns:a16="http://schemas.microsoft.com/office/drawing/2014/main" id="{B6FB2FC8-9C21-4C6C-B97F-445E95476836}"/>
              </a:ext>
            </a:extLst>
          </p:cNvPr>
          <p:cNvSpPr>
            <a:spLocks noGrp="1"/>
          </p:cNvSpPr>
          <p:nvPr/>
        </p:nvSpPr>
        <p:spPr>
          <a:xfrm>
            <a:off x="666750" y="1666875"/>
            <a:ext cx="10858500" cy="971550"/>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I₁₁ [kg·m²]: coefficient multiplying ω₁². It includes the lower assembly because the upper link carries it through space.</a:t>
            </a:r>
          </a:p>
        </p:txBody>
      </p:sp>
      <p:sp>
        <p:nvSpPr>
          <p:cNvPr id="4" name="body1">
            <a:extLst>
              <a:ext uri="{FF2B5EF4-FFF2-40B4-BE49-F238E27FC236}">
                <a16:creationId xmlns:a16="http://schemas.microsoft.com/office/drawing/2014/main" id="{A589E35D-A32E-4057-8535-32EF9A41A9FC}"/>
              </a:ext>
            </a:extLst>
          </p:cNvPr>
          <p:cNvSpPr>
            <a:spLocks noGrp="1"/>
          </p:cNvSpPr>
          <p:nvPr/>
        </p:nvSpPr>
        <p:spPr>
          <a:xfrm>
            <a:off x="666750" y="2733675"/>
            <a:ext cx="10858500" cy="971550"/>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I₂₂ [kg·m²]: coefficient multiplying ω₂². It is the lower assembly’s inertia about the moving joint.</a:t>
            </a:r>
          </a:p>
        </p:txBody>
      </p:sp>
      <p:sp>
        <p:nvSpPr>
          <p:cNvPr id="5" name="body2">
            <a:extLst>
              <a:ext uri="{FF2B5EF4-FFF2-40B4-BE49-F238E27FC236}">
                <a16:creationId xmlns:a16="http://schemas.microsoft.com/office/drawing/2014/main" id="{DB45B76E-FFD8-4739-94E5-1A2EB33616F6}"/>
              </a:ext>
            </a:extLst>
          </p:cNvPr>
          <p:cNvSpPr>
            <a:spLocks noGrp="1"/>
          </p:cNvSpPr>
          <p:nvPr/>
        </p:nvSpPr>
        <p:spPr>
          <a:xfrm>
            <a:off x="666750" y="3800475"/>
            <a:ext cx="10858500" cy="971550"/>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C [kg·m²]: coefficient of the product ω₁ω₂ cos Δ. It measures how both rotations contribute to the same moving masses.</a:t>
            </a:r>
          </a:p>
        </p:txBody>
      </p:sp>
      <p:sp>
        <p:nvSpPr>
          <p:cNvPr id="6" name="body3">
            <a:extLst>
              <a:ext uri="{FF2B5EF4-FFF2-40B4-BE49-F238E27FC236}">
                <a16:creationId xmlns:a16="http://schemas.microsoft.com/office/drawing/2014/main" id="{70727590-64BB-4BEE-8CE2-E85EE9F0B0DD}"/>
              </a:ext>
            </a:extLst>
          </p:cNvPr>
          <p:cNvSpPr>
            <a:spLocks noGrp="1"/>
          </p:cNvSpPr>
          <p:nvPr/>
        </p:nvSpPr>
        <p:spPr>
          <a:xfrm>
            <a:off x="666750" y="4867275"/>
            <a:ext cx="10858500" cy="971550"/>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T</a:t>
            </a:r>
            <a:r>
              <a:rPr sz="1462" b="0" baseline="-25000">
                <a:solidFill>
                  <a:srgbClr val="202D3C"/>
                </a:solidFill>
                <a:latin typeface="Aptos"/>
                <a:ea typeface="Aptos"/>
                <a:cs typeface="Aptos"/>
              </a:rPr>
              <a:t>cross</a:t>
            </a:r>
            <a:r>
              <a:rPr sz="1950" b="0">
                <a:solidFill>
                  <a:srgbClr val="202D3C"/>
                </a:solidFill>
                <a:latin typeface="Aptos"/>
                <a:ea typeface="Aptos"/>
                <a:cs typeface="Aptos"/>
              </a:rPr>
              <a:t> [J] names that product term in total kinetic energy. Its sign can change, while the total kinetic energy remains nonnegative.</a:t>
            </a:r>
          </a:p>
        </p:txBody>
      </p:sp>
      <p:sp>
        <p:nvSpPr>
          <p:cNvPr id="7" name="page">
            <a:extLst>
              <a:ext uri="{FF2B5EF4-FFF2-40B4-BE49-F238E27FC236}">
                <a16:creationId xmlns:a16="http://schemas.microsoft.com/office/drawing/2014/main" id="{AA039E5B-D9CB-4D33-B926-0396C8FA3EB5}"/>
              </a:ext>
            </a:extLst>
          </p:cNvPr>
          <p:cNvSpPr>
            <a:spLocks noGrp="1"/>
          </p:cNvSpPr>
          <p:nvPr/>
        </p:nvSpPr>
        <p:spPr>
          <a:xfrm>
            <a:off x="11449050" y="6515100"/>
            <a:ext cx="333375" cy="190500"/>
          </a:xfrm>
          <a:prstGeom prst="rect">
            <a:avLst/>
          </a:prstGeom>
          <a:noFill/>
          <a:ln w="0">
            <a:noFill/>
          </a:ln>
        </p:spPr>
        <p:txBody>
          <a:bodyPr anchor="t">
            <a:noAutofit/>
          </a:bodyPr>
          <a:lstStyle/>
          <a:p>
            <a:pPr>
              <a:defRPr sz="1050" b="0">
                <a:solidFill>
                  <a:srgbClr val="6B7280"/>
                </a:solidFill>
                <a:latin typeface="Aptos"/>
                <a:ea typeface="Aptos"/>
                <a:cs typeface="Aptos"/>
              </a:defRPr>
            </a:pPr>
            <a:r>
              <a:rPr sz="1050" b="0">
                <a:solidFill>
                  <a:srgbClr val="6B7280"/>
                </a:solidFill>
                <a:latin typeface="Aptos"/>
                <a:ea typeface="Aptos"/>
                <a:cs typeface="Aptos"/>
              </a:rPr>
              <a:t>18</a:t>
            </a:r>
          </a:p>
        </p:txBody>
      </p:sp>
    </p:spTree>
    <p:extLst>
      <p:ext uri="{BB962C8B-B14F-4D97-AF65-F5344CB8AC3E}">
        <p14:creationId xmlns:p14="http://schemas.microsoft.com/office/powerpoint/2010/main" val="209774919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course">
            <a:extLst>
              <a:ext uri="{FF2B5EF4-FFF2-40B4-BE49-F238E27FC236}">
                <a16:creationId xmlns:a16="http://schemas.microsoft.com/office/drawing/2014/main" id="{4687FEBE-CC39-4BE7-94E1-EE47D01AD6C1}"/>
              </a:ext>
            </a:extLst>
          </p:cNvPr>
          <p:cNvSpPr>
            <a:spLocks noGrp="1"/>
          </p:cNvSpPr>
          <p:nvPr/>
        </p:nvSpPr>
        <p:spPr>
          <a:xfrm>
            <a:off x="495300" y="190500"/>
            <a:ext cx="8572500" cy="285750"/>
          </a:xfrm>
          <a:prstGeom prst="rect">
            <a:avLst/>
          </a:prstGeom>
          <a:noFill/>
          <a:ln w="0">
            <a:noFill/>
          </a:ln>
        </p:spPr>
        <p:txBody>
          <a:bodyPr anchor="t">
            <a:noAutofit/>
          </a:bodyPr>
          <a:lstStyle/>
          <a:p>
            <a:pPr>
              <a:defRPr sz="1275" b="1">
                <a:solidFill>
                  <a:srgbClr val="881C1C"/>
                </a:solidFill>
                <a:latin typeface="Aptos"/>
                <a:ea typeface="Aptos"/>
                <a:cs typeface="Aptos"/>
              </a:defRPr>
            </a:pPr>
            <a:r>
              <a:rPr sz="1275" b="1">
                <a:solidFill>
                  <a:srgbClr val="881C1C"/>
                </a:solidFill>
                <a:latin typeface="Aptos"/>
                <a:ea typeface="Aptos"/>
                <a:cs typeface="Aptos"/>
              </a:rPr>
              <a:t>MIE 402   ME LAB II</a:t>
            </a:r>
          </a:p>
        </p:txBody>
      </p:sp>
      <p:sp>
        <p:nvSpPr>
          <p:cNvPr id="2" name="title">
            <a:extLst>
              <a:ext uri="{FF2B5EF4-FFF2-40B4-BE49-F238E27FC236}">
                <a16:creationId xmlns:a16="http://schemas.microsoft.com/office/drawing/2014/main" id="{8D3B2E82-B58D-4C41-85C2-96ECA9A3D181}"/>
              </a:ext>
            </a:extLst>
          </p:cNvPr>
          <p:cNvSpPr>
            <a:spLocks noGrp="1"/>
          </p:cNvSpPr>
          <p:nvPr/>
        </p:nvSpPr>
        <p:spPr>
          <a:xfrm>
            <a:off x="495300" y="666750"/>
            <a:ext cx="11125200" cy="742950"/>
          </a:xfrm>
          <a:prstGeom prst="rect">
            <a:avLst/>
          </a:prstGeom>
          <a:noFill/>
          <a:ln w="0">
            <a:noFill/>
          </a:ln>
        </p:spPr>
        <p:txBody>
          <a:bodyPr anchor="t">
            <a:noAutofit/>
          </a:bodyPr>
          <a:lstStyle/>
          <a:p>
            <a:pPr>
              <a:defRPr sz="2925" b="1">
                <a:solidFill>
                  <a:srgbClr val="152437"/>
                </a:solidFill>
                <a:latin typeface="Aptos"/>
                <a:ea typeface="Aptos"/>
                <a:cs typeface="Aptos"/>
              </a:defRPr>
            </a:pPr>
            <a:r>
              <a:rPr sz="2925" b="1">
                <a:solidFill>
                  <a:srgbClr val="152437"/>
                </a:solidFill>
                <a:latin typeface="Aptos"/>
                <a:ea typeface="Aptos"/>
                <a:cs typeface="Aptos"/>
              </a:rPr>
              <a:t>Total kinetic energy</a:t>
            </a:r>
          </a:p>
        </p:txBody>
      </p:sp>
      <mc:AlternateContent xmlns:mc="http://schemas.openxmlformats.org/markup-compatibility/2006">
        <mc:Choice xmlns:a14="http://schemas.microsoft.com/office/drawing/2010/main" Requires="a14">
          <p:sp>
            <p:nvSpPr>
              <p:cNvPr id="3" name="EQ_kinetic">
                <a:extLst>
                  <a:ext uri="{FF2B5EF4-FFF2-40B4-BE49-F238E27FC236}">
                    <a16:creationId xmlns:a16="http://schemas.microsoft.com/office/drawing/2014/main" id="{4AEECDB9-9464-4BD8-AA86-C4EAD41EA960}"/>
                  </a:ext>
                </a:extLst>
              </p:cNvPr>
              <p:cNvSpPr>
                <a:spLocks noGrp="1"/>
              </p:cNvSpPr>
              <p:nvPr/>
            </p:nvSpPr>
            <p:spPr>
              <a:xfrm>
                <a:off x="666750" y="1666875"/>
                <a:ext cx="10858500" cy="762000"/>
              </a:xfrm>
              <a:prstGeom prst="rect">
                <a:avLst/>
              </a:prstGeom>
              <a:noFill/>
              <a:ln w="0">
                <a:noFill/>
              </a:ln>
            </p:spPr>
            <p:txBody>
              <a:bodyPr anchor="t">
                <a:noAutofit/>
              </a:bodyPr>
              <a:lstStyle/>
              <a:p>
                <a:pPr algn="l"/>
                <a14:m>
                  <m:oMathPara xmlns:m="http://schemas.openxmlformats.org/officeDocument/2006/math">
                    <m:oMathParaPr>
                      <m:jc m:val="left"/>
                    </m:oMathParaPr>
                    <m:oMath>
                      <m:r>
                        <a:rPr lang="en-US" sz="2400">
                          <a:latin typeface="Cambria Math"/>
                        </a:rPr>
                        <m:t>𝑇</m:t>
                      </m:r>
                      <m:r>
                        <a:rPr lang="en-US" sz="2400">
                          <a:latin typeface="Cambria Math"/>
                        </a:rPr>
                        <m:t> = </m:t>
                      </m:r>
                      <m:f>
                        <m:fPr>
                          <m:ctrlPr>
                            <a:rPr lang="en-US" sz="2400">
                              <a:latin typeface="Cambria Math"/>
                            </a:rPr>
                          </m:ctrlPr>
                        </m:fPr>
                        <m:num>
                          <m:r>
                            <a:rPr lang="en-US" sz="2400">
                              <a:latin typeface="Cambria Math"/>
                            </a:rPr>
                            <m:t>1</m:t>
                          </m:r>
                        </m:num>
                        <m:den>
                          <m:r>
                            <a:rPr lang="en-US" sz="2400">
                              <a:latin typeface="Cambria Math"/>
                            </a:rPr>
                            <m:t>2</m:t>
                          </m:r>
                        </m:den>
                      </m:f>
                      <m:sSub>
                        <m:sSubPr>
                          <m:ctrlPr>
                            <a:rPr lang="en-US" sz="2400">
                              <a:latin typeface="Cambria Math"/>
                            </a:rPr>
                          </m:ctrlPr>
                        </m:sSubPr>
                        <m:e>
                          <m:r>
                            <a:rPr lang="en-US" sz="2400">
                              <a:latin typeface="Cambria Math"/>
                            </a:rPr>
                            <m:t>𝐼</m:t>
                          </m:r>
                        </m:e>
                        <m:sub>
                          <m:r>
                            <a:rPr lang="en-US" sz="2400">
                              <a:latin typeface="Cambria Math"/>
                            </a:rPr>
                            <m:t>11</m:t>
                          </m:r>
                        </m:sub>
                      </m:sSub>
                      <m:sSup>
                        <m:sSupPr>
                          <m:ctrlPr>
                            <a:rPr lang="en-US" sz="2400" i="1">
                              <a:latin typeface="Cambria Math" panose="02040503050406030204" pitchFamily="18" charset="0"/>
                            </a:rPr>
                          </m:ctrlPr>
                        </m:sSupPr>
                        <m:e>
                          <m:sSub>
                            <m:sSubPr>
                              <m:ctrlPr>
                                <a:rPr lang="en-US" sz="2400">
                                  <a:latin typeface="Cambria Math"/>
                                </a:rPr>
                              </m:ctrlPr>
                            </m:sSubPr>
                            <m:e>
                              <m:r>
                                <a:rPr lang="en-US" sz="2400">
                                  <a:latin typeface="Cambria Math"/>
                                </a:rPr>
                                <m:t>𝜔</m:t>
                              </m:r>
                            </m:e>
                            <m:sub>
                              <m:r>
                                <a:rPr lang="en-US" sz="2400">
                                  <a:latin typeface="Cambria Math"/>
                                </a:rPr>
                                <m:t>1</m:t>
                              </m:r>
                            </m:sub>
                          </m:sSub>
                        </m:e>
                        <m:sup>
                          <m:r>
                            <a:rPr lang="en-US" sz="2400">
                              <a:latin typeface="Cambria Math"/>
                            </a:rPr>
                            <m:t>2</m:t>
                          </m:r>
                        </m:sup>
                      </m:sSup>
                      <m:r>
                        <a:rPr lang="en-US" sz="2400">
                          <a:latin typeface="Cambria Math"/>
                        </a:rPr>
                        <m:t> + </m:t>
                      </m:r>
                      <m:f>
                        <m:fPr>
                          <m:ctrlPr>
                            <a:rPr lang="en-US" sz="2400">
                              <a:latin typeface="Cambria Math"/>
                            </a:rPr>
                          </m:ctrlPr>
                        </m:fPr>
                        <m:num>
                          <m:r>
                            <a:rPr lang="en-US" sz="2400">
                              <a:latin typeface="Cambria Math"/>
                            </a:rPr>
                            <m:t>1</m:t>
                          </m:r>
                        </m:num>
                        <m:den>
                          <m:r>
                            <a:rPr lang="en-US" sz="2400">
                              <a:latin typeface="Cambria Math"/>
                            </a:rPr>
                            <m:t>2</m:t>
                          </m:r>
                        </m:den>
                      </m:f>
                      <m:sSub>
                        <m:sSubPr>
                          <m:ctrlPr>
                            <a:rPr lang="en-US" sz="2400">
                              <a:latin typeface="Cambria Math"/>
                            </a:rPr>
                          </m:ctrlPr>
                        </m:sSubPr>
                        <m:e>
                          <m:r>
                            <a:rPr lang="en-US" sz="2400">
                              <a:latin typeface="Cambria Math"/>
                            </a:rPr>
                            <m:t>𝐼</m:t>
                          </m:r>
                        </m:e>
                        <m:sub>
                          <m:r>
                            <a:rPr lang="en-US" sz="2400">
                              <a:latin typeface="Cambria Math"/>
                            </a:rPr>
                            <m:t>22</m:t>
                          </m:r>
                        </m:sub>
                      </m:sSub>
                      <m:sSup>
                        <m:sSupPr>
                          <m:ctrlPr>
                            <a:rPr lang="en-US" sz="2400" i="1">
                              <a:latin typeface="Cambria Math" panose="02040503050406030204" pitchFamily="18" charset="0"/>
                            </a:rPr>
                          </m:ctrlPr>
                        </m:sSupPr>
                        <m:e>
                          <m:sSub>
                            <m:sSubPr>
                              <m:ctrlPr>
                                <a:rPr lang="en-US" sz="2400">
                                  <a:latin typeface="Cambria Math"/>
                                </a:rPr>
                              </m:ctrlPr>
                            </m:sSubPr>
                            <m:e>
                              <m:r>
                                <a:rPr lang="en-US" sz="2400">
                                  <a:latin typeface="Cambria Math"/>
                                </a:rPr>
                                <m:t>𝜔</m:t>
                              </m:r>
                            </m:e>
                            <m:sub>
                              <m:r>
                                <a:rPr lang="en-US" sz="2400">
                                  <a:latin typeface="Cambria Math"/>
                                </a:rPr>
                                <m:t>2</m:t>
                              </m:r>
                            </m:sub>
                          </m:sSub>
                        </m:e>
                        <m:sup>
                          <m:r>
                            <a:rPr lang="en-US" sz="2400">
                              <a:latin typeface="Cambria Math"/>
                            </a:rPr>
                            <m:t>2</m:t>
                          </m:r>
                        </m:sup>
                      </m:sSup>
                      <m:r>
                        <a:rPr lang="en-US" sz="2400">
                          <a:latin typeface="Cambria Math"/>
                        </a:rPr>
                        <m:t> + </m:t>
                      </m:r>
                      <m:r>
                        <a:rPr lang="en-US" sz="2400">
                          <a:latin typeface="Cambria Math"/>
                        </a:rPr>
                        <m:t>𝐶</m:t>
                      </m:r>
                      <m:r>
                        <a:rPr lang="en-US" sz="2400">
                          <a:latin typeface="Cambria Math"/>
                        </a:rPr>
                        <m:t> </m:t>
                      </m:r>
                      <m:r>
                        <a:rPr lang="en-US" sz="2400">
                          <a:latin typeface="Cambria Math"/>
                        </a:rPr>
                        <m:t>𝑐𝑜𝑠</m:t>
                      </m:r>
                      <m:r>
                        <a:rPr lang="en-US" sz="2400">
                          <a:latin typeface="Cambria Math"/>
                        </a:rPr>
                        <m:t> </m:t>
                      </m:r>
                      <m:r>
                        <a:rPr lang="en-US" sz="2400">
                          <a:latin typeface="Cambria Math"/>
                        </a:rPr>
                        <m:t>𝛥</m:t>
                      </m:r>
                      <m:r>
                        <a:rPr lang="en-US" sz="2400">
                          <a:latin typeface="Cambria Math"/>
                        </a:rPr>
                        <m:t> </m:t>
                      </m:r>
                      <m:sSub>
                        <m:sSubPr>
                          <m:ctrlPr>
                            <a:rPr lang="en-US" sz="2400">
                              <a:latin typeface="Cambria Math"/>
                            </a:rPr>
                          </m:ctrlPr>
                        </m:sSubPr>
                        <m:e>
                          <m:r>
                            <a:rPr lang="en-US" sz="2400">
                              <a:latin typeface="Cambria Math"/>
                            </a:rPr>
                            <m:t>𝜔</m:t>
                          </m:r>
                        </m:e>
                        <m:sub>
                          <m:r>
                            <a:rPr lang="en-US" sz="2400">
                              <a:latin typeface="Cambria Math"/>
                            </a:rPr>
                            <m:t>1</m:t>
                          </m:r>
                        </m:sub>
                      </m:sSub>
                      <m:sSub>
                        <m:sSubPr>
                          <m:ctrlPr>
                            <a:rPr lang="en-US" sz="2400">
                              <a:latin typeface="Cambria Math"/>
                            </a:rPr>
                          </m:ctrlPr>
                        </m:sSubPr>
                        <m:e>
                          <m:r>
                            <a:rPr lang="en-US" sz="2400">
                              <a:latin typeface="Cambria Math"/>
                            </a:rPr>
                            <m:t>𝜔</m:t>
                          </m:r>
                        </m:e>
                        <m:sub>
                          <m:r>
                            <a:rPr lang="en-US" sz="2400">
                              <a:latin typeface="Cambria Math"/>
                            </a:rPr>
                            <m:t>2</m:t>
                          </m:r>
                        </m:sub>
                      </m:sSub>
                    </m:oMath>
                  </m:oMathPara>
                </a14:m>
                <a:endParaRPr lang="en-US" sz="2400"/>
              </a:p>
            </p:txBody>
          </p:sp>
        </mc:Choice>
        <mc:Fallback>
          <p:sp>
            <p:nvSpPr>
              <p:cNvPr id="3" name="EQ_kinetic">
                <a:extLst>
                  <a:ext uri="{FF2B5EF4-FFF2-40B4-BE49-F238E27FC236}">
                    <a16:creationId xmlns:a16="http://schemas.microsoft.com/office/drawing/2014/main" id="{4AEECDB9-9464-4BD8-AA86-C4EAD41EA960}"/>
                  </a:ext>
                </a:extLst>
              </p:cNvPr>
              <p:cNvSpPr>
                <a:spLocks noGrp="1" noRot="1" noChangeAspect="1" noMove="1" noResize="1" noEditPoints="1" noAdjustHandles="1" noChangeArrowheads="1" noChangeShapeType="1" noTextEdit="1"/>
              </p:cNvSpPr>
              <p:nvPr/>
            </p:nvSpPr>
            <p:spPr>
              <a:xfrm>
                <a:off x="666750" y="1666875"/>
                <a:ext cx="10858500" cy="762000"/>
              </a:xfrm>
              <a:prstGeom prst="rect">
                <a:avLst/>
              </a:prstGeom>
              <a:blipFill>
                <a:blip r:embed="rId3"/>
                <a:stretch>
                  <a:fillRect/>
                </a:stretch>
              </a:blipFill>
              <a:ln w="0">
                <a:no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 name="EQ_inertiacoeff">
                <a:extLst>
                  <a:ext uri="{FF2B5EF4-FFF2-40B4-BE49-F238E27FC236}">
                    <a16:creationId xmlns:a16="http://schemas.microsoft.com/office/drawing/2014/main" id="{E5A55911-A6BD-490B-94CE-41EC7B0F46C7}"/>
                  </a:ext>
                </a:extLst>
              </p:cNvPr>
              <p:cNvSpPr>
                <a:spLocks noGrp="1"/>
              </p:cNvSpPr>
              <p:nvPr/>
            </p:nvSpPr>
            <p:spPr>
              <a:xfrm>
                <a:off x="666750" y="2562225"/>
                <a:ext cx="10858500" cy="1047750"/>
              </a:xfrm>
              <a:prstGeom prst="rect">
                <a:avLst/>
              </a:prstGeom>
              <a:noFill/>
              <a:ln w="0">
                <a:noFill/>
              </a:ln>
            </p:spPr>
            <p:txBody>
              <a:bodyPr anchor="t">
                <a:noAutofit/>
              </a:bodyPr>
              <a:lstStyle/>
              <a:p>
                <a:pPr algn="l"/>
                <a14:m>
                  <m:oMathPara xmlns:m="http://schemas.openxmlformats.org/officeDocument/2006/math">
                    <m:oMathParaPr>
                      <m:jc m:val="left"/>
                    </m:oMathParaPr>
                    <m:oMath>
                      <m:eqArr>
                        <m:eqArrPr>
                          <m:ctrlPr>
                            <a:rPr lang="en-US" sz="2400">
                              <a:latin typeface="Cambria Math" panose="02040503050406030204" pitchFamily="18" charset="0"/>
                            </a:rPr>
                          </m:ctrlPr>
                        </m:eqArrPr>
                        <m:e>
                          <m:sSub>
                            <m:sSubPr>
                              <m:ctrlPr>
                                <a:rPr lang="en-US" sz="2400">
                                  <a:latin typeface="Cambria Math"/>
                                </a:rPr>
                              </m:ctrlPr>
                            </m:sSubPr>
                            <m:e>
                              <m:r>
                                <a:rPr lang="en-US" sz="2400">
                                  <a:latin typeface="Cambria Math"/>
                                </a:rPr>
                                <m:t>𝐼</m:t>
                              </m:r>
                            </m:e>
                            <m:sub>
                              <m:r>
                                <a:rPr lang="en-US" sz="2400">
                                  <a:latin typeface="Cambria Math"/>
                                </a:rPr>
                                <m:t>11</m:t>
                              </m:r>
                            </m:sub>
                          </m:sSub>
                          <m:r>
                            <a:rPr lang="en-US" sz="2400">
                              <a:latin typeface="Cambria Math"/>
                            </a:rPr>
                            <m:t> = (</m:t>
                          </m:r>
                          <m:f>
                            <m:fPr>
                              <m:ctrlPr>
                                <a:rPr lang="en-US" sz="2400" i="1">
                                  <a:latin typeface="Cambria Math" panose="02040503050406030204" pitchFamily="18" charset="0"/>
                                </a:rPr>
                              </m:ctrlPr>
                            </m:fPr>
                            <m:num>
                              <m:sSub>
                                <m:sSubPr>
                                  <m:ctrlPr>
                                    <a:rPr lang="en-US" sz="2400">
                                      <a:latin typeface="Cambria Math"/>
                                    </a:rPr>
                                  </m:ctrlPr>
                                </m:sSubPr>
                                <m:e>
                                  <m:r>
                                    <a:rPr lang="en-US" sz="2400">
                                      <a:latin typeface="Cambria Math"/>
                                    </a:rPr>
                                    <m:t>𝑚</m:t>
                                  </m:r>
                                </m:e>
                                <m:sub>
                                  <m:r>
                                    <a:rPr lang="en-US" sz="2400">
                                      <a:latin typeface="Cambria Math"/>
                                    </a:rPr>
                                    <m:t>1</m:t>
                                  </m:r>
                                </m:sub>
                              </m:sSub>
                            </m:num>
                            <m:den>
                              <m:r>
                                <a:rPr lang="en-US" sz="2400">
                                  <a:latin typeface="Cambria Math"/>
                                </a:rPr>
                                <m:t>3</m:t>
                              </m:r>
                            </m:den>
                          </m:f>
                          <m:r>
                            <a:rPr lang="en-US" sz="2400">
                              <a:latin typeface="Cambria Math"/>
                            </a:rPr>
                            <m:t>+</m:t>
                          </m:r>
                          <m:sSub>
                            <m:sSubPr>
                              <m:ctrlPr>
                                <a:rPr lang="en-US" sz="2400">
                                  <a:latin typeface="Cambria Math"/>
                                </a:rPr>
                              </m:ctrlPr>
                            </m:sSubPr>
                            <m:e>
                              <m:r>
                                <a:rPr lang="en-US" sz="2400">
                                  <a:latin typeface="Cambria Math"/>
                                </a:rPr>
                                <m:t>𝑀</m:t>
                              </m:r>
                            </m:e>
                            <m:sub>
                              <m:r>
                                <a:rPr lang="en-US" sz="2400">
                                  <a:latin typeface="Cambria Math"/>
                                </a:rPr>
                                <m:t>1</m:t>
                              </m:r>
                            </m:sub>
                          </m:sSub>
                          <m:r>
                            <a:rPr lang="en-US" sz="2400">
                              <a:latin typeface="Cambria Math"/>
                            </a:rPr>
                            <m:t>+</m:t>
                          </m:r>
                          <m:sSub>
                            <m:sSubPr>
                              <m:ctrlPr>
                                <a:rPr lang="en-US" sz="2400">
                                  <a:latin typeface="Cambria Math"/>
                                </a:rPr>
                              </m:ctrlPr>
                            </m:sSubPr>
                            <m:e>
                              <m:r>
                                <a:rPr lang="en-US" sz="2400">
                                  <a:latin typeface="Cambria Math"/>
                                </a:rPr>
                                <m:t>𝑚</m:t>
                              </m:r>
                            </m:e>
                            <m:sub>
                              <m:r>
                                <a:rPr lang="en-US" sz="2400">
                                  <a:latin typeface="Cambria Math"/>
                                </a:rPr>
                                <m:t>2</m:t>
                              </m:r>
                            </m:sub>
                          </m:sSub>
                          <m:r>
                            <a:rPr lang="en-US" sz="2400">
                              <a:latin typeface="Cambria Math"/>
                            </a:rPr>
                            <m:t>+</m:t>
                          </m:r>
                          <m:sSub>
                            <m:sSubPr>
                              <m:ctrlPr>
                                <a:rPr lang="en-US" sz="2400">
                                  <a:latin typeface="Cambria Math"/>
                                </a:rPr>
                              </m:ctrlPr>
                            </m:sSubPr>
                            <m:e>
                              <m:r>
                                <a:rPr lang="en-US" sz="2400">
                                  <a:latin typeface="Cambria Math"/>
                                </a:rPr>
                                <m:t>𝑀</m:t>
                              </m:r>
                            </m:e>
                            <m:sub>
                              <m:r>
                                <a:rPr lang="en-US" sz="2400">
                                  <a:latin typeface="Cambria Math"/>
                                </a:rPr>
                                <m:t>2</m:t>
                              </m:r>
                            </m:sub>
                          </m:sSub>
                          <m:r>
                            <a:rPr lang="en-US" sz="2400">
                              <a:latin typeface="Cambria Math"/>
                            </a:rPr>
                            <m:t>)</m:t>
                          </m:r>
                          <m:sSup>
                            <m:sSupPr>
                              <m:ctrlPr>
                                <a:rPr lang="en-US" sz="2400" i="1">
                                  <a:latin typeface="Cambria Math" panose="02040503050406030204" pitchFamily="18" charset="0"/>
                                </a:rPr>
                              </m:ctrlPr>
                            </m:sSupPr>
                            <m:e>
                              <m:sSub>
                                <m:sSubPr>
                                  <m:ctrlPr>
                                    <a:rPr lang="en-US" sz="2400">
                                      <a:latin typeface="Cambria Math"/>
                                    </a:rPr>
                                  </m:ctrlPr>
                                </m:sSubPr>
                                <m:e>
                                  <m:r>
                                    <a:rPr lang="en-US" sz="2400">
                                      <a:latin typeface="Cambria Math"/>
                                    </a:rPr>
                                    <m:t>𝐿</m:t>
                                  </m:r>
                                </m:e>
                                <m:sub>
                                  <m:r>
                                    <a:rPr lang="en-US" sz="2400">
                                      <a:latin typeface="Cambria Math"/>
                                    </a:rPr>
                                    <m:t>1</m:t>
                                  </m:r>
                                </m:sub>
                              </m:sSub>
                            </m:e>
                            <m:sup>
                              <m:r>
                                <a:rPr lang="en-US" sz="2400">
                                  <a:latin typeface="Cambria Math"/>
                                </a:rPr>
                                <m:t>2</m:t>
                              </m:r>
                            </m:sup>
                          </m:sSup>
                        </m:e>
                        <m:e>
                          <m:sSub>
                            <m:sSubPr>
                              <m:ctrlPr>
                                <a:rPr lang="en-US" sz="2400">
                                  <a:latin typeface="Cambria Math"/>
                                </a:rPr>
                              </m:ctrlPr>
                            </m:sSubPr>
                            <m:e>
                              <m:r>
                                <a:rPr lang="en-US" sz="2400">
                                  <a:latin typeface="Cambria Math"/>
                                </a:rPr>
                                <m:t>𝐼</m:t>
                              </m:r>
                            </m:e>
                            <m:sub>
                              <m:r>
                                <a:rPr lang="en-US" sz="2400">
                                  <a:latin typeface="Cambria Math"/>
                                </a:rPr>
                                <m:t>22</m:t>
                              </m:r>
                            </m:sub>
                          </m:sSub>
                          <m:r>
                            <a:rPr lang="en-US" sz="2400">
                              <a:latin typeface="Cambria Math"/>
                            </a:rPr>
                            <m:t> = (</m:t>
                          </m:r>
                          <m:f>
                            <m:fPr>
                              <m:ctrlPr>
                                <a:rPr lang="en-US" sz="2400" i="1">
                                  <a:latin typeface="Cambria Math" panose="02040503050406030204" pitchFamily="18" charset="0"/>
                                </a:rPr>
                              </m:ctrlPr>
                            </m:fPr>
                            <m:num>
                              <m:sSub>
                                <m:sSubPr>
                                  <m:ctrlPr>
                                    <a:rPr lang="en-US" sz="2400">
                                      <a:latin typeface="Cambria Math"/>
                                    </a:rPr>
                                  </m:ctrlPr>
                                </m:sSubPr>
                                <m:e>
                                  <m:r>
                                    <a:rPr lang="en-US" sz="2400">
                                      <a:latin typeface="Cambria Math"/>
                                    </a:rPr>
                                    <m:t>𝑚</m:t>
                                  </m:r>
                                </m:e>
                                <m:sub>
                                  <m:r>
                                    <a:rPr lang="en-US" sz="2400">
                                      <a:latin typeface="Cambria Math"/>
                                    </a:rPr>
                                    <m:t>2</m:t>
                                  </m:r>
                                </m:sub>
                              </m:sSub>
                            </m:num>
                            <m:den>
                              <m:r>
                                <a:rPr lang="en-US" sz="2400">
                                  <a:latin typeface="Cambria Math"/>
                                </a:rPr>
                                <m:t>3</m:t>
                              </m:r>
                            </m:den>
                          </m:f>
                          <m:r>
                            <a:rPr lang="en-US" sz="2400">
                              <a:latin typeface="Cambria Math"/>
                            </a:rPr>
                            <m:t>+</m:t>
                          </m:r>
                          <m:sSub>
                            <m:sSubPr>
                              <m:ctrlPr>
                                <a:rPr lang="en-US" sz="2400">
                                  <a:latin typeface="Cambria Math"/>
                                </a:rPr>
                              </m:ctrlPr>
                            </m:sSubPr>
                            <m:e>
                              <m:r>
                                <a:rPr lang="en-US" sz="2400">
                                  <a:latin typeface="Cambria Math"/>
                                </a:rPr>
                                <m:t>𝑀</m:t>
                              </m:r>
                            </m:e>
                            <m:sub>
                              <m:r>
                                <a:rPr lang="en-US" sz="2400">
                                  <a:latin typeface="Cambria Math"/>
                                </a:rPr>
                                <m:t>2</m:t>
                              </m:r>
                            </m:sub>
                          </m:sSub>
                          <m:r>
                            <a:rPr lang="en-US" sz="2400">
                              <a:latin typeface="Cambria Math"/>
                            </a:rPr>
                            <m:t>)</m:t>
                          </m:r>
                          <m:sSup>
                            <m:sSupPr>
                              <m:ctrlPr>
                                <a:rPr lang="en-US" sz="2400" i="1">
                                  <a:latin typeface="Cambria Math" panose="02040503050406030204" pitchFamily="18" charset="0"/>
                                </a:rPr>
                              </m:ctrlPr>
                            </m:sSupPr>
                            <m:e>
                              <m:sSub>
                                <m:sSubPr>
                                  <m:ctrlPr>
                                    <a:rPr lang="en-US" sz="2400">
                                      <a:latin typeface="Cambria Math"/>
                                    </a:rPr>
                                  </m:ctrlPr>
                                </m:sSubPr>
                                <m:e>
                                  <m:r>
                                    <a:rPr lang="en-US" sz="2400">
                                      <a:latin typeface="Cambria Math"/>
                                    </a:rPr>
                                    <m:t>𝐿</m:t>
                                  </m:r>
                                </m:e>
                                <m:sub>
                                  <m:r>
                                    <a:rPr lang="en-US" sz="2400">
                                      <a:latin typeface="Cambria Math"/>
                                    </a:rPr>
                                    <m:t>2</m:t>
                                  </m:r>
                                </m:sub>
                              </m:sSub>
                            </m:e>
                            <m:sup>
                              <m:r>
                                <a:rPr lang="en-US" sz="2400">
                                  <a:latin typeface="Cambria Math"/>
                                </a:rPr>
                                <m:t>2</m:t>
                              </m:r>
                            </m:sup>
                          </m:sSup>
                        </m:e>
                      </m:eqArr>
                    </m:oMath>
                  </m:oMathPara>
                </a14:m>
                <a:endParaRPr lang="en-US" sz="2400"/>
              </a:p>
            </p:txBody>
          </p:sp>
        </mc:Choice>
        <mc:Fallback>
          <p:sp>
            <p:nvSpPr>
              <p:cNvPr id="4" name="EQ_inertiacoeff">
                <a:extLst>
                  <a:ext uri="{FF2B5EF4-FFF2-40B4-BE49-F238E27FC236}">
                    <a16:creationId xmlns:a16="http://schemas.microsoft.com/office/drawing/2014/main" id="{E5A55911-A6BD-490B-94CE-41EC7B0F46C7}"/>
                  </a:ext>
                </a:extLst>
              </p:cNvPr>
              <p:cNvSpPr>
                <a:spLocks noGrp="1" noRot="1" noChangeAspect="1" noMove="1" noResize="1" noEditPoints="1" noAdjustHandles="1" noChangeArrowheads="1" noChangeShapeType="1" noTextEdit="1"/>
              </p:cNvSpPr>
              <p:nvPr/>
            </p:nvSpPr>
            <p:spPr>
              <a:xfrm>
                <a:off x="666750" y="2562225"/>
                <a:ext cx="10858500" cy="1047750"/>
              </a:xfrm>
              <a:prstGeom prst="rect">
                <a:avLst/>
              </a:prstGeom>
              <a:blipFill>
                <a:blip r:embed="rId4"/>
                <a:stretch>
                  <a:fillRect b="-29070"/>
                </a:stretch>
              </a:blipFill>
              <a:ln w="0">
                <a:no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5" name="EQ_couplingcoeff">
                <a:extLst>
                  <a:ext uri="{FF2B5EF4-FFF2-40B4-BE49-F238E27FC236}">
                    <a16:creationId xmlns:a16="http://schemas.microsoft.com/office/drawing/2014/main" id="{C7628FC4-D301-4600-B980-744D3C526F1B}"/>
                  </a:ext>
                </a:extLst>
              </p:cNvPr>
              <p:cNvSpPr>
                <a:spLocks noGrp="1"/>
              </p:cNvSpPr>
              <p:nvPr/>
            </p:nvSpPr>
            <p:spPr>
              <a:xfrm>
                <a:off x="666750" y="3743325"/>
                <a:ext cx="10858500" cy="647700"/>
              </a:xfrm>
              <a:prstGeom prst="rect">
                <a:avLst/>
              </a:prstGeom>
              <a:noFill/>
              <a:ln w="0">
                <a:noFill/>
              </a:ln>
            </p:spPr>
            <p:txBody>
              <a:bodyPr anchor="t">
                <a:noAutofit/>
              </a:bodyPr>
              <a:lstStyle/>
              <a:p>
                <a:pPr algn="l"/>
                <a14:m>
                  <m:oMathPara xmlns:m="http://schemas.openxmlformats.org/officeDocument/2006/math">
                    <m:oMathParaPr>
                      <m:jc m:val="left"/>
                    </m:oMathParaPr>
                    <m:oMath>
                      <m:r>
                        <a:rPr lang="en-US" sz="2400">
                          <a:latin typeface="Cambria Math"/>
                        </a:rPr>
                        <m:t>𝐶</m:t>
                      </m:r>
                      <m:r>
                        <a:rPr lang="en-US" sz="2400">
                          <a:latin typeface="Cambria Math"/>
                        </a:rPr>
                        <m:t> = (</m:t>
                      </m:r>
                      <m:f>
                        <m:fPr>
                          <m:ctrlPr>
                            <a:rPr lang="en-US" sz="2400" i="1">
                              <a:latin typeface="Cambria Math" panose="02040503050406030204" pitchFamily="18" charset="0"/>
                            </a:rPr>
                          </m:ctrlPr>
                        </m:fPr>
                        <m:num>
                          <m:sSub>
                            <m:sSubPr>
                              <m:ctrlPr>
                                <a:rPr lang="en-US" sz="2400">
                                  <a:latin typeface="Cambria Math"/>
                                </a:rPr>
                              </m:ctrlPr>
                            </m:sSubPr>
                            <m:e>
                              <m:r>
                                <a:rPr lang="en-US" sz="2400">
                                  <a:latin typeface="Cambria Math"/>
                                </a:rPr>
                                <m:t>𝑚</m:t>
                              </m:r>
                            </m:e>
                            <m:sub>
                              <m:r>
                                <a:rPr lang="en-US" sz="2400">
                                  <a:latin typeface="Cambria Math"/>
                                </a:rPr>
                                <m:t>2</m:t>
                              </m:r>
                            </m:sub>
                          </m:sSub>
                        </m:num>
                        <m:den>
                          <m:r>
                            <a:rPr lang="en-US" sz="2400">
                              <a:latin typeface="Cambria Math"/>
                            </a:rPr>
                            <m:t>2</m:t>
                          </m:r>
                        </m:den>
                      </m:f>
                      <m:r>
                        <a:rPr lang="en-US" sz="2400">
                          <a:latin typeface="Cambria Math"/>
                        </a:rPr>
                        <m:t>+</m:t>
                      </m:r>
                      <m:sSub>
                        <m:sSubPr>
                          <m:ctrlPr>
                            <a:rPr lang="en-US" sz="2400">
                              <a:latin typeface="Cambria Math"/>
                            </a:rPr>
                          </m:ctrlPr>
                        </m:sSubPr>
                        <m:e>
                          <m:r>
                            <a:rPr lang="en-US" sz="2400">
                              <a:latin typeface="Cambria Math"/>
                            </a:rPr>
                            <m:t>𝑀</m:t>
                          </m:r>
                        </m:e>
                        <m:sub>
                          <m:r>
                            <a:rPr lang="en-US" sz="2400">
                              <a:latin typeface="Cambria Math"/>
                            </a:rPr>
                            <m:t>2</m:t>
                          </m:r>
                        </m:sub>
                      </m:sSub>
                      <m:r>
                        <a:rPr lang="en-US" sz="2400">
                          <a:latin typeface="Cambria Math"/>
                        </a:rPr>
                        <m:t>)</m:t>
                      </m:r>
                      <m:sSub>
                        <m:sSubPr>
                          <m:ctrlPr>
                            <a:rPr lang="en-US" sz="2400">
                              <a:latin typeface="Cambria Math"/>
                            </a:rPr>
                          </m:ctrlPr>
                        </m:sSubPr>
                        <m:e>
                          <m:r>
                            <a:rPr lang="en-US" sz="2400">
                              <a:latin typeface="Cambria Math"/>
                            </a:rPr>
                            <m:t>𝐿</m:t>
                          </m:r>
                        </m:e>
                        <m:sub>
                          <m:r>
                            <a:rPr lang="en-US" sz="2400">
                              <a:latin typeface="Cambria Math"/>
                            </a:rPr>
                            <m:t>1</m:t>
                          </m:r>
                        </m:sub>
                      </m:sSub>
                      <m:sSub>
                        <m:sSubPr>
                          <m:ctrlPr>
                            <a:rPr lang="en-US" sz="2400">
                              <a:latin typeface="Cambria Math"/>
                            </a:rPr>
                          </m:ctrlPr>
                        </m:sSubPr>
                        <m:e>
                          <m:r>
                            <a:rPr lang="en-US" sz="2400">
                              <a:latin typeface="Cambria Math"/>
                            </a:rPr>
                            <m:t>𝐿</m:t>
                          </m:r>
                        </m:e>
                        <m:sub>
                          <m:r>
                            <a:rPr lang="en-US" sz="2400">
                              <a:latin typeface="Cambria Math"/>
                            </a:rPr>
                            <m:t>2</m:t>
                          </m:r>
                        </m:sub>
                      </m:sSub>
                    </m:oMath>
                  </m:oMathPara>
                </a14:m>
                <a:endParaRPr lang="en-US" sz="2400"/>
              </a:p>
            </p:txBody>
          </p:sp>
        </mc:Choice>
        <mc:Fallback>
          <p:sp>
            <p:nvSpPr>
              <p:cNvPr id="5" name="EQ_couplingcoeff">
                <a:extLst>
                  <a:ext uri="{FF2B5EF4-FFF2-40B4-BE49-F238E27FC236}">
                    <a16:creationId xmlns:a16="http://schemas.microsoft.com/office/drawing/2014/main" id="{C7628FC4-D301-4600-B980-744D3C526F1B}"/>
                  </a:ext>
                </a:extLst>
              </p:cNvPr>
              <p:cNvSpPr>
                <a:spLocks noGrp="1" noRot="1" noChangeAspect="1" noMove="1" noResize="1" noEditPoints="1" noAdjustHandles="1" noChangeArrowheads="1" noChangeShapeType="1" noTextEdit="1"/>
              </p:cNvSpPr>
              <p:nvPr/>
            </p:nvSpPr>
            <p:spPr>
              <a:xfrm>
                <a:off x="666750" y="3743325"/>
                <a:ext cx="10858500" cy="647700"/>
              </a:xfrm>
              <a:prstGeom prst="rect">
                <a:avLst/>
              </a:prstGeom>
              <a:blipFill>
                <a:blip r:embed="rId5"/>
                <a:stretch>
                  <a:fillRect b="-3774"/>
                </a:stretch>
              </a:blipFill>
              <a:ln w="0">
                <a:noFill/>
              </a:ln>
            </p:spPr>
            <p:txBody>
              <a:bodyPr/>
              <a:lstStyle/>
              <a:p>
                <a:r>
                  <a:rPr lang="en-US">
                    <a:noFill/>
                  </a:rPr>
                  <a:t> </a:t>
                </a:r>
              </a:p>
            </p:txBody>
          </p:sp>
        </mc:Fallback>
      </mc:AlternateContent>
      <p:sp>
        <p:nvSpPr>
          <p:cNvPr id="6" name="body0">
            <a:extLst>
              <a:ext uri="{FF2B5EF4-FFF2-40B4-BE49-F238E27FC236}">
                <a16:creationId xmlns:a16="http://schemas.microsoft.com/office/drawing/2014/main" id="{6156F658-B8FB-4EB7-AE44-52803749A537}"/>
              </a:ext>
            </a:extLst>
          </p:cNvPr>
          <p:cNvSpPr>
            <a:spLocks noGrp="1"/>
          </p:cNvSpPr>
          <p:nvPr/>
        </p:nvSpPr>
        <p:spPr>
          <a:xfrm>
            <a:off x="666750" y="4524375"/>
            <a:ext cx="10858500" cy="492125"/>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The first two terms account for motion associated with each angular speed.</a:t>
            </a:r>
          </a:p>
        </p:txBody>
      </p:sp>
      <p:sp>
        <p:nvSpPr>
          <p:cNvPr id="7" name="body1">
            <a:extLst>
              <a:ext uri="{FF2B5EF4-FFF2-40B4-BE49-F238E27FC236}">
                <a16:creationId xmlns:a16="http://schemas.microsoft.com/office/drawing/2014/main" id="{76FB37A6-6553-4E99-A052-418659EC3193}"/>
              </a:ext>
            </a:extLst>
          </p:cNvPr>
          <p:cNvSpPr>
            <a:spLocks noGrp="1"/>
          </p:cNvSpPr>
          <p:nvPr/>
        </p:nvSpPr>
        <p:spPr>
          <a:xfrm>
            <a:off x="666750" y="5111750"/>
            <a:ext cx="10858500" cy="492125"/>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The cross term accounts for the fact that both rotations contribute to the lower assembly’s velocity.</a:t>
            </a:r>
          </a:p>
        </p:txBody>
      </p:sp>
      <p:sp>
        <p:nvSpPr>
          <p:cNvPr id="8" name="body2">
            <a:extLst>
              <a:ext uri="{FF2B5EF4-FFF2-40B4-BE49-F238E27FC236}">
                <a16:creationId xmlns:a16="http://schemas.microsoft.com/office/drawing/2014/main" id="{6477A0EC-907D-40EE-9DEE-1F2C4FEC65EF}"/>
              </a:ext>
            </a:extLst>
          </p:cNvPr>
          <p:cNvSpPr>
            <a:spLocks noGrp="1"/>
          </p:cNvSpPr>
          <p:nvPr/>
        </p:nvSpPr>
        <p:spPr>
          <a:xfrm>
            <a:off x="666750" y="5699125"/>
            <a:ext cx="10858500" cy="492125"/>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I₁₁, I₂₂ and C all have units kg·m². They depend only on the apparatus masses and lengths.</a:t>
            </a:r>
          </a:p>
        </p:txBody>
      </p:sp>
      <p:sp>
        <p:nvSpPr>
          <p:cNvPr id="9" name="page">
            <a:extLst>
              <a:ext uri="{FF2B5EF4-FFF2-40B4-BE49-F238E27FC236}">
                <a16:creationId xmlns:a16="http://schemas.microsoft.com/office/drawing/2014/main" id="{14DD781F-2478-401F-984B-44F2BE5DB846}"/>
              </a:ext>
            </a:extLst>
          </p:cNvPr>
          <p:cNvSpPr>
            <a:spLocks noGrp="1"/>
          </p:cNvSpPr>
          <p:nvPr/>
        </p:nvSpPr>
        <p:spPr>
          <a:xfrm>
            <a:off x="11449050" y="6515100"/>
            <a:ext cx="333375" cy="190500"/>
          </a:xfrm>
          <a:prstGeom prst="rect">
            <a:avLst/>
          </a:prstGeom>
          <a:noFill/>
          <a:ln w="0">
            <a:noFill/>
          </a:ln>
        </p:spPr>
        <p:txBody>
          <a:bodyPr anchor="t">
            <a:noAutofit/>
          </a:bodyPr>
          <a:lstStyle/>
          <a:p>
            <a:pPr>
              <a:defRPr sz="1050" b="0">
                <a:solidFill>
                  <a:srgbClr val="6B7280"/>
                </a:solidFill>
                <a:latin typeface="Aptos"/>
                <a:ea typeface="Aptos"/>
                <a:cs typeface="Aptos"/>
              </a:defRPr>
            </a:pPr>
            <a:r>
              <a:rPr sz="1050" b="0">
                <a:solidFill>
                  <a:srgbClr val="6B7280"/>
                </a:solidFill>
                <a:latin typeface="Aptos"/>
                <a:ea typeface="Aptos"/>
                <a:cs typeface="Aptos"/>
              </a:rPr>
              <a:t>19</a:t>
            </a:r>
          </a:p>
        </p:txBody>
      </p:sp>
    </p:spTree>
    <p:extLst>
      <p:ext uri="{BB962C8B-B14F-4D97-AF65-F5344CB8AC3E}">
        <p14:creationId xmlns:p14="http://schemas.microsoft.com/office/powerpoint/2010/main" val="200044745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course">
            <a:extLst>
              <a:ext uri="{FF2B5EF4-FFF2-40B4-BE49-F238E27FC236}">
                <a16:creationId xmlns:a16="http://schemas.microsoft.com/office/drawing/2014/main" id="{EFDD2C33-6D49-4E94-B026-3AFDCD4AB8FA}"/>
              </a:ext>
            </a:extLst>
          </p:cNvPr>
          <p:cNvSpPr>
            <a:spLocks noGrp="1"/>
          </p:cNvSpPr>
          <p:nvPr/>
        </p:nvSpPr>
        <p:spPr>
          <a:xfrm>
            <a:off x="495300" y="190500"/>
            <a:ext cx="8572500" cy="285750"/>
          </a:xfrm>
          <a:prstGeom prst="rect">
            <a:avLst/>
          </a:prstGeom>
          <a:noFill/>
          <a:ln w="0">
            <a:noFill/>
          </a:ln>
        </p:spPr>
        <p:txBody>
          <a:bodyPr anchor="t">
            <a:noAutofit/>
          </a:bodyPr>
          <a:lstStyle/>
          <a:p>
            <a:pPr>
              <a:defRPr sz="1275" b="1">
                <a:solidFill>
                  <a:srgbClr val="881C1C"/>
                </a:solidFill>
                <a:latin typeface="Aptos"/>
                <a:ea typeface="Aptos"/>
                <a:cs typeface="Aptos"/>
              </a:defRPr>
            </a:pPr>
            <a:r>
              <a:rPr sz="1275" b="1">
                <a:solidFill>
                  <a:srgbClr val="881C1C"/>
                </a:solidFill>
                <a:latin typeface="Aptos"/>
                <a:ea typeface="Aptos"/>
                <a:cs typeface="Aptos"/>
              </a:rPr>
              <a:t>MIE 402   ME LAB II</a:t>
            </a:r>
          </a:p>
        </p:txBody>
      </p:sp>
      <p:sp>
        <p:nvSpPr>
          <p:cNvPr id="2" name="title">
            <a:extLst>
              <a:ext uri="{FF2B5EF4-FFF2-40B4-BE49-F238E27FC236}">
                <a16:creationId xmlns:a16="http://schemas.microsoft.com/office/drawing/2014/main" id="{F6DBAF15-B014-4159-A53D-9E918FADEBFB}"/>
              </a:ext>
            </a:extLst>
          </p:cNvPr>
          <p:cNvSpPr>
            <a:spLocks noGrp="1"/>
          </p:cNvSpPr>
          <p:nvPr/>
        </p:nvSpPr>
        <p:spPr>
          <a:xfrm>
            <a:off x="495300" y="666750"/>
            <a:ext cx="11125200" cy="742950"/>
          </a:xfrm>
          <a:prstGeom prst="rect">
            <a:avLst/>
          </a:prstGeom>
          <a:noFill/>
          <a:ln w="0">
            <a:noFill/>
          </a:ln>
        </p:spPr>
        <p:txBody>
          <a:bodyPr anchor="t">
            <a:noAutofit/>
          </a:bodyPr>
          <a:lstStyle/>
          <a:p>
            <a:pPr>
              <a:defRPr sz="2925" b="1">
                <a:solidFill>
                  <a:srgbClr val="152437"/>
                </a:solidFill>
                <a:latin typeface="Aptos"/>
                <a:ea typeface="Aptos"/>
                <a:cs typeface="Aptos"/>
              </a:defRPr>
            </a:pPr>
            <a:r>
              <a:rPr sz="2925" b="1">
                <a:solidFill>
                  <a:srgbClr val="152437"/>
                </a:solidFill>
                <a:latin typeface="Aptos"/>
                <a:ea typeface="Aptos"/>
                <a:cs typeface="Aptos"/>
              </a:rPr>
              <a:t>Meaning of the coupling term</a:t>
            </a:r>
          </a:p>
        </p:txBody>
      </p:sp>
      <mc:AlternateContent xmlns:mc="http://schemas.openxmlformats.org/markup-compatibility/2006">
        <mc:Choice xmlns:a14="http://schemas.microsoft.com/office/drawing/2010/main" Requires="a14">
          <p:sp>
            <p:nvSpPr>
              <p:cNvPr id="3" name="EQ_cross">
                <a:extLst>
                  <a:ext uri="{FF2B5EF4-FFF2-40B4-BE49-F238E27FC236}">
                    <a16:creationId xmlns:a16="http://schemas.microsoft.com/office/drawing/2014/main" id="{6ECC980D-8115-4DE7-AFCC-0B1267AAEC2B}"/>
                  </a:ext>
                </a:extLst>
              </p:cNvPr>
              <p:cNvSpPr>
                <a:spLocks noGrp="1"/>
              </p:cNvSpPr>
              <p:nvPr/>
            </p:nvSpPr>
            <p:spPr>
              <a:xfrm>
                <a:off x="666750" y="1666875"/>
                <a:ext cx="10858500" cy="647700"/>
              </a:xfrm>
              <a:prstGeom prst="rect">
                <a:avLst/>
              </a:prstGeom>
              <a:noFill/>
              <a:ln w="0">
                <a:noFill/>
              </a:ln>
            </p:spPr>
            <p:txBody>
              <a:bodyPr anchor="t">
                <a:noAutofit/>
              </a:bodyPr>
              <a:lstStyle/>
              <a:p>
                <a:pPr algn="l"/>
                <a14:m>
                  <m:oMathPara xmlns:m="http://schemas.openxmlformats.org/officeDocument/2006/math">
                    <m:oMathParaPr>
                      <m:jc m:val="left"/>
                    </m:oMathParaPr>
                    <m:oMath>
                      <m:sSub>
                        <m:sSubPr>
                          <m:ctrlPr>
                            <a:rPr lang="en-US" sz="2400">
                              <a:latin typeface="Cambria Math"/>
                            </a:rPr>
                          </m:ctrlPr>
                        </m:sSubPr>
                        <m:e>
                          <m:r>
                            <a:rPr lang="en-US" sz="2400">
                              <a:latin typeface="Cambria Math"/>
                            </a:rPr>
                            <m:t>𝑇</m:t>
                          </m:r>
                        </m:e>
                        <m:sub>
                          <m:r>
                            <a:rPr lang="en-US" sz="2400">
                              <a:latin typeface="Cambria Math"/>
                            </a:rPr>
                            <m:t>𝑐𝑟𝑜𝑠𝑠</m:t>
                          </m:r>
                        </m:sub>
                      </m:sSub>
                      <m:r>
                        <a:rPr lang="en-US" sz="2400">
                          <a:latin typeface="Cambria Math"/>
                        </a:rPr>
                        <m:t> = </m:t>
                      </m:r>
                      <m:r>
                        <a:rPr lang="en-US" sz="2400">
                          <a:latin typeface="Cambria Math"/>
                        </a:rPr>
                        <m:t>𝐶</m:t>
                      </m:r>
                      <m:r>
                        <a:rPr lang="en-US" sz="2400">
                          <a:latin typeface="Cambria Math"/>
                        </a:rPr>
                        <m:t> </m:t>
                      </m:r>
                      <m:r>
                        <a:rPr lang="en-US" sz="2400">
                          <a:latin typeface="Cambria Math"/>
                        </a:rPr>
                        <m:t>𝑐𝑜𝑠</m:t>
                      </m:r>
                      <m:r>
                        <a:rPr lang="en-US" sz="2400">
                          <a:latin typeface="Cambria Math"/>
                        </a:rPr>
                        <m:t>(</m:t>
                      </m:r>
                      <m:sSub>
                        <m:sSubPr>
                          <m:ctrlPr>
                            <a:rPr lang="en-US" sz="2400">
                              <a:latin typeface="Cambria Math"/>
                            </a:rPr>
                          </m:ctrlPr>
                        </m:sSubPr>
                        <m:e>
                          <m:r>
                            <a:rPr lang="en-US" sz="2400">
                              <a:latin typeface="Cambria Math"/>
                            </a:rPr>
                            <m:t>𝜃</m:t>
                          </m:r>
                        </m:e>
                        <m:sub>
                          <m:r>
                            <a:rPr lang="en-US" sz="2400">
                              <a:latin typeface="Cambria Math"/>
                            </a:rPr>
                            <m:t>1</m:t>
                          </m:r>
                        </m:sub>
                      </m:sSub>
                      <m:r>
                        <a:rPr lang="en-US" sz="2400">
                          <a:latin typeface="Cambria Math"/>
                        </a:rPr>
                        <m:t> − </m:t>
                      </m:r>
                      <m:sSub>
                        <m:sSubPr>
                          <m:ctrlPr>
                            <a:rPr lang="en-US" sz="2400">
                              <a:latin typeface="Cambria Math"/>
                            </a:rPr>
                          </m:ctrlPr>
                        </m:sSubPr>
                        <m:e>
                          <m:r>
                            <a:rPr lang="en-US" sz="2400">
                              <a:latin typeface="Cambria Math"/>
                            </a:rPr>
                            <m:t>𝜃</m:t>
                          </m:r>
                        </m:e>
                        <m:sub>
                          <m:r>
                            <a:rPr lang="en-US" sz="2400">
                              <a:latin typeface="Cambria Math"/>
                            </a:rPr>
                            <m:t>2</m:t>
                          </m:r>
                        </m:sub>
                      </m:sSub>
                      <m:r>
                        <a:rPr lang="en-US" sz="2400">
                          <a:latin typeface="Cambria Math"/>
                        </a:rPr>
                        <m:t>)</m:t>
                      </m:r>
                      <m:sSub>
                        <m:sSubPr>
                          <m:ctrlPr>
                            <a:rPr lang="en-US" sz="2400">
                              <a:latin typeface="Cambria Math"/>
                            </a:rPr>
                          </m:ctrlPr>
                        </m:sSubPr>
                        <m:e>
                          <m:r>
                            <a:rPr lang="en-US" sz="2400">
                              <a:latin typeface="Cambria Math"/>
                            </a:rPr>
                            <m:t>𝜔</m:t>
                          </m:r>
                        </m:e>
                        <m:sub>
                          <m:r>
                            <a:rPr lang="en-US" sz="2400">
                              <a:latin typeface="Cambria Math"/>
                            </a:rPr>
                            <m:t>1</m:t>
                          </m:r>
                        </m:sub>
                      </m:sSub>
                      <m:sSub>
                        <m:sSubPr>
                          <m:ctrlPr>
                            <a:rPr lang="en-US" sz="2400">
                              <a:latin typeface="Cambria Math"/>
                            </a:rPr>
                          </m:ctrlPr>
                        </m:sSubPr>
                        <m:e>
                          <m:r>
                            <a:rPr lang="en-US" sz="2400">
                              <a:latin typeface="Cambria Math"/>
                            </a:rPr>
                            <m:t>𝜔</m:t>
                          </m:r>
                        </m:e>
                        <m:sub>
                          <m:r>
                            <a:rPr lang="en-US" sz="2400">
                              <a:latin typeface="Cambria Math"/>
                            </a:rPr>
                            <m:t>2</m:t>
                          </m:r>
                        </m:sub>
                      </m:sSub>
                    </m:oMath>
                  </m:oMathPara>
                </a14:m>
                <a:endParaRPr lang="en-US" sz="2400"/>
              </a:p>
            </p:txBody>
          </p:sp>
        </mc:Choice>
        <mc:Fallback>
          <p:sp>
            <p:nvSpPr>
              <p:cNvPr id="3" name="EQ_cross">
                <a:extLst>
                  <a:ext uri="{FF2B5EF4-FFF2-40B4-BE49-F238E27FC236}">
                    <a16:creationId xmlns:a16="http://schemas.microsoft.com/office/drawing/2014/main" id="{6ECC980D-8115-4DE7-AFCC-0B1267AAEC2B}"/>
                  </a:ext>
                </a:extLst>
              </p:cNvPr>
              <p:cNvSpPr>
                <a:spLocks noGrp="1" noRot="1" noChangeAspect="1" noMove="1" noResize="1" noEditPoints="1" noAdjustHandles="1" noChangeArrowheads="1" noChangeShapeType="1" noTextEdit="1"/>
              </p:cNvSpPr>
              <p:nvPr/>
            </p:nvSpPr>
            <p:spPr>
              <a:xfrm>
                <a:off x="666750" y="1666875"/>
                <a:ext cx="10858500" cy="647700"/>
              </a:xfrm>
              <a:prstGeom prst="rect">
                <a:avLst/>
              </a:prstGeom>
              <a:blipFill>
                <a:blip r:embed="rId3"/>
                <a:stretch>
                  <a:fillRect l="-112"/>
                </a:stretch>
              </a:blipFill>
              <a:ln w="0">
                <a:noFill/>
              </a:ln>
            </p:spPr>
            <p:txBody>
              <a:bodyPr/>
              <a:lstStyle/>
              <a:p>
                <a:r>
                  <a:rPr lang="en-US">
                    <a:noFill/>
                  </a:rPr>
                  <a:t> </a:t>
                </a:r>
              </a:p>
            </p:txBody>
          </p:sp>
        </mc:Fallback>
      </mc:AlternateContent>
      <p:sp>
        <p:nvSpPr>
          <p:cNvPr id="4" name="body0">
            <a:extLst>
              <a:ext uri="{FF2B5EF4-FFF2-40B4-BE49-F238E27FC236}">
                <a16:creationId xmlns:a16="http://schemas.microsoft.com/office/drawing/2014/main" id="{31EA07A5-D332-4CBA-A30D-4759E5E52914}"/>
              </a:ext>
            </a:extLst>
          </p:cNvPr>
          <p:cNvSpPr>
            <a:spLocks noGrp="1"/>
          </p:cNvSpPr>
          <p:nvPr/>
        </p:nvSpPr>
        <p:spPr>
          <a:xfrm>
            <a:off x="666750" y="2447925"/>
            <a:ext cx="10858500" cy="864394"/>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Δ = θ₁ − θ₂ measures the difference between the link orientations.</a:t>
            </a:r>
          </a:p>
        </p:txBody>
      </p:sp>
      <p:sp>
        <p:nvSpPr>
          <p:cNvPr id="5" name="body1">
            <a:extLst>
              <a:ext uri="{FF2B5EF4-FFF2-40B4-BE49-F238E27FC236}">
                <a16:creationId xmlns:a16="http://schemas.microsoft.com/office/drawing/2014/main" id="{D070426B-291C-4C60-B62D-1E319046B13E}"/>
              </a:ext>
            </a:extLst>
          </p:cNvPr>
          <p:cNvSpPr>
            <a:spLocks noGrp="1"/>
          </p:cNvSpPr>
          <p:nvPr/>
        </p:nvSpPr>
        <p:spPr>
          <a:xfrm>
            <a:off x="666750" y="3407569"/>
            <a:ext cx="10858500" cy="864394"/>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For aligned links moving in the same sense, the lower-bob velocity contributions reinforce each other.</a:t>
            </a:r>
          </a:p>
        </p:txBody>
      </p:sp>
      <p:sp>
        <p:nvSpPr>
          <p:cNvPr id="6" name="body2">
            <a:extLst>
              <a:ext uri="{FF2B5EF4-FFF2-40B4-BE49-F238E27FC236}">
                <a16:creationId xmlns:a16="http://schemas.microsoft.com/office/drawing/2014/main" id="{9A98BD51-5B8C-4B2C-8570-99F6599A704D}"/>
              </a:ext>
            </a:extLst>
          </p:cNvPr>
          <p:cNvSpPr>
            <a:spLocks noGrp="1"/>
          </p:cNvSpPr>
          <p:nvPr/>
        </p:nvSpPr>
        <p:spPr>
          <a:xfrm>
            <a:off x="666750" y="4367213"/>
            <a:ext cx="10858500" cy="864394"/>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Opposite angular speeds can partly cancel those contributions. The cross term may be negative, while total T remains nonnegative.</a:t>
            </a:r>
          </a:p>
        </p:txBody>
      </p:sp>
      <p:sp>
        <p:nvSpPr>
          <p:cNvPr id="7" name="body3">
            <a:extLst>
              <a:ext uri="{FF2B5EF4-FFF2-40B4-BE49-F238E27FC236}">
                <a16:creationId xmlns:a16="http://schemas.microsoft.com/office/drawing/2014/main" id="{79B5A1F0-F0E8-4ECC-9BA7-C8B391857E9A}"/>
              </a:ext>
            </a:extLst>
          </p:cNvPr>
          <p:cNvSpPr>
            <a:spLocks noGrp="1"/>
          </p:cNvSpPr>
          <p:nvPr/>
        </p:nvSpPr>
        <p:spPr>
          <a:xfrm>
            <a:off x="666750" y="5326856"/>
            <a:ext cx="10858500" cy="864394"/>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At Δ = 90°, this cross term is zero at that instant. Other dynamic coupling terms can still remain.</a:t>
            </a:r>
          </a:p>
        </p:txBody>
      </p:sp>
      <p:sp>
        <p:nvSpPr>
          <p:cNvPr id="8" name="page">
            <a:extLst>
              <a:ext uri="{FF2B5EF4-FFF2-40B4-BE49-F238E27FC236}">
                <a16:creationId xmlns:a16="http://schemas.microsoft.com/office/drawing/2014/main" id="{545EDCC8-6BBC-4EA7-B3B5-80B1EE3FDB73}"/>
              </a:ext>
            </a:extLst>
          </p:cNvPr>
          <p:cNvSpPr>
            <a:spLocks noGrp="1"/>
          </p:cNvSpPr>
          <p:nvPr/>
        </p:nvSpPr>
        <p:spPr>
          <a:xfrm>
            <a:off x="11449050" y="6515100"/>
            <a:ext cx="333375" cy="190500"/>
          </a:xfrm>
          <a:prstGeom prst="rect">
            <a:avLst/>
          </a:prstGeom>
          <a:noFill/>
          <a:ln w="0">
            <a:noFill/>
          </a:ln>
        </p:spPr>
        <p:txBody>
          <a:bodyPr anchor="t">
            <a:noAutofit/>
          </a:bodyPr>
          <a:lstStyle/>
          <a:p>
            <a:pPr>
              <a:defRPr sz="1050" b="0">
                <a:solidFill>
                  <a:srgbClr val="6B7280"/>
                </a:solidFill>
                <a:latin typeface="Aptos"/>
                <a:ea typeface="Aptos"/>
                <a:cs typeface="Aptos"/>
              </a:defRPr>
            </a:pPr>
            <a:r>
              <a:rPr sz="1050" b="0">
                <a:solidFill>
                  <a:srgbClr val="6B7280"/>
                </a:solidFill>
                <a:latin typeface="Aptos"/>
                <a:ea typeface="Aptos"/>
                <a:cs typeface="Aptos"/>
              </a:rPr>
              <a:t>20</a:t>
            </a:r>
          </a:p>
        </p:txBody>
      </p:sp>
    </p:spTree>
    <p:extLst>
      <p:ext uri="{BB962C8B-B14F-4D97-AF65-F5344CB8AC3E}">
        <p14:creationId xmlns:p14="http://schemas.microsoft.com/office/powerpoint/2010/main" val="127998350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course">
            <a:extLst>
              <a:ext uri="{FF2B5EF4-FFF2-40B4-BE49-F238E27FC236}">
                <a16:creationId xmlns:a16="http://schemas.microsoft.com/office/drawing/2014/main" id="{0306E20D-3961-4913-9A09-2309C0EF06D0}"/>
              </a:ext>
            </a:extLst>
          </p:cNvPr>
          <p:cNvSpPr>
            <a:spLocks noGrp="1"/>
          </p:cNvSpPr>
          <p:nvPr/>
        </p:nvSpPr>
        <p:spPr>
          <a:xfrm>
            <a:off x="495300" y="190500"/>
            <a:ext cx="8572500" cy="285750"/>
          </a:xfrm>
          <a:prstGeom prst="rect">
            <a:avLst/>
          </a:prstGeom>
          <a:noFill/>
          <a:ln w="0">
            <a:noFill/>
          </a:ln>
        </p:spPr>
        <p:txBody>
          <a:bodyPr anchor="t">
            <a:noAutofit/>
          </a:bodyPr>
          <a:lstStyle/>
          <a:p>
            <a:pPr>
              <a:defRPr sz="1275" b="1">
                <a:solidFill>
                  <a:srgbClr val="881C1C"/>
                </a:solidFill>
                <a:latin typeface="Aptos"/>
                <a:ea typeface="Aptos"/>
                <a:cs typeface="Aptos"/>
              </a:defRPr>
            </a:pPr>
            <a:r>
              <a:rPr sz="1275" b="1">
                <a:solidFill>
                  <a:srgbClr val="881C1C"/>
                </a:solidFill>
                <a:latin typeface="Aptos"/>
                <a:ea typeface="Aptos"/>
                <a:cs typeface="Aptos"/>
              </a:rPr>
              <a:t>MIE 402   ME LAB II</a:t>
            </a:r>
          </a:p>
        </p:txBody>
      </p:sp>
      <p:sp>
        <p:nvSpPr>
          <p:cNvPr id="2" name="title">
            <a:extLst>
              <a:ext uri="{FF2B5EF4-FFF2-40B4-BE49-F238E27FC236}">
                <a16:creationId xmlns:a16="http://schemas.microsoft.com/office/drawing/2014/main" id="{C229C7AE-C7E5-4D47-97C2-D71C53225B38}"/>
              </a:ext>
            </a:extLst>
          </p:cNvPr>
          <p:cNvSpPr>
            <a:spLocks noGrp="1"/>
          </p:cNvSpPr>
          <p:nvPr/>
        </p:nvSpPr>
        <p:spPr>
          <a:xfrm>
            <a:off x="495300" y="666750"/>
            <a:ext cx="11125200" cy="742950"/>
          </a:xfrm>
          <a:prstGeom prst="rect">
            <a:avLst/>
          </a:prstGeom>
          <a:noFill/>
          <a:ln w="0">
            <a:noFill/>
          </a:ln>
        </p:spPr>
        <p:txBody>
          <a:bodyPr anchor="t">
            <a:noAutofit/>
          </a:bodyPr>
          <a:lstStyle/>
          <a:p>
            <a:pPr>
              <a:defRPr sz="2925" b="1">
                <a:solidFill>
                  <a:srgbClr val="152437"/>
                </a:solidFill>
                <a:latin typeface="Aptos"/>
                <a:ea typeface="Aptos"/>
                <a:cs typeface="Aptos"/>
              </a:defRPr>
            </a:pPr>
            <a:r>
              <a:rPr sz="2925" b="1">
                <a:solidFill>
                  <a:srgbClr val="152437"/>
                </a:solidFill>
                <a:latin typeface="Aptos"/>
                <a:ea typeface="Aptos"/>
                <a:cs typeface="Aptos"/>
              </a:rPr>
              <a:t>Torques and the rate of energy loss</a:t>
            </a:r>
          </a:p>
        </p:txBody>
      </p:sp>
      <p:sp>
        <p:nvSpPr>
          <p:cNvPr id="3" name="body0">
            <a:extLst>
              <a:ext uri="{FF2B5EF4-FFF2-40B4-BE49-F238E27FC236}">
                <a16:creationId xmlns:a16="http://schemas.microsoft.com/office/drawing/2014/main" id="{8167A02C-6DF1-4656-85FB-F9C094D44494}"/>
              </a:ext>
            </a:extLst>
          </p:cNvPr>
          <p:cNvSpPr>
            <a:spLocks noGrp="1"/>
          </p:cNvSpPr>
          <p:nvPr/>
        </p:nvSpPr>
        <p:spPr>
          <a:xfrm>
            <a:off x="666750" y="1666875"/>
            <a:ext cx="10858500" cy="971550"/>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Q₁ and Q₂ [N·m]: generalized nonconservative torques associated with θ₁ and θ₂, such as the effects of pivot friction or air drag.</a:t>
            </a:r>
          </a:p>
        </p:txBody>
      </p:sp>
      <p:sp>
        <p:nvSpPr>
          <p:cNvPr id="4" name="body1">
            <a:extLst>
              <a:ext uri="{FF2B5EF4-FFF2-40B4-BE49-F238E27FC236}">
                <a16:creationId xmlns:a16="http://schemas.microsoft.com/office/drawing/2014/main" id="{3AB5E486-CB23-4CA3-B182-B570C614B2B8}"/>
              </a:ext>
            </a:extLst>
          </p:cNvPr>
          <p:cNvSpPr>
            <a:spLocks noGrp="1"/>
          </p:cNvSpPr>
          <p:nvPr/>
        </p:nvSpPr>
        <p:spPr>
          <a:xfrm>
            <a:off x="666750" y="2733675"/>
            <a:ext cx="10858500" cy="971550"/>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Gravity is already included in V. These Q₁ and Q₂ differ from the gravitational torques Q</a:t>
            </a:r>
            <a:r>
              <a:rPr sz="1462" b="0" baseline="-25000">
                <a:solidFill>
                  <a:srgbClr val="202D3C"/>
                </a:solidFill>
                <a:latin typeface="Aptos"/>
                <a:ea typeface="Aptos"/>
                <a:cs typeface="Aptos"/>
              </a:rPr>
              <a:t>g,1</a:t>
            </a:r>
            <a:r>
              <a:rPr sz="1950" b="0">
                <a:solidFill>
                  <a:srgbClr val="202D3C"/>
                </a:solidFill>
                <a:latin typeface="Aptos"/>
                <a:ea typeface="Aptos"/>
                <a:cs typeface="Aptos"/>
              </a:rPr>
              <a:t> and Q</a:t>
            </a:r>
            <a:r>
              <a:rPr sz="1462" b="0" baseline="-25000">
                <a:solidFill>
                  <a:srgbClr val="202D3C"/>
                </a:solidFill>
                <a:latin typeface="Aptos"/>
                <a:ea typeface="Aptos"/>
                <a:cs typeface="Aptos"/>
              </a:rPr>
              <a:t>g,2</a:t>
            </a:r>
            <a:r>
              <a:rPr sz="1950" b="0">
                <a:solidFill>
                  <a:srgbClr val="202D3C"/>
                </a:solidFill>
                <a:latin typeface="Aptos"/>
                <a:ea typeface="Aptos"/>
                <a:cs typeface="Aptos"/>
              </a:rPr>
              <a:t>.</a:t>
            </a:r>
          </a:p>
        </p:txBody>
      </p:sp>
      <p:sp>
        <p:nvSpPr>
          <p:cNvPr id="5" name="body2">
            <a:extLst>
              <a:ext uri="{FF2B5EF4-FFF2-40B4-BE49-F238E27FC236}">
                <a16:creationId xmlns:a16="http://schemas.microsoft.com/office/drawing/2014/main" id="{FABE8189-B056-47C5-9752-5B4FA9E8BB0A}"/>
              </a:ext>
            </a:extLst>
          </p:cNvPr>
          <p:cNvSpPr>
            <a:spLocks noGrp="1"/>
          </p:cNvSpPr>
          <p:nvPr/>
        </p:nvSpPr>
        <p:spPr>
          <a:xfrm>
            <a:off x="666750" y="3800475"/>
            <a:ext cx="10858500" cy="971550"/>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Qᵢωᵢ [W] is the mechanical power associated with coordinate i. The total dE/dt [J/s = W] is the rate of change of mechanical energy.</a:t>
            </a:r>
          </a:p>
        </p:txBody>
      </p:sp>
      <p:sp>
        <p:nvSpPr>
          <p:cNvPr id="6" name="body3">
            <a:extLst>
              <a:ext uri="{FF2B5EF4-FFF2-40B4-BE49-F238E27FC236}">
                <a16:creationId xmlns:a16="http://schemas.microsoft.com/office/drawing/2014/main" id="{53293201-D14C-4259-BFC0-A5AD6B8280D7}"/>
              </a:ext>
            </a:extLst>
          </p:cNvPr>
          <p:cNvSpPr>
            <a:spLocks noGrp="1"/>
          </p:cNvSpPr>
          <p:nvPr/>
        </p:nvSpPr>
        <p:spPr>
          <a:xfrm>
            <a:off x="666750" y="4867275"/>
            <a:ext cx="10858500" cy="971550"/>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At the moving joint, friction acts on relative rotation. Its effect must be included consistently in both generalized torques.</a:t>
            </a:r>
          </a:p>
        </p:txBody>
      </p:sp>
      <p:sp>
        <p:nvSpPr>
          <p:cNvPr id="7" name="page">
            <a:extLst>
              <a:ext uri="{FF2B5EF4-FFF2-40B4-BE49-F238E27FC236}">
                <a16:creationId xmlns:a16="http://schemas.microsoft.com/office/drawing/2014/main" id="{3DFB9337-00A2-4E3D-AB70-DA0CF2694621}"/>
              </a:ext>
            </a:extLst>
          </p:cNvPr>
          <p:cNvSpPr>
            <a:spLocks noGrp="1"/>
          </p:cNvSpPr>
          <p:nvPr/>
        </p:nvSpPr>
        <p:spPr>
          <a:xfrm>
            <a:off x="11449050" y="6515100"/>
            <a:ext cx="333375" cy="190500"/>
          </a:xfrm>
          <a:prstGeom prst="rect">
            <a:avLst/>
          </a:prstGeom>
          <a:noFill/>
          <a:ln w="0">
            <a:noFill/>
          </a:ln>
        </p:spPr>
        <p:txBody>
          <a:bodyPr anchor="t">
            <a:noAutofit/>
          </a:bodyPr>
          <a:lstStyle/>
          <a:p>
            <a:pPr>
              <a:defRPr sz="1050" b="0">
                <a:solidFill>
                  <a:srgbClr val="6B7280"/>
                </a:solidFill>
                <a:latin typeface="Aptos"/>
                <a:ea typeface="Aptos"/>
                <a:cs typeface="Aptos"/>
              </a:defRPr>
            </a:pPr>
            <a:r>
              <a:rPr sz="1050" b="0">
                <a:solidFill>
                  <a:srgbClr val="6B7280"/>
                </a:solidFill>
                <a:latin typeface="Aptos"/>
                <a:ea typeface="Aptos"/>
                <a:cs typeface="Aptos"/>
              </a:rPr>
              <a:t>21</a:t>
            </a:r>
          </a:p>
        </p:txBody>
      </p:sp>
    </p:spTree>
    <p:extLst>
      <p:ext uri="{BB962C8B-B14F-4D97-AF65-F5344CB8AC3E}">
        <p14:creationId xmlns:p14="http://schemas.microsoft.com/office/powerpoint/2010/main" val="210062631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course">
            <a:extLst>
              <a:ext uri="{FF2B5EF4-FFF2-40B4-BE49-F238E27FC236}">
                <a16:creationId xmlns:a16="http://schemas.microsoft.com/office/drawing/2014/main" id="{76D36405-C15E-46B8-9A2C-BC5475167024}"/>
              </a:ext>
            </a:extLst>
          </p:cNvPr>
          <p:cNvSpPr>
            <a:spLocks noGrp="1"/>
          </p:cNvSpPr>
          <p:nvPr/>
        </p:nvSpPr>
        <p:spPr>
          <a:xfrm>
            <a:off x="495300" y="190500"/>
            <a:ext cx="8572500" cy="285750"/>
          </a:xfrm>
          <a:prstGeom prst="rect">
            <a:avLst/>
          </a:prstGeom>
          <a:noFill/>
          <a:ln w="0">
            <a:noFill/>
          </a:ln>
        </p:spPr>
        <p:txBody>
          <a:bodyPr anchor="t">
            <a:noAutofit/>
          </a:bodyPr>
          <a:lstStyle/>
          <a:p>
            <a:pPr>
              <a:defRPr sz="1275" b="1">
                <a:solidFill>
                  <a:srgbClr val="881C1C"/>
                </a:solidFill>
                <a:latin typeface="Aptos"/>
                <a:ea typeface="Aptos"/>
                <a:cs typeface="Aptos"/>
              </a:defRPr>
            </a:pPr>
            <a:r>
              <a:rPr sz="1275" b="1">
                <a:solidFill>
                  <a:srgbClr val="881C1C"/>
                </a:solidFill>
                <a:latin typeface="Aptos"/>
                <a:ea typeface="Aptos"/>
                <a:cs typeface="Aptos"/>
              </a:rPr>
              <a:t>MIE 402   ME LAB II</a:t>
            </a:r>
          </a:p>
        </p:txBody>
      </p:sp>
      <p:sp>
        <p:nvSpPr>
          <p:cNvPr id="2" name="title">
            <a:extLst>
              <a:ext uri="{FF2B5EF4-FFF2-40B4-BE49-F238E27FC236}">
                <a16:creationId xmlns:a16="http://schemas.microsoft.com/office/drawing/2014/main" id="{1EE13C60-80AB-4066-999A-D595CC7825BB}"/>
              </a:ext>
            </a:extLst>
          </p:cNvPr>
          <p:cNvSpPr>
            <a:spLocks noGrp="1"/>
          </p:cNvSpPr>
          <p:nvPr/>
        </p:nvSpPr>
        <p:spPr>
          <a:xfrm>
            <a:off x="495300" y="666750"/>
            <a:ext cx="11125200" cy="742950"/>
          </a:xfrm>
          <a:prstGeom prst="rect">
            <a:avLst/>
          </a:prstGeom>
          <a:noFill/>
          <a:ln w="0">
            <a:noFill/>
          </a:ln>
        </p:spPr>
        <p:txBody>
          <a:bodyPr anchor="t">
            <a:noAutofit/>
          </a:bodyPr>
          <a:lstStyle/>
          <a:p>
            <a:pPr>
              <a:defRPr sz="2925" b="1">
                <a:solidFill>
                  <a:srgbClr val="152437"/>
                </a:solidFill>
                <a:latin typeface="Aptos"/>
                <a:ea typeface="Aptos"/>
                <a:cs typeface="Aptos"/>
              </a:defRPr>
            </a:pPr>
            <a:r>
              <a:rPr sz="2925" b="1">
                <a:solidFill>
                  <a:srgbClr val="152437"/>
                </a:solidFill>
                <a:latin typeface="Aptos"/>
                <a:ea typeface="Aptos"/>
                <a:cs typeface="Aptos"/>
              </a:rPr>
              <a:t>Energy during real and ideal motion</a:t>
            </a:r>
          </a:p>
        </p:txBody>
      </p:sp>
      <mc:AlternateContent xmlns:mc="http://schemas.openxmlformats.org/markup-compatibility/2006">
        <mc:Choice xmlns:a14="http://schemas.microsoft.com/office/drawing/2010/main" Requires="a14">
          <p:sp>
            <p:nvSpPr>
              <p:cNvPr id="3" name="EQ_energy">
                <a:extLst>
                  <a:ext uri="{FF2B5EF4-FFF2-40B4-BE49-F238E27FC236}">
                    <a16:creationId xmlns:a16="http://schemas.microsoft.com/office/drawing/2014/main" id="{9A2C7645-9C71-4E82-A3F8-861EF6D977D0}"/>
                  </a:ext>
                </a:extLst>
              </p:cNvPr>
              <p:cNvSpPr>
                <a:spLocks noGrp="1"/>
              </p:cNvSpPr>
              <p:nvPr/>
            </p:nvSpPr>
            <p:spPr>
              <a:xfrm>
                <a:off x="666750" y="1666875"/>
                <a:ext cx="10858500" cy="647700"/>
              </a:xfrm>
              <a:prstGeom prst="rect">
                <a:avLst/>
              </a:prstGeom>
              <a:noFill/>
              <a:ln w="0">
                <a:noFill/>
              </a:ln>
            </p:spPr>
            <p:txBody>
              <a:bodyPr anchor="t">
                <a:noAutofit/>
              </a:bodyPr>
              <a:lstStyle/>
              <a:p>
                <a:pPr algn="l"/>
                <a14:m>
                  <m:oMathPara xmlns:m="http://schemas.openxmlformats.org/officeDocument/2006/math">
                    <m:oMathParaPr>
                      <m:jc m:val="left"/>
                    </m:oMathParaPr>
                    <m:oMath>
                      <m:r>
                        <a:rPr lang="en-US" sz="2400">
                          <a:latin typeface="Cambria Math"/>
                        </a:rPr>
                        <m:t>𝐸</m:t>
                      </m:r>
                      <m:r>
                        <a:rPr lang="en-US" sz="2400">
                          <a:latin typeface="Cambria Math"/>
                        </a:rPr>
                        <m:t> = </m:t>
                      </m:r>
                      <m:r>
                        <a:rPr lang="en-US" sz="2400">
                          <a:latin typeface="Cambria Math"/>
                        </a:rPr>
                        <m:t>𝑇</m:t>
                      </m:r>
                      <m:r>
                        <a:rPr lang="en-US" sz="2400">
                          <a:latin typeface="Cambria Math"/>
                        </a:rPr>
                        <m:t> + </m:t>
                      </m:r>
                      <m:r>
                        <a:rPr lang="en-US" sz="2400">
                          <a:latin typeface="Cambria Math"/>
                        </a:rPr>
                        <m:t>𝑉</m:t>
                      </m:r>
                      <m:r>
                        <a:rPr lang="en-US" sz="2400">
                          <a:latin typeface="Cambria Math"/>
                        </a:rPr>
                        <m:t>     </m:t>
                      </m:r>
                      <m:f>
                        <m:fPr>
                          <m:ctrlPr>
                            <a:rPr lang="en-US" sz="2400">
                              <a:latin typeface="Cambria Math"/>
                            </a:rPr>
                          </m:ctrlPr>
                        </m:fPr>
                        <m:num>
                          <m:r>
                            <a:rPr lang="en-US" sz="2400">
                              <a:latin typeface="Cambria Math"/>
                            </a:rPr>
                            <m:t>𝑑𝐸</m:t>
                          </m:r>
                        </m:num>
                        <m:den>
                          <m:r>
                            <a:rPr lang="en-US" sz="2400">
                              <a:latin typeface="Cambria Math"/>
                            </a:rPr>
                            <m:t>𝑑𝑡</m:t>
                          </m:r>
                        </m:den>
                      </m:f>
                      <m:r>
                        <a:rPr lang="en-US" sz="2400">
                          <a:latin typeface="Cambria Math"/>
                        </a:rPr>
                        <m:t> = 0  (</m:t>
                      </m:r>
                      <m:r>
                        <a:rPr lang="en-US" sz="2400">
                          <a:latin typeface="Cambria Math"/>
                        </a:rPr>
                        <m:t>𝑖𝑑𝑒𝑎𝑙</m:t>
                      </m:r>
                      <m:r>
                        <a:rPr lang="en-US" sz="2400">
                          <a:latin typeface="Cambria Math"/>
                        </a:rPr>
                        <m:t> </m:t>
                      </m:r>
                      <m:r>
                        <a:rPr lang="en-US" sz="2400">
                          <a:latin typeface="Cambria Math"/>
                        </a:rPr>
                        <m:t>𝑚𝑜𝑑𝑒𝑙</m:t>
                      </m:r>
                      <m:r>
                        <a:rPr lang="en-US" sz="2400">
                          <a:latin typeface="Cambria Math"/>
                        </a:rPr>
                        <m:t>)</m:t>
                      </m:r>
                    </m:oMath>
                  </m:oMathPara>
                </a14:m>
                <a:endParaRPr lang="en-US" sz="2400"/>
              </a:p>
            </p:txBody>
          </p:sp>
        </mc:Choice>
        <mc:Fallback>
          <p:sp>
            <p:nvSpPr>
              <p:cNvPr id="3" name="EQ_energy">
                <a:extLst>
                  <a:ext uri="{FF2B5EF4-FFF2-40B4-BE49-F238E27FC236}">
                    <a16:creationId xmlns:a16="http://schemas.microsoft.com/office/drawing/2014/main" id="{9A2C7645-9C71-4E82-A3F8-861EF6D977D0}"/>
                  </a:ext>
                </a:extLst>
              </p:cNvPr>
              <p:cNvSpPr>
                <a:spLocks noGrp="1" noRot="1" noChangeAspect="1" noMove="1" noResize="1" noEditPoints="1" noAdjustHandles="1" noChangeArrowheads="1" noChangeShapeType="1" noTextEdit="1"/>
              </p:cNvSpPr>
              <p:nvPr/>
            </p:nvSpPr>
            <p:spPr>
              <a:xfrm>
                <a:off x="666750" y="1666875"/>
                <a:ext cx="10858500" cy="647700"/>
              </a:xfrm>
              <a:prstGeom prst="rect">
                <a:avLst/>
              </a:prstGeom>
              <a:blipFill>
                <a:blip r:embed="rId3"/>
                <a:stretch>
                  <a:fillRect b="-14019"/>
                </a:stretch>
              </a:blipFill>
              <a:ln w="0">
                <a:no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 name="EQ_energy_rate">
                <a:extLst>
                  <a:ext uri="{FF2B5EF4-FFF2-40B4-BE49-F238E27FC236}">
                    <a16:creationId xmlns:a16="http://schemas.microsoft.com/office/drawing/2014/main" id="{0325787D-A5FC-4585-93C8-D16349D047B8}"/>
                  </a:ext>
                </a:extLst>
              </p:cNvPr>
              <p:cNvSpPr>
                <a:spLocks noGrp="1"/>
              </p:cNvSpPr>
              <p:nvPr/>
            </p:nvSpPr>
            <p:spPr>
              <a:xfrm>
                <a:off x="666750" y="2447925"/>
                <a:ext cx="10858500" cy="647700"/>
              </a:xfrm>
              <a:prstGeom prst="rect">
                <a:avLst/>
              </a:prstGeom>
              <a:noFill/>
              <a:ln w="0">
                <a:noFill/>
              </a:ln>
            </p:spPr>
            <p:txBody>
              <a:bodyPr anchor="t">
                <a:noAutofit/>
              </a:bodyPr>
              <a:lstStyle/>
              <a:p>
                <a:pPr algn="l"/>
                <a14:m>
                  <m:oMathPara xmlns:m="http://schemas.openxmlformats.org/officeDocument/2006/math">
                    <m:oMathParaPr>
                      <m:jc m:val="left"/>
                    </m:oMathParaPr>
                    <m:oMath>
                      <m:f>
                        <m:fPr>
                          <m:ctrlPr>
                            <a:rPr lang="en-US" sz="2400">
                              <a:latin typeface="Cambria Math"/>
                            </a:rPr>
                          </m:ctrlPr>
                        </m:fPr>
                        <m:num>
                          <m:r>
                            <a:rPr lang="en-US" sz="2400">
                              <a:latin typeface="Cambria Math"/>
                            </a:rPr>
                            <m:t>𝑑𝐸</m:t>
                          </m:r>
                        </m:num>
                        <m:den>
                          <m:r>
                            <a:rPr lang="en-US" sz="2400">
                              <a:latin typeface="Cambria Math"/>
                            </a:rPr>
                            <m:t>𝑑𝑡</m:t>
                          </m:r>
                        </m:den>
                      </m:f>
                      <m:r>
                        <a:rPr lang="en-US" sz="2400">
                          <a:latin typeface="Cambria Math"/>
                        </a:rPr>
                        <m:t> = </m:t>
                      </m:r>
                      <m:sSub>
                        <m:sSubPr>
                          <m:ctrlPr>
                            <a:rPr lang="en-US" sz="2400">
                              <a:latin typeface="Cambria Math"/>
                            </a:rPr>
                          </m:ctrlPr>
                        </m:sSubPr>
                        <m:e>
                          <m:r>
                            <a:rPr lang="en-US" sz="2400">
                              <a:latin typeface="Cambria Math"/>
                            </a:rPr>
                            <m:t>𝑄</m:t>
                          </m:r>
                        </m:e>
                        <m:sub>
                          <m:r>
                            <a:rPr lang="en-US" sz="2400">
                              <a:latin typeface="Cambria Math"/>
                            </a:rPr>
                            <m:t>1</m:t>
                          </m:r>
                        </m:sub>
                      </m:sSub>
                      <m:sSub>
                        <m:sSubPr>
                          <m:ctrlPr>
                            <a:rPr lang="en-US" sz="2400">
                              <a:latin typeface="Cambria Math"/>
                            </a:rPr>
                          </m:ctrlPr>
                        </m:sSubPr>
                        <m:e>
                          <m:r>
                            <a:rPr lang="en-US" sz="2400">
                              <a:latin typeface="Cambria Math"/>
                            </a:rPr>
                            <m:t>𝜔</m:t>
                          </m:r>
                        </m:e>
                        <m:sub>
                          <m:r>
                            <a:rPr lang="en-US" sz="2400">
                              <a:latin typeface="Cambria Math"/>
                            </a:rPr>
                            <m:t>1</m:t>
                          </m:r>
                        </m:sub>
                      </m:sSub>
                      <m:r>
                        <a:rPr lang="en-US" sz="2400">
                          <a:latin typeface="Cambria Math"/>
                        </a:rPr>
                        <m:t> + </m:t>
                      </m:r>
                      <m:sSub>
                        <m:sSubPr>
                          <m:ctrlPr>
                            <a:rPr lang="en-US" sz="2400">
                              <a:latin typeface="Cambria Math"/>
                            </a:rPr>
                          </m:ctrlPr>
                        </m:sSubPr>
                        <m:e>
                          <m:r>
                            <a:rPr lang="en-US" sz="2400">
                              <a:latin typeface="Cambria Math"/>
                            </a:rPr>
                            <m:t>𝑄</m:t>
                          </m:r>
                        </m:e>
                        <m:sub>
                          <m:r>
                            <a:rPr lang="en-US" sz="2400">
                              <a:latin typeface="Cambria Math"/>
                            </a:rPr>
                            <m:t>2</m:t>
                          </m:r>
                        </m:sub>
                      </m:sSub>
                      <m:sSub>
                        <m:sSubPr>
                          <m:ctrlPr>
                            <a:rPr lang="en-US" sz="2400">
                              <a:latin typeface="Cambria Math"/>
                            </a:rPr>
                          </m:ctrlPr>
                        </m:sSubPr>
                        <m:e>
                          <m:r>
                            <a:rPr lang="en-US" sz="2400">
                              <a:latin typeface="Cambria Math"/>
                            </a:rPr>
                            <m:t>𝜔</m:t>
                          </m:r>
                        </m:e>
                        <m:sub>
                          <m:r>
                            <a:rPr lang="en-US" sz="2400">
                              <a:latin typeface="Cambria Math"/>
                            </a:rPr>
                            <m:t>2</m:t>
                          </m:r>
                        </m:sub>
                      </m:sSub>
                      <m:r>
                        <a:rPr lang="en-US" sz="2400">
                          <a:latin typeface="Cambria Math"/>
                        </a:rPr>
                        <m:t>  (</m:t>
                      </m:r>
                      <m:r>
                        <a:rPr lang="en-US" sz="2400">
                          <a:latin typeface="Cambria Math"/>
                        </a:rPr>
                        <m:t>𝑤𝑖𝑡ℎ</m:t>
                      </m:r>
                      <m:r>
                        <a:rPr lang="en-US" sz="2400">
                          <a:latin typeface="Cambria Math"/>
                        </a:rPr>
                        <m:t> </m:t>
                      </m:r>
                      <m:r>
                        <a:rPr lang="en-US" sz="2400">
                          <a:latin typeface="Cambria Math"/>
                        </a:rPr>
                        <m:t>𝑛𝑜𝑛𝑐𝑜𝑛𝑠𝑒𝑟𝑣𝑎𝑡𝑖𝑣𝑒</m:t>
                      </m:r>
                      <m:r>
                        <a:rPr lang="en-US" sz="2400">
                          <a:latin typeface="Cambria Math"/>
                        </a:rPr>
                        <m:t> </m:t>
                      </m:r>
                      <m:r>
                        <a:rPr lang="en-US" sz="2400">
                          <a:latin typeface="Cambria Math"/>
                        </a:rPr>
                        <m:t>𝑡𝑜𝑟𝑞𝑢𝑒𝑠</m:t>
                      </m:r>
                      <m:r>
                        <a:rPr lang="en-US" sz="2400">
                          <a:latin typeface="Cambria Math"/>
                        </a:rPr>
                        <m:t>)</m:t>
                      </m:r>
                    </m:oMath>
                  </m:oMathPara>
                </a14:m>
                <a:endParaRPr lang="en-US" sz="2400"/>
              </a:p>
            </p:txBody>
          </p:sp>
        </mc:Choice>
        <mc:Fallback>
          <p:sp>
            <p:nvSpPr>
              <p:cNvPr id="4" name="EQ_energy_rate">
                <a:extLst>
                  <a:ext uri="{FF2B5EF4-FFF2-40B4-BE49-F238E27FC236}">
                    <a16:creationId xmlns:a16="http://schemas.microsoft.com/office/drawing/2014/main" id="{0325787D-A5FC-4585-93C8-D16349D047B8}"/>
                  </a:ext>
                </a:extLst>
              </p:cNvPr>
              <p:cNvSpPr>
                <a:spLocks noGrp="1" noRot="1" noChangeAspect="1" noMove="1" noResize="1" noEditPoints="1" noAdjustHandles="1" noChangeArrowheads="1" noChangeShapeType="1" noTextEdit="1"/>
              </p:cNvSpPr>
              <p:nvPr/>
            </p:nvSpPr>
            <p:spPr>
              <a:xfrm>
                <a:off x="666750" y="2447925"/>
                <a:ext cx="10858500" cy="647700"/>
              </a:xfrm>
              <a:prstGeom prst="rect">
                <a:avLst/>
              </a:prstGeom>
              <a:blipFill>
                <a:blip r:embed="rId4"/>
                <a:stretch>
                  <a:fillRect b="-14151"/>
                </a:stretch>
              </a:blipFill>
              <a:ln w="0">
                <a:noFill/>
              </a:ln>
            </p:spPr>
            <p:txBody>
              <a:bodyPr/>
              <a:lstStyle/>
              <a:p>
                <a:r>
                  <a:rPr lang="en-US">
                    <a:noFill/>
                  </a:rPr>
                  <a:t> </a:t>
                </a:r>
              </a:p>
            </p:txBody>
          </p:sp>
        </mc:Fallback>
      </mc:AlternateContent>
      <p:sp>
        <p:nvSpPr>
          <p:cNvPr id="5" name="body0">
            <a:extLst>
              <a:ext uri="{FF2B5EF4-FFF2-40B4-BE49-F238E27FC236}">
                <a16:creationId xmlns:a16="http://schemas.microsoft.com/office/drawing/2014/main" id="{36BB0DDC-DACF-439F-94E4-8692B929AE86}"/>
              </a:ext>
            </a:extLst>
          </p:cNvPr>
          <p:cNvSpPr>
            <a:spLocks noGrp="1"/>
          </p:cNvSpPr>
          <p:nvPr/>
        </p:nvSpPr>
        <p:spPr>
          <a:xfrm>
            <a:off x="666750" y="3228975"/>
            <a:ext cx="10858500" cy="669131"/>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At release from rest, T is zero and all initial mechanical energy is potential energy.</a:t>
            </a:r>
          </a:p>
        </p:txBody>
      </p:sp>
      <p:sp>
        <p:nvSpPr>
          <p:cNvPr id="6" name="body1">
            <a:extLst>
              <a:ext uri="{FF2B5EF4-FFF2-40B4-BE49-F238E27FC236}">
                <a16:creationId xmlns:a16="http://schemas.microsoft.com/office/drawing/2014/main" id="{E459EFD5-3F71-4E12-B115-F21E3A10BDB4}"/>
              </a:ext>
            </a:extLst>
          </p:cNvPr>
          <p:cNvSpPr>
            <a:spLocks noGrp="1"/>
          </p:cNvSpPr>
          <p:nvPr/>
        </p:nvSpPr>
        <p:spPr>
          <a:xfrm>
            <a:off x="666750" y="3993356"/>
            <a:ext cx="10858500" cy="669131"/>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As masses descend, some potential energy becomes kinetic energy. Both links exchange energy through their connection.</a:t>
            </a:r>
          </a:p>
        </p:txBody>
      </p:sp>
      <p:sp>
        <p:nvSpPr>
          <p:cNvPr id="7" name="body2">
            <a:extLst>
              <a:ext uri="{FF2B5EF4-FFF2-40B4-BE49-F238E27FC236}">
                <a16:creationId xmlns:a16="http://schemas.microsoft.com/office/drawing/2014/main" id="{816A093C-342C-46D2-9164-296D9E315840}"/>
              </a:ext>
            </a:extLst>
          </p:cNvPr>
          <p:cNvSpPr>
            <a:spLocks noGrp="1"/>
          </p:cNvSpPr>
          <p:nvPr/>
        </p:nvSpPr>
        <p:spPr>
          <a:xfrm>
            <a:off x="666750" y="4757738"/>
            <a:ext cx="10858500" cy="669131"/>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The ideal simulation conserves total E. Real pivot friction and air drag remove mechanical energy.</a:t>
            </a:r>
          </a:p>
        </p:txBody>
      </p:sp>
      <p:sp>
        <p:nvSpPr>
          <p:cNvPr id="8" name="body3">
            <a:extLst>
              <a:ext uri="{FF2B5EF4-FFF2-40B4-BE49-F238E27FC236}">
                <a16:creationId xmlns:a16="http://schemas.microsoft.com/office/drawing/2014/main" id="{0975D750-3249-484F-9456-C684811CC25D}"/>
              </a:ext>
            </a:extLst>
          </p:cNvPr>
          <p:cNvSpPr>
            <a:spLocks noGrp="1"/>
          </p:cNvSpPr>
          <p:nvPr/>
        </p:nvSpPr>
        <p:spPr>
          <a:xfrm>
            <a:off x="666750" y="5522119"/>
            <a:ext cx="10858500" cy="669131"/>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Energy loss in a recording does not by itself identify which loss mechanism dominates.</a:t>
            </a:r>
          </a:p>
        </p:txBody>
      </p:sp>
      <p:sp>
        <p:nvSpPr>
          <p:cNvPr id="9" name="page">
            <a:extLst>
              <a:ext uri="{FF2B5EF4-FFF2-40B4-BE49-F238E27FC236}">
                <a16:creationId xmlns:a16="http://schemas.microsoft.com/office/drawing/2014/main" id="{F11DFD02-01FC-461C-BC3D-82ECC7B08B03}"/>
              </a:ext>
            </a:extLst>
          </p:cNvPr>
          <p:cNvSpPr>
            <a:spLocks noGrp="1"/>
          </p:cNvSpPr>
          <p:nvPr/>
        </p:nvSpPr>
        <p:spPr>
          <a:xfrm>
            <a:off x="11449050" y="6515100"/>
            <a:ext cx="333375" cy="190500"/>
          </a:xfrm>
          <a:prstGeom prst="rect">
            <a:avLst/>
          </a:prstGeom>
          <a:noFill/>
          <a:ln w="0">
            <a:noFill/>
          </a:ln>
        </p:spPr>
        <p:txBody>
          <a:bodyPr anchor="t">
            <a:noAutofit/>
          </a:bodyPr>
          <a:lstStyle/>
          <a:p>
            <a:pPr>
              <a:defRPr sz="1050" b="0">
                <a:solidFill>
                  <a:srgbClr val="6B7280"/>
                </a:solidFill>
                <a:latin typeface="Aptos"/>
                <a:ea typeface="Aptos"/>
                <a:cs typeface="Aptos"/>
              </a:defRPr>
            </a:pPr>
            <a:r>
              <a:rPr sz="1050" b="0">
                <a:solidFill>
                  <a:srgbClr val="6B7280"/>
                </a:solidFill>
                <a:latin typeface="Aptos"/>
                <a:ea typeface="Aptos"/>
                <a:cs typeface="Aptos"/>
              </a:rPr>
              <a:t>22</a:t>
            </a:r>
          </a:p>
        </p:txBody>
      </p:sp>
    </p:spTree>
    <p:extLst>
      <p:ext uri="{BB962C8B-B14F-4D97-AF65-F5344CB8AC3E}">
        <p14:creationId xmlns:p14="http://schemas.microsoft.com/office/powerpoint/2010/main" val="91332890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course">
            <a:extLst>
              <a:ext uri="{FF2B5EF4-FFF2-40B4-BE49-F238E27FC236}">
                <a16:creationId xmlns:a16="http://schemas.microsoft.com/office/drawing/2014/main" id="{19308BD9-1DF0-4C68-A2BD-2CF9ED2BAEEE}"/>
              </a:ext>
            </a:extLst>
          </p:cNvPr>
          <p:cNvSpPr>
            <a:spLocks noGrp="1"/>
          </p:cNvSpPr>
          <p:nvPr/>
        </p:nvSpPr>
        <p:spPr>
          <a:xfrm>
            <a:off x="495300" y="190500"/>
            <a:ext cx="8572500" cy="285750"/>
          </a:xfrm>
          <a:prstGeom prst="rect">
            <a:avLst/>
          </a:prstGeom>
          <a:noFill/>
          <a:ln w="0">
            <a:noFill/>
          </a:ln>
        </p:spPr>
        <p:txBody>
          <a:bodyPr anchor="t">
            <a:noAutofit/>
          </a:bodyPr>
          <a:lstStyle/>
          <a:p>
            <a:pPr>
              <a:defRPr sz="1275" b="1">
                <a:solidFill>
                  <a:srgbClr val="881C1C"/>
                </a:solidFill>
                <a:latin typeface="Aptos"/>
                <a:ea typeface="Aptos"/>
                <a:cs typeface="Aptos"/>
              </a:defRPr>
            </a:pPr>
            <a:r>
              <a:rPr sz="1275" b="1">
                <a:solidFill>
                  <a:srgbClr val="881C1C"/>
                </a:solidFill>
                <a:latin typeface="Aptos"/>
                <a:ea typeface="Aptos"/>
                <a:cs typeface="Aptos"/>
              </a:rPr>
              <a:t>MIE 402   ME LAB II</a:t>
            </a:r>
          </a:p>
        </p:txBody>
      </p:sp>
      <p:sp>
        <p:nvSpPr>
          <p:cNvPr id="2" name="title">
            <a:extLst>
              <a:ext uri="{FF2B5EF4-FFF2-40B4-BE49-F238E27FC236}">
                <a16:creationId xmlns:a16="http://schemas.microsoft.com/office/drawing/2014/main" id="{E0783766-4D11-49D5-A687-3FCED406DCB5}"/>
              </a:ext>
            </a:extLst>
          </p:cNvPr>
          <p:cNvSpPr>
            <a:spLocks noGrp="1"/>
          </p:cNvSpPr>
          <p:nvPr/>
        </p:nvSpPr>
        <p:spPr>
          <a:xfrm>
            <a:off x="495300" y="666750"/>
            <a:ext cx="11125200" cy="742950"/>
          </a:xfrm>
          <a:prstGeom prst="rect">
            <a:avLst/>
          </a:prstGeom>
          <a:noFill/>
          <a:ln w="0">
            <a:noFill/>
          </a:ln>
        </p:spPr>
        <p:txBody>
          <a:bodyPr anchor="t">
            <a:noAutofit/>
          </a:bodyPr>
          <a:lstStyle/>
          <a:p>
            <a:pPr>
              <a:defRPr sz="2925" b="1">
                <a:solidFill>
                  <a:srgbClr val="152437"/>
                </a:solidFill>
                <a:latin typeface="Aptos"/>
                <a:ea typeface="Aptos"/>
                <a:cs typeface="Aptos"/>
              </a:defRPr>
            </a:pPr>
            <a:r>
              <a:rPr sz="2925" b="1">
                <a:solidFill>
                  <a:srgbClr val="152437"/>
                </a:solidFill>
                <a:latin typeface="Aptos"/>
                <a:ea typeface="Aptos"/>
                <a:cs typeface="Aptos"/>
              </a:rPr>
              <a:t>How energy gives the equations of motion</a:t>
            </a:r>
          </a:p>
        </p:txBody>
      </p:sp>
      <mc:AlternateContent xmlns:mc="http://schemas.openxmlformats.org/markup-compatibility/2006">
        <mc:Choice xmlns:a14="http://schemas.microsoft.com/office/drawing/2010/main" Requires="a14">
          <p:sp>
            <p:nvSpPr>
              <p:cNvPr id="3" name="EQ_lagrange">
                <a:extLst>
                  <a:ext uri="{FF2B5EF4-FFF2-40B4-BE49-F238E27FC236}">
                    <a16:creationId xmlns:a16="http://schemas.microsoft.com/office/drawing/2014/main" id="{09EF11F6-25A2-40A3-A35C-CEC8D30ACED3}"/>
                  </a:ext>
                </a:extLst>
              </p:cNvPr>
              <p:cNvSpPr>
                <a:spLocks noGrp="1"/>
              </p:cNvSpPr>
              <p:nvPr/>
            </p:nvSpPr>
            <p:spPr>
              <a:xfrm>
                <a:off x="666750" y="1666875"/>
                <a:ext cx="10858500" cy="1009650"/>
              </a:xfrm>
              <a:prstGeom prst="rect">
                <a:avLst/>
              </a:prstGeom>
              <a:noFill/>
              <a:ln w="0">
                <a:noFill/>
              </a:ln>
            </p:spPr>
            <p:txBody>
              <a:bodyPr anchor="t">
                <a:noAutofit/>
              </a:bodyPr>
              <a:lstStyle/>
              <a:p>
                <a:pPr algn="l"/>
                <a14:m>
                  <m:oMathPara xmlns:m="http://schemas.openxmlformats.org/officeDocument/2006/math">
                    <m:oMathParaPr>
                      <m:jc m:val="left"/>
                    </m:oMathParaPr>
                    <m:oMath>
                      <m:f>
                        <m:fPr>
                          <m:ctrlPr>
                            <a:rPr lang="en-US" sz="2400">
                              <a:latin typeface="Cambria Math"/>
                            </a:rPr>
                          </m:ctrlPr>
                        </m:fPr>
                        <m:num>
                          <m:r>
                            <a:rPr lang="en-US" sz="2400">
                              <a:latin typeface="Cambria Math"/>
                            </a:rPr>
                            <m:t>𝑑</m:t>
                          </m:r>
                        </m:num>
                        <m:den>
                          <m:r>
                            <a:rPr lang="en-US" sz="2400">
                              <a:latin typeface="Cambria Math"/>
                            </a:rPr>
                            <m:t>𝑑𝑡</m:t>
                          </m:r>
                        </m:den>
                      </m:f>
                      <m:r>
                        <a:rPr lang="en-US" sz="2400">
                          <a:latin typeface="Cambria Math"/>
                        </a:rPr>
                        <m:t>(</m:t>
                      </m:r>
                      <m:f>
                        <m:fPr>
                          <m:ctrlPr>
                            <a:rPr lang="en-US" sz="2400">
                              <a:latin typeface="Cambria Math"/>
                            </a:rPr>
                          </m:ctrlPr>
                        </m:fPr>
                        <m:num>
                          <m:r>
                            <a:rPr lang="en-US" sz="2400">
                              <a:latin typeface="Cambria Math"/>
                            </a:rPr>
                            <m:t>𝜕</m:t>
                          </m:r>
                          <m:r>
                            <a:rPr lang="en-US" sz="2400">
                              <a:latin typeface="Cambria Math"/>
                            </a:rPr>
                            <m:t>ℒ</m:t>
                          </m:r>
                        </m:num>
                        <m:den>
                          <m:r>
                            <a:rPr lang="en-US" sz="2400">
                              <a:latin typeface="Cambria Math"/>
                            </a:rPr>
                            <m:t>𝜕</m:t>
                          </m:r>
                          <m:sSub>
                            <m:sSubPr>
                              <m:ctrlPr>
                                <a:rPr lang="en-US" sz="2400">
                                  <a:latin typeface="Cambria Math"/>
                                </a:rPr>
                              </m:ctrlPr>
                            </m:sSubPr>
                            <m:e>
                              <m:r>
                                <a:rPr lang="en-US" sz="2400">
                                  <a:latin typeface="Cambria Math"/>
                                </a:rPr>
                                <m:t>𝜔</m:t>
                              </m:r>
                            </m:e>
                            <m:sub>
                              <m:r>
                                <a:rPr lang="en-US" sz="2400">
                                  <a:latin typeface="Cambria Math"/>
                                </a:rPr>
                                <m:t>𝑖</m:t>
                              </m:r>
                            </m:sub>
                          </m:sSub>
                        </m:den>
                      </m:f>
                      <m:r>
                        <a:rPr lang="en-US" sz="2400">
                          <a:latin typeface="Cambria Math"/>
                        </a:rPr>
                        <m:t>) − </m:t>
                      </m:r>
                      <m:f>
                        <m:fPr>
                          <m:ctrlPr>
                            <a:rPr lang="en-US" sz="2400">
                              <a:latin typeface="Cambria Math"/>
                            </a:rPr>
                          </m:ctrlPr>
                        </m:fPr>
                        <m:num>
                          <m:r>
                            <a:rPr lang="en-US" sz="2400">
                              <a:latin typeface="Cambria Math"/>
                            </a:rPr>
                            <m:t>𝜕</m:t>
                          </m:r>
                          <m:r>
                            <a:rPr lang="en-US" sz="2400">
                              <a:latin typeface="Cambria Math"/>
                            </a:rPr>
                            <m:t>ℒ</m:t>
                          </m:r>
                        </m:num>
                        <m:den>
                          <m:r>
                            <a:rPr lang="en-US" sz="2400">
                              <a:latin typeface="Cambria Math"/>
                            </a:rPr>
                            <m:t>𝜕</m:t>
                          </m:r>
                          <m:sSub>
                            <m:sSubPr>
                              <m:ctrlPr>
                                <a:rPr lang="en-US" sz="2400">
                                  <a:latin typeface="Cambria Math"/>
                                </a:rPr>
                              </m:ctrlPr>
                            </m:sSubPr>
                            <m:e>
                              <m:r>
                                <a:rPr lang="en-US" sz="2400">
                                  <a:latin typeface="Cambria Math"/>
                                </a:rPr>
                                <m:t>𝜃</m:t>
                              </m:r>
                            </m:e>
                            <m:sub>
                              <m:r>
                                <a:rPr lang="en-US" sz="2400">
                                  <a:latin typeface="Cambria Math"/>
                                </a:rPr>
                                <m:t>𝑖</m:t>
                              </m:r>
                            </m:sub>
                          </m:sSub>
                        </m:den>
                      </m:f>
                      <m:r>
                        <a:rPr lang="en-US" sz="2400">
                          <a:latin typeface="Cambria Math"/>
                        </a:rPr>
                        <m:t> = </m:t>
                      </m:r>
                      <m:sSub>
                        <m:sSubPr>
                          <m:ctrlPr>
                            <a:rPr lang="en-US" sz="2400">
                              <a:latin typeface="Cambria Math"/>
                            </a:rPr>
                          </m:ctrlPr>
                        </m:sSubPr>
                        <m:e>
                          <m:r>
                            <a:rPr lang="en-US" sz="2400">
                              <a:latin typeface="Cambria Math"/>
                            </a:rPr>
                            <m:t>𝑄</m:t>
                          </m:r>
                        </m:e>
                        <m:sub>
                          <m:r>
                            <a:rPr lang="en-US" sz="2400">
                              <a:latin typeface="Cambria Math"/>
                            </a:rPr>
                            <m:t>𝑖</m:t>
                          </m:r>
                        </m:sub>
                      </m:sSub>
                      <m:r>
                        <a:rPr lang="en-US" sz="2400">
                          <a:latin typeface="Cambria Math"/>
                        </a:rPr>
                        <m:t>      </m:t>
                      </m:r>
                      <m:r>
                        <a:rPr lang="en-US" sz="2400">
                          <a:latin typeface="Cambria Math"/>
                        </a:rPr>
                        <m:t>𝑖</m:t>
                      </m:r>
                      <m:r>
                        <a:rPr lang="en-US" sz="2400">
                          <a:latin typeface="Cambria Math"/>
                        </a:rPr>
                        <m:t> = 1, 2</m:t>
                      </m:r>
                    </m:oMath>
                  </m:oMathPara>
                </a14:m>
                <a:endParaRPr lang="en-US" sz="2400"/>
              </a:p>
            </p:txBody>
          </p:sp>
        </mc:Choice>
        <mc:Fallback>
          <p:sp>
            <p:nvSpPr>
              <p:cNvPr id="3" name="EQ_lagrange">
                <a:extLst>
                  <a:ext uri="{FF2B5EF4-FFF2-40B4-BE49-F238E27FC236}">
                    <a16:creationId xmlns:a16="http://schemas.microsoft.com/office/drawing/2014/main" id="{09EF11F6-25A2-40A3-A35C-CEC8D30ACED3}"/>
                  </a:ext>
                </a:extLst>
              </p:cNvPr>
              <p:cNvSpPr>
                <a:spLocks noGrp="1" noRot="1" noChangeAspect="1" noMove="1" noResize="1" noEditPoints="1" noAdjustHandles="1" noChangeArrowheads="1" noChangeShapeType="1" noTextEdit="1"/>
              </p:cNvSpPr>
              <p:nvPr/>
            </p:nvSpPr>
            <p:spPr>
              <a:xfrm>
                <a:off x="666750" y="1666875"/>
                <a:ext cx="10858500" cy="1009650"/>
              </a:xfrm>
              <a:prstGeom prst="rect">
                <a:avLst/>
              </a:prstGeom>
              <a:blipFill>
                <a:blip r:embed="rId3"/>
                <a:stretch>
                  <a:fillRect/>
                </a:stretch>
              </a:blipFill>
              <a:ln w="0">
                <a:noFill/>
              </a:ln>
            </p:spPr>
            <p:txBody>
              <a:bodyPr/>
              <a:lstStyle/>
              <a:p>
                <a:r>
                  <a:rPr lang="en-US">
                    <a:noFill/>
                  </a:rPr>
                  <a:t> </a:t>
                </a:r>
              </a:p>
            </p:txBody>
          </p:sp>
        </mc:Fallback>
      </mc:AlternateContent>
      <p:sp>
        <p:nvSpPr>
          <p:cNvPr id="4" name="body0">
            <a:extLst>
              <a:ext uri="{FF2B5EF4-FFF2-40B4-BE49-F238E27FC236}">
                <a16:creationId xmlns:a16="http://schemas.microsoft.com/office/drawing/2014/main" id="{B1C63B71-D93F-462D-A2E5-9AE4A0399D78}"/>
              </a:ext>
            </a:extLst>
          </p:cNvPr>
          <p:cNvSpPr>
            <a:spLocks noGrp="1"/>
          </p:cNvSpPr>
          <p:nvPr/>
        </p:nvSpPr>
        <p:spPr>
          <a:xfrm>
            <a:off x="666750" y="2809875"/>
            <a:ext cx="10858500" cy="971550"/>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Form ℒ = T − V, then apply the equation once for θ₁ and once for θ₂.</a:t>
            </a:r>
          </a:p>
        </p:txBody>
      </p:sp>
      <p:sp>
        <p:nvSpPr>
          <p:cNvPr id="5" name="body1">
            <a:extLst>
              <a:ext uri="{FF2B5EF4-FFF2-40B4-BE49-F238E27FC236}">
                <a16:creationId xmlns:a16="http://schemas.microsoft.com/office/drawing/2014/main" id="{89F77726-C081-414E-B9AD-A6465C27788D}"/>
              </a:ext>
            </a:extLst>
          </p:cNvPr>
          <p:cNvSpPr>
            <a:spLocks noGrp="1"/>
          </p:cNvSpPr>
          <p:nvPr/>
        </p:nvSpPr>
        <p:spPr>
          <a:xfrm>
            <a:off x="666750" y="3876675"/>
            <a:ext cx="10858500" cy="971550"/>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The first term accounts for the rate of change of generalized momentum. The second accounts for how the energy changes with configuration.</a:t>
            </a:r>
          </a:p>
        </p:txBody>
      </p:sp>
      <p:sp>
        <p:nvSpPr>
          <p:cNvPr id="6" name="body2">
            <a:extLst>
              <a:ext uri="{FF2B5EF4-FFF2-40B4-BE49-F238E27FC236}">
                <a16:creationId xmlns:a16="http://schemas.microsoft.com/office/drawing/2014/main" id="{5E8936C4-B5F5-4131-BAB1-D6095F0AFE46}"/>
              </a:ext>
            </a:extLst>
          </p:cNvPr>
          <p:cNvSpPr>
            <a:spLocks noGrp="1"/>
          </p:cNvSpPr>
          <p:nvPr/>
        </p:nvSpPr>
        <p:spPr>
          <a:xfrm>
            <a:off x="666750" y="4943475"/>
            <a:ext cx="10858500" cy="971550"/>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For the ideal baseline, Q₁ = Q₂ = 0. A supplied numerical solver advances these equations in time.</a:t>
            </a:r>
          </a:p>
        </p:txBody>
      </p:sp>
      <p:sp>
        <p:nvSpPr>
          <p:cNvPr id="7" name="page">
            <a:extLst>
              <a:ext uri="{FF2B5EF4-FFF2-40B4-BE49-F238E27FC236}">
                <a16:creationId xmlns:a16="http://schemas.microsoft.com/office/drawing/2014/main" id="{86F507F1-487A-4C7F-A0E5-09E6B56CF3D4}"/>
              </a:ext>
            </a:extLst>
          </p:cNvPr>
          <p:cNvSpPr>
            <a:spLocks noGrp="1"/>
          </p:cNvSpPr>
          <p:nvPr/>
        </p:nvSpPr>
        <p:spPr>
          <a:xfrm>
            <a:off x="11449050" y="6515100"/>
            <a:ext cx="333375" cy="190500"/>
          </a:xfrm>
          <a:prstGeom prst="rect">
            <a:avLst/>
          </a:prstGeom>
          <a:noFill/>
          <a:ln w="0">
            <a:noFill/>
          </a:ln>
        </p:spPr>
        <p:txBody>
          <a:bodyPr anchor="t">
            <a:noAutofit/>
          </a:bodyPr>
          <a:lstStyle/>
          <a:p>
            <a:pPr>
              <a:defRPr sz="1050" b="0">
                <a:solidFill>
                  <a:srgbClr val="6B7280"/>
                </a:solidFill>
                <a:latin typeface="Aptos"/>
                <a:ea typeface="Aptos"/>
                <a:cs typeface="Aptos"/>
              </a:defRPr>
            </a:pPr>
            <a:r>
              <a:rPr sz="1050" b="0">
                <a:solidFill>
                  <a:srgbClr val="6B7280"/>
                </a:solidFill>
                <a:latin typeface="Aptos"/>
                <a:ea typeface="Aptos"/>
                <a:cs typeface="Aptos"/>
              </a:rPr>
              <a:t>23</a:t>
            </a:r>
          </a:p>
        </p:txBody>
      </p:sp>
    </p:spTree>
    <p:extLst>
      <p:ext uri="{BB962C8B-B14F-4D97-AF65-F5344CB8AC3E}">
        <p14:creationId xmlns:p14="http://schemas.microsoft.com/office/powerpoint/2010/main" val="91399141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course">
            <a:extLst>
              <a:ext uri="{FF2B5EF4-FFF2-40B4-BE49-F238E27FC236}">
                <a16:creationId xmlns:a16="http://schemas.microsoft.com/office/drawing/2014/main" id="{7D1C54A2-0096-4DC0-840E-7BFF6B5F7882}"/>
              </a:ext>
            </a:extLst>
          </p:cNvPr>
          <p:cNvSpPr>
            <a:spLocks noGrp="1"/>
          </p:cNvSpPr>
          <p:nvPr/>
        </p:nvSpPr>
        <p:spPr>
          <a:xfrm>
            <a:off x="495300" y="190500"/>
            <a:ext cx="8572500" cy="285750"/>
          </a:xfrm>
          <a:prstGeom prst="rect">
            <a:avLst/>
          </a:prstGeom>
          <a:noFill/>
          <a:ln w="0">
            <a:noFill/>
          </a:ln>
        </p:spPr>
        <p:txBody>
          <a:bodyPr anchor="t">
            <a:noAutofit/>
          </a:bodyPr>
          <a:lstStyle/>
          <a:p>
            <a:pPr>
              <a:defRPr sz="1275" b="1">
                <a:solidFill>
                  <a:srgbClr val="881C1C"/>
                </a:solidFill>
                <a:latin typeface="Aptos"/>
                <a:ea typeface="Aptos"/>
                <a:cs typeface="Aptos"/>
              </a:defRPr>
            </a:pPr>
            <a:r>
              <a:rPr sz="1275" b="1">
                <a:solidFill>
                  <a:srgbClr val="881C1C"/>
                </a:solidFill>
                <a:latin typeface="Aptos"/>
                <a:ea typeface="Aptos"/>
                <a:cs typeface="Aptos"/>
              </a:rPr>
              <a:t>MIE 402   ME LAB II</a:t>
            </a:r>
          </a:p>
        </p:txBody>
      </p:sp>
      <p:sp>
        <p:nvSpPr>
          <p:cNvPr id="2" name="title">
            <a:extLst>
              <a:ext uri="{FF2B5EF4-FFF2-40B4-BE49-F238E27FC236}">
                <a16:creationId xmlns:a16="http://schemas.microsoft.com/office/drawing/2014/main" id="{BC5C7F8A-522F-49FD-A0B2-19BE3BF8460D}"/>
              </a:ext>
            </a:extLst>
          </p:cNvPr>
          <p:cNvSpPr>
            <a:spLocks noGrp="1"/>
          </p:cNvSpPr>
          <p:nvPr/>
        </p:nvSpPr>
        <p:spPr>
          <a:xfrm>
            <a:off x="495300" y="666750"/>
            <a:ext cx="11125200" cy="742950"/>
          </a:xfrm>
          <a:prstGeom prst="rect">
            <a:avLst/>
          </a:prstGeom>
          <a:noFill/>
          <a:ln w="0">
            <a:noFill/>
          </a:ln>
        </p:spPr>
        <p:txBody>
          <a:bodyPr anchor="t">
            <a:noAutofit/>
          </a:bodyPr>
          <a:lstStyle/>
          <a:p>
            <a:pPr>
              <a:defRPr sz="2925" b="1">
                <a:solidFill>
                  <a:srgbClr val="152437"/>
                </a:solidFill>
                <a:latin typeface="Aptos"/>
                <a:ea typeface="Aptos"/>
                <a:cs typeface="Aptos"/>
              </a:defRPr>
            </a:pPr>
            <a:r>
              <a:rPr sz="2925" b="1">
                <a:solidFill>
                  <a:srgbClr val="152437"/>
                </a:solidFill>
                <a:latin typeface="Aptos"/>
                <a:ea typeface="Aptos"/>
                <a:cs typeface="Aptos"/>
              </a:rPr>
              <a:t>The two coupled acceleration equations</a:t>
            </a:r>
          </a:p>
        </p:txBody>
      </p:sp>
      <mc:AlternateContent xmlns:mc="http://schemas.openxmlformats.org/markup-compatibility/2006">
        <mc:Choice xmlns:a14="http://schemas.microsoft.com/office/drawing/2010/main" Requires="a14">
          <p:sp>
            <p:nvSpPr>
              <p:cNvPr id="3" name="EQ_eom1">
                <a:extLst>
                  <a:ext uri="{FF2B5EF4-FFF2-40B4-BE49-F238E27FC236}">
                    <a16:creationId xmlns:a16="http://schemas.microsoft.com/office/drawing/2014/main" id="{F557FBA6-01D9-4159-A3AA-C249EFB72B12}"/>
                  </a:ext>
                </a:extLst>
              </p:cNvPr>
              <p:cNvSpPr>
                <a:spLocks noGrp="1"/>
              </p:cNvSpPr>
              <p:nvPr/>
            </p:nvSpPr>
            <p:spPr>
              <a:xfrm>
                <a:off x="666750" y="1666875"/>
                <a:ext cx="10858500" cy="647700"/>
              </a:xfrm>
              <a:prstGeom prst="rect">
                <a:avLst/>
              </a:prstGeom>
              <a:noFill/>
              <a:ln w="0">
                <a:noFill/>
              </a:ln>
            </p:spPr>
            <p:txBody>
              <a:bodyPr anchor="t">
                <a:noAutofit/>
              </a:bodyPr>
              <a:lstStyle/>
              <a:p>
                <a:pPr algn="l"/>
                <a14:m>
                  <m:oMathPara xmlns:m="http://schemas.openxmlformats.org/officeDocument/2006/math">
                    <m:oMathParaPr>
                      <m:jc m:val="left"/>
                    </m:oMathParaPr>
                    <m:oMath>
                      <m:sSub>
                        <m:sSubPr>
                          <m:ctrlPr>
                            <a:rPr lang="en-US" sz="2400">
                              <a:latin typeface="Cambria Math"/>
                            </a:rPr>
                          </m:ctrlPr>
                        </m:sSubPr>
                        <m:e>
                          <m:r>
                            <a:rPr lang="en-US" sz="2400">
                              <a:latin typeface="Cambria Math"/>
                            </a:rPr>
                            <m:t>𝐼</m:t>
                          </m:r>
                        </m:e>
                        <m:sub>
                          <m:r>
                            <a:rPr lang="en-US" sz="2400">
                              <a:latin typeface="Cambria Math"/>
                            </a:rPr>
                            <m:t>11</m:t>
                          </m:r>
                        </m:sub>
                      </m:sSub>
                      <m:sSub>
                        <m:sSubPr>
                          <m:ctrlPr>
                            <a:rPr lang="en-US" sz="2400">
                              <a:latin typeface="Cambria Math"/>
                            </a:rPr>
                          </m:ctrlPr>
                        </m:sSubPr>
                        <m:e>
                          <m:r>
                            <a:rPr lang="en-US" sz="2400">
                              <a:latin typeface="Cambria Math"/>
                            </a:rPr>
                            <m:t>𝛼</m:t>
                          </m:r>
                        </m:e>
                        <m:sub>
                          <m:r>
                            <a:rPr lang="en-US" sz="2400">
                              <a:latin typeface="Cambria Math"/>
                            </a:rPr>
                            <m:t>1</m:t>
                          </m:r>
                        </m:sub>
                      </m:sSub>
                      <m:r>
                        <a:rPr lang="en-US" sz="2400">
                          <a:latin typeface="Cambria Math"/>
                        </a:rPr>
                        <m:t> + </m:t>
                      </m:r>
                      <m:r>
                        <a:rPr lang="en-US" sz="2400">
                          <a:latin typeface="Cambria Math"/>
                        </a:rPr>
                        <m:t>𝐶</m:t>
                      </m:r>
                      <m:r>
                        <a:rPr lang="en-US" sz="2400">
                          <a:latin typeface="Cambria Math"/>
                        </a:rPr>
                        <m:t> </m:t>
                      </m:r>
                      <m:r>
                        <a:rPr lang="en-US" sz="2400">
                          <a:latin typeface="Cambria Math"/>
                        </a:rPr>
                        <m:t>𝑐𝑜𝑠</m:t>
                      </m:r>
                      <m:r>
                        <a:rPr lang="en-US" sz="2400">
                          <a:latin typeface="Cambria Math"/>
                        </a:rPr>
                        <m:t> </m:t>
                      </m:r>
                      <m:r>
                        <a:rPr lang="en-US" sz="2400">
                          <a:latin typeface="Cambria Math"/>
                        </a:rPr>
                        <m:t>𝛥</m:t>
                      </m:r>
                      <m:r>
                        <a:rPr lang="en-US" sz="2400">
                          <a:latin typeface="Cambria Math"/>
                        </a:rPr>
                        <m:t> </m:t>
                      </m:r>
                      <m:sSub>
                        <m:sSubPr>
                          <m:ctrlPr>
                            <a:rPr lang="en-US" sz="2400">
                              <a:latin typeface="Cambria Math"/>
                            </a:rPr>
                          </m:ctrlPr>
                        </m:sSubPr>
                        <m:e>
                          <m:r>
                            <a:rPr lang="en-US" sz="2400">
                              <a:latin typeface="Cambria Math"/>
                            </a:rPr>
                            <m:t>𝛼</m:t>
                          </m:r>
                        </m:e>
                        <m:sub>
                          <m:r>
                            <a:rPr lang="en-US" sz="2400">
                              <a:latin typeface="Cambria Math"/>
                            </a:rPr>
                            <m:t>2</m:t>
                          </m:r>
                        </m:sub>
                      </m:sSub>
                      <m:r>
                        <a:rPr lang="en-US" sz="2400">
                          <a:latin typeface="Cambria Math"/>
                        </a:rPr>
                        <m:t> = −</m:t>
                      </m:r>
                      <m:r>
                        <a:rPr lang="en-US" sz="2400">
                          <a:latin typeface="Cambria Math"/>
                        </a:rPr>
                        <m:t>𝐶</m:t>
                      </m:r>
                      <m:r>
                        <a:rPr lang="en-US" sz="2400">
                          <a:latin typeface="Cambria Math"/>
                        </a:rPr>
                        <m:t> </m:t>
                      </m:r>
                      <m:r>
                        <a:rPr lang="en-US" sz="2400">
                          <a:latin typeface="Cambria Math"/>
                        </a:rPr>
                        <m:t>𝑠𝑖𝑛</m:t>
                      </m:r>
                      <m:r>
                        <a:rPr lang="en-US" sz="2400">
                          <a:latin typeface="Cambria Math"/>
                        </a:rPr>
                        <m:t> </m:t>
                      </m:r>
                      <m:r>
                        <a:rPr lang="en-US" sz="2400">
                          <a:latin typeface="Cambria Math"/>
                        </a:rPr>
                        <m:t>𝛥</m:t>
                      </m:r>
                      <m:r>
                        <a:rPr lang="en-US" sz="2400">
                          <a:latin typeface="Cambria Math"/>
                        </a:rPr>
                        <m:t> </m:t>
                      </m:r>
                      <m:sSup>
                        <m:sSupPr>
                          <m:ctrlPr>
                            <a:rPr lang="en-US" sz="2400" i="1">
                              <a:latin typeface="Cambria Math" panose="02040503050406030204" pitchFamily="18" charset="0"/>
                            </a:rPr>
                          </m:ctrlPr>
                        </m:sSupPr>
                        <m:e>
                          <m:sSub>
                            <m:sSubPr>
                              <m:ctrlPr>
                                <a:rPr lang="en-US" sz="2400">
                                  <a:latin typeface="Cambria Math"/>
                                </a:rPr>
                              </m:ctrlPr>
                            </m:sSubPr>
                            <m:e>
                              <m:r>
                                <a:rPr lang="en-US" sz="2400">
                                  <a:latin typeface="Cambria Math"/>
                                </a:rPr>
                                <m:t>𝜔</m:t>
                              </m:r>
                            </m:e>
                            <m:sub>
                              <m:r>
                                <a:rPr lang="en-US" sz="2400">
                                  <a:latin typeface="Cambria Math"/>
                                </a:rPr>
                                <m:t>2</m:t>
                              </m:r>
                            </m:sub>
                          </m:sSub>
                        </m:e>
                        <m:sup>
                          <m:r>
                            <a:rPr lang="en-US" sz="2400">
                              <a:latin typeface="Cambria Math"/>
                            </a:rPr>
                            <m:t>2</m:t>
                          </m:r>
                        </m:sup>
                      </m:sSup>
                      <m:r>
                        <a:rPr lang="en-US" sz="2400">
                          <a:latin typeface="Cambria Math"/>
                        </a:rPr>
                        <m:t> − </m:t>
                      </m:r>
                      <m:sSub>
                        <m:sSubPr>
                          <m:ctrlPr>
                            <a:rPr lang="en-US" sz="2400">
                              <a:latin typeface="Cambria Math"/>
                            </a:rPr>
                          </m:ctrlPr>
                        </m:sSubPr>
                        <m:e>
                          <m:r>
                            <a:rPr lang="en-US" sz="2400">
                              <a:latin typeface="Cambria Math"/>
                            </a:rPr>
                            <m:t>𝐺</m:t>
                          </m:r>
                        </m:e>
                        <m:sub>
                          <m:r>
                            <a:rPr lang="en-US" sz="2400">
                              <a:latin typeface="Cambria Math"/>
                            </a:rPr>
                            <m:t>1</m:t>
                          </m:r>
                        </m:sub>
                      </m:sSub>
                      <m:r>
                        <a:rPr lang="en-US" sz="2400">
                          <a:latin typeface="Cambria Math"/>
                        </a:rPr>
                        <m:t> </m:t>
                      </m:r>
                      <m:r>
                        <a:rPr lang="en-US" sz="2400">
                          <a:latin typeface="Cambria Math"/>
                        </a:rPr>
                        <m:t>𝑠𝑖𝑛</m:t>
                      </m:r>
                      <m:r>
                        <a:rPr lang="en-US" sz="2400">
                          <a:latin typeface="Cambria Math"/>
                        </a:rPr>
                        <m:t> </m:t>
                      </m:r>
                      <m:sSub>
                        <m:sSubPr>
                          <m:ctrlPr>
                            <a:rPr lang="en-US" sz="2400">
                              <a:latin typeface="Cambria Math"/>
                            </a:rPr>
                          </m:ctrlPr>
                        </m:sSubPr>
                        <m:e>
                          <m:r>
                            <a:rPr lang="en-US" sz="2400">
                              <a:latin typeface="Cambria Math"/>
                            </a:rPr>
                            <m:t>𝜃</m:t>
                          </m:r>
                        </m:e>
                        <m:sub>
                          <m:r>
                            <a:rPr lang="en-US" sz="2400">
                              <a:latin typeface="Cambria Math"/>
                            </a:rPr>
                            <m:t>1</m:t>
                          </m:r>
                        </m:sub>
                      </m:sSub>
                    </m:oMath>
                  </m:oMathPara>
                </a14:m>
                <a:endParaRPr lang="en-US" sz="2400"/>
              </a:p>
            </p:txBody>
          </p:sp>
        </mc:Choice>
        <mc:Fallback>
          <p:sp>
            <p:nvSpPr>
              <p:cNvPr id="3" name="EQ_eom1">
                <a:extLst>
                  <a:ext uri="{FF2B5EF4-FFF2-40B4-BE49-F238E27FC236}">
                    <a16:creationId xmlns:a16="http://schemas.microsoft.com/office/drawing/2014/main" id="{F557FBA6-01D9-4159-A3AA-C249EFB72B12}"/>
                  </a:ext>
                </a:extLst>
              </p:cNvPr>
              <p:cNvSpPr>
                <a:spLocks noGrp="1" noRot="1" noChangeAspect="1" noMove="1" noResize="1" noEditPoints="1" noAdjustHandles="1" noChangeArrowheads="1" noChangeShapeType="1" noTextEdit="1"/>
              </p:cNvSpPr>
              <p:nvPr/>
            </p:nvSpPr>
            <p:spPr>
              <a:xfrm>
                <a:off x="666750" y="1666875"/>
                <a:ext cx="10858500" cy="647700"/>
              </a:xfrm>
              <a:prstGeom prst="rect">
                <a:avLst/>
              </a:prstGeom>
              <a:blipFill>
                <a:blip r:embed="rId3"/>
                <a:stretch>
                  <a:fillRect l="-112"/>
                </a:stretch>
              </a:blipFill>
              <a:ln w="0">
                <a:no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 name="EQ_eom2">
                <a:extLst>
                  <a:ext uri="{FF2B5EF4-FFF2-40B4-BE49-F238E27FC236}">
                    <a16:creationId xmlns:a16="http://schemas.microsoft.com/office/drawing/2014/main" id="{1983067E-A9C1-4FF2-921D-1F2F386ACA1C}"/>
                  </a:ext>
                </a:extLst>
              </p:cNvPr>
              <p:cNvSpPr>
                <a:spLocks noGrp="1"/>
              </p:cNvSpPr>
              <p:nvPr/>
            </p:nvSpPr>
            <p:spPr>
              <a:xfrm>
                <a:off x="666750" y="2447925"/>
                <a:ext cx="10858500" cy="647700"/>
              </a:xfrm>
              <a:prstGeom prst="rect">
                <a:avLst/>
              </a:prstGeom>
              <a:noFill/>
              <a:ln w="0">
                <a:noFill/>
              </a:ln>
            </p:spPr>
            <p:txBody>
              <a:bodyPr anchor="t">
                <a:noAutofit/>
              </a:bodyPr>
              <a:lstStyle/>
              <a:p>
                <a:pPr algn="l"/>
                <a14:m>
                  <m:oMathPara xmlns:m="http://schemas.openxmlformats.org/officeDocument/2006/math">
                    <m:oMathParaPr>
                      <m:jc m:val="left"/>
                    </m:oMathParaPr>
                    <m:oMath>
                      <m:r>
                        <a:rPr lang="en-US" sz="2400">
                          <a:latin typeface="Cambria Math"/>
                        </a:rPr>
                        <m:t>𝐶</m:t>
                      </m:r>
                      <m:r>
                        <a:rPr lang="en-US" sz="2400">
                          <a:latin typeface="Cambria Math"/>
                        </a:rPr>
                        <m:t> </m:t>
                      </m:r>
                      <m:r>
                        <a:rPr lang="en-US" sz="2400">
                          <a:latin typeface="Cambria Math"/>
                        </a:rPr>
                        <m:t>𝑐𝑜𝑠</m:t>
                      </m:r>
                      <m:r>
                        <a:rPr lang="en-US" sz="2400">
                          <a:latin typeface="Cambria Math"/>
                        </a:rPr>
                        <m:t> </m:t>
                      </m:r>
                      <m:r>
                        <a:rPr lang="en-US" sz="2400">
                          <a:latin typeface="Cambria Math"/>
                        </a:rPr>
                        <m:t>𝛥</m:t>
                      </m:r>
                      <m:r>
                        <a:rPr lang="en-US" sz="2400">
                          <a:latin typeface="Cambria Math"/>
                        </a:rPr>
                        <m:t> </m:t>
                      </m:r>
                      <m:sSub>
                        <m:sSubPr>
                          <m:ctrlPr>
                            <a:rPr lang="en-US" sz="2400">
                              <a:latin typeface="Cambria Math"/>
                            </a:rPr>
                          </m:ctrlPr>
                        </m:sSubPr>
                        <m:e>
                          <m:r>
                            <a:rPr lang="en-US" sz="2400">
                              <a:latin typeface="Cambria Math"/>
                            </a:rPr>
                            <m:t>𝛼</m:t>
                          </m:r>
                        </m:e>
                        <m:sub>
                          <m:r>
                            <a:rPr lang="en-US" sz="2400">
                              <a:latin typeface="Cambria Math"/>
                            </a:rPr>
                            <m:t>1</m:t>
                          </m:r>
                        </m:sub>
                      </m:sSub>
                      <m:r>
                        <a:rPr lang="en-US" sz="2400">
                          <a:latin typeface="Cambria Math"/>
                        </a:rPr>
                        <m:t> + </m:t>
                      </m:r>
                      <m:sSub>
                        <m:sSubPr>
                          <m:ctrlPr>
                            <a:rPr lang="en-US" sz="2400">
                              <a:latin typeface="Cambria Math"/>
                            </a:rPr>
                          </m:ctrlPr>
                        </m:sSubPr>
                        <m:e>
                          <m:r>
                            <a:rPr lang="en-US" sz="2400">
                              <a:latin typeface="Cambria Math"/>
                            </a:rPr>
                            <m:t>𝐼</m:t>
                          </m:r>
                        </m:e>
                        <m:sub>
                          <m:r>
                            <a:rPr lang="en-US" sz="2400">
                              <a:latin typeface="Cambria Math"/>
                            </a:rPr>
                            <m:t>22</m:t>
                          </m:r>
                        </m:sub>
                      </m:sSub>
                      <m:sSub>
                        <m:sSubPr>
                          <m:ctrlPr>
                            <a:rPr lang="en-US" sz="2400">
                              <a:latin typeface="Cambria Math"/>
                            </a:rPr>
                          </m:ctrlPr>
                        </m:sSubPr>
                        <m:e>
                          <m:r>
                            <a:rPr lang="en-US" sz="2400">
                              <a:latin typeface="Cambria Math"/>
                            </a:rPr>
                            <m:t>𝛼</m:t>
                          </m:r>
                        </m:e>
                        <m:sub>
                          <m:r>
                            <a:rPr lang="en-US" sz="2400">
                              <a:latin typeface="Cambria Math"/>
                            </a:rPr>
                            <m:t>2</m:t>
                          </m:r>
                        </m:sub>
                      </m:sSub>
                      <m:r>
                        <a:rPr lang="en-US" sz="2400">
                          <a:latin typeface="Cambria Math"/>
                        </a:rPr>
                        <m:t> = </m:t>
                      </m:r>
                      <m:r>
                        <a:rPr lang="en-US" sz="2400">
                          <a:latin typeface="Cambria Math"/>
                        </a:rPr>
                        <m:t>𝐶</m:t>
                      </m:r>
                      <m:r>
                        <a:rPr lang="en-US" sz="2400">
                          <a:latin typeface="Cambria Math"/>
                        </a:rPr>
                        <m:t> </m:t>
                      </m:r>
                      <m:r>
                        <a:rPr lang="en-US" sz="2400">
                          <a:latin typeface="Cambria Math"/>
                        </a:rPr>
                        <m:t>𝑠𝑖𝑛</m:t>
                      </m:r>
                      <m:r>
                        <a:rPr lang="en-US" sz="2400">
                          <a:latin typeface="Cambria Math"/>
                        </a:rPr>
                        <m:t> </m:t>
                      </m:r>
                      <m:r>
                        <a:rPr lang="en-US" sz="2400">
                          <a:latin typeface="Cambria Math"/>
                        </a:rPr>
                        <m:t>𝛥</m:t>
                      </m:r>
                      <m:r>
                        <a:rPr lang="en-US" sz="2400">
                          <a:latin typeface="Cambria Math"/>
                        </a:rPr>
                        <m:t> </m:t>
                      </m:r>
                      <m:sSup>
                        <m:sSupPr>
                          <m:ctrlPr>
                            <a:rPr lang="en-US" sz="2400" i="1">
                              <a:latin typeface="Cambria Math" panose="02040503050406030204" pitchFamily="18" charset="0"/>
                            </a:rPr>
                          </m:ctrlPr>
                        </m:sSupPr>
                        <m:e>
                          <m:sSub>
                            <m:sSubPr>
                              <m:ctrlPr>
                                <a:rPr lang="en-US" sz="2400">
                                  <a:latin typeface="Cambria Math"/>
                                </a:rPr>
                              </m:ctrlPr>
                            </m:sSubPr>
                            <m:e>
                              <m:r>
                                <a:rPr lang="en-US" sz="2400">
                                  <a:latin typeface="Cambria Math"/>
                                </a:rPr>
                                <m:t>𝜔</m:t>
                              </m:r>
                            </m:e>
                            <m:sub>
                              <m:r>
                                <a:rPr lang="en-US" sz="2400">
                                  <a:latin typeface="Cambria Math"/>
                                </a:rPr>
                                <m:t>1</m:t>
                              </m:r>
                            </m:sub>
                          </m:sSub>
                        </m:e>
                        <m:sup>
                          <m:r>
                            <a:rPr lang="en-US" sz="2400">
                              <a:latin typeface="Cambria Math"/>
                            </a:rPr>
                            <m:t>2</m:t>
                          </m:r>
                        </m:sup>
                      </m:sSup>
                      <m:r>
                        <a:rPr lang="en-US" sz="2400">
                          <a:latin typeface="Cambria Math"/>
                        </a:rPr>
                        <m:t> − </m:t>
                      </m:r>
                      <m:sSub>
                        <m:sSubPr>
                          <m:ctrlPr>
                            <a:rPr lang="en-US" sz="2400">
                              <a:latin typeface="Cambria Math"/>
                            </a:rPr>
                          </m:ctrlPr>
                        </m:sSubPr>
                        <m:e>
                          <m:r>
                            <a:rPr lang="en-US" sz="2400">
                              <a:latin typeface="Cambria Math"/>
                            </a:rPr>
                            <m:t>𝐺</m:t>
                          </m:r>
                        </m:e>
                        <m:sub>
                          <m:r>
                            <a:rPr lang="en-US" sz="2400">
                              <a:latin typeface="Cambria Math"/>
                            </a:rPr>
                            <m:t>2</m:t>
                          </m:r>
                        </m:sub>
                      </m:sSub>
                      <m:r>
                        <a:rPr lang="en-US" sz="2400">
                          <a:latin typeface="Cambria Math"/>
                        </a:rPr>
                        <m:t> </m:t>
                      </m:r>
                      <m:r>
                        <a:rPr lang="en-US" sz="2400">
                          <a:latin typeface="Cambria Math"/>
                        </a:rPr>
                        <m:t>𝑠𝑖𝑛</m:t>
                      </m:r>
                      <m:r>
                        <a:rPr lang="en-US" sz="2400">
                          <a:latin typeface="Cambria Math"/>
                        </a:rPr>
                        <m:t> </m:t>
                      </m:r>
                      <m:sSub>
                        <m:sSubPr>
                          <m:ctrlPr>
                            <a:rPr lang="en-US" sz="2400">
                              <a:latin typeface="Cambria Math"/>
                            </a:rPr>
                          </m:ctrlPr>
                        </m:sSubPr>
                        <m:e>
                          <m:r>
                            <a:rPr lang="en-US" sz="2400">
                              <a:latin typeface="Cambria Math"/>
                            </a:rPr>
                            <m:t>𝜃</m:t>
                          </m:r>
                        </m:e>
                        <m:sub>
                          <m:r>
                            <a:rPr lang="en-US" sz="2400">
                              <a:latin typeface="Cambria Math"/>
                            </a:rPr>
                            <m:t>2</m:t>
                          </m:r>
                        </m:sub>
                      </m:sSub>
                    </m:oMath>
                  </m:oMathPara>
                </a14:m>
                <a:endParaRPr lang="en-US" sz="2400"/>
              </a:p>
            </p:txBody>
          </p:sp>
        </mc:Choice>
        <mc:Fallback>
          <p:sp>
            <p:nvSpPr>
              <p:cNvPr id="4" name="EQ_eom2">
                <a:extLst>
                  <a:ext uri="{FF2B5EF4-FFF2-40B4-BE49-F238E27FC236}">
                    <a16:creationId xmlns:a16="http://schemas.microsoft.com/office/drawing/2014/main" id="{1983067E-A9C1-4FF2-921D-1F2F386ACA1C}"/>
                  </a:ext>
                </a:extLst>
              </p:cNvPr>
              <p:cNvSpPr>
                <a:spLocks noGrp="1" noRot="1" noChangeAspect="1" noMove="1" noResize="1" noEditPoints="1" noAdjustHandles="1" noChangeArrowheads="1" noChangeShapeType="1" noTextEdit="1"/>
              </p:cNvSpPr>
              <p:nvPr/>
            </p:nvSpPr>
            <p:spPr>
              <a:xfrm>
                <a:off x="666750" y="2447925"/>
                <a:ext cx="10858500" cy="647700"/>
              </a:xfrm>
              <a:prstGeom prst="rect">
                <a:avLst/>
              </a:prstGeom>
              <a:blipFill>
                <a:blip r:embed="rId4"/>
                <a:stretch>
                  <a:fillRect l="-112"/>
                </a:stretch>
              </a:blipFill>
              <a:ln w="0">
                <a:noFill/>
              </a:ln>
            </p:spPr>
            <p:txBody>
              <a:bodyPr/>
              <a:lstStyle/>
              <a:p>
                <a:r>
                  <a:rPr lang="en-US">
                    <a:noFill/>
                  </a:rPr>
                  <a:t> </a:t>
                </a:r>
              </a:p>
            </p:txBody>
          </p:sp>
        </mc:Fallback>
      </mc:AlternateContent>
      <p:sp>
        <p:nvSpPr>
          <p:cNvPr id="5" name="body0">
            <a:extLst>
              <a:ext uri="{FF2B5EF4-FFF2-40B4-BE49-F238E27FC236}">
                <a16:creationId xmlns:a16="http://schemas.microsoft.com/office/drawing/2014/main" id="{B79DBE03-C16D-46F7-8D9C-A4B032D4C24B}"/>
              </a:ext>
            </a:extLst>
          </p:cNvPr>
          <p:cNvSpPr>
            <a:spLocks noGrp="1"/>
          </p:cNvSpPr>
          <p:nvPr/>
        </p:nvSpPr>
        <p:spPr>
          <a:xfrm>
            <a:off x="666750" y="3228975"/>
            <a:ext cx="10858500" cy="923925"/>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The same I₁₁, I₂₂, C, G₁ and G₂ from the energy expressions appear here.</a:t>
            </a:r>
          </a:p>
        </p:txBody>
      </p:sp>
      <p:sp>
        <p:nvSpPr>
          <p:cNvPr id="6" name="body1">
            <a:extLst>
              <a:ext uri="{FF2B5EF4-FFF2-40B4-BE49-F238E27FC236}">
                <a16:creationId xmlns:a16="http://schemas.microsoft.com/office/drawing/2014/main" id="{2954E8B7-3E00-4CD0-9DCE-4CCFDEB9CADB}"/>
              </a:ext>
            </a:extLst>
          </p:cNvPr>
          <p:cNvSpPr>
            <a:spLocks noGrp="1"/>
          </p:cNvSpPr>
          <p:nvPr/>
        </p:nvSpPr>
        <p:spPr>
          <a:xfrm>
            <a:off x="666750" y="4248150"/>
            <a:ext cx="10858500" cy="923925"/>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The terms containing sin Δ and squared angular speed arise because the geometry changes during motion.</a:t>
            </a:r>
          </a:p>
        </p:txBody>
      </p:sp>
      <p:sp>
        <p:nvSpPr>
          <p:cNvPr id="7" name="body2">
            <a:extLst>
              <a:ext uri="{FF2B5EF4-FFF2-40B4-BE49-F238E27FC236}">
                <a16:creationId xmlns:a16="http://schemas.microsoft.com/office/drawing/2014/main" id="{85FEA5A5-6FE5-41CF-9BBB-2FE47E1F3C38}"/>
              </a:ext>
            </a:extLst>
          </p:cNvPr>
          <p:cNvSpPr>
            <a:spLocks noGrp="1"/>
          </p:cNvSpPr>
          <p:nvPr/>
        </p:nvSpPr>
        <p:spPr>
          <a:xfrm>
            <a:off x="666750" y="5267325"/>
            <a:ext cx="10858500" cy="923925"/>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Both angular accelerations must be solved together at each time step.</a:t>
            </a:r>
          </a:p>
        </p:txBody>
      </p:sp>
      <p:sp>
        <p:nvSpPr>
          <p:cNvPr id="8" name="page">
            <a:extLst>
              <a:ext uri="{FF2B5EF4-FFF2-40B4-BE49-F238E27FC236}">
                <a16:creationId xmlns:a16="http://schemas.microsoft.com/office/drawing/2014/main" id="{2D9FB8B4-6B6B-4466-AE91-33FF271F6DFA}"/>
              </a:ext>
            </a:extLst>
          </p:cNvPr>
          <p:cNvSpPr>
            <a:spLocks noGrp="1"/>
          </p:cNvSpPr>
          <p:nvPr/>
        </p:nvSpPr>
        <p:spPr>
          <a:xfrm>
            <a:off x="11449050" y="6515100"/>
            <a:ext cx="333375" cy="190500"/>
          </a:xfrm>
          <a:prstGeom prst="rect">
            <a:avLst/>
          </a:prstGeom>
          <a:noFill/>
          <a:ln w="0">
            <a:noFill/>
          </a:ln>
        </p:spPr>
        <p:txBody>
          <a:bodyPr anchor="t">
            <a:noAutofit/>
          </a:bodyPr>
          <a:lstStyle/>
          <a:p>
            <a:pPr>
              <a:defRPr sz="1050" b="0">
                <a:solidFill>
                  <a:srgbClr val="6B7280"/>
                </a:solidFill>
                <a:latin typeface="Aptos"/>
                <a:ea typeface="Aptos"/>
                <a:cs typeface="Aptos"/>
              </a:defRPr>
            </a:pPr>
            <a:r>
              <a:rPr sz="1050" b="0">
                <a:solidFill>
                  <a:srgbClr val="6B7280"/>
                </a:solidFill>
                <a:latin typeface="Aptos"/>
                <a:ea typeface="Aptos"/>
                <a:cs typeface="Aptos"/>
              </a:rPr>
              <a:t>24</a:t>
            </a:r>
          </a:p>
        </p:txBody>
      </p:sp>
    </p:spTree>
    <p:extLst>
      <p:ext uri="{BB962C8B-B14F-4D97-AF65-F5344CB8AC3E}">
        <p14:creationId xmlns:p14="http://schemas.microsoft.com/office/powerpoint/2010/main" val="81310371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course">
            <a:extLst>
              <a:ext uri="{FF2B5EF4-FFF2-40B4-BE49-F238E27FC236}">
                <a16:creationId xmlns:a16="http://schemas.microsoft.com/office/drawing/2014/main" id="{90715FAE-2BE0-412C-B7DD-A3F7FD39E738}"/>
              </a:ext>
            </a:extLst>
          </p:cNvPr>
          <p:cNvSpPr>
            <a:spLocks noGrp="1"/>
          </p:cNvSpPr>
          <p:nvPr/>
        </p:nvSpPr>
        <p:spPr>
          <a:xfrm>
            <a:off x="495300" y="190500"/>
            <a:ext cx="8572500" cy="285750"/>
          </a:xfrm>
          <a:prstGeom prst="rect">
            <a:avLst/>
          </a:prstGeom>
          <a:noFill/>
          <a:ln w="0">
            <a:noFill/>
          </a:ln>
        </p:spPr>
        <p:txBody>
          <a:bodyPr anchor="t">
            <a:noAutofit/>
          </a:bodyPr>
          <a:lstStyle/>
          <a:p>
            <a:pPr>
              <a:defRPr sz="1275" b="1">
                <a:solidFill>
                  <a:srgbClr val="881C1C"/>
                </a:solidFill>
                <a:latin typeface="Aptos"/>
                <a:ea typeface="Aptos"/>
                <a:cs typeface="Aptos"/>
              </a:defRPr>
            </a:pPr>
            <a:r>
              <a:rPr sz="1275" b="1">
                <a:solidFill>
                  <a:srgbClr val="881C1C"/>
                </a:solidFill>
                <a:latin typeface="Aptos"/>
                <a:ea typeface="Aptos"/>
                <a:cs typeface="Aptos"/>
              </a:rPr>
              <a:t>MIE 402   ME LAB II</a:t>
            </a:r>
          </a:p>
        </p:txBody>
      </p:sp>
      <p:sp>
        <p:nvSpPr>
          <p:cNvPr id="2" name="title">
            <a:extLst>
              <a:ext uri="{FF2B5EF4-FFF2-40B4-BE49-F238E27FC236}">
                <a16:creationId xmlns:a16="http://schemas.microsoft.com/office/drawing/2014/main" id="{9B509797-97D7-4872-8B38-BF194167F158}"/>
              </a:ext>
            </a:extLst>
          </p:cNvPr>
          <p:cNvSpPr>
            <a:spLocks noGrp="1"/>
          </p:cNvSpPr>
          <p:nvPr/>
        </p:nvSpPr>
        <p:spPr>
          <a:xfrm>
            <a:off x="495300" y="666750"/>
            <a:ext cx="11125200" cy="742950"/>
          </a:xfrm>
          <a:prstGeom prst="rect">
            <a:avLst/>
          </a:prstGeom>
          <a:noFill/>
          <a:ln w="0">
            <a:noFill/>
          </a:ln>
        </p:spPr>
        <p:txBody>
          <a:bodyPr anchor="t">
            <a:noAutofit/>
          </a:bodyPr>
          <a:lstStyle/>
          <a:p>
            <a:pPr>
              <a:defRPr sz="2925" b="1">
                <a:solidFill>
                  <a:srgbClr val="152437"/>
                </a:solidFill>
                <a:latin typeface="Aptos"/>
                <a:ea typeface="Aptos"/>
                <a:cs typeface="Aptos"/>
              </a:defRPr>
            </a:pPr>
            <a:r>
              <a:rPr sz="2925" b="1">
                <a:solidFill>
                  <a:srgbClr val="152437"/>
                </a:solidFill>
                <a:latin typeface="Aptos"/>
                <a:ea typeface="Aptos"/>
                <a:cs typeface="Aptos"/>
              </a:rPr>
              <a:t>What the simulation code actually does</a:t>
            </a:r>
          </a:p>
        </p:txBody>
      </p:sp>
      <mc:AlternateContent xmlns:mc="http://schemas.openxmlformats.org/markup-compatibility/2006">
        <mc:Choice xmlns:a14="http://schemas.microsoft.com/office/drawing/2010/main" Requires="a14">
          <p:sp>
            <p:nvSpPr>
              <p:cNvPr id="3" name="EQ_state">
                <a:extLst>
                  <a:ext uri="{FF2B5EF4-FFF2-40B4-BE49-F238E27FC236}">
                    <a16:creationId xmlns:a16="http://schemas.microsoft.com/office/drawing/2014/main" id="{691BB14A-3E05-48E0-8190-9F9E5904C1C4}"/>
                  </a:ext>
                </a:extLst>
              </p:cNvPr>
              <p:cNvSpPr>
                <a:spLocks noGrp="1"/>
              </p:cNvSpPr>
              <p:nvPr/>
            </p:nvSpPr>
            <p:spPr>
              <a:xfrm>
                <a:off x="666750" y="1666875"/>
                <a:ext cx="10858500" cy="647700"/>
              </a:xfrm>
              <a:prstGeom prst="rect">
                <a:avLst/>
              </a:prstGeom>
              <a:noFill/>
              <a:ln w="0">
                <a:noFill/>
              </a:ln>
            </p:spPr>
            <p:txBody>
              <a:bodyPr anchor="t">
                <a:noAutofit/>
              </a:bodyPr>
              <a:lstStyle/>
              <a:p>
                <a:pPr algn="l"/>
                <a14:m>
                  <m:oMathPara xmlns:m="http://schemas.openxmlformats.org/officeDocument/2006/math">
                    <m:oMathParaPr>
                      <m:jc m:val="left"/>
                    </m:oMathParaPr>
                    <m:oMath>
                      <m:r>
                        <a:rPr lang="en-US" sz="2400">
                          <a:latin typeface="Cambria Math"/>
                        </a:rPr>
                        <m:t>𝑞</m:t>
                      </m:r>
                      <m:r>
                        <a:rPr lang="en-US" sz="2400">
                          <a:latin typeface="Cambria Math"/>
                        </a:rPr>
                        <m:t> = (</m:t>
                      </m:r>
                      <m:sSub>
                        <m:sSubPr>
                          <m:ctrlPr>
                            <a:rPr lang="en-US" sz="2400">
                              <a:latin typeface="Cambria Math"/>
                            </a:rPr>
                          </m:ctrlPr>
                        </m:sSubPr>
                        <m:e>
                          <m:r>
                            <a:rPr lang="en-US" sz="2400">
                              <a:latin typeface="Cambria Math"/>
                            </a:rPr>
                            <m:t>𝜃</m:t>
                          </m:r>
                        </m:e>
                        <m:sub>
                          <m:r>
                            <a:rPr lang="en-US" sz="2400">
                              <a:latin typeface="Cambria Math"/>
                            </a:rPr>
                            <m:t>1</m:t>
                          </m:r>
                        </m:sub>
                      </m:sSub>
                      <m:r>
                        <a:rPr lang="en-US" sz="2400">
                          <a:latin typeface="Cambria Math"/>
                        </a:rPr>
                        <m:t>, </m:t>
                      </m:r>
                      <m:sSub>
                        <m:sSubPr>
                          <m:ctrlPr>
                            <a:rPr lang="en-US" sz="2400">
                              <a:latin typeface="Cambria Math"/>
                            </a:rPr>
                          </m:ctrlPr>
                        </m:sSubPr>
                        <m:e>
                          <m:r>
                            <a:rPr lang="en-US" sz="2400">
                              <a:latin typeface="Cambria Math"/>
                            </a:rPr>
                            <m:t>𝜃</m:t>
                          </m:r>
                        </m:e>
                        <m:sub>
                          <m:r>
                            <a:rPr lang="en-US" sz="2400">
                              <a:latin typeface="Cambria Math"/>
                            </a:rPr>
                            <m:t>2</m:t>
                          </m:r>
                        </m:sub>
                      </m:sSub>
                      <m:r>
                        <a:rPr lang="en-US" sz="2400">
                          <a:latin typeface="Cambria Math"/>
                        </a:rPr>
                        <m:t>)ᵀ      </m:t>
                      </m:r>
                      <m:sSub>
                        <m:sSubPr>
                          <m:ctrlPr>
                            <a:rPr lang="en-US" sz="2400">
                              <a:latin typeface="Cambria Math"/>
                            </a:rPr>
                          </m:ctrlPr>
                        </m:sSubPr>
                        <m:e>
                          <m:r>
                            <a:rPr lang="en-US" sz="2400">
                              <a:latin typeface="Cambria Math"/>
                            </a:rPr>
                            <m:t>𝛼</m:t>
                          </m:r>
                        </m:e>
                        <m:sub>
                          <m:r>
                            <a:rPr lang="en-US" sz="2400">
                              <a:latin typeface="Cambria Math"/>
                            </a:rPr>
                            <m:t>𝑖</m:t>
                          </m:r>
                        </m:sub>
                      </m:sSub>
                      <m:r>
                        <a:rPr lang="en-US" sz="2400">
                          <a:latin typeface="Cambria Math"/>
                        </a:rPr>
                        <m:t> = </m:t>
                      </m:r>
                      <m:f>
                        <m:fPr>
                          <m:ctrlPr>
                            <a:rPr lang="en-US" sz="2400">
                              <a:latin typeface="Cambria Math"/>
                            </a:rPr>
                          </m:ctrlPr>
                        </m:fPr>
                        <m:num>
                          <m:r>
                            <a:rPr lang="en-US" sz="2400">
                              <a:latin typeface="Cambria Math"/>
                            </a:rPr>
                            <m:t>𝑑</m:t>
                          </m:r>
                          <m:sSub>
                            <m:sSubPr>
                              <m:ctrlPr>
                                <a:rPr lang="en-US" sz="2400">
                                  <a:latin typeface="Cambria Math"/>
                                </a:rPr>
                              </m:ctrlPr>
                            </m:sSubPr>
                            <m:e>
                              <m:r>
                                <a:rPr lang="en-US" sz="2400">
                                  <a:latin typeface="Cambria Math"/>
                                </a:rPr>
                                <m:t>𝜔</m:t>
                              </m:r>
                            </m:e>
                            <m:sub>
                              <m:r>
                                <a:rPr lang="en-US" sz="2400">
                                  <a:latin typeface="Cambria Math"/>
                                </a:rPr>
                                <m:t>𝑖</m:t>
                              </m:r>
                            </m:sub>
                          </m:sSub>
                        </m:num>
                        <m:den>
                          <m:r>
                            <a:rPr lang="en-US" sz="2400">
                              <a:latin typeface="Cambria Math"/>
                            </a:rPr>
                            <m:t>𝑑𝑡</m:t>
                          </m:r>
                        </m:den>
                      </m:f>
                    </m:oMath>
                  </m:oMathPara>
                </a14:m>
                <a:endParaRPr lang="en-US" sz="2400"/>
              </a:p>
            </p:txBody>
          </p:sp>
        </mc:Choice>
        <mc:Fallback>
          <p:sp>
            <p:nvSpPr>
              <p:cNvPr id="3" name="EQ_state">
                <a:extLst>
                  <a:ext uri="{FF2B5EF4-FFF2-40B4-BE49-F238E27FC236}">
                    <a16:creationId xmlns:a16="http://schemas.microsoft.com/office/drawing/2014/main" id="{691BB14A-3E05-48E0-8190-9F9E5904C1C4}"/>
                  </a:ext>
                </a:extLst>
              </p:cNvPr>
              <p:cNvSpPr>
                <a:spLocks noGrp="1" noRot="1" noChangeAspect="1" noMove="1" noResize="1" noEditPoints="1" noAdjustHandles="1" noChangeArrowheads="1" noChangeShapeType="1" noTextEdit="1"/>
              </p:cNvSpPr>
              <p:nvPr/>
            </p:nvSpPr>
            <p:spPr>
              <a:xfrm>
                <a:off x="666750" y="1666875"/>
                <a:ext cx="10858500" cy="647700"/>
              </a:xfrm>
              <a:prstGeom prst="rect">
                <a:avLst/>
              </a:prstGeom>
              <a:blipFill>
                <a:blip r:embed="rId3"/>
                <a:stretch>
                  <a:fillRect b="-14019"/>
                </a:stretch>
              </a:blipFill>
              <a:ln w="0">
                <a:noFill/>
              </a:ln>
            </p:spPr>
            <p:txBody>
              <a:bodyPr/>
              <a:lstStyle/>
              <a:p>
                <a:r>
                  <a:rPr lang="en-US">
                    <a:noFill/>
                  </a:rPr>
                  <a:t> </a:t>
                </a:r>
              </a:p>
            </p:txBody>
          </p:sp>
        </mc:Fallback>
      </mc:AlternateContent>
      <p:sp>
        <p:nvSpPr>
          <p:cNvPr id="4" name="body0">
            <a:extLst>
              <a:ext uri="{FF2B5EF4-FFF2-40B4-BE49-F238E27FC236}">
                <a16:creationId xmlns:a16="http://schemas.microsoft.com/office/drawing/2014/main" id="{A883CCF4-1A51-4EAC-9984-3EA17FE32253}"/>
              </a:ext>
            </a:extLst>
          </p:cNvPr>
          <p:cNvSpPr>
            <a:spLocks noGrp="1"/>
          </p:cNvSpPr>
          <p:nvPr/>
        </p:nvSpPr>
        <p:spPr>
          <a:xfrm>
            <a:off x="666750" y="2447925"/>
            <a:ext cx="10858500" cy="864394"/>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q = (θ₁, θ₂)ᵀ [rad] is the two-angle column vector. Superscript ᵀ means transpose. Inputs also include both angular velocities, masses and lengths.</a:t>
            </a:r>
          </a:p>
        </p:txBody>
      </p:sp>
      <p:sp>
        <p:nvSpPr>
          <p:cNvPr id="5" name="body1">
            <a:extLst>
              <a:ext uri="{FF2B5EF4-FFF2-40B4-BE49-F238E27FC236}">
                <a16:creationId xmlns:a16="http://schemas.microsoft.com/office/drawing/2014/main" id="{DD5021A8-72D4-4BD2-87ED-E9CFB5937D6B}"/>
              </a:ext>
            </a:extLst>
          </p:cNvPr>
          <p:cNvSpPr>
            <a:spLocks noGrp="1"/>
          </p:cNvSpPr>
          <p:nvPr/>
        </p:nvSpPr>
        <p:spPr>
          <a:xfrm>
            <a:off x="666750" y="3407569"/>
            <a:ext cx="10858500" cy="864394"/>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At the current angles and velocities, calculate the two right-hand sides and the 2×2 inertia matrix.</a:t>
            </a:r>
          </a:p>
        </p:txBody>
      </p:sp>
      <p:sp>
        <p:nvSpPr>
          <p:cNvPr id="6" name="body2">
            <a:extLst>
              <a:ext uri="{FF2B5EF4-FFF2-40B4-BE49-F238E27FC236}">
                <a16:creationId xmlns:a16="http://schemas.microsoft.com/office/drawing/2014/main" id="{D0CA8104-58FA-44EE-ADF8-C12831C81B18}"/>
              </a:ext>
            </a:extLst>
          </p:cNvPr>
          <p:cNvSpPr>
            <a:spLocks noGrp="1"/>
          </p:cNvSpPr>
          <p:nvPr/>
        </p:nvSpPr>
        <p:spPr>
          <a:xfrm>
            <a:off x="666750" y="4367213"/>
            <a:ext cx="10858500" cy="864394"/>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Solve for α₁ and α₂, then advance the angles and angular velocities in time.</a:t>
            </a:r>
          </a:p>
        </p:txBody>
      </p:sp>
      <p:sp>
        <p:nvSpPr>
          <p:cNvPr id="7" name="body3">
            <a:extLst>
              <a:ext uri="{FF2B5EF4-FFF2-40B4-BE49-F238E27FC236}">
                <a16:creationId xmlns:a16="http://schemas.microsoft.com/office/drawing/2014/main" id="{F44A7C87-7D78-4865-85E8-3F3F9A9ABC60}"/>
              </a:ext>
            </a:extLst>
          </p:cNvPr>
          <p:cNvSpPr>
            <a:spLocks noGrp="1"/>
          </p:cNvSpPr>
          <p:nvPr/>
        </p:nvSpPr>
        <p:spPr>
          <a:xfrm>
            <a:off x="666750" y="5326856"/>
            <a:ext cx="10858500" cy="864394"/>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Students run the supplied solver. A small change in time step should not change the physical conclusion.</a:t>
            </a:r>
          </a:p>
        </p:txBody>
      </p:sp>
      <p:sp>
        <p:nvSpPr>
          <p:cNvPr id="8" name="page">
            <a:extLst>
              <a:ext uri="{FF2B5EF4-FFF2-40B4-BE49-F238E27FC236}">
                <a16:creationId xmlns:a16="http://schemas.microsoft.com/office/drawing/2014/main" id="{80F917F5-A2C5-455D-B4A7-80F9B8AA0276}"/>
              </a:ext>
            </a:extLst>
          </p:cNvPr>
          <p:cNvSpPr>
            <a:spLocks noGrp="1"/>
          </p:cNvSpPr>
          <p:nvPr/>
        </p:nvSpPr>
        <p:spPr>
          <a:xfrm>
            <a:off x="11449050" y="6515100"/>
            <a:ext cx="333375" cy="190500"/>
          </a:xfrm>
          <a:prstGeom prst="rect">
            <a:avLst/>
          </a:prstGeom>
          <a:noFill/>
          <a:ln w="0">
            <a:noFill/>
          </a:ln>
        </p:spPr>
        <p:txBody>
          <a:bodyPr anchor="t">
            <a:noAutofit/>
          </a:bodyPr>
          <a:lstStyle/>
          <a:p>
            <a:pPr>
              <a:defRPr sz="1050" b="0">
                <a:solidFill>
                  <a:srgbClr val="6B7280"/>
                </a:solidFill>
                <a:latin typeface="Aptos"/>
                <a:ea typeface="Aptos"/>
                <a:cs typeface="Aptos"/>
              </a:defRPr>
            </a:pPr>
            <a:r>
              <a:rPr sz="1050" b="0">
                <a:solidFill>
                  <a:srgbClr val="6B7280"/>
                </a:solidFill>
                <a:latin typeface="Aptos"/>
                <a:ea typeface="Aptos"/>
                <a:cs typeface="Aptos"/>
              </a:rPr>
              <a:t>25</a:t>
            </a:r>
          </a:p>
        </p:txBody>
      </p:sp>
    </p:spTree>
    <p:extLst>
      <p:ext uri="{BB962C8B-B14F-4D97-AF65-F5344CB8AC3E}">
        <p14:creationId xmlns:p14="http://schemas.microsoft.com/office/powerpoint/2010/main" val="146368732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course">
            <a:extLst>
              <a:ext uri="{FF2B5EF4-FFF2-40B4-BE49-F238E27FC236}">
                <a16:creationId xmlns:a16="http://schemas.microsoft.com/office/drawing/2014/main" id="{CB2D228C-3084-428C-B38D-9B322FB0ED47}"/>
              </a:ext>
            </a:extLst>
          </p:cNvPr>
          <p:cNvSpPr>
            <a:spLocks noGrp="1"/>
          </p:cNvSpPr>
          <p:nvPr/>
        </p:nvSpPr>
        <p:spPr>
          <a:xfrm>
            <a:off x="495300" y="190500"/>
            <a:ext cx="8572500" cy="285750"/>
          </a:xfrm>
          <a:prstGeom prst="rect">
            <a:avLst/>
          </a:prstGeom>
          <a:noFill/>
          <a:ln w="0">
            <a:noFill/>
          </a:ln>
        </p:spPr>
        <p:txBody>
          <a:bodyPr anchor="t">
            <a:noAutofit/>
          </a:bodyPr>
          <a:lstStyle/>
          <a:p>
            <a:pPr>
              <a:defRPr sz="1275" b="1">
                <a:solidFill>
                  <a:srgbClr val="881C1C"/>
                </a:solidFill>
                <a:latin typeface="Aptos"/>
                <a:ea typeface="Aptos"/>
                <a:cs typeface="Aptos"/>
              </a:defRPr>
            </a:pPr>
            <a:r>
              <a:rPr sz="1275" b="1">
                <a:solidFill>
                  <a:srgbClr val="881C1C"/>
                </a:solidFill>
                <a:latin typeface="Aptos"/>
                <a:ea typeface="Aptos"/>
                <a:cs typeface="Aptos"/>
              </a:rPr>
              <a:t>MIE 402   ME LAB II</a:t>
            </a:r>
          </a:p>
        </p:txBody>
      </p:sp>
      <p:sp>
        <p:nvSpPr>
          <p:cNvPr id="2" name="title">
            <a:extLst>
              <a:ext uri="{FF2B5EF4-FFF2-40B4-BE49-F238E27FC236}">
                <a16:creationId xmlns:a16="http://schemas.microsoft.com/office/drawing/2014/main" id="{8FA1B7B0-10E3-4F93-9607-3347DC18563C}"/>
              </a:ext>
            </a:extLst>
          </p:cNvPr>
          <p:cNvSpPr>
            <a:spLocks noGrp="1"/>
          </p:cNvSpPr>
          <p:nvPr/>
        </p:nvSpPr>
        <p:spPr>
          <a:xfrm>
            <a:off x="495300" y="666750"/>
            <a:ext cx="11125200" cy="742950"/>
          </a:xfrm>
          <a:prstGeom prst="rect">
            <a:avLst/>
          </a:prstGeom>
          <a:noFill/>
          <a:ln w="0">
            <a:noFill/>
          </a:ln>
        </p:spPr>
        <p:txBody>
          <a:bodyPr anchor="t">
            <a:noAutofit/>
          </a:bodyPr>
          <a:lstStyle/>
          <a:p>
            <a:pPr>
              <a:defRPr sz="2925" b="1">
                <a:solidFill>
                  <a:srgbClr val="152437"/>
                </a:solidFill>
                <a:latin typeface="Aptos"/>
                <a:ea typeface="Aptos"/>
                <a:cs typeface="Aptos"/>
              </a:defRPr>
            </a:pPr>
            <a:r>
              <a:rPr sz="2925" b="1">
                <a:solidFill>
                  <a:srgbClr val="152437"/>
                </a:solidFill>
                <a:latin typeface="Aptos"/>
                <a:ea typeface="Aptos"/>
                <a:cs typeface="Aptos"/>
              </a:rPr>
              <a:t>Matrix symbols for small oscillations</a:t>
            </a:r>
          </a:p>
        </p:txBody>
      </p:sp>
      <p:sp>
        <p:nvSpPr>
          <p:cNvPr id="3" name="body0">
            <a:extLst>
              <a:ext uri="{FF2B5EF4-FFF2-40B4-BE49-F238E27FC236}">
                <a16:creationId xmlns:a16="http://schemas.microsoft.com/office/drawing/2014/main" id="{B7CFE22B-1B74-4685-801B-13193F30C91A}"/>
              </a:ext>
            </a:extLst>
          </p:cNvPr>
          <p:cNvSpPr>
            <a:spLocks noGrp="1"/>
          </p:cNvSpPr>
          <p:nvPr/>
        </p:nvSpPr>
        <p:spPr>
          <a:xfrm>
            <a:off x="666750" y="1666875"/>
            <a:ext cx="10858500" cy="971550"/>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M₀ [kg·m²]: the constant 2×2 inertia matrix evaluated at the downward equilibrium. Its entries are I₁₁, I₂₂ and C.</a:t>
            </a:r>
          </a:p>
        </p:txBody>
      </p:sp>
      <p:sp>
        <p:nvSpPr>
          <p:cNvPr id="4" name="body1">
            <a:extLst>
              <a:ext uri="{FF2B5EF4-FFF2-40B4-BE49-F238E27FC236}">
                <a16:creationId xmlns:a16="http://schemas.microsoft.com/office/drawing/2014/main" id="{C1B36C68-0392-4051-9191-3A21DBCB18BB}"/>
              </a:ext>
            </a:extLst>
          </p:cNvPr>
          <p:cNvSpPr>
            <a:spLocks noGrp="1"/>
          </p:cNvSpPr>
          <p:nvPr/>
        </p:nvSpPr>
        <p:spPr>
          <a:xfrm>
            <a:off x="666750" y="2733675"/>
            <a:ext cx="10858500" cy="971550"/>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K [N·m/rad]: the angular restoring-stiffness matrix. Its diagonal entries are G₁ and G₂, with radians treated as dimensionless in SI.</a:t>
            </a:r>
          </a:p>
        </p:txBody>
      </p:sp>
      <p:sp>
        <p:nvSpPr>
          <p:cNvPr id="5" name="body2">
            <a:extLst>
              <a:ext uri="{FF2B5EF4-FFF2-40B4-BE49-F238E27FC236}">
                <a16:creationId xmlns:a16="http://schemas.microsoft.com/office/drawing/2014/main" id="{E29A9A2B-6474-40B9-A9B8-76C4A3480286}"/>
              </a:ext>
            </a:extLst>
          </p:cNvPr>
          <p:cNvSpPr>
            <a:spLocks noGrp="1"/>
          </p:cNvSpPr>
          <p:nvPr/>
        </p:nvSpPr>
        <p:spPr>
          <a:xfrm>
            <a:off x="666750" y="3800475"/>
            <a:ext cx="10858500" cy="971550"/>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q is the column of two angles. q̈ is the column of their angular accelerations [rad/s²]. The subscript 0 denotes the equilibrium value.</a:t>
            </a:r>
          </a:p>
        </p:txBody>
      </p:sp>
      <p:sp>
        <p:nvSpPr>
          <p:cNvPr id="6" name="body3">
            <a:extLst>
              <a:ext uri="{FF2B5EF4-FFF2-40B4-BE49-F238E27FC236}">
                <a16:creationId xmlns:a16="http://schemas.microsoft.com/office/drawing/2014/main" id="{ECBAF256-8F62-4861-B026-1746D8DA9A35}"/>
              </a:ext>
            </a:extLst>
          </p:cNvPr>
          <p:cNvSpPr>
            <a:spLocks noGrp="1"/>
          </p:cNvSpPr>
          <p:nvPr/>
        </p:nvSpPr>
        <p:spPr>
          <a:xfrm>
            <a:off x="666750" y="4867275"/>
            <a:ext cx="10858500" cy="971550"/>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diag(G₁,G₂) means a matrix with G₁ and G₂ on its diagonal and zeros elsewhere. The matrix M₀ is distinct from the bob masses M₁ and M₂.</a:t>
            </a:r>
          </a:p>
        </p:txBody>
      </p:sp>
      <p:sp>
        <p:nvSpPr>
          <p:cNvPr id="7" name="page">
            <a:extLst>
              <a:ext uri="{FF2B5EF4-FFF2-40B4-BE49-F238E27FC236}">
                <a16:creationId xmlns:a16="http://schemas.microsoft.com/office/drawing/2014/main" id="{08BDDF62-D098-456E-96F6-95A93E6A9BFE}"/>
              </a:ext>
            </a:extLst>
          </p:cNvPr>
          <p:cNvSpPr>
            <a:spLocks noGrp="1"/>
          </p:cNvSpPr>
          <p:nvPr/>
        </p:nvSpPr>
        <p:spPr>
          <a:xfrm>
            <a:off x="11449050" y="6515100"/>
            <a:ext cx="333375" cy="190500"/>
          </a:xfrm>
          <a:prstGeom prst="rect">
            <a:avLst/>
          </a:prstGeom>
          <a:noFill/>
          <a:ln w="0">
            <a:noFill/>
          </a:ln>
        </p:spPr>
        <p:txBody>
          <a:bodyPr anchor="t">
            <a:noAutofit/>
          </a:bodyPr>
          <a:lstStyle/>
          <a:p>
            <a:pPr>
              <a:defRPr sz="1050" b="0">
                <a:solidFill>
                  <a:srgbClr val="6B7280"/>
                </a:solidFill>
                <a:latin typeface="Aptos"/>
                <a:ea typeface="Aptos"/>
                <a:cs typeface="Aptos"/>
              </a:defRPr>
            </a:pPr>
            <a:r>
              <a:rPr sz="1050" b="0">
                <a:solidFill>
                  <a:srgbClr val="6B7280"/>
                </a:solidFill>
                <a:latin typeface="Aptos"/>
                <a:ea typeface="Aptos"/>
                <a:cs typeface="Aptos"/>
              </a:rPr>
              <a:t>26</a:t>
            </a:r>
          </a:p>
        </p:txBody>
      </p:sp>
    </p:spTree>
    <p:extLst>
      <p:ext uri="{BB962C8B-B14F-4D97-AF65-F5344CB8AC3E}">
        <p14:creationId xmlns:p14="http://schemas.microsoft.com/office/powerpoint/2010/main" val="169140173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course">
            <a:extLst>
              <a:ext uri="{FF2B5EF4-FFF2-40B4-BE49-F238E27FC236}">
                <a16:creationId xmlns:a16="http://schemas.microsoft.com/office/drawing/2014/main" id="{15601863-C7D1-4F4E-82C6-ECB8073F02ED}"/>
              </a:ext>
            </a:extLst>
          </p:cNvPr>
          <p:cNvSpPr>
            <a:spLocks noGrp="1"/>
          </p:cNvSpPr>
          <p:nvPr/>
        </p:nvSpPr>
        <p:spPr>
          <a:xfrm>
            <a:off x="495300" y="190500"/>
            <a:ext cx="8572500" cy="285750"/>
          </a:xfrm>
          <a:prstGeom prst="rect">
            <a:avLst/>
          </a:prstGeom>
          <a:noFill/>
          <a:ln w="0">
            <a:noFill/>
          </a:ln>
        </p:spPr>
        <p:txBody>
          <a:bodyPr anchor="t">
            <a:noAutofit/>
          </a:bodyPr>
          <a:lstStyle/>
          <a:p>
            <a:pPr>
              <a:defRPr sz="1275" b="1">
                <a:solidFill>
                  <a:srgbClr val="881C1C"/>
                </a:solidFill>
                <a:latin typeface="Aptos"/>
                <a:ea typeface="Aptos"/>
                <a:cs typeface="Aptos"/>
              </a:defRPr>
            </a:pPr>
            <a:r>
              <a:rPr sz="1275" b="1">
                <a:solidFill>
                  <a:srgbClr val="881C1C"/>
                </a:solidFill>
                <a:latin typeface="Aptos"/>
                <a:ea typeface="Aptos"/>
                <a:cs typeface="Aptos"/>
              </a:rPr>
              <a:t>MIE 402   ME LAB II</a:t>
            </a:r>
          </a:p>
        </p:txBody>
      </p:sp>
      <p:sp>
        <p:nvSpPr>
          <p:cNvPr id="2" name="title">
            <a:extLst>
              <a:ext uri="{FF2B5EF4-FFF2-40B4-BE49-F238E27FC236}">
                <a16:creationId xmlns:a16="http://schemas.microsoft.com/office/drawing/2014/main" id="{C40114DA-909D-4DB3-AB7A-EA736AEFD6AE}"/>
              </a:ext>
            </a:extLst>
          </p:cNvPr>
          <p:cNvSpPr>
            <a:spLocks noGrp="1"/>
          </p:cNvSpPr>
          <p:nvPr/>
        </p:nvSpPr>
        <p:spPr>
          <a:xfrm>
            <a:off x="495300" y="666750"/>
            <a:ext cx="11125200" cy="742950"/>
          </a:xfrm>
          <a:prstGeom prst="rect">
            <a:avLst/>
          </a:prstGeom>
          <a:noFill/>
          <a:ln w="0">
            <a:noFill/>
          </a:ln>
        </p:spPr>
        <p:txBody>
          <a:bodyPr anchor="t">
            <a:noAutofit/>
          </a:bodyPr>
          <a:lstStyle/>
          <a:p>
            <a:pPr>
              <a:defRPr sz="2925" b="1">
                <a:solidFill>
                  <a:srgbClr val="152437"/>
                </a:solidFill>
                <a:latin typeface="Aptos"/>
                <a:ea typeface="Aptos"/>
                <a:cs typeface="Aptos"/>
              </a:defRPr>
            </a:pPr>
            <a:r>
              <a:rPr sz="2925" b="1">
                <a:solidFill>
                  <a:srgbClr val="152437"/>
                </a:solidFill>
                <a:latin typeface="Aptos"/>
                <a:ea typeface="Aptos"/>
                <a:cs typeface="Aptos"/>
              </a:rPr>
              <a:t>Small motion and normal modes</a:t>
            </a:r>
          </a:p>
        </p:txBody>
      </p:sp>
      <mc:AlternateContent xmlns:mc="http://schemas.openxmlformats.org/markup-compatibility/2006">
        <mc:Choice xmlns:a14="http://schemas.microsoft.com/office/drawing/2010/main" Requires="a14">
          <p:sp>
            <p:nvSpPr>
              <p:cNvPr id="3" name="EQ_linear">
                <a:extLst>
                  <a:ext uri="{FF2B5EF4-FFF2-40B4-BE49-F238E27FC236}">
                    <a16:creationId xmlns:a16="http://schemas.microsoft.com/office/drawing/2014/main" id="{886275E5-F941-4DE7-B24D-78DABBDDB869}"/>
                  </a:ext>
                </a:extLst>
              </p:cNvPr>
              <p:cNvSpPr>
                <a:spLocks noGrp="1"/>
              </p:cNvSpPr>
              <p:nvPr/>
            </p:nvSpPr>
            <p:spPr>
              <a:xfrm>
                <a:off x="666750" y="1666875"/>
                <a:ext cx="10858500" cy="857250"/>
              </a:xfrm>
              <a:prstGeom prst="rect">
                <a:avLst/>
              </a:prstGeom>
              <a:noFill/>
              <a:ln w="0">
                <a:noFill/>
              </a:ln>
            </p:spPr>
            <p:txBody>
              <a:bodyPr anchor="t">
                <a:noAutofit/>
              </a:bodyPr>
              <a:lstStyle/>
              <a:p>
                <a:pPr algn="l"/>
                <a14:m>
                  <m:oMathPara xmlns:m="http://schemas.openxmlformats.org/officeDocument/2006/math">
                    <m:oMathParaPr>
                      <m:jc m:val="left"/>
                    </m:oMathParaPr>
                    <m:oMath>
                      <m:eqArr>
                        <m:eqArrPr>
                          <m:ctrlPr>
                            <a:rPr lang="en-US" sz="2400">
                              <a:latin typeface="Cambria Math" panose="02040503050406030204" pitchFamily="18" charset="0"/>
                            </a:rPr>
                          </m:ctrlPr>
                        </m:eqArrPr>
                        <m:e>
                          <m:sSub>
                            <m:sSubPr>
                              <m:ctrlPr>
                                <a:rPr lang="en-US" sz="2400">
                                  <a:latin typeface="Cambria Math"/>
                                </a:rPr>
                              </m:ctrlPr>
                            </m:sSubPr>
                            <m:e>
                              <m:r>
                                <a:rPr lang="en-US" sz="2400">
                                  <a:latin typeface="Cambria Math"/>
                                </a:rPr>
                                <m:t>𝑀</m:t>
                              </m:r>
                            </m:e>
                            <m:sub>
                              <m:r>
                                <a:rPr lang="en-US" sz="2400">
                                  <a:latin typeface="Cambria Math"/>
                                </a:rPr>
                                <m:t>0</m:t>
                              </m:r>
                            </m:sub>
                          </m:sSub>
                          <m:acc>
                            <m:accPr>
                              <m:chr m:val="̈"/>
                              <m:ctrlPr>
                                <a:rPr lang="en-US" sz="2400">
                                  <a:latin typeface="Cambria Math"/>
                                </a:rPr>
                              </m:ctrlPr>
                            </m:accPr>
                            <m:e>
                              <m:r>
                                <a:rPr lang="en-US" sz="2400">
                                  <a:latin typeface="Cambria Math"/>
                                </a:rPr>
                                <m:t>𝑞</m:t>
                              </m:r>
                            </m:e>
                          </m:acc>
                          <m:r>
                            <a:rPr lang="en-US" sz="2400">
                              <a:latin typeface="Cambria Math"/>
                            </a:rPr>
                            <m:t> + </m:t>
                          </m:r>
                          <m:r>
                            <a:rPr lang="en-US" sz="2400">
                              <a:latin typeface="Cambria Math"/>
                            </a:rPr>
                            <m:t>𝐾𝑞</m:t>
                          </m:r>
                          <m:r>
                            <a:rPr lang="en-US" sz="2400">
                              <a:latin typeface="Cambria Math"/>
                            </a:rPr>
                            <m:t> = 0</m:t>
                          </m:r>
                        </m:e>
                        <m:e>
                          <m:sSub>
                            <m:sSubPr>
                              <m:ctrlPr>
                                <a:rPr lang="en-US" sz="2400">
                                  <a:latin typeface="Cambria Math"/>
                                </a:rPr>
                              </m:ctrlPr>
                            </m:sSubPr>
                            <m:e>
                              <m:r>
                                <a:rPr lang="en-US" sz="2400">
                                  <a:latin typeface="Cambria Math"/>
                                </a:rPr>
                                <m:t>𝑀</m:t>
                              </m:r>
                            </m:e>
                            <m:sub>
                              <m:r>
                                <a:rPr lang="en-US" sz="2400">
                                  <a:latin typeface="Cambria Math"/>
                                </a:rPr>
                                <m:t>0</m:t>
                              </m:r>
                            </m:sub>
                          </m:sSub>
                          <m:r>
                            <a:rPr lang="en-US" sz="2400">
                              <a:latin typeface="Cambria Math"/>
                            </a:rPr>
                            <m:t> = [</m:t>
                          </m:r>
                          <m:sSub>
                            <m:sSubPr>
                              <m:ctrlPr>
                                <a:rPr lang="en-US" sz="2400">
                                  <a:latin typeface="Cambria Math"/>
                                </a:rPr>
                              </m:ctrlPr>
                            </m:sSubPr>
                            <m:e>
                              <m:r>
                                <a:rPr lang="en-US" sz="2400">
                                  <a:latin typeface="Cambria Math"/>
                                </a:rPr>
                                <m:t>𝐼</m:t>
                              </m:r>
                            </m:e>
                            <m:sub>
                              <m:r>
                                <a:rPr lang="en-US" sz="2400">
                                  <a:latin typeface="Cambria Math"/>
                                </a:rPr>
                                <m:t>11</m:t>
                              </m:r>
                            </m:sub>
                          </m:sSub>
                          <m:r>
                            <a:rPr lang="en-US" sz="2400">
                              <a:latin typeface="Cambria Math"/>
                            </a:rPr>
                            <m:t>, </m:t>
                          </m:r>
                          <m:r>
                            <a:rPr lang="en-US" sz="2400">
                              <a:latin typeface="Cambria Math"/>
                            </a:rPr>
                            <m:t>𝐶</m:t>
                          </m:r>
                          <m:r>
                            <a:rPr lang="en-US" sz="2400">
                              <a:latin typeface="Cambria Math"/>
                            </a:rPr>
                            <m:t>; </m:t>
                          </m:r>
                          <m:r>
                            <a:rPr lang="en-US" sz="2400">
                              <a:latin typeface="Cambria Math"/>
                            </a:rPr>
                            <m:t>𝐶</m:t>
                          </m:r>
                          <m:r>
                            <a:rPr lang="en-US" sz="2400">
                              <a:latin typeface="Cambria Math"/>
                            </a:rPr>
                            <m:t>, </m:t>
                          </m:r>
                          <m:sSub>
                            <m:sSubPr>
                              <m:ctrlPr>
                                <a:rPr lang="en-US" sz="2400">
                                  <a:latin typeface="Cambria Math"/>
                                </a:rPr>
                              </m:ctrlPr>
                            </m:sSubPr>
                            <m:e>
                              <m:r>
                                <a:rPr lang="en-US" sz="2400">
                                  <a:latin typeface="Cambria Math"/>
                                </a:rPr>
                                <m:t>𝐼</m:t>
                              </m:r>
                            </m:e>
                            <m:sub>
                              <m:r>
                                <a:rPr lang="en-US" sz="2400">
                                  <a:latin typeface="Cambria Math"/>
                                </a:rPr>
                                <m:t>22</m:t>
                              </m:r>
                            </m:sub>
                          </m:sSub>
                          <m:r>
                            <a:rPr lang="en-US" sz="2400">
                              <a:latin typeface="Cambria Math"/>
                            </a:rPr>
                            <m:t>]     </m:t>
                          </m:r>
                          <m:r>
                            <a:rPr lang="en-US" sz="2400">
                              <a:latin typeface="Cambria Math"/>
                            </a:rPr>
                            <m:t>𝐾</m:t>
                          </m:r>
                          <m:r>
                            <a:rPr lang="en-US" sz="2400">
                              <a:latin typeface="Cambria Math"/>
                            </a:rPr>
                            <m:t> = </m:t>
                          </m:r>
                          <m:r>
                            <a:rPr lang="en-US" sz="2400">
                              <a:latin typeface="Cambria Math"/>
                            </a:rPr>
                            <m:t>𝑑𝑖𝑎𝑔</m:t>
                          </m:r>
                          <m:r>
                            <a:rPr lang="en-US" sz="2400">
                              <a:latin typeface="Cambria Math"/>
                            </a:rPr>
                            <m:t>(</m:t>
                          </m:r>
                          <m:sSub>
                            <m:sSubPr>
                              <m:ctrlPr>
                                <a:rPr lang="en-US" sz="2400">
                                  <a:latin typeface="Cambria Math"/>
                                </a:rPr>
                              </m:ctrlPr>
                            </m:sSubPr>
                            <m:e>
                              <m:r>
                                <a:rPr lang="en-US" sz="2400">
                                  <a:latin typeface="Cambria Math"/>
                                </a:rPr>
                                <m:t>𝐺</m:t>
                              </m:r>
                            </m:e>
                            <m:sub>
                              <m:r>
                                <a:rPr lang="en-US" sz="2400">
                                  <a:latin typeface="Cambria Math"/>
                                </a:rPr>
                                <m:t>1</m:t>
                              </m:r>
                            </m:sub>
                          </m:sSub>
                          <m:r>
                            <a:rPr lang="en-US" sz="2400">
                              <a:latin typeface="Cambria Math"/>
                            </a:rPr>
                            <m:t>, </m:t>
                          </m:r>
                          <m:sSub>
                            <m:sSubPr>
                              <m:ctrlPr>
                                <a:rPr lang="en-US" sz="2400">
                                  <a:latin typeface="Cambria Math"/>
                                </a:rPr>
                              </m:ctrlPr>
                            </m:sSubPr>
                            <m:e>
                              <m:r>
                                <a:rPr lang="en-US" sz="2400">
                                  <a:latin typeface="Cambria Math"/>
                                </a:rPr>
                                <m:t>𝐺</m:t>
                              </m:r>
                            </m:e>
                            <m:sub>
                              <m:r>
                                <a:rPr lang="en-US" sz="2400">
                                  <a:latin typeface="Cambria Math"/>
                                </a:rPr>
                                <m:t>2</m:t>
                              </m:r>
                            </m:sub>
                          </m:sSub>
                          <m:r>
                            <a:rPr lang="en-US" sz="2400">
                              <a:latin typeface="Cambria Math"/>
                            </a:rPr>
                            <m:t>)</m:t>
                          </m:r>
                        </m:e>
                      </m:eqArr>
                    </m:oMath>
                  </m:oMathPara>
                </a14:m>
                <a:endParaRPr lang="en-US" sz="2400"/>
              </a:p>
            </p:txBody>
          </p:sp>
        </mc:Choice>
        <mc:Fallback>
          <p:sp>
            <p:nvSpPr>
              <p:cNvPr id="3" name="EQ_linear">
                <a:extLst>
                  <a:ext uri="{FF2B5EF4-FFF2-40B4-BE49-F238E27FC236}">
                    <a16:creationId xmlns:a16="http://schemas.microsoft.com/office/drawing/2014/main" id="{886275E5-F941-4DE7-B24D-78DABBDDB869}"/>
                  </a:ext>
                </a:extLst>
              </p:cNvPr>
              <p:cNvSpPr>
                <a:spLocks noGrp="1" noRot="1" noChangeAspect="1" noMove="1" noResize="1" noEditPoints="1" noAdjustHandles="1" noChangeArrowheads="1" noChangeShapeType="1" noTextEdit="1"/>
              </p:cNvSpPr>
              <p:nvPr/>
            </p:nvSpPr>
            <p:spPr>
              <a:xfrm>
                <a:off x="666750" y="1666875"/>
                <a:ext cx="10858500" cy="857250"/>
              </a:xfrm>
              <a:prstGeom prst="rect">
                <a:avLst/>
              </a:prstGeom>
              <a:blipFill>
                <a:blip r:embed="rId3"/>
                <a:stretch>
                  <a:fillRect/>
                </a:stretch>
              </a:blipFill>
              <a:ln w="0">
                <a:noFill/>
              </a:ln>
            </p:spPr>
            <p:txBody>
              <a:bodyPr/>
              <a:lstStyle/>
              <a:p>
                <a:r>
                  <a:rPr lang="en-US">
                    <a:noFill/>
                  </a:rPr>
                  <a:t> </a:t>
                </a:r>
              </a:p>
            </p:txBody>
          </p:sp>
        </mc:Fallback>
      </mc:AlternateContent>
      <p:sp>
        <p:nvSpPr>
          <p:cNvPr id="4" name="body0">
            <a:extLst>
              <a:ext uri="{FF2B5EF4-FFF2-40B4-BE49-F238E27FC236}">
                <a16:creationId xmlns:a16="http://schemas.microsoft.com/office/drawing/2014/main" id="{6EB98A23-9583-4EF0-A28B-8960852E7C06}"/>
              </a:ext>
            </a:extLst>
          </p:cNvPr>
          <p:cNvSpPr>
            <a:spLocks noGrp="1"/>
          </p:cNvSpPr>
          <p:nvPr/>
        </p:nvSpPr>
        <p:spPr>
          <a:xfrm>
            <a:off x="666750" y="2657475"/>
            <a:ext cx="10858500" cy="971550"/>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For angles close to zero, sin θ ≈ θ and cos Δ ≈ 1. Products of small quantities drop out.</a:t>
            </a:r>
          </a:p>
        </p:txBody>
      </p:sp>
      <p:sp>
        <p:nvSpPr>
          <p:cNvPr id="5" name="body1">
            <a:extLst>
              <a:ext uri="{FF2B5EF4-FFF2-40B4-BE49-F238E27FC236}">
                <a16:creationId xmlns:a16="http://schemas.microsoft.com/office/drawing/2014/main" id="{80F6B7F8-30C8-4D15-9D86-5233C0C7054A}"/>
              </a:ext>
            </a:extLst>
          </p:cNvPr>
          <p:cNvSpPr>
            <a:spLocks noGrp="1"/>
          </p:cNvSpPr>
          <p:nvPr/>
        </p:nvSpPr>
        <p:spPr>
          <a:xfrm>
            <a:off x="666750" y="3724275"/>
            <a:ext cx="10858500" cy="971550"/>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The linear model has two normal modes: one largely moves the links together and the other largely moves them oppositely.</a:t>
            </a:r>
          </a:p>
        </p:txBody>
      </p:sp>
      <p:sp>
        <p:nvSpPr>
          <p:cNvPr id="6" name="body2">
            <a:extLst>
              <a:ext uri="{FF2B5EF4-FFF2-40B4-BE49-F238E27FC236}">
                <a16:creationId xmlns:a16="http://schemas.microsoft.com/office/drawing/2014/main" id="{13AAD2F2-918B-4AC0-BBF1-7989743CF42D}"/>
              </a:ext>
            </a:extLst>
          </p:cNvPr>
          <p:cNvSpPr>
            <a:spLocks noGrp="1"/>
          </p:cNvSpPr>
          <p:nvPr/>
        </p:nvSpPr>
        <p:spPr>
          <a:xfrm>
            <a:off x="666750" y="4791075"/>
            <a:ext cx="10858500" cy="971550"/>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A general small release can contain both modes. The angle trace can therefore contain two frequencies.</a:t>
            </a:r>
          </a:p>
        </p:txBody>
      </p:sp>
      <p:sp>
        <p:nvSpPr>
          <p:cNvPr id="7" name="page">
            <a:extLst>
              <a:ext uri="{FF2B5EF4-FFF2-40B4-BE49-F238E27FC236}">
                <a16:creationId xmlns:a16="http://schemas.microsoft.com/office/drawing/2014/main" id="{BED774E3-19FD-42E9-8869-3F22928E80BC}"/>
              </a:ext>
            </a:extLst>
          </p:cNvPr>
          <p:cNvSpPr>
            <a:spLocks noGrp="1"/>
          </p:cNvSpPr>
          <p:nvPr/>
        </p:nvSpPr>
        <p:spPr>
          <a:xfrm>
            <a:off x="11449050" y="6515100"/>
            <a:ext cx="333375" cy="190500"/>
          </a:xfrm>
          <a:prstGeom prst="rect">
            <a:avLst/>
          </a:prstGeom>
          <a:noFill/>
          <a:ln w="0">
            <a:noFill/>
          </a:ln>
        </p:spPr>
        <p:txBody>
          <a:bodyPr anchor="t">
            <a:noAutofit/>
          </a:bodyPr>
          <a:lstStyle/>
          <a:p>
            <a:pPr>
              <a:defRPr sz="1050" b="0">
                <a:solidFill>
                  <a:srgbClr val="6B7280"/>
                </a:solidFill>
                <a:latin typeface="Aptos"/>
                <a:ea typeface="Aptos"/>
                <a:cs typeface="Aptos"/>
              </a:defRPr>
            </a:pPr>
            <a:r>
              <a:rPr sz="1050" b="0">
                <a:solidFill>
                  <a:srgbClr val="6B7280"/>
                </a:solidFill>
                <a:latin typeface="Aptos"/>
                <a:ea typeface="Aptos"/>
                <a:cs typeface="Aptos"/>
              </a:rPr>
              <a:t>27</a:t>
            </a:r>
          </a:p>
        </p:txBody>
      </p:sp>
    </p:spTree>
    <p:extLst>
      <p:ext uri="{BB962C8B-B14F-4D97-AF65-F5344CB8AC3E}">
        <p14:creationId xmlns:p14="http://schemas.microsoft.com/office/powerpoint/2010/main" val="84856473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course">
            <a:extLst>
              <a:ext uri="{FF2B5EF4-FFF2-40B4-BE49-F238E27FC236}">
                <a16:creationId xmlns:a16="http://schemas.microsoft.com/office/drawing/2014/main" id="{FDCDFBB2-B9F2-4A55-8784-94427F9875BE}"/>
              </a:ext>
            </a:extLst>
          </p:cNvPr>
          <p:cNvSpPr>
            <a:spLocks noGrp="1"/>
          </p:cNvSpPr>
          <p:nvPr/>
        </p:nvSpPr>
        <p:spPr>
          <a:xfrm>
            <a:off x="495300" y="190500"/>
            <a:ext cx="8572500" cy="285750"/>
          </a:xfrm>
          <a:prstGeom prst="rect">
            <a:avLst/>
          </a:prstGeom>
          <a:noFill/>
          <a:ln w="0">
            <a:noFill/>
          </a:ln>
        </p:spPr>
        <p:txBody>
          <a:bodyPr anchor="t">
            <a:noAutofit/>
          </a:bodyPr>
          <a:lstStyle/>
          <a:p>
            <a:pPr>
              <a:defRPr sz="1275" b="1">
                <a:solidFill>
                  <a:srgbClr val="881C1C"/>
                </a:solidFill>
                <a:latin typeface="Aptos"/>
                <a:ea typeface="Aptos"/>
                <a:cs typeface="Aptos"/>
              </a:defRPr>
            </a:pPr>
            <a:r>
              <a:rPr sz="1275" b="1">
                <a:solidFill>
                  <a:srgbClr val="881C1C"/>
                </a:solidFill>
                <a:latin typeface="Aptos"/>
                <a:ea typeface="Aptos"/>
                <a:cs typeface="Aptos"/>
              </a:rPr>
              <a:t>MIE 402   ME LAB II</a:t>
            </a:r>
          </a:p>
        </p:txBody>
      </p:sp>
      <p:sp>
        <p:nvSpPr>
          <p:cNvPr id="2" name="title">
            <a:extLst>
              <a:ext uri="{FF2B5EF4-FFF2-40B4-BE49-F238E27FC236}">
                <a16:creationId xmlns:a16="http://schemas.microsoft.com/office/drawing/2014/main" id="{49AE92D6-7B47-46F5-9FE4-86BAB29E505E}"/>
              </a:ext>
            </a:extLst>
          </p:cNvPr>
          <p:cNvSpPr>
            <a:spLocks noGrp="1"/>
          </p:cNvSpPr>
          <p:nvPr/>
        </p:nvSpPr>
        <p:spPr>
          <a:xfrm>
            <a:off x="495300" y="666750"/>
            <a:ext cx="11125200" cy="742950"/>
          </a:xfrm>
          <a:prstGeom prst="rect">
            <a:avLst/>
          </a:prstGeom>
          <a:noFill/>
          <a:ln w="0">
            <a:noFill/>
          </a:ln>
        </p:spPr>
        <p:txBody>
          <a:bodyPr anchor="t">
            <a:noAutofit/>
          </a:bodyPr>
          <a:lstStyle/>
          <a:p>
            <a:pPr>
              <a:defRPr sz="2925" b="1">
                <a:solidFill>
                  <a:srgbClr val="152437"/>
                </a:solidFill>
                <a:latin typeface="Aptos"/>
                <a:ea typeface="Aptos"/>
                <a:cs typeface="Aptos"/>
              </a:defRPr>
            </a:pPr>
            <a:r>
              <a:rPr sz="2925" b="1">
                <a:solidFill>
                  <a:srgbClr val="152437"/>
                </a:solidFill>
                <a:latin typeface="Aptos"/>
                <a:ea typeface="Aptos"/>
                <a:cs typeface="Aptos"/>
              </a:rPr>
              <a:t>How the two mode frequencies are found</a:t>
            </a:r>
          </a:p>
        </p:txBody>
      </p:sp>
      <mc:AlternateContent xmlns:mc="http://schemas.openxmlformats.org/markup-compatibility/2006">
        <mc:Choice xmlns:a14="http://schemas.microsoft.com/office/drawing/2010/main" Requires="a14">
          <p:sp>
            <p:nvSpPr>
              <p:cNvPr id="3" name="EQ_mode">
                <a:extLst>
                  <a:ext uri="{FF2B5EF4-FFF2-40B4-BE49-F238E27FC236}">
                    <a16:creationId xmlns:a16="http://schemas.microsoft.com/office/drawing/2014/main" id="{B5209C78-1212-4004-BB71-C872120CB504}"/>
                  </a:ext>
                </a:extLst>
              </p:cNvPr>
              <p:cNvSpPr>
                <a:spLocks noGrp="1"/>
              </p:cNvSpPr>
              <p:nvPr/>
            </p:nvSpPr>
            <p:spPr>
              <a:xfrm>
                <a:off x="666750" y="1666875"/>
                <a:ext cx="10858500" cy="1047750"/>
              </a:xfrm>
              <a:prstGeom prst="rect">
                <a:avLst/>
              </a:prstGeom>
              <a:noFill/>
              <a:ln w="0">
                <a:noFill/>
              </a:ln>
            </p:spPr>
            <p:txBody>
              <a:bodyPr anchor="t">
                <a:noAutofit/>
              </a:bodyPr>
              <a:lstStyle/>
              <a:p>
                <a:pPr algn="l"/>
                <a14:m>
                  <m:oMathPara xmlns:m="http://schemas.openxmlformats.org/officeDocument/2006/math">
                    <m:oMathParaPr>
                      <m:jc m:val="left"/>
                    </m:oMathParaPr>
                    <m:oMath>
                      <m:eqArr>
                        <m:eqArrPr>
                          <m:ctrlPr>
                            <a:rPr lang="en-US" sz="2400">
                              <a:latin typeface="Cambria Math" panose="02040503050406030204" pitchFamily="18" charset="0"/>
                            </a:rPr>
                          </m:ctrlPr>
                        </m:eqArrPr>
                        <m:e>
                          <m:r>
                            <a:rPr lang="en-US" sz="2400">
                              <a:latin typeface="Cambria Math"/>
                            </a:rPr>
                            <m:t>𝑞</m:t>
                          </m:r>
                          <m:r>
                            <a:rPr lang="en-US" sz="2400">
                              <a:latin typeface="Cambria Math"/>
                            </a:rPr>
                            <m:t>(</m:t>
                          </m:r>
                          <m:r>
                            <a:rPr lang="en-US" sz="2400">
                              <a:latin typeface="Cambria Math"/>
                            </a:rPr>
                            <m:t>𝑡</m:t>
                          </m:r>
                          <m:r>
                            <a:rPr lang="en-US" sz="2400">
                              <a:latin typeface="Cambria Math"/>
                            </a:rPr>
                            <m:t>) = </m:t>
                          </m:r>
                          <m:r>
                            <a:rPr lang="en-US" sz="2400">
                              <a:latin typeface="Cambria Math"/>
                            </a:rPr>
                            <m:t>𝑎</m:t>
                          </m:r>
                          <m:r>
                            <a:rPr lang="en-US" sz="2400">
                              <a:latin typeface="Cambria Math"/>
                            </a:rPr>
                            <m:t> </m:t>
                          </m:r>
                          <m:r>
                            <a:rPr lang="en-US" sz="2400">
                              <a:latin typeface="Cambria Math"/>
                            </a:rPr>
                            <m:t>𝑐𝑜𝑠</m:t>
                          </m:r>
                          <m:r>
                            <a:rPr lang="en-US" sz="2400">
                              <a:latin typeface="Cambria Math"/>
                            </a:rPr>
                            <m:t>(</m:t>
                          </m:r>
                          <m:r>
                            <a:rPr lang="en-US" sz="2400">
                              <a:latin typeface="Cambria Math"/>
                            </a:rPr>
                            <m:t>𝛺</m:t>
                          </m:r>
                          <m:r>
                            <a:rPr lang="en-US" sz="2400">
                              <a:latin typeface="Cambria Math"/>
                            </a:rPr>
                            <m:t>𝑡</m:t>
                          </m:r>
                          <m:r>
                            <a:rPr lang="en-US" sz="2400">
                              <a:latin typeface="Cambria Math"/>
                            </a:rPr>
                            <m:t> + </m:t>
                          </m:r>
                          <m:r>
                            <a:rPr lang="en-US" sz="2400">
                              <a:latin typeface="Cambria Math"/>
                            </a:rPr>
                            <m:t>𝜑</m:t>
                          </m:r>
                          <m:r>
                            <a:rPr lang="en-US" sz="2400">
                              <a:latin typeface="Cambria Math"/>
                            </a:rPr>
                            <m:t>)</m:t>
                          </m:r>
                        </m:e>
                        <m:e>
                          <m:r>
                            <a:rPr lang="en-US" sz="2400">
                              <a:latin typeface="Cambria Math"/>
                            </a:rPr>
                            <m:t>𝑑𝑒𝑡</m:t>
                          </m:r>
                          <m:r>
                            <a:rPr lang="en-US" sz="2400">
                              <a:latin typeface="Cambria Math"/>
                            </a:rPr>
                            <m:t>(</m:t>
                          </m:r>
                          <m:r>
                            <a:rPr lang="en-US" sz="2400">
                              <a:latin typeface="Cambria Math"/>
                            </a:rPr>
                            <m:t>𝐾</m:t>
                          </m:r>
                          <m:r>
                            <a:rPr lang="en-US" sz="2400">
                              <a:latin typeface="Cambria Math"/>
                            </a:rPr>
                            <m:t> − </m:t>
                          </m:r>
                          <m:sSup>
                            <m:sSupPr>
                              <m:ctrlPr>
                                <a:rPr lang="en-US" sz="2400">
                                  <a:latin typeface="Cambria Math"/>
                                </a:rPr>
                              </m:ctrlPr>
                            </m:sSupPr>
                            <m:e>
                              <m:r>
                                <a:rPr lang="en-US" sz="2400">
                                  <a:latin typeface="Cambria Math"/>
                                </a:rPr>
                                <m:t>𝛺</m:t>
                              </m:r>
                            </m:e>
                            <m:sup>
                              <m:r>
                                <a:rPr lang="en-US" sz="2400">
                                  <a:latin typeface="Cambria Math"/>
                                </a:rPr>
                                <m:t>2</m:t>
                              </m:r>
                            </m:sup>
                          </m:sSup>
                          <m:sSub>
                            <m:sSubPr>
                              <m:ctrlPr>
                                <a:rPr lang="en-US" sz="2400">
                                  <a:latin typeface="Cambria Math"/>
                                </a:rPr>
                              </m:ctrlPr>
                            </m:sSubPr>
                            <m:e>
                              <m:r>
                                <a:rPr lang="en-US" sz="2400">
                                  <a:latin typeface="Cambria Math"/>
                                </a:rPr>
                                <m:t>𝑀</m:t>
                              </m:r>
                            </m:e>
                            <m:sub>
                              <m:r>
                                <a:rPr lang="en-US" sz="2400">
                                  <a:latin typeface="Cambria Math"/>
                                </a:rPr>
                                <m:t>0</m:t>
                              </m:r>
                            </m:sub>
                          </m:sSub>
                          <m:r>
                            <a:rPr lang="en-US" sz="2400">
                              <a:latin typeface="Cambria Math"/>
                            </a:rPr>
                            <m:t>) = 0      </m:t>
                          </m:r>
                          <m:r>
                            <a:rPr lang="en-US" sz="2400">
                              <a:latin typeface="Cambria Math"/>
                            </a:rPr>
                            <m:t>𝑓</m:t>
                          </m:r>
                          <m:r>
                            <a:rPr lang="en-US" sz="2400">
                              <a:latin typeface="Cambria Math"/>
                            </a:rPr>
                            <m:t> = </m:t>
                          </m:r>
                          <m:f>
                            <m:fPr>
                              <m:ctrlPr>
                                <a:rPr lang="en-US" sz="2400">
                                  <a:latin typeface="Cambria Math"/>
                                </a:rPr>
                              </m:ctrlPr>
                            </m:fPr>
                            <m:num>
                              <m:r>
                                <a:rPr lang="en-US" sz="2400">
                                  <a:latin typeface="Cambria Math"/>
                                </a:rPr>
                                <m:t>𝛺</m:t>
                              </m:r>
                            </m:num>
                            <m:den>
                              <m:r>
                                <a:rPr lang="en-US" sz="2400">
                                  <a:latin typeface="Cambria Math"/>
                                </a:rPr>
                                <m:t>2</m:t>
                              </m:r>
                              <m:r>
                                <a:rPr lang="en-US" sz="2400">
                                  <a:latin typeface="Cambria Math"/>
                                </a:rPr>
                                <m:t>𝜋</m:t>
                              </m:r>
                            </m:den>
                          </m:f>
                        </m:e>
                      </m:eqArr>
                    </m:oMath>
                  </m:oMathPara>
                </a14:m>
                <a:endParaRPr lang="en-US" sz="2400"/>
              </a:p>
            </p:txBody>
          </p:sp>
        </mc:Choice>
        <mc:Fallback>
          <p:sp>
            <p:nvSpPr>
              <p:cNvPr id="3" name="EQ_mode">
                <a:extLst>
                  <a:ext uri="{FF2B5EF4-FFF2-40B4-BE49-F238E27FC236}">
                    <a16:creationId xmlns:a16="http://schemas.microsoft.com/office/drawing/2014/main" id="{B5209C78-1212-4004-BB71-C872120CB504}"/>
                  </a:ext>
                </a:extLst>
              </p:cNvPr>
              <p:cNvSpPr>
                <a:spLocks noGrp="1" noRot="1" noChangeAspect="1" noMove="1" noResize="1" noEditPoints="1" noAdjustHandles="1" noChangeArrowheads="1" noChangeShapeType="1" noTextEdit="1"/>
              </p:cNvSpPr>
              <p:nvPr/>
            </p:nvSpPr>
            <p:spPr>
              <a:xfrm>
                <a:off x="666750" y="1666875"/>
                <a:ext cx="10858500" cy="1047750"/>
              </a:xfrm>
              <a:prstGeom prst="rect">
                <a:avLst/>
              </a:prstGeom>
              <a:blipFill>
                <a:blip r:embed="rId3"/>
                <a:stretch>
                  <a:fillRect b="-6395"/>
                </a:stretch>
              </a:blipFill>
              <a:ln w="0">
                <a:noFill/>
              </a:ln>
            </p:spPr>
            <p:txBody>
              <a:bodyPr/>
              <a:lstStyle/>
              <a:p>
                <a:r>
                  <a:rPr lang="en-US">
                    <a:noFill/>
                  </a:rPr>
                  <a:t> </a:t>
                </a:r>
              </a:p>
            </p:txBody>
          </p:sp>
        </mc:Fallback>
      </mc:AlternateContent>
      <p:sp>
        <p:nvSpPr>
          <p:cNvPr id="4" name="body0">
            <a:extLst>
              <a:ext uri="{FF2B5EF4-FFF2-40B4-BE49-F238E27FC236}">
                <a16:creationId xmlns:a16="http://schemas.microsoft.com/office/drawing/2014/main" id="{444376DD-F9DE-4B48-B7ED-F657917C89CA}"/>
              </a:ext>
            </a:extLst>
          </p:cNvPr>
          <p:cNvSpPr>
            <a:spLocks noGrp="1"/>
          </p:cNvSpPr>
          <p:nvPr/>
        </p:nvSpPr>
        <p:spPr>
          <a:xfrm>
            <a:off x="666750" y="2847975"/>
            <a:ext cx="10858500" cy="971550"/>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a = (a₁,a₂)ᵀ [rad] contains the two signed modal angle amplitudes. φ [rad] is starting phase, and t [s] is time.</a:t>
            </a:r>
          </a:p>
        </p:txBody>
      </p:sp>
      <p:sp>
        <p:nvSpPr>
          <p:cNvPr id="5" name="body1">
            <a:extLst>
              <a:ext uri="{FF2B5EF4-FFF2-40B4-BE49-F238E27FC236}">
                <a16:creationId xmlns:a16="http://schemas.microsoft.com/office/drawing/2014/main" id="{C7C1AAAE-F15F-4353-BE23-A053AA853DC7}"/>
              </a:ext>
            </a:extLst>
          </p:cNvPr>
          <p:cNvSpPr>
            <a:spLocks noGrp="1"/>
          </p:cNvSpPr>
          <p:nvPr/>
        </p:nvSpPr>
        <p:spPr>
          <a:xfrm>
            <a:off x="666750" y="3914775"/>
            <a:ext cx="10858500" cy="971550"/>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Ω [rad/s] is a mode’s oscillation angular frequency. f [Hz] is its cycles per second. Ω differs from instantaneous angular velocities ω₁(t) and ω₂(t).</a:t>
            </a:r>
          </a:p>
        </p:txBody>
      </p:sp>
      <p:sp>
        <p:nvSpPr>
          <p:cNvPr id="6" name="body2">
            <a:extLst>
              <a:ext uri="{FF2B5EF4-FFF2-40B4-BE49-F238E27FC236}">
                <a16:creationId xmlns:a16="http://schemas.microsoft.com/office/drawing/2014/main" id="{004FDF38-F6FF-49D7-8081-30E85A296EE7}"/>
              </a:ext>
            </a:extLst>
          </p:cNvPr>
          <p:cNvSpPr>
            <a:spLocks noGrp="1"/>
          </p:cNvSpPr>
          <p:nvPr/>
        </p:nvSpPr>
        <p:spPr>
          <a:xfrm>
            <a:off x="666750" y="4981575"/>
            <a:ext cx="10858500" cy="971550"/>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det means determinant. Setting it to zero allows a nonzero amplitude vector a and gives the two values of Ω². Divide each Ω by 2π to obtain f.</a:t>
            </a:r>
          </a:p>
        </p:txBody>
      </p:sp>
      <p:sp>
        <p:nvSpPr>
          <p:cNvPr id="7" name="page">
            <a:extLst>
              <a:ext uri="{FF2B5EF4-FFF2-40B4-BE49-F238E27FC236}">
                <a16:creationId xmlns:a16="http://schemas.microsoft.com/office/drawing/2014/main" id="{81B8DB00-1F62-4993-A8BC-D298E458D9B8}"/>
              </a:ext>
            </a:extLst>
          </p:cNvPr>
          <p:cNvSpPr>
            <a:spLocks noGrp="1"/>
          </p:cNvSpPr>
          <p:nvPr/>
        </p:nvSpPr>
        <p:spPr>
          <a:xfrm>
            <a:off x="11449050" y="6515100"/>
            <a:ext cx="333375" cy="190500"/>
          </a:xfrm>
          <a:prstGeom prst="rect">
            <a:avLst/>
          </a:prstGeom>
          <a:noFill/>
          <a:ln w="0">
            <a:noFill/>
          </a:ln>
        </p:spPr>
        <p:txBody>
          <a:bodyPr anchor="t">
            <a:noAutofit/>
          </a:bodyPr>
          <a:lstStyle/>
          <a:p>
            <a:pPr>
              <a:defRPr sz="1050" b="0">
                <a:solidFill>
                  <a:srgbClr val="6B7280"/>
                </a:solidFill>
                <a:latin typeface="Aptos"/>
                <a:ea typeface="Aptos"/>
                <a:cs typeface="Aptos"/>
              </a:defRPr>
            </a:pPr>
            <a:r>
              <a:rPr sz="1050" b="0">
                <a:solidFill>
                  <a:srgbClr val="6B7280"/>
                </a:solidFill>
                <a:latin typeface="Aptos"/>
                <a:ea typeface="Aptos"/>
                <a:cs typeface="Aptos"/>
              </a:rPr>
              <a:t>28</a:t>
            </a:r>
          </a:p>
        </p:txBody>
      </p:sp>
    </p:spTree>
    <p:extLst>
      <p:ext uri="{BB962C8B-B14F-4D97-AF65-F5344CB8AC3E}">
        <p14:creationId xmlns:p14="http://schemas.microsoft.com/office/powerpoint/2010/main" val="42734735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course">
            <a:extLst>
              <a:ext uri="{FF2B5EF4-FFF2-40B4-BE49-F238E27FC236}">
                <a16:creationId xmlns:a16="http://schemas.microsoft.com/office/drawing/2014/main" id="{3EDE127F-F012-4E21-A244-A04A089D5B51}"/>
              </a:ext>
            </a:extLst>
          </p:cNvPr>
          <p:cNvSpPr>
            <a:spLocks noGrp="1"/>
          </p:cNvSpPr>
          <p:nvPr/>
        </p:nvSpPr>
        <p:spPr>
          <a:xfrm>
            <a:off x="495300" y="190500"/>
            <a:ext cx="8572500" cy="285750"/>
          </a:xfrm>
          <a:prstGeom prst="rect">
            <a:avLst/>
          </a:prstGeom>
          <a:noFill/>
          <a:ln w="0">
            <a:noFill/>
          </a:ln>
        </p:spPr>
        <p:txBody>
          <a:bodyPr anchor="t">
            <a:noAutofit/>
          </a:bodyPr>
          <a:lstStyle/>
          <a:p>
            <a:pPr>
              <a:defRPr sz="1275" b="1">
                <a:solidFill>
                  <a:srgbClr val="881C1C"/>
                </a:solidFill>
                <a:latin typeface="Aptos"/>
                <a:ea typeface="Aptos"/>
                <a:cs typeface="Aptos"/>
              </a:defRPr>
            </a:pPr>
            <a:r>
              <a:rPr sz="1275" b="1">
                <a:solidFill>
                  <a:srgbClr val="881C1C"/>
                </a:solidFill>
                <a:latin typeface="Aptos"/>
                <a:ea typeface="Aptos"/>
                <a:cs typeface="Aptos"/>
              </a:rPr>
              <a:t>MIE 402   ME LAB II</a:t>
            </a:r>
          </a:p>
        </p:txBody>
      </p:sp>
      <p:sp>
        <p:nvSpPr>
          <p:cNvPr id="2" name="title">
            <a:extLst>
              <a:ext uri="{FF2B5EF4-FFF2-40B4-BE49-F238E27FC236}">
                <a16:creationId xmlns:a16="http://schemas.microsoft.com/office/drawing/2014/main" id="{4E3CC030-D8A6-425D-9E44-07C6BD34FA52}"/>
              </a:ext>
            </a:extLst>
          </p:cNvPr>
          <p:cNvSpPr>
            <a:spLocks noGrp="1"/>
          </p:cNvSpPr>
          <p:nvPr/>
        </p:nvSpPr>
        <p:spPr>
          <a:xfrm>
            <a:off x="495300" y="666750"/>
            <a:ext cx="11125200" cy="742950"/>
          </a:xfrm>
          <a:prstGeom prst="rect">
            <a:avLst/>
          </a:prstGeom>
          <a:noFill/>
          <a:ln w="0">
            <a:noFill/>
          </a:ln>
        </p:spPr>
        <p:txBody>
          <a:bodyPr anchor="t">
            <a:noAutofit/>
          </a:bodyPr>
          <a:lstStyle/>
          <a:p>
            <a:pPr>
              <a:defRPr sz="2925" b="1">
                <a:solidFill>
                  <a:srgbClr val="152437"/>
                </a:solidFill>
                <a:latin typeface="Aptos"/>
                <a:ea typeface="Aptos"/>
                <a:cs typeface="Aptos"/>
              </a:defRPr>
            </a:pPr>
            <a:r>
              <a:rPr sz="2925" b="1">
                <a:solidFill>
                  <a:srgbClr val="152437"/>
                </a:solidFill>
                <a:latin typeface="Aptos"/>
                <a:ea typeface="Aptos"/>
                <a:cs typeface="Aptos"/>
              </a:rPr>
              <a:t>Watch mode 1: the two angles have the same sign</a:t>
            </a:r>
          </a:p>
        </p:txBody>
      </p:sp>
      <p:sp>
        <p:nvSpPr>
          <p:cNvPr id="3" name="body0">
            <a:extLst>
              <a:ext uri="{FF2B5EF4-FFF2-40B4-BE49-F238E27FC236}">
                <a16:creationId xmlns:a16="http://schemas.microsoft.com/office/drawing/2014/main" id="{C101694C-1913-4495-A9F7-718F304D35ED}"/>
              </a:ext>
            </a:extLst>
          </p:cNvPr>
          <p:cNvSpPr>
            <a:spLocks noGrp="1"/>
          </p:cNvSpPr>
          <p:nvPr/>
        </p:nvSpPr>
        <p:spPr>
          <a:xfrm>
            <a:off x="495300" y="1666875"/>
            <a:ext cx="3286125" cy="1285875"/>
          </a:xfrm>
          <a:prstGeom prst="rect">
            <a:avLst/>
          </a:prstGeom>
          <a:noFill/>
          <a:ln w="0">
            <a:noFill/>
          </a:ln>
        </p:spPr>
        <p:txBody>
          <a:bodyPr anchor="t">
            <a:noAutofit/>
          </a:bodyPr>
          <a:lstStyle/>
          <a:p>
            <a:pPr>
              <a:defRPr sz="1650" b="0">
                <a:solidFill>
                  <a:srgbClr val="202D3C"/>
                </a:solidFill>
                <a:latin typeface="Aptos"/>
                <a:ea typeface="Aptos"/>
                <a:cs typeface="Aptos"/>
              </a:defRPr>
            </a:pPr>
            <a:r>
              <a:rPr sz="1650" b="0">
                <a:solidFill>
                  <a:srgbClr val="202D3C"/>
                </a:solidFill>
                <a:latin typeface="Aptos"/>
                <a:ea typeface="Aptos"/>
                <a:cs typeface="Aptos"/>
              </a:rPr>
              <a:t>This illustrative pure mode has one oscillation frequency. Both absolute angles change sign together.</a:t>
            </a:r>
          </a:p>
        </p:txBody>
      </p:sp>
      <p:sp>
        <p:nvSpPr>
          <p:cNvPr id="4" name="body1">
            <a:extLst>
              <a:ext uri="{FF2B5EF4-FFF2-40B4-BE49-F238E27FC236}">
                <a16:creationId xmlns:a16="http://schemas.microsoft.com/office/drawing/2014/main" id="{1BD4F7F6-7486-4B78-A87D-2F1E7DA30DE5}"/>
              </a:ext>
            </a:extLst>
          </p:cNvPr>
          <p:cNvSpPr>
            <a:spLocks noGrp="1"/>
          </p:cNvSpPr>
          <p:nvPr/>
        </p:nvSpPr>
        <p:spPr>
          <a:xfrm>
            <a:off x="495300" y="3048000"/>
            <a:ext cx="3286125" cy="1285875"/>
          </a:xfrm>
          <a:prstGeom prst="rect">
            <a:avLst/>
          </a:prstGeom>
          <a:noFill/>
          <a:ln w="0">
            <a:noFill/>
          </a:ln>
        </p:spPr>
        <p:txBody>
          <a:bodyPr anchor="t">
            <a:noAutofit/>
          </a:bodyPr>
          <a:lstStyle/>
          <a:p>
            <a:pPr>
              <a:defRPr sz="1650" b="0">
                <a:solidFill>
                  <a:srgbClr val="202D3C"/>
                </a:solidFill>
                <a:latin typeface="Aptos"/>
                <a:ea typeface="Aptos"/>
                <a:cs typeface="Aptos"/>
              </a:defRPr>
            </a:pPr>
            <a:r>
              <a:rPr sz="1650" b="0">
                <a:solidFill>
                  <a:srgbClr val="202D3C"/>
                </a:solidFill>
                <a:latin typeface="Aptos"/>
                <a:ea typeface="Aptos"/>
                <a:cs typeface="Aptos"/>
              </a:rPr>
              <a:t>The two amplitudes are different. Their ratio comes from the eigenvector, using the Pre-Lab 3 masses and lengths.</a:t>
            </a:r>
          </a:p>
        </p:txBody>
      </p:sp>
      <p:sp>
        <p:nvSpPr>
          <p:cNvPr id="5" name="body2">
            <a:extLst>
              <a:ext uri="{FF2B5EF4-FFF2-40B4-BE49-F238E27FC236}">
                <a16:creationId xmlns:a16="http://schemas.microsoft.com/office/drawing/2014/main" id="{98E7734F-F297-4CD0-811A-0FC22A74EF0E}"/>
              </a:ext>
            </a:extLst>
          </p:cNvPr>
          <p:cNvSpPr>
            <a:spLocks noGrp="1"/>
          </p:cNvSpPr>
          <p:nvPr/>
        </p:nvSpPr>
        <p:spPr>
          <a:xfrm>
            <a:off x="495300" y="4429125"/>
            <a:ext cx="3286125" cy="1285875"/>
          </a:xfrm>
          <a:prstGeom prst="rect">
            <a:avLst/>
          </a:prstGeom>
          <a:noFill/>
          <a:ln w="0">
            <a:noFill/>
          </a:ln>
        </p:spPr>
        <p:txBody>
          <a:bodyPr anchor="t">
            <a:noAutofit/>
          </a:bodyPr>
          <a:lstStyle/>
          <a:p>
            <a:pPr>
              <a:defRPr sz="1650" b="0">
                <a:solidFill>
                  <a:srgbClr val="202D3C"/>
                </a:solidFill>
                <a:latin typeface="Aptos"/>
                <a:ea typeface="Aptos"/>
                <a:cs typeface="Aptos"/>
              </a:defRPr>
            </a:pPr>
            <a:r>
              <a:rPr sz="1650" b="0">
                <a:solidFill>
                  <a:srgbClr val="202D3C"/>
                </a:solidFill>
                <a:latin typeface="Aptos"/>
                <a:ea typeface="Aptos"/>
                <a:cs typeface="Aptos"/>
              </a:rPr>
              <a:t>The red and blue traces show the two link angles. The ideal spectral line shows the mode frequency.</a:t>
            </a:r>
          </a:p>
        </p:txBody>
      </p:sp>
      <p:pic>
        <p:nvPicPr>
          <p:cNvPr id="15" name="Picture 14"/>
          <p:cNvPicPr>
            <a:picLocks noChangeAspect="1"/>
          </p:cNvPicPr>
          <p:nvPr/>
        </p:nvPicPr>
        <p:blipFill>
          <a:blip r:embed="rId5"/>
          <a:stretch/>
        </p:blipFill>
        <p:spPr>
          <a:xfrm>
            <a:off x="4286250" y="1666875"/>
            <a:ext cx="7239000" cy="4071938"/>
          </a:xfrm>
          <a:prstGeom prst="rect">
            <a:avLst/>
          </a:prstGeom>
        </p:spPr>
      </p:pic>
      <p:sp>
        <p:nvSpPr>
          <p:cNvPr id="7" name="video_link">
            <a:hlinkClick r:id="rId6"/>
            <a:extLst>
              <a:ext uri="{FF2B5EF4-FFF2-40B4-BE49-F238E27FC236}">
                <a16:creationId xmlns:a16="http://schemas.microsoft.com/office/drawing/2014/main" id="{3CE9627C-F4A7-4DC2-9BA8-D4FECBA173D4}"/>
              </a:ext>
            </a:extLst>
          </p:cNvPr>
          <p:cNvSpPr>
            <a:spLocks noGrp="1"/>
          </p:cNvSpPr>
          <p:nvPr/>
        </p:nvSpPr>
        <p:spPr>
          <a:xfrm>
            <a:off x="4286250" y="5905500"/>
            <a:ext cx="7239000" cy="304800"/>
          </a:xfrm>
          <a:prstGeom prst="rect">
            <a:avLst/>
          </a:prstGeom>
          <a:noFill/>
          <a:ln w="0">
            <a:noFill/>
          </a:ln>
        </p:spPr>
        <p:txBody>
          <a:bodyPr anchor="t">
            <a:noAutofit/>
          </a:bodyPr>
          <a:lstStyle/>
          <a:p>
            <a:pPr>
              <a:defRPr sz="1650" b="1">
                <a:solidFill>
                  <a:srgbClr val="881C1C"/>
                </a:solidFill>
                <a:latin typeface="Aptos"/>
                <a:ea typeface="Aptos"/>
                <a:cs typeface="Aptos"/>
              </a:defRPr>
            </a:pPr>
            <a:r>
              <a:rPr sz="1650" b="1">
                <a:solidFill>
                  <a:srgbClr val="881C1C"/>
                </a:solidFill>
                <a:latin typeface="Aptos"/>
                <a:ea typeface="Aptos"/>
                <a:cs typeface="Aptos"/>
              </a:rPr>
              <a:t>Play video online (also works from PDF)</a:t>
            </a:r>
          </a:p>
        </p:txBody>
      </p:sp>
      <p:sp>
        <p:nvSpPr>
          <p:cNvPr id="8" name="video_source">
            <a:extLst>
              <a:ext uri="{FF2B5EF4-FFF2-40B4-BE49-F238E27FC236}">
                <a16:creationId xmlns:a16="http://schemas.microsoft.com/office/drawing/2014/main" id="{63F4664C-E373-42F6-AAD1-76EDD9AE1388}"/>
              </a:ext>
            </a:extLst>
          </p:cNvPr>
          <p:cNvSpPr>
            <a:spLocks noGrp="1"/>
          </p:cNvSpPr>
          <p:nvPr/>
        </p:nvSpPr>
        <p:spPr>
          <a:xfrm>
            <a:off x="495300" y="6324600"/>
            <a:ext cx="10763250" cy="285750"/>
          </a:xfrm>
          <a:prstGeom prst="rect">
            <a:avLst/>
          </a:prstGeom>
          <a:noFill/>
          <a:ln w="0">
            <a:noFill/>
          </a:ln>
        </p:spPr>
        <p:txBody>
          <a:bodyPr anchor="t">
            <a:noAutofit/>
          </a:bodyPr>
          <a:lstStyle/>
          <a:p>
            <a:pPr>
              <a:defRPr sz="900" b="0">
                <a:solidFill>
                  <a:srgbClr val="6B7280"/>
                </a:solidFill>
                <a:latin typeface="Aptos"/>
                <a:ea typeface="Aptos"/>
                <a:cs typeface="Aptos"/>
              </a:defRPr>
            </a:pPr>
            <a:r>
              <a:rPr sz="900" b="0">
                <a:solidFill>
                  <a:srgbClr val="6B7280"/>
                </a:solidFill>
                <a:latin typeface="Aptos"/>
                <a:ea typeface="Aptos"/>
                <a:cs typeface="Aptos"/>
              </a:rPr>
              <a:t>Computed from the Lecture 04 linear model and Pre-Lab 3 illustrative parameters. 12 s simulation.</a:t>
            </a:r>
          </a:p>
        </p:txBody>
      </p:sp>
      <p:sp>
        <p:nvSpPr>
          <p:cNvPr id="9" name="page">
            <a:extLst>
              <a:ext uri="{FF2B5EF4-FFF2-40B4-BE49-F238E27FC236}">
                <a16:creationId xmlns:a16="http://schemas.microsoft.com/office/drawing/2014/main" id="{0CC8CC1D-CBB4-4885-B6B8-6779F4D49FEE}"/>
              </a:ext>
            </a:extLst>
          </p:cNvPr>
          <p:cNvSpPr>
            <a:spLocks noGrp="1"/>
          </p:cNvSpPr>
          <p:nvPr/>
        </p:nvSpPr>
        <p:spPr>
          <a:xfrm>
            <a:off x="11449050" y="6515100"/>
            <a:ext cx="333375" cy="190500"/>
          </a:xfrm>
          <a:prstGeom prst="rect">
            <a:avLst/>
          </a:prstGeom>
          <a:noFill/>
          <a:ln w="0">
            <a:noFill/>
          </a:ln>
        </p:spPr>
        <p:txBody>
          <a:bodyPr anchor="t">
            <a:noAutofit/>
          </a:bodyPr>
          <a:lstStyle/>
          <a:p>
            <a:pPr>
              <a:defRPr sz="1050" b="0">
                <a:solidFill>
                  <a:srgbClr val="6B7280"/>
                </a:solidFill>
                <a:latin typeface="Aptos"/>
                <a:ea typeface="Aptos"/>
                <a:cs typeface="Aptos"/>
              </a:defRPr>
            </a:pPr>
            <a:r>
              <a:rPr sz="1050" b="0">
                <a:solidFill>
                  <a:srgbClr val="6B7280"/>
                </a:solidFill>
                <a:latin typeface="Aptos"/>
                <a:ea typeface="Aptos"/>
                <a:cs typeface="Aptos"/>
              </a:rPr>
              <a:t>29</a:t>
            </a:r>
          </a:p>
        </p:txBody>
      </p:sp>
      <p:pic>
        <p:nvPicPr>
          <p:cNvPr id="6" name="Embedded_lab3-mode1">
            <a:hlinkClick action="ppaction://ole?verb=0"/>
            <a:extLst>
              <a:ext uri="{FF2B5EF4-FFF2-40B4-BE49-F238E27FC236}">
                <a16:creationId xmlns:a16="http://schemas.microsoft.com/office/drawing/2014/main" id="{B75154DB-00B2-BAD2-1FD3-0D14CEBB804A}"/>
              </a:ext>
            </a:extLst>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4286250" y="1666875"/>
            <a:ext cx="7239000" cy="4071938"/>
          </a:xfrm>
          <a:prstGeom prst="rect">
            <a:avLst/>
          </a:prstGeom>
        </p:spPr>
      </p:pic>
    </p:spTree>
    <p:extLst>
      <p:ext uri="{BB962C8B-B14F-4D97-AF65-F5344CB8AC3E}">
        <p14:creationId xmlns:p14="http://schemas.microsoft.com/office/powerpoint/2010/main" val="750857998"/>
      </p:ext>
    </p:extLst>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6"/>
                    </p:tgtEl>
                  </p:cond>
                </p:stCondLst>
                <p:endSync evt="end" delay="0">
                  <p:rtn val="all"/>
                </p:endSync>
                <p:childTnLst>
                  <p:par>
                    <p:cTn id="3" fill="hold">
                      <p:stCondLst>
                        <p:cond delay="0"/>
                      </p:stCondLst>
                      <p:childTnLst>
                        <p:par>
                          <p:cTn id="4" fill="hold">
                            <p:stCondLst>
                              <p:cond delay="0"/>
                            </p:stCondLst>
                            <p:childTnLst>
                              <p:par>
                                <p:cTn id="5" presetID="2" presetClass="mediacall" presetSubtype="0" fill="hold" nodeType="clickEffect">
                                  <p:stCondLst>
                                    <p:cond delay="0"/>
                                  </p:stCondLst>
                                  <p:childTnLst>
                                    <p:cmd type="call" cmd="togglePause">
                                      <p:cBhvr>
                                        <p:cTn id="6" dur="1" fill="hold"/>
                                        <p:tgtEl>
                                          <p:spTgt spid="6"/>
                                        </p:tgtEl>
                                      </p:cBhvr>
                                    </p:cmd>
                                  </p:childTnLst>
                                </p:cTn>
                              </p:par>
                            </p:childTnLst>
                          </p:cTn>
                        </p:par>
                      </p:childTnLst>
                    </p:cTn>
                  </p:par>
                </p:childTnLst>
              </p:cTn>
              <p:nextCondLst>
                <p:cond evt="onClick" delay="0">
                  <p:tgtEl>
                    <p:spTgt spid="6"/>
                  </p:tgtEl>
                </p:cond>
              </p:nextCondLst>
            </p:seq>
            <p:video>
              <p:cMediaNode vol="80000">
                <p:cTn id="7" fill="hold" display="0">
                  <p:stCondLst>
                    <p:cond delay="indefinite"/>
                  </p:stCondLst>
                </p:cTn>
                <p:tgtEl>
                  <p:spTgt spid="6"/>
                </p:tgtEl>
              </p:cMediaNode>
            </p:video>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course">
            <a:extLst>
              <a:ext uri="{FF2B5EF4-FFF2-40B4-BE49-F238E27FC236}">
                <a16:creationId xmlns:a16="http://schemas.microsoft.com/office/drawing/2014/main" id="{4299E3EF-ACE8-4E19-8675-61E0CC49B969}"/>
              </a:ext>
            </a:extLst>
          </p:cNvPr>
          <p:cNvSpPr>
            <a:spLocks noGrp="1"/>
          </p:cNvSpPr>
          <p:nvPr/>
        </p:nvSpPr>
        <p:spPr>
          <a:xfrm>
            <a:off x="495300" y="190500"/>
            <a:ext cx="8572500" cy="285750"/>
          </a:xfrm>
          <a:prstGeom prst="rect">
            <a:avLst/>
          </a:prstGeom>
          <a:noFill/>
          <a:ln w="0">
            <a:noFill/>
          </a:ln>
        </p:spPr>
        <p:txBody>
          <a:bodyPr anchor="t">
            <a:noAutofit/>
          </a:bodyPr>
          <a:lstStyle/>
          <a:p>
            <a:pPr>
              <a:defRPr sz="1275" b="1">
                <a:solidFill>
                  <a:srgbClr val="881C1C"/>
                </a:solidFill>
                <a:latin typeface="Aptos"/>
                <a:ea typeface="Aptos"/>
                <a:cs typeface="Aptos"/>
              </a:defRPr>
            </a:pPr>
            <a:r>
              <a:rPr sz="1275" b="1">
                <a:solidFill>
                  <a:srgbClr val="881C1C"/>
                </a:solidFill>
                <a:latin typeface="Aptos"/>
                <a:ea typeface="Aptos"/>
                <a:cs typeface="Aptos"/>
              </a:rPr>
              <a:t>MIE 402   ME LAB II</a:t>
            </a:r>
          </a:p>
        </p:txBody>
      </p:sp>
      <p:sp>
        <p:nvSpPr>
          <p:cNvPr id="2" name="title">
            <a:extLst>
              <a:ext uri="{FF2B5EF4-FFF2-40B4-BE49-F238E27FC236}">
                <a16:creationId xmlns:a16="http://schemas.microsoft.com/office/drawing/2014/main" id="{C7E3C6F6-5408-46F6-B4EB-72EC636DD391}"/>
              </a:ext>
            </a:extLst>
          </p:cNvPr>
          <p:cNvSpPr>
            <a:spLocks noGrp="1"/>
          </p:cNvSpPr>
          <p:nvPr/>
        </p:nvSpPr>
        <p:spPr>
          <a:xfrm>
            <a:off x="495300" y="666750"/>
            <a:ext cx="11125200" cy="742950"/>
          </a:xfrm>
          <a:prstGeom prst="rect">
            <a:avLst/>
          </a:prstGeom>
          <a:noFill/>
          <a:ln w="0">
            <a:noFill/>
          </a:ln>
        </p:spPr>
        <p:txBody>
          <a:bodyPr anchor="t">
            <a:noAutofit/>
          </a:bodyPr>
          <a:lstStyle/>
          <a:p>
            <a:pPr>
              <a:defRPr sz="2925" b="1">
                <a:solidFill>
                  <a:srgbClr val="152437"/>
                </a:solidFill>
                <a:latin typeface="Aptos"/>
                <a:ea typeface="Aptos"/>
                <a:cs typeface="Aptos"/>
              </a:defRPr>
            </a:pPr>
            <a:r>
              <a:rPr sz="2925" b="1">
                <a:solidFill>
                  <a:srgbClr val="152437"/>
                </a:solidFill>
                <a:latin typeface="Aptos"/>
                <a:ea typeface="Aptos"/>
                <a:cs typeface="Aptos"/>
              </a:rPr>
              <a:t>Watch mode 2: the two angles have opposite signs</a:t>
            </a:r>
          </a:p>
        </p:txBody>
      </p:sp>
      <p:sp>
        <p:nvSpPr>
          <p:cNvPr id="3" name="body0">
            <a:extLst>
              <a:ext uri="{FF2B5EF4-FFF2-40B4-BE49-F238E27FC236}">
                <a16:creationId xmlns:a16="http://schemas.microsoft.com/office/drawing/2014/main" id="{12156888-13E2-4628-99C9-A4E259F065E7}"/>
              </a:ext>
            </a:extLst>
          </p:cNvPr>
          <p:cNvSpPr>
            <a:spLocks noGrp="1"/>
          </p:cNvSpPr>
          <p:nvPr/>
        </p:nvSpPr>
        <p:spPr>
          <a:xfrm>
            <a:off x="495300" y="1666875"/>
            <a:ext cx="3286125" cy="1285875"/>
          </a:xfrm>
          <a:prstGeom prst="rect">
            <a:avLst/>
          </a:prstGeom>
          <a:noFill/>
          <a:ln w="0">
            <a:noFill/>
          </a:ln>
        </p:spPr>
        <p:txBody>
          <a:bodyPr anchor="t">
            <a:noAutofit/>
          </a:bodyPr>
          <a:lstStyle/>
          <a:p>
            <a:pPr>
              <a:defRPr sz="1650" b="0">
                <a:solidFill>
                  <a:srgbClr val="202D3C"/>
                </a:solidFill>
                <a:latin typeface="Aptos"/>
                <a:ea typeface="Aptos"/>
                <a:cs typeface="Aptos"/>
              </a:defRPr>
            </a:pPr>
            <a:r>
              <a:rPr sz="1650" b="0">
                <a:solidFill>
                  <a:srgbClr val="202D3C"/>
                </a:solidFill>
                <a:latin typeface="Aptos"/>
                <a:ea typeface="Aptos"/>
                <a:cs typeface="Aptos"/>
              </a:rPr>
              <a:t>The upper and lower absolute angles have opposite signs at each instant in this pure mode.</a:t>
            </a:r>
          </a:p>
        </p:txBody>
      </p:sp>
      <p:sp>
        <p:nvSpPr>
          <p:cNvPr id="4" name="body1">
            <a:extLst>
              <a:ext uri="{FF2B5EF4-FFF2-40B4-BE49-F238E27FC236}">
                <a16:creationId xmlns:a16="http://schemas.microsoft.com/office/drawing/2014/main" id="{815C6E4F-8F6F-4A68-9935-A941048BD92B}"/>
              </a:ext>
            </a:extLst>
          </p:cNvPr>
          <p:cNvSpPr>
            <a:spLocks noGrp="1"/>
          </p:cNvSpPr>
          <p:nvPr/>
        </p:nvSpPr>
        <p:spPr>
          <a:xfrm>
            <a:off x="495300" y="3048000"/>
            <a:ext cx="3286125" cy="1285875"/>
          </a:xfrm>
          <a:prstGeom prst="rect">
            <a:avLst/>
          </a:prstGeom>
          <a:noFill/>
          <a:ln w="0">
            <a:noFill/>
          </a:ln>
        </p:spPr>
        <p:txBody>
          <a:bodyPr anchor="t">
            <a:noAutofit/>
          </a:bodyPr>
          <a:lstStyle/>
          <a:p>
            <a:pPr>
              <a:defRPr sz="1650" b="0">
                <a:solidFill>
                  <a:srgbClr val="202D3C"/>
                </a:solidFill>
                <a:latin typeface="Aptos"/>
                <a:ea typeface="Aptos"/>
                <a:cs typeface="Aptos"/>
              </a:defRPr>
            </a:pPr>
            <a:r>
              <a:rPr sz="1650" b="0">
                <a:solidFill>
                  <a:srgbClr val="202D3C"/>
                </a:solidFill>
                <a:latin typeface="Aptos"/>
                <a:ea typeface="Aptos"/>
                <a:cs typeface="Aptos"/>
              </a:rPr>
              <a:t>This is the higher of the two natural frequencies for these illustrative parameters.</a:t>
            </a:r>
          </a:p>
        </p:txBody>
      </p:sp>
      <p:sp>
        <p:nvSpPr>
          <p:cNvPr id="5" name="body2">
            <a:extLst>
              <a:ext uri="{FF2B5EF4-FFF2-40B4-BE49-F238E27FC236}">
                <a16:creationId xmlns:a16="http://schemas.microsoft.com/office/drawing/2014/main" id="{73DE5AD2-A549-4E90-B851-798770498572}"/>
              </a:ext>
            </a:extLst>
          </p:cNvPr>
          <p:cNvSpPr>
            <a:spLocks noGrp="1"/>
          </p:cNvSpPr>
          <p:nvPr/>
        </p:nvSpPr>
        <p:spPr>
          <a:xfrm>
            <a:off x="495300" y="4429125"/>
            <a:ext cx="3286125" cy="1285875"/>
          </a:xfrm>
          <a:prstGeom prst="rect">
            <a:avLst/>
          </a:prstGeom>
          <a:noFill/>
          <a:ln w="0">
            <a:noFill/>
          </a:ln>
        </p:spPr>
        <p:txBody>
          <a:bodyPr anchor="t">
            <a:noAutofit/>
          </a:bodyPr>
          <a:lstStyle/>
          <a:p>
            <a:pPr>
              <a:defRPr sz="1650" b="0">
                <a:solidFill>
                  <a:srgbClr val="202D3C"/>
                </a:solidFill>
                <a:latin typeface="Aptos"/>
                <a:ea typeface="Aptos"/>
                <a:cs typeface="Aptos"/>
              </a:defRPr>
            </a:pPr>
            <a:r>
              <a:rPr sz="1650" b="0">
                <a:solidFill>
                  <a:srgbClr val="202D3C"/>
                </a:solidFill>
                <a:latin typeface="Aptos"/>
                <a:ea typeface="Aptos"/>
                <a:cs typeface="Aptos"/>
              </a:rPr>
              <a:t>Watch the angle traces as well as the moving bobs. Bob displacement direction alone can be misleading.</a:t>
            </a:r>
          </a:p>
        </p:txBody>
      </p:sp>
      <p:pic>
        <p:nvPicPr>
          <p:cNvPr id="15" name="Picture 14"/>
          <p:cNvPicPr>
            <a:picLocks noChangeAspect="1"/>
          </p:cNvPicPr>
          <p:nvPr/>
        </p:nvPicPr>
        <p:blipFill>
          <a:blip r:embed="rId5"/>
          <a:stretch/>
        </p:blipFill>
        <p:spPr>
          <a:xfrm>
            <a:off x="4286250" y="1666875"/>
            <a:ext cx="7239000" cy="4071938"/>
          </a:xfrm>
          <a:prstGeom prst="rect">
            <a:avLst/>
          </a:prstGeom>
        </p:spPr>
      </p:pic>
      <p:sp>
        <p:nvSpPr>
          <p:cNvPr id="7" name="video_link">
            <a:hlinkClick r:id="rId6"/>
            <a:extLst>
              <a:ext uri="{FF2B5EF4-FFF2-40B4-BE49-F238E27FC236}">
                <a16:creationId xmlns:a16="http://schemas.microsoft.com/office/drawing/2014/main" id="{C8F6A683-F0D0-4802-894A-390E5E1E8F66}"/>
              </a:ext>
            </a:extLst>
          </p:cNvPr>
          <p:cNvSpPr>
            <a:spLocks noGrp="1"/>
          </p:cNvSpPr>
          <p:nvPr/>
        </p:nvSpPr>
        <p:spPr>
          <a:xfrm>
            <a:off x="4286250" y="5905500"/>
            <a:ext cx="7239000" cy="304800"/>
          </a:xfrm>
          <a:prstGeom prst="rect">
            <a:avLst/>
          </a:prstGeom>
          <a:noFill/>
          <a:ln w="0">
            <a:noFill/>
          </a:ln>
        </p:spPr>
        <p:txBody>
          <a:bodyPr anchor="t">
            <a:noAutofit/>
          </a:bodyPr>
          <a:lstStyle/>
          <a:p>
            <a:pPr>
              <a:defRPr sz="1650" b="1">
                <a:solidFill>
                  <a:srgbClr val="881C1C"/>
                </a:solidFill>
                <a:latin typeface="Aptos"/>
                <a:ea typeface="Aptos"/>
                <a:cs typeface="Aptos"/>
              </a:defRPr>
            </a:pPr>
            <a:r>
              <a:rPr sz="1650" b="1">
                <a:solidFill>
                  <a:srgbClr val="881C1C"/>
                </a:solidFill>
                <a:latin typeface="Aptos"/>
                <a:ea typeface="Aptos"/>
                <a:cs typeface="Aptos"/>
              </a:rPr>
              <a:t>Play video online (also works from PDF)</a:t>
            </a:r>
          </a:p>
        </p:txBody>
      </p:sp>
      <p:sp>
        <p:nvSpPr>
          <p:cNvPr id="8" name="video_source">
            <a:extLst>
              <a:ext uri="{FF2B5EF4-FFF2-40B4-BE49-F238E27FC236}">
                <a16:creationId xmlns:a16="http://schemas.microsoft.com/office/drawing/2014/main" id="{3BD6C89A-BAC9-4397-8D2C-DF81E8DE9A79}"/>
              </a:ext>
            </a:extLst>
          </p:cNvPr>
          <p:cNvSpPr>
            <a:spLocks noGrp="1"/>
          </p:cNvSpPr>
          <p:nvPr/>
        </p:nvSpPr>
        <p:spPr>
          <a:xfrm>
            <a:off x="495300" y="6324600"/>
            <a:ext cx="10763250" cy="285750"/>
          </a:xfrm>
          <a:prstGeom prst="rect">
            <a:avLst/>
          </a:prstGeom>
          <a:noFill/>
          <a:ln w="0">
            <a:noFill/>
          </a:ln>
        </p:spPr>
        <p:txBody>
          <a:bodyPr anchor="t">
            <a:noAutofit/>
          </a:bodyPr>
          <a:lstStyle/>
          <a:p>
            <a:pPr>
              <a:defRPr sz="900" b="0">
                <a:solidFill>
                  <a:srgbClr val="6B7280"/>
                </a:solidFill>
                <a:latin typeface="Aptos"/>
                <a:ea typeface="Aptos"/>
                <a:cs typeface="Aptos"/>
              </a:defRPr>
            </a:pPr>
            <a:r>
              <a:rPr sz="900" b="0">
                <a:solidFill>
                  <a:srgbClr val="6B7280"/>
                </a:solidFill>
                <a:latin typeface="Aptos"/>
                <a:ea typeface="Aptos"/>
                <a:cs typeface="Aptos"/>
              </a:rPr>
              <a:t>Computed from the Lecture 04 linear model and Pre-Lab 3 illustrative parameters. 12 s simulation.</a:t>
            </a:r>
          </a:p>
        </p:txBody>
      </p:sp>
      <p:sp>
        <p:nvSpPr>
          <p:cNvPr id="9" name="page">
            <a:extLst>
              <a:ext uri="{FF2B5EF4-FFF2-40B4-BE49-F238E27FC236}">
                <a16:creationId xmlns:a16="http://schemas.microsoft.com/office/drawing/2014/main" id="{B10A1046-3D14-4FD2-AE87-4C0342FEF2CA}"/>
              </a:ext>
            </a:extLst>
          </p:cNvPr>
          <p:cNvSpPr>
            <a:spLocks noGrp="1"/>
          </p:cNvSpPr>
          <p:nvPr/>
        </p:nvSpPr>
        <p:spPr>
          <a:xfrm>
            <a:off x="11449050" y="6515100"/>
            <a:ext cx="333375" cy="190500"/>
          </a:xfrm>
          <a:prstGeom prst="rect">
            <a:avLst/>
          </a:prstGeom>
          <a:noFill/>
          <a:ln w="0">
            <a:noFill/>
          </a:ln>
        </p:spPr>
        <p:txBody>
          <a:bodyPr anchor="t">
            <a:noAutofit/>
          </a:bodyPr>
          <a:lstStyle/>
          <a:p>
            <a:pPr>
              <a:defRPr sz="1050" b="0">
                <a:solidFill>
                  <a:srgbClr val="6B7280"/>
                </a:solidFill>
                <a:latin typeface="Aptos"/>
                <a:ea typeface="Aptos"/>
                <a:cs typeface="Aptos"/>
              </a:defRPr>
            </a:pPr>
            <a:r>
              <a:rPr sz="1050" b="0">
                <a:solidFill>
                  <a:srgbClr val="6B7280"/>
                </a:solidFill>
                <a:latin typeface="Aptos"/>
                <a:ea typeface="Aptos"/>
                <a:cs typeface="Aptos"/>
              </a:rPr>
              <a:t>30</a:t>
            </a:r>
          </a:p>
        </p:txBody>
      </p:sp>
      <p:pic>
        <p:nvPicPr>
          <p:cNvPr id="6" name="Embedded_lab3-mode2">
            <a:hlinkClick action="ppaction://ole?verb=0"/>
            <a:extLst>
              <a:ext uri="{FF2B5EF4-FFF2-40B4-BE49-F238E27FC236}">
                <a16:creationId xmlns:a16="http://schemas.microsoft.com/office/drawing/2014/main" id="{BC32B4D9-BEAA-94CE-101A-ED19230902B7}"/>
              </a:ext>
            </a:extLst>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4286250" y="1666875"/>
            <a:ext cx="7239000" cy="4071938"/>
          </a:xfrm>
          <a:prstGeom prst="rect">
            <a:avLst/>
          </a:prstGeom>
        </p:spPr>
      </p:pic>
    </p:spTree>
    <p:extLst>
      <p:ext uri="{BB962C8B-B14F-4D97-AF65-F5344CB8AC3E}">
        <p14:creationId xmlns:p14="http://schemas.microsoft.com/office/powerpoint/2010/main" val="1888904073"/>
      </p:ext>
    </p:extLst>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6"/>
                    </p:tgtEl>
                  </p:cond>
                </p:stCondLst>
                <p:endSync evt="end" delay="0">
                  <p:rtn val="all"/>
                </p:endSync>
                <p:childTnLst>
                  <p:par>
                    <p:cTn id="3" fill="hold">
                      <p:stCondLst>
                        <p:cond delay="0"/>
                      </p:stCondLst>
                      <p:childTnLst>
                        <p:par>
                          <p:cTn id="4" fill="hold">
                            <p:stCondLst>
                              <p:cond delay="0"/>
                            </p:stCondLst>
                            <p:childTnLst>
                              <p:par>
                                <p:cTn id="5" presetID="2" presetClass="mediacall" presetSubtype="0" fill="hold" nodeType="clickEffect">
                                  <p:stCondLst>
                                    <p:cond delay="0"/>
                                  </p:stCondLst>
                                  <p:childTnLst>
                                    <p:cmd type="call" cmd="togglePause">
                                      <p:cBhvr>
                                        <p:cTn id="6" dur="1" fill="hold"/>
                                        <p:tgtEl>
                                          <p:spTgt spid="6"/>
                                        </p:tgtEl>
                                      </p:cBhvr>
                                    </p:cmd>
                                  </p:childTnLst>
                                </p:cTn>
                              </p:par>
                            </p:childTnLst>
                          </p:cTn>
                        </p:par>
                      </p:childTnLst>
                    </p:cTn>
                  </p:par>
                </p:childTnLst>
              </p:cTn>
              <p:nextCondLst>
                <p:cond evt="onClick" delay="0">
                  <p:tgtEl>
                    <p:spTgt spid="6"/>
                  </p:tgtEl>
                </p:cond>
              </p:nextCondLst>
            </p:seq>
            <p:video>
              <p:cMediaNode vol="80000">
                <p:cTn id="7" fill="hold" display="0">
                  <p:stCondLst>
                    <p:cond delay="indefinite"/>
                  </p:stCondLst>
                </p:cTn>
                <p:tgtEl>
                  <p:spTgt spid="6"/>
                </p:tgtEl>
              </p:cMediaNode>
            </p:video>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course">
            <a:extLst>
              <a:ext uri="{FF2B5EF4-FFF2-40B4-BE49-F238E27FC236}">
                <a16:creationId xmlns:a16="http://schemas.microsoft.com/office/drawing/2014/main" id="{6C7AD1E4-F647-4BAA-BE27-9E6B89B826CA}"/>
              </a:ext>
            </a:extLst>
          </p:cNvPr>
          <p:cNvSpPr>
            <a:spLocks noGrp="1"/>
          </p:cNvSpPr>
          <p:nvPr/>
        </p:nvSpPr>
        <p:spPr>
          <a:xfrm>
            <a:off x="495300" y="190500"/>
            <a:ext cx="8572500" cy="285750"/>
          </a:xfrm>
          <a:prstGeom prst="rect">
            <a:avLst/>
          </a:prstGeom>
          <a:noFill/>
          <a:ln w="0">
            <a:noFill/>
          </a:ln>
        </p:spPr>
        <p:txBody>
          <a:bodyPr anchor="t">
            <a:noAutofit/>
          </a:bodyPr>
          <a:lstStyle/>
          <a:p>
            <a:pPr>
              <a:defRPr sz="1275" b="1">
                <a:solidFill>
                  <a:srgbClr val="881C1C"/>
                </a:solidFill>
                <a:latin typeface="Aptos"/>
                <a:ea typeface="Aptos"/>
                <a:cs typeface="Aptos"/>
              </a:defRPr>
            </a:pPr>
            <a:r>
              <a:rPr sz="1275" b="1">
                <a:solidFill>
                  <a:srgbClr val="881C1C"/>
                </a:solidFill>
                <a:latin typeface="Aptos"/>
                <a:ea typeface="Aptos"/>
                <a:cs typeface="Aptos"/>
              </a:rPr>
              <a:t>MIE 402   ME LAB II</a:t>
            </a:r>
          </a:p>
        </p:txBody>
      </p:sp>
      <p:sp>
        <p:nvSpPr>
          <p:cNvPr id="2" name="title">
            <a:extLst>
              <a:ext uri="{FF2B5EF4-FFF2-40B4-BE49-F238E27FC236}">
                <a16:creationId xmlns:a16="http://schemas.microsoft.com/office/drawing/2014/main" id="{2C406B02-F45A-4F60-B532-77F52929A09B}"/>
              </a:ext>
            </a:extLst>
          </p:cNvPr>
          <p:cNvSpPr>
            <a:spLocks noGrp="1"/>
          </p:cNvSpPr>
          <p:nvPr/>
        </p:nvSpPr>
        <p:spPr>
          <a:xfrm>
            <a:off x="495300" y="666750"/>
            <a:ext cx="11125200" cy="742950"/>
          </a:xfrm>
          <a:prstGeom prst="rect">
            <a:avLst/>
          </a:prstGeom>
          <a:noFill/>
          <a:ln w="0">
            <a:noFill/>
          </a:ln>
        </p:spPr>
        <p:txBody>
          <a:bodyPr anchor="t">
            <a:noAutofit/>
          </a:bodyPr>
          <a:lstStyle/>
          <a:p>
            <a:pPr>
              <a:defRPr sz="2925" b="1">
                <a:solidFill>
                  <a:srgbClr val="152437"/>
                </a:solidFill>
                <a:latin typeface="Aptos"/>
                <a:ea typeface="Aptos"/>
                <a:cs typeface="Aptos"/>
              </a:defRPr>
            </a:pPr>
            <a:r>
              <a:rPr sz="2925" b="1">
                <a:solidFill>
                  <a:srgbClr val="152437"/>
                </a:solidFill>
                <a:latin typeface="Aptos"/>
                <a:ea typeface="Aptos"/>
                <a:cs typeface="Aptos"/>
              </a:rPr>
              <a:t>Watch a mixture: two modes in one small motion</a:t>
            </a:r>
          </a:p>
        </p:txBody>
      </p:sp>
      <p:sp>
        <p:nvSpPr>
          <p:cNvPr id="3" name="body0">
            <a:extLst>
              <a:ext uri="{FF2B5EF4-FFF2-40B4-BE49-F238E27FC236}">
                <a16:creationId xmlns:a16="http://schemas.microsoft.com/office/drawing/2014/main" id="{DA02B3D1-7C9C-48E3-8310-3146C52A77D4}"/>
              </a:ext>
            </a:extLst>
          </p:cNvPr>
          <p:cNvSpPr>
            <a:spLocks noGrp="1"/>
          </p:cNvSpPr>
          <p:nvPr/>
        </p:nvSpPr>
        <p:spPr>
          <a:xfrm>
            <a:off x="495300" y="1666875"/>
            <a:ext cx="3286125" cy="1285875"/>
          </a:xfrm>
          <a:prstGeom prst="rect">
            <a:avLst/>
          </a:prstGeom>
          <a:noFill/>
          <a:ln w="0">
            <a:noFill/>
          </a:ln>
        </p:spPr>
        <p:txBody>
          <a:bodyPr anchor="t">
            <a:noAutofit/>
          </a:bodyPr>
          <a:lstStyle/>
          <a:p>
            <a:pPr>
              <a:defRPr sz="1650" b="0">
                <a:solidFill>
                  <a:srgbClr val="202D3C"/>
                </a:solidFill>
                <a:latin typeface="Aptos"/>
                <a:ea typeface="Aptos"/>
                <a:cs typeface="Aptos"/>
              </a:defRPr>
            </a:pPr>
            <a:r>
              <a:rPr sz="1650" b="0">
                <a:solidFill>
                  <a:srgbClr val="202D3C"/>
                </a:solidFill>
                <a:latin typeface="Aptos"/>
                <a:ea typeface="Aptos"/>
                <a:cs typeface="Aptos"/>
              </a:rPr>
              <a:t>This small motion adds contributions from both modes. Each angle trace contains two frequencies.</a:t>
            </a:r>
          </a:p>
        </p:txBody>
      </p:sp>
      <p:sp>
        <p:nvSpPr>
          <p:cNvPr id="4" name="body1">
            <a:extLst>
              <a:ext uri="{FF2B5EF4-FFF2-40B4-BE49-F238E27FC236}">
                <a16:creationId xmlns:a16="http://schemas.microsoft.com/office/drawing/2014/main" id="{5DF2C8EF-3369-473E-9A9C-654CDFCA561E}"/>
              </a:ext>
            </a:extLst>
          </p:cNvPr>
          <p:cNvSpPr>
            <a:spLocks noGrp="1"/>
          </p:cNvSpPr>
          <p:nvPr/>
        </p:nvSpPr>
        <p:spPr>
          <a:xfrm>
            <a:off x="495300" y="3048000"/>
            <a:ext cx="3286125" cy="1285875"/>
          </a:xfrm>
          <a:prstGeom prst="rect">
            <a:avLst/>
          </a:prstGeom>
          <a:noFill/>
          <a:ln w="0">
            <a:noFill/>
          </a:ln>
        </p:spPr>
        <p:txBody>
          <a:bodyPr anchor="t">
            <a:noAutofit/>
          </a:bodyPr>
          <a:lstStyle/>
          <a:p>
            <a:pPr>
              <a:defRPr sz="1650" b="0">
                <a:solidFill>
                  <a:srgbClr val="202D3C"/>
                </a:solidFill>
                <a:latin typeface="Aptos"/>
                <a:ea typeface="Aptos"/>
                <a:cs typeface="Aptos"/>
              </a:defRPr>
            </a:pPr>
            <a:r>
              <a:rPr sz="1650" b="0">
                <a:solidFill>
                  <a:srgbClr val="202D3C"/>
                </a:solidFill>
                <a:latin typeface="Aptos"/>
                <a:ea typeface="Aptos"/>
                <a:cs typeface="Aptos"/>
              </a:rPr>
              <a:t>The changing shape comes from adding the modes with different frequencies. It does not by itself indicate nonlinear motion.</a:t>
            </a:r>
          </a:p>
        </p:txBody>
      </p:sp>
      <p:sp>
        <p:nvSpPr>
          <p:cNvPr id="5" name="body2">
            <a:extLst>
              <a:ext uri="{FF2B5EF4-FFF2-40B4-BE49-F238E27FC236}">
                <a16:creationId xmlns:a16="http://schemas.microsoft.com/office/drawing/2014/main" id="{A9F2119E-7D6C-4E88-B3E3-7A181C4758D7}"/>
              </a:ext>
            </a:extLst>
          </p:cNvPr>
          <p:cNvSpPr>
            <a:spLocks noGrp="1"/>
          </p:cNvSpPr>
          <p:nvPr/>
        </p:nvSpPr>
        <p:spPr>
          <a:xfrm>
            <a:off x="495300" y="4429125"/>
            <a:ext cx="3286125" cy="1285875"/>
          </a:xfrm>
          <a:prstGeom prst="rect">
            <a:avLst/>
          </a:prstGeom>
          <a:noFill/>
          <a:ln w="0">
            <a:noFill/>
          </a:ln>
        </p:spPr>
        <p:txBody>
          <a:bodyPr anchor="t">
            <a:noAutofit/>
          </a:bodyPr>
          <a:lstStyle/>
          <a:p>
            <a:pPr>
              <a:defRPr sz="1650" b="0">
                <a:solidFill>
                  <a:srgbClr val="202D3C"/>
                </a:solidFill>
                <a:latin typeface="Aptos"/>
                <a:ea typeface="Aptos"/>
                <a:cs typeface="Aptos"/>
              </a:defRPr>
            </a:pPr>
            <a:r>
              <a:rPr sz="1650" b="0">
                <a:solidFill>
                  <a:srgbClr val="202D3C"/>
                </a:solidFill>
                <a:latin typeface="Aptos"/>
                <a:ea typeface="Aptos"/>
                <a:cs typeface="Aptos"/>
              </a:rPr>
              <a:t>The two ideal spectral lines explain why a measured FFT can contain two peaks. Finite-record FFT peaks may spread.</a:t>
            </a:r>
          </a:p>
        </p:txBody>
      </p:sp>
      <p:pic>
        <p:nvPicPr>
          <p:cNvPr id="15" name="Picture 14"/>
          <p:cNvPicPr>
            <a:picLocks noChangeAspect="1"/>
          </p:cNvPicPr>
          <p:nvPr/>
        </p:nvPicPr>
        <p:blipFill>
          <a:blip r:embed="rId5"/>
          <a:stretch/>
        </p:blipFill>
        <p:spPr>
          <a:xfrm>
            <a:off x="4286250" y="1666875"/>
            <a:ext cx="7239000" cy="4071938"/>
          </a:xfrm>
          <a:prstGeom prst="rect">
            <a:avLst/>
          </a:prstGeom>
        </p:spPr>
      </p:pic>
      <p:sp>
        <p:nvSpPr>
          <p:cNvPr id="7" name="video_link">
            <a:hlinkClick r:id="rId6"/>
            <a:extLst>
              <a:ext uri="{FF2B5EF4-FFF2-40B4-BE49-F238E27FC236}">
                <a16:creationId xmlns:a16="http://schemas.microsoft.com/office/drawing/2014/main" id="{E1EB094E-F369-4A42-8882-2B80172F005E}"/>
              </a:ext>
            </a:extLst>
          </p:cNvPr>
          <p:cNvSpPr>
            <a:spLocks noGrp="1"/>
          </p:cNvSpPr>
          <p:nvPr/>
        </p:nvSpPr>
        <p:spPr>
          <a:xfrm>
            <a:off x="4286250" y="5905500"/>
            <a:ext cx="7239000" cy="304800"/>
          </a:xfrm>
          <a:prstGeom prst="rect">
            <a:avLst/>
          </a:prstGeom>
          <a:noFill/>
          <a:ln w="0">
            <a:noFill/>
          </a:ln>
        </p:spPr>
        <p:txBody>
          <a:bodyPr anchor="t">
            <a:noAutofit/>
          </a:bodyPr>
          <a:lstStyle/>
          <a:p>
            <a:pPr>
              <a:defRPr sz="1650" b="1">
                <a:solidFill>
                  <a:srgbClr val="881C1C"/>
                </a:solidFill>
                <a:latin typeface="Aptos"/>
                <a:ea typeface="Aptos"/>
                <a:cs typeface="Aptos"/>
              </a:defRPr>
            </a:pPr>
            <a:r>
              <a:rPr sz="1650" b="1">
                <a:solidFill>
                  <a:srgbClr val="881C1C"/>
                </a:solidFill>
                <a:latin typeface="Aptos"/>
                <a:ea typeface="Aptos"/>
                <a:cs typeface="Aptos"/>
              </a:rPr>
              <a:t>Play video online (also works from PDF)</a:t>
            </a:r>
          </a:p>
        </p:txBody>
      </p:sp>
      <p:sp>
        <p:nvSpPr>
          <p:cNvPr id="8" name="video_source">
            <a:extLst>
              <a:ext uri="{FF2B5EF4-FFF2-40B4-BE49-F238E27FC236}">
                <a16:creationId xmlns:a16="http://schemas.microsoft.com/office/drawing/2014/main" id="{4520D81E-42CE-41DD-80E4-1733A40B7509}"/>
              </a:ext>
            </a:extLst>
          </p:cNvPr>
          <p:cNvSpPr>
            <a:spLocks noGrp="1"/>
          </p:cNvSpPr>
          <p:nvPr/>
        </p:nvSpPr>
        <p:spPr>
          <a:xfrm>
            <a:off x="495300" y="6324600"/>
            <a:ext cx="10763250" cy="285750"/>
          </a:xfrm>
          <a:prstGeom prst="rect">
            <a:avLst/>
          </a:prstGeom>
          <a:noFill/>
          <a:ln w="0">
            <a:noFill/>
          </a:ln>
        </p:spPr>
        <p:txBody>
          <a:bodyPr anchor="t">
            <a:noAutofit/>
          </a:bodyPr>
          <a:lstStyle/>
          <a:p>
            <a:pPr>
              <a:defRPr sz="900" b="0">
                <a:solidFill>
                  <a:srgbClr val="6B7280"/>
                </a:solidFill>
                <a:latin typeface="Aptos"/>
                <a:ea typeface="Aptos"/>
                <a:cs typeface="Aptos"/>
              </a:defRPr>
            </a:pPr>
            <a:r>
              <a:rPr sz="900" b="0">
                <a:solidFill>
                  <a:srgbClr val="6B7280"/>
                </a:solidFill>
                <a:latin typeface="Aptos"/>
                <a:ea typeface="Aptos"/>
                <a:cs typeface="Aptos"/>
              </a:rPr>
              <a:t>Computed superposition of the two Lecture 04 linear modes. Ideal spectral lines are not an FFT of a finite record.</a:t>
            </a:r>
          </a:p>
        </p:txBody>
      </p:sp>
      <p:sp>
        <p:nvSpPr>
          <p:cNvPr id="9" name="page">
            <a:extLst>
              <a:ext uri="{FF2B5EF4-FFF2-40B4-BE49-F238E27FC236}">
                <a16:creationId xmlns:a16="http://schemas.microsoft.com/office/drawing/2014/main" id="{591B3F7A-92BB-4C66-9F0C-CAA9B3788AFA}"/>
              </a:ext>
            </a:extLst>
          </p:cNvPr>
          <p:cNvSpPr>
            <a:spLocks noGrp="1"/>
          </p:cNvSpPr>
          <p:nvPr/>
        </p:nvSpPr>
        <p:spPr>
          <a:xfrm>
            <a:off x="11449050" y="6515100"/>
            <a:ext cx="333375" cy="190500"/>
          </a:xfrm>
          <a:prstGeom prst="rect">
            <a:avLst/>
          </a:prstGeom>
          <a:noFill/>
          <a:ln w="0">
            <a:noFill/>
          </a:ln>
        </p:spPr>
        <p:txBody>
          <a:bodyPr anchor="t">
            <a:noAutofit/>
          </a:bodyPr>
          <a:lstStyle/>
          <a:p>
            <a:pPr>
              <a:defRPr sz="1050" b="0">
                <a:solidFill>
                  <a:srgbClr val="6B7280"/>
                </a:solidFill>
                <a:latin typeface="Aptos"/>
                <a:ea typeface="Aptos"/>
                <a:cs typeface="Aptos"/>
              </a:defRPr>
            </a:pPr>
            <a:r>
              <a:rPr sz="1050" b="0">
                <a:solidFill>
                  <a:srgbClr val="6B7280"/>
                </a:solidFill>
                <a:latin typeface="Aptos"/>
                <a:ea typeface="Aptos"/>
                <a:cs typeface="Aptos"/>
              </a:rPr>
              <a:t>31</a:t>
            </a:r>
          </a:p>
        </p:txBody>
      </p:sp>
      <p:pic>
        <p:nvPicPr>
          <p:cNvPr id="6" name="Embedded_lab3-mixed">
            <a:hlinkClick action="ppaction://ole?verb=0"/>
            <a:extLst>
              <a:ext uri="{FF2B5EF4-FFF2-40B4-BE49-F238E27FC236}">
                <a16:creationId xmlns:a16="http://schemas.microsoft.com/office/drawing/2014/main" id="{B9C70E78-2A53-03D4-0904-AD223E1A44AA}"/>
              </a:ext>
            </a:extLst>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4286250" y="1666875"/>
            <a:ext cx="7239000" cy="4071938"/>
          </a:xfrm>
          <a:prstGeom prst="rect">
            <a:avLst/>
          </a:prstGeom>
        </p:spPr>
      </p:pic>
    </p:spTree>
    <p:extLst>
      <p:ext uri="{BB962C8B-B14F-4D97-AF65-F5344CB8AC3E}">
        <p14:creationId xmlns:p14="http://schemas.microsoft.com/office/powerpoint/2010/main" val="412327049"/>
      </p:ext>
    </p:extLst>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6"/>
                    </p:tgtEl>
                  </p:cond>
                </p:stCondLst>
                <p:endSync evt="end" delay="0">
                  <p:rtn val="all"/>
                </p:endSync>
                <p:childTnLst>
                  <p:par>
                    <p:cTn id="3" fill="hold">
                      <p:stCondLst>
                        <p:cond delay="0"/>
                      </p:stCondLst>
                      <p:childTnLst>
                        <p:par>
                          <p:cTn id="4" fill="hold">
                            <p:stCondLst>
                              <p:cond delay="0"/>
                            </p:stCondLst>
                            <p:childTnLst>
                              <p:par>
                                <p:cTn id="5" presetID="2" presetClass="mediacall" presetSubtype="0" fill="hold" nodeType="clickEffect">
                                  <p:stCondLst>
                                    <p:cond delay="0"/>
                                  </p:stCondLst>
                                  <p:childTnLst>
                                    <p:cmd type="call" cmd="togglePause">
                                      <p:cBhvr>
                                        <p:cTn id="6" dur="1" fill="hold"/>
                                        <p:tgtEl>
                                          <p:spTgt spid="6"/>
                                        </p:tgtEl>
                                      </p:cBhvr>
                                    </p:cmd>
                                  </p:childTnLst>
                                </p:cTn>
                              </p:par>
                            </p:childTnLst>
                          </p:cTn>
                        </p:par>
                      </p:childTnLst>
                    </p:cTn>
                  </p:par>
                </p:childTnLst>
              </p:cTn>
              <p:nextCondLst>
                <p:cond evt="onClick" delay="0">
                  <p:tgtEl>
                    <p:spTgt spid="6"/>
                  </p:tgtEl>
                </p:cond>
              </p:nextCondLst>
            </p:seq>
            <p:video>
              <p:cMediaNode vol="80000">
                <p:cTn id="7" fill="hold" display="0">
                  <p:stCondLst>
                    <p:cond delay="indefinite"/>
                  </p:stCondLst>
                </p:cTn>
                <p:tgtEl>
                  <p:spTgt spid="6"/>
                </p:tgtEl>
              </p:cMediaNode>
            </p:video>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course">
            <a:extLst>
              <a:ext uri="{FF2B5EF4-FFF2-40B4-BE49-F238E27FC236}">
                <a16:creationId xmlns:a16="http://schemas.microsoft.com/office/drawing/2014/main" id="{40416EDC-F6F8-432A-A3E9-7C58B48AA5B0}"/>
              </a:ext>
            </a:extLst>
          </p:cNvPr>
          <p:cNvSpPr>
            <a:spLocks noGrp="1"/>
          </p:cNvSpPr>
          <p:nvPr/>
        </p:nvSpPr>
        <p:spPr>
          <a:xfrm>
            <a:off x="495300" y="190500"/>
            <a:ext cx="8572500" cy="285750"/>
          </a:xfrm>
          <a:prstGeom prst="rect">
            <a:avLst/>
          </a:prstGeom>
          <a:noFill/>
          <a:ln w="0">
            <a:noFill/>
          </a:ln>
        </p:spPr>
        <p:txBody>
          <a:bodyPr anchor="t">
            <a:noAutofit/>
          </a:bodyPr>
          <a:lstStyle/>
          <a:p>
            <a:pPr>
              <a:defRPr sz="1275" b="1">
                <a:solidFill>
                  <a:srgbClr val="881C1C"/>
                </a:solidFill>
                <a:latin typeface="Aptos"/>
                <a:ea typeface="Aptos"/>
                <a:cs typeface="Aptos"/>
              </a:defRPr>
            </a:pPr>
            <a:r>
              <a:rPr sz="1275" b="1">
                <a:solidFill>
                  <a:srgbClr val="881C1C"/>
                </a:solidFill>
                <a:latin typeface="Aptos"/>
                <a:ea typeface="Aptos"/>
                <a:cs typeface="Aptos"/>
              </a:rPr>
              <a:t>MIE 402   ME LAB II</a:t>
            </a:r>
          </a:p>
        </p:txBody>
      </p:sp>
      <p:sp>
        <p:nvSpPr>
          <p:cNvPr id="2" name="title">
            <a:extLst>
              <a:ext uri="{FF2B5EF4-FFF2-40B4-BE49-F238E27FC236}">
                <a16:creationId xmlns:a16="http://schemas.microsoft.com/office/drawing/2014/main" id="{4C8D1345-F9B6-411F-9C03-02751B5D53DB}"/>
              </a:ext>
            </a:extLst>
          </p:cNvPr>
          <p:cNvSpPr>
            <a:spLocks noGrp="1"/>
          </p:cNvSpPr>
          <p:nvPr/>
        </p:nvSpPr>
        <p:spPr>
          <a:xfrm>
            <a:off x="495300" y="666750"/>
            <a:ext cx="11125200" cy="742950"/>
          </a:xfrm>
          <a:prstGeom prst="rect">
            <a:avLst/>
          </a:prstGeom>
          <a:noFill/>
          <a:ln w="0">
            <a:noFill/>
          </a:ln>
        </p:spPr>
        <p:txBody>
          <a:bodyPr anchor="t">
            <a:noAutofit/>
          </a:bodyPr>
          <a:lstStyle/>
          <a:p>
            <a:pPr>
              <a:defRPr sz="2925" b="1">
                <a:solidFill>
                  <a:srgbClr val="152437"/>
                </a:solidFill>
                <a:latin typeface="Aptos"/>
                <a:ea typeface="Aptos"/>
                <a:cs typeface="Aptos"/>
              </a:defRPr>
            </a:pPr>
            <a:r>
              <a:rPr sz="2925" b="1">
                <a:solidFill>
                  <a:srgbClr val="152437"/>
                </a:solidFill>
                <a:latin typeface="Aptos"/>
                <a:ea typeface="Aptos"/>
                <a:cs typeface="Aptos"/>
              </a:rPr>
              <a:t>Large motion and initial conditions</a:t>
            </a:r>
          </a:p>
        </p:txBody>
      </p:sp>
      <p:sp>
        <p:nvSpPr>
          <p:cNvPr id="3" name="body0">
            <a:extLst>
              <a:ext uri="{FF2B5EF4-FFF2-40B4-BE49-F238E27FC236}">
                <a16:creationId xmlns:a16="http://schemas.microsoft.com/office/drawing/2014/main" id="{F86BA266-6433-4EEA-8EAD-33DB71BEDE65}"/>
              </a:ext>
            </a:extLst>
          </p:cNvPr>
          <p:cNvSpPr>
            <a:spLocks noGrp="1"/>
          </p:cNvSpPr>
          <p:nvPr/>
        </p:nvSpPr>
        <p:spPr>
          <a:xfrm>
            <a:off x="666750" y="1666875"/>
            <a:ext cx="10858500" cy="971550"/>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At large angles, the small-angle approximation loses accuracy and the coupling changes throughout the swing.</a:t>
            </a:r>
          </a:p>
        </p:txBody>
      </p:sp>
      <p:sp>
        <p:nvSpPr>
          <p:cNvPr id="4" name="body1">
            <a:extLst>
              <a:ext uri="{FF2B5EF4-FFF2-40B4-BE49-F238E27FC236}">
                <a16:creationId xmlns:a16="http://schemas.microsoft.com/office/drawing/2014/main" id="{D8CB23F1-30EF-4FDF-AB99-929197C68432}"/>
              </a:ext>
            </a:extLst>
          </p:cNvPr>
          <p:cNvSpPr>
            <a:spLocks noGrp="1"/>
          </p:cNvSpPr>
          <p:nvPr/>
        </p:nvSpPr>
        <p:spPr>
          <a:xfrm>
            <a:off x="666750" y="2733675"/>
            <a:ext cx="10858500" cy="971550"/>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Nearby starts can separate over time. Use the same model parameters when comparing them.</a:t>
            </a:r>
          </a:p>
        </p:txBody>
      </p:sp>
      <p:sp>
        <p:nvSpPr>
          <p:cNvPr id="5" name="body2">
            <a:extLst>
              <a:ext uri="{FF2B5EF4-FFF2-40B4-BE49-F238E27FC236}">
                <a16:creationId xmlns:a16="http://schemas.microsoft.com/office/drawing/2014/main" id="{C1EF4FB0-0C82-4289-8601-16014A01A66C}"/>
              </a:ext>
            </a:extLst>
          </p:cNvPr>
          <p:cNvSpPr>
            <a:spLocks noGrp="1"/>
          </p:cNvSpPr>
          <p:nvPr/>
        </p:nvSpPr>
        <p:spPr>
          <a:xfrm>
            <a:off x="666750" y="3800475"/>
            <a:ext cx="10858500" cy="971550"/>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Release without a push and record both actual initial angles.</a:t>
            </a:r>
          </a:p>
        </p:txBody>
      </p:sp>
      <p:sp>
        <p:nvSpPr>
          <p:cNvPr id="6" name="body3">
            <a:extLst>
              <a:ext uri="{FF2B5EF4-FFF2-40B4-BE49-F238E27FC236}">
                <a16:creationId xmlns:a16="http://schemas.microsoft.com/office/drawing/2014/main" id="{B0CBFC50-8A3D-418A-AABA-4889ACC0A0A0}"/>
              </a:ext>
            </a:extLst>
          </p:cNvPr>
          <p:cNvSpPr>
            <a:spLocks noGrp="1"/>
          </p:cNvSpPr>
          <p:nvPr/>
        </p:nvSpPr>
        <p:spPr>
          <a:xfrm>
            <a:off x="666750" y="4867275"/>
            <a:ext cx="10858500" cy="971550"/>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A short complicated trace can show sensitivity, but appearance alone does not prove mathematical chaos.</a:t>
            </a:r>
          </a:p>
        </p:txBody>
      </p:sp>
      <p:sp>
        <p:nvSpPr>
          <p:cNvPr id="7" name="page">
            <a:extLst>
              <a:ext uri="{FF2B5EF4-FFF2-40B4-BE49-F238E27FC236}">
                <a16:creationId xmlns:a16="http://schemas.microsoft.com/office/drawing/2014/main" id="{B4A03800-15B0-43D5-A2B0-25A83BA9FADC}"/>
              </a:ext>
            </a:extLst>
          </p:cNvPr>
          <p:cNvSpPr>
            <a:spLocks noGrp="1"/>
          </p:cNvSpPr>
          <p:nvPr/>
        </p:nvSpPr>
        <p:spPr>
          <a:xfrm>
            <a:off x="11449050" y="6515100"/>
            <a:ext cx="333375" cy="190500"/>
          </a:xfrm>
          <a:prstGeom prst="rect">
            <a:avLst/>
          </a:prstGeom>
          <a:noFill/>
          <a:ln w="0">
            <a:noFill/>
          </a:ln>
        </p:spPr>
        <p:txBody>
          <a:bodyPr anchor="t">
            <a:noAutofit/>
          </a:bodyPr>
          <a:lstStyle/>
          <a:p>
            <a:pPr>
              <a:defRPr sz="1050" b="0">
                <a:solidFill>
                  <a:srgbClr val="6B7280"/>
                </a:solidFill>
                <a:latin typeface="Aptos"/>
                <a:ea typeface="Aptos"/>
                <a:cs typeface="Aptos"/>
              </a:defRPr>
            </a:pPr>
            <a:r>
              <a:rPr sz="1050" b="0">
                <a:solidFill>
                  <a:srgbClr val="6B7280"/>
                </a:solidFill>
                <a:latin typeface="Aptos"/>
                <a:ea typeface="Aptos"/>
                <a:cs typeface="Aptos"/>
              </a:rPr>
              <a:t>32</a:t>
            </a:r>
          </a:p>
        </p:txBody>
      </p:sp>
    </p:spTree>
    <p:extLst>
      <p:ext uri="{BB962C8B-B14F-4D97-AF65-F5344CB8AC3E}">
        <p14:creationId xmlns:p14="http://schemas.microsoft.com/office/powerpoint/2010/main" val="97672310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course">
            <a:extLst>
              <a:ext uri="{FF2B5EF4-FFF2-40B4-BE49-F238E27FC236}">
                <a16:creationId xmlns:a16="http://schemas.microsoft.com/office/drawing/2014/main" id="{29265422-D7B6-4592-A1D1-8108F937493E}"/>
              </a:ext>
            </a:extLst>
          </p:cNvPr>
          <p:cNvSpPr>
            <a:spLocks noGrp="1"/>
          </p:cNvSpPr>
          <p:nvPr/>
        </p:nvSpPr>
        <p:spPr>
          <a:xfrm>
            <a:off x="495300" y="190500"/>
            <a:ext cx="8572500" cy="285750"/>
          </a:xfrm>
          <a:prstGeom prst="rect">
            <a:avLst/>
          </a:prstGeom>
          <a:noFill/>
          <a:ln w="0">
            <a:noFill/>
          </a:ln>
        </p:spPr>
        <p:txBody>
          <a:bodyPr anchor="t">
            <a:noAutofit/>
          </a:bodyPr>
          <a:lstStyle/>
          <a:p>
            <a:pPr>
              <a:defRPr sz="1275" b="1">
                <a:solidFill>
                  <a:srgbClr val="881C1C"/>
                </a:solidFill>
                <a:latin typeface="Aptos"/>
                <a:ea typeface="Aptos"/>
                <a:cs typeface="Aptos"/>
              </a:defRPr>
            </a:pPr>
            <a:r>
              <a:rPr sz="1275" b="1">
                <a:solidFill>
                  <a:srgbClr val="881C1C"/>
                </a:solidFill>
                <a:latin typeface="Aptos"/>
                <a:ea typeface="Aptos"/>
                <a:cs typeface="Aptos"/>
              </a:rPr>
              <a:t>MIE 402   ME LAB II</a:t>
            </a:r>
          </a:p>
        </p:txBody>
      </p:sp>
      <p:sp>
        <p:nvSpPr>
          <p:cNvPr id="2" name="title">
            <a:extLst>
              <a:ext uri="{FF2B5EF4-FFF2-40B4-BE49-F238E27FC236}">
                <a16:creationId xmlns:a16="http://schemas.microsoft.com/office/drawing/2014/main" id="{68AABFCF-DF11-4518-AD13-449445968207}"/>
              </a:ext>
            </a:extLst>
          </p:cNvPr>
          <p:cNvSpPr>
            <a:spLocks noGrp="1"/>
          </p:cNvSpPr>
          <p:nvPr/>
        </p:nvSpPr>
        <p:spPr>
          <a:xfrm>
            <a:off x="495300" y="666750"/>
            <a:ext cx="11125200" cy="742950"/>
          </a:xfrm>
          <a:prstGeom prst="rect">
            <a:avLst/>
          </a:prstGeom>
          <a:noFill/>
          <a:ln w="0">
            <a:noFill/>
          </a:ln>
        </p:spPr>
        <p:txBody>
          <a:bodyPr anchor="t">
            <a:noAutofit/>
          </a:bodyPr>
          <a:lstStyle/>
          <a:p>
            <a:pPr>
              <a:defRPr sz="2925" b="1">
                <a:solidFill>
                  <a:srgbClr val="152437"/>
                </a:solidFill>
                <a:latin typeface="Aptos"/>
                <a:ea typeface="Aptos"/>
                <a:cs typeface="Aptos"/>
              </a:defRPr>
            </a:pPr>
            <a:r>
              <a:rPr sz="2925" b="1">
                <a:solidFill>
                  <a:srgbClr val="152437"/>
                </a:solidFill>
                <a:latin typeface="Aptos"/>
                <a:ea typeface="Aptos"/>
                <a:cs typeface="Aptos"/>
              </a:rPr>
              <a:t>Watch the real Lab 3 double pendulum</a:t>
            </a:r>
          </a:p>
        </p:txBody>
      </p:sp>
      <p:sp>
        <p:nvSpPr>
          <p:cNvPr id="3" name="body0">
            <a:extLst>
              <a:ext uri="{FF2B5EF4-FFF2-40B4-BE49-F238E27FC236}">
                <a16:creationId xmlns:a16="http://schemas.microsoft.com/office/drawing/2014/main" id="{60253483-F933-4F20-8531-71E1F6A421A6}"/>
              </a:ext>
            </a:extLst>
          </p:cNvPr>
          <p:cNvSpPr>
            <a:spLocks noGrp="1"/>
          </p:cNvSpPr>
          <p:nvPr/>
        </p:nvSpPr>
        <p:spPr>
          <a:xfrm>
            <a:off x="495300" y="1666875"/>
            <a:ext cx="3286125" cy="1285875"/>
          </a:xfrm>
          <a:prstGeom prst="rect">
            <a:avLst/>
          </a:prstGeom>
          <a:noFill/>
          <a:ln w="0">
            <a:noFill/>
          </a:ln>
        </p:spPr>
        <p:txBody>
          <a:bodyPr anchor="t">
            <a:noAutofit/>
          </a:bodyPr>
          <a:lstStyle/>
          <a:p>
            <a:pPr>
              <a:defRPr sz="1650" b="0">
                <a:solidFill>
                  <a:srgbClr val="202D3C"/>
                </a:solidFill>
                <a:latin typeface="Aptos"/>
                <a:ea typeface="Aptos"/>
                <a:cs typeface="Aptos"/>
              </a:defRPr>
            </a:pPr>
            <a:r>
              <a:rPr sz="1650" b="0">
                <a:solidFill>
                  <a:srgbClr val="202D3C"/>
                </a:solidFill>
                <a:latin typeface="Aptos"/>
                <a:ea typeface="Aptos"/>
                <a:cs typeface="Aptos"/>
              </a:rPr>
              <a:t>This excerpt comes from DP_Test.mp4 in the course folder. Observe the large changes of angle and changing motion pattern.</a:t>
            </a:r>
          </a:p>
        </p:txBody>
      </p:sp>
      <p:sp>
        <p:nvSpPr>
          <p:cNvPr id="4" name="body1">
            <a:extLst>
              <a:ext uri="{FF2B5EF4-FFF2-40B4-BE49-F238E27FC236}">
                <a16:creationId xmlns:a16="http://schemas.microsoft.com/office/drawing/2014/main" id="{08A5B5BA-4D1E-4FDA-9D8A-3558A3778B1C}"/>
              </a:ext>
            </a:extLst>
          </p:cNvPr>
          <p:cNvSpPr>
            <a:spLocks noGrp="1"/>
          </p:cNvSpPr>
          <p:nvPr/>
        </p:nvSpPr>
        <p:spPr>
          <a:xfrm>
            <a:off x="495300" y="3048000"/>
            <a:ext cx="3286125" cy="1285875"/>
          </a:xfrm>
          <a:prstGeom prst="rect">
            <a:avLst/>
          </a:prstGeom>
          <a:noFill/>
          <a:ln w="0">
            <a:noFill/>
          </a:ln>
        </p:spPr>
        <p:txBody>
          <a:bodyPr anchor="t">
            <a:noAutofit/>
          </a:bodyPr>
          <a:lstStyle/>
          <a:p>
            <a:pPr>
              <a:defRPr sz="1650" b="0">
                <a:solidFill>
                  <a:srgbClr val="202D3C"/>
                </a:solidFill>
                <a:latin typeface="Aptos"/>
                <a:ea typeface="Aptos"/>
                <a:cs typeface="Aptos"/>
              </a:defRPr>
            </a:pPr>
            <a:r>
              <a:rPr sz="1650" b="0">
                <a:solidFill>
                  <a:srgbClr val="202D3C"/>
                </a:solidFill>
                <a:latin typeface="Aptos"/>
                <a:ea typeface="Aptos"/>
                <a:cs typeface="Aptos"/>
              </a:rPr>
              <a:t>Compare this motion with the small-angle mode videos. A single sinusoid or fixed linear mode is insufficient for the whole record.</a:t>
            </a:r>
          </a:p>
        </p:txBody>
      </p:sp>
      <p:sp>
        <p:nvSpPr>
          <p:cNvPr id="5" name="body2">
            <a:extLst>
              <a:ext uri="{FF2B5EF4-FFF2-40B4-BE49-F238E27FC236}">
                <a16:creationId xmlns:a16="http://schemas.microsoft.com/office/drawing/2014/main" id="{7A6DD6C0-D296-47FF-AF0E-B8AB0C33CD14}"/>
              </a:ext>
            </a:extLst>
          </p:cNvPr>
          <p:cNvSpPr>
            <a:spLocks noGrp="1"/>
          </p:cNvSpPr>
          <p:nvPr/>
        </p:nvSpPr>
        <p:spPr>
          <a:xfrm>
            <a:off x="495300" y="4429125"/>
            <a:ext cx="3286125" cy="1285875"/>
          </a:xfrm>
          <a:prstGeom prst="rect">
            <a:avLst/>
          </a:prstGeom>
          <a:noFill/>
          <a:ln w="0">
            <a:noFill/>
          </a:ln>
        </p:spPr>
        <p:txBody>
          <a:bodyPr anchor="t">
            <a:noAutofit/>
          </a:bodyPr>
          <a:lstStyle/>
          <a:p>
            <a:pPr>
              <a:defRPr sz="1650" b="0">
                <a:solidFill>
                  <a:srgbClr val="202D3C"/>
                </a:solidFill>
                <a:latin typeface="Aptos"/>
                <a:ea typeface="Aptos"/>
                <a:cs typeface="Aptos"/>
              </a:defRPr>
            </a:pPr>
            <a:r>
              <a:rPr sz="1650" b="0">
                <a:solidFill>
                  <a:srgbClr val="202D3C"/>
                </a:solidFill>
                <a:latin typeface="Aptos"/>
                <a:ea typeface="Aptos"/>
                <a:cs typeface="Aptos"/>
              </a:rPr>
              <a:t>Use the full nonlinear equations for the prediction. Irregular-looking motion alone does not establish chaos.</a:t>
            </a:r>
          </a:p>
        </p:txBody>
      </p:sp>
      <p:pic>
        <p:nvPicPr>
          <p:cNvPr id="15" name="Picture 14"/>
          <p:cNvPicPr>
            <a:picLocks noChangeAspect="1"/>
          </p:cNvPicPr>
          <p:nvPr/>
        </p:nvPicPr>
        <p:blipFill>
          <a:blip r:embed="rId5"/>
          <a:stretch/>
        </p:blipFill>
        <p:spPr>
          <a:xfrm>
            <a:off x="4286250" y="1666875"/>
            <a:ext cx="7239000" cy="4071938"/>
          </a:xfrm>
          <a:prstGeom prst="rect">
            <a:avLst/>
          </a:prstGeom>
        </p:spPr>
      </p:pic>
      <p:sp>
        <p:nvSpPr>
          <p:cNvPr id="7" name="video_link">
            <a:hlinkClick r:id="rId6"/>
            <a:extLst>
              <a:ext uri="{FF2B5EF4-FFF2-40B4-BE49-F238E27FC236}">
                <a16:creationId xmlns:a16="http://schemas.microsoft.com/office/drawing/2014/main" id="{EC01B8DD-ABC2-425A-A15B-3E9B9071CB42}"/>
              </a:ext>
            </a:extLst>
          </p:cNvPr>
          <p:cNvSpPr>
            <a:spLocks noGrp="1"/>
          </p:cNvSpPr>
          <p:nvPr/>
        </p:nvSpPr>
        <p:spPr>
          <a:xfrm>
            <a:off x="4286250" y="5905500"/>
            <a:ext cx="7239000" cy="304800"/>
          </a:xfrm>
          <a:prstGeom prst="rect">
            <a:avLst/>
          </a:prstGeom>
          <a:noFill/>
          <a:ln w="0">
            <a:noFill/>
          </a:ln>
        </p:spPr>
        <p:txBody>
          <a:bodyPr anchor="t">
            <a:noAutofit/>
          </a:bodyPr>
          <a:lstStyle/>
          <a:p>
            <a:pPr>
              <a:defRPr sz="1650" b="1">
                <a:solidFill>
                  <a:srgbClr val="881C1C"/>
                </a:solidFill>
                <a:latin typeface="Aptos"/>
                <a:ea typeface="Aptos"/>
                <a:cs typeface="Aptos"/>
              </a:defRPr>
            </a:pPr>
            <a:r>
              <a:rPr sz="1650" b="1">
                <a:solidFill>
                  <a:srgbClr val="881C1C"/>
                </a:solidFill>
                <a:latin typeface="Aptos"/>
                <a:ea typeface="Aptos"/>
                <a:cs typeface="Aptos"/>
              </a:rPr>
              <a:t>Play video online (also works from PDF)</a:t>
            </a:r>
          </a:p>
        </p:txBody>
      </p:sp>
      <p:sp>
        <p:nvSpPr>
          <p:cNvPr id="8" name="video_source">
            <a:extLst>
              <a:ext uri="{FF2B5EF4-FFF2-40B4-BE49-F238E27FC236}">
                <a16:creationId xmlns:a16="http://schemas.microsoft.com/office/drawing/2014/main" id="{7058EBBB-C4AE-4D2C-B688-ADD8B8192FBD}"/>
              </a:ext>
            </a:extLst>
          </p:cNvPr>
          <p:cNvSpPr>
            <a:spLocks noGrp="1"/>
          </p:cNvSpPr>
          <p:nvPr/>
        </p:nvSpPr>
        <p:spPr>
          <a:xfrm>
            <a:off x="495300" y="6324600"/>
            <a:ext cx="10763250" cy="285750"/>
          </a:xfrm>
          <a:prstGeom prst="rect">
            <a:avLst/>
          </a:prstGeom>
          <a:noFill/>
          <a:ln w="0">
            <a:noFill/>
          </a:ln>
        </p:spPr>
        <p:txBody>
          <a:bodyPr anchor="t">
            <a:noAutofit/>
          </a:bodyPr>
          <a:lstStyle/>
          <a:p>
            <a:pPr>
              <a:defRPr sz="900" b="0">
                <a:solidFill>
                  <a:srgbClr val="6B7280"/>
                </a:solidFill>
                <a:latin typeface="Aptos"/>
                <a:ea typeface="Aptos"/>
                <a:cs typeface="Aptos"/>
              </a:defRPr>
            </a:pPr>
            <a:r>
              <a:rPr sz="900" b="0">
                <a:solidFill>
                  <a:srgbClr val="6B7280"/>
                </a:solidFill>
                <a:latin typeface="Aptos"/>
                <a:ea typeface="Aptos"/>
                <a:cs typeface="Aptos"/>
              </a:rPr>
              <a:t>Course-folder recording DP_Test.mp4, excerpt 00:35–01:07. Recorded playback timing is not the measurement clock.</a:t>
            </a:r>
          </a:p>
        </p:txBody>
      </p:sp>
      <p:sp>
        <p:nvSpPr>
          <p:cNvPr id="9" name="page">
            <a:extLst>
              <a:ext uri="{FF2B5EF4-FFF2-40B4-BE49-F238E27FC236}">
                <a16:creationId xmlns:a16="http://schemas.microsoft.com/office/drawing/2014/main" id="{18A8AD4A-4232-4867-9CDB-4A206D880372}"/>
              </a:ext>
            </a:extLst>
          </p:cNvPr>
          <p:cNvSpPr>
            <a:spLocks noGrp="1"/>
          </p:cNvSpPr>
          <p:nvPr/>
        </p:nvSpPr>
        <p:spPr>
          <a:xfrm>
            <a:off x="11449050" y="6515100"/>
            <a:ext cx="333375" cy="190500"/>
          </a:xfrm>
          <a:prstGeom prst="rect">
            <a:avLst/>
          </a:prstGeom>
          <a:noFill/>
          <a:ln w="0">
            <a:noFill/>
          </a:ln>
        </p:spPr>
        <p:txBody>
          <a:bodyPr anchor="t">
            <a:noAutofit/>
          </a:bodyPr>
          <a:lstStyle/>
          <a:p>
            <a:pPr>
              <a:defRPr sz="1050" b="0">
                <a:solidFill>
                  <a:srgbClr val="6B7280"/>
                </a:solidFill>
                <a:latin typeface="Aptos"/>
                <a:ea typeface="Aptos"/>
                <a:cs typeface="Aptos"/>
              </a:defRPr>
            </a:pPr>
            <a:r>
              <a:rPr sz="1050" b="0">
                <a:solidFill>
                  <a:srgbClr val="6B7280"/>
                </a:solidFill>
                <a:latin typeface="Aptos"/>
                <a:ea typeface="Aptos"/>
                <a:cs typeface="Aptos"/>
              </a:rPr>
              <a:t>33</a:t>
            </a:r>
          </a:p>
        </p:txBody>
      </p:sp>
      <p:pic>
        <p:nvPicPr>
          <p:cNvPr id="6" name="Embedded_lab3-nonlinear">
            <a:hlinkClick action="ppaction://ole?verb=0"/>
            <a:extLst>
              <a:ext uri="{FF2B5EF4-FFF2-40B4-BE49-F238E27FC236}">
                <a16:creationId xmlns:a16="http://schemas.microsoft.com/office/drawing/2014/main" id="{BB3608CA-2922-A564-60A6-E03C51045A48}"/>
              </a:ext>
            </a:extLst>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4286250" y="1666875"/>
            <a:ext cx="7239000" cy="4071938"/>
          </a:xfrm>
          <a:prstGeom prst="rect">
            <a:avLst/>
          </a:prstGeom>
        </p:spPr>
      </p:pic>
    </p:spTree>
    <p:extLst>
      <p:ext uri="{BB962C8B-B14F-4D97-AF65-F5344CB8AC3E}">
        <p14:creationId xmlns:p14="http://schemas.microsoft.com/office/powerpoint/2010/main" val="836941606"/>
      </p:ext>
    </p:extLst>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6"/>
                    </p:tgtEl>
                  </p:cond>
                </p:stCondLst>
                <p:endSync evt="end" delay="0">
                  <p:rtn val="all"/>
                </p:endSync>
                <p:childTnLst>
                  <p:par>
                    <p:cTn id="3" fill="hold">
                      <p:stCondLst>
                        <p:cond delay="0"/>
                      </p:stCondLst>
                      <p:childTnLst>
                        <p:par>
                          <p:cTn id="4" fill="hold">
                            <p:stCondLst>
                              <p:cond delay="0"/>
                            </p:stCondLst>
                            <p:childTnLst>
                              <p:par>
                                <p:cTn id="5" presetID="2" presetClass="mediacall" presetSubtype="0" fill="hold" nodeType="clickEffect">
                                  <p:stCondLst>
                                    <p:cond delay="0"/>
                                  </p:stCondLst>
                                  <p:childTnLst>
                                    <p:cmd type="call" cmd="togglePause">
                                      <p:cBhvr>
                                        <p:cTn id="6" dur="1" fill="hold"/>
                                        <p:tgtEl>
                                          <p:spTgt spid="6"/>
                                        </p:tgtEl>
                                      </p:cBhvr>
                                    </p:cmd>
                                  </p:childTnLst>
                                </p:cTn>
                              </p:par>
                            </p:childTnLst>
                          </p:cTn>
                        </p:par>
                      </p:childTnLst>
                    </p:cTn>
                  </p:par>
                </p:childTnLst>
              </p:cTn>
              <p:nextCondLst>
                <p:cond evt="onClick" delay="0">
                  <p:tgtEl>
                    <p:spTgt spid="6"/>
                  </p:tgtEl>
                </p:cond>
              </p:nextCondLst>
            </p:seq>
            <p:video>
              <p:cMediaNode vol="80000">
                <p:cTn id="7" fill="hold" display="0">
                  <p:stCondLst>
                    <p:cond delay="indefinite"/>
                  </p:stCondLst>
                </p:cTn>
                <p:tgtEl>
                  <p:spTgt spid="6"/>
                </p:tgtEl>
              </p:cMediaNode>
            </p:video>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course">
            <a:extLst>
              <a:ext uri="{FF2B5EF4-FFF2-40B4-BE49-F238E27FC236}">
                <a16:creationId xmlns:a16="http://schemas.microsoft.com/office/drawing/2014/main" id="{9620AF0B-F747-423D-BB07-B26C09FDAC2C}"/>
              </a:ext>
            </a:extLst>
          </p:cNvPr>
          <p:cNvSpPr>
            <a:spLocks noGrp="1"/>
          </p:cNvSpPr>
          <p:nvPr/>
        </p:nvSpPr>
        <p:spPr>
          <a:xfrm>
            <a:off x="495300" y="190500"/>
            <a:ext cx="8572500" cy="285750"/>
          </a:xfrm>
          <a:prstGeom prst="rect">
            <a:avLst/>
          </a:prstGeom>
          <a:noFill/>
          <a:ln w="0">
            <a:noFill/>
          </a:ln>
        </p:spPr>
        <p:txBody>
          <a:bodyPr anchor="t">
            <a:noAutofit/>
          </a:bodyPr>
          <a:lstStyle/>
          <a:p>
            <a:pPr>
              <a:defRPr sz="1275" b="1">
                <a:solidFill>
                  <a:srgbClr val="881C1C"/>
                </a:solidFill>
                <a:latin typeface="Aptos"/>
                <a:ea typeface="Aptos"/>
                <a:cs typeface="Aptos"/>
              </a:defRPr>
            </a:pPr>
            <a:r>
              <a:rPr sz="1275" b="1">
                <a:solidFill>
                  <a:srgbClr val="881C1C"/>
                </a:solidFill>
                <a:latin typeface="Aptos"/>
                <a:ea typeface="Aptos"/>
                <a:cs typeface="Aptos"/>
              </a:rPr>
              <a:t>MIE 402   ME LAB II</a:t>
            </a:r>
          </a:p>
        </p:txBody>
      </p:sp>
      <p:sp>
        <p:nvSpPr>
          <p:cNvPr id="2" name="title">
            <a:extLst>
              <a:ext uri="{FF2B5EF4-FFF2-40B4-BE49-F238E27FC236}">
                <a16:creationId xmlns:a16="http://schemas.microsoft.com/office/drawing/2014/main" id="{41C39721-1DA1-4399-AE5B-B50669907E6A}"/>
              </a:ext>
            </a:extLst>
          </p:cNvPr>
          <p:cNvSpPr>
            <a:spLocks noGrp="1"/>
          </p:cNvSpPr>
          <p:nvPr/>
        </p:nvSpPr>
        <p:spPr>
          <a:xfrm>
            <a:off x="495300" y="666750"/>
            <a:ext cx="11125200" cy="742950"/>
          </a:xfrm>
          <a:prstGeom prst="rect">
            <a:avLst/>
          </a:prstGeom>
          <a:noFill/>
          <a:ln w="0">
            <a:noFill/>
          </a:ln>
        </p:spPr>
        <p:txBody>
          <a:bodyPr anchor="t">
            <a:noAutofit/>
          </a:bodyPr>
          <a:lstStyle/>
          <a:p>
            <a:pPr>
              <a:defRPr sz="2925" b="1">
                <a:solidFill>
                  <a:srgbClr val="152437"/>
                </a:solidFill>
                <a:latin typeface="Aptos"/>
                <a:ea typeface="Aptos"/>
                <a:cs typeface="Aptos"/>
              </a:defRPr>
            </a:pPr>
            <a:r>
              <a:rPr sz="2925" b="1">
                <a:solidFill>
                  <a:srgbClr val="152437"/>
                </a:solidFill>
                <a:latin typeface="Aptos"/>
                <a:ea typeface="Aptos"/>
                <a:cs typeface="Aptos"/>
              </a:rPr>
              <a:t>The four laboratory trials</a:t>
            </a:r>
          </a:p>
        </p:txBody>
      </p:sp>
      <p:sp>
        <p:nvSpPr>
          <p:cNvPr id="3" name="body0">
            <a:extLst>
              <a:ext uri="{FF2B5EF4-FFF2-40B4-BE49-F238E27FC236}">
                <a16:creationId xmlns:a16="http://schemas.microsoft.com/office/drawing/2014/main" id="{14B671C1-6887-483E-ADD0-510569671611}"/>
              </a:ext>
            </a:extLst>
          </p:cNvPr>
          <p:cNvSpPr>
            <a:spLocks noGrp="1"/>
          </p:cNvSpPr>
          <p:nvPr/>
        </p:nvSpPr>
        <p:spPr>
          <a:xfrm>
            <a:off x="666750" y="1666875"/>
            <a:ext cx="10858500" cy="971550"/>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Trial A: small nonzero angles, roughly aligned links, released from rest.</a:t>
            </a:r>
          </a:p>
        </p:txBody>
      </p:sp>
      <p:sp>
        <p:nvSpPr>
          <p:cNvPr id="4" name="body1">
            <a:extLst>
              <a:ext uri="{FF2B5EF4-FFF2-40B4-BE49-F238E27FC236}">
                <a16:creationId xmlns:a16="http://schemas.microsoft.com/office/drawing/2014/main" id="{6883F6F7-777B-4139-BF82-98D766BF66BA}"/>
              </a:ext>
            </a:extLst>
          </p:cNvPr>
          <p:cNvSpPr>
            <a:spLocks noGrp="1"/>
          </p:cNvSpPr>
          <p:nvPr/>
        </p:nvSpPr>
        <p:spPr>
          <a:xfrm>
            <a:off x="666750" y="2733675"/>
            <a:ext cx="10858500" cy="971550"/>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Trials B–D: at least three larger combinations of initial angles.</a:t>
            </a:r>
          </a:p>
        </p:txBody>
      </p:sp>
      <p:sp>
        <p:nvSpPr>
          <p:cNvPr id="5" name="body2">
            <a:extLst>
              <a:ext uri="{FF2B5EF4-FFF2-40B4-BE49-F238E27FC236}">
                <a16:creationId xmlns:a16="http://schemas.microsoft.com/office/drawing/2014/main" id="{1E9B6808-7DEB-4825-A806-EA1F05C82E43}"/>
              </a:ext>
            </a:extLst>
          </p:cNvPr>
          <p:cNvSpPr>
            <a:spLocks noGrp="1"/>
          </p:cNvSpPr>
          <p:nvPr/>
        </p:nvSpPr>
        <p:spPr>
          <a:xfrm>
            <a:off x="666750" y="3800475"/>
            <a:ext cx="10858500" cy="971550"/>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Include a pair of similar starts so that you can compare sensitivity.</a:t>
            </a:r>
          </a:p>
        </p:txBody>
      </p:sp>
      <p:sp>
        <p:nvSpPr>
          <p:cNvPr id="6" name="body3">
            <a:extLst>
              <a:ext uri="{FF2B5EF4-FFF2-40B4-BE49-F238E27FC236}">
                <a16:creationId xmlns:a16="http://schemas.microsoft.com/office/drawing/2014/main" id="{B8A59187-E6EA-4280-87FA-4A877B210176}"/>
              </a:ext>
            </a:extLst>
          </p:cNvPr>
          <p:cNvSpPr>
            <a:spLocks noGrp="1"/>
          </p:cNvSpPr>
          <p:nvPr/>
        </p:nvSpPr>
        <p:spPr>
          <a:xfrm>
            <a:off x="666750" y="4867275"/>
            <a:ext cx="10858500" cy="971550"/>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For every trial log both initial angles, masses, lengths, capture frame rate and filenames.</a:t>
            </a:r>
          </a:p>
        </p:txBody>
      </p:sp>
      <p:sp>
        <p:nvSpPr>
          <p:cNvPr id="7" name="page">
            <a:extLst>
              <a:ext uri="{FF2B5EF4-FFF2-40B4-BE49-F238E27FC236}">
                <a16:creationId xmlns:a16="http://schemas.microsoft.com/office/drawing/2014/main" id="{BA86C39C-7625-4B93-9420-C5B5DABB8835}"/>
              </a:ext>
            </a:extLst>
          </p:cNvPr>
          <p:cNvSpPr>
            <a:spLocks noGrp="1"/>
          </p:cNvSpPr>
          <p:nvPr/>
        </p:nvSpPr>
        <p:spPr>
          <a:xfrm>
            <a:off x="11449050" y="6515100"/>
            <a:ext cx="333375" cy="190500"/>
          </a:xfrm>
          <a:prstGeom prst="rect">
            <a:avLst/>
          </a:prstGeom>
          <a:noFill/>
          <a:ln w="0">
            <a:noFill/>
          </a:ln>
        </p:spPr>
        <p:txBody>
          <a:bodyPr anchor="t">
            <a:noAutofit/>
          </a:bodyPr>
          <a:lstStyle/>
          <a:p>
            <a:pPr>
              <a:defRPr sz="1050" b="0">
                <a:solidFill>
                  <a:srgbClr val="6B7280"/>
                </a:solidFill>
                <a:latin typeface="Aptos"/>
                <a:ea typeface="Aptos"/>
                <a:cs typeface="Aptos"/>
              </a:defRPr>
            </a:pPr>
            <a:r>
              <a:rPr sz="1050" b="0">
                <a:solidFill>
                  <a:srgbClr val="6B7280"/>
                </a:solidFill>
                <a:latin typeface="Aptos"/>
                <a:ea typeface="Aptos"/>
                <a:cs typeface="Aptos"/>
              </a:rPr>
              <a:t>34</a:t>
            </a:r>
          </a:p>
        </p:txBody>
      </p:sp>
    </p:spTree>
    <p:extLst>
      <p:ext uri="{BB962C8B-B14F-4D97-AF65-F5344CB8AC3E}">
        <p14:creationId xmlns:p14="http://schemas.microsoft.com/office/powerpoint/2010/main" val="82591346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course">
            <a:extLst>
              <a:ext uri="{FF2B5EF4-FFF2-40B4-BE49-F238E27FC236}">
                <a16:creationId xmlns:a16="http://schemas.microsoft.com/office/drawing/2014/main" id="{B0C01222-4939-42A3-A2CB-B8C50A127624}"/>
              </a:ext>
            </a:extLst>
          </p:cNvPr>
          <p:cNvSpPr>
            <a:spLocks noGrp="1"/>
          </p:cNvSpPr>
          <p:nvPr/>
        </p:nvSpPr>
        <p:spPr>
          <a:xfrm>
            <a:off x="495300" y="190500"/>
            <a:ext cx="8572500" cy="285750"/>
          </a:xfrm>
          <a:prstGeom prst="rect">
            <a:avLst/>
          </a:prstGeom>
          <a:noFill/>
          <a:ln w="0">
            <a:noFill/>
          </a:ln>
        </p:spPr>
        <p:txBody>
          <a:bodyPr anchor="t">
            <a:noAutofit/>
          </a:bodyPr>
          <a:lstStyle/>
          <a:p>
            <a:pPr>
              <a:defRPr sz="1275" b="1">
                <a:solidFill>
                  <a:srgbClr val="881C1C"/>
                </a:solidFill>
                <a:latin typeface="Aptos"/>
                <a:ea typeface="Aptos"/>
                <a:cs typeface="Aptos"/>
              </a:defRPr>
            </a:pPr>
            <a:r>
              <a:rPr sz="1275" b="1">
                <a:solidFill>
                  <a:srgbClr val="881C1C"/>
                </a:solidFill>
                <a:latin typeface="Aptos"/>
                <a:ea typeface="Aptos"/>
                <a:cs typeface="Aptos"/>
              </a:rPr>
              <a:t>MIE 402   ME LAB II</a:t>
            </a:r>
          </a:p>
        </p:txBody>
      </p:sp>
      <p:sp>
        <p:nvSpPr>
          <p:cNvPr id="2" name="title">
            <a:extLst>
              <a:ext uri="{FF2B5EF4-FFF2-40B4-BE49-F238E27FC236}">
                <a16:creationId xmlns:a16="http://schemas.microsoft.com/office/drawing/2014/main" id="{DE1F01B7-BB0E-4D19-BF01-C0885E4AFE8C}"/>
              </a:ext>
            </a:extLst>
          </p:cNvPr>
          <p:cNvSpPr>
            <a:spLocks noGrp="1"/>
          </p:cNvSpPr>
          <p:nvPr/>
        </p:nvSpPr>
        <p:spPr>
          <a:xfrm>
            <a:off x="495300" y="666750"/>
            <a:ext cx="11125200" cy="742950"/>
          </a:xfrm>
          <a:prstGeom prst="rect">
            <a:avLst/>
          </a:prstGeom>
          <a:noFill/>
          <a:ln w="0">
            <a:noFill/>
          </a:ln>
        </p:spPr>
        <p:txBody>
          <a:bodyPr anchor="t">
            <a:noAutofit/>
          </a:bodyPr>
          <a:lstStyle/>
          <a:p>
            <a:pPr>
              <a:defRPr sz="2925" b="1">
                <a:solidFill>
                  <a:srgbClr val="152437"/>
                </a:solidFill>
                <a:latin typeface="Aptos"/>
                <a:ea typeface="Aptos"/>
                <a:cs typeface="Aptos"/>
              </a:defRPr>
            </a:pPr>
            <a:r>
              <a:rPr sz="2925" b="1">
                <a:solidFill>
                  <a:srgbClr val="152437"/>
                </a:solidFill>
                <a:latin typeface="Aptos"/>
                <a:ea typeface="Aptos"/>
                <a:cs typeface="Aptos"/>
              </a:rPr>
              <a:t>What the camera records</a:t>
            </a:r>
          </a:p>
        </p:txBody>
      </p:sp>
      <p:sp>
        <p:nvSpPr>
          <p:cNvPr id="3" name="body0">
            <a:extLst>
              <a:ext uri="{FF2B5EF4-FFF2-40B4-BE49-F238E27FC236}">
                <a16:creationId xmlns:a16="http://schemas.microsoft.com/office/drawing/2014/main" id="{FB37FBB7-64CD-4C3A-A83D-7279825FE5A6}"/>
              </a:ext>
            </a:extLst>
          </p:cNvPr>
          <p:cNvSpPr>
            <a:spLocks noGrp="1"/>
          </p:cNvSpPr>
          <p:nvPr/>
        </p:nvSpPr>
        <p:spPr>
          <a:xfrm>
            <a:off x="666750" y="1666875"/>
            <a:ext cx="5429250" cy="1028700"/>
          </a:xfrm>
          <a:prstGeom prst="rect">
            <a:avLst/>
          </a:prstGeom>
          <a:noFill/>
          <a:ln w="0">
            <a:noFill/>
          </a:ln>
        </p:spPr>
        <p:txBody>
          <a:bodyPr anchor="t">
            <a:noAutofit/>
          </a:bodyPr>
          <a:lstStyle/>
          <a:p>
            <a:pPr>
              <a:defRPr sz="1875" b="0">
                <a:solidFill>
                  <a:srgbClr val="202D3C"/>
                </a:solidFill>
                <a:latin typeface="Aptos"/>
                <a:ea typeface="Aptos"/>
                <a:cs typeface="Aptos"/>
              </a:defRPr>
            </a:pPr>
            <a:r>
              <a:rPr sz="1875" b="0">
                <a:solidFill>
                  <a:srgbClr val="202D3C"/>
                </a:solidFill>
                <a:latin typeface="Aptos"/>
                <a:ea typeface="Aptos"/>
                <a:cs typeface="Aptos"/>
              </a:rPr>
              <a:t>The camera records a sequence of images. The analyzer later extracts positions from them.</a:t>
            </a:r>
          </a:p>
        </p:txBody>
      </p:sp>
      <p:sp>
        <p:nvSpPr>
          <p:cNvPr id="4" name="body1">
            <a:extLst>
              <a:ext uri="{FF2B5EF4-FFF2-40B4-BE49-F238E27FC236}">
                <a16:creationId xmlns:a16="http://schemas.microsoft.com/office/drawing/2014/main" id="{4A541F1C-CF1D-4ED5-A015-31F6017BE48C}"/>
              </a:ext>
            </a:extLst>
          </p:cNvPr>
          <p:cNvSpPr>
            <a:spLocks noGrp="1"/>
          </p:cNvSpPr>
          <p:nvPr/>
        </p:nvSpPr>
        <p:spPr>
          <a:xfrm>
            <a:off x="666750" y="2790825"/>
            <a:ext cx="5429250" cy="1028700"/>
          </a:xfrm>
          <a:prstGeom prst="rect">
            <a:avLst/>
          </a:prstGeom>
          <a:noFill/>
          <a:ln w="0">
            <a:noFill/>
          </a:ln>
        </p:spPr>
        <p:txBody>
          <a:bodyPr anchor="t">
            <a:noAutofit/>
          </a:bodyPr>
          <a:lstStyle/>
          <a:p>
            <a:pPr>
              <a:defRPr sz="1875" b="0">
                <a:solidFill>
                  <a:srgbClr val="202D3C"/>
                </a:solidFill>
                <a:latin typeface="Aptos"/>
                <a:ea typeface="Aptos"/>
                <a:cs typeface="Aptos"/>
              </a:defRPr>
            </a:pPr>
            <a:r>
              <a:rPr sz="1875" b="0">
                <a:solidFill>
                  <a:srgbClr val="202D3C"/>
                </a:solidFill>
                <a:latin typeface="Aptos"/>
                <a:ea typeface="Aptos"/>
                <a:cs typeface="Aptos"/>
              </a:rPr>
              <a:t>Use a dark background, bright bobs, sharp focus and enough framing for the whole motion.</a:t>
            </a:r>
          </a:p>
        </p:txBody>
      </p:sp>
      <p:sp>
        <p:nvSpPr>
          <p:cNvPr id="5" name="body2">
            <a:extLst>
              <a:ext uri="{FF2B5EF4-FFF2-40B4-BE49-F238E27FC236}">
                <a16:creationId xmlns:a16="http://schemas.microsoft.com/office/drawing/2014/main" id="{C09053A4-845A-4945-B6EE-8E3560ECB5D3}"/>
              </a:ext>
            </a:extLst>
          </p:cNvPr>
          <p:cNvSpPr>
            <a:spLocks noGrp="1"/>
          </p:cNvSpPr>
          <p:nvPr/>
        </p:nvSpPr>
        <p:spPr>
          <a:xfrm>
            <a:off x="666750" y="3914775"/>
            <a:ext cx="5429250" cy="1028700"/>
          </a:xfrm>
          <a:prstGeom prst="rect">
            <a:avLst/>
          </a:prstGeom>
          <a:noFill/>
          <a:ln w="0">
            <a:noFill/>
          </a:ln>
        </p:spPr>
        <p:txBody>
          <a:bodyPr anchor="t">
            <a:noAutofit/>
          </a:bodyPr>
          <a:lstStyle/>
          <a:p>
            <a:pPr>
              <a:defRPr sz="1875" b="0">
                <a:solidFill>
                  <a:srgbClr val="202D3C"/>
                </a:solidFill>
                <a:latin typeface="Aptos"/>
                <a:ea typeface="Aptos"/>
                <a:cs typeface="Aptos"/>
              </a:defRPr>
            </a:pPr>
            <a:r>
              <a:rPr sz="1875" b="0">
                <a:solidFill>
                  <a:srgbClr val="202D3C"/>
                </a:solidFill>
                <a:latin typeface="Aptos"/>
                <a:ea typeface="Aptos"/>
                <a:cs typeface="Aptos"/>
              </a:rPr>
              <a:t>The lab setup uses 1280×1024 and nominal 1000 capture frames/s. Record the actual setting.</a:t>
            </a:r>
          </a:p>
        </p:txBody>
      </p:sp>
      <p:sp>
        <p:nvSpPr>
          <p:cNvPr id="6" name="body3">
            <a:extLst>
              <a:ext uri="{FF2B5EF4-FFF2-40B4-BE49-F238E27FC236}">
                <a16:creationId xmlns:a16="http://schemas.microsoft.com/office/drawing/2014/main" id="{038BA4C6-B8B2-41FF-B8CF-E721A073D53B}"/>
              </a:ext>
            </a:extLst>
          </p:cNvPr>
          <p:cNvSpPr>
            <a:spLocks noGrp="1"/>
          </p:cNvSpPr>
          <p:nvPr/>
        </p:nvSpPr>
        <p:spPr>
          <a:xfrm>
            <a:off x="666750" y="5038725"/>
            <a:ext cx="5429250" cy="1028700"/>
          </a:xfrm>
          <a:prstGeom prst="rect">
            <a:avLst/>
          </a:prstGeom>
          <a:noFill/>
          <a:ln w="0">
            <a:noFill/>
          </a:ln>
        </p:spPr>
        <p:txBody>
          <a:bodyPr anchor="t">
            <a:noAutofit/>
          </a:bodyPr>
          <a:lstStyle/>
          <a:p>
            <a:pPr>
              <a:defRPr sz="1875" b="0">
                <a:solidFill>
                  <a:srgbClr val="202D3C"/>
                </a:solidFill>
                <a:latin typeface="Aptos"/>
                <a:ea typeface="Aptos"/>
                <a:cs typeface="Aptos"/>
              </a:defRPr>
            </a:pPr>
            <a:r>
              <a:rPr sz="1875" b="0">
                <a:solidFill>
                  <a:srgbClr val="202D3C"/>
                </a:solidFill>
                <a:latin typeface="Aptos"/>
                <a:ea typeface="Aptos"/>
                <a:cs typeface="Aptos"/>
              </a:rPr>
              <a:t>Capture frame rate and MP4 playback rate can differ. Enter the capture rate in the analyzer.</a:t>
            </a:r>
          </a:p>
        </p:txBody>
      </p:sp>
      <p:pic>
        <p:nvPicPr>
          <p:cNvPr id="15" name="Picture 14"/>
          <p:cNvPicPr>
            <a:picLocks noChangeAspect="1"/>
          </p:cNvPicPr>
          <p:nvPr/>
        </p:nvPicPr>
        <p:blipFill>
          <a:blip r:embed="rId3"/>
          <a:stretch/>
        </p:blipFill>
        <p:spPr>
          <a:xfrm>
            <a:off x="6524625" y="1666875"/>
            <a:ext cx="5238750" cy="4191000"/>
          </a:xfrm>
          <a:prstGeom prst="rect">
            <a:avLst/>
          </a:prstGeom>
        </p:spPr>
      </p:pic>
      <p:sp>
        <p:nvSpPr>
          <p:cNvPr id="8" name="page">
            <a:extLst>
              <a:ext uri="{FF2B5EF4-FFF2-40B4-BE49-F238E27FC236}">
                <a16:creationId xmlns:a16="http://schemas.microsoft.com/office/drawing/2014/main" id="{DB704158-0321-4C60-B08F-26D76126BEC9}"/>
              </a:ext>
            </a:extLst>
          </p:cNvPr>
          <p:cNvSpPr>
            <a:spLocks noGrp="1"/>
          </p:cNvSpPr>
          <p:nvPr/>
        </p:nvSpPr>
        <p:spPr>
          <a:xfrm>
            <a:off x="11449050" y="6515100"/>
            <a:ext cx="333375" cy="190500"/>
          </a:xfrm>
          <a:prstGeom prst="rect">
            <a:avLst/>
          </a:prstGeom>
          <a:noFill/>
          <a:ln w="0">
            <a:noFill/>
          </a:ln>
        </p:spPr>
        <p:txBody>
          <a:bodyPr anchor="t">
            <a:noAutofit/>
          </a:bodyPr>
          <a:lstStyle/>
          <a:p>
            <a:pPr>
              <a:defRPr sz="1050" b="0">
                <a:solidFill>
                  <a:srgbClr val="6B7280"/>
                </a:solidFill>
                <a:latin typeface="Aptos"/>
                <a:ea typeface="Aptos"/>
                <a:cs typeface="Aptos"/>
              </a:defRPr>
            </a:pPr>
            <a:r>
              <a:rPr sz="1050" b="0">
                <a:solidFill>
                  <a:srgbClr val="6B7280"/>
                </a:solidFill>
                <a:latin typeface="Aptos"/>
                <a:ea typeface="Aptos"/>
                <a:cs typeface="Aptos"/>
              </a:rPr>
              <a:t>35</a:t>
            </a:r>
          </a:p>
        </p:txBody>
      </p:sp>
    </p:spTree>
    <p:extLst>
      <p:ext uri="{BB962C8B-B14F-4D97-AF65-F5344CB8AC3E}">
        <p14:creationId xmlns:p14="http://schemas.microsoft.com/office/powerpoint/2010/main" val="139213149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course">
            <a:extLst>
              <a:ext uri="{FF2B5EF4-FFF2-40B4-BE49-F238E27FC236}">
                <a16:creationId xmlns:a16="http://schemas.microsoft.com/office/drawing/2014/main" id="{D21EE463-901C-4EA3-8FA6-9F0CEC71AF94}"/>
              </a:ext>
            </a:extLst>
          </p:cNvPr>
          <p:cNvSpPr>
            <a:spLocks noGrp="1"/>
          </p:cNvSpPr>
          <p:nvPr/>
        </p:nvSpPr>
        <p:spPr>
          <a:xfrm>
            <a:off x="495300" y="190500"/>
            <a:ext cx="8572500" cy="285750"/>
          </a:xfrm>
          <a:prstGeom prst="rect">
            <a:avLst/>
          </a:prstGeom>
          <a:noFill/>
          <a:ln w="0">
            <a:noFill/>
          </a:ln>
        </p:spPr>
        <p:txBody>
          <a:bodyPr anchor="t">
            <a:noAutofit/>
          </a:bodyPr>
          <a:lstStyle/>
          <a:p>
            <a:pPr>
              <a:defRPr sz="1275" b="1">
                <a:solidFill>
                  <a:srgbClr val="881C1C"/>
                </a:solidFill>
                <a:latin typeface="Aptos"/>
                <a:ea typeface="Aptos"/>
                <a:cs typeface="Aptos"/>
              </a:defRPr>
            </a:pPr>
            <a:r>
              <a:rPr sz="1275" b="1">
                <a:solidFill>
                  <a:srgbClr val="881C1C"/>
                </a:solidFill>
                <a:latin typeface="Aptos"/>
                <a:ea typeface="Aptos"/>
                <a:cs typeface="Aptos"/>
              </a:rPr>
              <a:t>MIE 402   ME LAB II</a:t>
            </a:r>
          </a:p>
        </p:txBody>
      </p:sp>
      <p:sp>
        <p:nvSpPr>
          <p:cNvPr id="2" name="title">
            <a:extLst>
              <a:ext uri="{FF2B5EF4-FFF2-40B4-BE49-F238E27FC236}">
                <a16:creationId xmlns:a16="http://schemas.microsoft.com/office/drawing/2014/main" id="{F8D9D970-2886-4D57-8188-C34142CB33BC}"/>
              </a:ext>
            </a:extLst>
          </p:cNvPr>
          <p:cNvSpPr>
            <a:spLocks noGrp="1"/>
          </p:cNvSpPr>
          <p:nvPr/>
        </p:nvSpPr>
        <p:spPr>
          <a:xfrm>
            <a:off x="495300" y="666750"/>
            <a:ext cx="11125200" cy="742950"/>
          </a:xfrm>
          <a:prstGeom prst="rect">
            <a:avLst/>
          </a:prstGeom>
          <a:noFill/>
          <a:ln w="0">
            <a:noFill/>
          </a:ln>
        </p:spPr>
        <p:txBody>
          <a:bodyPr anchor="t">
            <a:noAutofit/>
          </a:bodyPr>
          <a:lstStyle/>
          <a:p>
            <a:pPr>
              <a:defRPr sz="2925" b="1">
                <a:solidFill>
                  <a:srgbClr val="152437"/>
                </a:solidFill>
                <a:latin typeface="Aptos"/>
                <a:ea typeface="Aptos"/>
                <a:cs typeface="Aptos"/>
              </a:defRPr>
            </a:pPr>
            <a:r>
              <a:rPr sz="2925" b="1">
                <a:solidFill>
                  <a:srgbClr val="152437"/>
                </a:solidFill>
                <a:latin typeface="Aptos"/>
                <a:ea typeface="Aptos"/>
                <a:cs typeface="Aptos"/>
              </a:rPr>
              <a:t>Tracking both bobs</a:t>
            </a:r>
          </a:p>
        </p:txBody>
      </p:sp>
      <p:sp>
        <p:nvSpPr>
          <p:cNvPr id="3" name="body0">
            <a:extLst>
              <a:ext uri="{FF2B5EF4-FFF2-40B4-BE49-F238E27FC236}">
                <a16:creationId xmlns:a16="http://schemas.microsoft.com/office/drawing/2014/main" id="{17FBBADA-5B3C-4EBF-84CA-12DDA2AAC030}"/>
              </a:ext>
            </a:extLst>
          </p:cNvPr>
          <p:cNvSpPr>
            <a:spLocks noGrp="1"/>
          </p:cNvSpPr>
          <p:nvPr/>
        </p:nvSpPr>
        <p:spPr>
          <a:xfrm>
            <a:off x="666750" y="1666875"/>
            <a:ext cx="10858500" cy="971550"/>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Select Double Pendulum in Pendulum Motion Analyzer V4.</a:t>
            </a:r>
          </a:p>
        </p:txBody>
      </p:sp>
      <p:sp>
        <p:nvSpPr>
          <p:cNvPr id="4" name="body1">
            <a:extLst>
              <a:ext uri="{FF2B5EF4-FFF2-40B4-BE49-F238E27FC236}">
                <a16:creationId xmlns:a16="http://schemas.microsoft.com/office/drawing/2014/main" id="{C851BF26-ED74-415E-A66B-C55B009C0BC0}"/>
              </a:ext>
            </a:extLst>
          </p:cNvPr>
          <p:cNvSpPr>
            <a:spLocks noGrp="1"/>
          </p:cNvSpPr>
          <p:nvPr/>
        </p:nvSpPr>
        <p:spPr>
          <a:xfrm>
            <a:off x="666750" y="2733675"/>
            <a:ext cx="10858500" cy="971550"/>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Calibrate with a known distance and enter the actual capture frame rate.</a:t>
            </a:r>
          </a:p>
        </p:txBody>
      </p:sp>
      <p:sp>
        <p:nvSpPr>
          <p:cNvPr id="5" name="body2">
            <a:extLst>
              <a:ext uri="{FF2B5EF4-FFF2-40B4-BE49-F238E27FC236}">
                <a16:creationId xmlns:a16="http://schemas.microsoft.com/office/drawing/2014/main" id="{7298054E-15D0-4828-B612-478889101019}"/>
              </a:ext>
            </a:extLst>
          </p:cNvPr>
          <p:cNvSpPr>
            <a:spLocks noGrp="1"/>
          </p:cNvSpPr>
          <p:nvPr/>
        </p:nvSpPr>
        <p:spPr>
          <a:xfrm>
            <a:off x="666750" y="3800475"/>
            <a:ext cx="10858500" cy="971550"/>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Mark the fixed pivot and both bob centers. Inspect early, middle and late frames.</a:t>
            </a:r>
          </a:p>
        </p:txBody>
      </p:sp>
      <p:sp>
        <p:nvSpPr>
          <p:cNvPr id="6" name="body3">
            <a:extLst>
              <a:ext uri="{FF2B5EF4-FFF2-40B4-BE49-F238E27FC236}">
                <a16:creationId xmlns:a16="http://schemas.microsoft.com/office/drawing/2014/main" id="{7D827387-F56D-425F-82F0-C1C3876FA203}"/>
              </a:ext>
            </a:extLst>
          </p:cNvPr>
          <p:cNvSpPr>
            <a:spLocks noGrp="1"/>
          </p:cNvSpPr>
          <p:nvPr/>
        </p:nvSpPr>
        <p:spPr>
          <a:xfrm>
            <a:off x="666750" y="4867275"/>
            <a:ext cx="10858500" cy="971550"/>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Use Quick Review to find problems, then Analyze All Frames and save results. Missing positions or a marker stuck on a fixed feature require correction.</a:t>
            </a:r>
          </a:p>
        </p:txBody>
      </p:sp>
      <p:sp>
        <p:nvSpPr>
          <p:cNvPr id="7" name="page">
            <a:extLst>
              <a:ext uri="{FF2B5EF4-FFF2-40B4-BE49-F238E27FC236}">
                <a16:creationId xmlns:a16="http://schemas.microsoft.com/office/drawing/2014/main" id="{0B49E732-CDE3-433B-9495-4AE8DFC4749F}"/>
              </a:ext>
            </a:extLst>
          </p:cNvPr>
          <p:cNvSpPr>
            <a:spLocks noGrp="1"/>
          </p:cNvSpPr>
          <p:nvPr/>
        </p:nvSpPr>
        <p:spPr>
          <a:xfrm>
            <a:off x="11449050" y="6515100"/>
            <a:ext cx="333375" cy="190500"/>
          </a:xfrm>
          <a:prstGeom prst="rect">
            <a:avLst/>
          </a:prstGeom>
          <a:noFill/>
          <a:ln w="0">
            <a:noFill/>
          </a:ln>
        </p:spPr>
        <p:txBody>
          <a:bodyPr anchor="t">
            <a:noAutofit/>
          </a:bodyPr>
          <a:lstStyle/>
          <a:p>
            <a:pPr>
              <a:defRPr sz="1050" b="0">
                <a:solidFill>
                  <a:srgbClr val="6B7280"/>
                </a:solidFill>
                <a:latin typeface="Aptos"/>
                <a:ea typeface="Aptos"/>
                <a:cs typeface="Aptos"/>
              </a:defRPr>
            </a:pPr>
            <a:r>
              <a:rPr sz="1050" b="0">
                <a:solidFill>
                  <a:srgbClr val="6B7280"/>
                </a:solidFill>
                <a:latin typeface="Aptos"/>
                <a:ea typeface="Aptos"/>
                <a:cs typeface="Aptos"/>
              </a:rPr>
              <a:t>36</a:t>
            </a:r>
          </a:p>
        </p:txBody>
      </p:sp>
    </p:spTree>
    <p:extLst>
      <p:ext uri="{BB962C8B-B14F-4D97-AF65-F5344CB8AC3E}">
        <p14:creationId xmlns:p14="http://schemas.microsoft.com/office/powerpoint/2010/main" val="125846894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course">
            <a:extLst>
              <a:ext uri="{FF2B5EF4-FFF2-40B4-BE49-F238E27FC236}">
                <a16:creationId xmlns:a16="http://schemas.microsoft.com/office/drawing/2014/main" id="{8106F435-4259-4ED1-A870-44939E6F1330}"/>
              </a:ext>
            </a:extLst>
          </p:cNvPr>
          <p:cNvSpPr>
            <a:spLocks noGrp="1"/>
          </p:cNvSpPr>
          <p:nvPr/>
        </p:nvSpPr>
        <p:spPr>
          <a:xfrm>
            <a:off x="495300" y="190500"/>
            <a:ext cx="8572500" cy="285750"/>
          </a:xfrm>
          <a:prstGeom prst="rect">
            <a:avLst/>
          </a:prstGeom>
          <a:noFill/>
          <a:ln w="0">
            <a:noFill/>
          </a:ln>
        </p:spPr>
        <p:txBody>
          <a:bodyPr anchor="t">
            <a:noAutofit/>
          </a:bodyPr>
          <a:lstStyle/>
          <a:p>
            <a:pPr>
              <a:defRPr sz="1275" b="1">
                <a:solidFill>
                  <a:srgbClr val="881C1C"/>
                </a:solidFill>
                <a:latin typeface="Aptos"/>
                <a:ea typeface="Aptos"/>
                <a:cs typeface="Aptos"/>
              </a:defRPr>
            </a:pPr>
            <a:r>
              <a:rPr sz="1275" b="1">
                <a:solidFill>
                  <a:srgbClr val="881C1C"/>
                </a:solidFill>
                <a:latin typeface="Aptos"/>
                <a:ea typeface="Aptos"/>
                <a:cs typeface="Aptos"/>
              </a:rPr>
              <a:t>MIE 402   ME LAB II</a:t>
            </a:r>
          </a:p>
        </p:txBody>
      </p:sp>
      <p:sp>
        <p:nvSpPr>
          <p:cNvPr id="2" name="title">
            <a:extLst>
              <a:ext uri="{FF2B5EF4-FFF2-40B4-BE49-F238E27FC236}">
                <a16:creationId xmlns:a16="http://schemas.microsoft.com/office/drawing/2014/main" id="{2760DB5C-0F19-48B1-AC0F-3946B1A258A3}"/>
              </a:ext>
            </a:extLst>
          </p:cNvPr>
          <p:cNvSpPr>
            <a:spLocks noGrp="1"/>
          </p:cNvSpPr>
          <p:nvPr/>
        </p:nvSpPr>
        <p:spPr>
          <a:xfrm>
            <a:off x="495300" y="666750"/>
            <a:ext cx="11125200" cy="742950"/>
          </a:xfrm>
          <a:prstGeom prst="rect">
            <a:avLst/>
          </a:prstGeom>
          <a:noFill/>
          <a:ln w="0">
            <a:noFill/>
          </a:ln>
        </p:spPr>
        <p:txBody>
          <a:bodyPr anchor="t">
            <a:noAutofit/>
          </a:bodyPr>
          <a:lstStyle/>
          <a:p>
            <a:pPr>
              <a:defRPr sz="2925" b="1">
                <a:solidFill>
                  <a:srgbClr val="152437"/>
                </a:solidFill>
                <a:latin typeface="Aptos"/>
                <a:ea typeface="Aptos"/>
                <a:cs typeface="Aptos"/>
              </a:defRPr>
            </a:pPr>
            <a:r>
              <a:rPr sz="2925" b="1">
                <a:solidFill>
                  <a:srgbClr val="152437"/>
                </a:solidFill>
                <a:latin typeface="Aptos"/>
                <a:ea typeface="Aptos"/>
                <a:cs typeface="Aptos"/>
              </a:rPr>
              <a:t>The coordinates in ExpData</a:t>
            </a:r>
          </a:p>
        </p:txBody>
      </p:sp>
      <p:sp>
        <p:nvSpPr>
          <p:cNvPr id="3" name="body0">
            <a:extLst>
              <a:ext uri="{FF2B5EF4-FFF2-40B4-BE49-F238E27FC236}">
                <a16:creationId xmlns:a16="http://schemas.microsoft.com/office/drawing/2014/main" id="{3056EC46-4E1B-4B0A-99AB-EE0FC8F3553F}"/>
              </a:ext>
            </a:extLst>
          </p:cNvPr>
          <p:cNvSpPr>
            <a:spLocks noGrp="1"/>
          </p:cNvSpPr>
          <p:nvPr/>
        </p:nvSpPr>
        <p:spPr>
          <a:xfrm>
            <a:off x="666750" y="1666875"/>
            <a:ext cx="5429250" cy="1028700"/>
          </a:xfrm>
          <a:prstGeom prst="rect">
            <a:avLst/>
          </a:prstGeom>
          <a:noFill/>
          <a:ln w="0">
            <a:noFill/>
          </a:ln>
        </p:spPr>
        <p:txBody>
          <a:bodyPr anchor="t">
            <a:noAutofit/>
          </a:bodyPr>
          <a:lstStyle/>
          <a:p>
            <a:pPr>
              <a:defRPr sz="1875" b="0">
                <a:solidFill>
                  <a:srgbClr val="202D3C"/>
                </a:solidFill>
                <a:latin typeface="Aptos"/>
                <a:ea typeface="Aptos"/>
                <a:cs typeface="Aptos"/>
              </a:defRPr>
            </a:pPr>
            <a:r>
              <a:rPr sz="1875" b="0">
                <a:solidFill>
                  <a:srgbClr val="202D3C"/>
                </a:solidFill>
                <a:latin typeface="Aptos"/>
                <a:ea typeface="Aptos"/>
                <a:cs typeface="Aptos"/>
              </a:rPr>
              <a:t>Columns: time [s], x₁ [mm], y₁ [mm], x₂ [mm], y₂ [mm].</a:t>
            </a:r>
          </a:p>
        </p:txBody>
      </p:sp>
      <p:sp>
        <p:nvSpPr>
          <p:cNvPr id="4" name="body1">
            <a:extLst>
              <a:ext uri="{FF2B5EF4-FFF2-40B4-BE49-F238E27FC236}">
                <a16:creationId xmlns:a16="http://schemas.microsoft.com/office/drawing/2014/main" id="{7FA38B97-A409-487D-A79D-BC4DD5B10A90}"/>
              </a:ext>
            </a:extLst>
          </p:cNvPr>
          <p:cNvSpPr>
            <a:spLocks noGrp="1"/>
          </p:cNvSpPr>
          <p:nvPr/>
        </p:nvSpPr>
        <p:spPr>
          <a:xfrm>
            <a:off x="666750" y="2790825"/>
            <a:ext cx="5429250" cy="1028700"/>
          </a:xfrm>
          <a:prstGeom prst="rect">
            <a:avLst/>
          </a:prstGeom>
          <a:noFill/>
          <a:ln w="0">
            <a:noFill/>
          </a:ln>
        </p:spPr>
        <p:txBody>
          <a:bodyPr anchor="t">
            <a:noAutofit/>
          </a:bodyPr>
          <a:lstStyle/>
          <a:p>
            <a:pPr>
              <a:defRPr sz="1875" b="0">
                <a:solidFill>
                  <a:srgbClr val="202D3C"/>
                </a:solidFill>
                <a:latin typeface="Aptos"/>
                <a:ea typeface="Aptos"/>
                <a:cs typeface="Aptos"/>
              </a:defRPr>
            </a:pPr>
            <a:r>
              <a:rPr sz="1875" b="0">
                <a:solidFill>
                  <a:srgbClr val="202D3C"/>
                </a:solidFill>
                <a:latin typeface="Aptos"/>
                <a:ea typeface="Aptos"/>
                <a:cs typeface="Aptos"/>
              </a:rPr>
              <a:t>Coordinates are relative to the fixed pivot, with y positive upward.</a:t>
            </a:r>
          </a:p>
        </p:txBody>
      </p:sp>
      <p:sp>
        <p:nvSpPr>
          <p:cNvPr id="5" name="body2">
            <a:extLst>
              <a:ext uri="{FF2B5EF4-FFF2-40B4-BE49-F238E27FC236}">
                <a16:creationId xmlns:a16="http://schemas.microsoft.com/office/drawing/2014/main" id="{DA091A84-E470-4811-8544-7A7E46ACC595}"/>
              </a:ext>
            </a:extLst>
          </p:cNvPr>
          <p:cNvSpPr>
            <a:spLocks noGrp="1"/>
          </p:cNvSpPr>
          <p:nvPr/>
        </p:nvSpPr>
        <p:spPr>
          <a:xfrm>
            <a:off x="666750" y="3914775"/>
            <a:ext cx="5429250" cy="1028700"/>
          </a:xfrm>
          <a:prstGeom prst="rect">
            <a:avLst/>
          </a:prstGeom>
          <a:noFill/>
          <a:ln w="0">
            <a:noFill/>
          </a:ln>
        </p:spPr>
        <p:txBody>
          <a:bodyPr anchor="t">
            <a:noAutofit/>
          </a:bodyPr>
          <a:lstStyle/>
          <a:p>
            <a:pPr>
              <a:defRPr sz="1875" b="0">
                <a:solidFill>
                  <a:srgbClr val="202D3C"/>
                </a:solidFill>
                <a:latin typeface="Aptos"/>
                <a:ea typeface="Aptos"/>
                <a:cs typeface="Aptos"/>
              </a:defRPr>
            </a:pPr>
            <a:r>
              <a:rPr sz="1875" b="0">
                <a:solidFill>
                  <a:srgbClr val="202D3C"/>
                </a:solidFill>
                <a:latin typeface="Aptos"/>
                <a:ea typeface="Aptos"/>
                <a:cs typeface="Aptos"/>
              </a:rPr>
              <a:t>The vector from bob 1 to bob 2 is (x₂ − x₁, y₂ − y₁). This vector gives the lower-link direction.</a:t>
            </a:r>
          </a:p>
        </p:txBody>
      </p:sp>
      <p:sp>
        <p:nvSpPr>
          <p:cNvPr id="6" name="body3">
            <a:extLst>
              <a:ext uri="{FF2B5EF4-FFF2-40B4-BE49-F238E27FC236}">
                <a16:creationId xmlns:a16="http://schemas.microsoft.com/office/drawing/2014/main" id="{AE084B23-0F28-443F-B1E8-61C60D8959FD}"/>
              </a:ext>
            </a:extLst>
          </p:cNvPr>
          <p:cNvSpPr>
            <a:spLocks noGrp="1"/>
          </p:cNvSpPr>
          <p:nvPr/>
        </p:nvSpPr>
        <p:spPr>
          <a:xfrm>
            <a:off x="666750" y="5038725"/>
            <a:ext cx="5429250" cy="1028700"/>
          </a:xfrm>
          <a:prstGeom prst="rect">
            <a:avLst/>
          </a:prstGeom>
          <a:noFill/>
          <a:ln w="0">
            <a:noFill/>
          </a:ln>
        </p:spPr>
        <p:txBody>
          <a:bodyPr anchor="t">
            <a:noAutofit/>
          </a:bodyPr>
          <a:lstStyle/>
          <a:p>
            <a:pPr>
              <a:defRPr sz="1875" b="0">
                <a:solidFill>
                  <a:srgbClr val="202D3C"/>
                </a:solidFill>
                <a:latin typeface="Aptos"/>
                <a:ea typeface="Aptos"/>
                <a:cs typeface="Aptos"/>
              </a:defRPr>
            </a:pPr>
            <a:r>
              <a:rPr sz="1875" b="0">
                <a:solidFill>
                  <a:srgbClr val="202D3C"/>
                </a:solidFill>
                <a:latin typeface="Aptos"/>
                <a:ea typeface="Aptos"/>
                <a:cs typeface="Aptos"/>
              </a:rPr>
              <a:t>Inspect the saved MAT file before leaving the lab. Keep the original MP4.</a:t>
            </a:r>
          </a:p>
        </p:txBody>
      </p:sp>
      <p:pic>
        <p:nvPicPr>
          <p:cNvPr id="15" name="Picture 14"/>
          <p:cNvPicPr>
            <a:picLocks noChangeAspect="1"/>
          </p:cNvPicPr>
          <p:nvPr/>
        </p:nvPicPr>
        <p:blipFill>
          <a:blip r:embed="rId3"/>
          <a:stretch/>
        </p:blipFill>
        <p:spPr>
          <a:xfrm>
            <a:off x="6524625" y="1823548"/>
            <a:ext cx="5238750" cy="3877654"/>
          </a:xfrm>
          <a:prstGeom prst="rect">
            <a:avLst/>
          </a:prstGeom>
        </p:spPr>
      </p:pic>
      <p:sp>
        <p:nvSpPr>
          <p:cNvPr id="8" name="page">
            <a:extLst>
              <a:ext uri="{FF2B5EF4-FFF2-40B4-BE49-F238E27FC236}">
                <a16:creationId xmlns:a16="http://schemas.microsoft.com/office/drawing/2014/main" id="{E4C3EDC7-282E-42F4-9DDF-A87D2A8855A0}"/>
              </a:ext>
            </a:extLst>
          </p:cNvPr>
          <p:cNvSpPr>
            <a:spLocks noGrp="1"/>
          </p:cNvSpPr>
          <p:nvPr/>
        </p:nvSpPr>
        <p:spPr>
          <a:xfrm>
            <a:off x="11449050" y="6515100"/>
            <a:ext cx="333375" cy="190500"/>
          </a:xfrm>
          <a:prstGeom prst="rect">
            <a:avLst/>
          </a:prstGeom>
          <a:noFill/>
          <a:ln w="0">
            <a:noFill/>
          </a:ln>
        </p:spPr>
        <p:txBody>
          <a:bodyPr anchor="t">
            <a:noAutofit/>
          </a:bodyPr>
          <a:lstStyle/>
          <a:p>
            <a:pPr>
              <a:defRPr sz="1050" b="0">
                <a:solidFill>
                  <a:srgbClr val="6B7280"/>
                </a:solidFill>
                <a:latin typeface="Aptos"/>
                <a:ea typeface="Aptos"/>
                <a:cs typeface="Aptos"/>
              </a:defRPr>
            </a:pPr>
            <a:r>
              <a:rPr sz="1050" b="0">
                <a:solidFill>
                  <a:srgbClr val="6B7280"/>
                </a:solidFill>
                <a:latin typeface="Aptos"/>
                <a:ea typeface="Aptos"/>
                <a:cs typeface="Aptos"/>
              </a:rPr>
              <a:t>37</a:t>
            </a:r>
          </a:p>
        </p:txBody>
      </p:sp>
    </p:spTree>
    <p:extLst>
      <p:ext uri="{BB962C8B-B14F-4D97-AF65-F5344CB8AC3E}">
        <p14:creationId xmlns:p14="http://schemas.microsoft.com/office/powerpoint/2010/main" val="176133936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course">
            <a:extLst>
              <a:ext uri="{FF2B5EF4-FFF2-40B4-BE49-F238E27FC236}">
                <a16:creationId xmlns:a16="http://schemas.microsoft.com/office/drawing/2014/main" id="{2128D211-D2A8-4101-BF57-B197F711C74F}"/>
              </a:ext>
            </a:extLst>
          </p:cNvPr>
          <p:cNvSpPr>
            <a:spLocks noGrp="1"/>
          </p:cNvSpPr>
          <p:nvPr/>
        </p:nvSpPr>
        <p:spPr>
          <a:xfrm>
            <a:off x="495300" y="190500"/>
            <a:ext cx="8572500" cy="285750"/>
          </a:xfrm>
          <a:prstGeom prst="rect">
            <a:avLst/>
          </a:prstGeom>
          <a:noFill/>
          <a:ln w="0">
            <a:noFill/>
          </a:ln>
        </p:spPr>
        <p:txBody>
          <a:bodyPr anchor="t">
            <a:noAutofit/>
          </a:bodyPr>
          <a:lstStyle/>
          <a:p>
            <a:pPr>
              <a:defRPr sz="1275" b="1">
                <a:solidFill>
                  <a:srgbClr val="881C1C"/>
                </a:solidFill>
                <a:latin typeface="Aptos"/>
                <a:ea typeface="Aptos"/>
                <a:cs typeface="Aptos"/>
              </a:defRPr>
            </a:pPr>
            <a:r>
              <a:rPr sz="1275" b="1">
                <a:solidFill>
                  <a:srgbClr val="881C1C"/>
                </a:solidFill>
                <a:latin typeface="Aptos"/>
                <a:ea typeface="Aptos"/>
                <a:cs typeface="Aptos"/>
              </a:rPr>
              <a:t>MIE 402   ME LAB II</a:t>
            </a:r>
          </a:p>
        </p:txBody>
      </p:sp>
      <p:sp>
        <p:nvSpPr>
          <p:cNvPr id="2" name="title">
            <a:extLst>
              <a:ext uri="{FF2B5EF4-FFF2-40B4-BE49-F238E27FC236}">
                <a16:creationId xmlns:a16="http://schemas.microsoft.com/office/drawing/2014/main" id="{170A4DCF-976B-4886-9A84-C711C672B0D6}"/>
              </a:ext>
            </a:extLst>
          </p:cNvPr>
          <p:cNvSpPr>
            <a:spLocks noGrp="1"/>
          </p:cNvSpPr>
          <p:nvPr/>
        </p:nvSpPr>
        <p:spPr>
          <a:xfrm>
            <a:off x="495300" y="666750"/>
            <a:ext cx="11125200" cy="742950"/>
          </a:xfrm>
          <a:prstGeom prst="rect">
            <a:avLst/>
          </a:prstGeom>
          <a:noFill/>
          <a:ln w="0">
            <a:noFill/>
          </a:ln>
        </p:spPr>
        <p:txBody>
          <a:bodyPr anchor="t">
            <a:noAutofit/>
          </a:bodyPr>
          <a:lstStyle/>
          <a:p>
            <a:pPr>
              <a:defRPr sz="2925" b="1">
                <a:solidFill>
                  <a:srgbClr val="152437"/>
                </a:solidFill>
                <a:latin typeface="Aptos"/>
                <a:ea typeface="Aptos"/>
                <a:cs typeface="Aptos"/>
              </a:defRPr>
            </a:pPr>
            <a:r>
              <a:rPr sz="2925" b="1">
                <a:solidFill>
                  <a:srgbClr val="152437"/>
                </a:solidFill>
                <a:latin typeface="Aptos"/>
                <a:ea typeface="Aptos"/>
                <a:cs typeface="Aptos"/>
              </a:rPr>
              <a:t>Positions become the two absolute angles</a:t>
            </a:r>
          </a:p>
        </p:txBody>
      </p:sp>
      <mc:AlternateContent xmlns:mc="http://schemas.openxmlformats.org/markup-compatibility/2006">
        <mc:Choice xmlns:a14="http://schemas.microsoft.com/office/drawing/2010/main" Requires="a14">
          <p:sp>
            <p:nvSpPr>
              <p:cNvPr id="3" name="EQ_angle1">
                <a:extLst>
                  <a:ext uri="{FF2B5EF4-FFF2-40B4-BE49-F238E27FC236}">
                    <a16:creationId xmlns:a16="http://schemas.microsoft.com/office/drawing/2014/main" id="{63B26747-6C22-44F1-8F3B-CA06500DE207}"/>
                  </a:ext>
                </a:extLst>
              </p:cNvPr>
              <p:cNvSpPr>
                <a:spLocks noGrp="1"/>
              </p:cNvSpPr>
              <p:nvPr/>
            </p:nvSpPr>
            <p:spPr>
              <a:xfrm>
                <a:off x="666750" y="1666875"/>
                <a:ext cx="10858500" cy="647700"/>
              </a:xfrm>
              <a:prstGeom prst="rect">
                <a:avLst/>
              </a:prstGeom>
              <a:noFill/>
              <a:ln w="0">
                <a:noFill/>
              </a:ln>
            </p:spPr>
            <p:txBody>
              <a:bodyPr anchor="t">
                <a:noAutofit/>
              </a:bodyPr>
              <a:lstStyle/>
              <a:p>
                <a:pPr algn="l"/>
                <a14:m>
                  <m:oMathPara xmlns:m="http://schemas.openxmlformats.org/officeDocument/2006/math">
                    <m:oMathParaPr>
                      <m:jc m:val="left"/>
                    </m:oMathParaPr>
                    <m:oMath>
                      <m:sSub>
                        <m:sSubPr>
                          <m:ctrlPr>
                            <a:rPr lang="en-US" sz="2400">
                              <a:latin typeface="Cambria Math"/>
                            </a:rPr>
                          </m:ctrlPr>
                        </m:sSubPr>
                        <m:e>
                          <m:r>
                            <a:rPr lang="en-US" sz="2400">
                              <a:latin typeface="Cambria Math"/>
                            </a:rPr>
                            <m:t>𝜃</m:t>
                          </m:r>
                        </m:e>
                        <m:sub>
                          <m:r>
                            <a:rPr lang="en-US" sz="2400">
                              <a:latin typeface="Cambria Math"/>
                            </a:rPr>
                            <m:t>1</m:t>
                          </m:r>
                        </m:sub>
                      </m:sSub>
                      <m:r>
                        <a:rPr lang="en-US" sz="2400">
                          <a:latin typeface="Cambria Math"/>
                        </a:rPr>
                        <m:t> = </m:t>
                      </m:r>
                      <m:r>
                        <a:rPr lang="en-US" sz="2400">
                          <a:latin typeface="Cambria Math"/>
                        </a:rPr>
                        <m:t>𝑢𝑛𝑤𝑟𝑎𝑝</m:t>
                      </m:r>
                      <m:r>
                        <a:rPr lang="en-US" sz="2400">
                          <a:latin typeface="Cambria Math"/>
                        </a:rPr>
                        <m:t>(</m:t>
                      </m:r>
                      <m:r>
                        <a:rPr lang="en-US" sz="2400">
                          <a:latin typeface="Cambria Math"/>
                        </a:rPr>
                        <m:t>𝑎𝑡𝑎𝑛</m:t>
                      </m:r>
                      <m:r>
                        <a:rPr lang="en-US" sz="2400">
                          <a:latin typeface="Cambria Math"/>
                        </a:rPr>
                        <m:t>2(</m:t>
                      </m:r>
                      <m:sSub>
                        <m:sSubPr>
                          <m:ctrlPr>
                            <a:rPr lang="en-US" sz="2400">
                              <a:latin typeface="Cambria Math"/>
                            </a:rPr>
                          </m:ctrlPr>
                        </m:sSubPr>
                        <m:e>
                          <m:r>
                            <a:rPr lang="en-US" sz="2400">
                              <a:latin typeface="Cambria Math"/>
                            </a:rPr>
                            <m:t>𝑥</m:t>
                          </m:r>
                        </m:e>
                        <m:sub>
                          <m:r>
                            <a:rPr lang="en-US" sz="2400">
                              <a:latin typeface="Cambria Math"/>
                            </a:rPr>
                            <m:t>1</m:t>
                          </m:r>
                        </m:sub>
                      </m:sSub>
                      <m:r>
                        <a:rPr lang="en-US" sz="2400">
                          <a:latin typeface="Cambria Math"/>
                        </a:rPr>
                        <m:t>, −</m:t>
                      </m:r>
                      <m:sSub>
                        <m:sSubPr>
                          <m:ctrlPr>
                            <a:rPr lang="en-US" sz="2400">
                              <a:latin typeface="Cambria Math"/>
                            </a:rPr>
                          </m:ctrlPr>
                        </m:sSubPr>
                        <m:e>
                          <m:r>
                            <a:rPr lang="en-US" sz="2400">
                              <a:latin typeface="Cambria Math"/>
                            </a:rPr>
                            <m:t>𝑦</m:t>
                          </m:r>
                        </m:e>
                        <m:sub>
                          <m:r>
                            <a:rPr lang="en-US" sz="2400">
                              <a:latin typeface="Cambria Math"/>
                            </a:rPr>
                            <m:t>1</m:t>
                          </m:r>
                        </m:sub>
                      </m:sSub>
                      <m:r>
                        <a:rPr lang="en-US" sz="2400">
                          <a:latin typeface="Cambria Math"/>
                        </a:rPr>
                        <m:t>))</m:t>
                      </m:r>
                    </m:oMath>
                  </m:oMathPara>
                </a14:m>
                <a:endParaRPr lang="en-US" sz="2400"/>
              </a:p>
            </p:txBody>
          </p:sp>
        </mc:Choice>
        <mc:Fallback>
          <p:sp>
            <p:nvSpPr>
              <p:cNvPr id="3" name="EQ_angle1">
                <a:extLst>
                  <a:ext uri="{FF2B5EF4-FFF2-40B4-BE49-F238E27FC236}">
                    <a16:creationId xmlns:a16="http://schemas.microsoft.com/office/drawing/2014/main" id="{63B26747-6C22-44F1-8F3B-CA06500DE207}"/>
                  </a:ext>
                </a:extLst>
              </p:cNvPr>
              <p:cNvSpPr>
                <a:spLocks noGrp="1" noRot="1" noChangeAspect="1" noMove="1" noResize="1" noEditPoints="1" noAdjustHandles="1" noChangeArrowheads="1" noChangeShapeType="1" noTextEdit="1"/>
              </p:cNvSpPr>
              <p:nvPr/>
            </p:nvSpPr>
            <p:spPr>
              <a:xfrm>
                <a:off x="666750" y="1666875"/>
                <a:ext cx="10858500" cy="647700"/>
              </a:xfrm>
              <a:prstGeom prst="rect">
                <a:avLst/>
              </a:prstGeom>
              <a:blipFill>
                <a:blip r:embed="rId3"/>
                <a:stretch>
                  <a:fillRect l="-112"/>
                </a:stretch>
              </a:blipFill>
              <a:ln w="0">
                <a:no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 name="EQ_angle2">
                <a:extLst>
                  <a:ext uri="{FF2B5EF4-FFF2-40B4-BE49-F238E27FC236}">
                    <a16:creationId xmlns:a16="http://schemas.microsoft.com/office/drawing/2014/main" id="{00F6D071-0DD0-4B84-AB71-55424C4CB7A2}"/>
                  </a:ext>
                </a:extLst>
              </p:cNvPr>
              <p:cNvSpPr>
                <a:spLocks noGrp="1"/>
              </p:cNvSpPr>
              <p:nvPr/>
            </p:nvSpPr>
            <p:spPr>
              <a:xfrm>
                <a:off x="666750" y="2447925"/>
                <a:ext cx="10858500" cy="647700"/>
              </a:xfrm>
              <a:prstGeom prst="rect">
                <a:avLst/>
              </a:prstGeom>
              <a:noFill/>
              <a:ln w="0">
                <a:noFill/>
              </a:ln>
            </p:spPr>
            <p:txBody>
              <a:bodyPr anchor="t">
                <a:noAutofit/>
              </a:bodyPr>
              <a:lstStyle/>
              <a:p>
                <a:pPr algn="l"/>
                <a14:m>
                  <m:oMathPara xmlns:m="http://schemas.openxmlformats.org/officeDocument/2006/math">
                    <m:oMathParaPr>
                      <m:jc m:val="left"/>
                    </m:oMathParaPr>
                    <m:oMath>
                      <m:sSub>
                        <m:sSubPr>
                          <m:ctrlPr>
                            <a:rPr lang="en-US" sz="2400">
                              <a:latin typeface="Cambria Math"/>
                            </a:rPr>
                          </m:ctrlPr>
                        </m:sSubPr>
                        <m:e>
                          <m:r>
                            <a:rPr lang="en-US" sz="2400">
                              <a:latin typeface="Cambria Math"/>
                            </a:rPr>
                            <m:t>𝜃</m:t>
                          </m:r>
                        </m:e>
                        <m:sub>
                          <m:r>
                            <a:rPr lang="en-US" sz="2400">
                              <a:latin typeface="Cambria Math"/>
                            </a:rPr>
                            <m:t>2</m:t>
                          </m:r>
                        </m:sub>
                      </m:sSub>
                      <m:r>
                        <a:rPr lang="en-US" sz="2400">
                          <a:latin typeface="Cambria Math"/>
                        </a:rPr>
                        <m:t> = </m:t>
                      </m:r>
                      <m:r>
                        <a:rPr lang="en-US" sz="2400">
                          <a:latin typeface="Cambria Math"/>
                        </a:rPr>
                        <m:t>𝑢𝑛𝑤𝑟𝑎𝑝</m:t>
                      </m:r>
                      <m:r>
                        <a:rPr lang="en-US" sz="2400">
                          <a:latin typeface="Cambria Math"/>
                        </a:rPr>
                        <m:t>(</m:t>
                      </m:r>
                      <m:r>
                        <a:rPr lang="en-US" sz="2400">
                          <a:latin typeface="Cambria Math"/>
                        </a:rPr>
                        <m:t>𝑎𝑡𝑎𝑛</m:t>
                      </m:r>
                      <m:r>
                        <a:rPr lang="en-US" sz="2400">
                          <a:latin typeface="Cambria Math"/>
                        </a:rPr>
                        <m:t>2(</m:t>
                      </m:r>
                      <m:sSub>
                        <m:sSubPr>
                          <m:ctrlPr>
                            <a:rPr lang="en-US" sz="2400">
                              <a:latin typeface="Cambria Math"/>
                            </a:rPr>
                          </m:ctrlPr>
                        </m:sSubPr>
                        <m:e>
                          <m:r>
                            <a:rPr lang="en-US" sz="2400">
                              <a:latin typeface="Cambria Math"/>
                            </a:rPr>
                            <m:t>𝑥</m:t>
                          </m:r>
                        </m:e>
                        <m:sub>
                          <m:r>
                            <a:rPr lang="en-US" sz="2400">
                              <a:latin typeface="Cambria Math"/>
                            </a:rPr>
                            <m:t>2</m:t>
                          </m:r>
                        </m:sub>
                      </m:sSub>
                      <m:r>
                        <a:rPr lang="en-US" sz="2400">
                          <a:latin typeface="Cambria Math"/>
                        </a:rPr>
                        <m:t> − </m:t>
                      </m:r>
                      <m:sSub>
                        <m:sSubPr>
                          <m:ctrlPr>
                            <a:rPr lang="en-US" sz="2400">
                              <a:latin typeface="Cambria Math"/>
                            </a:rPr>
                          </m:ctrlPr>
                        </m:sSubPr>
                        <m:e>
                          <m:r>
                            <a:rPr lang="en-US" sz="2400">
                              <a:latin typeface="Cambria Math"/>
                            </a:rPr>
                            <m:t>𝑥</m:t>
                          </m:r>
                        </m:e>
                        <m:sub>
                          <m:r>
                            <a:rPr lang="en-US" sz="2400">
                              <a:latin typeface="Cambria Math"/>
                            </a:rPr>
                            <m:t>1</m:t>
                          </m:r>
                        </m:sub>
                      </m:sSub>
                      <m:r>
                        <a:rPr lang="en-US" sz="2400">
                          <a:latin typeface="Cambria Math"/>
                        </a:rPr>
                        <m:t>, −(</m:t>
                      </m:r>
                      <m:sSub>
                        <m:sSubPr>
                          <m:ctrlPr>
                            <a:rPr lang="en-US" sz="2400">
                              <a:latin typeface="Cambria Math"/>
                            </a:rPr>
                          </m:ctrlPr>
                        </m:sSubPr>
                        <m:e>
                          <m:r>
                            <a:rPr lang="en-US" sz="2400">
                              <a:latin typeface="Cambria Math"/>
                            </a:rPr>
                            <m:t>𝑦</m:t>
                          </m:r>
                        </m:e>
                        <m:sub>
                          <m:r>
                            <a:rPr lang="en-US" sz="2400">
                              <a:latin typeface="Cambria Math"/>
                            </a:rPr>
                            <m:t>2</m:t>
                          </m:r>
                        </m:sub>
                      </m:sSub>
                      <m:r>
                        <a:rPr lang="en-US" sz="2400">
                          <a:latin typeface="Cambria Math"/>
                        </a:rPr>
                        <m:t> − </m:t>
                      </m:r>
                      <m:sSub>
                        <m:sSubPr>
                          <m:ctrlPr>
                            <a:rPr lang="en-US" sz="2400">
                              <a:latin typeface="Cambria Math"/>
                            </a:rPr>
                          </m:ctrlPr>
                        </m:sSubPr>
                        <m:e>
                          <m:r>
                            <a:rPr lang="en-US" sz="2400">
                              <a:latin typeface="Cambria Math"/>
                            </a:rPr>
                            <m:t>𝑦</m:t>
                          </m:r>
                        </m:e>
                        <m:sub>
                          <m:r>
                            <a:rPr lang="en-US" sz="2400">
                              <a:latin typeface="Cambria Math"/>
                            </a:rPr>
                            <m:t>1</m:t>
                          </m:r>
                        </m:sub>
                      </m:sSub>
                      <m:r>
                        <a:rPr lang="en-US" sz="2400">
                          <a:latin typeface="Cambria Math"/>
                        </a:rPr>
                        <m:t>)))</m:t>
                      </m:r>
                    </m:oMath>
                  </m:oMathPara>
                </a14:m>
                <a:endParaRPr lang="en-US" sz="2400"/>
              </a:p>
            </p:txBody>
          </p:sp>
        </mc:Choice>
        <mc:Fallback>
          <p:sp>
            <p:nvSpPr>
              <p:cNvPr id="4" name="EQ_angle2">
                <a:extLst>
                  <a:ext uri="{FF2B5EF4-FFF2-40B4-BE49-F238E27FC236}">
                    <a16:creationId xmlns:a16="http://schemas.microsoft.com/office/drawing/2014/main" id="{00F6D071-0DD0-4B84-AB71-55424C4CB7A2}"/>
                  </a:ext>
                </a:extLst>
              </p:cNvPr>
              <p:cNvSpPr>
                <a:spLocks noGrp="1" noRot="1" noChangeAspect="1" noMove="1" noResize="1" noEditPoints="1" noAdjustHandles="1" noChangeArrowheads="1" noChangeShapeType="1" noTextEdit="1"/>
              </p:cNvSpPr>
              <p:nvPr/>
            </p:nvSpPr>
            <p:spPr>
              <a:xfrm>
                <a:off x="666750" y="2447925"/>
                <a:ext cx="10858500" cy="647700"/>
              </a:xfrm>
              <a:prstGeom prst="rect">
                <a:avLst/>
              </a:prstGeom>
              <a:blipFill>
                <a:blip r:embed="rId4"/>
                <a:stretch>
                  <a:fillRect l="-112"/>
                </a:stretch>
              </a:blipFill>
              <a:ln w="0">
                <a:noFill/>
              </a:ln>
            </p:spPr>
            <p:txBody>
              <a:bodyPr/>
              <a:lstStyle/>
              <a:p>
                <a:r>
                  <a:rPr lang="en-US">
                    <a:noFill/>
                  </a:rPr>
                  <a:t> </a:t>
                </a:r>
              </a:p>
            </p:txBody>
          </p:sp>
        </mc:Fallback>
      </mc:AlternateContent>
      <p:sp>
        <p:nvSpPr>
          <p:cNvPr id="5" name="body0">
            <a:extLst>
              <a:ext uri="{FF2B5EF4-FFF2-40B4-BE49-F238E27FC236}">
                <a16:creationId xmlns:a16="http://schemas.microsoft.com/office/drawing/2014/main" id="{46C268C4-AE8E-4808-9652-B9B1F858C313}"/>
              </a:ext>
            </a:extLst>
          </p:cNvPr>
          <p:cNvSpPr>
            <a:spLocks noGrp="1"/>
          </p:cNvSpPr>
          <p:nvPr/>
        </p:nvSpPr>
        <p:spPr>
          <a:xfrm>
            <a:off x="666750" y="3228975"/>
            <a:ext cx="10858500" cy="923925"/>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atan2 uses both vector components to identify the correct quadrant.</a:t>
            </a:r>
          </a:p>
        </p:txBody>
      </p:sp>
      <p:sp>
        <p:nvSpPr>
          <p:cNvPr id="6" name="body1">
            <a:extLst>
              <a:ext uri="{FF2B5EF4-FFF2-40B4-BE49-F238E27FC236}">
                <a16:creationId xmlns:a16="http://schemas.microsoft.com/office/drawing/2014/main" id="{7310058E-B75B-465A-8273-B2B921FFB509}"/>
              </a:ext>
            </a:extLst>
          </p:cNvPr>
          <p:cNvSpPr>
            <a:spLocks noGrp="1"/>
          </p:cNvSpPr>
          <p:nvPr/>
        </p:nvSpPr>
        <p:spPr>
          <a:xfrm>
            <a:off x="666750" y="4248150"/>
            <a:ext cx="10858500" cy="923925"/>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A downward link should give zero angle. Verify the sign using a known video frame.</a:t>
            </a:r>
          </a:p>
        </p:txBody>
      </p:sp>
      <p:sp>
        <p:nvSpPr>
          <p:cNvPr id="7" name="body2">
            <a:extLst>
              <a:ext uri="{FF2B5EF4-FFF2-40B4-BE49-F238E27FC236}">
                <a16:creationId xmlns:a16="http://schemas.microsoft.com/office/drawing/2014/main" id="{A6B612E3-1B17-4AE3-A242-AADC71D3FD7D}"/>
              </a:ext>
            </a:extLst>
          </p:cNvPr>
          <p:cNvSpPr>
            <a:spLocks noGrp="1"/>
          </p:cNvSpPr>
          <p:nvPr/>
        </p:nvSpPr>
        <p:spPr>
          <a:xfrm>
            <a:off x="666750" y="5267325"/>
            <a:ext cx="10858500" cy="923925"/>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Unwrapping removes artificial jumps at ±π when tracking continuous motion.</a:t>
            </a:r>
          </a:p>
        </p:txBody>
      </p:sp>
      <p:sp>
        <p:nvSpPr>
          <p:cNvPr id="8" name="page">
            <a:extLst>
              <a:ext uri="{FF2B5EF4-FFF2-40B4-BE49-F238E27FC236}">
                <a16:creationId xmlns:a16="http://schemas.microsoft.com/office/drawing/2014/main" id="{B571E822-CF4D-4B28-8012-8859878611FD}"/>
              </a:ext>
            </a:extLst>
          </p:cNvPr>
          <p:cNvSpPr>
            <a:spLocks noGrp="1"/>
          </p:cNvSpPr>
          <p:nvPr/>
        </p:nvSpPr>
        <p:spPr>
          <a:xfrm>
            <a:off x="11449050" y="6515100"/>
            <a:ext cx="333375" cy="190500"/>
          </a:xfrm>
          <a:prstGeom prst="rect">
            <a:avLst/>
          </a:prstGeom>
          <a:noFill/>
          <a:ln w="0">
            <a:noFill/>
          </a:ln>
        </p:spPr>
        <p:txBody>
          <a:bodyPr anchor="t">
            <a:noAutofit/>
          </a:bodyPr>
          <a:lstStyle/>
          <a:p>
            <a:pPr>
              <a:defRPr sz="1050" b="0">
                <a:solidFill>
                  <a:srgbClr val="6B7280"/>
                </a:solidFill>
                <a:latin typeface="Aptos"/>
                <a:ea typeface="Aptos"/>
                <a:cs typeface="Aptos"/>
              </a:defRPr>
            </a:pPr>
            <a:r>
              <a:rPr sz="1050" b="0">
                <a:solidFill>
                  <a:srgbClr val="6B7280"/>
                </a:solidFill>
                <a:latin typeface="Aptos"/>
                <a:ea typeface="Aptos"/>
                <a:cs typeface="Aptos"/>
              </a:rPr>
              <a:t>38</a:t>
            </a:r>
          </a:p>
        </p:txBody>
      </p:sp>
    </p:spTree>
    <p:extLst>
      <p:ext uri="{BB962C8B-B14F-4D97-AF65-F5344CB8AC3E}">
        <p14:creationId xmlns:p14="http://schemas.microsoft.com/office/powerpoint/2010/main" val="30269526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course">
            <a:extLst>
              <a:ext uri="{FF2B5EF4-FFF2-40B4-BE49-F238E27FC236}">
                <a16:creationId xmlns:a16="http://schemas.microsoft.com/office/drawing/2014/main" id="{6FA3409D-F408-4097-BCCC-33E8E081911B}"/>
              </a:ext>
            </a:extLst>
          </p:cNvPr>
          <p:cNvSpPr>
            <a:spLocks noGrp="1"/>
          </p:cNvSpPr>
          <p:nvPr/>
        </p:nvSpPr>
        <p:spPr>
          <a:xfrm>
            <a:off x="495300" y="190500"/>
            <a:ext cx="8572500" cy="285750"/>
          </a:xfrm>
          <a:prstGeom prst="rect">
            <a:avLst/>
          </a:prstGeom>
          <a:noFill/>
          <a:ln w="0">
            <a:noFill/>
          </a:ln>
        </p:spPr>
        <p:txBody>
          <a:bodyPr anchor="t">
            <a:noAutofit/>
          </a:bodyPr>
          <a:lstStyle/>
          <a:p>
            <a:pPr>
              <a:defRPr sz="1275" b="1">
                <a:solidFill>
                  <a:srgbClr val="881C1C"/>
                </a:solidFill>
                <a:latin typeface="Aptos"/>
                <a:ea typeface="Aptos"/>
                <a:cs typeface="Aptos"/>
              </a:defRPr>
            </a:pPr>
            <a:r>
              <a:rPr sz="1275" b="1">
                <a:solidFill>
                  <a:srgbClr val="881C1C"/>
                </a:solidFill>
                <a:latin typeface="Aptos"/>
                <a:ea typeface="Aptos"/>
                <a:cs typeface="Aptos"/>
              </a:rPr>
              <a:t>MIE 402   ME LAB II</a:t>
            </a:r>
          </a:p>
        </p:txBody>
      </p:sp>
      <p:sp>
        <p:nvSpPr>
          <p:cNvPr id="2" name="title">
            <a:extLst>
              <a:ext uri="{FF2B5EF4-FFF2-40B4-BE49-F238E27FC236}">
                <a16:creationId xmlns:a16="http://schemas.microsoft.com/office/drawing/2014/main" id="{4B9847E7-9BDB-4A3C-9B01-EDABBF8ED955}"/>
              </a:ext>
            </a:extLst>
          </p:cNvPr>
          <p:cNvSpPr>
            <a:spLocks noGrp="1"/>
          </p:cNvSpPr>
          <p:nvPr/>
        </p:nvSpPr>
        <p:spPr>
          <a:xfrm>
            <a:off x="495300" y="666750"/>
            <a:ext cx="11125200" cy="742950"/>
          </a:xfrm>
          <a:prstGeom prst="rect">
            <a:avLst/>
          </a:prstGeom>
          <a:noFill/>
          <a:ln w="0">
            <a:noFill/>
          </a:ln>
        </p:spPr>
        <p:txBody>
          <a:bodyPr anchor="t">
            <a:noAutofit/>
          </a:bodyPr>
          <a:lstStyle/>
          <a:p>
            <a:pPr>
              <a:defRPr sz="2925" b="1">
                <a:solidFill>
                  <a:srgbClr val="152437"/>
                </a:solidFill>
                <a:latin typeface="Aptos"/>
                <a:ea typeface="Aptos"/>
                <a:cs typeface="Aptos"/>
              </a:defRPr>
            </a:pPr>
            <a:r>
              <a:rPr sz="2925" b="1">
                <a:solidFill>
                  <a:srgbClr val="152437"/>
                </a:solidFill>
                <a:latin typeface="Aptos"/>
                <a:ea typeface="Aptos"/>
                <a:cs typeface="Aptos"/>
              </a:rPr>
              <a:t>Sampling symbols before the FFT equation</a:t>
            </a:r>
          </a:p>
        </p:txBody>
      </p:sp>
      <p:sp>
        <p:nvSpPr>
          <p:cNvPr id="3" name="body0">
            <a:extLst>
              <a:ext uri="{FF2B5EF4-FFF2-40B4-BE49-F238E27FC236}">
                <a16:creationId xmlns:a16="http://schemas.microsoft.com/office/drawing/2014/main" id="{A861CACA-5006-4946-A6FF-4E84C04BEFE5}"/>
              </a:ext>
            </a:extLst>
          </p:cNvPr>
          <p:cNvSpPr>
            <a:spLocks noGrp="1"/>
          </p:cNvSpPr>
          <p:nvPr/>
        </p:nvSpPr>
        <p:spPr>
          <a:xfrm>
            <a:off x="666750" y="1666875"/>
            <a:ext cx="10858500" cy="971550"/>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FFT means Fast Fourier Transform. It computes frequency components from an equally spaced sequence of angle measurements.</a:t>
            </a:r>
          </a:p>
        </p:txBody>
      </p:sp>
      <p:sp>
        <p:nvSpPr>
          <p:cNvPr id="4" name="body1">
            <a:extLst>
              <a:ext uri="{FF2B5EF4-FFF2-40B4-BE49-F238E27FC236}">
                <a16:creationId xmlns:a16="http://schemas.microsoft.com/office/drawing/2014/main" id="{63E72DE8-3798-493B-AD8F-1294E3263587}"/>
              </a:ext>
            </a:extLst>
          </p:cNvPr>
          <p:cNvSpPr>
            <a:spLocks noGrp="1"/>
          </p:cNvSpPr>
          <p:nvPr/>
        </p:nvSpPr>
        <p:spPr>
          <a:xfrm>
            <a:off x="666750" y="2733675"/>
            <a:ext cx="10858500" cy="971550"/>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fₛ [Hz]: sample rate of the analyzed angle data. Nₛ: number of samples used. Tᵣ = Nₛ/fₛ [s]: record duration used for FFT bin spacing.</a:t>
            </a:r>
          </a:p>
        </p:txBody>
      </p:sp>
      <p:sp>
        <p:nvSpPr>
          <p:cNvPr id="5" name="body2">
            <a:extLst>
              <a:ext uri="{FF2B5EF4-FFF2-40B4-BE49-F238E27FC236}">
                <a16:creationId xmlns:a16="http://schemas.microsoft.com/office/drawing/2014/main" id="{2CAD5F27-7F73-40B2-999C-F7A886B0CFB8}"/>
              </a:ext>
            </a:extLst>
          </p:cNvPr>
          <p:cNvSpPr>
            <a:spLocks noGrp="1"/>
          </p:cNvSpPr>
          <p:nvPr/>
        </p:nvSpPr>
        <p:spPr>
          <a:xfrm>
            <a:off x="666750" y="3800475"/>
            <a:ext cx="10858500" cy="971550"/>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Δf [Hz]: spacing between neighboring FFT frequency bins. This Δf is different from the angle difference Δ = θ₁ − θ₂.</a:t>
            </a:r>
          </a:p>
        </p:txBody>
      </p:sp>
      <p:sp>
        <p:nvSpPr>
          <p:cNvPr id="6" name="body3">
            <a:extLst>
              <a:ext uri="{FF2B5EF4-FFF2-40B4-BE49-F238E27FC236}">
                <a16:creationId xmlns:a16="http://schemas.microsoft.com/office/drawing/2014/main" id="{AFD62754-10FB-4C63-858B-951DB73E5EF6}"/>
              </a:ext>
            </a:extLst>
          </p:cNvPr>
          <p:cNvSpPr>
            <a:spLocks noGrp="1"/>
          </p:cNvSpPr>
          <p:nvPr/>
        </p:nvSpPr>
        <p:spPr>
          <a:xfrm>
            <a:off x="666750" y="4867275"/>
            <a:ext cx="10858500" cy="971550"/>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If the analyzer uses every tenth camera frame, fₛ is one tenth of the capture frame rate. Use the time column to verify the actual sample spacing.</a:t>
            </a:r>
          </a:p>
        </p:txBody>
      </p:sp>
      <p:sp>
        <p:nvSpPr>
          <p:cNvPr id="7" name="page">
            <a:extLst>
              <a:ext uri="{FF2B5EF4-FFF2-40B4-BE49-F238E27FC236}">
                <a16:creationId xmlns:a16="http://schemas.microsoft.com/office/drawing/2014/main" id="{A570C20E-7272-4F9F-A7CC-2579FE57090B}"/>
              </a:ext>
            </a:extLst>
          </p:cNvPr>
          <p:cNvSpPr>
            <a:spLocks noGrp="1"/>
          </p:cNvSpPr>
          <p:nvPr/>
        </p:nvSpPr>
        <p:spPr>
          <a:xfrm>
            <a:off x="11449050" y="6515100"/>
            <a:ext cx="333375" cy="190500"/>
          </a:xfrm>
          <a:prstGeom prst="rect">
            <a:avLst/>
          </a:prstGeom>
          <a:noFill/>
          <a:ln w="0">
            <a:noFill/>
          </a:ln>
        </p:spPr>
        <p:txBody>
          <a:bodyPr anchor="t">
            <a:noAutofit/>
          </a:bodyPr>
          <a:lstStyle/>
          <a:p>
            <a:pPr>
              <a:defRPr sz="1050" b="0">
                <a:solidFill>
                  <a:srgbClr val="6B7280"/>
                </a:solidFill>
                <a:latin typeface="Aptos"/>
                <a:ea typeface="Aptos"/>
                <a:cs typeface="Aptos"/>
              </a:defRPr>
            </a:pPr>
            <a:r>
              <a:rPr sz="1050" b="0">
                <a:solidFill>
                  <a:srgbClr val="6B7280"/>
                </a:solidFill>
                <a:latin typeface="Aptos"/>
                <a:ea typeface="Aptos"/>
                <a:cs typeface="Aptos"/>
              </a:rPr>
              <a:t>39</a:t>
            </a:r>
          </a:p>
        </p:txBody>
      </p:sp>
    </p:spTree>
    <p:extLst>
      <p:ext uri="{BB962C8B-B14F-4D97-AF65-F5344CB8AC3E}">
        <p14:creationId xmlns:p14="http://schemas.microsoft.com/office/powerpoint/2010/main" val="174627971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course">
            <a:extLst>
              <a:ext uri="{FF2B5EF4-FFF2-40B4-BE49-F238E27FC236}">
                <a16:creationId xmlns:a16="http://schemas.microsoft.com/office/drawing/2014/main" id="{1824756F-EEB9-406D-87F4-95380586755F}"/>
              </a:ext>
            </a:extLst>
          </p:cNvPr>
          <p:cNvSpPr>
            <a:spLocks noGrp="1"/>
          </p:cNvSpPr>
          <p:nvPr/>
        </p:nvSpPr>
        <p:spPr>
          <a:xfrm>
            <a:off x="495300" y="190500"/>
            <a:ext cx="8572500" cy="285750"/>
          </a:xfrm>
          <a:prstGeom prst="rect">
            <a:avLst/>
          </a:prstGeom>
          <a:noFill/>
          <a:ln w="0">
            <a:noFill/>
          </a:ln>
        </p:spPr>
        <p:txBody>
          <a:bodyPr anchor="t">
            <a:noAutofit/>
          </a:bodyPr>
          <a:lstStyle/>
          <a:p>
            <a:pPr>
              <a:defRPr sz="1275" b="1">
                <a:solidFill>
                  <a:srgbClr val="881C1C"/>
                </a:solidFill>
                <a:latin typeface="Aptos"/>
                <a:ea typeface="Aptos"/>
                <a:cs typeface="Aptos"/>
              </a:defRPr>
            </a:pPr>
            <a:r>
              <a:rPr sz="1275" b="1">
                <a:solidFill>
                  <a:srgbClr val="881C1C"/>
                </a:solidFill>
                <a:latin typeface="Aptos"/>
                <a:ea typeface="Aptos"/>
                <a:cs typeface="Aptos"/>
              </a:rPr>
              <a:t>MIE 402   ME LAB II</a:t>
            </a:r>
          </a:p>
        </p:txBody>
      </p:sp>
      <p:sp>
        <p:nvSpPr>
          <p:cNvPr id="2" name="title">
            <a:extLst>
              <a:ext uri="{FF2B5EF4-FFF2-40B4-BE49-F238E27FC236}">
                <a16:creationId xmlns:a16="http://schemas.microsoft.com/office/drawing/2014/main" id="{323BBAFF-D73E-42C6-B84B-66ADE4EBB4E4}"/>
              </a:ext>
            </a:extLst>
          </p:cNvPr>
          <p:cNvSpPr>
            <a:spLocks noGrp="1"/>
          </p:cNvSpPr>
          <p:nvPr/>
        </p:nvSpPr>
        <p:spPr>
          <a:xfrm>
            <a:off x="495300" y="666750"/>
            <a:ext cx="11125200" cy="742950"/>
          </a:xfrm>
          <a:prstGeom prst="rect">
            <a:avLst/>
          </a:prstGeom>
          <a:noFill/>
          <a:ln w="0">
            <a:noFill/>
          </a:ln>
        </p:spPr>
        <p:txBody>
          <a:bodyPr anchor="t">
            <a:noAutofit/>
          </a:bodyPr>
          <a:lstStyle/>
          <a:p>
            <a:pPr>
              <a:defRPr sz="2925" b="1">
                <a:solidFill>
                  <a:srgbClr val="152437"/>
                </a:solidFill>
                <a:latin typeface="Aptos"/>
                <a:ea typeface="Aptos"/>
                <a:cs typeface="Aptos"/>
              </a:defRPr>
            </a:pPr>
            <a:r>
              <a:rPr sz="2925" b="1">
                <a:solidFill>
                  <a:srgbClr val="152437"/>
                </a:solidFill>
                <a:latin typeface="Aptos"/>
                <a:ea typeface="Aptos"/>
                <a:cs typeface="Aptos"/>
              </a:rPr>
              <a:t>Angular velocity and frequency analysis</a:t>
            </a:r>
          </a:p>
        </p:txBody>
      </p:sp>
      <mc:AlternateContent xmlns:mc="http://schemas.openxmlformats.org/markup-compatibility/2006">
        <mc:Choice xmlns:a14="http://schemas.microsoft.com/office/drawing/2010/main" Requires="a14">
          <p:sp>
            <p:nvSpPr>
              <p:cNvPr id="3" name="EQ_omega_fft">
                <a:extLst>
                  <a:ext uri="{FF2B5EF4-FFF2-40B4-BE49-F238E27FC236}">
                    <a16:creationId xmlns:a16="http://schemas.microsoft.com/office/drawing/2014/main" id="{64057ACB-C698-4196-95AF-D1D8D977AB00}"/>
                  </a:ext>
                </a:extLst>
              </p:cNvPr>
              <p:cNvSpPr>
                <a:spLocks noGrp="1"/>
              </p:cNvSpPr>
              <p:nvPr/>
            </p:nvSpPr>
            <p:spPr>
              <a:xfrm>
                <a:off x="666750" y="1666875"/>
                <a:ext cx="10858500" cy="647700"/>
              </a:xfrm>
              <a:prstGeom prst="rect">
                <a:avLst/>
              </a:prstGeom>
              <a:noFill/>
              <a:ln w="0">
                <a:noFill/>
              </a:ln>
            </p:spPr>
            <p:txBody>
              <a:bodyPr anchor="t">
                <a:noAutofit/>
              </a:bodyPr>
              <a:lstStyle/>
              <a:p>
                <a:pPr algn="l"/>
                <a14:m>
                  <m:oMathPara xmlns:m="http://schemas.openxmlformats.org/officeDocument/2006/math">
                    <m:oMathParaPr>
                      <m:jc m:val="left"/>
                    </m:oMathParaPr>
                    <m:oMath>
                      <m:sSub>
                        <m:sSubPr>
                          <m:ctrlPr>
                            <a:rPr lang="en-US" sz="2400">
                              <a:latin typeface="Cambria Math"/>
                            </a:rPr>
                          </m:ctrlPr>
                        </m:sSubPr>
                        <m:e>
                          <m:r>
                            <a:rPr lang="en-US" sz="2400">
                              <a:latin typeface="Cambria Math"/>
                            </a:rPr>
                            <m:t>𝜔</m:t>
                          </m:r>
                        </m:e>
                        <m:sub>
                          <m:r>
                            <a:rPr lang="en-US" sz="2400">
                              <a:latin typeface="Cambria Math"/>
                            </a:rPr>
                            <m:t>𝑖</m:t>
                          </m:r>
                        </m:sub>
                      </m:sSub>
                      <m:r>
                        <a:rPr lang="en-US" sz="2400">
                          <a:latin typeface="Cambria Math"/>
                        </a:rPr>
                        <m:t> = </m:t>
                      </m:r>
                      <m:f>
                        <m:fPr>
                          <m:ctrlPr>
                            <a:rPr lang="en-US" sz="2400">
                              <a:latin typeface="Cambria Math"/>
                            </a:rPr>
                          </m:ctrlPr>
                        </m:fPr>
                        <m:num>
                          <m:r>
                            <a:rPr lang="en-US" sz="2400">
                              <a:latin typeface="Cambria Math"/>
                            </a:rPr>
                            <m:t>𝑑</m:t>
                          </m:r>
                          <m:sSub>
                            <m:sSubPr>
                              <m:ctrlPr>
                                <a:rPr lang="en-US" sz="2400">
                                  <a:latin typeface="Cambria Math"/>
                                </a:rPr>
                              </m:ctrlPr>
                            </m:sSubPr>
                            <m:e>
                              <m:r>
                                <a:rPr lang="en-US" sz="2400">
                                  <a:latin typeface="Cambria Math"/>
                                </a:rPr>
                                <m:t>𝜃</m:t>
                              </m:r>
                            </m:e>
                            <m:sub>
                              <m:r>
                                <a:rPr lang="en-US" sz="2400">
                                  <a:latin typeface="Cambria Math"/>
                                </a:rPr>
                                <m:t>𝑖</m:t>
                              </m:r>
                            </m:sub>
                          </m:sSub>
                        </m:num>
                        <m:den>
                          <m:r>
                            <a:rPr lang="en-US" sz="2400">
                              <a:latin typeface="Cambria Math"/>
                            </a:rPr>
                            <m:t>𝑑𝑡</m:t>
                          </m:r>
                        </m:den>
                      </m:f>
                      <m:r>
                        <a:rPr lang="en-US" sz="2400">
                          <a:latin typeface="Cambria Math"/>
                        </a:rPr>
                        <m:t>      </m:t>
                      </m:r>
                      <m:r>
                        <a:rPr lang="en-US" sz="2400">
                          <a:latin typeface="Cambria Math"/>
                        </a:rPr>
                        <m:t>𝛥</m:t>
                      </m:r>
                      <m:r>
                        <a:rPr lang="en-US" sz="2400">
                          <a:latin typeface="Cambria Math"/>
                        </a:rPr>
                        <m:t>𝑓</m:t>
                      </m:r>
                      <m:r>
                        <a:rPr lang="en-US" sz="2400">
                          <a:latin typeface="Cambria Math"/>
                        </a:rPr>
                        <m:t> = </m:t>
                      </m:r>
                      <m:f>
                        <m:fPr>
                          <m:ctrlPr>
                            <a:rPr lang="en-US" sz="2400" i="1">
                              <a:latin typeface="Cambria Math" panose="02040503050406030204" pitchFamily="18" charset="0"/>
                            </a:rPr>
                          </m:ctrlPr>
                        </m:fPr>
                        <m:num>
                          <m:sSub>
                            <m:sSubPr>
                              <m:ctrlPr>
                                <a:rPr lang="en-US" sz="2400">
                                  <a:latin typeface="Cambria Math"/>
                                </a:rPr>
                              </m:ctrlPr>
                            </m:sSubPr>
                            <m:e>
                              <m:r>
                                <a:rPr lang="en-US" sz="2400">
                                  <a:latin typeface="Cambria Math"/>
                                </a:rPr>
                                <m:t>𝑓</m:t>
                              </m:r>
                            </m:e>
                            <m:sub>
                              <m:r>
                                <a:rPr lang="en-US" sz="2400">
                                  <a:latin typeface="Cambria Math"/>
                                </a:rPr>
                                <m:t>𝑠</m:t>
                              </m:r>
                            </m:sub>
                          </m:sSub>
                        </m:num>
                        <m:den>
                          <m:sSub>
                            <m:sSubPr>
                              <m:ctrlPr>
                                <a:rPr lang="en-US" sz="2400">
                                  <a:latin typeface="Cambria Math"/>
                                </a:rPr>
                              </m:ctrlPr>
                            </m:sSubPr>
                            <m:e>
                              <m:r>
                                <a:rPr lang="en-US" sz="2400">
                                  <a:latin typeface="Cambria Math"/>
                                </a:rPr>
                                <m:t>𝑁</m:t>
                              </m:r>
                            </m:e>
                            <m:sub>
                              <m:r>
                                <a:rPr lang="en-US" sz="2400">
                                  <a:latin typeface="Cambria Math"/>
                                </a:rPr>
                                <m:t>𝑠</m:t>
                              </m:r>
                            </m:sub>
                          </m:sSub>
                        </m:den>
                      </m:f>
                      <m:r>
                        <a:rPr lang="en-US" sz="2400">
                          <a:latin typeface="Cambria Math"/>
                        </a:rPr>
                        <m:t> = </m:t>
                      </m:r>
                      <m:f>
                        <m:fPr>
                          <m:ctrlPr>
                            <a:rPr lang="en-US" sz="2400">
                              <a:latin typeface="Cambria Math"/>
                            </a:rPr>
                          </m:ctrlPr>
                        </m:fPr>
                        <m:num>
                          <m:r>
                            <a:rPr lang="en-US" sz="2400">
                              <a:latin typeface="Cambria Math"/>
                            </a:rPr>
                            <m:t>1</m:t>
                          </m:r>
                        </m:num>
                        <m:den>
                          <m:sSub>
                            <m:sSubPr>
                              <m:ctrlPr>
                                <a:rPr lang="en-US" sz="2400">
                                  <a:latin typeface="Cambria Math"/>
                                </a:rPr>
                              </m:ctrlPr>
                            </m:sSubPr>
                            <m:e>
                              <m:r>
                                <a:rPr lang="en-US" sz="2400">
                                  <a:latin typeface="Cambria Math"/>
                                </a:rPr>
                                <m:t>𝑇</m:t>
                              </m:r>
                            </m:e>
                            <m:sub>
                              <m:r>
                                <a:rPr lang="en-US" sz="2400">
                                  <a:latin typeface="Cambria Math"/>
                                </a:rPr>
                                <m:t>𝑟</m:t>
                              </m:r>
                            </m:sub>
                          </m:sSub>
                        </m:den>
                      </m:f>
                    </m:oMath>
                  </m:oMathPara>
                </a14:m>
                <a:endParaRPr lang="en-US" sz="2400"/>
              </a:p>
            </p:txBody>
          </p:sp>
        </mc:Choice>
        <mc:Fallback>
          <p:sp>
            <p:nvSpPr>
              <p:cNvPr id="3" name="EQ_omega_fft">
                <a:extLst>
                  <a:ext uri="{FF2B5EF4-FFF2-40B4-BE49-F238E27FC236}">
                    <a16:creationId xmlns:a16="http://schemas.microsoft.com/office/drawing/2014/main" id="{64057ACB-C698-4196-95AF-D1D8D977AB00}"/>
                  </a:ext>
                </a:extLst>
              </p:cNvPr>
              <p:cNvSpPr>
                <a:spLocks noGrp="1" noRot="1" noChangeAspect="1" noMove="1" noResize="1" noEditPoints="1" noAdjustHandles="1" noChangeArrowheads="1" noChangeShapeType="1" noTextEdit="1"/>
              </p:cNvSpPr>
              <p:nvPr/>
            </p:nvSpPr>
            <p:spPr>
              <a:xfrm>
                <a:off x="666750" y="1666875"/>
                <a:ext cx="10858500" cy="647700"/>
              </a:xfrm>
              <a:prstGeom prst="rect">
                <a:avLst/>
              </a:prstGeom>
              <a:blipFill>
                <a:blip r:embed="rId3"/>
                <a:stretch>
                  <a:fillRect b="-23364"/>
                </a:stretch>
              </a:blipFill>
              <a:ln w="0">
                <a:noFill/>
              </a:ln>
            </p:spPr>
            <p:txBody>
              <a:bodyPr/>
              <a:lstStyle/>
              <a:p>
                <a:r>
                  <a:rPr lang="en-US">
                    <a:noFill/>
                  </a:rPr>
                  <a:t> </a:t>
                </a:r>
              </a:p>
            </p:txBody>
          </p:sp>
        </mc:Fallback>
      </mc:AlternateContent>
      <p:sp>
        <p:nvSpPr>
          <p:cNvPr id="4" name="body0">
            <a:extLst>
              <a:ext uri="{FF2B5EF4-FFF2-40B4-BE49-F238E27FC236}">
                <a16:creationId xmlns:a16="http://schemas.microsoft.com/office/drawing/2014/main" id="{FA6C40BE-9EDE-41A9-B440-189AC2BD5C58}"/>
              </a:ext>
            </a:extLst>
          </p:cNvPr>
          <p:cNvSpPr>
            <a:spLocks noGrp="1"/>
          </p:cNvSpPr>
          <p:nvPr/>
        </p:nvSpPr>
        <p:spPr>
          <a:xfrm>
            <a:off x="666750" y="2447925"/>
            <a:ext cx="10858500" cy="864394"/>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Angular velocity is the slope of the angle trace. Differentiation also amplifies tracking jitter.</a:t>
            </a:r>
          </a:p>
        </p:txBody>
      </p:sp>
      <p:sp>
        <p:nvSpPr>
          <p:cNvPr id="5" name="body1">
            <a:extLst>
              <a:ext uri="{FF2B5EF4-FFF2-40B4-BE49-F238E27FC236}">
                <a16:creationId xmlns:a16="http://schemas.microsoft.com/office/drawing/2014/main" id="{F0A73ECD-034C-4720-A800-27E9B5829220}"/>
              </a:ext>
            </a:extLst>
          </p:cNvPr>
          <p:cNvSpPr>
            <a:spLocks noGrp="1"/>
          </p:cNvSpPr>
          <p:nvPr/>
        </p:nvSpPr>
        <p:spPr>
          <a:xfrm>
            <a:off x="666750" y="3407569"/>
            <a:ext cx="10858500" cy="864394"/>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FFT identifies frequency components over a finite record. Remove the mean before analysis.</a:t>
            </a:r>
          </a:p>
        </p:txBody>
      </p:sp>
      <p:sp>
        <p:nvSpPr>
          <p:cNvPr id="6" name="body2">
            <a:extLst>
              <a:ext uri="{FF2B5EF4-FFF2-40B4-BE49-F238E27FC236}">
                <a16:creationId xmlns:a16="http://schemas.microsoft.com/office/drawing/2014/main" id="{094E5165-F237-4EF2-9CC0-3E3A390F0354}"/>
              </a:ext>
            </a:extLst>
          </p:cNvPr>
          <p:cNvSpPr>
            <a:spLocks noGrp="1"/>
          </p:cNvSpPr>
          <p:nvPr/>
        </p:nvSpPr>
        <p:spPr>
          <a:xfrm>
            <a:off x="666750" y="4367213"/>
            <a:ext cx="10858500" cy="864394"/>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Small motion may show two modal peaks. Large motion can have broader or changing spectral content.</a:t>
            </a:r>
          </a:p>
        </p:txBody>
      </p:sp>
      <p:sp>
        <p:nvSpPr>
          <p:cNvPr id="7" name="body3">
            <a:extLst>
              <a:ext uri="{FF2B5EF4-FFF2-40B4-BE49-F238E27FC236}">
                <a16:creationId xmlns:a16="http://schemas.microsoft.com/office/drawing/2014/main" id="{111DC848-60BB-4F43-A218-8BA2BF87D754}"/>
              </a:ext>
            </a:extLst>
          </p:cNvPr>
          <p:cNvSpPr>
            <a:spLocks noGrp="1"/>
          </p:cNvSpPr>
          <p:nvPr/>
        </p:nvSpPr>
        <p:spPr>
          <a:xfrm>
            <a:off x="666750" y="5326856"/>
            <a:ext cx="10858500" cy="864394"/>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State record length and analysis choices. A single global sine fit may be inappropriate.</a:t>
            </a:r>
          </a:p>
        </p:txBody>
      </p:sp>
      <p:sp>
        <p:nvSpPr>
          <p:cNvPr id="8" name="page">
            <a:extLst>
              <a:ext uri="{FF2B5EF4-FFF2-40B4-BE49-F238E27FC236}">
                <a16:creationId xmlns:a16="http://schemas.microsoft.com/office/drawing/2014/main" id="{0577563F-9236-4029-8E8A-564B2CFA4CDB}"/>
              </a:ext>
            </a:extLst>
          </p:cNvPr>
          <p:cNvSpPr>
            <a:spLocks noGrp="1"/>
          </p:cNvSpPr>
          <p:nvPr/>
        </p:nvSpPr>
        <p:spPr>
          <a:xfrm>
            <a:off x="11449050" y="6515100"/>
            <a:ext cx="333375" cy="190500"/>
          </a:xfrm>
          <a:prstGeom prst="rect">
            <a:avLst/>
          </a:prstGeom>
          <a:noFill/>
          <a:ln w="0">
            <a:noFill/>
          </a:ln>
        </p:spPr>
        <p:txBody>
          <a:bodyPr anchor="t">
            <a:noAutofit/>
          </a:bodyPr>
          <a:lstStyle/>
          <a:p>
            <a:pPr>
              <a:defRPr sz="1050" b="0">
                <a:solidFill>
                  <a:srgbClr val="6B7280"/>
                </a:solidFill>
                <a:latin typeface="Aptos"/>
                <a:ea typeface="Aptos"/>
                <a:cs typeface="Aptos"/>
              </a:defRPr>
            </a:pPr>
            <a:r>
              <a:rPr sz="1050" b="0">
                <a:solidFill>
                  <a:srgbClr val="6B7280"/>
                </a:solidFill>
                <a:latin typeface="Aptos"/>
                <a:ea typeface="Aptos"/>
                <a:cs typeface="Aptos"/>
              </a:rPr>
              <a:t>40</a:t>
            </a:r>
          </a:p>
        </p:txBody>
      </p:sp>
    </p:spTree>
    <p:extLst>
      <p:ext uri="{BB962C8B-B14F-4D97-AF65-F5344CB8AC3E}">
        <p14:creationId xmlns:p14="http://schemas.microsoft.com/office/powerpoint/2010/main" val="103436788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course">
            <a:extLst>
              <a:ext uri="{FF2B5EF4-FFF2-40B4-BE49-F238E27FC236}">
                <a16:creationId xmlns:a16="http://schemas.microsoft.com/office/drawing/2014/main" id="{7368590C-65E6-485F-9BF3-7E0DC7DAF4C9}"/>
              </a:ext>
            </a:extLst>
          </p:cNvPr>
          <p:cNvSpPr>
            <a:spLocks noGrp="1"/>
          </p:cNvSpPr>
          <p:nvPr/>
        </p:nvSpPr>
        <p:spPr>
          <a:xfrm>
            <a:off x="495300" y="190500"/>
            <a:ext cx="8572500" cy="285750"/>
          </a:xfrm>
          <a:prstGeom prst="rect">
            <a:avLst/>
          </a:prstGeom>
          <a:noFill/>
          <a:ln w="0">
            <a:noFill/>
          </a:ln>
        </p:spPr>
        <p:txBody>
          <a:bodyPr anchor="t">
            <a:noAutofit/>
          </a:bodyPr>
          <a:lstStyle/>
          <a:p>
            <a:pPr>
              <a:defRPr sz="1275" b="1">
                <a:solidFill>
                  <a:srgbClr val="881C1C"/>
                </a:solidFill>
                <a:latin typeface="Aptos"/>
                <a:ea typeface="Aptos"/>
                <a:cs typeface="Aptos"/>
              </a:defRPr>
            </a:pPr>
            <a:r>
              <a:rPr sz="1275" b="1">
                <a:solidFill>
                  <a:srgbClr val="881C1C"/>
                </a:solidFill>
                <a:latin typeface="Aptos"/>
                <a:ea typeface="Aptos"/>
                <a:cs typeface="Aptos"/>
              </a:rPr>
              <a:t>MIE 402   ME LAB II</a:t>
            </a:r>
          </a:p>
        </p:txBody>
      </p:sp>
      <p:sp>
        <p:nvSpPr>
          <p:cNvPr id="2" name="title">
            <a:extLst>
              <a:ext uri="{FF2B5EF4-FFF2-40B4-BE49-F238E27FC236}">
                <a16:creationId xmlns:a16="http://schemas.microsoft.com/office/drawing/2014/main" id="{78B0FB4D-147F-49FA-B88B-95779FC2BE20}"/>
              </a:ext>
            </a:extLst>
          </p:cNvPr>
          <p:cNvSpPr>
            <a:spLocks noGrp="1"/>
          </p:cNvSpPr>
          <p:nvPr/>
        </p:nvSpPr>
        <p:spPr>
          <a:xfrm>
            <a:off x="495300" y="666750"/>
            <a:ext cx="11125200" cy="742950"/>
          </a:xfrm>
          <a:prstGeom prst="rect">
            <a:avLst/>
          </a:prstGeom>
          <a:noFill/>
          <a:ln w="0">
            <a:noFill/>
          </a:ln>
        </p:spPr>
        <p:txBody>
          <a:bodyPr anchor="t">
            <a:noAutofit/>
          </a:bodyPr>
          <a:lstStyle/>
          <a:p>
            <a:pPr>
              <a:defRPr sz="2925" b="1">
                <a:solidFill>
                  <a:srgbClr val="152437"/>
                </a:solidFill>
                <a:latin typeface="Aptos"/>
                <a:ea typeface="Aptos"/>
                <a:cs typeface="Aptos"/>
              </a:defRPr>
            </a:pPr>
            <a:r>
              <a:rPr sz="2925" b="1">
                <a:solidFill>
                  <a:srgbClr val="152437"/>
                </a:solidFill>
                <a:latin typeface="Aptos"/>
                <a:ea typeface="Aptos"/>
                <a:cs typeface="Aptos"/>
              </a:rPr>
              <a:t>Measured motion and the model</a:t>
            </a:r>
          </a:p>
        </p:txBody>
      </p:sp>
      <p:sp>
        <p:nvSpPr>
          <p:cNvPr id="3" name="body0">
            <a:extLst>
              <a:ext uri="{FF2B5EF4-FFF2-40B4-BE49-F238E27FC236}">
                <a16:creationId xmlns:a16="http://schemas.microsoft.com/office/drawing/2014/main" id="{A6474209-131D-4BF2-82E5-10FF2B6FA44F}"/>
              </a:ext>
            </a:extLst>
          </p:cNvPr>
          <p:cNvSpPr>
            <a:spLocks noGrp="1"/>
          </p:cNvSpPr>
          <p:nvPr/>
        </p:nvSpPr>
        <p:spPr>
          <a:xfrm>
            <a:off x="666750" y="1666875"/>
            <a:ext cx="10858500" cy="971550"/>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Use measured masses, lengths and starting conditions in the simulation.</a:t>
            </a:r>
          </a:p>
        </p:txBody>
      </p:sp>
      <p:sp>
        <p:nvSpPr>
          <p:cNvPr id="4" name="body1">
            <a:extLst>
              <a:ext uri="{FF2B5EF4-FFF2-40B4-BE49-F238E27FC236}">
                <a16:creationId xmlns:a16="http://schemas.microsoft.com/office/drawing/2014/main" id="{9B39F134-0895-47C2-BBB1-EDA7D29745B5}"/>
              </a:ext>
            </a:extLst>
          </p:cNvPr>
          <p:cNvSpPr>
            <a:spLocks noGrp="1"/>
          </p:cNvSpPr>
          <p:nvPr/>
        </p:nvSpPr>
        <p:spPr>
          <a:xfrm>
            <a:off x="666750" y="2733675"/>
            <a:ext cx="10858500" cy="971550"/>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Overlay both measured angles with their predictions and compare early timing and shape.</a:t>
            </a:r>
          </a:p>
        </p:txBody>
      </p:sp>
      <p:sp>
        <p:nvSpPr>
          <p:cNvPr id="5" name="body2">
            <a:extLst>
              <a:ext uri="{FF2B5EF4-FFF2-40B4-BE49-F238E27FC236}">
                <a16:creationId xmlns:a16="http://schemas.microsoft.com/office/drawing/2014/main" id="{6D994704-2521-492B-8246-C344C15E0DA4}"/>
              </a:ext>
            </a:extLst>
          </p:cNvPr>
          <p:cNvSpPr>
            <a:spLocks noGrp="1"/>
          </p:cNvSpPr>
          <p:nvPr/>
        </p:nvSpPr>
        <p:spPr>
          <a:xfrm>
            <a:off x="666750" y="3800475"/>
            <a:ext cx="10858500" cy="971550"/>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For a large-angle trial, explain how sensitive long-time agreement is to starting conditions.</a:t>
            </a:r>
          </a:p>
        </p:txBody>
      </p:sp>
      <p:sp>
        <p:nvSpPr>
          <p:cNvPr id="6" name="body3">
            <a:extLst>
              <a:ext uri="{FF2B5EF4-FFF2-40B4-BE49-F238E27FC236}">
                <a16:creationId xmlns:a16="http://schemas.microsoft.com/office/drawing/2014/main" id="{6B238D85-0F4D-4C9C-8026-BCC5BCFC84A9}"/>
              </a:ext>
            </a:extLst>
          </p:cNvPr>
          <p:cNvSpPr>
            <a:spLocks noGrp="1"/>
          </p:cNvSpPr>
          <p:nvPr/>
        </p:nvSpPr>
        <p:spPr>
          <a:xfrm>
            <a:off x="666750" y="4867275"/>
            <a:ext cx="10858500" cy="971550"/>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Discuss release push, calibration, friction, air drag and motion out of the camera plane.</a:t>
            </a:r>
          </a:p>
        </p:txBody>
      </p:sp>
      <p:sp>
        <p:nvSpPr>
          <p:cNvPr id="7" name="page">
            <a:extLst>
              <a:ext uri="{FF2B5EF4-FFF2-40B4-BE49-F238E27FC236}">
                <a16:creationId xmlns:a16="http://schemas.microsoft.com/office/drawing/2014/main" id="{C4BEAD68-BB41-463A-A42A-5D0B44E67942}"/>
              </a:ext>
            </a:extLst>
          </p:cNvPr>
          <p:cNvSpPr>
            <a:spLocks noGrp="1"/>
          </p:cNvSpPr>
          <p:nvPr/>
        </p:nvSpPr>
        <p:spPr>
          <a:xfrm>
            <a:off x="11449050" y="6515100"/>
            <a:ext cx="333375" cy="190500"/>
          </a:xfrm>
          <a:prstGeom prst="rect">
            <a:avLst/>
          </a:prstGeom>
          <a:noFill/>
          <a:ln w="0">
            <a:noFill/>
          </a:ln>
        </p:spPr>
        <p:txBody>
          <a:bodyPr anchor="t">
            <a:noAutofit/>
          </a:bodyPr>
          <a:lstStyle/>
          <a:p>
            <a:pPr>
              <a:defRPr sz="1050" b="0">
                <a:solidFill>
                  <a:srgbClr val="6B7280"/>
                </a:solidFill>
                <a:latin typeface="Aptos"/>
                <a:ea typeface="Aptos"/>
                <a:cs typeface="Aptos"/>
              </a:defRPr>
            </a:pPr>
            <a:r>
              <a:rPr sz="1050" b="0">
                <a:solidFill>
                  <a:srgbClr val="6B7280"/>
                </a:solidFill>
                <a:latin typeface="Aptos"/>
                <a:ea typeface="Aptos"/>
                <a:cs typeface="Aptos"/>
              </a:rPr>
              <a:t>41</a:t>
            </a:r>
          </a:p>
        </p:txBody>
      </p:sp>
    </p:spTree>
    <p:extLst>
      <p:ext uri="{BB962C8B-B14F-4D97-AF65-F5344CB8AC3E}">
        <p14:creationId xmlns:p14="http://schemas.microsoft.com/office/powerpoint/2010/main" val="206579542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course">
            <a:extLst>
              <a:ext uri="{FF2B5EF4-FFF2-40B4-BE49-F238E27FC236}">
                <a16:creationId xmlns:a16="http://schemas.microsoft.com/office/drawing/2014/main" id="{F33FE9DB-E034-4496-81FF-79E3E523401B}"/>
              </a:ext>
            </a:extLst>
          </p:cNvPr>
          <p:cNvSpPr>
            <a:spLocks noGrp="1"/>
          </p:cNvSpPr>
          <p:nvPr/>
        </p:nvSpPr>
        <p:spPr>
          <a:xfrm>
            <a:off x="495300" y="190500"/>
            <a:ext cx="8572500" cy="285750"/>
          </a:xfrm>
          <a:prstGeom prst="rect">
            <a:avLst/>
          </a:prstGeom>
          <a:noFill/>
          <a:ln w="0">
            <a:noFill/>
          </a:ln>
        </p:spPr>
        <p:txBody>
          <a:bodyPr anchor="t">
            <a:noAutofit/>
          </a:bodyPr>
          <a:lstStyle/>
          <a:p>
            <a:pPr>
              <a:defRPr sz="1275" b="1">
                <a:solidFill>
                  <a:srgbClr val="881C1C"/>
                </a:solidFill>
                <a:latin typeface="Aptos"/>
                <a:ea typeface="Aptos"/>
                <a:cs typeface="Aptos"/>
              </a:defRPr>
            </a:pPr>
            <a:r>
              <a:rPr sz="1275" b="1">
                <a:solidFill>
                  <a:srgbClr val="881C1C"/>
                </a:solidFill>
                <a:latin typeface="Aptos"/>
                <a:ea typeface="Aptos"/>
                <a:cs typeface="Aptos"/>
              </a:rPr>
              <a:t>MIE 402   ME LAB II</a:t>
            </a:r>
          </a:p>
        </p:txBody>
      </p:sp>
      <p:sp>
        <p:nvSpPr>
          <p:cNvPr id="2" name="title">
            <a:extLst>
              <a:ext uri="{FF2B5EF4-FFF2-40B4-BE49-F238E27FC236}">
                <a16:creationId xmlns:a16="http://schemas.microsoft.com/office/drawing/2014/main" id="{AA984320-2922-40CA-9A0B-C0D34146FC2B}"/>
              </a:ext>
            </a:extLst>
          </p:cNvPr>
          <p:cNvSpPr>
            <a:spLocks noGrp="1"/>
          </p:cNvSpPr>
          <p:nvPr/>
        </p:nvSpPr>
        <p:spPr>
          <a:xfrm>
            <a:off x="495300" y="666750"/>
            <a:ext cx="11125200" cy="742950"/>
          </a:xfrm>
          <a:prstGeom prst="rect">
            <a:avLst/>
          </a:prstGeom>
          <a:noFill/>
          <a:ln w="0">
            <a:noFill/>
          </a:ln>
        </p:spPr>
        <p:txBody>
          <a:bodyPr anchor="t">
            <a:noAutofit/>
          </a:bodyPr>
          <a:lstStyle/>
          <a:p>
            <a:pPr>
              <a:defRPr sz="2925" b="1">
                <a:solidFill>
                  <a:srgbClr val="152437"/>
                </a:solidFill>
                <a:latin typeface="Aptos"/>
                <a:ea typeface="Aptos"/>
                <a:cs typeface="Aptos"/>
              </a:defRPr>
            </a:pPr>
            <a:r>
              <a:rPr sz="2925" b="1">
                <a:solidFill>
                  <a:srgbClr val="152437"/>
                </a:solidFill>
                <a:latin typeface="Aptos"/>
                <a:ea typeface="Aptos"/>
                <a:cs typeface="Aptos"/>
              </a:rPr>
              <a:t>Pre-Lab 3 and the laboratory</a:t>
            </a:r>
          </a:p>
        </p:txBody>
      </p:sp>
      <p:sp>
        <p:nvSpPr>
          <p:cNvPr id="3" name="body0">
            <a:extLst>
              <a:ext uri="{FF2B5EF4-FFF2-40B4-BE49-F238E27FC236}">
                <a16:creationId xmlns:a16="http://schemas.microsoft.com/office/drawing/2014/main" id="{5E9F4FB2-1727-4A1D-BD0B-9CDA3E9FC4BC}"/>
              </a:ext>
            </a:extLst>
          </p:cNvPr>
          <p:cNvSpPr>
            <a:spLocks noGrp="1"/>
          </p:cNvSpPr>
          <p:nvPr/>
        </p:nvSpPr>
        <p:spPr>
          <a:xfrm>
            <a:off x="666750" y="1666875"/>
            <a:ext cx="10858500" cy="971550"/>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Run the supplied notebook and answer six questions in one Word or PDF file. No student programming is required.</a:t>
            </a:r>
          </a:p>
        </p:txBody>
      </p:sp>
      <p:sp>
        <p:nvSpPr>
          <p:cNvPr id="4" name="body1">
            <a:extLst>
              <a:ext uri="{FF2B5EF4-FFF2-40B4-BE49-F238E27FC236}">
                <a16:creationId xmlns:a16="http://schemas.microsoft.com/office/drawing/2014/main" id="{28270CFE-740E-4B33-9BA8-D49C326F5369}"/>
              </a:ext>
            </a:extLst>
          </p:cNvPr>
          <p:cNvSpPr>
            <a:spLocks noGrp="1"/>
          </p:cNvSpPr>
          <p:nvPr/>
        </p:nvSpPr>
        <p:spPr>
          <a:xfrm>
            <a:off x="666750" y="2733675"/>
            <a:ext cx="10858500" cy="971550"/>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Compare one small release with two large releases separated by 1° at the start.</a:t>
            </a:r>
          </a:p>
        </p:txBody>
      </p:sp>
      <p:sp>
        <p:nvSpPr>
          <p:cNvPr id="5" name="body2">
            <a:extLst>
              <a:ext uri="{FF2B5EF4-FFF2-40B4-BE49-F238E27FC236}">
                <a16:creationId xmlns:a16="http://schemas.microsoft.com/office/drawing/2014/main" id="{9E33237A-B237-46EA-BC82-67BBFE9B0F28}"/>
              </a:ext>
            </a:extLst>
          </p:cNvPr>
          <p:cNvSpPr>
            <a:spLocks noGrp="1"/>
          </p:cNvSpPr>
          <p:nvPr/>
        </p:nvSpPr>
        <p:spPr>
          <a:xfrm>
            <a:off x="666750" y="3800475"/>
            <a:ext cx="10858500" cy="971550"/>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Read angle traces, their separation and the spectra. Explain the role of energy and coupling.</a:t>
            </a:r>
          </a:p>
        </p:txBody>
      </p:sp>
      <p:sp>
        <p:nvSpPr>
          <p:cNvPr id="6" name="body3">
            <a:extLst>
              <a:ext uri="{FF2B5EF4-FFF2-40B4-BE49-F238E27FC236}">
                <a16:creationId xmlns:a16="http://schemas.microsoft.com/office/drawing/2014/main" id="{2837B35C-0493-4791-8857-A947654D052D}"/>
              </a:ext>
            </a:extLst>
          </p:cNvPr>
          <p:cNvSpPr>
            <a:spLocks noGrp="1"/>
          </p:cNvSpPr>
          <p:nvPr/>
        </p:nvSpPr>
        <p:spPr>
          <a:xfrm>
            <a:off x="666750" y="4867275"/>
            <a:ext cx="10858500" cy="971550"/>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Use the pre-lab to plan measurements. Replace illustrative masses and lengths with your measured apparatus values.</a:t>
            </a:r>
          </a:p>
        </p:txBody>
      </p:sp>
      <p:sp>
        <p:nvSpPr>
          <p:cNvPr id="7" name="page">
            <a:extLst>
              <a:ext uri="{FF2B5EF4-FFF2-40B4-BE49-F238E27FC236}">
                <a16:creationId xmlns:a16="http://schemas.microsoft.com/office/drawing/2014/main" id="{86A58345-D51C-4E6C-85DE-32D94DB3A361}"/>
              </a:ext>
            </a:extLst>
          </p:cNvPr>
          <p:cNvSpPr>
            <a:spLocks noGrp="1"/>
          </p:cNvSpPr>
          <p:nvPr/>
        </p:nvSpPr>
        <p:spPr>
          <a:xfrm>
            <a:off x="11449050" y="6515100"/>
            <a:ext cx="333375" cy="190500"/>
          </a:xfrm>
          <a:prstGeom prst="rect">
            <a:avLst/>
          </a:prstGeom>
          <a:noFill/>
          <a:ln w="0">
            <a:noFill/>
          </a:ln>
        </p:spPr>
        <p:txBody>
          <a:bodyPr anchor="t">
            <a:noAutofit/>
          </a:bodyPr>
          <a:lstStyle/>
          <a:p>
            <a:pPr>
              <a:defRPr sz="1050" b="0">
                <a:solidFill>
                  <a:srgbClr val="6B7280"/>
                </a:solidFill>
                <a:latin typeface="Aptos"/>
                <a:ea typeface="Aptos"/>
                <a:cs typeface="Aptos"/>
              </a:defRPr>
            </a:pPr>
            <a:r>
              <a:rPr sz="1050" b="0">
                <a:solidFill>
                  <a:srgbClr val="6B7280"/>
                </a:solidFill>
                <a:latin typeface="Aptos"/>
                <a:ea typeface="Aptos"/>
                <a:cs typeface="Aptos"/>
              </a:rPr>
              <a:t>42</a:t>
            </a:r>
          </a:p>
        </p:txBody>
      </p:sp>
    </p:spTree>
    <p:extLst>
      <p:ext uri="{BB962C8B-B14F-4D97-AF65-F5344CB8AC3E}">
        <p14:creationId xmlns:p14="http://schemas.microsoft.com/office/powerpoint/2010/main" val="27385617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course">
            <a:extLst>
              <a:ext uri="{FF2B5EF4-FFF2-40B4-BE49-F238E27FC236}">
                <a16:creationId xmlns:a16="http://schemas.microsoft.com/office/drawing/2014/main" id="{C6D95221-336B-4205-ACFA-C2CB0551625E}"/>
              </a:ext>
            </a:extLst>
          </p:cNvPr>
          <p:cNvSpPr>
            <a:spLocks noGrp="1"/>
          </p:cNvSpPr>
          <p:nvPr/>
        </p:nvSpPr>
        <p:spPr>
          <a:xfrm>
            <a:off x="495300" y="190500"/>
            <a:ext cx="8572500" cy="285750"/>
          </a:xfrm>
          <a:prstGeom prst="rect">
            <a:avLst/>
          </a:prstGeom>
          <a:noFill/>
          <a:ln w="0">
            <a:noFill/>
          </a:ln>
        </p:spPr>
        <p:txBody>
          <a:bodyPr anchor="t">
            <a:noAutofit/>
          </a:bodyPr>
          <a:lstStyle/>
          <a:p>
            <a:pPr>
              <a:defRPr sz="1275" b="1">
                <a:solidFill>
                  <a:srgbClr val="881C1C"/>
                </a:solidFill>
                <a:latin typeface="Aptos"/>
                <a:ea typeface="Aptos"/>
                <a:cs typeface="Aptos"/>
              </a:defRPr>
            </a:pPr>
            <a:r>
              <a:rPr sz="1275" b="1">
                <a:solidFill>
                  <a:srgbClr val="881C1C"/>
                </a:solidFill>
                <a:latin typeface="Aptos"/>
                <a:ea typeface="Aptos"/>
                <a:cs typeface="Aptos"/>
              </a:rPr>
              <a:t>MIE 402   ME LAB II</a:t>
            </a:r>
          </a:p>
        </p:txBody>
      </p:sp>
      <p:sp>
        <p:nvSpPr>
          <p:cNvPr id="2" name="title">
            <a:extLst>
              <a:ext uri="{FF2B5EF4-FFF2-40B4-BE49-F238E27FC236}">
                <a16:creationId xmlns:a16="http://schemas.microsoft.com/office/drawing/2014/main" id="{4E9227B1-688D-4ECD-85D9-0EEC18BE956E}"/>
              </a:ext>
            </a:extLst>
          </p:cNvPr>
          <p:cNvSpPr>
            <a:spLocks noGrp="1"/>
          </p:cNvSpPr>
          <p:nvPr/>
        </p:nvSpPr>
        <p:spPr>
          <a:xfrm>
            <a:off x="495300" y="666750"/>
            <a:ext cx="11125200" cy="742950"/>
          </a:xfrm>
          <a:prstGeom prst="rect">
            <a:avLst/>
          </a:prstGeom>
          <a:noFill/>
          <a:ln w="0">
            <a:noFill/>
          </a:ln>
        </p:spPr>
        <p:txBody>
          <a:bodyPr anchor="t">
            <a:noAutofit/>
          </a:bodyPr>
          <a:lstStyle/>
          <a:p>
            <a:pPr>
              <a:defRPr sz="2925" b="1">
                <a:solidFill>
                  <a:srgbClr val="152437"/>
                </a:solidFill>
                <a:latin typeface="Aptos"/>
                <a:ea typeface="Aptos"/>
                <a:cs typeface="Aptos"/>
              </a:defRPr>
            </a:pPr>
            <a:r>
              <a:rPr sz="2925" b="1">
                <a:solidFill>
                  <a:srgbClr val="152437"/>
                </a:solidFill>
                <a:latin typeface="Aptos"/>
                <a:ea typeface="Aptos"/>
                <a:cs typeface="Aptos"/>
              </a:rPr>
              <a:t>The practical sequence in the lab</a:t>
            </a:r>
          </a:p>
        </p:txBody>
      </p:sp>
      <p:sp>
        <p:nvSpPr>
          <p:cNvPr id="3" name="body0">
            <a:extLst>
              <a:ext uri="{FF2B5EF4-FFF2-40B4-BE49-F238E27FC236}">
                <a16:creationId xmlns:a16="http://schemas.microsoft.com/office/drawing/2014/main" id="{65A2AA95-8DFF-4842-B6A4-BB1D7FA3DE70}"/>
              </a:ext>
            </a:extLst>
          </p:cNvPr>
          <p:cNvSpPr>
            <a:spLocks noGrp="1"/>
          </p:cNvSpPr>
          <p:nvPr/>
        </p:nvSpPr>
        <p:spPr>
          <a:xfrm>
            <a:off x="666750" y="1666875"/>
            <a:ext cx="10858500" cy="971550"/>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Measure and label the parts. Decide which mass belongs in each model parameter.</a:t>
            </a:r>
          </a:p>
        </p:txBody>
      </p:sp>
      <p:sp>
        <p:nvSpPr>
          <p:cNvPr id="4" name="body1">
            <a:extLst>
              <a:ext uri="{FF2B5EF4-FFF2-40B4-BE49-F238E27FC236}">
                <a16:creationId xmlns:a16="http://schemas.microsoft.com/office/drawing/2014/main" id="{5A1052A2-B394-4669-82A3-AA78F65AF323}"/>
              </a:ext>
            </a:extLst>
          </p:cNvPr>
          <p:cNvSpPr>
            <a:spLocks noGrp="1"/>
          </p:cNvSpPr>
          <p:nvPr/>
        </p:nvSpPr>
        <p:spPr>
          <a:xfrm>
            <a:off x="666750" y="2733675"/>
            <a:ext cx="10858500" cy="971550"/>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Set the camera and calibration, then record the four releases.</a:t>
            </a:r>
          </a:p>
        </p:txBody>
      </p:sp>
      <p:sp>
        <p:nvSpPr>
          <p:cNvPr id="5" name="body2">
            <a:extLst>
              <a:ext uri="{FF2B5EF4-FFF2-40B4-BE49-F238E27FC236}">
                <a16:creationId xmlns:a16="http://schemas.microsoft.com/office/drawing/2014/main" id="{3D5DF779-2EBE-40CE-8940-0BB41D676187}"/>
              </a:ext>
            </a:extLst>
          </p:cNvPr>
          <p:cNvSpPr>
            <a:spLocks noGrp="1"/>
          </p:cNvSpPr>
          <p:nvPr/>
        </p:nvSpPr>
        <p:spPr>
          <a:xfrm>
            <a:off x="666750" y="3800475"/>
            <a:ext cx="10858500" cy="971550"/>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Review pivot and bob markers throughout each recording. Analyze all frames and save ExpData.</a:t>
            </a:r>
          </a:p>
        </p:txBody>
      </p:sp>
      <p:sp>
        <p:nvSpPr>
          <p:cNvPr id="6" name="body3">
            <a:extLst>
              <a:ext uri="{FF2B5EF4-FFF2-40B4-BE49-F238E27FC236}">
                <a16:creationId xmlns:a16="http://schemas.microsoft.com/office/drawing/2014/main" id="{ECD13B6F-A935-4ADA-8765-0F7E4C097D5F}"/>
              </a:ext>
            </a:extLst>
          </p:cNvPr>
          <p:cNvSpPr>
            <a:spLocks noGrp="1"/>
          </p:cNvSpPr>
          <p:nvPr/>
        </p:nvSpPr>
        <p:spPr>
          <a:xfrm>
            <a:off x="666750" y="4867275"/>
            <a:ext cx="10858500" cy="971550"/>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Generate two angle traces, two angular-velocity traces and spectra. Review one complete trial with the GTA.</a:t>
            </a:r>
          </a:p>
        </p:txBody>
      </p:sp>
      <p:sp>
        <p:nvSpPr>
          <p:cNvPr id="7" name="page">
            <a:extLst>
              <a:ext uri="{FF2B5EF4-FFF2-40B4-BE49-F238E27FC236}">
                <a16:creationId xmlns:a16="http://schemas.microsoft.com/office/drawing/2014/main" id="{D417678E-F1E9-460A-9090-F6C7E0D30ADE}"/>
              </a:ext>
            </a:extLst>
          </p:cNvPr>
          <p:cNvSpPr>
            <a:spLocks noGrp="1"/>
          </p:cNvSpPr>
          <p:nvPr/>
        </p:nvSpPr>
        <p:spPr>
          <a:xfrm>
            <a:off x="11449050" y="6515100"/>
            <a:ext cx="333375" cy="190500"/>
          </a:xfrm>
          <a:prstGeom prst="rect">
            <a:avLst/>
          </a:prstGeom>
          <a:noFill/>
          <a:ln w="0">
            <a:noFill/>
          </a:ln>
        </p:spPr>
        <p:txBody>
          <a:bodyPr anchor="t">
            <a:noAutofit/>
          </a:bodyPr>
          <a:lstStyle/>
          <a:p>
            <a:pPr>
              <a:defRPr sz="1050" b="0">
                <a:solidFill>
                  <a:srgbClr val="6B7280"/>
                </a:solidFill>
                <a:latin typeface="Aptos"/>
                <a:ea typeface="Aptos"/>
                <a:cs typeface="Aptos"/>
              </a:defRPr>
            </a:pPr>
            <a:r>
              <a:rPr sz="1050" b="0">
                <a:solidFill>
                  <a:srgbClr val="6B7280"/>
                </a:solidFill>
                <a:latin typeface="Aptos"/>
                <a:ea typeface="Aptos"/>
                <a:cs typeface="Aptos"/>
              </a:rPr>
              <a:t>43</a:t>
            </a:r>
          </a:p>
        </p:txBody>
      </p:sp>
    </p:spTree>
    <p:extLst>
      <p:ext uri="{BB962C8B-B14F-4D97-AF65-F5344CB8AC3E}">
        <p14:creationId xmlns:p14="http://schemas.microsoft.com/office/powerpoint/2010/main" val="8759241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course">
            <a:extLst>
              <a:ext uri="{FF2B5EF4-FFF2-40B4-BE49-F238E27FC236}">
                <a16:creationId xmlns:a16="http://schemas.microsoft.com/office/drawing/2014/main" id="{46C37A44-B686-4A1C-B76E-F468F9DD7406}"/>
              </a:ext>
            </a:extLst>
          </p:cNvPr>
          <p:cNvSpPr>
            <a:spLocks noGrp="1"/>
          </p:cNvSpPr>
          <p:nvPr/>
        </p:nvSpPr>
        <p:spPr>
          <a:xfrm>
            <a:off x="495300" y="190500"/>
            <a:ext cx="8572500" cy="285750"/>
          </a:xfrm>
          <a:prstGeom prst="rect">
            <a:avLst/>
          </a:prstGeom>
          <a:noFill/>
          <a:ln w="0">
            <a:noFill/>
          </a:ln>
        </p:spPr>
        <p:txBody>
          <a:bodyPr anchor="t">
            <a:noAutofit/>
          </a:bodyPr>
          <a:lstStyle/>
          <a:p>
            <a:pPr>
              <a:defRPr sz="1275" b="1">
                <a:solidFill>
                  <a:srgbClr val="881C1C"/>
                </a:solidFill>
                <a:latin typeface="Aptos"/>
                <a:ea typeface="Aptos"/>
                <a:cs typeface="Aptos"/>
              </a:defRPr>
            </a:pPr>
            <a:r>
              <a:rPr sz="1275" b="1">
                <a:solidFill>
                  <a:srgbClr val="881C1C"/>
                </a:solidFill>
                <a:latin typeface="Aptos"/>
                <a:ea typeface="Aptos"/>
                <a:cs typeface="Aptos"/>
              </a:rPr>
              <a:t>MIE 402   ME LAB II</a:t>
            </a:r>
          </a:p>
        </p:txBody>
      </p:sp>
      <p:sp>
        <p:nvSpPr>
          <p:cNvPr id="2" name="title">
            <a:extLst>
              <a:ext uri="{FF2B5EF4-FFF2-40B4-BE49-F238E27FC236}">
                <a16:creationId xmlns:a16="http://schemas.microsoft.com/office/drawing/2014/main" id="{261AA8BA-B67F-4F12-9D7F-3ADAB8435A6C}"/>
              </a:ext>
            </a:extLst>
          </p:cNvPr>
          <p:cNvSpPr>
            <a:spLocks noGrp="1"/>
          </p:cNvSpPr>
          <p:nvPr/>
        </p:nvSpPr>
        <p:spPr>
          <a:xfrm>
            <a:off x="495300" y="666750"/>
            <a:ext cx="11125200" cy="742950"/>
          </a:xfrm>
          <a:prstGeom prst="rect">
            <a:avLst/>
          </a:prstGeom>
          <a:noFill/>
          <a:ln w="0">
            <a:noFill/>
          </a:ln>
        </p:spPr>
        <p:txBody>
          <a:bodyPr anchor="t">
            <a:noAutofit/>
          </a:bodyPr>
          <a:lstStyle/>
          <a:p>
            <a:pPr>
              <a:defRPr sz="2925" b="1">
                <a:solidFill>
                  <a:srgbClr val="152437"/>
                </a:solidFill>
                <a:latin typeface="Aptos"/>
                <a:ea typeface="Aptos"/>
                <a:cs typeface="Aptos"/>
              </a:defRPr>
            </a:pPr>
            <a:r>
              <a:rPr sz="2925" b="1">
                <a:solidFill>
                  <a:srgbClr val="152437"/>
                </a:solidFill>
                <a:latin typeface="Aptos"/>
                <a:ea typeface="Aptos"/>
                <a:cs typeface="Aptos"/>
              </a:rPr>
              <a:t>Before leaving the laboratory</a:t>
            </a:r>
          </a:p>
        </p:txBody>
      </p:sp>
      <p:sp>
        <p:nvSpPr>
          <p:cNvPr id="3" name="body0">
            <a:extLst>
              <a:ext uri="{FF2B5EF4-FFF2-40B4-BE49-F238E27FC236}">
                <a16:creationId xmlns:a16="http://schemas.microsoft.com/office/drawing/2014/main" id="{D4AE61A7-ED05-43C1-B680-A479CAA26542}"/>
              </a:ext>
            </a:extLst>
          </p:cNvPr>
          <p:cNvSpPr>
            <a:spLocks noGrp="1"/>
          </p:cNvSpPr>
          <p:nvPr/>
        </p:nvSpPr>
        <p:spPr>
          <a:xfrm>
            <a:off x="666750" y="1666875"/>
            <a:ext cx="10858500" cy="971550"/>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Save four trial labels and their measured initial conditions.</a:t>
            </a:r>
          </a:p>
        </p:txBody>
      </p:sp>
      <p:sp>
        <p:nvSpPr>
          <p:cNvPr id="4" name="body1">
            <a:extLst>
              <a:ext uri="{FF2B5EF4-FFF2-40B4-BE49-F238E27FC236}">
                <a16:creationId xmlns:a16="http://schemas.microsoft.com/office/drawing/2014/main" id="{255B600F-2068-4C61-8ACF-BB566EEA220A}"/>
              </a:ext>
            </a:extLst>
          </p:cNvPr>
          <p:cNvSpPr>
            <a:spLocks noGrp="1"/>
          </p:cNvSpPr>
          <p:nvPr/>
        </p:nvSpPr>
        <p:spPr>
          <a:xfrm>
            <a:off x="666750" y="2733675"/>
            <a:ext cx="10858500" cy="971550"/>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Record masses and lengths with units, capture frame rate and calibration distance.</a:t>
            </a:r>
          </a:p>
        </p:txBody>
      </p:sp>
      <p:sp>
        <p:nvSpPr>
          <p:cNvPr id="5" name="body2">
            <a:extLst>
              <a:ext uri="{FF2B5EF4-FFF2-40B4-BE49-F238E27FC236}">
                <a16:creationId xmlns:a16="http://schemas.microsoft.com/office/drawing/2014/main" id="{67E97B46-83AB-4225-A516-DF57F90A2F3B}"/>
              </a:ext>
            </a:extLst>
          </p:cNvPr>
          <p:cNvSpPr>
            <a:spLocks noGrp="1"/>
          </p:cNvSpPr>
          <p:nvPr/>
        </p:nvSpPr>
        <p:spPr>
          <a:xfrm>
            <a:off x="666750" y="3800475"/>
            <a:ext cx="10858500" cy="971550"/>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Keep raw MP4 and ExpData MAT files for each trial.</a:t>
            </a:r>
          </a:p>
        </p:txBody>
      </p:sp>
      <p:sp>
        <p:nvSpPr>
          <p:cNvPr id="6" name="body3">
            <a:extLst>
              <a:ext uri="{FF2B5EF4-FFF2-40B4-BE49-F238E27FC236}">
                <a16:creationId xmlns:a16="http://schemas.microsoft.com/office/drawing/2014/main" id="{1B99D28C-0BA8-4EAE-8FCE-D6B7FAEACAD6}"/>
              </a:ext>
            </a:extLst>
          </p:cNvPr>
          <p:cNvSpPr>
            <a:spLocks noGrp="1"/>
          </p:cNvSpPr>
          <p:nvPr/>
        </p:nvSpPr>
        <p:spPr>
          <a:xfrm>
            <a:off x="666750" y="4867275"/>
            <a:ext cx="10858500" cy="971550"/>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Confirm that the complete analysis opens on your own computer and that the plotted trajectories are physically plausible.</a:t>
            </a:r>
          </a:p>
        </p:txBody>
      </p:sp>
      <p:sp>
        <p:nvSpPr>
          <p:cNvPr id="7" name="page">
            <a:extLst>
              <a:ext uri="{FF2B5EF4-FFF2-40B4-BE49-F238E27FC236}">
                <a16:creationId xmlns:a16="http://schemas.microsoft.com/office/drawing/2014/main" id="{B698F8F2-A77B-453C-A5FA-F3C64CC88CB0}"/>
              </a:ext>
            </a:extLst>
          </p:cNvPr>
          <p:cNvSpPr>
            <a:spLocks noGrp="1"/>
          </p:cNvSpPr>
          <p:nvPr/>
        </p:nvSpPr>
        <p:spPr>
          <a:xfrm>
            <a:off x="11449050" y="6515100"/>
            <a:ext cx="333375" cy="190500"/>
          </a:xfrm>
          <a:prstGeom prst="rect">
            <a:avLst/>
          </a:prstGeom>
          <a:noFill/>
          <a:ln w="0">
            <a:noFill/>
          </a:ln>
        </p:spPr>
        <p:txBody>
          <a:bodyPr anchor="t">
            <a:noAutofit/>
          </a:bodyPr>
          <a:lstStyle/>
          <a:p>
            <a:pPr>
              <a:defRPr sz="1050" b="0">
                <a:solidFill>
                  <a:srgbClr val="6B7280"/>
                </a:solidFill>
                <a:latin typeface="Aptos"/>
                <a:ea typeface="Aptos"/>
                <a:cs typeface="Aptos"/>
              </a:defRPr>
            </a:pPr>
            <a:r>
              <a:rPr sz="1050" b="0">
                <a:solidFill>
                  <a:srgbClr val="6B7280"/>
                </a:solidFill>
                <a:latin typeface="Aptos"/>
                <a:ea typeface="Aptos"/>
                <a:cs typeface="Aptos"/>
              </a:rPr>
              <a:t>44</a:t>
            </a:r>
          </a:p>
        </p:txBody>
      </p:sp>
    </p:spTree>
    <p:extLst>
      <p:ext uri="{BB962C8B-B14F-4D97-AF65-F5344CB8AC3E}">
        <p14:creationId xmlns:p14="http://schemas.microsoft.com/office/powerpoint/2010/main" val="159169576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course">
            <a:extLst>
              <a:ext uri="{FF2B5EF4-FFF2-40B4-BE49-F238E27FC236}">
                <a16:creationId xmlns:a16="http://schemas.microsoft.com/office/drawing/2014/main" id="{E0880E00-C1C6-45E5-9F6C-C3F954E84BAF}"/>
              </a:ext>
            </a:extLst>
          </p:cNvPr>
          <p:cNvSpPr>
            <a:spLocks noGrp="1"/>
          </p:cNvSpPr>
          <p:nvPr/>
        </p:nvSpPr>
        <p:spPr>
          <a:xfrm>
            <a:off x="495300" y="190500"/>
            <a:ext cx="8572500" cy="285750"/>
          </a:xfrm>
          <a:prstGeom prst="rect">
            <a:avLst/>
          </a:prstGeom>
          <a:noFill/>
          <a:ln w="0">
            <a:noFill/>
          </a:ln>
        </p:spPr>
        <p:txBody>
          <a:bodyPr anchor="t">
            <a:noAutofit/>
          </a:bodyPr>
          <a:lstStyle/>
          <a:p>
            <a:pPr>
              <a:defRPr sz="1275" b="1">
                <a:solidFill>
                  <a:srgbClr val="881C1C"/>
                </a:solidFill>
                <a:latin typeface="Aptos"/>
                <a:ea typeface="Aptos"/>
                <a:cs typeface="Aptos"/>
              </a:defRPr>
            </a:pPr>
            <a:r>
              <a:rPr sz="1275" b="1">
                <a:solidFill>
                  <a:srgbClr val="881C1C"/>
                </a:solidFill>
                <a:latin typeface="Aptos"/>
                <a:ea typeface="Aptos"/>
                <a:cs typeface="Aptos"/>
              </a:rPr>
              <a:t>MIE 402   ME LAB II</a:t>
            </a:r>
          </a:p>
        </p:txBody>
      </p:sp>
      <p:sp>
        <p:nvSpPr>
          <p:cNvPr id="2" name="title">
            <a:extLst>
              <a:ext uri="{FF2B5EF4-FFF2-40B4-BE49-F238E27FC236}">
                <a16:creationId xmlns:a16="http://schemas.microsoft.com/office/drawing/2014/main" id="{E370DA03-0B57-4A9B-AE2A-91DE74E7675C}"/>
              </a:ext>
            </a:extLst>
          </p:cNvPr>
          <p:cNvSpPr>
            <a:spLocks noGrp="1"/>
          </p:cNvSpPr>
          <p:nvPr/>
        </p:nvSpPr>
        <p:spPr>
          <a:xfrm>
            <a:off x="495300" y="666750"/>
            <a:ext cx="11125200" cy="742950"/>
          </a:xfrm>
          <a:prstGeom prst="rect">
            <a:avLst/>
          </a:prstGeom>
          <a:noFill/>
          <a:ln w="0">
            <a:noFill/>
          </a:ln>
        </p:spPr>
        <p:txBody>
          <a:bodyPr anchor="t">
            <a:noAutofit/>
          </a:bodyPr>
          <a:lstStyle/>
          <a:p>
            <a:pPr>
              <a:defRPr sz="2925" b="1">
                <a:solidFill>
                  <a:srgbClr val="152437"/>
                </a:solidFill>
                <a:latin typeface="Aptos"/>
                <a:ea typeface="Aptos"/>
                <a:cs typeface="Aptos"/>
              </a:defRPr>
            </a:pPr>
            <a:r>
              <a:rPr sz="2925" b="1">
                <a:solidFill>
                  <a:srgbClr val="152437"/>
                </a:solidFill>
                <a:latin typeface="Aptos"/>
                <a:ea typeface="Aptos"/>
                <a:cs typeface="Aptos"/>
              </a:rPr>
              <a:t>Questions for discussion</a:t>
            </a:r>
          </a:p>
        </p:txBody>
      </p:sp>
      <p:sp>
        <p:nvSpPr>
          <p:cNvPr id="3" name="body0">
            <a:extLst>
              <a:ext uri="{FF2B5EF4-FFF2-40B4-BE49-F238E27FC236}">
                <a16:creationId xmlns:a16="http://schemas.microsoft.com/office/drawing/2014/main" id="{32B71579-DD9C-4223-9495-84921F58E556}"/>
              </a:ext>
            </a:extLst>
          </p:cNvPr>
          <p:cNvSpPr>
            <a:spLocks noGrp="1"/>
          </p:cNvSpPr>
          <p:nvPr/>
        </p:nvSpPr>
        <p:spPr>
          <a:xfrm>
            <a:off x="666750" y="1666875"/>
            <a:ext cx="10858500" cy="971550"/>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If both links start at the same angle, must they remain aligned? Explain using the coupling.</a:t>
            </a:r>
          </a:p>
        </p:txBody>
      </p:sp>
      <p:sp>
        <p:nvSpPr>
          <p:cNvPr id="4" name="body1">
            <a:extLst>
              <a:ext uri="{FF2B5EF4-FFF2-40B4-BE49-F238E27FC236}">
                <a16:creationId xmlns:a16="http://schemas.microsoft.com/office/drawing/2014/main" id="{731014AD-5B2C-4A4A-A9D9-9F171712DA8B}"/>
              </a:ext>
            </a:extLst>
          </p:cNvPr>
          <p:cNvSpPr>
            <a:spLocks noGrp="1"/>
          </p:cNvSpPr>
          <p:nvPr/>
        </p:nvSpPr>
        <p:spPr>
          <a:xfrm>
            <a:off x="666750" y="2733675"/>
            <a:ext cx="10858500" cy="971550"/>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Why does the lower assembly contribute to I₁₁ as well as I₂₂?</a:t>
            </a:r>
          </a:p>
        </p:txBody>
      </p:sp>
      <p:sp>
        <p:nvSpPr>
          <p:cNvPr id="5" name="body2">
            <a:extLst>
              <a:ext uri="{FF2B5EF4-FFF2-40B4-BE49-F238E27FC236}">
                <a16:creationId xmlns:a16="http://schemas.microsoft.com/office/drawing/2014/main" id="{44E19880-4FBE-4974-8F0F-E03513F0EAE5}"/>
              </a:ext>
            </a:extLst>
          </p:cNvPr>
          <p:cNvSpPr>
            <a:spLocks noGrp="1"/>
          </p:cNvSpPr>
          <p:nvPr/>
        </p:nvSpPr>
        <p:spPr>
          <a:xfrm>
            <a:off x="666750" y="3800475"/>
            <a:ext cx="10858500" cy="971550"/>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How would added lower-bob washers change kinetic and potential energy coefficients?</a:t>
            </a:r>
          </a:p>
        </p:txBody>
      </p:sp>
      <p:sp>
        <p:nvSpPr>
          <p:cNvPr id="6" name="body3">
            <a:extLst>
              <a:ext uri="{FF2B5EF4-FFF2-40B4-BE49-F238E27FC236}">
                <a16:creationId xmlns:a16="http://schemas.microsoft.com/office/drawing/2014/main" id="{8BAFBA6D-66DA-477A-998C-62D8049E393A}"/>
              </a:ext>
            </a:extLst>
          </p:cNvPr>
          <p:cNvSpPr>
            <a:spLocks noGrp="1"/>
          </p:cNvSpPr>
          <p:nvPr/>
        </p:nvSpPr>
        <p:spPr>
          <a:xfrm>
            <a:off x="666750" y="4867275"/>
            <a:ext cx="10858500" cy="971550"/>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What observation distinguishes bad tracking from real complex motion?</a:t>
            </a:r>
          </a:p>
        </p:txBody>
      </p:sp>
      <p:sp>
        <p:nvSpPr>
          <p:cNvPr id="7" name="page">
            <a:extLst>
              <a:ext uri="{FF2B5EF4-FFF2-40B4-BE49-F238E27FC236}">
                <a16:creationId xmlns:a16="http://schemas.microsoft.com/office/drawing/2014/main" id="{4C3CEA02-7CDA-4992-8BC5-C778D219C4A5}"/>
              </a:ext>
            </a:extLst>
          </p:cNvPr>
          <p:cNvSpPr>
            <a:spLocks noGrp="1"/>
          </p:cNvSpPr>
          <p:nvPr/>
        </p:nvSpPr>
        <p:spPr>
          <a:xfrm>
            <a:off x="11449050" y="6515100"/>
            <a:ext cx="333375" cy="190500"/>
          </a:xfrm>
          <a:prstGeom prst="rect">
            <a:avLst/>
          </a:prstGeom>
          <a:noFill/>
          <a:ln w="0">
            <a:noFill/>
          </a:ln>
        </p:spPr>
        <p:txBody>
          <a:bodyPr anchor="t">
            <a:noAutofit/>
          </a:bodyPr>
          <a:lstStyle/>
          <a:p>
            <a:pPr>
              <a:defRPr sz="1050" b="0">
                <a:solidFill>
                  <a:srgbClr val="6B7280"/>
                </a:solidFill>
                <a:latin typeface="Aptos"/>
                <a:ea typeface="Aptos"/>
                <a:cs typeface="Aptos"/>
              </a:defRPr>
            </a:pPr>
            <a:r>
              <a:rPr sz="1050" b="0">
                <a:solidFill>
                  <a:srgbClr val="6B7280"/>
                </a:solidFill>
                <a:latin typeface="Aptos"/>
                <a:ea typeface="Aptos"/>
                <a:cs typeface="Aptos"/>
              </a:rPr>
              <a:t>45</a:t>
            </a:r>
          </a:p>
        </p:txBody>
      </p:sp>
    </p:spTree>
    <p:extLst>
      <p:ext uri="{BB962C8B-B14F-4D97-AF65-F5344CB8AC3E}">
        <p14:creationId xmlns:p14="http://schemas.microsoft.com/office/powerpoint/2010/main" val="3930283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course">
            <a:extLst>
              <a:ext uri="{FF2B5EF4-FFF2-40B4-BE49-F238E27FC236}">
                <a16:creationId xmlns:a16="http://schemas.microsoft.com/office/drawing/2014/main" id="{5FBE36C3-7FCF-4D5A-96BA-B59AD046648D}"/>
              </a:ext>
            </a:extLst>
          </p:cNvPr>
          <p:cNvSpPr>
            <a:spLocks noGrp="1"/>
          </p:cNvSpPr>
          <p:nvPr/>
        </p:nvSpPr>
        <p:spPr>
          <a:xfrm>
            <a:off x="495300" y="190500"/>
            <a:ext cx="8572500" cy="285750"/>
          </a:xfrm>
          <a:prstGeom prst="rect">
            <a:avLst/>
          </a:prstGeom>
          <a:noFill/>
          <a:ln w="0">
            <a:noFill/>
          </a:ln>
        </p:spPr>
        <p:txBody>
          <a:bodyPr anchor="t">
            <a:noAutofit/>
          </a:bodyPr>
          <a:lstStyle/>
          <a:p>
            <a:pPr>
              <a:defRPr sz="1275" b="1">
                <a:solidFill>
                  <a:srgbClr val="881C1C"/>
                </a:solidFill>
                <a:latin typeface="Aptos"/>
                <a:ea typeface="Aptos"/>
                <a:cs typeface="Aptos"/>
              </a:defRPr>
            </a:pPr>
            <a:r>
              <a:rPr sz="1275" b="1">
                <a:solidFill>
                  <a:srgbClr val="881C1C"/>
                </a:solidFill>
                <a:latin typeface="Aptos"/>
                <a:ea typeface="Aptos"/>
                <a:cs typeface="Aptos"/>
              </a:rPr>
              <a:t>MIE 402   ME LAB II</a:t>
            </a:r>
          </a:p>
        </p:txBody>
      </p:sp>
      <p:sp>
        <p:nvSpPr>
          <p:cNvPr id="2" name="title">
            <a:extLst>
              <a:ext uri="{FF2B5EF4-FFF2-40B4-BE49-F238E27FC236}">
                <a16:creationId xmlns:a16="http://schemas.microsoft.com/office/drawing/2014/main" id="{1E3514DC-D19D-404E-B810-1F6532CCB319}"/>
              </a:ext>
            </a:extLst>
          </p:cNvPr>
          <p:cNvSpPr>
            <a:spLocks noGrp="1"/>
          </p:cNvSpPr>
          <p:nvPr/>
        </p:nvSpPr>
        <p:spPr>
          <a:xfrm>
            <a:off x="495300" y="666750"/>
            <a:ext cx="11125200" cy="742950"/>
          </a:xfrm>
          <a:prstGeom prst="rect">
            <a:avLst/>
          </a:prstGeom>
          <a:noFill/>
          <a:ln w="0">
            <a:noFill/>
          </a:ln>
        </p:spPr>
        <p:txBody>
          <a:bodyPr anchor="t">
            <a:noAutofit/>
          </a:bodyPr>
          <a:lstStyle/>
          <a:p>
            <a:pPr>
              <a:defRPr sz="2925" b="1">
                <a:solidFill>
                  <a:srgbClr val="152437"/>
                </a:solidFill>
                <a:latin typeface="Aptos"/>
                <a:ea typeface="Aptos"/>
                <a:cs typeface="Aptos"/>
              </a:defRPr>
            </a:pPr>
            <a:r>
              <a:rPr sz="2925" b="1">
                <a:solidFill>
                  <a:srgbClr val="152437"/>
                </a:solidFill>
                <a:latin typeface="Aptos"/>
                <a:ea typeface="Aptos"/>
                <a:cs typeface="Aptos"/>
              </a:rPr>
              <a:t>Reference: remaining symbols and units</a:t>
            </a:r>
          </a:p>
        </p:txBody>
      </p:sp>
      <p:sp>
        <p:nvSpPr>
          <p:cNvPr id="3" name="body0">
            <a:extLst>
              <a:ext uri="{FF2B5EF4-FFF2-40B4-BE49-F238E27FC236}">
                <a16:creationId xmlns:a16="http://schemas.microsoft.com/office/drawing/2014/main" id="{282A2095-B0E9-4714-8CD9-67FDD316E4FA}"/>
              </a:ext>
            </a:extLst>
          </p:cNvPr>
          <p:cNvSpPr>
            <a:spLocks noGrp="1"/>
          </p:cNvSpPr>
          <p:nvPr/>
        </p:nvSpPr>
        <p:spPr>
          <a:xfrm>
            <a:off x="666750" y="1666875"/>
            <a:ext cx="10858500" cy="828675"/>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h₁, h₂ [m]: rise of each bob above its lowest position. h</a:t>
            </a:r>
            <a:r>
              <a:rPr sz="1462" b="0" baseline="-25000">
                <a:solidFill>
                  <a:srgbClr val="202D3C"/>
                </a:solidFill>
                <a:latin typeface="Aptos"/>
                <a:ea typeface="Aptos"/>
                <a:cs typeface="Aptos"/>
              </a:rPr>
              <a:t>G1</a:t>
            </a:r>
            <a:r>
              <a:rPr sz="1950" b="0">
                <a:solidFill>
                  <a:srgbClr val="202D3C"/>
                </a:solidFill>
                <a:latin typeface="Aptos"/>
                <a:ea typeface="Aptos"/>
                <a:cs typeface="Aptos"/>
              </a:rPr>
              <a:t>, h</a:t>
            </a:r>
            <a:r>
              <a:rPr sz="1462" b="0" baseline="-25000">
                <a:solidFill>
                  <a:srgbClr val="202D3C"/>
                </a:solidFill>
                <a:latin typeface="Aptos"/>
                <a:ea typeface="Aptos"/>
                <a:cs typeface="Aptos"/>
              </a:rPr>
              <a:t>G2</a:t>
            </a:r>
            <a:r>
              <a:rPr sz="1950" b="0">
                <a:solidFill>
                  <a:srgbClr val="202D3C"/>
                </a:solidFill>
                <a:latin typeface="Aptos"/>
                <a:ea typeface="Aptos"/>
                <a:cs typeface="Aptos"/>
              </a:rPr>
              <a:t> [m]: rise of each bar center. g = 9.81 m/s² is gravitational acceleration.</a:t>
            </a:r>
          </a:p>
        </p:txBody>
      </p:sp>
      <p:sp>
        <p:nvSpPr>
          <p:cNvPr id="4" name="body1">
            <a:extLst>
              <a:ext uri="{FF2B5EF4-FFF2-40B4-BE49-F238E27FC236}">
                <a16:creationId xmlns:a16="http://schemas.microsoft.com/office/drawing/2014/main" id="{0DC92FFB-D0C8-4125-A283-4556EF3E62DB}"/>
              </a:ext>
            </a:extLst>
          </p:cNvPr>
          <p:cNvSpPr>
            <a:spLocks noGrp="1"/>
          </p:cNvSpPr>
          <p:nvPr/>
        </p:nvSpPr>
        <p:spPr>
          <a:xfrm>
            <a:off x="666750" y="2590800"/>
            <a:ext cx="10858500" cy="828675"/>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Q₁, Q₂ [N·m]: generalized torques from effects excluded from V, such as friction. Qᵢωᵢ has units of power [W].</a:t>
            </a:r>
          </a:p>
        </p:txBody>
      </p:sp>
      <p:sp>
        <p:nvSpPr>
          <p:cNvPr id="5" name="body2">
            <a:extLst>
              <a:ext uri="{FF2B5EF4-FFF2-40B4-BE49-F238E27FC236}">
                <a16:creationId xmlns:a16="http://schemas.microsoft.com/office/drawing/2014/main" id="{AD86FA84-F81B-4BC7-A752-A8BD789558D7}"/>
              </a:ext>
            </a:extLst>
          </p:cNvPr>
          <p:cNvSpPr>
            <a:spLocks noGrp="1"/>
          </p:cNvSpPr>
          <p:nvPr/>
        </p:nvSpPr>
        <p:spPr>
          <a:xfrm>
            <a:off x="666750" y="3514725"/>
            <a:ext cx="10858500" cy="828675"/>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q = (θ₁, θ₂)ᵀ is the angle vector. a contains the two modal angle amplitudes; φ is the starting phase [rad].</a:t>
            </a:r>
          </a:p>
        </p:txBody>
      </p:sp>
      <p:sp>
        <p:nvSpPr>
          <p:cNvPr id="6" name="body3">
            <a:extLst>
              <a:ext uri="{FF2B5EF4-FFF2-40B4-BE49-F238E27FC236}">
                <a16:creationId xmlns:a16="http://schemas.microsoft.com/office/drawing/2014/main" id="{9F877A07-AFFE-4198-8E62-712A9C1099BB}"/>
              </a:ext>
            </a:extLst>
          </p:cNvPr>
          <p:cNvSpPr>
            <a:spLocks noGrp="1"/>
          </p:cNvSpPr>
          <p:nvPr/>
        </p:nvSpPr>
        <p:spPr>
          <a:xfrm>
            <a:off x="666750" y="4438650"/>
            <a:ext cx="10858500" cy="828675"/>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fₛ [Hz]: sampling rate of the analyzed data. Nₛ: number of samples. Tᵣ = Nₛ/fₛ [s]: record duration for FFT bin spacing.</a:t>
            </a:r>
          </a:p>
        </p:txBody>
      </p:sp>
      <p:sp>
        <p:nvSpPr>
          <p:cNvPr id="7" name="body4">
            <a:extLst>
              <a:ext uri="{FF2B5EF4-FFF2-40B4-BE49-F238E27FC236}">
                <a16:creationId xmlns:a16="http://schemas.microsoft.com/office/drawing/2014/main" id="{6552F92F-B99E-4692-B056-25A1B8F423F8}"/>
              </a:ext>
            </a:extLst>
          </p:cNvPr>
          <p:cNvSpPr>
            <a:spLocks noGrp="1"/>
          </p:cNvSpPr>
          <p:nvPr/>
        </p:nvSpPr>
        <p:spPr>
          <a:xfrm>
            <a:off x="666750" y="5362575"/>
            <a:ext cx="10858500" cy="828675"/>
          </a:xfrm>
          <a:prstGeom prst="rect">
            <a:avLst/>
          </a:prstGeom>
          <a:noFill/>
          <a:ln w="0">
            <a:noFill/>
          </a:ln>
        </p:spPr>
        <p:txBody>
          <a:bodyPr anchor="t">
            <a:noAutofit/>
          </a:bodyPr>
          <a:lstStyle/>
          <a:p>
            <a:pPr>
              <a:defRPr sz="1950" b="0">
                <a:solidFill>
                  <a:srgbClr val="202D3C"/>
                </a:solidFill>
                <a:latin typeface="Aptos"/>
                <a:ea typeface="Aptos"/>
                <a:cs typeface="Aptos"/>
              </a:defRPr>
            </a:pPr>
            <a:r>
              <a:rPr sz="1950" b="0">
                <a:solidFill>
                  <a:srgbClr val="202D3C"/>
                </a:solidFill>
                <a:latin typeface="Aptos"/>
                <a:ea typeface="Aptos"/>
                <a:cs typeface="Aptos"/>
              </a:rPr>
              <a:t>Δf [Hz]: spacing between FFT frequency bins. A longer record reduces Δf; zero-padding alone does not improve physical resolution.</a:t>
            </a:r>
          </a:p>
        </p:txBody>
      </p:sp>
      <p:sp>
        <p:nvSpPr>
          <p:cNvPr id="8" name="page">
            <a:extLst>
              <a:ext uri="{FF2B5EF4-FFF2-40B4-BE49-F238E27FC236}">
                <a16:creationId xmlns:a16="http://schemas.microsoft.com/office/drawing/2014/main" id="{54BA653D-74B6-460F-9A52-0A72E14C320A}"/>
              </a:ext>
            </a:extLst>
          </p:cNvPr>
          <p:cNvSpPr>
            <a:spLocks noGrp="1"/>
          </p:cNvSpPr>
          <p:nvPr/>
        </p:nvSpPr>
        <p:spPr>
          <a:xfrm>
            <a:off x="11449050" y="6515100"/>
            <a:ext cx="333375" cy="190500"/>
          </a:xfrm>
          <a:prstGeom prst="rect">
            <a:avLst/>
          </a:prstGeom>
          <a:noFill/>
          <a:ln w="0">
            <a:noFill/>
          </a:ln>
        </p:spPr>
        <p:txBody>
          <a:bodyPr anchor="t">
            <a:noAutofit/>
          </a:bodyPr>
          <a:lstStyle/>
          <a:p>
            <a:pPr>
              <a:defRPr sz="1050" b="0">
                <a:solidFill>
                  <a:srgbClr val="6B7280"/>
                </a:solidFill>
                <a:latin typeface="Aptos"/>
                <a:ea typeface="Aptos"/>
                <a:cs typeface="Aptos"/>
              </a:defRPr>
            </a:pPr>
            <a:r>
              <a:rPr sz="1050" b="0">
                <a:solidFill>
                  <a:srgbClr val="6B7280"/>
                </a:solidFill>
                <a:latin typeface="Aptos"/>
                <a:ea typeface="Aptos"/>
                <a:cs typeface="Aptos"/>
              </a:rPr>
              <a:t>46</a:t>
            </a:r>
          </a:p>
        </p:txBody>
      </p:sp>
    </p:spTree>
    <p:extLst>
      <p:ext uri="{BB962C8B-B14F-4D97-AF65-F5344CB8AC3E}">
        <p14:creationId xmlns:p14="http://schemas.microsoft.com/office/powerpoint/2010/main" val="1061791943"/>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7675</Words>
  <Application>Microsoft Office PowerPoint</Application>
  <DocSecurity>0</DocSecurity>
  <PresentationFormat>Widescreen</PresentationFormat>
  <Paragraphs>426</Paragraphs>
  <Slides>46</Slides>
  <Notes>46</Notes>
  <HiddenSlides>0</HiddenSlides>
  <MMClips>4</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46</vt:i4>
      </vt:variant>
    </vt:vector>
  </HeadingPairs>
  <TitlesOfParts>
    <vt:vector size="50" baseType="lpstr">
      <vt:lpstr>Aptos</vt:lpstr>
      <vt:lpstr>Calibri</vt:lpstr>
      <vt:lpstr>Cambria Math</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Ehsan Roohi Golkhatmi</cp:lastModifiedBy>
  <cp:revision>1</cp:revision>
  <dcterms:created xsi:type="dcterms:W3CDTF">2026-10-05T01:19:26Z</dcterms:created>
  <dcterms:modified xsi:type="dcterms:W3CDTF">2026-10-05T01:21:09Z</dcterms:modified>
</cp:coreProperties>
</file>