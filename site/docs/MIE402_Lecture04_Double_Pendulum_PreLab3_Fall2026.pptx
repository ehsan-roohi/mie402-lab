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5ececb182594fc8" /><Relationship Type="http://schemas.openxmlformats.org/officeDocument/2006/relationships/extended-properties" Target="/docProps/app.xml" Id="R7553924d164f4d21" /><Relationship Type="http://schemas.openxmlformats.org/officeDocument/2006/relationships/officeDocument" Target="/ppt/presentation.xml" Id="R560f56e72a2146fe" /></Relationships>
</file>

<file path=ppt/presentation.xml><?xml version="1.0" encoding="utf-8"?>
<p:presentation xmlns:p="http://schemas.openxmlformats.org/presentationml/2006/main">
  <p:sldMasterIdLst>
    <p:sldMasterId xmlns:r="http://schemas.openxmlformats.org/officeDocument/2006/relationships" id="2147483648" r:id="Rf1007572a1fb4a58"/>
  </p:sldMasterIdLst>
  <p:notesMasterIdLst>
    <p:notesMasterId xmlns:r="http://schemas.openxmlformats.org/officeDocument/2006/relationships" r:id="Rf08791fd42ec4068"/>
  </p:notesMasterIdLst>
  <p:sldIdLst>
    <p:sldId xmlns:r="http://schemas.openxmlformats.org/officeDocument/2006/relationships" id="256" r:id="Rd6948b34a9f14b70"/>
    <p:sldId xmlns:r="http://schemas.openxmlformats.org/officeDocument/2006/relationships" id="257" r:id="R5142a4a4dee24717"/>
    <p:sldId xmlns:r="http://schemas.openxmlformats.org/officeDocument/2006/relationships" id="258" r:id="Rc1e8f785b3ad43a8"/>
    <p:sldId xmlns:r="http://schemas.openxmlformats.org/officeDocument/2006/relationships" id="259" r:id="R00fa0cf52a864a2a"/>
    <p:sldId xmlns:r="http://schemas.openxmlformats.org/officeDocument/2006/relationships" id="260" r:id="Rd84285a1d8114a99"/>
    <p:sldId xmlns:r="http://schemas.openxmlformats.org/officeDocument/2006/relationships" id="261" r:id="R9d24e3e943d94aa6"/>
    <p:sldId xmlns:r="http://schemas.openxmlformats.org/officeDocument/2006/relationships" id="262" r:id="Rf72d3b8d56d94421"/>
    <p:sldId xmlns:r="http://schemas.openxmlformats.org/officeDocument/2006/relationships" id="263" r:id="R5fafd036f092480d"/>
    <p:sldId xmlns:r="http://schemas.openxmlformats.org/officeDocument/2006/relationships" id="264" r:id="R75766c71433f4710"/>
    <p:sldId xmlns:r="http://schemas.openxmlformats.org/officeDocument/2006/relationships" id="265" r:id="Rea0702189769487d"/>
    <p:sldId xmlns:r="http://schemas.openxmlformats.org/officeDocument/2006/relationships" id="266" r:id="Rd11e63eb97084fb5"/>
    <p:sldId xmlns:r="http://schemas.openxmlformats.org/officeDocument/2006/relationships" id="267" r:id="R8ed5c115a6464c61"/>
    <p:sldId xmlns:r="http://schemas.openxmlformats.org/officeDocument/2006/relationships" id="268" r:id="Re8814baec5b14662"/>
    <p:sldId xmlns:r="http://schemas.openxmlformats.org/officeDocument/2006/relationships" id="269" r:id="R5815049f36f842ec"/>
    <p:sldId xmlns:r="http://schemas.openxmlformats.org/officeDocument/2006/relationships" id="270" r:id="R7d6aef9cd8054715"/>
    <p:sldId xmlns:r="http://schemas.openxmlformats.org/officeDocument/2006/relationships" id="271" r:id="Rcc70ea4f0ff84811"/>
    <p:sldId xmlns:r="http://schemas.openxmlformats.org/officeDocument/2006/relationships" id="272" r:id="R54f6b656e60c43e5"/>
    <p:sldId xmlns:r="http://schemas.openxmlformats.org/officeDocument/2006/relationships" id="273" r:id="R595af99a98e14eb3"/>
    <p:sldId xmlns:r="http://schemas.openxmlformats.org/officeDocument/2006/relationships" id="274" r:id="R9944298692de4e12"/>
    <p:sldId xmlns:r="http://schemas.openxmlformats.org/officeDocument/2006/relationships" id="275" r:id="Rba4da3028b5d4193"/>
    <p:sldId xmlns:r="http://schemas.openxmlformats.org/officeDocument/2006/relationships" id="276" r:id="R34ed223212194a59"/>
    <p:sldId xmlns:r="http://schemas.openxmlformats.org/officeDocument/2006/relationships" id="277" r:id="R0218057c5e8e458b"/>
    <p:sldId xmlns:r="http://schemas.openxmlformats.org/officeDocument/2006/relationships" id="278" r:id="R4399d4cd71e64efb"/>
    <p:sldId xmlns:r="http://schemas.openxmlformats.org/officeDocument/2006/relationships" id="279" r:id="R3bc19f3b3bb34c85"/>
    <p:sldId xmlns:r="http://schemas.openxmlformats.org/officeDocument/2006/relationships" id="280" r:id="Rc341586aa5444960"/>
    <p:sldId xmlns:r="http://schemas.openxmlformats.org/officeDocument/2006/relationships" id="281" r:id="Rc42a3dd74dad47b7"/>
    <p:sldId xmlns:r="http://schemas.openxmlformats.org/officeDocument/2006/relationships" id="282" r:id="R4d18087566974102"/>
    <p:sldId xmlns:r="http://schemas.openxmlformats.org/officeDocument/2006/relationships" id="283" r:id="R7c98aa898ae249ea"/>
    <p:sldId xmlns:r="http://schemas.openxmlformats.org/officeDocument/2006/relationships" id="284" r:id="R68f2d9c8c7da442c"/>
    <p:sldId xmlns:r="http://schemas.openxmlformats.org/officeDocument/2006/relationships" id="285" r:id="R2a6c3a565df2499c"/>
    <p:sldId xmlns:r="http://schemas.openxmlformats.org/officeDocument/2006/relationships" id="286" r:id="R466a4b228cd84fa0"/>
    <p:sldId xmlns:r="http://schemas.openxmlformats.org/officeDocument/2006/relationships" id="287" r:id="Re8b52c0bccbd4a60"/>
    <p:sldId xmlns:r="http://schemas.openxmlformats.org/officeDocument/2006/relationships" id="288" r:id="Rb8815682365a44d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054ed3c7414028" /><Relationship Type="http://schemas.openxmlformats.org/officeDocument/2006/relationships/slideMaster" Target="/ppt/slideMasters/slideMaster1.xml" Id="Rf1007572a1fb4a58" /><Relationship Type="http://schemas.openxmlformats.org/officeDocument/2006/relationships/notesMaster" Target="/ppt/notesMasters/notesMaster1.xml" Id="Rf08791fd42ec4068" /><Relationship Type="http://schemas.openxmlformats.org/officeDocument/2006/relationships/presProps" Target="/ppt/presProps.xml" Id="R1686ffe268b84890" /><Relationship Type="http://schemas.openxmlformats.org/officeDocument/2006/relationships/tableStyles" Target="/ppt/tableStyles.xml" Id="R5547fee991824111" /><Relationship Type="http://schemas.openxmlformats.org/officeDocument/2006/relationships/slide" Target="/ppt/slides/slide1.xml" Id="Rd6948b34a9f14b70" /><Relationship Type="http://schemas.openxmlformats.org/officeDocument/2006/relationships/slide" Target="/ppt/slides/slide2.xml" Id="R5142a4a4dee24717" /><Relationship Type="http://schemas.openxmlformats.org/officeDocument/2006/relationships/slide" Target="/ppt/slides/slide3.xml" Id="Rc1e8f785b3ad43a8" /><Relationship Type="http://schemas.openxmlformats.org/officeDocument/2006/relationships/slide" Target="/ppt/slides/slide4.xml" Id="R00fa0cf52a864a2a" /><Relationship Type="http://schemas.openxmlformats.org/officeDocument/2006/relationships/slide" Target="/ppt/slides/slide5.xml" Id="Rd84285a1d8114a99" /><Relationship Type="http://schemas.openxmlformats.org/officeDocument/2006/relationships/slide" Target="/ppt/slides/slide6.xml" Id="R9d24e3e943d94aa6" /><Relationship Type="http://schemas.openxmlformats.org/officeDocument/2006/relationships/slide" Target="/ppt/slides/slide7.xml" Id="Rf72d3b8d56d94421" /><Relationship Type="http://schemas.openxmlformats.org/officeDocument/2006/relationships/slide" Target="/ppt/slides/slide8.xml" Id="R5fafd036f092480d" /><Relationship Type="http://schemas.openxmlformats.org/officeDocument/2006/relationships/slide" Target="/ppt/slides/slide9.xml" Id="R75766c71433f4710" /><Relationship Type="http://schemas.openxmlformats.org/officeDocument/2006/relationships/slide" Target="/ppt/slides/slide10.xml" Id="Rea0702189769487d" /><Relationship Type="http://schemas.openxmlformats.org/officeDocument/2006/relationships/slide" Target="/ppt/slides/slide11.xml" Id="Rd11e63eb97084fb5" /><Relationship Type="http://schemas.openxmlformats.org/officeDocument/2006/relationships/slide" Target="/ppt/slides/slide12.xml" Id="R8ed5c115a6464c61" /><Relationship Type="http://schemas.openxmlformats.org/officeDocument/2006/relationships/slide" Target="/ppt/slides/slide13.xml" Id="Re8814baec5b14662" /><Relationship Type="http://schemas.openxmlformats.org/officeDocument/2006/relationships/slide" Target="/ppt/slides/slide14.xml" Id="R5815049f36f842ec" /><Relationship Type="http://schemas.openxmlformats.org/officeDocument/2006/relationships/slide" Target="/ppt/slides/slide15.xml" Id="R7d6aef9cd8054715" /><Relationship Type="http://schemas.openxmlformats.org/officeDocument/2006/relationships/slide" Target="/ppt/slides/slide16.xml" Id="Rcc70ea4f0ff84811" /><Relationship Type="http://schemas.openxmlformats.org/officeDocument/2006/relationships/slide" Target="/ppt/slides/slide17.xml" Id="R54f6b656e60c43e5" /><Relationship Type="http://schemas.openxmlformats.org/officeDocument/2006/relationships/slide" Target="/ppt/slides/slide18.xml" Id="R595af99a98e14eb3" /><Relationship Type="http://schemas.openxmlformats.org/officeDocument/2006/relationships/slide" Target="/ppt/slides/slide19.xml" Id="R9944298692de4e12" /><Relationship Type="http://schemas.openxmlformats.org/officeDocument/2006/relationships/slide" Target="/ppt/slides/slide20.xml" Id="Rba4da3028b5d4193" /><Relationship Type="http://schemas.openxmlformats.org/officeDocument/2006/relationships/slide" Target="/ppt/slides/slide21.xml" Id="R34ed223212194a59" /><Relationship Type="http://schemas.openxmlformats.org/officeDocument/2006/relationships/slide" Target="/ppt/slides/slide22.xml" Id="R0218057c5e8e458b" /><Relationship Type="http://schemas.openxmlformats.org/officeDocument/2006/relationships/slide" Target="/ppt/slides/slide23.xml" Id="R4399d4cd71e64efb" /><Relationship Type="http://schemas.openxmlformats.org/officeDocument/2006/relationships/slide" Target="/ppt/slides/slide24.xml" Id="R3bc19f3b3bb34c85" /><Relationship Type="http://schemas.openxmlformats.org/officeDocument/2006/relationships/slide" Target="/ppt/slides/slide25.xml" Id="Rc341586aa5444960" /><Relationship Type="http://schemas.openxmlformats.org/officeDocument/2006/relationships/slide" Target="/ppt/slides/slide26.xml" Id="Rc42a3dd74dad47b7" /><Relationship Type="http://schemas.openxmlformats.org/officeDocument/2006/relationships/slide" Target="/ppt/slides/slide27.xml" Id="R4d18087566974102" /><Relationship Type="http://schemas.openxmlformats.org/officeDocument/2006/relationships/slide" Target="/ppt/slides/slide28.xml" Id="R7c98aa898ae249ea" /><Relationship Type="http://schemas.openxmlformats.org/officeDocument/2006/relationships/slide" Target="/ppt/slides/slide29.xml" Id="R68f2d9c8c7da442c" /><Relationship Type="http://schemas.openxmlformats.org/officeDocument/2006/relationships/slide" Target="/ppt/slides/slide30.xml" Id="R2a6c3a565df2499c" /><Relationship Type="http://schemas.openxmlformats.org/officeDocument/2006/relationships/slide" Target="/ppt/slides/slide31.xml" Id="R466a4b228cd84fa0" /><Relationship Type="http://schemas.openxmlformats.org/officeDocument/2006/relationships/slide" Target="/ppt/slides/slide32.xml" Id="Re8b52c0bccbd4a60" /><Relationship Type="http://schemas.openxmlformats.org/officeDocument/2006/relationships/slide" Target="/ppt/slides/slide33.xml" Id="Rb8815682365a44d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8544e64d384f9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43b880b078a4e39" /><Relationship Type="http://schemas.openxmlformats.org/officeDocument/2006/relationships/notesMaster" Target="/ppt/notesMasters/notesMaster1.xml" Id="Rdb6fa8e88b854d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0b0f0824d7c4fec" /><Relationship Type="http://schemas.openxmlformats.org/officeDocument/2006/relationships/notesMaster" Target="/ppt/notesMasters/notesMaster1.xml" Id="Reef0a861c0e047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968110f6944362" /><Relationship Type="http://schemas.openxmlformats.org/officeDocument/2006/relationships/notesMaster" Target="/ppt/notesMasters/notesMaster1.xml" Id="R7322c58835f44dab"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627df041914847" /><Relationship Type="http://schemas.openxmlformats.org/officeDocument/2006/relationships/notesMaster" Target="/ppt/notesMasters/notesMaster1.xml" Id="Rc9c45d80011f49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766f19634f434a" /><Relationship Type="http://schemas.openxmlformats.org/officeDocument/2006/relationships/notesMaster" Target="/ppt/notesMasters/notesMaster1.xml" Id="Rcc8908386af04a24" /></Relationships>
</file>

<file path=ppt/notesSlides/_rels/notesSlide6.xml.rels>&#65279;<?xml version="1.0" encoding="utf-8"?><Relationships xmlns="http://schemas.openxmlformats.org/package/2006/relationships"><Relationship Type="http://schemas.openxmlformats.org/officeDocument/2006/relationships/slide" Target="/ppt/slides/slide6.xml" Id="R8ef7d751012b426c" /><Relationship Type="http://schemas.openxmlformats.org/officeDocument/2006/relationships/notesMaster" Target="/ppt/notesMasters/notesMaster1.xml" Id="Re75aed6e6e304dff"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41557417bc4f62" /><Relationship Type="http://schemas.openxmlformats.org/officeDocument/2006/relationships/notesMaster" Target="/ppt/notesMasters/notesMaster1.xml" Id="Rf1482d349516451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267b852a4784837" /><Relationship Type="http://schemas.openxmlformats.org/officeDocument/2006/relationships/notesMaster" Target="/ppt/notesMasters/notesMaster1.xml" Id="R66220889d49e42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ace52b61509a4aa6" /><Relationship Type="http://schemas.openxmlformats.org/officeDocument/2006/relationships/notesMaster" Target="/ppt/notesMasters/notesMaster1.xml" Id="Rf3aae1638757483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202cb72889a4782" /><Relationship Type="http://schemas.openxmlformats.org/officeDocument/2006/relationships/notesMaster" Target="/ppt/notesMasters/notesMaster1.xml" Id="R6f7ac51d383b497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659917baeb43c6" /><Relationship Type="http://schemas.openxmlformats.org/officeDocument/2006/relationships/notesMaster" Target="/ppt/notesMasters/notesMaster1.xml" Id="Rc214cc294c344a7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6e114e3b8a47b6" /><Relationship Type="http://schemas.openxmlformats.org/officeDocument/2006/relationships/notesMaster" Target="/ppt/notesMasters/notesMaster1.xml" Id="R180ca22cd1a14f0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fe9eb7f99934c8b" /><Relationship Type="http://schemas.openxmlformats.org/officeDocument/2006/relationships/notesMaster" Target="/ppt/notesMasters/notesMaster1.xml" Id="Ref9abb9078014d5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c0536e8db4c4408" /><Relationship Type="http://schemas.openxmlformats.org/officeDocument/2006/relationships/notesMaster" Target="/ppt/notesMasters/notesMaster1.xml" Id="Rd6dd8d8e87cb406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2d9b8f40dcb48d8" /><Relationship Type="http://schemas.openxmlformats.org/officeDocument/2006/relationships/notesMaster" Target="/ppt/notesMasters/notesMaster1.xml" Id="Rd0c776009066485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f15f63a0d434f22" /><Relationship Type="http://schemas.openxmlformats.org/officeDocument/2006/relationships/notesMaster" Target="/ppt/notesMasters/notesMaster1.xml" Id="Rc3282de1af13484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6e53bb8b1444bc5" /><Relationship Type="http://schemas.openxmlformats.org/officeDocument/2006/relationships/notesMaster" Target="/ppt/notesMasters/notesMaster1.xml" Id="Rb147ccee4b89438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932323b5c184735" /><Relationship Type="http://schemas.openxmlformats.org/officeDocument/2006/relationships/notesMaster" Target="/ppt/notesMasters/notesMaster1.xml" Id="Rbdde4523b8df412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d65bceedd8b4659" /><Relationship Type="http://schemas.openxmlformats.org/officeDocument/2006/relationships/notesMaster" Target="/ppt/notesMasters/notesMaster1.xml" Id="R7b90353d3ecd4ce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6c1bdcfd5a5484b" /><Relationship Type="http://schemas.openxmlformats.org/officeDocument/2006/relationships/notesMaster" Target="/ppt/notesMasters/notesMaster1.xml" Id="R43043184a31f414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22b38bc4ad64136" /><Relationship Type="http://schemas.openxmlformats.org/officeDocument/2006/relationships/notesMaster" Target="/ppt/notesMasters/notesMaster1.xml" Id="R8eecc08bafb84c5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384d66ec54c49e5" /><Relationship Type="http://schemas.openxmlformats.org/officeDocument/2006/relationships/notesMaster" Target="/ppt/notesMasters/notesMaster1.xml" Id="R321f935dfcd7401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1c48a2efe264ee0" /><Relationship Type="http://schemas.openxmlformats.org/officeDocument/2006/relationships/notesMaster" Target="/ppt/notesMasters/notesMaster1.xml" Id="R1c8a7d440a48400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df12477251946a0" /><Relationship Type="http://schemas.openxmlformats.org/officeDocument/2006/relationships/notesMaster" Target="/ppt/notesMasters/notesMaster1.xml" Id="R76297782803f4c3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d9ec04a85524d55" /><Relationship Type="http://schemas.openxmlformats.org/officeDocument/2006/relationships/notesMaster" Target="/ppt/notesMasters/notesMaster1.xml" Id="R135332502a83495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c7e876afa4148f3" /><Relationship Type="http://schemas.openxmlformats.org/officeDocument/2006/relationships/notesMaster" Target="/ppt/notesMasters/notesMaster1.xml" Id="Rf82e8c3d5986414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1db21cf711948a3" /><Relationship Type="http://schemas.openxmlformats.org/officeDocument/2006/relationships/notesMaster" Target="/ppt/notesMasters/notesMaster1.xml" Id="R7810ddbdd57842e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4a49afc01ce421e" /><Relationship Type="http://schemas.openxmlformats.org/officeDocument/2006/relationships/notesMaster" Target="/ppt/notesMasters/notesMaster1.xml" Id="R992bdacb9dd9454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7ec8f62139a4ef3" /><Relationship Type="http://schemas.openxmlformats.org/officeDocument/2006/relationships/notesMaster" Target="/ppt/notesMasters/notesMaster1.xml" Id="R07062e56a8e146a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69fd7c7dbb844b1" /><Relationship Type="http://schemas.openxmlformats.org/officeDocument/2006/relationships/notesMaster" Target="/ppt/notesMasters/notesMaster1.xml" Id="Re88d5ef6c5c0495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fe25199ecdf4575" /><Relationship Type="http://schemas.openxmlformats.org/officeDocument/2006/relationships/notesMaster" Target="/ppt/notesMasters/notesMaster1.xml" Id="R150077da0cb5400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fc793902a68476a" /><Relationship Type="http://schemas.openxmlformats.org/officeDocument/2006/relationships/notesMaster" Target="/ppt/notesMasters/notesMaster1.xml" Id="R9d5a11ac6c89442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d7ffdb8dc6045a8" /><Relationship Type="http://schemas.openxmlformats.org/officeDocument/2006/relationships/notesMaster" Target="/ppt/notesMasters/notesMaster1.xml" Id="R41b503121d5240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Upper-bar mass m1 and lower-bar mass m2 are distributed along uniform links. M1 sits at the end of link 1; M2 sits at the end of link 2. This idealization omits the finite rotational inertia of bob bodies. Explain the physical allocation before entering values.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confuse angular speed omega_i with a normal-mode angular frequency Omega. The latter describes repetition of a small oscillation and is introduced later.</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Internal forces at a frictionless ideal joint exchange energy between components. Their net contribution to the virtual work of the complete constrained system vanishes. Energy is a derivation tool, not an unexplained black box.</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h1 is the height increase of the joint, hG1 of the upper bar center, hG2 of the lower bar center, and h2 of the lower bob. The same L1(1-cos theta1) term occurs in hG2 and h2 because their support point moves.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V=m1*g*hG1+M1*g*h1+m2*g*hG2+M2*g*h2, then collect the theta1 and theta2 terms. This gives G1=(m1/2+M1+m2+M2)gL1 and G2=(m2/2+M2)gL2. At zero angles the energy is zero.</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generalized torques for the two absolute-angle coordinates, not simply the net torque on an isolated lower bar about a moving pivot. That distinction prevents double-counting joint reactions.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Differentiate the coordinate equations. The two velocity vectors are tangent to their respective links. Their dot product is L1*L2*omega1*omega2*cos(theta1-theta2). This is a geometric projection, not a new force.</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end inertia follows from I=integral_0^L s^2(m/L) ds=mL^2/3. The center inertia is mL^2/12. For the lower bar, T=1/2 m2 vG2^2+1/2 (m2 L2^2/12) omega2^2. Combining these gives the m2/3 and m2/2 factors on the next slide.</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Collect all four components. I11 includes the mass of the whole lower assembly because rotation of link 1 carries it through space. I22 is the lower assembly inertia about the moving joint. C is the coupling coefficient. T is a positive quadratic form for physical positive masses; a negative cross term does not mean negative total kinetic energy.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Q1 and Q2 are generalized nonconservative torques conjugate to the absolute angles. A torque at the moving joint does work at the relative angular speed, so it must contribute consistently to both generalized torques. Do not simply assign every damping effect to independent terms without defining the model.</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sequence rather than asking students to memorize the final result: positions, velocities, T and V, Lagrange equations, coupled accelerations. The derivatives introduce the sin Delta angular-speed-squared terms.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Delta=theta1-theta2. Equation 1 has +C*sin Delta*omega2^2 on the left; equation 2 has -C*sin Delta*omega1^2 on the left. In the supplied right-hand-side code these become -C*sin Delta*omega2^2 and +C*sin Delta*omega1^2 respectively. Signs have been checked against the Lagrangian.</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MATLAB baseline uses ode45; the current supplied pre-lab notebook uses a fixed-step RK4 implementation. State vector is [theta1, omega1, theta2, omega2]. Check numerical energy drift separately from real physical dissipation.</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say the two angles always have equal amplitudes in a mode. Their amplitude ratio depends on masses and lengths. Equal initial angles are not generally an exact normal mode.</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vector a contains the two mode amplitudes. This is a generalized eigenvalue problem K*a=Omega^2*M0*a. M0=[[I11,C],[C,I22]] and K=diag(G1,G2). Use this connection when explaining why spectra of both angles may contain both natural frequencies.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Experience from Lab 2: a high percentage of finite coordinates does not prove the correct bob was tracked. Check movement and link lengths visually. Do not force a sinusoid through an invalid trajectory.</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up-positive coordinates, the downward component is -y. For link 2 it is -(y2-y1). In MATLAB atan2 takes the first and second component in the order shown here. Use the relative link vector, not the lower bob position relative to the fixed pivot.</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Ns is the number of equally spaced samples, fs is the sample rate of the analyzed angle series, and Tr=Ns/fs is its record duration convention. If processing every tenth camera frame, fs is lower than the capture rate. Do not feed irregularly missing samples into an ordinary FFT as if the spacing were unchanged.</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Answers: alignment is not generally an invariant motion or a pure mode; link-1 rotation carries the whole lower assembly; M2 enters I11,I22,C,G1,G2; compare markers and approximately constant link lengths with the raw video, rather than judging only plot smoothness.</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Course sources: original Lecture 04; Lecture Notes/8_Lab3_Theory.pdf and 9_Lab3_Exp.pdf. Energy derivation uses uniform rigid bars and lumped bob masses defined in the lecture. Expanded explanation for teaching and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0311b7f19942c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5640bef045e414c" /><Relationship Type="http://schemas.openxmlformats.org/officeDocument/2006/relationships/slideLayout" Target="/ppt/slideLayouts/slideLayout1.xml" Id="R437b091cf58b41c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37b091cf58b41c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ea9fdcdd42f4e49" /><Relationship Type="http://schemas.openxmlformats.org/officeDocument/2006/relationships/image" Target="/ppt/media/image.jpeg" Id="R01eefb2e378f49a6" /><Relationship Type="http://schemas.openxmlformats.org/officeDocument/2006/relationships/notesSlide" Target="/ppt/notesSlides/notesSlide1.xml" Id="R2afd60608ef94e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e3b98df6eb149c3" /><Relationship Type="http://schemas.openxmlformats.org/officeDocument/2006/relationships/notesSlide" Target="/ppt/notesSlides/notesSlide2.xml" Id="R19451fe6c5c3443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038eac8cc5d45c3" /><Relationship Type="http://schemas.openxmlformats.org/officeDocument/2006/relationships/image" Target="/ppt/media/image.png" Id="R84848bf09a444bfb" /><Relationship Type="http://schemas.openxmlformats.org/officeDocument/2006/relationships/notesSlide" Target="/ppt/notesSlides/notesSlide3.xml" Id="Rd0c80163ac4c4a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3110a9b041644c8" /><Relationship Type="http://schemas.openxmlformats.org/officeDocument/2006/relationships/notesSlide" Target="/ppt/notesSlides/notesSlide4.xml" Id="R7f455cbb4a384c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c024ed86cc4f15" /><Relationship Type="http://schemas.openxmlformats.org/officeDocument/2006/relationships/notesSlide" Target="/ppt/notesSlides/notesSlide5.xml" Id="R23839693161740a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7d290b5f1b74d0d" /><Relationship Type="http://schemas.openxmlformats.org/officeDocument/2006/relationships/notesSlide" Target="/ppt/notesSlides/notesSlide6.xml" Id="Ra6a3a0c1770441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ed5a78247e54178" /><Relationship Type="http://schemas.openxmlformats.org/officeDocument/2006/relationships/notesSlide" Target="/ppt/notesSlides/notesSlide7.xml" Id="R4b409781e08d44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46a98cd55734681" /><Relationship Type="http://schemas.openxmlformats.org/officeDocument/2006/relationships/notesSlide" Target="/ppt/notesSlides/notesSlide8.xml" Id="R1076ee8c336049a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76b9e49d7c14297" /><Relationship Type="http://schemas.openxmlformats.org/officeDocument/2006/relationships/notesSlide" Target="/ppt/notesSlides/notesSlide9.xml" Id="R4c26a5313e6d4d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c8738f90aa44d82" /><Relationship Type="http://schemas.openxmlformats.org/officeDocument/2006/relationships/notesSlide" Target="/ppt/notesSlides/notesSlide10.xml" Id="R4a6014ece0ff451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1ab9014d01344b4" /><Relationship Type="http://schemas.openxmlformats.org/officeDocument/2006/relationships/notesSlide" Target="/ppt/notesSlides/notesSlide11.xml" Id="R8ceaaea1bfeb4a8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02f7243ff1b4988" /><Relationship Type="http://schemas.openxmlformats.org/officeDocument/2006/relationships/notesSlide" Target="/ppt/notesSlides/notesSlide12.xml" Id="R7420315372ac46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c8b478a7f2646bd" /><Relationship Type="http://schemas.openxmlformats.org/officeDocument/2006/relationships/notesSlide" Target="/ppt/notesSlides/notesSlide13.xml" Id="R746a19e84a3e408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93397cb68f9484e" /><Relationship Type="http://schemas.openxmlformats.org/officeDocument/2006/relationships/notesSlide" Target="/ppt/notesSlides/notesSlide14.xml" Id="Raab086646322435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9a940d776ca4cc5" /><Relationship Type="http://schemas.openxmlformats.org/officeDocument/2006/relationships/notesSlide" Target="/ppt/notesSlides/notesSlide15.xml" Id="R78d22009478e497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66235e5ef6246b9" /><Relationship Type="http://schemas.openxmlformats.org/officeDocument/2006/relationships/notesSlide" Target="/ppt/notesSlides/notesSlide16.xml" Id="R4f49e2678cc84ca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6dc93eb2d5941ca" /><Relationship Type="http://schemas.openxmlformats.org/officeDocument/2006/relationships/notesSlide" Target="/ppt/notesSlides/notesSlide17.xml" Id="R32db6e2a5718488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5247aebfc64498d" /><Relationship Type="http://schemas.openxmlformats.org/officeDocument/2006/relationships/notesSlide" Target="/ppt/notesSlides/notesSlide18.xml" Id="Rcc923195a9c9491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fedca62bc6d4fe3" /><Relationship Type="http://schemas.openxmlformats.org/officeDocument/2006/relationships/notesSlide" Target="/ppt/notesSlides/notesSlide19.xml" Id="R9000488dddd54f1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3ebfce58c174378" /><Relationship Type="http://schemas.openxmlformats.org/officeDocument/2006/relationships/notesSlide" Target="/ppt/notesSlides/notesSlide20.xml" Id="R3719448f87694a9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4b9b600a19347d8" /><Relationship Type="http://schemas.openxmlformats.org/officeDocument/2006/relationships/notesSlide" Target="/ppt/notesSlides/notesSlide21.xml" Id="Rb0c196e2da734a3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a092e2fedcc4697" /><Relationship Type="http://schemas.openxmlformats.org/officeDocument/2006/relationships/notesSlide" Target="/ppt/notesSlides/notesSlide22.xml" Id="R55596b6228ff4d9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42684ee20224dcf" /><Relationship Type="http://schemas.openxmlformats.org/officeDocument/2006/relationships/image" Target="/ppt/media/image2.jpeg" Id="Rdc6945c281ef464b" /><Relationship Type="http://schemas.openxmlformats.org/officeDocument/2006/relationships/notesSlide" Target="/ppt/notesSlides/notesSlide23.xml" Id="R1f66ce8e72f44bd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1112fa961254ea4" /><Relationship Type="http://schemas.openxmlformats.org/officeDocument/2006/relationships/notesSlide" Target="/ppt/notesSlides/notesSlide24.xml" Id="R05dcddc6cd6c481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da7f3ac615b4a79" /><Relationship Type="http://schemas.openxmlformats.org/officeDocument/2006/relationships/image" Target="/ppt/media/image2.png" Id="R689b0447d7944f35" /><Relationship Type="http://schemas.openxmlformats.org/officeDocument/2006/relationships/notesSlide" Target="/ppt/notesSlides/notesSlide25.xml" Id="Rf5183bd196144c3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da59b1e8c8649d6" /><Relationship Type="http://schemas.openxmlformats.org/officeDocument/2006/relationships/notesSlide" Target="/ppt/notesSlides/notesSlide26.xml" Id="R3aa56cc515f647b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e5d978ad1794169" /><Relationship Type="http://schemas.openxmlformats.org/officeDocument/2006/relationships/notesSlide" Target="/ppt/notesSlides/notesSlide27.xml" Id="R07eca6ce2e144c1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d5047edb8dc4a65" /><Relationship Type="http://schemas.openxmlformats.org/officeDocument/2006/relationships/notesSlide" Target="/ppt/notesSlides/notesSlide28.xml" Id="R3aeeb666d60a4c2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7a1f5340cdc40d0" /><Relationship Type="http://schemas.openxmlformats.org/officeDocument/2006/relationships/notesSlide" Target="/ppt/notesSlides/notesSlide29.xml" Id="R4482991eab4c45e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63378e55156462e" /><Relationship Type="http://schemas.openxmlformats.org/officeDocument/2006/relationships/notesSlide" Target="/ppt/notesSlides/notesSlide30.xml" Id="R9718f46f1b404d8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698ff02a5a7494b" /><Relationship Type="http://schemas.openxmlformats.org/officeDocument/2006/relationships/notesSlide" Target="/ppt/notesSlides/notesSlide31.xml" Id="R5cea9a71662e46a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518c07f3cc241c6" /><Relationship Type="http://schemas.openxmlformats.org/officeDocument/2006/relationships/notesSlide" Target="/ppt/notesSlides/notesSlide32.xml" Id="R544bdb594d654e3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b73ee7d07e34728" /><Relationship Type="http://schemas.openxmlformats.org/officeDocument/2006/relationships/notesSlide" Target="/ppt/notesSlides/notesSlide33.xml" Id="R4f86c2f289f9493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9BA98994-C06A-4CF4-AFF2-D9B0D0D0D28F}"/>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85698B97-770B-43E6-9065-B0BA5F0EDF53}"/>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Double pendulum: motion, energy and measurement</a:t>
            </a:r>
          </a:p>
        </p:txBody>
      </p:sp>
      <p:sp>
        <p:nvSpPr>
          <p:cNvPr id="3" name="body0">
            <a:extLst xmlns:a="http://schemas.openxmlformats.org/drawingml/2006/main">
              <a:ext uri="{FF2B5EF4-FFF2-40B4-BE49-F238E27FC236}">
                <a16:creationId xmlns:a16="http://schemas.microsoft.com/office/drawing/2014/main" id="{68E3BD3C-3C52-4256-BF60-D74A79FE7629}"/>
              </a:ext>
            </a:extLst>
          </p:cNvPr>
          <p:cNvSpPr>
            <a:spLocks xmlns:a="http://schemas.openxmlformats.org/drawingml/2006/main" noGrp="1"/>
          </p:cNvSpPr>
          <p:nvPr/>
        </p:nvSpPr>
        <p:spPr>
          <a:xfrm xmlns:a="http://schemas.openxmlformats.org/drawingml/2006/main">
            <a:off x="666750" y="16668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Lecture 04 · MIE 402 · Fall 2026</a:t>
            </a:r>
          </a:p>
        </p:txBody>
      </p:sp>
      <p:sp>
        <p:nvSpPr>
          <p:cNvPr id="4" name="body1">
            <a:extLst xmlns:a="http://schemas.openxmlformats.org/drawingml/2006/main">
              <a:ext uri="{FF2B5EF4-FFF2-40B4-BE49-F238E27FC236}">
                <a16:creationId xmlns:a16="http://schemas.microsoft.com/office/drawing/2014/main" id="{46FBF865-168C-46EC-895D-6DF06D15131A}"/>
              </a:ext>
            </a:extLst>
          </p:cNvPr>
          <p:cNvSpPr>
            <a:spLocks xmlns:a="http://schemas.openxmlformats.org/drawingml/2006/main" noGrp="1"/>
          </p:cNvSpPr>
          <p:nvPr/>
        </p:nvSpPr>
        <p:spPr>
          <a:xfrm xmlns:a="http://schemas.openxmlformats.org/drawingml/2006/main">
            <a:off x="666750" y="27908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A physical explanation of the model and the Lab 3 workflow.</a:t>
            </a:r>
          </a:p>
        </p:txBody>
      </p:sp>
      <p:sp>
        <p:nvSpPr>
          <p:cNvPr id="5" name="body2">
            <a:extLst xmlns:a="http://schemas.openxmlformats.org/drawingml/2006/main">
              <a:ext uri="{FF2B5EF4-FFF2-40B4-BE49-F238E27FC236}">
                <a16:creationId xmlns:a16="http://schemas.microsoft.com/office/drawing/2014/main" id="{B8C3F155-5543-41FC-BC67-8ABEDF2DA189}"/>
              </a:ext>
            </a:extLst>
          </p:cNvPr>
          <p:cNvSpPr>
            <a:spLocks xmlns:a="http://schemas.openxmlformats.org/drawingml/2006/main" noGrp="1"/>
          </p:cNvSpPr>
          <p:nvPr/>
        </p:nvSpPr>
        <p:spPr>
          <a:xfrm xmlns:a="http://schemas.openxmlformats.org/drawingml/2006/main">
            <a:off x="666750" y="39147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Core lesson plus derivations for discussion and review.</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1eefb2e378f49a6"/>
          <a:stretch xmlns:a="http://schemas.openxmlformats.org/drawingml/2006/main"/>
        </p:blipFill>
        <p:spPr>
          <a:xfrm xmlns:a="http://schemas.openxmlformats.org/drawingml/2006/main">
            <a:off x="6524625" y="1666875"/>
            <a:ext cx="5238750" cy="4191000"/>
          </a:xfrm>
          <a:prstGeom xmlns:a="http://schemas.openxmlformats.org/drawingml/2006/main" prst="rect">
            <a:avLst/>
          </a:prstGeom>
        </p:spPr>
      </p:pic>
      <p:sp>
        <p:nvSpPr>
          <p:cNvPr id="7" name="page">
            <a:extLst xmlns:a="http://schemas.openxmlformats.org/drawingml/2006/main">
              <a:ext uri="{FF2B5EF4-FFF2-40B4-BE49-F238E27FC236}">
                <a16:creationId xmlns:a16="http://schemas.microsoft.com/office/drawing/2014/main" id="{385D1619-C86A-4C81-9FBF-FCFD9CFAAE06}"/>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a:t>
            </a:r>
          </a:p>
        </p:txBody>
      </p:sp>
    </p:spTree>
    <p:extLst>
      <p:ext uri="{BB962C8B-B14F-4D97-AF65-F5344CB8AC3E}">
        <p14:creationId xmlns:p14="http://schemas.microsoft.com/office/powerpoint/2010/main" val="6730543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EB05A958-FBE8-466B-A474-778730C10F05}"/>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E23BE114-8B2B-41E7-9BBC-01A2C9F2D497}"/>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work students will do</a:t>
            </a:r>
          </a:p>
        </p:txBody>
      </p:sp>
      <p:sp>
        <p:nvSpPr>
          <p:cNvPr id="3" name="body0">
            <a:extLst xmlns:a="http://schemas.openxmlformats.org/drawingml/2006/main">
              <a:ext uri="{FF2B5EF4-FFF2-40B4-BE49-F238E27FC236}">
                <a16:creationId xmlns:a16="http://schemas.microsoft.com/office/drawing/2014/main" id="{AE6B56F0-ED9C-45A8-82D8-E689660C6458}"/>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Measure the two links and the masses attached to them.</a:t>
            </a:r>
          </a:p>
        </p:txBody>
      </p:sp>
      <p:sp>
        <p:nvSpPr>
          <p:cNvPr id="4" name="body1">
            <a:extLst xmlns:a="http://schemas.openxmlformats.org/drawingml/2006/main">
              <a:ext uri="{FF2B5EF4-FFF2-40B4-BE49-F238E27FC236}">
                <a16:creationId xmlns:a16="http://schemas.microsoft.com/office/drawing/2014/main" id="{AEF4E6B7-BCC5-4DA9-8378-FF8ED7B754E4}"/>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Record at least four releases and track both moving bob centers.</a:t>
            </a:r>
          </a:p>
        </p:txBody>
      </p:sp>
      <p:sp>
        <p:nvSpPr>
          <p:cNvPr id="5" name="body2">
            <a:extLst xmlns:a="http://schemas.openxmlformats.org/drawingml/2006/main">
              <a:ext uri="{FF2B5EF4-FFF2-40B4-BE49-F238E27FC236}">
                <a16:creationId xmlns:a16="http://schemas.microsoft.com/office/drawing/2014/main" id="{393C407C-BBAC-4531-A0A5-A761D018EDE1}"/>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Convert saved positions into angles and compare the measured motion with a simulation.</a:t>
            </a:r>
          </a:p>
        </p:txBody>
      </p:sp>
      <p:sp>
        <p:nvSpPr>
          <p:cNvPr id="6" name="body3">
            <a:extLst xmlns:a="http://schemas.openxmlformats.org/drawingml/2006/main">
              <a:ext uri="{FF2B5EF4-FFF2-40B4-BE49-F238E27FC236}">
                <a16:creationId xmlns:a16="http://schemas.microsoft.com/office/drawing/2014/main" id="{63265B56-A761-416A-B5F3-FB2A08032039}"/>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Keep the MP4, ExpData MAT file, settings and trial log for every release.</a:t>
            </a:r>
          </a:p>
        </p:txBody>
      </p:sp>
      <p:sp>
        <p:nvSpPr>
          <p:cNvPr id="7" name="page">
            <a:extLst xmlns:a="http://schemas.openxmlformats.org/drawingml/2006/main">
              <a:ext uri="{FF2B5EF4-FFF2-40B4-BE49-F238E27FC236}">
                <a16:creationId xmlns:a16="http://schemas.microsoft.com/office/drawing/2014/main" id="{4ADF8F18-EE6E-4CB2-A549-C8733DDF0800}"/>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a:t>
            </a:r>
          </a:p>
        </p:txBody>
      </p:sp>
    </p:spTree>
    <p:extLst>
      <p:ext uri="{BB962C8B-B14F-4D97-AF65-F5344CB8AC3E}">
        <p14:creationId xmlns:p14="http://schemas.microsoft.com/office/powerpoint/2010/main" val="1413483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190BF118-1CDB-4048-997C-C79463E58AC6}"/>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0B2850D0-0C0E-4860-A25A-966C41982EF3}"/>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Two links and two absolute angles</a:t>
            </a:r>
          </a:p>
        </p:txBody>
      </p:sp>
      <p:sp>
        <p:nvSpPr>
          <p:cNvPr id="3" name="body0">
            <a:extLst xmlns:a="http://schemas.openxmlformats.org/drawingml/2006/main">
              <a:ext uri="{FF2B5EF4-FFF2-40B4-BE49-F238E27FC236}">
                <a16:creationId xmlns:a16="http://schemas.microsoft.com/office/drawing/2014/main" id="{D5910476-1D26-4A03-B0A0-307BB196ED12}"/>
              </a:ext>
            </a:extLst>
          </p:cNvPr>
          <p:cNvSpPr>
            <a:spLocks xmlns:a="http://schemas.openxmlformats.org/drawingml/2006/main" noGrp="1"/>
          </p:cNvSpPr>
          <p:nvPr/>
        </p:nvSpPr>
        <p:spPr>
          <a:xfrm xmlns:a="http://schemas.openxmlformats.org/drawingml/2006/main">
            <a:off x="666750" y="16668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The upper link joins the fixed pivot to the first joint. The lower link joins that joint to bob 2.</a:t>
            </a:r>
          </a:p>
        </p:txBody>
      </p:sp>
      <p:sp>
        <p:nvSpPr>
          <p:cNvPr id="4" name="body1">
            <a:extLst xmlns:a="http://schemas.openxmlformats.org/drawingml/2006/main">
              <a:ext uri="{FF2B5EF4-FFF2-40B4-BE49-F238E27FC236}">
                <a16:creationId xmlns:a16="http://schemas.microsoft.com/office/drawing/2014/main" id="{0541F55F-C6E1-4470-B170-9F16109FCFDA}"/>
              </a:ext>
            </a:extLst>
          </p:cNvPr>
          <p:cNvSpPr>
            <a:spLocks xmlns:a="http://schemas.openxmlformats.org/drawingml/2006/main" noGrp="1"/>
          </p:cNvSpPr>
          <p:nvPr/>
        </p:nvSpPr>
        <p:spPr>
          <a:xfrm xmlns:a="http://schemas.openxmlformats.org/drawingml/2006/main">
            <a:off x="666750" y="27908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Each angle starts at the downward vertical. Positive rotation moves the link toward the right.</a:t>
            </a:r>
          </a:p>
        </p:txBody>
      </p:sp>
      <p:sp>
        <p:nvSpPr>
          <p:cNvPr id="5" name="body2">
            <a:extLst xmlns:a="http://schemas.openxmlformats.org/drawingml/2006/main">
              <a:ext uri="{FF2B5EF4-FFF2-40B4-BE49-F238E27FC236}">
                <a16:creationId xmlns:a16="http://schemas.microsoft.com/office/drawing/2014/main" id="{6F49333A-DC34-43AF-9154-57DCCE4C585C}"/>
              </a:ext>
            </a:extLst>
          </p:cNvPr>
          <p:cNvSpPr>
            <a:spLocks xmlns:a="http://schemas.openxmlformats.org/drawingml/2006/main" noGrp="1"/>
          </p:cNvSpPr>
          <p:nvPr/>
        </p:nvSpPr>
        <p:spPr>
          <a:xfrm xmlns:a="http://schemas.openxmlformats.org/drawingml/2006/main">
            <a:off x="666750" y="39147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The relative angle at the moving joint is θ₂ − θ₁. It is different from θ₂.</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84848bf09a444bfb"/>
          <a:stretch xmlns:a="http://schemas.openxmlformats.org/drawingml/2006/main"/>
        </p:blipFill>
        <p:spPr>
          <a:xfrm xmlns:a="http://schemas.openxmlformats.org/drawingml/2006/main">
            <a:off x="6524625" y="1941001"/>
            <a:ext cx="5238750" cy="3642748"/>
          </a:xfrm>
          <a:prstGeom xmlns:a="http://schemas.openxmlformats.org/drawingml/2006/main" prst="rect">
            <a:avLst/>
          </a:prstGeom>
        </p:spPr>
      </p:pic>
      <p:sp>
        <p:nvSpPr>
          <p:cNvPr id="7" name="page">
            <a:extLst xmlns:a="http://schemas.openxmlformats.org/drawingml/2006/main">
              <a:ext uri="{FF2B5EF4-FFF2-40B4-BE49-F238E27FC236}">
                <a16:creationId xmlns:a16="http://schemas.microsoft.com/office/drawing/2014/main" id="{7B2CFDEF-E1BF-4E99-9ED8-20122D8ECDEB}"/>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a:t>
            </a:r>
          </a:p>
        </p:txBody>
      </p:sp>
    </p:spTree>
    <p:extLst>
      <p:ext uri="{BB962C8B-B14F-4D97-AF65-F5344CB8AC3E}">
        <p14:creationId xmlns:p14="http://schemas.microsoft.com/office/powerpoint/2010/main" val="67486158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A2830A80-B54F-4698-A13B-B7C62C4E0941}"/>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A6360918-41CA-44E2-8DA0-320762A1CCFD}"/>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Masses and lengths in the model</a:t>
            </a:r>
          </a:p>
        </p:txBody>
      </p:sp>
      <p:sp>
        <p:nvSpPr>
          <p:cNvPr id="3" name="body0">
            <a:extLst xmlns:a="http://schemas.openxmlformats.org/drawingml/2006/main">
              <a:ext uri="{FF2B5EF4-FFF2-40B4-BE49-F238E27FC236}">
                <a16:creationId xmlns:a16="http://schemas.microsoft.com/office/drawing/2014/main" id="{E58099EE-4B5E-472D-A452-246DAD61C2CE}"/>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m₁, m₂ [kg]: masses of the upper and lower uniform bars.</a:t>
            </a:r>
          </a:p>
        </p:txBody>
      </p:sp>
      <p:sp>
        <p:nvSpPr>
          <p:cNvPr id="4" name="body1">
            <a:extLst xmlns:a="http://schemas.openxmlformats.org/drawingml/2006/main">
              <a:ext uri="{FF2B5EF4-FFF2-40B4-BE49-F238E27FC236}">
                <a16:creationId xmlns:a16="http://schemas.microsoft.com/office/drawing/2014/main" id="{9251E5A1-1A51-47B4-903B-EF85CBF03BB4}"/>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M₁ [kg]: lumped mass at the moving joint. M₂ [kg]: lumped mass at the lower bob.</a:t>
            </a:r>
          </a:p>
        </p:txBody>
      </p:sp>
      <p:sp>
        <p:nvSpPr>
          <p:cNvPr id="5" name="body2">
            <a:extLst xmlns:a="http://schemas.openxmlformats.org/drawingml/2006/main">
              <a:ext uri="{FF2B5EF4-FFF2-40B4-BE49-F238E27FC236}">
                <a16:creationId xmlns:a16="http://schemas.microsoft.com/office/drawing/2014/main" id="{25F77BCA-D39F-4967-AE04-0AAFF7D4DC6B}"/>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L₁ [m]: fixed pivot to moving joint. L₂ [m]: moving joint to lower-bob center.</a:t>
            </a:r>
          </a:p>
        </p:txBody>
      </p:sp>
      <p:sp>
        <p:nvSpPr>
          <p:cNvPr id="6" name="body3">
            <a:extLst xmlns:a="http://schemas.openxmlformats.org/drawingml/2006/main">
              <a:ext uri="{FF2B5EF4-FFF2-40B4-BE49-F238E27FC236}">
                <a16:creationId xmlns:a16="http://schemas.microsoft.com/office/drawing/2014/main" id="{9A241572-7139-4748-8CD2-C9F2E325463F}"/>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Assign each washer and attachment to one component only. Use measured values, not the pre-lab example.</a:t>
            </a:r>
          </a:p>
        </p:txBody>
      </p:sp>
      <p:sp>
        <p:nvSpPr>
          <p:cNvPr id="7" name="page">
            <a:extLst xmlns:a="http://schemas.openxmlformats.org/drawingml/2006/main">
              <a:ext uri="{FF2B5EF4-FFF2-40B4-BE49-F238E27FC236}">
                <a16:creationId xmlns:a16="http://schemas.microsoft.com/office/drawing/2014/main" id="{D9DA2300-2F9D-4171-AE9A-F619275AEFCF}"/>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4</a:t>
            </a:r>
          </a:p>
        </p:txBody>
      </p:sp>
    </p:spTree>
    <p:extLst>
      <p:ext uri="{BB962C8B-B14F-4D97-AF65-F5344CB8AC3E}">
        <p14:creationId xmlns:p14="http://schemas.microsoft.com/office/powerpoint/2010/main" val="7986895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B6A50DF9-2282-49C2-B6AE-0F0AFE938B7A}"/>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F431FAA4-9C4B-44C3-A7EB-928EC781BEE3}"/>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Angles, angular speeds and accelerations</a:t>
            </a:r>
          </a:p>
        </p:txBody>
      </p:sp>
      <p:sp>
        <p:nvSpPr>
          <p:cNvPr id="3" name="EQ_rates">
            <a:extLst xmlns:a="http://schemas.openxmlformats.org/drawingml/2006/main">
              <a:ext uri="{FF2B5EF4-FFF2-40B4-BE49-F238E27FC236}">
                <a16:creationId xmlns:a16="http://schemas.microsoft.com/office/drawing/2014/main" id="{9EB1335F-1971-42E9-BBB1-FB4ABBBB5D0A}"/>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ω</m:t>
                      </m:r>
                    </m:e>
                    <m:sub>
                      <m:r>
                        <a:rPr sz="2400" lang="en-US">
                          <a:latin typeface="Cambria Math"/>
                        </a:rPr>
                        <m:t>i</m:t>
                      </m:r>
                    </m:sub>
                  </m:sSub>
                  <m:r>
                    <a:rPr sz="2400" lang="en-US">
                      <a:latin typeface="Cambria Math"/>
                    </a:rPr>
                    <m:t> = </m:t>
                  </m:r>
                  <m:acc>
                    <m:accPr>
                      <m:chr m:val="̇"/>
                    </m:accPr>
                    <m:e>
                      <m:sSub>
                        <m:e>
                          <m:r>
                            <a:rPr sz="2400" lang="en-US">
                              <a:latin typeface="Cambria Math"/>
                            </a:rPr>
                            <m:t>θ</m:t>
                          </m:r>
                        </m:e>
                        <m:sub>
                          <m:r>
                            <a:rPr sz="2400" lang="en-US">
                              <a:latin typeface="Cambria Math"/>
                            </a:rPr>
                            <m:t>i</m:t>
                          </m:r>
                        </m:sub>
                      </m:sSub>
                    </m:e>
                  </m:acc>
                  <m:r>
                    <a:rPr sz="2400" lang="en-US">
                      <a:latin typeface="Cambria Math"/>
                    </a:rPr>
                    <m:t> = </m:t>
                  </m:r>
                  <m:f>
                    <m:num>
                      <m:r>
                        <a:rPr sz="2400" lang="en-US">
                          <a:latin typeface="Cambria Math"/>
                        </a:rPr>
                        <m:t>d</m:t>
                      </m:r>
                      <m:sSub>
                        <m:e>
                          <m:r>
                            <a:rPr sz="2400" lang="en-US">
                              <a:latin typeface="Cambria Math"/>
                            </a:rPr>
                            <m:t>θ</m:t>
                          </m:r>
                        </m:e>
                        <m:sub>
                          <m:r>
                            <a:rPr sz="2400" lang="en-US">
                              <a:latin typeface="Cambria Math"/>
                            </a:rPr>
                            <m:t>i</m:t>
                          </m:r>
                        </m:sub>
                      </m:sSub>
                    </m:num>
                    <m:den>
                      <m:r>
                        <a:rPr sz="2400" lang="en-US">
                          <a:latin typeface="Cambria Math"/>
                        </a:rPr>
                        <m:t>dt</m:t>
                      </m:r>
                    </m:den>
                  </m:f>
                  <m:r>
                    <a:rPr sz="2400" lang="en-US">
                      <a:latin typeface="Cambria Math"/>
                    </a:rPr>
                    <m:t>     </m:t>
                  </m:r>
                  <m:sSub>
                    <m:e>
                      <m:r>
                        <a:rPr sz="2400" lang="en-US">
                          <a:latin typeface="Cambria Math"/>
                        </a:rPr>
                        <m:t>α</m:t>
                      </m:r>
                    </m:e>
                    <m:sub>
                      <m:r>
                        <a:rPr sz="2400" lang="en-US">
                          <a:latin typeface="Cambria Math"/>
                        </a:rPr>
                        <m:t>i</m:t>
                      </m:r>
                    </m:sub>
                  </m:sSub>
                  <m:r>
                    <a:rPr sz="2400" lang="en-US">
                      <a:latin typeface="Cambria Math"/>
                    </a:rPr>
                    <m:t> = </m:t>
                  </m:r>
                  <m:acc>
                    <m:accPr>
                      <m:chr m:val="̈"/>
                    </m:accPr>
                    <m:e>
                      <m:sSub>
                        <m:e>
                          <m:r>
                            <a:rPr sz="2400" lang="en-US">
                              <a:latin typeface="Cambria Math"/>
                            </a:rPr>
                            <m:t>θ</m:t>
                          </m:r>
                        </m:e>
                        <m:sub>
                          <m:r>
                            <a:rPr sz="2400" lang="en-US">
                              <a:latin typeface="Cambria Math"/>
                            </a:rPr>
                            <m:t>i</m:t>
                          </m:r>
                        </m:sub>
                      </m:sSub>
                    </m:e>
                  </m:acc>
                </m:oMath>
              </m:oMathPara>
            </a14:m>
            <a:endParaRPr lang="en-US" sz="2400"/>
          </a:p>
        </p:txBody>
      </p:sp>
      <p:sp>
        <p:nvSpPr>
          <p:cNvPr id="4" name="body0">
            <a:extLst xmlns:a="http://schemas.openxmlformats.org/drawingml/2006/main">
              <a:ext uri="{FF2B5EF4-FFF2-40B4-BE49-F238E27FC236}">
                <a16:creationId xmlns:a16="http://schemas.microsoft.com/office/drawing/2014/main" id="{4F205782-13D8-4727-AB00-E6902494F73E}"/>
              </a:ext>
            </a:extLst>
          </p:cNvPr>
          <p:cNvSpPr>
            <a:spLocks xmlns:a="http://schemas.openxmlformats.org/drawingml/2006/main" noGrp="1"/>
          </p:cNvSpPr>
          <p:nvPr/>
        </p:nvSpPr>
        <p:spPr>
          <a:xfrm xmlns:a="http://schemas.openxmlformats.org/drawingml/2006/main">
            <a:off x="666750" y="244792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θᵢ [rad] describes orientation. A dot means a time derivative, and i is 1 or 2.</a:t>
            </a:r>
          </a:p>
        </p:txBody>
      </p:sp>
      <p:sp>
        <p:nvSpPr>
          <p:cNvPr id="5" name="body1">
            <a:extLst xmlns:a="http://schemas.openxmlformats.org/drawingml/2006/main">
              <a:ext uri="{FF2B5EF4-FFF2-40B4-BE49-F238E27FC236}">
                <a16:creationId xmlns:a16="http://schemas.microsoft.com/office/drawing/2014/main" id="{71B99C08-3365-40D4-B074-A373A8C5CEE3}"/>
              </a:ext>
            </a:extLst>
          </p:cNvPr>
          <p:cNvSpPr>
            <a:spLocks xmlns:a="http://schemas.openxmlformats.org/drawingml/2006/main" noGrp="1"/>
          </p:cNvSpPr>
          <p:nvPr/>
        </p:nvSpPr>
        <p:spPr>
          <a:xfrm xmlns:a="http://schemas.openxmlformats.org/drawingml/2006/main">
            <a:off x="666750" y="351472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ωᵢ [rad/s] tells how quickly the angle changes. αᵢ [rad/s²] tells how quickly that speed changes.</a:t>
            </a:r>
          </a:p>
        </p:txBody>
      </p:sp>
      <p:sp>
        <p:nvSpPr>
          <p:cNvPr id="6" name="body2">
            <a:extLst xmlns:a="http://schemas.openxmlformats.org/drawingml/2006/main">
              <a:ext uri="{FF2B5EF4-FFF2-40B4-BE49-F238E27FC236}">
                <a16:creationId xmlns:a16="http://schemas.microsoft.com/office/drawing/2014/main" id="{624F7354-1F48-46E2-A613-FAD7BE87E932}"/>
              </a:ext>
            </a:extLst>
          </p:cNvPr>
          <p:cNvSpPr>
            <a:spLocks xmlns:a="http://schemas.openxmlformats.org/drawingml/2006/main" noGrp="1"/>
          </p:cNvSpPr>
          <p:nvPr/>
        </p:nvSpPr>
        <p:spPr>
          <a:xfrm xmlns:a="http://schemas.openxmlformats.org/drawingml/2006/main">
            <a:off x="666750" y="458152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Use radians in the equations. Degrees are convenient labels for plots.</a:t>
            </a:r>
          </a:p>
        </p:txBody>
      </p:sp>
      <p:sp>
        <p:nvSpPr>
          <p:cNvPr id="7" name="page">
            <a:extLst xmlns:a="http://schemas.openxmlformats.org/drawingml/2006/main">
              <a:ext uri="{FF2B5EF4-FFF2-40B4-BE49-F238E27FC236}">
                <a16:creationId xmlns:a16="http://schemas.microsoft.com/office/drawing/2014/main" id="{EEAB6F44-DEFF-4051-B541-336CBDAD3EC7}"/>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5</a:t>
            </a:r>
          </a:p>
        </p:txBody>
      </p:sp>
    </p:spTree>
    <p:extLst>
      <p:ext uri="{BB962C8B-B14F-4D97-AF65-F5344CB8AC3E}">
        <p14:creationId xmlns:p14="http://schemas.microsoft.com/office/powerpoint/2010/main" val="1402867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801FB487-87D3-4A4A-8BF2-23686A7FE667}"/>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EC4BC327-BF03-4B33-BD55-2212F45D2121}"/>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Positions follow from the geometry</a:t>
            </a:r>
          </a:p>
        </p:txBody>
      </p:sp>
      <p:sp>
        <p:nvSpPr>
          <p:cNvPr id="3" name="EQ_xy1">
            <a:extLst xmlns:a="http://schemas.openxmlformats.org/drawingml/2006/main">
              <a:ext uri="{FF2B5EF4-FFF2-40B4-BE49-F238E27FC236}">
                <a16:creationId xmlns:a16="http://schemas.microsoft.com/office/drawing/2014/main" id="{17D8E192-F783-4642-A525-541E5895616F}"/>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x</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 sin </m:t>
                  </m:r>
                  <m:sSub>
                    <m:e>
                      <m:r>
                        <a:rPr sz="2400" lang="en-US">
                          <a:latin typeface="Cambria Math"/>
                        </a:rPr>
                        <m:t>θ</m:t>
                      </m:r>
                    </m:e>
                    <m:sub>
                      <m:r>
                        <a:rPr sz="2400" lang="en-US">
                          <a:latin typeface="Cambria Math"/>
                        </a:rPr>
                        <m:t>1</m:t>
                      </m:r>
                    </m:sub>
                  </m:sSub>
                  <m:r>
                    <a:rPr sz="2400" lang="en-US">
                      <a:latin typeface="Cambria Math"/>
                    </a:rPr>
                    <m:t>      </m:t>
                  </m:r>
                  <m:sSub>
                    <m:e>
                      <m:r>
                        <a:rPr sz="2400" lang="en-US">
                          <a:latin typeface="Cambria Math"/>
                        </a:rPr>
                        <m:t>y</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 cos </m:t>
                  </m:r>
                  <m:sSub>
                    <m:e>
                      <m:r>
                        <a:rPr sz="2400" lang="en-US">
                          <a:latin typeface="Cambria Math"/>
                        </a:rPr>
                        <m:t>θ</m:t>
                      </m:r>
                    </m:e>
                    <m:sub>
                      <m:r>
                        <a:rPr sz="2400" lang="en-US">
                          <a:latin typeface="Cambria Math"/>
                        </a:rPr>
                        <m:t>1</m:t>
                      </m:r>
                    </m:sub>
                  </m:sSub>
                </m:oMath>
              </m:oMathPara>
            </a14:m>
            <a:endParaRPr lang="en-US" sz="2400"/>
          </a:p>
        </p:txBody>
      </p:sp>
      <p:sp>
        <p:nvSpPr>
          <p:cNvPr id="4" name="EQ_xy2">
            <a:extLst xmlns:a="http://schemas.openxmlformats.org/drawingml/2006/main">
              <a:ext uri="{FF2B5EF4-FFF2-40B4-BE49-F238E27FC236}">
                <a16:creationId xmlns:a16="http://schemas.microsoft.com/office/drawing/2014/main" id="{A5DA6528-672E-4667-86F4-34A48852EDFB}"/>
              </a:ext>
            </a:extLst>
          </p:cNvPr>
          <p:cNvSpPr>
            <a:spLocks xmlns:a="http://schemas.openxmlformats.org/drawingml/2006/main" noGrp="1"/>
          </p:cNvSpPr>
          <p:nvPr/>
        </p:nvSpPr>
        <p:spPr>
          <a:xfrm xmlns:a="http://schemas.openxmlformats.org/drawingml/2006/main">
            <a:off x="666750" y="2447925"/>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x</m:t>
                          </m:r>
                        </m:e>
                        <m:sub>
                          <m:r>
                            <a:rPr sz="2400" lang="en-US">
                              <a:latin typeface="Cambria Math"/>
                            </a:rPr>
                            <m:t>2</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 sin </m:t>
                      </m:r>
                      <m:sSub>
                        <m:e>
                          <m:r>
                            <a:rPr sz="2400" lang="en-US">
                              <a:latin typeface="Cambria Math"/>
                            </a:rPr>
                            <m:t>θ</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2</m:t>
                          </m:r>
                        </m:sub>
                      </m:sSub>
                      <m:r>
                        <a:rPr sz="2400" lang="en-US">
                          <a:latin typeface="Cambria Math"/>
                        </a:rPr>
                        <m:t> sin </m:t>
                      </m:r>
                      <m:sSub>
                        <m:e>
                          <m:r>
                            <a:rPr sz="2400" lang="en-US">
                              <a:latin typeface="Cambria Math"/>
                            </a:rPr>
                            <m:t>θ</m:t>
                          </m:r>
                        </m:e>
                        <m:sub>
                          <m:r>
                            <a:rPr sz="2400" lang="en-US">
                              <a:latin typeface="Cambria Math"/>
                            </a:rPr>
                            <m:t>2</m:t>
                          </m:r>
                        </m:sub>
                      </m:sSub>
                    </m:e>
                    <m:e>
                      <m:sSub>
                        <m:e>
                          <m:r>
                            <a:rPr sz="2400" lang="en-US">
                              <a:latin typeface="Cambria Math"/>
                            </a:rPr>
                            <m:t>y</m:t>
                          </m:r>
                        </m:e>
                        <m:sub>
                          <m:r>
                            <a:rPr sz="2400" lang="en-US">
                              <a:latin typeface="Cambria Math"/>
                            </a:rPr>
                            <m:t>2</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 cos </m:t>
                      </m:r>
                      <m:sSub>
                        <m:e>
                          <m:r>
                            <a:rPr sz="2400" lang="en-US">
                              <a:latin typeface="Cambria Math"/>
                            </a:rPr>
                            <m:t>θ</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2</m:t>
                          </m:r>
                        </m:sub>
                      </m:sSub>
                      <m:r>
                        <a:rPr sz="2400" lang="en-US">
                          <a:latin typeface="Cambria Math"/>
                        </a:rPr>
                        <m:t> cos </m:t>
                      </m:r>
                      <m:sSub>
                        <m:e>
                          <m:r>
                            <a:rPr sz="2400" lang="en-US">
                              <a:latin typeface="Cambria Math"/>
                            </a:rPr>
                            <m:t>θ</m:t>
                          </m:r>
                        </m:e>
                        <m:sub>
                          <m:r>
                            <a:rPr sz="2400" lang="en-US">
                              <a:latin typeface="Cambria Math"/>
                            </a:rPr>
                            <m:t>2</m:t>
                          </m:r>
                        </m:sub>
                      </m:sSub>
                    </m:e>
                  </m:eqArr>
                </m:oMath>
              </m:oMathPara>
            </a14:m>
            <a:endParaRPr lang="en-US" sz="2400"/>
          </a:p>
        </p:txBody>
      </p:sp>
      <p:sp>
        <p:nvSpPr>
          <p:cNvPr id="5" name="body0">
            <a:extLst xmlns:a="http://schemas.openxmlformats.org/drawingml/2006/main">
              <a:ext uri="{FF2B5EF4-FFF2-40B4-BE49-F238E27FC236}">
                <a16:creationId xmlns:a16="http://schemas.microsoft.com/office/drawing/2014/main" id="{EBC515B1-60F8-4124-9D78-B2DE75AB276C}"/>
              </a:ext>
            </a:extLst>
          </p:cNvPr>
          <p:cNvSpPr>
            <a:spLocks xmlns:a="http://schemas.openxmlformats.org/drawingml/2006/main" noGrp="1"/>
          </p:cNvSpPr>
          <p:nvPr/>
        </p:nvSpPr>
        <p:spPr>
          <a:xfrm xmlns:a="http://schemas.openxmlformats.org/drawingml/2006/main">
            <a:off x="666750" y="35337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Choose the fixed pivot as (0,0), with x positive right and y positive upward.</a:t>
            </a:r>
          </a:p>
        </p:txBody>
      </p:sp>
      <p:sp>
        <p:nvSpPr>
          <p:cNvPr id="6" name="body1">
            <a:extLst xmlns:a="http://schemas.openxmlformats.org/drawingml/2006/main">
              <a:ext uri="{FF2B5EF4-FFF2-40B4-BE49-F238E27FC236}">
                <a16:creationId xmlns:a16="http://schemas.microsoft.com/office/drawing/2014/main" id="{9B671EEA-FC4B-411C-82EF-6AEE3BA41658}"/>
              </a:ext>
            </a:extLst>
          </p:cNvPr>
          <p:cNvSpPr>
            <a:spLocks xmlns:a="http://schemas.openxmlformats.org/drawingml/2006/main" noGrp="1"/>
          </p:cNvSpPr>
          <p:nvPr/>
        </p:nvSpPr>
        <p:spPr>
          <a:xfrm xmlns:a="http://schemas.openxmlformats.org/drawingml/2006/main">
            <a:off x="666750" y="46005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Bob 2 moves because both links move. Its coordinates contain a contribution from each link.</a:t>
            </a:r>
          </a:p>
        </p:txBody>
      </p:sp>
      <p:sp>
        <p:nvSpPr>
          <p:cNvPr id="7" name="page">
            <a:extLst xmlns:a="http://schemas.openxmlformats.org/drawingml/2006/main">
              <a:ext uri="{FF2B5EF4-FFF2-40B4-BE49-F238E27FC236}">
                <a16:creationId xmlns:a16="http://schemas.microsoft.com/office/drawing/2014/main" id="{8E192006-5758-4D9E-928D-599BB8783F94}"/>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6</a:t>
            </a:r>
          </a:p>
        </p:txBody>
      </p:sp>
    </p:spTree>
    <p:extLst>
      <p:ext uri="{BB962C8B-B14F-4D97-AF65-F5344CB8AC3E}">
        <p14:creationId xmlns:p14="http://schemas.microsoft.com/office/powerpoint/2010/main" val="85628010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820E243A-6AE1-4C75-BBAC-3225115F65E2}"/>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58799F88-C299-4E5C-8E0D-67248D60865D}"/>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Why we use energy to derive the model</a:t>
            </a:r>
          </a:p>
        </p:txBody>
      </p:sp>
      <p:sp>
        <p:nvSpPr>
          <p:cNvPr id="3" name="body0">
            <a:extLst xmlns:a="http://schemas.openxmlformats.org/drawingml/2006/main">
              <a:ext uri="{FF2B5EF4-FFF2-40B4-BE49-F238E27FC236}">
                <a16:creationId xmlns:a16="http://schemas.microsoft.com/office/drawing/2014/main" id="{534378AD-38A4-41CF-90B3-AC659FF5F8D6}"/>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Kinetic energy T is the energy of motion. Potential energy V comes from the height of every mass.</a:t>
            </a:r>
          </a:p>
        </p:txBody>
      </p:sp>
      <p:sp>
        <p:nvSpPr>
          <p:cNvPr id="4" name="body1">
            <a:extLst xmlns:a="http://schemas.openxmlformats.org/drawingml/2006/main">
              <a:ext uri="{FF2B5EF4-FFF2-40B4-BE49-F238E27FC236}">
                <a16:creationId xmlns:a16="http://schemas.microsoft.com/office/drawing/2014/main" id="{AC20B85F-962C-4CB6-BC5C-A16D6E9B22DD}"/>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total mechanical energy is E = T + V. The Lagrangian is ℒ = T − V.</a:t>
            </a:r>
          </a:p>
        </p:txBody>
      </p:sp>
      <p:sp>
        <p:nvSpPr>
          <p:cNvPr id="5" name="body2">
            <a:extLst xmlns:a="http://schemas.openxmlformats.org/drawingml/2006/main">
              <a:ext uri="{FF2B5EF4-FFF2-40B4-BE49-F238E27FC236}">
                <a16:creationId xmlns:a16="http://schemas.microsoft.com/office/drawing/2014/main" id="{AEAE8049-8792-4CE2-9AD0-09DCBD20F11C}"/>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energy method includes the effect of joint forces without introducing every unknown internal force.</a:t>
            </a:r>
          </a:p>
        </p:txBody>
      </p:sp>
      <p:sp>
        <p:nvSpPr>
          <p:cNvPr id="6" name="body3">
            <a:extLst xmlns:a="http://schemas.openxmlformats.org/drawingml/2006/main">
              <a:ext uri="{FF2B5EF4-FFF2-40B4-BE49-F238E27FC236}">
                <a16:creationId xmlns:a16="http://schemas.microsoft.com/office/drawing/2014/main" id="{89E16381-E26A-48A6-92C1-95006F1C10E8}"/>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Baseline assumptions: rigid planar links, uniform bars, fixed pivot and no friction or air drag.</a:t>
            </a:r>
          </a:p>
        </p:txBody>
      </p:sp>
      <p:sp>
        <p:nvSpPr>
          <p:cNvPr id="7" name="page">
            <a:extLst xmlns:a="http://schemas.openxmlformats.org/drawingml/2006/main">
              <a:ext uri="{FF2B5EF4-FFF2-40B4-BE49-F238E27FC236}">
                <a16:creationId xmlns:a16="http://schemas.microsoft.com/office/drawing/2014/main" id="{17743540-4230-4F2D-B002-DE30CC2BA325}"/>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7</a:t>
            </a:r>
          </a:p>
        </p:txBody>
      </p:sp>
    </p:spTree>
    <p:extLst>
      <p:ext uri="{BB962C8B-B14F-4D97-AF65-F5344CB8AC3E}">
        <p14:creationId xmlns:p14="http://schemas.microsoft.com/office/powerpoint/2010/main" val="80556674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FB92F3DC-D383-4AC7-97E2-BCDA4338B70D}"/>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8A1A8B1B-21DC-4E9E-9465-2DFE3DB8D08C}"/>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Potential energy begins with height</a:t>
            </a:r>
          </a:p>
        </p:txBody>
      </p:sp>
      <p:sp>
        <p:nvSpPr>
          <p:cNvPr id="3" name="EQ_heights">
            <a:extLst xmlns:a="http://schemas.openxmlformats.org/drawingml/2006/main">
              <a:ext uri="{FF2B5EF4-FFF2-40B4-BE49-F238E27FC236}">
                <a16:creationId xmlns:a16="http://schemas.microsoft.com/office/drawing/2014/main" id="{DEF593A2-ED60-4E0C-B8AF-B2B9E90CDE9F}"/>
              </a:ext>
            </a:extLst>
          </p:cNvPr>
          <p:cNvSpPr>
            <a:spLocks xmlns:a="http://schemas.openxmlformats.org/drawingml/2006/main" noGrp="1"/>
          </p:cNvSpPr>
          <p:nvPr/>
        </p:nvSpPr>
        <p:spPr>
          <a:xfrm xmlns:a="http://schemas.openxmlformats.org/drawingml/2006/main">
            <a:off x="666750" y="1666875"/>
            <a:ext cx="10858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h</m:t>
                          </m:r>
                        </m:e>
                        <m:sub>
                          <m:r>
                            <a:rPr sz="2400" lang="en-US">
                              <a:latin typeface="Cambria Math"/>
                            </a:rPr>
                            <m:t>G1</m:t>
                          </m:r>
                        </m:sub>
                      </m:sSub>
                      <m:r>
                        <a:rPr sz="2400" lang="en-US">
                          <a:latin typeface="Cambria Math"/>
                        </a:rPr>
                        <m:t> = </m:t>
                      </m:r>
                      <m:f>
                        <m:num>
                          <m:sSub>
                            <m:e>
                              <m:r>
                                <a:rPr sz="2400" lang="en-US">
                                  <a:latin typeface="Cambria Math"/>
                                </a:rPr>
                                <m:t>L</m:t>
                              </m:r>
                            </m:e>
                            <m:sub>
                              <m:r>
                                <a:rPr sz="2400" lang="en-US">
                                  <a:latin typeface="Cambria Math"/>
                                </a:rPr>
                                <m:t>1</m:t>
                              </m:r>
                            </m:sub>
                          </m:sSub>
                        </m:num>
                        <m:den>
                          <m:r>
                            <a:rPr sz="2400" lang="en-US">
                              <a:latin typeface="Cambria Math"/>
                            </a:rPr>
                            <m:t>2</m:t>
                          </m:r>
                        </m:den>
                      </m:f>
                      <m:r>
                        <a:rPr sz="2400" lang="en-US">
                          <a:latin typeface="Cambria Math"/>
                        </a:rPr>
                        <m:t>(1 − cos </m:t>
                      </m:r>
                      <m:sSub>
                        <m:e>
                          <m:r>
                            <a:rPr sz="2400" lang="en-US">
                              <a:latin typeface="Cambria Math"/>
                            </a:rPr>
                            <m:t>θ</m:t>
                          </m:r>
                        </m:e>
                        <m:sub>
                          <m:r>
                            <a:rPr sz="2400" lang="en-US">
                              <a:latin typeface="Cambria Math"/>
                            </a:rPr>
                            <m:t>1</m:t>
                          </m:r>
                        </m:sub>
                      </m:sSub>
                      <m:r>
                        <a:rPr sz="2400" lang="en-US">
                          <a:latin typeface="Cambria Math"/>
                        </a:rPr>
                        <m:t>)</m:t>
                      </m:r>
                    </m:e>
                    <m:e>
                      <m:sSub>
                        <m:e>
                          <m:r>
                            <a:rPr sz="2400" lang="en-US">
                              <a:latin typeface="Cambria Math"/>
                            </a:rPr>
                            <m:t>h</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1</m:t>
                          </m:r>
                        </m:sub>
                      </m:sSub>
                      <m:r>
                        <a:rPr sz="2400" lang="en-US">
                          <a:latin typeface="Cambria Math"/>
                        </a:rPr>
                        <m:t>(1 − cos </m:t>
                      </m:r>
                      <m:sSub>
                        <m:e>
                          <m:r>
                            <a:rPr sz="2400" lang="en-US">
                              <a:latin typeface="Cambria Math"/>
                            </a:rPr>
                            <m:t>θ</m:t>
                          </m:r>
                        </m:e>
                        <m:sub>
                          <m:r>
                            <a:rPr sz="2400" lang="en-US">
                              <a:latin typeface="Cambria Math"/>
                            </a:rPr>
                            <m:t>1</m:t>
                          </m:r>
                        </m:sub>
                      </m:sSub>
                      <m:r>
                        <a:rPr sz="2400" lang="en-US">
                          <a:latin typeface="Cambria Math"/>
                        </a:rPr>
                        <m:t>)</m:t>
                      </m:r>
                    </m:e>
                    <m:e>
                      <m:sSub>
                        <m:e>
                          <m:r>
                            <a:rPr sz="2400" lang="en-US">
                              <a:latin typeface="Cambria Math"/>
                            </a:rPr>
                            <m:t>h</m:t>
                          </m:r>
                        </m:e>
                        <m:sub>
                          <m:r>
                            <a:rPr sz="2400" lang="en-US">
                              <a:latin typeface="Cambria Math"/>
                            </a:rPr>
                            <m:t>G2</m:t>
                          </m:r>
                        </m:sub>
                      </m:sSub>
                      <m:r>
                        <a:rPr sz="2400" lang="en-US">
                          <a:latin typeface="Cambria Math"/>
                        </a:rPr>
                        <m:t> = </m:t>
                      </m:r>
                      <m:sSub>
                        <m:e>
                          <m:r>
                            <a:rPr sz="2400" lang="en-US">
                              <a:latin typeface="Cambria Math"/>
                            </a:rPr>
                            <m:t>h</m:t>
                          </m:r>
                        </m:e>
                        <m:sub>
                          <m:r>
                            <a:rPr sz="2400" lang="en-US">
                              <a:latin typeface="Cambria Math"/>
                            </a:rPr>
                            <m:t>1</m:t>
                          </m:r>
                        </m:sub>
                      </m:sSub>
                      <m:r>
                        <a:rPr sz="2400" lang="en-US">
                          <a:latin typeface="Cambria Math"/>
                        </a:rPr>
                        <m:t> + </m:t>
                      </m:r>
                      <m:f>
                        <m:num>
                          <m:sSub>
                            <m:e>
                              <m:r>
                                <a:rPr sz="2400" lang="en-US">
                                  <a:latin typeface="Cambria Math"/>
                                </a:rPr>
                                <m:t>L</m:t>
                              </m:r>
                            </m:e>
                            <m:sub>
                              <m:r>
                                <a:rPr sz="2400" lang="en-US">
                                  <a:latin typeface="Cambria Math"/>
                                </a:rPr>
                                <m:t>2</m:t>
                              </m:r>
                            </m:sub>
                          </m:sSub>
                        </m:num>
                        <m:den>
                          <m:r>
                            <a:rPr sz="2400" lang="en-US">
                              <a:latin typeface="Cambria Math"/>
                            </a:rPr>
                            <m:t>2</m:t>
                          </m:r>
                        </m:den>
                      </m:f>
                      <m:r>
                        <a:rPr sz="2400" lang="en-US">
                          <a:latin typeface="Cambria Math"/>
                        </a:rPr>
                        <m:t>(1 − cos </m:t>
                      </m:r>
                      <m:sSub>
                        <m:e>
                          <m:r>
                            <a:rPr sz="2400" lang="en-US">
                              <a:latin typeface="Cambria Math"/>
                            </a:rPr>
                            <m:t>θ</m:t>
                          </m:r>
                        </m:e>
                        <m:sub>
                          <m:r>
                            <a:rPr sz="2400" lang="en-US">
                              <a:latin typeface="Cambria Math"/>
                            </a:rPr>
                            <m:t>2</m:t>
                          </m:r>
                        </m:sub>
                      </m:sSub>
                      <m:r>
                        <a:rPr sz="2400" lang="en-US">
                          <a:latin typeface="Cambria Math"/>
                        </a:rPr>
                        <m:t>)</m:t>
                      </m:r>
                    </m:e>
                    <m:e>
                      <m:sSub>
                        <m:e>
                          <m:r>
                            <a:rPr sz="2400" lang="en-US">
                              <a:latin typeface="Cambria Math"/>
                            </a:rPr>
                            <m:t>h</m:t>
                          </m:r>
                        </m:e>
                        <m:sub>
                          <m:r>
                            <a:rPr sz="2400" lang="en-US">
                              <a:latin typeface="Cambria Math"/>
                            </a:rPr>
                            <m:t>2</m:t>
                          </m:r>
                        </m:sub>
                      </m:sSub>
                      <m:r>
                        <a:rPr sz="2400" lang="en-US">
                          <a:latin typeface="Cambria Math"/>
                        </a:rPr>
                        <m:t> = </m:t>
                      </m:r>
                      <m:sSub>
                        <m:e>
                          <m:r>
                            <a:rPr sz="2400" lang="en-US">
                              <a:latin typeface="Cambria Math"/>
                            </a:rPr>
                            <m:t>h</m:t>
                          </m:r>
                        </m:e>
                        <m:sub>
                          <m:r>
                            <a:rPr sz="2400" lang="en-US">
                              <a:latin typeface="Cambria Math"/>
                            </a:rPr>
                            <m:t>1</m:t>
                          </m:r>
                        </m:sub>
                      </m:sSub>
                      <m:r>
                        <a:rPr sz="2400" lang="en-US">
                          <a:latin typeface="Cambria Math"/>
                        </a:rPr>
                        <m:t> + </m:t>
                      </m:r>
                      <m:sSub>
                        <m:e>
                          <m:r>
                            <a:rPr sz="2400" lang="en-US">
                              <a:latin typeface="Cambria Math"/>
                            </a:rPr>
                            <m:t>L</m:t>
                          </m:r>
                        </m:e>
                        <m:sub>
                          <m:r>
                            <a:rPr sz="2400" lang="en-US">
                              <a:latin typeface="Cambria Math"/>
                            </a:rPr>
                            <m:t>2</m:t>
                          </m:r>
                        </m:sub>
                      </m:sSub>
                      <m:r>
                        <a:rPr sz="2400" lang="en-US">
                          <a:latin typeface="Cambria Math"/>
                        </a:rPr>
                        <m:t>(1 − cos </m:t>
                      </m:r>
                      <m:sSub>
                        <m:e>
                          <m:r>
                            <a:rPr sz="2400" lang="en-US">
                              <a:latin typeface="Cambria Math"/>
                            </a:rPr>
                            <m:t>θ</m:t>
                          </m:r>
                        </m:e>
                        <m:sub>
                          <m:r>
                            <a:rPr sz="2400" lang="en-US">
                              <a:latin typeface="Cambria Math"/>
                            </a:rPr>
                            <m:t>2</m:t>
                          </m:r>
                        </m:sub>
                      </m:sSub>
                      <m:r>
                        <a:rPr sz="2400" lang="en-US">
                          <a:latin typeface="Cambria Math"/>
                        </a:rPr>
                        <m:t>)</m:t>
                      </m:r>
                    </m:e>
                  </m:eqArr>
                </m:oMath>
              </m:oMathPara>
            </a14:m>
            <a:endParaRPr lang="en-US" sz="2400"/>
          </a:p>
        </p:txBody>
      </p:sp>
      <p:sp>
        <p:nvSpPr>
          <p:cNvPr id="4" name="body0">
            <a:extLst xmlns:a="http://schemas.openxmlformats.org/drawingml/2006/main">
              <a:ext uri="{FF2B5EF4-FFF2-40B4-BE49-F238E27FC236}">
                <a16:creationId xmlns:a16="http://schemas.microsoft.com/office/drawing/2014/main" id="{93478554-0566-4E4D-9B8D-09BA86426F65}"/>
              </a:ext>
            </a:extLst>
          </p:cNvPr>
          <p:cNvSpPr>
            <a:spLocks xmlns:a="http://schemas.openxmlformats.org/drawingml/2006/main" noGrp="1"/>
          </p:cNvSpPr>
          <p:nvPr/>
        </p:nvSpPr>
        <p:spPr>
          <a:xfrm xmlns:a="http://schemas.openxmlformats.org/drawingml/2006/main">
            <a:off x="666750" y="4086225"/>
            <a:ext cx="10858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Set V = 0 when both links hang vertically downward.</a:t>
            </a:r>
          </a:p>
        </p:txBody>
      </p:sp>
      <p:sp>
        <p:nvSpPr>
          <p:cNvPr id="5" name="body1">
            <a:extLst xmlns:a="http://schemas.openxmlformats.org/drawingml/2006/main">
              <a:ext uri="{FF2B5EF4-FFF2-40B4-BE49-F238E27FC236}">
                <a16:creationId xmlns:a16="http://schemas.microsoft.com/office/drawing/2014/main" id="{0803842D-CCE1-4D45-9F33-9125D6368674}"/>
              </a:ext>
            </a:extLst>
          </p:cNvPr>
          <p:cNvSpPr>
            <a:spLocks xmlns:a="http://schemas.openxmlformats.org/drawingml/2006/main" noGrp="1"/>
          </p:cNvSpPr>
          <p:nvPr/>
        </p:nvSpPr>
        <p:spPr>
          <a:xfrm xmlns:a="http://schemas.openxmlformats.org/drawingml/2006/main">
            <a:off x="666750" y="4819650"/>
            <a:ext cx="10858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Raising any mass by h increases its gravitational potential energy by mgh.</a:t>
            </a:r>
          </a:p>
        </p:txBody>
      </p:sp>
      <p:sp>
        <p:nvSpPr>
          <p:cNvPr id="6" name="body2">
            <a:extLst xmlns:a="http://schemas.openxmlformats.org/drawingml/2006/main">
              <a:ext uri="{FF2B5EF4-FFF2-40B4-BE49-F238E27FC236}">
                <a16:creationId xmlns:a16="http://schemas.microsoft.com/office/drawing/2014/main" id="{512DC71A-D5D0-4A12-A33D-889B722C8F74}"/>
              </a:ext>
            </a:extLst>
          </p:cNvPr>
          <p:cNvSpPr>
            <a:spLocks xmlns:a="http://schemas.openxmlformats.org/drawingml/2006/main" noGrp="1"/>
          </p:cNvSpPr>
          <p:nvPr/>
        </p:nvSpPr>
        <p:spPr>
          <a:xfrm xmlns:a="http://schemas.openxmlformats.org/drawingml/2006/main">
            <a:off x="666750" y="5553075"/>
            <a:ext cx="10858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center of a uniform bar lies halfway along it. The entire lower assembly also rises when link 1 rotates.</a:t>
            </a:r>
          </a:p>
        </p:txBody>
      </p:sp>
      <p:sp>
        <p:nvSpPr>
          <p:cNvPr id="7" name="page">
            <a:extLst xmlns:a="http://schemas.openxmlformats.org/drawingml/2006/main">
              <a:ext uri="{FF2B5EF4-FFF2-40B4-BE49-F238E27FC236}">
                <a16:creationId xmlns:a16="http://schemas.microsoft.com/office/drawing/2014/main" id="{84B3CEA2-98DE-429D-BD2C-7F0729AAB098}"/>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8</a:t>
            </a:r>
          </a:p>
        </p:txBody>
      </p:sp>
    </p:spTree>
    <p:extLst>
      <p:ext uri="{BB962C8B-B14F-4D97-AF65-F5344CB8AC3E}">
        <p14:creationId xmlns:p14="http://schemas.microsoft.com/office/powerpoint/2010/main" val="7276442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AFCCEA9A-1A57-476C-A279-2A0783B922C7}"/>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59853EB6-CBD3-4A3A-8AED-EAE73882E07C}"/>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Potential energy of all four components</a:t>
            </a:r>
          </a:p>
        </p:txBody>
      </p:sp>
      <p:sp>
        <p:nvSpPr>
          <p:cNvPr id="3" name="EQ_potential">
            <a:extLst xmlns:a="http://schemas.openxmlformats.org/drawingml/2006/main">
              <a:ext uri="{FF2B5EF4-FFF2-40B4-BE49-F238E27FC236}">
                <a16:creationId xmlns:a16="http://schemas.microsoft.com/office/drawing/2014/main" id="{431273D4-1589-46CB-AAE2-A3DD827D5E00}"/>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V = </m:t>
                  </m:r>
                  <m:sSub>
                    <m:e>
                      <m:r>
                        <a:rPr sz="2400" lang="en-US">
                          <a:latin typeface="Cambria Math"/>
                        </a:rPr>
                        <m:t>G</m:t>
                      </m:r>
                    </m:e>
                    <m:sub>
                      <m:r>
                        <a:rPr sz="2400" lang="en-US">
                          <a:latin typeface="Cambria Math"/>
                        </a:rPr>
                        <m:t>1</m:t>
                      </m:r>
                    </m:sub>
                  </m:sSub>
                  <m:r>
                    <a:rPr sz="2400" lang="en-US">
                      <a:latin typeface="Cambria Math"/>
                    </a:rPr>
                    <m:t>(1 − cos </m:t>
                  </m:r>
                  <m:sSub>
                    <m:e>
                      <m:r>
                        <a:rPr sz="2400" lang="en-US">
                          <a:latin typeface="Cambria Math"/>
                        </a:rPr>
                        <m:t>θ</m:t>
                      </m:r>
                    </m:e>
                    <m:sub>
                      <m:r>
                        <a:rPr sz="2400" lang="en-US">
                          <a:latin typeface="Cambria Math"/>
                        </a:rPr>
                        <m:t>1</m:t>
                      </m:r>
                    </m:sub>
                  </m:sSub>
                  <m:r>
                    <a:rPr sz="2400" lang="en-US">
                      <a:latin typeface="Cambria Math"/>
                    </a:rPr>
                    <m:t>) + </m:t>
                  </m:r>
                  <m:sSub>
                    <m:e>
                      <m:r>
                        <a:rPr sz="2400" lang="en-US">
                          <a:latin typeface="Cambria Math"/>
                        </a:rPr>
                        <m:t>G</m:t>
                      </m:r>
                    </m:e>
                    <m:sub>
                      <m:r>
                        <a:rPr sz="2400" lang="en-US">
                          <a:latin typeface="Cambria Math"/>
                        </a:rPr>
                        <m:t>2</m:t>
                      </m:r>
                    </m:sub>
                  </m:sSub>
                  <m:r>
                    <a:rPr sz="2400" lang="en-US">
                      <a:latin typeface="Cambria Math"/>
                    </a:rPr>
                    <m:t>(1 − cos </m:t>
                  </m:r>
                  <m:sSub>
                    <m:e>
                      <m:r>
                        <a:rPr sz="2400" lang="en-US">
                          <a:latin typeface="Cambria Math"/>
                        </a:rPr>
                        <m:t>θ</m:t>
                      </m:r>
                    </m:e>
                    <m:sub>
                      <m:r>
                        <a:rPr sz="2400" lang="en-US">
                          <a:latin typeface="Cambria Math"/>
                        </a:rPr>
                        <m:t>2</m:t>
                      </m:r>
                    </m:sub>
                  </m:sSub>
                  <m:r>
                    <a:rPr sz="2400" lang="en-US">
                      <a:latin typeface="Cambria Math"/>
                    </a:rPr>
                    <m:t>)</m:t>
                  </m:r>
                </m:oMath>
              </m:oMathPara>
            </a14:m>
            <a:endParaRPr lang="en-US" sz="2400"/>
          </a:p>
        </p:txBody>
      </p:sp>
      <p:sp>
        <p:nvSpPr>
          <p:cNvPr id="4" name="EQ_gravitycoeff">
            <a:extLst xmlns:a="http://schemas.openxmlformats.org/drawingml/2006/main">
              <a:ext uri="{FF2B5EF4-FFF2-40B4-BE49-F238E27FC236}">
                <a16:creationId xmlns:a16="http://schemas.microsoft.com/office/drawing/2014/main" id="{3A86D3A1-6FEF-475A-ACA2-16C626DEF1EE}"/>
              </a:ext>
            </a:extLst>
          </p:cNvPr>
          <p:cNvSpPr>
            <a:spLocks xmlns:a="http://schemas.openxmlformats.org/drawingml/2006/main" noGrp="1"/>
          </p:cNvSpPr>
          <p:nvPr/>
        </p:nvSpPr>
        <p:spPr>
          <a:xfrm xmlns:a="http://schemas.openxmlformats.org/drawingml/2006/main">
            <a:off x="666750" y="2447925"/>
            <a:ext cx="1085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G</m:t>
                          </m:r>
                        </m:e>
                        <m:sub>
                          <m:r>
                            <a:rPr sz="2400" lang="en-US">
                              <a:latin typeface="Cambria Math"/>
                            </a:rPr>
                            <m:t>1</m:t>
                          </m:r>
                        </m:sub>
                      </m:sSub>
                      <m:r>
                        <a:rPr sz="2400" lang="en-US">
                          <a:latin typeface="Cambria Math"/>
                        </a:rPr>
                        <m:t> = </m:t>
                      </m:r>
                      <m:r>
                        <a:rPr sz="2400" lang="en-US">
                          <a:latin typeface="Cambria Math"/>
                        </a:rPr>
                        <m:t>(</m:t>
                      </m:r>
                      <m:f>
                        <m:num>
                          <m:sSub>
                            <m:e>
                              <m:r>
                                <a:rPr sz="2400" lang="en-US">
                                  <a:latin typeface="Cambria Math"/>
                                </a:rPr>
                                <m:t>m</m:t>
                              </m:r>
                            </m:e>
                            <m:sub>
                              <m:r>
                                <a:rPr sz="2400" lang="en-US">
                                  <a:latin typeface="Cambria Math"/>
                                </a:rPr>
                                <m:t>1</m:t>
                              </m:r>
                            </m:sub>
                          </m:sSub>
                        </m:num>
                        <m:den>
                          <m:r>
                            <a:rPr sz="2400" lang="en-US">
                              <a:latin typeface="Cambria Math"/>
                            </a:rPr>
                            <m:t>2</m:t>
                          </m:r>
                        </m:den>
                      </m:f>
                      <m:r>
                        <a:rPr sz="2400" lang="en-US">
                          <a:latin typeface="Cambria Math"/>
                        </a:rPr>
                        <m:t>+</m:t>
                      </m:r>
                      <m:sSub>
                        <m:e>
                          <m:r>
                            <a:rPr sz="2400" lang="en-US">
                              <a:latin typeface="Cambria Math"/>
                            </a:rPr>
                            <m:t>M</m:t>
                          </m:r>
                        </m:e>
                        <m:sub>
                          <m:r>
                            <a:rPr sz="2400" lang="en-US">
                              <a:latin typeface="Cambria Math"/>
                            </a:rPr>
                            <m:t>1</m:t>
                          </m:r>
                        </m:sub>
                      </m:sSub>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)g</m:t>
                      </m:r>
                      <m:sSub>
                        <m:e>
                          <m:r>
                            <a:rPr sz="2400" lang="en-US">
                              <a:latin typeface="Cambria Math"/>
                            </a:rPr>
                            <m:t>L</m:t>
                          </m:r>
                        </m:e>
                        <m:sub>
                          <m:r>
                            <a:rPr sz="2400" lang="en-US">
                              <a:latin typeface="Cambria Math"/>
                            </a:rPr>
                            <m:t>1</m:t>
                          </m:r>
                        </m:sub>
                      </m:sSub>
                    </m:e>
                    <m:e>
                      <m:sSub>
                        <m:e>
                          <m:r>
                            <a:rPr sz="2400" lang="en-US">
                              <a:latin typeface="Cambria Math"/>
                            </a:rPr>
                            <m:t>G</m:t>
                          </m:r>
                        </m:e>
                        <m:sub>
                          <m:r>
                            <a:rPr sz="2400" lang="en-US">
                              <a:latin typeface="Cambria Math"/>
                            </a:rPr>
                            <m:t>2</m:t>
                          </m:r>
                        </m:sub>
                      </m:sSub>
                      <m:r>
                        <a:rPr sz="2400" lang="en-US">
                          <a:latin typeface="Cambria Math"/>
                        </a:rPr>
                        <m:t> = </m:t>
                      </m:r>
                      <m:r>
                        <a:rPr sz="2400" lang="en-US">
                          <a:latin typeface="Cambria Math"/>
                        </a:rPr>
                        <m:t>(</m:t>
                      </m:r>
                      <m:f>
                        <m:num>
                          <m:sSub>
                            <m:e>
                              <m:r>
                                <a:rPr sz="2400" lang="en-US">
                                  <a:latin typeface="Cambria Math"/>
                                </a:rPr>
                                <m:t>m</m:t>
                              </m:r>
                            </m:e>
                            <m:sub>
                              <m:r>
                                <a:rPr sz="2400" lang="en-US">
                                  <a:latin typeface="Cambria Math"/>
                                </a:rPr>
                                <m:t>2</m:t>
                              </m:r>
                            </m:sub>
                          </m:sSub>
                        </m:num>
                        <m:den>
                          <m:r>
                            <a:rPr sz="2400" lang="en-US">
                              <a:latin typeface="Cambria Math"/>
                            </a:rPr>
                            <m:t>2</m:t>
                          </m:r>
                        </m:den>
                      </m:f>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)g</m:t>
                      </m:r>
                      <m:sSub>
                        <m:e>
                          <m:r>
                            <a:rPr sz="2400" lang="en-US">
                              <a:latin typeface="Cambria Math"/>
                            </a:rPr>
                            <m:t>L</m:t>
                          </m:r>
                        </m:e>
                        <m:sub>
                          <m:r>
                            <a:rPr sz="2400" lang="en-US">
                              <a:latin typeface="Cambria Math"/>
                            </a:rPr>
                            <m:t>2</m:t>
                          </m:r>
                        </m:sub>
                      </m:sSub>
                    </m:e>
                  </m:eqArr>
                </m:oMath>
              </m:oMathPara>
            </a14:m>
            <a:endParaRPr lang="en-US" sz="2400"/>
          </a:p>
        </p:txBody>
      </p:sp>
      <p:sp>
        <p:nvSpPr>
          <p:cNvPr id="5" name="body0">
            <a:extLst xmlns:a="http://schemas.openxmlformats.org/drawingml/2006/main">
              <a:ext uri="{FF2B5EF4-FFF2-40B4-BE49-F238E27FC236}">
                <a16:creationId xmlns:a16="http://schemas.microsoft.com/office/drawing/2014/main" id="{7EC79099-4D3E-42B2-8DA8-65027E30833E}"/>
              </a:ext>
            </a:extLst>
          </p:cNvPr>
          <p:cNvSpPr>
            <a:spLocks xmlns:a="http://schemas.openxmlformats.org/drawingml/2006/main" noGrp="1"/>
          </p:cNvSpPr>
          <p:nvPr/>
        </p:nvSpPr>
        <p:spPr>
          <a:xfrm xmlns:a="http://schemas.openxmlformats.org/drawingml/2006/main">
            <a:off x="666750" y="4010025"/>
            <a:ext cx="10858500" cy="66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Add the energy of both bars and both lumped masses.</a:t>
            </a:r>
          </a:p>
        </p:txBody>
      </p:sp>
      <p:sp>
        <p:nvSpPr>
          <p:cNvPr id="6" name="body1">
            <a:extLst xmlns:a="http://schemas.openxmlformats.org/drawingml/2006/main">
              <a:ext uri="{FF2B5EF4-FFF2-40B4-BE49-F238E27FC236}">
                <a16:creationId xmlns:a16="http://schemas.microsoft.com/office/drawing/2014/main" id="{89595028-4EBC-4633-A0B1-D1A15CD7E130}"/>
              </a:ext>
            </a:extLst>
          </p:cNvPr>
          <p:cNvSpPr>
            <a:spLocks xmlns:a="http://schemas.openxmlformats.org/drawingml/2006/main" noGrp="1"/>
          </p:cNvSpPr>
          <p:nvPr/>
        </p:nvSpPr>
        <p:spPr>
          <a:xfrm xmlns:a="http://schemas.openxmlformats.org/drawingml/2006/main">
            <a:off x="666750" y="4768850"/>
            <a:ext cx="10858500" cy="66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G₁ and G₂ are constants with units N·m, or joules. They collect mass, gravity and distance.</a:t>
            </a:r>
          </a:p>
        </p:txBody>
      </p:sp>
      <p:sp>
        <p:nvSpPr>
          <p:cNvPr id="7" name="body2">
            <a:extLst xmlns:a="http://schemas.openxmlformats.org/drawingml/2006/main">
              <a:ext uri="{FF2B5EF4-FFF2-40B4-BE49-F238E27FC236}">
                <a16:creationId xmlns:a16="http://schemas.microsoft.com/office/drawing/2014/main" id="{DDB15139-D221-43D2-B9D9-FECE9237D076}"/>
              </a:ext>
            </a:extLst>
          </p:cNvPr>
          <p:cNvSpPr>
            <a:spLocks xmlns:a="http://schemas.openxmlformats.org/drawingml/2006/main" noGrp="1"/>
          </p:cNvSpPr>
          <p:nvPr/>
        </p:nvSpPr>
        <p:spPr>
          <a:xfrm xmlns:a="http://schemas.openxmlformats.org/drawingml/2006/main">
            <a:off x="666750" y="5527675"/>
            <a:ext cx="10858500" cy="66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larger mass or longer lever arm increases the energy needed to raise the system.</a:t>
            </a:r>
          </a:p>
        </p:txBody>
      </p:sp>
      <p:sp>
        <p:nvSpPr>
          <p:cNvPr id="8" name="page">
            <a:extLst xmlns:a="http://schemas.openxmlformats.org/drawingml/2006/main">
              <a:ext uri="{FF2B5EF4-FFF2-40B4-BE49-F238E27FC236}">
                <a16:creationId xmlns:a16="http://schemas.microsoft.com/office/drawing/2014/main" id="{8EADAF86-FBEF-4281-AA70-19413782025F}"/>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9</a:t>
            </a:r>
          </a:p>
        </p:txBody>
      </p:sp>
    </p:spTree>
    <p:extLst>
      <p:ext uri="{BB962C8B-B14F-4D97-AF65-F5344CB8AC3E}">
        <p14:creationId xmlns:p14="http://schemas.microsoft.com/office/powerpoint/2010/main" val="3659008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D977FEF8-74CC-4646-99C3-2934B5FE5B31}"/>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6E8466E8-92B0-4FE4-84C4-556DF8C57E1E}"/>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Gravity produces a restoring torque</a:t>
            </a:r>
          </a:p>
        </p:txBody>
      </p:sp>
      <p:sp>
        <p:nvSpPr>
          <p:cNvPr id="3" name="EQ_gravtorque">
            <a:extLst xmlns:a="http://schemas.openxmlformats.org/drawingml/2006/main">
              <a:ext uri="{FF2B5EF4-FFF2-40B4-BE49-F238E27FC236}">
                <a16:creationId xmlns:a16="http://schemas.microsoft.com/office/drawing/2014/main" id="{9A06715C-5FD1-4BDE-AA67-5524A85BFB70}"/>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Q</m:t>
                      </m:r>
                    </m:e>
                    <m:sub>
                      <m:r>
                        <a:rPr sz="2400" lang="en-US">
                          <a:latin typeface="Cambria Math"/>
                        </a:rPr>
                        <m:t>g,i</m:t>
                      </m:r>
                    </m:sub>
                  </m:sSub>
                  <m:r>
                    <a:rPr sz="2400" lang="en-US">
                      <a:latin typeface="Cambria Math"/>
                    </a:rPr>
                    <m:t> = −</m:t>
                  </m:r>
                  <m:f>
                    <m:num>
                      <m:r>
                        <a:rPr sz="2400" lang="en-US">
                          <a:latin typeface="Cambria Math"/>
                        </a:rPr>
                        <m:t>∂V</m:t>
                      </m:r>
                    </m:num>
                    <m:den>
                      <m:r>
                        <a:rPr sz="2400" lang="en-US">
                          <a:latin typeface="Cambria Math"/>
                        </a:rPr>
                        <m:t>∂</m:t>
                      </m:r>
                      <m:sSub>
                        <m:e>
                          <m:r>
                            <a:rPr sz="2400" lang="en-US">
                              <a:latin typeface="Cambria Math"/>
                            </a:rPr>
                            <m:t>θ</m:t>
                          </m:r>
                        </m:e>
                        <m:sub>
                          <m:r>
                            <a:rPr sz="2400" lang="en-US">
                              <a:latin typeface="Cambria Math"/>
                            </a:rPr>
                            <m:t>i</m:t>
                          </m:r>
                        </m:sub>
                      </m:sSub>
                    </m:den>
                  </m:f>
                  <m:r>
                    <a:rPr sz="2400" lang="en-US">
                      <a:latin typeface="Cambria Math"/>
                    </a:rPr>
                    <m:t> = −</m:t>
                  </m:r>
                  <m:sSub>
                    <m:e>
                      <m:r>
                        <a:rPr sz="2400" lang="en-US">
                          <a:latin typeface="Cambria Math"/>
                        </a:rPr>
                        <m:t>G</m:t>
                      </m:r>
                    </m:e>
                    <m:sub>
                      <m:r>
                        <a:rPr sz="2400" lang="en-US">
                          <a:latin typeface="Cambria Math"/>
                        </a:rPr>
                        <m:t>i</m:t>
                      </m:r>
                    </m:sub>
                  </m:sSub>
                  <m:r>
                    <a:rPr sz="2400" lang="en-US">
                      <a:latin typeface="Cambria Math"/>
                    </a:rPr>
                    <m:t> sin </m:t>
                  </m:r>
                  <m:sSub>
                    <m:e>
                      <m:r>
                        <a:rPr sz="2400" lang="en-US">
                          <a:latin typeface="Cambria Math"/>
                        </a:rPr>
                        <m:t>θ</m:t>
                      </m:r>
                    </m:e>
                    <m:sub>
                      <m:r>
                        <a:rPr sz="2400" lang="en-US">
                          <a:latin typeface="Cambria Math"/>
                        </a:rPr>
                        <m:t>i</m:t>
                      </m:r>
                    </m:sub>
                  </m:sSub>
                </m:oMath>
              </m:oMathPara>
            </a14:m>
            <a:endParaRPr lang="en-US" sz="2400"/>
          </a:p>
        </p:txBody>
      </p:sp>
      <p:sp>
        <p:nvSpPr>
          <p:cNvPr id="4" name="body0">
            <a:extLst xmlns:a="http://schemas.openxmlformats.org/drawingml/2006/main">
              <a:ext uri="{FF2B5EF4-FFF2-40B4-BE49-F238E27FC236}">
                <a16:creationId xmlns:a16="http://schemas.microsoft.com/office/drawing/2014/main" id="{5397FABC-75EA-4AE8-B8E9-E34A7DD94218}"/>
              </a:ext>
            </a:extLst>
          </p:cNvPr>
          <p:cNvSpPr>
            <a:spLocks xmlns:a="http://schemas.openxmlformats.org/drawingml/2006/main" noGrp="1"/>
          </p:cNvSpPr>
          <p:nvPr/>
        </p:nvSpPr>
        <p:spPr>
          <a:xfrm xmlns:a="http://schemas.openxmlformats.org/drawingml/2006/main">
            <a:off x="666750" y="244792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derivative of potential energy gives the generalized gravitational torque.</a:t>
            </a:r>
          </a:p>
        </p:txBody>
      </p:sp>
      <p:sp>
        <p:nvSpPr>
          <p:cNvPr id="5" name="body1">
            <a:extLst xmlns:a="http://schemas.openxmlformats.org/drawingml/2006/main">
              <a:ext uri="{FF2B5EF4-FFF2-40B4-BE49-F238E27FC236}">
                <a16:creationId xmlns:a16="http://schemas.microsoft.com/office/drawing/2014/main" id="{3D93B903-31CB-40A5-83B5-A90D636C0DC9}"/>
              </a:ext>
            </a:extLst>
          </p:cNvPr>
          <p:cNvSpPr>
            <a:spLocks xmlns:a="http://schemas.openxmlformats.org/drawingml/2006/main" noGrp="1"/>
          </p:cNvSpPr>
          <p:nvPr/>
        </p:nvSpPr>
        <p:spPr>
          <a:xfrm xmlns:a="http://schemas.openxmlformats.org/drawingml/2006/main">
            <a:off x="666750" y="351472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 small positive angle, the negative sign means gravity acts to reduce that angle.</a:t>
            </a:r>
          </a:p>
        </p:txBody>
      </p:sp>
      <p:sp>
        <p:nvSpPr>
          <p:cNvPr id="6" name="body2">
            <a:extLst xmlns:a="http://schemas.openxmlformats.org/drawingml/2006/main">
              <a:ext uri="{FF2B5EF4-FFF2-40B4-BE49-F238E27FC236}">
                <a16:creationId xmlns:a16="http://schemas.microsoft.com/office/drawing/2014/main" id="{743AC8EA-680E-4043-B503-81FCE714B78D}"/>
              </a:ext>
            </a:extLst>
          </p:cNvPr>
          <p:cNvSpPr>
            <a:spLocks xmlns:a="http://schemas.openxmlformats.org/drawingml/2006/main" noGrp="1"/>
          </p:cNvSpPr>
          <p:nvPr/>
        </p:nvSpPr>
        <p:spPr>
          <a:xfrm xmlns:a="http://schemas.openxmlformats.org/drawingml/2006/main">
            <a:off x="666750" y="458152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Each G includes every mass whose height changes with the corresponding angle.</a:t>
            </a:r>
          </a:p>
        </p:txBody>
      </p:sp>
      <p:sp>
        <p:nvSpPr>
          <p:cNvPr id="7" name="page">
            <a:extLst xmlns:a="http://schemas.openxmlformats.org/drawingml/2006/main">
              <a:ext uri="{FF2B5EF4-FFF2-40B4-BE49-F238E27FC236}">
                <a16:creationId xmlns:a16="http://schemas.microsoft.com/office/drawing/2014/main" id="{DBA909E0-1E8A-43E5-8889-E6F236691C15}"/>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10</a:t>
            </a:r>
          </a:p>
        </p:txBody>
      </p:sp>
    </p:spTree>
    <p:extLst>
      <p:ext uri="{BB962C8B-B14F-4D97-AF65-F5344CB8AC3E}">
        <p14:creationId xmlns:p14="http://schemas.microsoft.com/office/powerpoint/2010/main" val="19003559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7833278C-DA4F-4272-81D0-CD5F382A958C}"/>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85674FDE-AFEF-4F53-B896-4BBA7806D59B}"/>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Kinetic energy of a moving bob</a:t>
            </a:r>
          </a:p>
        </p:txBody>
      </p:sp>
      <p:sp>
        <p:nvSpPr>
          <p:cNvPr id="3" name="EQ_bobkinetic">
            <a:extLst xmlns:a="http://schemas.openxmlformats.org/drawingml/2006/main">
              <a:ext uri="{FF2B5EF4-FFF2-40B4-BE49-F238E27FC236}">
                <a16:creationId xmlns:a16="http://schemas.microsoft.com/office/drawing/2014/main" id="{21A4C327-D82A-4EC7-B2FC-6097AE70FA19}"/>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T</m:t>
                      </m:r>
                    </m:e>
                    <m:sub>
                      <m:r>
                        <a:rPr sz="2400" lang="en-US">
                          <a:latin typeface="Cambria Math"/>
                        </a:rPr>
                        <m:t>bob 1</m:t>
                      </m:r>
                    </m:sub>
                  </m:sSub>
                  <m:r>
                    <a:rPr sz="2400" lang="en-US">
                      <a:latin typeface="Cambria Math"/>
                    </a:rPr>
                    <m:t> = </m:t>
                  </m:r>
                  <m:f>
                    <m:num>
                      <m:r>
                        <a:rPr sz="2400" lang="en-US">
                          <a:latin typeface="Cambria Math"/>
                        </a:rPr>
                        <m:t>1</m:t>
                      </m:r>
                    </m:num>
                    <m:den>
                      <m:r>
                        <a:rPr sz="2400" lang="en-US">
                          <a:latin typeface="Cambria Math"/>
                        </a:rPr>
                        <m:t>2</m:t>
                      </m:r>
                    </m:den>
                  </m:f>
                  <m:sSub>
                    <m:e>
                      <m:r>
                        <a:rPr sz="2400" lang="en-US">
                          <a:latin typeface="Cambria Math"/>
                        </a:rPr>
                        <m:t>M</m:t>
                      </m:r>
                    </m:e>
                    <m:sub>
                      <m:r>
                        <a:rPr sz="2400" lang="en-US">
                          <a:latin typeface="Cambria Math"/>
                        </a:rPr>
                        <m:t>1</m:t>
                      </m:r>
                    </m:sub>
                  </m:sSub>
                  <m:sSup>
                    <m:e>
                      <m:sSub>
                        <m:e>
                          <m:r>
                            <a:rPr sz="2400" lang="en-US">
                              <a:latin typeface="Cambria Math"/>
                            </a:rPr>
                            <m:t>L</m:t>
                          </m:r>
                        </m:e>
                        <m:sub>
                          <m:r>
                            <a:rPr sz="2400" lang="en-US">
                              <a:latin typeface="Cambria Math"/>
                            </a:rPr>
                            <m:t>1</m:t>
                          </m:r>
                        </m:sub>
                      </m:sSub>
                    </m:e>
                    <m:sup>
                      <m:r>
                        <a:rPr sz="2400" lang="en-US">
                          <a:latin typeface="Cambria Math"/>
                        </a:rPr>
                        <m:t>2</m:t>
                      </m:r>
                    </m:sup>
                  </m:sSup>
                  <m:sSup>
                    <m:e>
                      <m:sSub>
                        <m:e>
                          <m:r>
                            <a:rPr sz="2400" lang="en-US">
                              <a:latin typeface="Cambria Math"/>
                            </a:rPr>
                            <m:t>ω</m:t>
                          </m:r>
                        </m:e>
                        <m:sub>
                          <m:r>
                            <a:rPr sz="2400" lang="en-US">
                              <a:latin typeface="Cambria Math"/>
                            </a:rPr>
                            <m:t>1</m:t>
                          </m:r>
                        </m:sub>
                      </m:sSub>
                    </m:e>
                    <m:sup>
                      <m:r>
                        <a:rPr sz="2400" lang="en-US">
                          <a:latin typeface="Cambria Math"/>
                        </a:rPr>
                        <m:t>2</m:t>
                      </m:r>
                    </m:sup>
                  </m:sSup>
                </m:oMath>
              </m:oMathPara>
            </a14:m>
            <a:endParaRPr lang="en-US" sz="2400"/>
          </a:p>
        </p:txBody>
      </p:sp>
      <p:sp>
        <p:nvSpPr>
          <p:cNvPr id="4" name="EQ_v2">
            <a:extLst xmlns:a="http://schemas.openxmlformats.org/drawingml/2006/main">
              <a:ext uri="{FF2B5EF4-FFF2-40B4-BE49-F238E27FC236}">
                <a16:creationId xmlns:a16="http://schemas.microsoft.com/office/drawing/2014/main" id="{DD6D3ABB-ADEE-4C38-992E-054C355767F4}"/>
              </a:ext>
            </a:extLst>
          </p:cNvPr>
          <p:cNvSpPr>
            <a:spLocks xmlns:a="http://schemas.openxmlformats.org/drawingml/2006/main" noGrp="1"/>
          </p:cNvSpPr>
          <p:nvPr/>
        </p:nvSpPr>
        <p:spPr>
          <a:xfrm xmlns:a="http://schemas.openxmlformats.org/drawingml/2006/main">
            <a:off x="666750" y="2447925"/>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p>
                    <m:e>
                      <m:sSub>
                        <m:e>
                          <m:r>
                            <a:rPr sz="2400" lang="en-US">
                              <a:latin typeface="Cambria Math"/>
                            </a:rPr>
                            <m:t>v</m:t>
                          </m:r>
                        </m:e>
                        <m:sub>
                          <m:r>
                            <a:rPr sz="2400" lang="en-US">
                              <a:latin typeface="Cambria Math"/>
                            </a:rPr>
                            <m:t>2</m:t>
                          </m:r>
                        </m:sub>
                      </m:sSub>
                    </m:e>
                    <m:sup>
                      <m:r>
                        <a:rPr sz="2400" lang="en-US">
                          <a:latin typeface="Cambria Math"/>
                        </a:rPr>
                        <m:t>2</m:t>
                      </m:r>
                    </m:sup>
                  </m:sSup>
                  <m:r>
                    <a:rPr sz="2400" lang="en-US">
                      <a:latin typeface="Cambria Math"/>
                    </a:rPr>
                    <m:t> = </m:t>
                  </m:r>
                  <m:sSup>
                    <m:e>
                      <m:sSub>
                        <m:e>
                          <m:r>
                            <a:rPr sz="2400" lang="en-US">
                              <a:latin typeface="Cambria Math"/>
                            </a:rPr>
                            <m:t>L</m:t>
                          </m:r>
                        </m:e>
                        <m:sub>
                          <m:r>
                            <a:rPr sz="2400" lang="en-US">
                              <a:latin typeface="Cambria Math"/>
                            </a:rPr>
                            <m:t>1</m:t>
                          </m:r>
                        </m:sub>
                      </m:sSub>
                    </m:e>
                    <m:sup>
                      <m:r>
                        <a:rPr sz="2400" lang="en-US">
                          <a:latin typeface="Cambria Math"/>
                        </a:rPr>
                        <m:t>2</m:t>
                      </m:r>
                    </m:sup>
                  </m:sSup>
                  <m:sSup>
                    <m:e>
                      <m:sSub>
                        <m:e>
                          <m:r>
                            <a:rPr sz="2400" lang="en-US">
                              <a:latin typeface="Cambria Math"/>
                            </a:rPr>
                            <m:t>ω</m:t>
                          </m:r>
                        </m:e>
                        <m:sub>
                          <m:r>
                            <a:rPr sz="2400" lang="en-US">
                              <a:latin typeface="Cambria Math"/>
                            </a:rPr>
                            <m:t>1</m:t>
                          </m:r>
                        </m:sub>
                      </m:sSub>
                    </m:e>
                    <m:sup>
                      <m:r>
                        <a:rPr sz="2400" lang="en-US">
                          <a:latin typeface="Cambria Math"/>
                        </a:rPr>
                        <m:t>2</m:t>
                      </m:r>
                    </m:sup>
                  </m:sSup>
                  <m:r>
                    <a:rPr sz="2400" lang="en-US">
                      <a:latin typeface="Cambria Math"/>
                    </a:rPr>
                    <m:t> + </m:t>
                  </m:r>
                  <m:sSup>
                    <m:e>
                      <m:sSub>
                        <m:e>
                          <m:r>
                            <a:rPr sz="2400" lang="en-US">
                              <a:latin typeface="Cambria Math"/>
                            </a:rPr>
                            <m:t>L</m:t>
                          </m:r>
                        </m:e>
                        <m:sub>
                          <m:r>
                            <a:rPr sz="2400" lang="en-US">
                              <a:latin typeface="Cambria Math"/>
                            </a:rPr>
                            <m:t>2</m:t>
                          </m:r>
                        </m:sub>
                      </m:sSub>
                    </m:e>
                    <m:sup>
                      <m:r>
                        <a:rPr sz="2400" lang="en-US">
                          <a:latin typeface="Cambria Math"/>
                        </a:rPr>
                        <m:t>2</m:t>
                      </m:r>
                    </m:sup>
                  </m:sSup>
                  <m:sSup>
                    <m:e>
                      <m:sSub>
                        <m:e>
                          <m:r>
                            <a:rPr sz="2400" lang="en-US">
                              <a:latin typeface="Cambria Math"/>
                            </a:rPr>
                            <m:t>ω</m:t>
                          </m:r>
                        </m:e>
                        <m:sub>
                          <m:r>
                            <a:rPr sz="2400" lang="en-US">
                              <a:latin typeface="Cambria Math"/>
                            </a:rPr>
                            <m:t>2</m:t>
                          </m:r>
                        </m:sub>
                      </m:sSub>
                    </m:e>
                    <m:sup>
                      <m:r>
                        <a:rPr sz="2400" lang="en-US">
                          <a:latin typeface="Cambria Math"/>
                        </a:rPr>
                        <m:t>2</m:t>
                      </m:r>
                    </m:sup>
                  </m:sSup>
                  <m:r>
                    <a:rPr sz="2400" lang="en-US">
                      <a:latin typeface="Cambria Math"/>
                    </a:rPr>
                    <m:t> + 2</m:t>
                  </m:r>
                  <m:sSub>
                    <m:e>
                      <m:r>
                        <a:rPr sz="2400" lang="en-US">
                          <a:latin typeface="Cambria Math"/>
                        </a:rPr>
                        <m:t>L</m:t>
                      </m:r>
                    </m:e>
                    <m:sub>
                      <m:r>
                        <a:rPr sz="2400" lang="en-US">
                          <a:latin typeface="Cambria Math"/>
                        </a:rPr>
                        <m:t>1</m:t>
                      </m:r>
                    </m:sub>
                  </m:sSub>
                  <m:sSub>
                    <m:e>
                      <m:r>
                        <a:rPr sz="2400" lang="en-US">
                          <a:latin typeface="Cambria Math"/>
                        </a:rPr>
                        <m:t>L</m:t>
                      </m:r>
                    </m:e>
                    <m:sub>
                      <m:r>
                        <a:rPr sz="2400" lang="en-US">
                          <a:latin typeface="Cambria Math"/>
                        </a:rPr>
                        <m:t>2</m:t>
                      </m:r>
                    </m:sub>
                  </m:sSub>
                  <m:sSub>
                    <m:e>
                      <m:r>
                        <a:rPr sz="2400" lang="en-US">
                          <a:latin typeface="Cambria Math"/>
                        </a:rPr>
                        <m:t>ω</m:t>
                      </m:r>
                    </m:e>
                    <m:sub>
                      <m:r>
                        <a:rPr sz="2400" lang="en-US">
                          <a:latin typeface="Cambria Math"/>
                        </a:rPr>
                        <m:t>1</m:t>
                      </m:r>
                    </m:sub>
                  </m:sSub>
                  <m:sSub>
                    <m:e>
                      <m:r>
                        <a:rPr sz="2400" lang="en-US">
                          <a:latin typeface="Cambria Math"/>
                        </a:rPr>
                        <m:t>ω</m:t>
                      </m:r>
                    </m:e>
                    <m:sub>
                      <m:r>
                        <a:rPr sz="2400" lang="en-US">
                          <a:latin typeface="Cambria Math"/>
                        </a:rPr>
                        <m:t>2</m:t>
                      </m:r>
                    </m:sub>
                  </m:sSub>
                  <m:r>
                    <a:rPr sz="2400" lang="en-US">
                      <a:latin typeface="Cambria Math"/>
                    </a:rPr>
                    <m:t> cos Δ</m:t>
                  </m:r>
                </m:oMath>
              </m:oMathPara>
            </a14:m>
            <a:endParaRPr lang="en-US" sz="2400"/>
          </a:p>
        </p:txBody>
      </p:sp>
      <p:sp>
        <p:nvSpPr>
          <p:cNvPr id="5" name="body0">
            <a:extLst xmlns:a="http://schemas.openxmlformats.org/drawingml/2006/main">
              <a:ext uri="{FF2B5EF4-FFF2-40B4-BE49-F238E27FC236}">
                <a16:creationId xmlns:a16="http://schemas.microsoft.com/office/drawing/2014/main" id="{204BC4C5-DBB1-4CEA-B605-0F31BEE74948}"/>
              </a:ext>
            </a:extLst>
          </p:cNvPr>
          <p:cNvSpPr>
            <a:spLocks xmlns:a="http://schemas.openxmlformats.org/drawingml/2006/main" noGrp="1"/>
          </p:cNvSpPr>
          <p:nvPr/>
        </p:nvSpPr>
        <p:spPr>
          <a:xfrm xmlns:a="http://schemas.openxmlformats.org/drawingml/2006/main">
            <a:off x="666750" y="3400425"/>
            <a:ext cx="10858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 point mass, T = ½ Mv². Bob 1 moves on a circle about the fixed pivot.</a:t>
            </a:r>
          </a:p>
        </p:txBody>
      </p:sp>
      <p:sp>
        <p:nvSpPr>
          <p:cNvPr id="6" name="body1">
            <a:extLst xmlns:a="http://schemas.openxmlformats.org/drawingml/2006/main">
              <a:ext uri="{FF2B5EF4-FFF2-40B4-BE49-F238E27FC236}">
                <a16:creationId xmlns:a16="http://schemas.microsoft.com/office/drawing/2014/main" id="{325FEFCF-DD24-405C-A820-EBFAAF51C4AB}"/>
              </a:ext>
            </a:extLst>
          </p:cNvPr>
          <p:cNvSpPr>
            <a:spLocks xmlns:a="http://schemas.openxmlformats.org/drawingml/2006/main" noGrp="1"/>
          </p:cNvSpPr>
          <p:nvPr/>
        </p:nvSpPr>
        <p:spPr>
          <a:xfrm xmlns:a="http://schemas.openxmlformats.org/drawingml/2006/main">
            <a:off x="666750" y="4362450"/>
            <a:ext cx="10858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Bob 2 has the velocity of the moving joint plus its motion relative to that joint.</a:t>
            </a:r>
          </a:p>
        </p:txBody>
      </p:sp>
      <p:sp>
        <p:nvSpPr>
          <p:cNvPr id="7" name="body2">
            <a:extLst xmlns:a="http://schemas.openxmlformats.org/drawingml/2006/main">
              <a:ext uri="{FF2B5EF4-FFF2-40B4-BE49-F238E27FC236}">
                <a16:creationId xmlns:a16="http://schemas.microsoft.com/office/drawing/2014/main" id="{29DA80BA-C57F-4C7E-83BA-C4F79326C2F4}"/>
              </a:ext>
            </a:extLst>
          </p:cNvPr>
          <p:cNvSpPr>
            <a:spLocks xmlns:a="http://schemas.openxmlformats.org/drawingml/2006/main" noGrp="1"/>
          </p:cNvSpPr>
          <p:nvPr/>
        </p:nvSpPr>
        <p:spPr>
          <a:xfrm xmlns:a="http://schemas.openxmlformats.org/drawingml/2006/main">
            <a:off x="666750" y="5324475"/>
            <a:ext cx="10858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Squaring that sum produces a cross term. This is the origin of kinetic coupling.</a:t>
            </a:r>
          </a:p>
        </p:txBody>
      </p:sp>
      <p:sp>
        <p:nvSpPr>
          <p:cNvPr id="8" name="page">
            <a:extLst xmlns:a="http://schemas.openxmlformats.org/drawingml/2006/main">
              <a:ext uri="{FF2B5EF4-FFF2-40B4-BE49-F238E27FC236}">
                <a16:creationId xmlns:a16="http://schemas.microsoft.com/office/drawing/2014/main" id="{6554B106-E468-4CFF-B3C7-4DFF709932F3}"/>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11</a:t>
            </a:r>
          </a:p>
        </p:txBody>
      </p:sp>
    </p:spTree>
    <p:extLst>
      <p:ext uri="{BB962C8B-B14F-4D97-AF65-F5344CB8AC3E}">
        <p14:creationId xmlns:p14="http://schemas.microsoft.com/office/powerpoint/2010/main" val="149465484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682230F2-2646-471E-AEDC-9AD54742F54B}"/>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BEFE4290-CCB6-48CA-A6D3-36478A4C4591}"/>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A bar also carries kinetic energy</a:t>
            </a:r>
          </a:p>
        </p:txBody>
      </p:sp>
      <p:sp>
        <p:nvSpPr>
          <p:cNvPr id="3" name="EQ_barinertia">
            <a:extLst xmlns:a="http://schemas.openxmlformats.org/drawingml/2006/main">
              <a:ext uri="{FF2B5EF4-FFF2-40B4-BE49-F238E27FC236}">
                <a16:creationId xmlns:a16="http://schemas.microsoft.com/office/drawing/2014/main" id="{0244B090-8B63-4272-A864-B2A55704A09E}"/>
              </a:ext>
            </a:extLst>
          </p:cNvPr>
          <p:cNvSpPr>
            <a:spLocks xmlns:a="http://schemas.openxmlformats.org/drawingml/2006/main" noGrp="1"/>
          </p:cNvSpPr>
          <p:nvPr/>
        </p:nvSpPr>
        <p:spPr>
          <a:xfrm xmlns:a="http://schemas.openxmlformats.org/drawingml/2006/main">
            <a:off x="666750" y="1666875"/>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I</m:t>
                      </m:r>
                    </m:e>
                    <m:sub>
                      <m:r>
                        <a:rPr sz="2400" lang="en-US">
                          <a:latin typeface="Cambria Math"/>
                        </a:rPr>
                        <m:t>center</m:t>
                      </m:r>
                    </m:sub>
                  </m:sSub>
                  <m:r>
                    <a:rPr sz="2400" lang="en-US">
                      <a:latin typeface="Cambria Math"/>
                    </a:rPr>
                    <m:t> = </m:t>
                  </m:r>
                  <m:f>
                    <m:num>
                      <m:r>
                        <a:rPr sz="2400" lang="en-US">
                          <a:latin typeface="Cambria Math"/>
                        </a:rPr>
                        <m:t>m</m:t>
                      </m:r>
                      <m:sSup>
                        <m:e>
                          <m:r>
                            <a:rPr sz="2400" lang="en-US">
                              <a:latin typeface="Cambria Math"/>
                            </a:rPr>
                            <m:t>L</m:t>
                          </m:r>
                        </m:e>
                        <m:sup>
                          <m:r>
                            <a:rPr sz="2400" lang="en-US">
                              <a:latin typeface="Cambria Math"/>
                            </a:rPr>
                            <m:t>2</m:t>
                          </m:r>
                        </m:sup>
                      </m:sSup>
                    </m:num>
                    <m:den>
                      <m:r>
                        <a:rPr sz="2400" lang="en-US">
                          <a:latin typeface="Cambria Math"/>
                        </a:rPr>
                        <m:t>12</m:t>
                      </m:r>
                    </m:den>
                  </m:f>
                  <m:r>
                    <a:rPr sz="2400" lang="en-US">
                      <a:latin typeface="Cambria Math"/>
                    </a:rPr>
                    <m:t>      </m:t>
                  </m:r>
                  <m:sSub>
                    <m:e>
                      <m:r>
                        <a:rPr sz="2400" lang="en-US">
                          <a:latin typeface="Cambria Math"/>
                        </a:rPr>
                        <m:t>I</m:t>
                      </m:r>
                    </m:e>
                    <m:sub>
                      <m:r>
                        <a:rPr sz="2400" lang="en-US">
                          <a:latin typeface="Cambria Math"/>
                        </a:rPr>
                        <m:t>end</m:t>
                      </m:r>
                    </m:sub>
                  </m:sSub>
                  <m:r>
                    <a:rPr sz="2400" lang="en-US">
                      <a:latin typeface="Cambria Math"/>
                    </a:rPr>
                    <m:t> = </m:t>
                  </m:r>
                  <m:f>
                    <m:num>
                      <m:r>
                        <a:rPr sz="2400" lang="en-US">
                          <a:latin typeface="Cambria Math"/>
                        </a:rPr>
                        <m:t>m</m:t>
                      </m:r>
                      <m:sSup>
                        <m:e>
                          <m:r>
                            <a:rPr sz="2400" lang="en-US">
                              <a:latin typeface="Cambria Math"/>
                            </a:rPr>
                            <m:t>L</m:t>
                          </m:r>
                        </m:e>
                        <m:sup>
                          <m:r>
                            <a:rPr sz="2400" lang="en-US">
                              <a:latin typeface="Cambria Math"/>
                            </a:rPr>
                            <m:t>2</m:t>
                          </m:r>
                        </m:sup>
                      </m:sSup>
                    </m:num>
                    <m:den>
                      <m:r>
                        <a:rPr sz="2400" lang="en-US">
                          <a:latin typeface="Cambria Math"/>
                        </a:rPr>
                        <m:t>3</m:t>
                      </m:r>
                    </m:den>
                  </m:f>
                </m:oMath>
              </m:oMathPara>
            </a14:m>
            <a:endParaRPr lang="en-US" sz="2400"/>
          </a:p>
        </p:txBody>
      </p:sp>
      <p:sp>
        <p:nvSpPr>
          <p:cNvPr id="4" name="EQ_bart">
            <a:extLst xmlns:a="http://schemas.openxmlformats.org/drawingml/2006/main">
              <a:ext uri="{FF2B5EF4-FFF2-40B4-BE49-F238E27FC236}">
                <a16:creationId xmlns:a16="http://schemas.microsoft.com/office/drawing/2014/main" id="{1854C85F-1955-45A8-8326-EA38810B9943}"/>
              </a:ext>
            </a:extLst>
          </p:cNvPr>
          <p:cNvSpPr>
            <a:spLocks xmlns:a="http://schemas.openxmlformats.org/drawingml/2006/main" noGrp="1"/>
          </p:cNvSpPr>
          <p:nvPr/>
        </p:nvSpPr>
        <p:spPr>
          <a:xfrm xmlns:a="http://schemas.openxmlformats.org/drawingml/2006/main">
            <a:off x="666750" y="2409825"/>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T</m:t>
                      </m:r>
                    </m:e>
                    <m:sub>
                      <m:r>
                        <a:rPr sz="2400" lang="en-US">
                          <a:latin typeface="Cambria Math"/>
                        </a:rPr>
                        <m:t>bar 2</m:t>
                      </m:r>
                    </m:sub>
                  </m:sSub>
                  <m:r>
                    <a:rPr sz="2400" lang="en-US">
                      <a:latin typeface="Cambria Math"/>
                    </a:rPr>
                    <m:t> = </m:t>
                  </m:r>
                  <m:f>
                    <m:num>
                      <m:r>
                        <a:rPr sz="2400" lang="en-US">
                          <a:latin typeface="Cambria Math"/>
                        </a:rPr>
                        <m:t>1</m:t>
                      </m:r>
                    </m:num>
                    <m:den>
                      <m:r>
                        <a:rPr sz="2400" lang="en-US">
                          <a:latin typeface="Cambria Math"/>
                        </a:rPr>
                        <m:t>2</m:t>
                      </m:r>
                    </m:den>
                  </m:f>
                  <m:sSub>
                    <m:e>
                      <m:r>
                        <a:rPr sz="2400" lang="en-US">
                          <a:latin typeface="Cambria Math"/>
                        </a:rPr>
                        <m:t>m</m:t>
                      </m:r>
                    </m:e>
                    <m:sub>
                      <m:r>
                        <a:rPr sz="2400" lang="en-US">
                          <a:latin typeface="Cambria Math"/>
                        </a:rPr>
                        <m:t>2</m:t>
                      </m:r>
                    </m:sub>
                  </m:sSub>
                  <m:sSup>
                    <m:e>
                      <m:sSub>
                        <m:e>
                          <m:r>
                            <a:rPr sz="2400" lang="en-US">
                              <a:latin typeface="Cambria Math"/>
                            </a:rPr>
                            <m:t>v</m:t>
                          </m:r>
                        </m:e>
                        <m:sub>
                          <m:r>
                            <a:rPr sz="2400" lang="en-US">
                              <a:latin typeface="Cambria Math"/>
                            </a:rPr>
                            <m:t>G2</m:t>
                          </m:r>
                        </m:sub>
                      </m:sSub>
                    </m:e>
                    <m:sup>
                      <m:r>
                        <a:rPr sz="2400" lang="en-US">
                          <a:latin typeface="Cambria Math"/>
                        </a:rPr>
                        <m:t>2</m:t>
                      </m:r>
                    </m:sup>
                  </m:sSup>
                  <m:r>
                    <a:rPr sz="2400" lang="en-US">
                      <a:latin typeface="Cambria Math"/>
                    </a:rPr>
                    <m:t> + </m:t>
                  </m:r>
                  <m:f>
                    <m:num>
                      <m:r>
                        <a:rPr sz="2400" lang="en-US">
                          <a:latin typeface="Cambria Math"/>
                        </a:rPr>
                        <m:t>1</m:t>
                      </m:r>
                    </m:num>
                    <m:den>
                      <m:r>
                        <a:rPr sz="2400" lang="en-US">
                          <a:latin typeface="Cambria Math"/>
                        </a:rPr>
                        <m:t>2</m:t>
                      </m:r>
                    </m:den>
                  </m:f>
                  <m:sSub>
                    <m:e>
                      <m:r>
                        <a:rPr sz="2400" lang="en-US">
                          <a:latin typeface="Cambria Math"/>
                        </a:rPr>
                        <m:t>I</m:t>
                      </m:r>
                    </m:e>
                    <m:sub>
                      <m:r>
                        <a:rPr sz="2400" lang="en-US">
                          <a:latin typeface="Cambria Math"/>
                        </a:rPr>
                        <m:t>G2</m:t>
                      </m:r>
                    </m:sub>
                  </m:sSub>
                  <m:sSup>
                    <m:e>
                      <m:sSub>
                        <m:e>
                          <m:r>
                            <a:rPr sz="2400" lang="en-US">
                              <a:latin typeface="Cambria Math"/>
                            </a:rPr>
                            <m:t>ω</m:t>
                          </m:r>
                        </m:e>
                        <m:sub>
                          <m:r>
                            <a:rPr sz="2400" lang="en-US">
                              <a:latin typeface="Cambria Math"/>
                            </a:rPr>
                            <m:t>2</m:t>
                          </m:r>
                        </m:sub>
                      </m:sSub>
                    </m:e>
                    <m:sup>
                      <m:r>
                        <a:rPr sz="2400" lang="en-US">
                          <a:latin typeface="Cambria Math"/>
                        </a:rPr>
                        <m:t>2</m:t>
                      </m:r>
                    </m:sup>
                  </m:sSup>
                </m:oMath>
              </m:oMathPara>
            </a14:m>
            <a:endParaRPr lang="en-US" sz="2400"/>
          </a:p>
        </p:txBody>
      </p:sp>
      <p:sp>
        <p:nvSpPr>
          <p:cNvPr id="5" name="body0">
            <a:extLst xmlns:a="http://schemas.openxmlformats.org/drawingml/2006/main">
              <a:ext uri="{FF2B5EF4-FFF2-40B4-BE49-F238E27FC236}">
                <a16:creationId xmlns:a16="http://schemas.microsoft.com/office/drawing/2014/main" id="{E5CC5C83-4966-4EB7-A839-512E2AF7F99C}"/>
              </a:ext>
            </a:extLst>
          </p:cNvPr>
          <p:cNvSpPr>
            <a:spLocks xmlns:a="http://schemas.openxmlformats.org/drawingml/2006/main" noGrp="1"/>
          </p:cNvSpPr>
          <p:nvPr/>
        </p:nvSpPr>
        <p:spPr>
          <a:xfrm xmlns:a="http://schemas.openxmlformats.org/drawingml/2006/main">
            <a:off x="666750" y="322897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uniform bar rotating about its end has moment of inertia mL²/3.</a:t>
            </a:r>
          </a:p>
        </p:txBody>
      </p:sp>
      <p:sp>
        <p:nvSpPr>
          <p:cNvPr id="6" name="body1">
            <a:extLst xmlns:a="http://schemas.openxmlformats.org/drawingml/2006/main">
              <a:ext uri="{FF2B5EF4-FFF2-40B4-BE49-F238E27FC236}">
                <a16:creationId xmlns:a16="http://schemas.microsoft.com/office/drawing/2014/main" id="{DD66446B-CD14-4E38-A359-E6DF04EBDDC2}"/>
              </a:ext>
            </a:extLst>
          </p:cNvPr>
          <p:cNvSpPr>
            <a:spLocks xmlns:a="http://schemas.openxmlformats.org/drawingml/2006/main" noGrp="1"/>
          </p:cNvSpPr>
          <p:nvPr/>
        </p:nvSpPr>
        <p:spPr>
          <a:xfrm xmlns:a="http://schemas.openxmlformats.org/drawingml/2006/main">
            <a:off x="666750" y="4248150"/>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upper bar rotates about the fixed pivot. The lower bar also translates because its upper joint moves.</a:t>
            </a:r>
          </a:p>
        </p:txBody>
      </p:sp>
      <p:sp>
        <p:nvSpPr>
          <p:cNvPr id="7" name="body2">
            <a:extLst xmlns:a="http://schemas.openxmlformats.org/drawingml/2006/main">
              <a:ext uri="{FF2B5EF4-FFF2-40B4-BE49-F238E27FC236}">
                <a16:creationId xmlns:a16="http://schemas.microsoft.com/office/drawing/2014/main" id="{A34CC1CF-F650-4B8E-8F4D-01A825DA4DF8}"/>
              </a:ext>
            </a:extLst>
          </p:cNvPr>
          <p:cNvSpPr>
            <a:spLocks xmlns:a="http://schemas.openxmlformats.org/drawingml/2006/main" noGrp="1"/>
          </p:cNvSpPr>
          <p:nvPr/>
        </p:nvSpPr>
        <p:spPr>
          <a:xfrm xmlns:a="http://schemas.openxmlformats.org/drawingml/2006/main">
            <a:off x="666750" y="526732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Include both translation of the center and rotation about the center for the lower bar.</a:t>
            </a:r>
          </a:p>
        </p:txBody>
      </p:sp>
      <p:sp>
        <p:nvSpPr>
          <p:cNvPr id="8" name="page">
            <a:extLst xmlns:a="http://schemas.openxmlformats.org/drawingml/2006/main">
              <a:ext uri="{FF2B5EF4-FFF2-40B4-BE49-F238E27FC236}">
                <a16:creationId xmlns:a16="http://schemas.microsoft.com/office/drawing/2014/main" id="{50706505-DF29-484D-889C-E5BDDCCA705A}"/>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12</a:t>
            </a:r>
          </a:p>
        </p:txBody>
      </p:sp>
    </p:spTree>
    <p:extLst>
      <p:ext uri="{BB962C8B-B14F-4D97-AF65-F5344CB8AC3E}">
        <p14:creationId xmlns:p14="http://schemas.microsoft.com/office/powerpoint/2010/main" val="13054622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92E61250-75A7-4431-89EE-83E621B4B23A}"/>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1E3BC040-DCD9-4F3A-8EB8-FB9E35097B21}"/>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Total kinetic energy</a:t>
            </a:r>
          </a:p>
        </p:txBody>
      </p:sp>
      <p:sp>
        <p:nvSpPr>
          <p:cNvPr id="3" name="EQ_kinetic">
            <a:extLst xmlns:a="http://schemas.openxmlformats.org/drawingml/2006/main">
              <a:ext uri="{FF2B5EF4-FFF2-40B4-BE49-F238E27FC236}">
                <a16:creationId xmlns:a16="http://schemas.microsoft.com/office/drawing/2014/main" id="{E157CB21-7F4F-495C-B292-E83634747D00}"/>
              </a:ext>
            </a:extLst>
          </p:cNvPr>
          <p:cNvSpPr>
            <a:spLocks xmlns:a="http://schemas.openxmlformats.org/drawingml/2006/main" noGrp="1"/>
          </p:cNvSpPr>
          <p:nvPr/>
        </p:nvSpPr>
        <p:spPr>
          <a:xfrm xmlns:a="http://schemas.openxmlformats.org/drawingml/2006/main">
            <a:off x="666750" y="16668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T = </m:t>
                  </m:r>
                  <m:f>
                    <m:num>
                      <m:r>
                        <a:rPr sz="2400" lang="en-US">
                          <a:latin typeface="Cambria Math"/>
                        </a:rPr>
                        <m:t>1</m:t>
                      </m:r>
                    </m:num>
                    <m:den>
                      <m:r>
                        <a:rPr sz="2400" lang="en-US">
                          <a:latin typeface="Cambria Math"/>
                        </a:rPr>
                        <m:t>2</m:t>
                      </m:r>
                    </m:den>
                  </m:f>
                  <m:sSub>
                    <m:e>
                      <m:r>
                        <a:rPr sz="2400" lang="en-US">
                          <a:latin typeface="Cambria Math"/>
                        </a:rPr>
                        <m:t>I</m:t>
                      </m:r>
                    </m:e>
                    <m:sub>
                      <m:r>
                        <a:rPr sz="2400" lang="en-US">
                          <a:latin typeface="Cambria Math"/>
                        </a:rPr>
                        <m:t>11</m:t>
                      </m:r>
                    </m:sub>
                  </m:sSub>
                  <m:sSup>
                    <m:e>
                      <m:sSub>
                        <m:e>
                          <m:r>
                            <a:rPr sz="2400" lang="en-US">
                              <a:latin typeface="Cambria Math"/>
                            </a:rPr>
                            <m:t>ω</m:t>
                          </m:r>
                        </m:e>
                        <m:sub>
                          <m:r>
                            <a:rPr sz="2400" lang="en-US">
                              <a:latin typeface="Cambria Math"/>
                            </a:rPr>
                            <m:t>1</m:t>
                          </m:r>
                        </m:sub>
                      </m:sSub>
                    </m:e>
                    <m:sup>
                      <m:r>
                        <a:rPr sz="2400" lang="en-US">
                          <a:latin typeface="Cambria Math"/>
                        </a:rPr>
                        <m:t>2</m:t>
                      </m:r>
                    </m:sup>
                  </m:sSup>
                  <m:r>
                    <a:rPr sz="2400" lang="en-US">
                      <a:latin typeface="Cambria Math"/>
                    </a:rPr>
                    <m:t> + </m:t>
                  </m:r>
                  <m:f>
                    <m:num>
                      <m:r>
                        <a:rPr sz="2400" lang="en-US">
                          <a:latin typeface="Cambria Math"/>
                        </a:rPr>
                        <m:t>1</m:t>
                      </m:r>
                    </m:num>
                    <m:den>
                      <m:r>
                        <a:rPr sz="2400" lang="en-US">
                          <a:latin typeface="Cambria Math"/>
                        </a:rPr>
                        <m:t>2</m:t>
                      </m:r>
                    </m:den>
                  </m:f>
                  <m:sSub>
                    <m:e>
                      <m:r>
                        <a:rPr sz="2400" lang="en-US">
                          <a:latin typeface="Cambria Math"/>
                        </a:rPr>
                        <m:t>I</m:t>
                      </m:r>
                    </m:e>
                    <m:sub>
                      <m:r>
                        <a:rPr sz="2400" lang="en-US">
                          <a:latin typeface="Cambria Math"/>
                        </a:rPr>
                        <m:t>22</m:t>
                      </m:r>
                    </m:sub>
                  </m:sSub>
                  <m:sSup>
                    <m:e>
                      <m:sSub>
                        <m:e>
                          <m:r>
                            <a:rPr sz="2400" lang="en-US">
                              <a:latin typeface="Cambria Math"/>
                            </a:rPr>
                            <m:t>ω</m:t>
                          </m:r>
                        </m:e>
                        <m:sub>
                          <m:r>
                            <a:rPr sz="2400" lang="en-US">
                              <a:latin typeface="Cambria Math"/>
                            </a:rPr>
                            <m:t>2</m:t>
                          </m:r>
                        </m:sub>
                      </m:sSub>
                    </m:e>
                    <m:sup>
                      <m:r>
                        <a:rPr sz="2400" lang="en-US">
                          <a:latin typeface="Cambria Math"/>
                        </a:rPr>
                        <m:t>2</m:t>
                      </m:r>
                    </m:sup>
                  </m:sSup>
                  <m:r>
                    <a:rPr sz="2400" lang="en-US">
                      <a:latin typeface="Cambria Math"/>
                    </a:rPr>
                    <m:t> + C cos Δ </m:t>
                  </m:r>
                  <m:sSub>
                    <m:e>
                      <m:r>
                        <a:rPr sz="2400" lang="en-US">
                          <a:latin typeface="Cambria Math"/>
                        </a:rPr>
                        <m:t>ω</m:t>
                      </m:r>
                    </m:e>
                    <m:sub>
                      <m:r>
                        <a:rPr sz="2400" lang="en-US">
                          <a:latin typeface="Cambria Math"/>
                        </a:rPr>
                        <m:t>1</m:t>
                      </m:r>
                    </m:sub>
                  </m:sSub>
                  <m:sSub>
                    <m:e>
                      <m:r>
                        <a:rPr sz="2400" lang="en-US">
                          <a:latin typeface="Cambria Math"/>
                        </a:rPr>
                        <m:t>ω</m:t>
                      </m:r>
                    </m:e>
                    <m:sub>
                      <m:r>
                        <a:rPr sz="2400" lang="en-US">
                          <a:latin typeface="Cambria Math"/>
                        </a:rPr>
                        <m:t>2</m:t>
                      </m:r>
                    </m:sub>
                  </m:sSub>
                </m:oMath>
              </m:oMathPara>
            </a14:m>
            <a:endParaRPr lang="en-US" sz="2400"/>
          </a:p>
        </p:txBody>
      </p:sp>
      <p:sp>
        <p:nvSpPr>
          <p:cNvPr id="4" name="EQ_inertiacoeff">
            <a:extLst xmlns:a="http://schemas.openxmlformats.org/drawingml/2006/main">
              <a:ext uri="{FF2B5EF4-FFF2-40B4-BE49-F238E27FC236}">
                <a16:creationId xmlns:a16="http://schemas.microsoft.com/office/drawing/2014/main" id="{47836FBD-EBE0-41C8-B287-5D03229C7F3B}"/>
              </a:ext>
            </a:extLst>
          </p:cNvPr>
          <p:cNvSpPr>
            <a:spLocks xmlns:a="http://schemas.openxmlformats.org/drawingml/2006/main" noGrp="1"/>
          </p:cNvSpPr>
          <p:nvPr/>
        </p:nvSpPr>
        <p:spPr>
          <a:xfrm xmlns:a="http://schemas.openxmlformats.org/drawingml/2006/main">
            <a:off x="666750" y="2562225"/>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I</m:t>
                          </m:r>
                        </m:e>
                        <m:sub>
                          <m:r>
                            <a:rPr sz="2400" lang="en-US">
                              <a:latin typeface="Cambria Math"/>
                            </a:rPr>
                            <m:t>11</m:t>
                          </m:r>
                        </m:sub>
                      </m:sSub>
                      <m:r>
                        <a:rPr sz="2400" lang="en-US">
                          <a:latin typeface="Cambria Math"/>
                        </a:rPr>
                        <m:t> = (</m:t>
                      </m:r>
                      <m:f>
                        <m:num>
                          <m:sSub>
                            <m:e>
                              <m:r>
                                <a:rPr sz="2400" lang="en-US">
                                  <a:latin typeface="Cambria Math"/>
                                </a:rPr>
                                <m:t>m</m:t>
                              </m:r>
                            </m:e>
                            <m:sub>
                              <m:r>
                                <a:rPr sz="2400" lang="en-US">
                                  <a:latin typeface="Cambria Math"/>
                                </a:rPr>
                                <m:t>1</m:t>
                              </m:r>
                            </m:sub>
                          </m:sSub>
                        </m:num>
                        <m:den>
                          <m:r>
                            <a:rPr sz="2400" lang="en-US">
                              <a:latin typeface="Cambria Math"/>
                            </a:rPr>
                            <m:t>3</m:t>
                          </m:r>
                        </m:den>
                      </m:f>
                      <m:r>
                        <a:rPr sz="2400" lang="en-US">
                          <a:latin typeface="Cambria Math"/>
                        </a:rPr>
                        <m:t>+</m:t>
                      </m:r>
                      <m:sSub>
                        <m:e>
                          <m:r>
                            <a:rPr sz="2400" lang="en-US">
                              <a:latin typeface="Cambria Math"/>
                            </a:rPr>
                            <m:t>M</m:t>
                          </m:r>
                        </m:e>
                        <m:sub>
                          <m:r>
                            <a:rPr sz="2400" lang="en-US">
                              <a:latin typeface="Cambria Math"/>
                            </a:rPr>
                            <m:t>1</m:t>
                          </m:r>
                        </m:sub>
                      </m:sSub>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p>
                        <m:e>
                          <m:sSub>
                            <m:e>
                              <m:r>
                                <a:rPr sz="2400" lang="en-US">
                                  <a:latin typeface="Cambria Math"/>
                                </a:rPr>
                                <m:t>L</m:t>
                              </m:r>
                            </m:e>
                            <m:sub>
                              <m:r>
                                <a:rPr sz="2400" lang="en-US">
                                  <a:latin typeface="Cambria Math"/>
                                </a:rPr>
                                <m:t>1</m:t>
                              </m:r>
                            </m:sub>
                          </m:sSub>
                        </m:e>
                        <m:sup>
                          <m:r>
                            <a:rPr sz="2400" lang="en-US">
                              <a:latin typeface="Cambria Math"/>
                            </a:rPr>
                            <m:t>2</m:t>
                          </m:r>
                        </m:sup>
                      </m:sSup>
                    </m:e>
                    <m:e>
                      <m:sSub>
                        <m:e>
                          <m:r>
                            <a:rPr sz="2400" lang="en-US">
                              <a:latin typeface="Cambria Math"/>
                            </a:rPr>
                            <m:t>I</m:t>
                          </m:r>
                        </m:e>
                        <m:sub>
                          <m:r>
                            <a:rPr sz="2400" lang="en-US">
                              <a:latin typeface="Cambria Math"/>
                            </a:rPr>
                            <m:t>22</m:t>
                          </m:r>
                        </m:sub>
                      </m:sSub>
                      <m:r>
                        <a:rPr sz="2400" lang="en-US">
                          <a:latin typeface="Cambria Math"/>
                        </a:rPr>
                        <m:t> = (</m:t>
                      </m:r>
                      <m:f>
                        <m:num>
                          <m:sSub>
                            <m:e>
                              <m:r>
                                <a:rPr sz="2400" lang="en-US">
                                  <a:latin typeface="Cambria Math"/>
                                </a:rPr>
                                <m:t>m</m:t>
                              </m:r>
                            </m:e>
                            <m:sub>
                              <m:r>
                                <a:rPr sz="2400" lang="en-US">
                                  <a:latin typeface="Cambria Math"/>
                                </a:rPr>
                                <m:t>2</m:t>
                              </m:r>
                            </m:sub>
                          </m:sSub>
                        </m:num>
                        <m:den>
                          <m:r>
                            <a:rPr sz="2400" lang="en-US">
                              <a:latin typeface="Cambria Math"/>
                            </a:rPr>
                            <m:t>3</m:t>
                          </m:r>
                        </m:den>
                      </m:f>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p>
                        <m:e>
                          <m:sSub>
                            <m:e>
                              <m:r>
                                <a:rPr sz="2400" lang="en-US">
                                  <a:latin typeface="Cambria Math"/>
                                </a:rPr>
                                <m:t>L</m:t>
                              </m:r>
                            </m:e>
                            <m:sub>
                              <m:r>
                                <a:rPr sz="2400" lang="en-US">
                                  <a:latin typeface="Cambria Math"/>
                                </a:rPr>
                                <m:t>2</m:t>
                              </m:r>
                            </m:sub>
                          </m:sSub>
                        </m:e>
                        <m:sup>
                          <m:r>
                            <a:rPr sz="2400" lang="en-US">
                              <a:latin typeface="Cambria Math"/>
                            </a:rPr>
                            <m:t>2</m:t>
                          </m:r>
                        </m:sup>
                      </m:sSup>
                    </m:e>
                  </m:eqArr>
                </m:oMath>
              </m:oMathPara>
            </a14:m>
            <a:endParaRPr lang="en-US" sz="2400"/>
          </a:p>
        </p:txBody>
      </p:sp>
      <p:sp>
        <p:nvSpPr>
          <p:cNvPr id="5" name="EQ_couplingcoeff">
            <a:extLst xmlns:a="http://schemas.openxmlformats.org/drawingml/2006/main">
              <a:ext uri="{FF2B5EF4-FFF2-40B4-BE49-F238E27FC236}">
                <a16:creationId xmlns:a16="http://schemas.microsoft.com/office/drawing/2014/main" id="{75B2BB91-024C-4E2F-AB07-06CBB8370343}"/>
              </a:ext>
            </a:extLst>
          </p:cNvPr>
          <p:cNvSpPr>
            <a:spLocks xmlns:a="http://schemas.openxmlformats.org/drawingml/2006/main" noGrp="1"/>
          </p:cNvSpPr>
          <p:nvPr/>
        </p:nvSpPr>
        <p:spPr>
          <a:xfrm xmlns:a="http://schemas.openxmlformats.org/drawingml/2006/main">
            <a:off x="666750" y="37433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C = (</m:t>
                  </m:r>
                  <m:f>
                    <m:num>
                      <m:sSub>
                        <m:e>
                          <m:r>
                            <a:rPr sz="2400" lang="en-US">
                              <a:latin typeface="Cambria Math"/>
                            </a:rPr>
                            <m:t>m</m:t>
                          </m:r>
                        </m:e>
                        <m:sub>
                          <m:r>
                            <a:rPr sz="2400" lang="en-US">
                              <a:latin typeface="Cambria Math"/>
                            </a:rPr>
                            <m:t>2</m:t>
                          </m:r>
                        </m:sub>
                      </m:sSub>
                    </m:num>
                    <m:den>
                      <m:r>
                        <a:rPr sz="2400" lang="en-US">
                          <a:latin typeface="Cambria Math"/>
                        </a:rPr>
                        <m:t>2</m:t>
                      </m:r>
                    </m:den>
                  </m:f>
                  <m:r>
                    <a:rPr sz="2400" lang="en-US">
                      <a:latin typeface="Cambria Math"/>
                    </a:rPr>
                    <m:t>+</m:t>
                  </m:r>
                  <m:sSub>
                    <m:e>
                      <m:r>
                        <a:rPr sz="2400" lang="en-US">
                          <a:latin typeface="Cambria Math"/>
                        </a:rPr>
                        <m:t>M</m:t>
                      </m:r>
                    </m:e>
                    <m:sub>
                      <m:r>
                        <a:rPr sz="2400" lang="en-US">
                          <a:latin typeface="Cambria Math"/>
                        </a:rPr>
                        <m:t>2</m:t>
                      </m:r>
                    </m:sub>
                  </m:sSub>
                  <m:r>
                    <a:rPr sz="2400" lang="en-US">
                      <a:latin typeface="Cambria Math"/>
                    </a:rPr>
                    <m:t>)</m:t>
                  </m:r>
                  <m:sSub>
                    <m:e>
                      <m:r>
                        <a:rPr sz="2400" lang="en-US">
                          <a:latin typeface="Cambria Math"/>
                        </a:rPr>
                        <m:t>L</m:t>
                      </m:r>
                    </m:e>
                    <m:sub>
                      <m:r>
                        <a:rPr sz="2400" lang="en-US">
                          <a:latin typeface="Cambria Math"/>
                        </a:rPr>
                        <m:t>1</m:t>
                      </m:r>
                    </m:sub>
                  </m:sSub>
                  <m:sSub>
                    <m:e>
                      <m:r>
                        <a:rPr sz="2400" lang="en-US">
                          <a:latin typeface="Cambria Math"/>
                        </a:rPr>
                        <m:t>L</m:t>
                      </m:r>
                    </m:e>
                    <m:sub>
                      <m:r>
                        <a:rPr sz="2400" lang="en-US">
                          <a:latin typeface="Cambria Math"/>
                        </a:rPr>
                        <m:t>2</m:t>
                      </m:r>
                    </m:sub>
                  </m:sSub>
                </m:oMath>
              </m:oMathPara>
            </a14:m>
            <a:endParaRPr lang="en-US" sz="2400"/>
          </a:p>
        </p:txBody>
      </p:sp>
      <p:sp>
        <p:nvSpPr>
          <p:cNvPr id="6" name="body0">
            <a:extLst xmlns:a="http://schemas.openxmlformats.org/drawingml/2006/main">
              <a:ext uri="{FF2B5EF4-FFF2-40B4-BE49-F238E27FC236}">
                <a16:creationId xmlns:a16="http://schemas.microsoft.com/office/drawing/2014/main" id="{75F41967-B37C-45EB-946B-B13BC37B740D}"/>
              </a:ext>
            </a:extLst>
          </p:cNvPr>
          <p:cNvSpPr>
            <a:spLocks xmlns:a="http://schemas.openxmlformats.org/drawingml/2006/main" noGrp="1"/>
          </p:cNvSpPr>
          <p:nvPr/>
        </p:nvSpPr>
        <p:spPr>
          <a:xfrm xmlns:a="http://schemas.openxmlformats.org/drawingml/2006/main">
            <a:off x="666750" y="4524375"/>
            <a:ext cx="10858500" cy="49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first two terms account for motion associated with each angular speed.</a:t>
            </a:r>
          </a:p>
        </p:txBody>
      </p:sp>
      <p:sp>
        <p:nvSpPr>
          <p:cNvPr id="7" name="body1">
            <a:extLst xmlns:a="http://schemas.openxmlformats.org/drawingml/2006/main">
              <a:ext uri="{FF2B5EF4-FFF2-40B4-BE49-F238E27FC236}">
                <a16:creationId xmlns:a16="http://schemas.microsoft.com/office/drawing/2014/main" id="{EC91D84C-03A6-4B14-B5E4-1FE21C223053}"/>
              </a:ext>
            </a:extLst>
          </p:cNvPr>
          <p:cNvSpPr>
            <a:spLocks xmlns:a="http://schemas.openxmlformats.org/drawingml/2006/main" noGrp="1"/>
          </p:cNvSpPr>
          <p:nvPr/>
        </p:nvSpPr>
        <p:spPr>
          <a:xfrm xmlns:a="http://schemas.openxmlformats.org/drawingml/2006/main">
            <a:off x="666750" y="5111750"/>
            <a:ext cx="10858500" cy="49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cross term accounts for the fact that both rotations contribute to the lower assembly’s velocity.</a:t>
            </a:r>
          </a:p>
        </p:txBody>
      </p:sp>
      <p:sp>
        <p:nvSpPr>
          <p:cNvPr id="8" name="body2">
            <a:extLst xmlns:a="http://schemas.openxmlformats.org/drawingml/2006/main">
              <a:ext uri="{FF2B5EF4-FFF2-40B4-BE49-F238E27FC236}">
                <a16:creationId xmlns:a16="http://schemas.microsoft.com/office/drawing/2014/main" id="{CAA7D57B-77B2-4258-B23C-849E9B122427}"/>
              </a:ext>
            </a:extLst>
          </p:cNvPr>
          <p:cNvSpPr>
            <a:spLocks xmlns:a="http://schemas.openxmlformats.org/drawingml/2006/main" noGrp="1"/>
          </p:cNvSpPr>
          <p:nvPr/>
        </p:nvSpPr>
        <p:spPr>
          <a:xfrm xmlns:a="http://schemas.openxmlformats.org/drawingml/2006/main">
            <a:off x="666750" y="5699125"/>
            <a:ext cx="10858500" cy="49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I₁₁, I₂₂ and C all have units kg·m². They depend only on the apparatus masses and lengths.</a:t>
            </a:r>
          </a:p>
        </p:txBody>
      </p:sp>
      <p:sp>
        <p:nvSpPr>
          <p:cNvPr id="9" name="page">
            <a:extLst xmlns:a="http://schemas.openxmlformats.org/drawingml/2006/main">
              <a:ext uri="{FF2B5EF4-FFF2-40B4-BE49-F238E27FC236}">
                <a16:creationId xmlns:a16="http://schemas.microsoft.com/office/drawing/2014/main" id="{E0B56610-1255-4BF3-8AC5-D7486507DDA0}"/>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13</a:t>
            </a:r>
          </a:p>
        </p:txBody>
      </p:sp>
    </p:spTree>
    <p:extLst>
      <p:ext uri="{BB962C8B-B14F-4D97-AF65-F5344CB8AC3E}">
        <p14:creationId xmlns:p14="http://schemas.microsoft.com/office/powerpoint/2010/main" val="21230699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90C82CDA-64CE-49DD-AF64-E16787783E9F}"/>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2FB65A0B-30DF-437C-B4EC-8F073E5B35DF}"/>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Meaning of the coupling term</a:t>
            </a:r>
          </a:p>
        </p:txBody>
      </p:sp>
      <p:sp>
        <p:nvSpPr>
          <p:cNvPr id="3" name="EQ_cross">
            <a:extLst xmlns:a="http://schemas.openxmlformats.org/drawingml/2006/main">
              <a:ext uri="{FF2B5EF4-FFF2-40B4-BE49-F238E27FC236}">
                <a16:creationId xmlns:a16="http://schemas.microsoft.com/office/drawing/2014/main" id="{31C16F53-9732-49AC-B32F-51545A62FC47}"/>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T</m:t>
                      </m:r>
                    </m:e>
                    <m:sub>
                      <m:r>
                        <a:rPr sz="2400" lang="en-US">
                          <a:latin typeface="Cambria Math"/>
                        </a:rPr>
                        <m:t>cross</m:t>
                      </m:r>
                    </m:sub>
                  </m:sSub>
                  <m:r>
                    <a:rPr sz="2400" lang="en-US">
                      <a:latin typeface="Cambria Math"/>
                    </a:rPr>
                    <m:t> = C cos(</m:t>
                  </m:r>
                  <m:sSub>
                    <m:e>
                      <m:r>
                        <a:rPr sz="2400" lang="en-US">
                          <a:latin typeface="Cambria Math"/>
                        </a:rPr>
                        <m:t>θ</m:t>
                      </m:r>
                    </m:e>
                    <m:sub>
                      <m:r>
                        <a:rPr sz="2400" lang="en-US">
                          <a:latin typeface="Cambria Math"/>
                        </a:rPr>
                        <m:t>1</m:t>
                      </m:r>
                    </m:sub>
                  </m:sSub>
                  <m:r>
                    <a:rPr sz="2400" lang="en-US">
                      <a:latin typeface="Cambria Math"/>
                    </a:rPr>
                    <m:t> − </m:t>
                  </m:r>
                  <m:sSub>
                    <m:e>
                      <m:r>
                        <a:rPr sz="2400" lang="en-US">
                          <a:latin typeface="Cambria Math"/>
                        </a:rPr>
                        <m:t>θ</m:t>
                      </m:r>
                    </m:e>
                    <m:sub>
                      <m:r>
                        <a:rPr sz="2400" lang="en-US">
                          <a:latin typeface="Cambria Math"/>
                        </a:rPr>
                        <m:t>2</m:t>
                      </m:r>
                    </m:sub>
                  </m:sSub>
                  <m:r>
                    <a:rPr sz="2400" lang="en-US">
                      <a:latin typeface="Cambria Math"/>
                    </a:rPr>
                    <m:t>)</m:t>
                  </m:r>
                  <m:sSub>
                    <m:e>
                      <m:r>
                        <a:rPr sz="2400" lang="en-US">
                          <a:latin typeface="Cambria Math"/>
                        </a:rPr>
                        <m:t>ω</m:t>
                      </m:r>
                    </m:e>
                    <m:sub>
                      <m:r>
                        <a:rPr sz="2400" lang="en-US">
                          <a:latin typeface="Cambria Math"/>
                        </a:rPr>
                        <m:t>1</m:t>
                      </m:r>
                    </m:sub>
                  </m:sSub>
                  <m:sSub>
                    <m:e>
                      <m:r>
                        <a:rPr sz="2400" lang="en-US">
                          <a:latin typeface="Cambria Math"/>
                        </a:rPr>
                        <m:t>ω</m:t>
                      </m:r>
                    </m:e>
                    <m:sub>
                      <m:r>
                        <a:rPr sz="2400" lang="en-US">
                          <a:latin typeface="Cambria Math"/>
                        </a:rPr>
                        <m:t>2</m:t>
                      </m:r>
                    </m:sub>
                  </m:sSub>
                </m:oMath>
              </m:oMathPara>
            </a14:m>
            <a:endParaRPr lang="en-US" sz="2400"/>
          </a:p>
        </p:txBody>
      </p:sp>
      <p:sp>
        <p:nvSpPr>
          <p:cNvPr id="4" name="body0">
            <a:extLst xmlns:a="http://schemas.openxmlformats.org/drawingml/2006/main">
              <a:ext uri="{FF2B5EF4-FFF2-40B4-BE49-F238E27FC236}">
                <a16:creationId xmlns:a16="http://schemas.microsoft.com/office/drawing/2014/main" id="{3D83E8E6-B733-4364-B849-2321A532D674}"/>
              </a:ext>
            </a:extLst>
          </p:cNvPr>
          <p:cNvSpPr>
            <a:spLocks xmlns:a="http://schemas.openxmlformats.org/drawingml/2006/main" noGrp="1"/>
          </p:cNvSpPr>
          <p:nvPr/>
        </p:nvSpPr>
        <p:spPr>
          <a:xfrm xmlns:a="http://schemas.openxmlformats.org/drawingml/2006/main">
            <a:off x="666750" y="2447925"/>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Δ = θ₁ − θ₂ measures the difference between the link orientations.</a:t>
            </a:r>
          </a:p>
        </p:txBody>
      </p:sp>
      <p:sp>
        <p:nvSpPr>
          <p:cNvPr id="5" name="body1">
            <a:extLst xmlns:a="http://schemas.openxmlformats.org/drawingml/2006/main">
              <a:ext uri="{FF2B5EF4-FFF2-40B4-BE49-F238E27FC236}">
                <a16:creationId xmlns:a16="http://schemas.microsoft.com/office/drawing/2014/main" id="{1F51FF43-D414-4DFE-8F2D-18A0B130E3D8}"/>
              </a:ext>
            </a:extLst>
          </p:cNvPr>
          <p:cNvSpPr>
            <a:spLocks xmlns:a="http://schemas.openxmlformats.org/drawingml/2006/main" noGrp="1"/>
          </p:cNvSpPr>
          <p:nvPr/>
        </p:nvSpPr>
        <p:spPr>
          <a:xfrm xmlns:a="http://schemas.openxmlformats.org/drawingml/2006/main">
            <a:off x="666750" y="3407569"/>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aligned links moving in the same sense, the lower-bob velocity contributions reinforce each other.</a:t>
            </a:r>
          </a:p>
        </p:txBody>
      </p:sp>
      <p:sp>
        <p:nvSpPr>
          <p:cNvPr id="6" name="body2">
            <a:extLst xmlns:a="http://schemas.openxmlformats.org/drawingml/2006/main">
              <a:ext uri="{FF2B5EF4-FFF2-40B4-BE49-F238E27FC236}">
                <a16:creationId xmlns:a16="http://schemas.microsoft.com/office/drawing/2014/main" id="{1B62EC15-2A26-4C2C-ACD5-F16C9AE5BF0D}"/>
              </a:ext>
            </a:extLst>
          </p:cNvPr>
          <p:cNvSpPr>
            <a:spLocks xmlns:a="http://schemas.openxmlformats.org/drawingml/2006/main" noGrp="1"/>
          </p:cNvSpPr>
          <p:nvPr/>
        </p:nvSpPr>
        <p:spPr>
          <a:xfrm xmlns:a="http://schemas.openxmlformats.org/drawingml/2006/main">
            <a:off x="666750" y="4367213"/>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Opposite angular speeds can partly cancel those contributions. The cross term may be negative, while total T remains nonnegative.</a:t>
            </a:r>
          </a:p>
        </p:txBody>
      </p:sp>
      <p:sp>
        <p:nvSpPr>
          <p:cNvPr id="7" name="body3">
            <a:extLst xmlns:a="http://schemas.openxmlformats.org/drawingml/2006/main">
              <a:ext uri="{FF2B5EF4-FFF2-40B4-BE49-F238E27FC236}">
                <a16:creationId xmlns:a16="http://schemas.microsoft.com/office/drawing/2014/main" id="{680C96C6-CE31-41E9-B3A4-C5A479CB8C32}"/>
              </a:ext>
            </a:extLst>
          </p:cNvPr>
          <p:cNvSpPr>
            <a:spLocks xmlns:a="http://schemas.openxmlformats.org/drawingml/2006/main" noGrp="1"/>
          </p:cNvSpPr>
          <p:nvPr/>
        </p:nvSpPr>
        <p:spPr>
          <a:xfrm xmlns:a="http://schemas.openxmlformats.org/drawingml/2006/main">
            <a:off x="666750" y="5326856"/>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 Δ = 90°, this cross term is zero at that instant. Other dynamic coupling terms can still remain.</a:t>
            </a:r>
          </a:p>
        </p:txBody>
      </p:sp>
      <p:sp>
        <p:nvSpPr>
          <p:cNvPr id="8" name="page">
            <a:extLst xmlns:a="http://schemas.openxmlformats.org/drawingml/2006/main">
              <a:ext uri="{FF2B5EF4-FFF2-40B4-BE49-F238E27FC236}">
                <a16:creationId xmlns:a16="http://schemas.microsoft.com/office/drawing/2014/main" id="{EF28C1AE-E330-4B40-B27C-8CC5090DCE04}"/>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14</a:t>
            </a:r>
          </a:p>
        </p:txBody>
      </p:sp>
    </p:spTree>
    <p:extLst>
      <p:ext uri="{BB962C8B-B14F-4D97-AF65-F5344CB8AC3E}">
        <p14:creationId xmlns:p14="http://schemas.microsoft.com/office/powerpoint/2010/main" val="121637889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89556586-6085-479C-BAA1-981CF005CBD9}"/>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B8DDABB0-FDD2-4D91-9864-43F9EAE40B97}"/>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Energy during real and ideal motion</a:t>
            </a:r>
          </a:p>
        </p:txBody>
      </p:sp>
      <p:sp>
        <p:nvSpPr>
          <p:cNvPr id="3" name="EQ_energy">
            <a:extLst xmlns:a="http://schemas.openxmlformats.org/drawingml/2006/main">
              <a:ext uri="{FF2B5EF4-FFF2-40B4-BE49-F238E27FC236}">
                <a16:creationId xmlns:a16="http://schemas.microsoft.com/office/drawing/2014/main" id="{A97EAD28-5364-4CC4-AE18-67B70733E6D5}"/>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E = T + V     </m:t>
                  </m:r>
                  <m:f>
                    <m:num>
                      <m:r>
                        <a:rPr sz="2400" lang="en-US">
                          <a:latin typeface="Cambria Math"/>
                        </a:rPr>
                        <m:t>dE</m:t>
                      </m:r>
                    </m:num>
                    <m:den>
                      <m:r>
                        <a:rPr sz="2400" lang="en-US">
                          <a:latin typeface="Cambria Math"/>
                        </a:rPr>
                        <m:t>dt</m:t>
                      </m:r>
                    </m:den>
                  </m:f>
                  <m:r>
                    <a:rPr sz="2400" lang="en-US">
                      <a:latin typeface="Cambria Math"/>
                    </a:rPr>
                    <m:t> = 0  (ideal model)</m:t>
                  </m:r>
                </m:oMath>
              </m:oMathPara>
            </a14:m>
            <a:endParaRPr lang="en-US" sz="2400"/>
          </a:p>
        </p:txBody>
      </p:sp>
      <p:sp>
        <p:nvSpPr>
          <p:cNvPr id="4" name="EQ_energy_rate">
            <a:extLst xmlns:a="http://schemas.openxmlformats.org/drawingml/2006/main">
              <a:ext uri="{FF2B5EF4-FFF2-40B4-BE49-F238E27FC236}">
                <a16:creationId xmlns:a16="http://schemas.microsoft.com/office/drawing/2014/main" id="{7F4FBDA4-28D9-405E-A407-FAC729F86F4C}"/>
              </a:ext>
            </a:extLst>
          </p:cNvPr>
          <p:cNvSpPr>
            <a:spLocks xmlns:a="http://schemas.openxmlformats.org/drawingml/2006/main" noGrp="1"/>
          </p:cNvSpPr>
          <p:nvPr/>
        </p:nvSpPr>
        <p:spPr>
          <a:xfrm xmlns:a="http://schemas.openxmlformats.org/drawingml/2006/main">
            <a:off x="666750" y="24479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f>
                    <m:num>
                      <m:r>
                        <a:rPr sz="2400" lang="en-US">
                          <a:latin typeface="Cambria Math"/>
                        </a:rPr>
                        <m:t>dE</m:t>
                      </m:r>
                    </m:num>
                    <m:den>
                      <m:r>
                        <a:rPr sz="2400" lang="en-US">
                          <a:latin typeface="Cambria Math"/>
                        </a:rPr>
                        <m:t>dt</m:t>
                      </m:r>
                    </m:den>
                  </m:f>
                  <m:r>
                    <a:rPr sz="2400" lang="en-US">
                      <a:latin typeface="Cambria Math"/>
                    </a:rPr>
                    <m:t> = </m:t>
                  </m:r>
                  <m:sSub>
                    <m:e>
                      <m:r>
                        <a:rPr sz="2400" lang="en-US">
                          <a:latin typeface="Cambria Math"/>
                        </a:rPr>
                        <m:t>Q</m:t>
                      </m:r>
                    </m:e>
                    <m:sub>
                      <m:r>
                        <a:rPr sz="2400" lang="en-US">
                          <a:latin typeface="Cambria Math"/>
                        </a:rPr>
                        <m:t>1</m:t>
                      </m:r>
                    </m:sub>
                  </m:sSub>
                  <m:sSub>
                    <m:e>
                      <m:r>
                        <a:rPr sz="2400" lang="en-US">
                          <a:latin typeface="Cambria Math"/>
                        </a:rPr>
                        <m:t>ω</m:t>
                      </m:r>
                    </m:e>
                    <m:sub>
                      <m:r>
                        <a:rPr sz="2400" lang="en-US">
                          <a:latin typeface="Cambria Math"/>
                        </a:rPr>
                        <m:t>1</m:t>
                      </m:r>
                    </m:sub>
                  </m:sSub>
                  <m:r>
                    <a:rPr sz="2400" lang="en-US">
                      <a:latin typeface="Cambria Math"/>
                    </a:rPr>
                    <m:t> + </m:t>
                  </m:r>
                  <m:sSub>
                    <m:e>
                      <m:r>
                        <a:rPr sz="2400" lang="en-US">
                          <a:latin typeface="Cambria Math"/>
                        </a:rPr>
                        <m:t>Q</m:t>
                      </m:r>
                    </m:e>
                    <m:sub>
                      <m:r>
                        <a:rPr sz="2400" lang="en-US">
                          <a:latin typeface="Cambria Math"/>
                        </a:rPr>
                        <m:t>2</m:t>
                      </m:r>
                    </m:sub>
                  </m:sSub>
                  <m:sSub>
                    <m:e>
                      <m:r>
                        <a:rPr sz="2400" lang="en-US">
                          <a:latin typeface="Cambria Math"/>
                        </a:rPr>
                        <m:t>ω</m:t>
                      </m:r>
                    </m:e>
                    <m:sub>
                      <m:r>
                        <a:rPr sz="2400" lang="en-US">
                          <a:latin typeface="Cambria Math"/>
                        </a:rPr>
                        <m:t>2</m:t>
                      </m:r>
                    </m:sub>
                  </m:sSub>
                  <m:r>
                    <a:rPr sz="2400" lang="en-US">
                      <a:latin typeface="Cambria Math"/>
                    </a:rPr>
                    <m:t>  (with nonconservative torques)</m:t>
                  </m:r>
                </m:oMath>
              </m:oMathPara>
            </a14:m>
            <a:endParaRPr lang="en-US" sz="2400"/>
          </a:p>
        </p:txBody>
      </p:sp>
      <p:sp>
        <p:nvSpPr>
          <p:cNvPr id="5" name="body0">
            <a:extLst xmlns:a="http://schemas.openxmlformats.org/drawingml/2006/main">
              <a:ext uri="{FF2B5EF4-FFF2-40B4-BE49-F238E27FC236}">
                <a16:creationId xmlns:a16="http://schemas.microsoft.com/office/drawing/2014/main" id="{BADA9795-6914-4D3E-B018-23B71F00BE8C}"/>
              </a:ext>
            </a:extLst>
          </p:cNvPr>
          <p:cNvSpPr>
            <a:spLocks xmlns:a="http://schemas.openxmlformats.org/drawingml/2006/main" noGrp="1"/>
          </p:cNvSpPr>
          <p:nvPr/>
        </p:nvSpPr>
        <p:spPr>
          <a:xfrm xmlns:a="http://schemas.openxmlformats.org/drawingml/2006/main">
            <a:off x="666750" y="3228975"/>
            <a:ext cx="10858500" cy="669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 release from rest, T is zero and all initial mechanical energy is potential energy.</a:t>
            </a:r>
          </a:p>
        </p:txBody>
      </p:sp>
      <p:sp>
        <p:nvSpPr>
          <p:cNvPr id="6" name="body1">
            <a:extLst xmlns:a="http://schemas.openxmlformats.org/drawingml/2006/main">
              <a:ext uri="{FF2B5EF4-FFF2-40B4-BE49-F238E27FC236}">
                <a16:creationId xmlns:a16="http://schemas.microsoft.com/office/drawing/2014/main" id="{F2715511-D494-4DAC-B1C7-89C34508FC42}"/>
              </a:ext>
            </a:extLst>
          </p:cNvPr>
          <p:cNvSpPr>
            <a:spLocks xmlns:a="http://schemas.openxmlformats.org/drawingml/2006/main" noGrp="1"/>
          </p:cNvSpPr>
          <p:nvPr/>
        </p:nvSpPr>
        <p:spPr>
          <a:xfrm xmlns:a="http://schemas.openxmlformats.org/drawingml/2006/main">
            <a:off x="666750" y="3993356"/>
            <a:ext cx="10858500" cy="669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As masses descend, some potential energy becomes kinetic energy. Both links exchange energy through their connection.</a:t>
            </a:r>
          </a:p>
        </p:txBody>
      </p:sp>
      <p:sp>
        <p:nvSpPr>
          <p:cNvPr id="7" name="body2">
            <a:extLst xmlns:a="http://schemas.openxmlformats.org/drawingml/2006/main">
              <a:ext uri="{FF2B5EF4-FFF2-40B4-BE49-F238E27FC236}">
                <a16:creationId xmlns:a16="http://schemas.microsoft.com/office/drawing/2014/main" id="{17F6A68F-01B4-4514-8BDB-FB896ACA46F8}"/>
              </a:ext>
            </a:extLst>
          </p:cNvPr>
          <p:cNvSpPr>
            <a:spLocks xmlns:a="http://schemas.openxmlformats.org/drawingml/2006/main" noGrp="1"/>
          </p:cNvSpPr>
          <p:nvPr/>
        </p:nvSpPr>
        <p:spPr>
          <a:xfrm xmlns:a="http://schemas.openxmlformats.org/drawingml/2006/main">
            <a:off x="666750" y="4757738"/>
            <a:ext cx="10858500" cy="669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ideal simulation conserves total E. Real pivot friction and air drag remove mechanical energy.</a:t>
            </a:r>
          </a:p>
        </p:txBody>
      </p:sp>
      <p:sp>
        <p:nvSpPr>
          <p:cNvPr id="8" name="body3">
            <a:extLst xmlns:a="http://schemas.openxmlformats.org/drawingml/2006/main">
              <a:ext uri="{FF2B5EF4-FFF2-40B4-BE49-F238E27FC236}">
                <a16:creationId xmlns:a16="http://schemas.microsoft.com/office/drawing/2014/main" id="{2A0AAD05-3629-4DA9-8A35-4C9A3F946039}"/>
              </a:ext>
            </a:extLst>
          </p:cNvPr>
          <p:cNvSpPr>
            <a:spLocks xmlns:a="http://schemas.openxmlformats.org/drawingml/2006/main" noGrp="1"/>
          </p:cNvSpPr>
          <p:nvPr/>
        </p:nvSpPr>
        <p:spPr>
          <a:xfrm xmlns:a="http://schemas.openxmlformats.org/drawingml/2006/main">
            <a:off x="666750" y="5522119"/>
            <a:ext cx="10858500" cy="669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Energy loss in a recording does not by itself identify which loss mechanism dominates.</a:t>
            </a:r>
          </a:p>
        </p:txBody>
      </p:sp>
      <p:sp>
        <p:nvSpPr>
          <p:cNvPr id="9" name="page">
            <a:extLst xmlns:a="http://schemas.openxmlformats.org/drawingml/2006/main">
              <a:ext uri="{FF2B5EF4-FFF2-40B4-BE49-F238E27FC236}">
                <a16:creationId xmlns:a16="http://schemas.microsoft.com/office/drawing/2014/main" id="{3CBD393A-D9F2-485D-A1DF-5980D278C524}"/>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15</a:t>
            </a:r>
          </a:p>
        </p:txBody>
      </p:sp>
    </p:spTree>
    <p:extLst>
      <p:ext uri="{BB962C8B-B14F-4D97-AF65-F5344CB8AC3E}">
        <p14:creationId xmlns:p14="http://schemas.microsoft.com/office/powerpoint/2010/main" val="148772357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DC3BF8A9-9AE9-4958-8709-1D23A1DD05BD}"/>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999D4108-D993-4A86-A662-DD676CF9E253}"/>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How energy gives the equations of motion</a:t>
            </a:r>
          </a:p>
        </p:txBody>
      </p:sp>
      <p:sp>
        <p:nvSpPr>
          <p:cNvPr id="3" name="EQ_lagrange">
            <a:extLst xmlns:a="http://schemas.openxmlformats.org/drawingml/2006/main">
              <a:ext uri="{FF2B5EF4-FFF2-40B4-BE49-F238E27FC236}">
                <a16:creationId xmlns:a16="http://schemas.microsoft.com/office/drawing/2014/main" id="{12E4958A-2900-496D-BD99-D45D04CD9D6B}"/>
              </a:ext>
            </a:extLst>
          </p:cNvPr>
          <p:cNvSpPr>
            <a:spLocks xmlns:a="http://schemas.openxmlformats.org/drawingml/2006/main" noGrp="1"/>
          </p:cNvSpPr>
          <p:nvPr/>
        </p:nvSpPr>
        <p:spPr>
          <a:xfrm xmlns:a="http://schemas.openxmlformats.org/drawingml/2006/main">
            <a:off x="666750" y="1666875"/>
            <a:ext cx="10858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f>
                    <m:num>
                      <m:r>
                        <a:rPr sz="2400" lang="en-US">
                          <a:latin typeface="Cambria Math"/>
                        </a:rPr>
                        <m:t>d</m:t>
                      </m:r>
                    </m:num>
                    <m:den>
                      <m:r>
                        <a:rPr sz="2400" lang="en-US">
                          <a:latin typeface="Cambria Math"/>
                        </a:rPr>
                        <m:t>dt</m:t>
                      </m:r>
                    </m:den>
                  </m:f>
                  <m:r>
                    <a:rPr sz="2400" lang="en-US">
                      <a:latin typeface="Cambria Math"/>
                    </a:rPr>
                    <m:t>(</m:t>
                  </m:r>
                  <m:f>
                    <m:num>
                      <m:r>
                        <a:rPr sz="2400" lang="en-US">
                          <a:latin typeface="Cambria Math"/>
                        </a:rPr>
                        <m:t>∂ℒ</m:t>
                      </m:r>
                    </m:num>
                    <m:den>
                      <m:r>
                        <a:rPr sz="2400" lang="en-US">
                          <a:latin typeface="Cambria Math"/>
                        </a:rPr>
                        <m:t>∂</m:t>
                      </m:r>
                      <m:sSub>
                        <m:e>
                          <m:r>
                            <a:rPr sz="2400" lang="en-US">
                              <a:latin typeface="Cambria Math"/>
                            </a:rPr>
                            <m:t>ω</m:t>
                          </m:r>
                        </m:e>
                        <m:sub>
                          <m:r>
                            <a:rPr sz="2400" lang="en-US">
                              <a:latin typeface="Cambria Math"/>
                            </a:rPr>
                            <m:t>i</m:t>
                          </m:r>
                        </m:sub>
                      </m:sSub>
                    </m:den>
                  </m:f>
                  <m:r>
                    <a:rPr sz="2400" lang="en-US">
                      <a:latin typeface="Cambria Math"/>
                    </a:rPr>
                    <m:t>) − </m:t>
                  </m:r>
                  <m:f>
                    <m:num>
                      <m:r>
                        <a:rPr sz="2400" lang="en-US">
                          <a:latin typeface="Cambria Math"/>
                        </a:rPr>
                        <m:t>∂ℒ</m:t>
                      </m:r>
                    </m:num>
                    <m:den>
                      <m:r>
                        <a:rPr sz="2400" lang="en-US">
                          <a:latin typeface="Cambria Math"/>
                        </a:rPr>
                        <m:t>∂</m:t>
                      </m:r>
                      <m:sSub>
                        <m:e>
                          <m:r>
                            <a:rPr sz="2400" lang="en-US">
                              <a:latin typeface="Cambria Math"/>
                            </a:rPr>
                            <m:t>θ</m:t>
                          </m:r>
                        </m:e>
                        <m:sub>
                          <m:r>
                            <a:rPr sz="2400" lang="en-US">
                              <a:latin typeface="Cambria Math"/>
                            </a:rPr>
                            <m:t>i</m:t>
                          </m:r>
                        </m:sub>
                      </m:sSub>
                    </m:den>
                  </m:f>
                  <m:r>
                    <a:rPr sz="2400" lang="en-US">
                      <a:latin typeface="Cambria Math"/>
                    </a:rPr>
                    <m:t> = </m:t>
                  </m:r>
                  <m:sSub>
                    <m:e>
                      <m:r>
                        <a:rPr sz="2400" lang="en-US">
                          <a:latin typeface="Cambria Math"/>
                        </a:rPr>
                        <m:t>Q</m:t>
                      </m:r>
                    </m:e>
                    <m:sub>
                      <m:r>
                        <a:rPr sz="2400" lang="en-US">
                          <a:latin typeface="Cambria Math"/>
                        </a:rPr>
                        <m:t>i</m:t>
                      </m:r>
                    </m:sub>
                  </m:sSub>
                  <m:r>
                    <a:rPr sz="2400" lang="en-US">
                      <a:latin typeface="Cambria Math"/>
                    </a:rPr>
                    <m:t>      i = 1, 2</m:t>
                  </m:r>
                </m:oMath>
              </m:oMathPara>
            </a14:m>
            <a:endParaRPr lang="en-US" sz="2400"/>
          </a:p>
        </p:txBody>
      </p:sp>
      <p:sp>
        <p:nvSpPr>
          <p:cNvPr id="4" name="body0">
            <a:extLst xmlns:a="http://schemas.openxmlformats.org/drawingml/2006/main">
              <a:ext uri="{FF2B5EF4-FFF2-40B4-BE49-F238E27FC236}">
                <a16:creationId xmlns:a16="http://schemas.microsoft.com/office/drawing/2014/main" id="{DE2419A3-1F23-461F-BBFE-A54E66D63038}"/>
              </a:ext>
            </a:extLst>
          </p:cNvPr>
          <p:cNvSpPr>
            <a:spLocks xmlns:a="http://schemas.openxmlformats.org/drawingml/2006/main" noGrp="1"/>
          </p:cNvSpPr>
          <p:nvPr/>
        </p:nvSpPr>
        <p:spPr>
          <a:xfrm xmlns:a="http://schemas.openxmlformats.org/drawingml/2006/main">
            <a:off x="666750" y="2809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Form ℒ = T − V, then apply the equation once for θ₁ and once for θ₂.</a:t>
            </a:r>
          </a:p>
        </p:txBody>
      </p:sp>
      <p:sp>
        <p:nvSpPr>
          <p:cNvPr id="5" name="body1">
            <a:extLst xmlns:a="http://schemas.openxmlformats.org/drawingml/2006/main">
              <a:ext uri="{FF2B5EF4-FFF2-40B4-BE49-F238E27FC236}">
                <a16:creationId xmlns:a16="http://schemas.microsoft.com/office/drawing/2014/main" id="{08F6E1FE-A8D6-4333-9852-45B025E030A5}"/>
              </a:ext>
            </a:extLst>
          </p:cNvPr>
          <p:cNvSpPr>
            <a:spLocks xmlns:a="http://schemas.openxmlformats.org/drawingml/2006/main" noGrp="1"/>
          </p:cNvSpPr>
          <p:nvPr/>
        </p:nvSpPr>
        <p:spPr>
          <a:xfrm xmlns:a="http://schemas.openxmlformats.org/drawingml/2006/main">
            <a:off x="666750" y="3876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first term accounts for the rate of change of generalized momentum. The second accounts for how the energy changes with configuration.</a:t>
            </a:r>
          </a:p>
        </p:txBody>
      </p:sp>
      <p:sp>
        <p:nvSpPr>
          <p:cNvPr id="6" name="body2">
            <a:extLst xmlns:a="http://schemas.openxmlformats.org/drawingml/2006/main">
              <a:ext uri="{FF2B5EF4-FFF2-40B4-BE49-F238E27FC236}">
                <a16:creationId xmlns:a16="http://schemas.microsoft.com/office/drawing/2014/main" id="{CD6749E3-30DA-4BBE-BE39-2355B36F44B0}"/>
              </a:ext>
            </a:extLst>
          </p:cNvPr>
          <p:cNvSpPr>
            <a:spLocks xmlns:a="http://schemas.openxmlformats.org/drawingml/2006/main" noGrp="1"/>
          </p:cNvSpPr>
          <p:nvPr/>
        </p:nvSpPr>
        <p:spPr>
          <a:xfrm xmlns:a="http://schemas.openxmlformats.org/drawingml/2006/main">
            <a:off x="666750" y="4943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the ideal baseline, Q₁ = Q₂ = 0. A supplied numerical solver advances these equations in time.</a:t>
            </a:r>
          </a:p>
        </p:txBody>
      </p:sp>
      <p:sp>
        <p:nvSpPr>
          <p:cNvPr id="7" name="page">
            <a:extLst xmlns:a="http://schemas.openxmlformats.org/drawingml/2006/main">
              <a:ext uri="{FF2B5EF4-FFF2-40B4-BE49-F238E27FC236}">
                <a16:creationId xmlns:a16="http://schemas.microsoft.com/office/drawing/2014/main" id="{508ABDB7-3179-401F-B391-A74298C1DF83}"/>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16</a:t>
            </a:r>
          </a:p>
        </p:txBody>
      </p:sp>
    </p:spTree>
    <p:extLst>
      <p:ext uri="{BB962C8B-B14F-4D97-AF65-F5344CB8AC3E}">
        <p14:creationId xmlns:p14="http://schemas.microsoft.com/office/powerpoint/2010/main" val="87231853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E8A9BF43-51A1-4B5F-A56A-A329828F1F0C}"/>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460927AC-D0A4-46B2-B7DF-0E6935EF5B68}"/>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two coupled acceleration equations</a:t>
            </a:r>
          </a:p>
        </p:txBody>
      </p:sp>
      <p:sp>
        <p:nvSpPr>
          <p:cNvPr id="3" name="EQ_eom1">
            <a:extLst xmlns:a="http://schemas.openxmlformats.org/drawingml/2006/main">
              <a:ext uri="{FF2B5EF4-FFF2-40B4-BE49-F238E27FC236}">
                <a16:creationId xmlns:a16="http://schemas.microsoft.com/office/drawing/2014/main" id="{28E5F785-6179-478C-B4DE-854E07E47235}"/>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I</m:t>
                      </m:r>
                    </m:e>
                    <m:sub>
                      <m:r>
                        <a:rPr sz="2400" lang="en-US">
                          <a:latin typeface="Cambria Math"/>
                        </a:rPr>
                        <m:t>11</m:t>
                      </m:r>
                    </m:sub>
                  </m:sSub>
                  <m:sSub>
                    <m:e>
                      <m:r>
                        <a:rPr sz="2400" lang="en-US">
                          <a:latin typeface="Cambria Math"/>
                        </a:rPr>
                        <m:t>α</m:t>
                      </m:r>
                    </m:e>
                    <m:sub>
                      <m:r>
                        <a:rPr sz="2400" lang="en-US">
                          <a:latin typeface="Cambria Math"/>
                        </a:rPr>
                        <m:t>1</m:t>
                      </m:r>
                    </m:sub>
                  </m:sSub>
                  <m:r>
                    <a:rPr sz="2400" lang="en-US">
                      <a:latin typeface="Cambria Math"/>
                    </a:rPr>
                    <m:t> + C cos Δ </m:t>
                  </m:r>
                  <m:sSub>
                    <m:e>
                      <m:r>
                        <a:rPr sz="2400" lang="en-US">
                          <a:latin typeface="Cambria Math"/>
                        </a:rPr>
                        <m:t>α</m:t>
                      </m:r>
                    </m:e>
                    <m:sub>
                      <m:r>
                        <a:rPr sz="2400" lang="en-US">
                          <a:latin typeface="Cambria Math"/>
                        </a:rPr>
                        <m:t>2</m:t>
                      </m:r>
                    </m:sub>
                  </m:sSub>
                  <m:r>
                    <a:rPr sz="2400" lang="en-US">
                      <a:latin typeface="Cambria Math"/>
                    </a:rPr>
                    <m:t> = −C sin Δ </m:t>
                  </m:r>
                  <m:sSup>
                    <m:e>
                      <m:sSub>
                        <m:e>
                          <m:r>
                            <a:rPr sz="2400" lang="en-US">
                              <a:latin typeface="Cambria Math"/>
                            </a:rPr>
                            <m:t>ω</m:t>
                          </m:r>
                        </m:e>
                        <m:sub>
                          <m:r>
                            <a:rPr sz="2400" lang="en-US">
                              <a:latin typeface="Cambria Math"/>
                            </a:rPr>
                            <m:t>2</m:t>
                          </m:r>
                        </m:sub>
                      </m:sSub>
                    </m:e>
                    <m:sup>
                      <m:r>
                        <a:rPr sz="2400" lang="en-US">
                          <a:latin typeface="Cambria Math"/>
                        </a:rPr>
                        <m:t>2</m:t>
                      </m:r>
                    </m:sup>
                  </m:sSup>
                  <m:r>
                    <a:rPr sz="2400" lang="en-US">
                      <a:latin typeface="Cambria Math"/>
                    </a:rPr>
                    <m:t> − </m:t>
                  </m:r>
                  <m:sSub>
                    <m:e>
                      <m:r>
                        <a:rPr sz="2400" lang="en-US">
                          <a:latin typeface="Cambria Math"/>
                        </a:rPr>
                        <m:t>G</m:t>
                      </m:r>
                    </m:e>
                    <m:sub>
                      <m:r>
                        <a:rPr sz="2400" lang="en-US">
                          <a:latin typeface="Cambria Math"/>
                        </a:rPr>
                        <m:t>1</m:t>
                      </m:r>
                    </m:sub>
                  </m:sSub>
                  <m:r>
                    <a:rPr sz="2400" lang="en-US">
                      <a:latin typeface="Cambria Math"/>
                    </a:rPr>
                    <m:t> sin </m:t>
                  </m:r>
                  <m:sSub>
                    <m:e>
                      <m:r>
                        <a:rPr sz="2400" lang="en-US">
                          <a:latin typeface="Cambria Math"/>
                        </a:rPr>
                        <m:t>θ</m:t>
                      </m:r>
                    </m:e>
                    <m:sub>
                      <m:r>
                        <a:rPr sz="2400" lang="en-US">
                          <a:latin typeface="Cambria Math"/>
                        </a:rPr>
                        <m:t>1</m:t>
                      </m:r>
                    </m:sub>
                  </m:sSub>
                </m:oMath>
              </m:oMathPara>
            </a14:m>
            <a:endParaRPr lang="en-US" sz="2400"/>
          </a:p>
        </p:txBody>
      </p:sp>
      <p:sp>
        <p:nvSpPr>
          <p:cNvPr id="4" name="EQ_eom2">
            <a:extLst xmlns:a="http://schemas.openxmlformats.org/drawingml/2006/main">
              <a:ext uri="{FF2B5EF4-FFF2-40B4-BE49-F238E27FC236}">
                <a16:creationId xmlns:a16="http://schemas.microsoft.com/office/drawing/2014/main" id="{E2F6321A-C619-4DF3-9C36-B8BFBF0195FE}"/>
              </a:ext>
            </a:extLst>
          </p:cNvPr>
          <p:cNvSpPr>
            <a:spLocks xmlns:a="http://schemas.openxmlformats.org/drawingml/2006/main" noGrp="1"/>
          </p:cNvSpPr>
          <p:nvPr/>
        </p:nvSpPr>
        <p:spPr>
          <a:xfrm xmlns:a="http://schemas.openxmlformats.org/drawingml/2006/main">
            <a:off x="666750" y="24479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C cos Δ </m:t>
                  </m:r>
                  <m:sSub>
                    <m:e>
                      <m:r>
                        <a:rPr sz="2400" lang="en-US">
                          <a:latin typeface="Cambria Math"/>
                        </a:rPr>
                        <m:t>α</m:t>
                      </m:r>
                    </m:e>
                    <m:sub>
                      <m:r>
                        <a:rPr sz="2400" lang="en-US">
                          <a:latin typeface="Cambria Math"/>
                        </a:rPr>
                        <m:t>1</m:t>
                      </m:r>
                    </m:sub>
                  </m:sSub>
                  <m:r>
                    <a:rPr sz="2400" lang="en-US">
                      <a:latin typeface="Cambria Math"/>
                    </a:rPr>
                    <m:t> + </m:t>
                  </m:r>
                  <m:sSub>
                    <m:e>
                      <m:r>
                        <a:rPr sz="2400" lang="en-US">
                          <a:latin typeface="Cambria Math"/>
                        </a:rPr>
                        <m:t>I</m:t>
                      </m:r>
                    </m:e>
                    <m:sub>
                      <m:r>
                        <a:rPr sz="2400" lang="en-US">
                          <a:latin typeface="Cambria Math"/>
                        </a:rPr>
                        <m:t>22</m:t>
                      </m:r>
                    </m:sub>
                  </m:sSub>
                  <m:sSub>
                    <m:e>
                      <m:r>
                        <a:rPr sz="2400" lang="en-US">
                          <a:latin typeface="Cambria Math"/>
                        </a:rPr>
                        <m:t>α</m:t>
                      </m:r>
                    </m:e>
                    <m:sub>
                      <m:r>
                        <a:rPr sz="2400" lang="en-US">
                          <a:latin typeface="Cambria Math"/>
                        </a:rPr>
                        <m:t>2</m:t>
                      </m:r>
                    </m:sub>
                  </m:sSub>
                  <m:r>
                    <a:rPr sz="2400" lang="en-US">
                      <a:latin typeface="Cambria Math"/>
                    </a:rPr>
                    <m:t> = C sin Δ </m:t>
                  </m:r>
                  <m:sSup>
                    <m:e>
                      <m:sSub>
                        <m:e>
                          <m:r>
                            <a:rPr sz="2400" lang="en-US">
                              <a:latin typeface="Cambria Math"/>
                            </a:rPr>
                            <m:t>ω</m:t>
                          </m:r>
                        </m:e>
                        <m:sub>
                          <m:r>
                            <a:rPr sz="2400" lang="en-US">
                              <a:latin typeface="Cambria Math"/>
                            </a:rPr>
                            <m:t>1</m:t>
                          </m:r>
                        </m:sub>
                      </m:sSub>
                    </m:e>
                    <m:sup>
                      <m:r>
                        <a:rPr sz="2400" lang="en-US">
                          <a:latin typeface="Cambria Math"/>
                        </a:rPr>
                        <m:t>2</m:t>
                      </m:r>
                    </m:sup>
                  </m:sSup>
                  <m:r>
                    <a:rPr sz="2400" lang="en-US">
                      <a:latin typeface="Cambria Math"/>
                    </a:rPr>
                    <m:t> − </m:t>
                  </m:r>
                  <m:sSub>
                    <m:e>
                      <m:r>
                        <a:rPr sz="2400" lang="en-US">
                          <a:latin typeface="Cambria Math"/>
                        </a:rPr>
                        <m:t>G</m:t>
                      </m:r>
                    </m:e>
                    <m:sub>
                      <m:r>
                        <a:rPr sz="2400" lang="en-US">
                          <a:latin typeface="Cambria Math"/>
                        </a:rPr>
                        <m:t>2</m:t>
                      </m:r>
                    </m:sub>
                  </m:sSub>
                  <m:r>
                    <a:rPr sz="2400" lang="en-US">
                      <a:latin typeface="Cambria Math"/>
                    </a:rPr>
                    <m:t> sin </m:t>
                  </m:r>
                  <m:sSub>
                    <m:e>
                      <m:r>
                        <a:rPr sz="2400" lang="en-US">
                          <a:latin typeface="Cambria Math"/>
                        </a:rPr>
                        <m:t>θ</m:t>
                      </m:r>
                    </m:e>
                    <m:sub>
                      <m:r>
                        <a:rPr sz="2400" lang="en-US">
                          <a:latin typeface="Cambria Math"/>
                        </a:rPr>
                        <m:t>2</m:t>
                      </m:r>
                    </m:sub>
                  </m:sSub>
                </m:oMath>
              </m:oMathPara>
            </a14:m>
            <a:endParaRPr lang="en-US" sz="2400"/>
          </a:p>
        </p:txBody>
      </p:sp>
      <p:sp>
        <p:nvSpPr>
          <p:cNvPr id="5" name="body0">
            <a:extLst xmlns:a="http://schemas.openxmlformats.org/drawingml/2006/main">
              <a:ext uri="{FF2B5EF4-FFF2-40B4-BE49-F238E27FC236}">
                <a16:creationId xmlns:a16="http://schemas.microsoft.com/office/drawing/2014/main" id="{C066040C-A7EA-4FDF-9D6F-B19DDE04ED17}"/>
              </a:ext>
            </a:extLst>
          </p:cNvPr>
          <p:cNvSpPr>
            <a:spLocks xmlns:a="http://schemas.openxmlformats.org/drawingml/2006/main" noGrp="1"/>
          </p:cNvSpPr>
          <p:nvPr/>
        </p:nvSpPr>
        <p:spPr>
          <a:xfrm xmlns:a="http://schemas.openxmlformats.org/drawingml/2006/main">
            <a:off x="666750" y="322897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same I₁₁, I₂₂, C, G₁ and G₂ from the energy expressions appear here.</a:t>
            </a:r>
          </a:p>
        </p:txBody>
      </p:sp>
      <p:sp>
        <p:nvSpPr>
          <p:cNvPr id="6" name="body1">
            <a:extLst xmlns:a="http://schemas.openxmlformats.org/drawingml/2006/main">
              <a:ext uri="{FF2B5EF4-FFF2-40B4-BE49-F238E27FC236}">
                <a16:creationId xmlns:a16="http://schemas.microsoft.com/office/drawing/2014/main" id="{863B6378-4213-4BAF-A434-7BB6412E0B6B}"/>
              </a:ext>
            </a:extLst>
          </p:cNvPr>
          <p:cNvSpPr>
            <a:spLocks xmlns:a="http://schemas.openxmlformats.org/drawingml/2006/main" noGrp="1"/>
          </p:cNvSpPr>
          <p:nvPr/>
        </p:nvSpPr>
        <p:spPr>
          <a:xfrm xmlns:a="http://schemas.openxmlformats.org/drawingml/2006/main">
            <a:off x="666750" y="4248150"/>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terms containing sin Δ and squared angular speed arise because the geometry changes during motion.</a:t>
            </a:r>
          </a:p>
        </p:txBody>
      </p:sp>
      <p:sp>
        <p:nvSpPr>
          <p:cNvPr id="7" name="body2">
            <a:extLst xmlns:a="http://schemas.openxmlformats.org/drawingml/2006/main">
              <a:ext uri="{FF2B5EF4-FFF2-40B4-BE49-F238E27FC236}">
                <a16:creationId xmlns:a16="http://schemas.microsoft.com/office/drawing/2014/main" id="{A6F5AD07-A1CE-43B0-849E-E05F80DBA2B4}"/>
              </a:ext>
            </a:extLst>
          </p:cNvPr>
          <p:cNvSpPr>
            <a:spLocks xmlns:a="http://schemas.openxmlformats.org/drawingml/2006/main" noGrp="1"/>
          </p:cNvSpPr>
          <p:nvPr/>
        </p:nvSpPr>
        <p:spPr>
          <a:xfrm xmlns:a="http://schemas.openxmlformats.org/drawingml/2006/main">
            <a:off x="666750" y="526732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Both angular accelerations must be solved together at each time step.</a:t>
            </a:r>
          </a:p>
        </p:txBody>
      </p:sp>
      <p:sp>
        <p:nvSpPr>
          <p:cNvPr id="8" name="page">
            <a:extLst xmlns:a="http://schemas.openxmlformats.org/drawingml/2006/main">
              <a:ext uri="{FF2B5EF4-FFF2-40B4-BE49-F238E27FC236}">
                <a16:creationId xmlns:a16="http://schemas.microsoft.com/office/drawing/2014/main" id="{A47D3F7B-EA69-4731-9EA7-F5609ECC5599}"/>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17</a:t>
            </a:r>
          </a:p>
        </p:txBody>
      </p:sp>
    </p:spTree>
    <p:extLst>
      <p:ext uri="{BB962C8B-B14F-4D97-AF65-F5344CB8AC3E}">
        <p14:creationId xmlns:p14="http://schemas.microsoft.com/office/powerpoint/2010/main" val="91667090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CFF157EB-9F9C-406C-B692-4870EEEABC5B}"/>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71A7A398-8350-4C57-B831-4CE94FB1D066}"/>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What the simulation code actually does</a:t>
            </a:r>
          </a:p>
        </p:txBody>
      </p:sp>
      <p:sp>
        <p:nvSpPr>
          <p:cNvPr id="3" name="EQ_state">
            <a:extLst xmlns:a="http://schemas.openxmlformats.org/drawingml/2006/main">
              <a:ext uri="{FF2B5EF4-FFF2-40B4-BE49-F238E27FC236}">
                <a16:creationId xmlns:a16="http://schemas.microsoft.com/office/drawing/2014/main" id="{81A1C393-890B-4C82-93DF-803F8CF0FDE3}"/>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r>
                    <a:rPr sz="2400" lang="en-US">
                      <a:latin typeface="Cambria Math"/>
                    </a:rPr>
                    <m:t>q = (</m:t>
                  </m:r>
                  <m:sSub>
                    <m:e>
                      <m:r>
                        <a:rPr sz="2400" lang="en-US">
                          <a:latin typeface="Cambria Math"/>
                        </a:rPr>
                        <m:t>θ</m:t>
                      </m:r>
                    </m:e>
                    <m:sub>
                      <m:r>
                        <a:rPr sz="2400" lang="en-US">
                          <a:latin typeface="Cambria Math"/>
                        </a:rPr>
                        <m:t>1</m:t>
                      </m:r>
                    </m:sub>
                  </m:sSub>
                  <m:r>
                    <a:rPr sz="2400" lang="en-US">
                      <a:latin typeface="Cambria Math"/>
                    </a:rPr>
                    <m:t>, </m:t>
                  </m:r>
                  <m:sSub>
                    <m:e>
                      <m:r>
                        <a:rPr sz="2400" lang="en-US">
                          <a:latin typeface="Cambria Math"/>
                        </a:rPr>
                        <m:t>θ</m:t>
                      </m:r>
                    </m:e>
                    <m:sub>
                      <m:r>
                        <a:rPr sz="2400" lang="en-US">
                          <a:latin typeface="Cambria Math"/>
                        </a:rPr>
                        <m:t>2</m:t>
                      </m:r>
                    </m:sub>
                  </m:sSub>
                  <m:r>
                    <a:rPr sz="2400" lang="en-US">
                      <a:latin typeface="Cambria Math"/>
                    </a:rPr>
                    <m:t>)</m:t>
                  </m:r>
                  <m:r>
                    <a:rPr sz="2400" lang="en-US">
                      <a:latin typeface="Cambria Math"/>
                    </a:rPr>
                    <m:t>ᵀ</m:t>
                  </m:r>
                  <m:r>
                    <a:rPr sz="2400" lang="en-US">
                      <a:latin typeface="Cambria Math"/>
                    </a:rPr>
                    <m:t>      </m:t>
                  </m:r>
                  <m:sSub>
                    <m:e>
                      <m:r>
                        <a:rPr sz="2400" lang="en-US">
                          <a:latin typeface="Cambria Math"/>
                        </a:rPr>
                        <m:t>α</m:t>
                      </m:r>
                    </m:e>
                    <m:sub>
                      <m:r>
                        <a:rPr sz="2400" lang="en-US">
                          <a:latin typeface="Cambria Math"/>
                        </a:rPr>
                        <m:t>i</m:t>
                      </m:r>
                    </m:sub>
                  </m:sSub>
                  <m:r>
                    <a:rPr sz="2400" lang="en-US">
                      <a:latin typeface="Cambria Math"/>
                    </a:rPr>
                    <m:t> = </m:t>
                  </m:r>
                  <m:f>
                    <m:num>
                      <m:r>
                        <a:rPr sz="2400" lang="en-US">
                          <a:latin typeface="Cambria Math"/>
                        </a:rPr>
                        <m:t>d</m:t>
                      </m:r>
                      <m:sSub>
                        <m:e>
                          <m:r>
                            <a:rPr sz="2400" lang="en-US">
                              <a:latin typeface="Cambria Math"/>
                            </a:rPr>
                            <m:t>ω</m:t>
                          </m:r>
                        </m:e>
                        <m:sub>
                          <m:r>
                            <a:rPr sz="2400" lang="en-US">
                              <a:latin typeface="Cambria Math"/>
                            </a:rPr>
                            <m:t>i</m:t>
                          </m:r>
                        </m:sub>
                      </m:sSub>
                    </m:num>
                    <m:den>
                      <m:r>
                        <a:rPr sz="2400" lang="en-US">
                          <a:latin typeface="Cambria Math"/>
                        </a:rPr>
                        <m:t>dt</m:t>
                      </m:r>
                    </m:den>
                  </m:f>
                </m:oMath>
              </m:oMathPara>
            </a14:m>
            <a:endParaRPr lang="en-US" sz="2400"/>
          </a:p>
        </p:txBody>
      </p:sp>
      <p:sp>
        <p:nvSpPr>
          <p:cNvPr id="4" name="body0">
            <a:extLst xmlns:a="http://schemas.openxmlformats.org/drawingml/2006/main">
              <a:ext uri="{FF2B5EF4-FFF2-40B4-BE49-F238E27FC236}">
                <a16:creationId xmlns:a16="http://schemas.microsoft.com/office/drawing/2014/main" id="{A7F1301F-2F73-4F52-B677-4782092A0D4B}"/>
              </a:ext>
            </a:extLst>
          </p:cNvPr>
          <p:cNvSpPr>
            <a:spLocks xmlns:a="http://schemas.openxmlformats.org/drawingml/2006/main" noGrp="1"/>
          </p:cNvSpPr>
          <p:nvPr/>
        </p:nvSpPr>
        <p:spPr>
          <a:xfrm xmlns:a="http://schemas.openxmlformats.org/drawingml/2006/main">
            <a:off x="666750" y="2447925"/>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Input: measured masses, lengths, two starting angles and two starting angular speeds.</a:t>
            </a:r>
          </a:p>
        </p:txBody>
      </p:sp>
      <p:sp>
        <p:nvSpPr>
          <p:cNvPr id="5" name="body1">
            <a:extLst xmlns:a="http://schemas.openxmlformats.org/drawingml/2006/main">
              <a:ext uri="{FF2B5EF4-FFF2-40B4-BE49-F238E27FC236}">
                <a16:creationId xmlns:a16="http://schemas.microsoft.com/office/drawing/2014/main" id="{CB0F9779-C156-426A-98B6-5D9031D6C5C8}"/>
              </a:ext>
            </a:extLst>
          </p:cNvPr>
          <p:cNvSpPr>
            <a:spLocks xmlns:a="http://schemas.openxmlformats.org/drawingml/2006/main" noGrp="1"/>
          </p:cNvSpPr>
          <p:nvPr/>
        </p:nvSpPr>
        <p:spPr>
          <a:xfrm xmlns:a="http://schemas.openxmlformats.org/drawingml/2006/main">
            <a:off x="666750" y="3407569"/>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 the current angles and speeds, calculate the two right-hand sides and the 2×2 inertia matrix.</a:t>
            </a:r>
          </a:p>
        </p:txBody>
      </p:sp>
      <p:sp>
        <p:nvSpPr>
          <p:cNvPr id="6" name="body2">
            <a:extLst xmlns:a="http://schemas.openxmlformats.org/drawingml/2006/main">
              <a:ext uri="{FF2B5EF4-FFF2-40B4-BE49-F238E27FC236}">
                <a16:creationId xmlns:a16="http://schemas.microsoft.com/office/drawing/2014/main" id="{6E259D48-664A-498C-82C3-042B2CF2838B}"/>
              </a:ext>
            </a:extLst>
          </p:cNvPr>
          <p:cNvSpPr>
            <a:spLocks xmlns:a="http://schemas.openxmlformats.org/drawingml/2006/main" noGrp="1"/>
          </p:cNvSpPr>
          <p:nvPr/>
        </p:nvSpPr>
        <p:spPr>
          <a:xfrm xmlns:a="http://schemas.openxmlformats.org/drawingml/2006/main">
            <a:off x="666750" y="4367213"/>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Solve that small linear system for α₁ and α₂, then advance the angles and speeds.</a:t>
            </a:r>
          </a:p>
        </p:txBody>
      </p:sp>
      <p:sp>
        <p:nvSpPr>
          <p:cNvPr id="7" name="body3">
            <a:extLst xmlns:a="http://schemas.openxmlformats.org/drawingml/2006/main">
              <a:ext uri="{FF2B5EF4-FFF2-40B4-BE49-F238E27FC236}">
                <a16:creationId xmlns:a16="http://schemas.microsoft.com/office/drawing/2014/main" id="{0702A37D-45AE-4F56-8562-70DAD287C90F}"/>
              </a:ext>
            </a:extLst>
          </p:cNvPr>
          <p:cNvSpPr>
            <a:spLocks xmlns:a="http://schemas.openxmlformats.org/drawingml/2006/main" noGrp="1"/>
          </p:cNvSpPr>
          <p:nvPr/>
        </p:nvSpPr>
        <p:spPr>
          <a:xfrm xmlns:a="http://schemas.openxmlformats.org/drawingml/2006/main">
            <a:off x="666750" y="5326856"/>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Students run the supplied solver. A small change in time step should not change the physical conclusion.</a:t>
            </a:r>
          </a:p>
        </p:txBody>
      </p:sp>
      <p:sp>
        <p:nvSpPr>
          <p:cNvPr id="8" name="page">
            <a:extLst xmlns:a="http://schemas.openxmlformats.org/drawingml/2006/main">
              <a:ext uri="{FF2B5EF4-FFF2-40B4-BE49-F238E27FC236}">
                <a16:creationId xmlns:a16="http://schemas.microsoft.com/office/drawing/2014/main" id="{951282A7-E3F9-40F8-A692-AD4DFBD16EFE}"/>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18</a:t>
            </a:r>
          </a:p>
        </p:txBody>
      </p:sp>
    </p:spTree>
    <p:extLst>
      <p:ext uri="{BB962C8B-B14F-4D97-AF65-F5344CB8AC3E}">
        <p14:creationId xmlns:p14="http://schemas.microsoft.com/office/powerpoint/2010/main" val="145391607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5C594850-A807-4C2C-98C6-14B422CF838B}"/>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01723F82-A717-4882-A740-C754311A0863}"/>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Small motion and normal modes</a:t>
            </a:r>
          </a:p>
        </p:txBody>
      </p:sp>
      <p:sp>
        <p:nvSpPr>
          <p:cNvPr id="3" name="EQ_linear">
            <a:extLst xmlns:a="http://schemas.openxmlformats.org/drawingml/2006/main">
              <a:ext uri="{FF2B5EF4-FFF2-40B4-BE49-F238E27FC236}">
                <a16:creationId xmlns:a16="http://schemas.microsoft.com/office/drawing/2014/main" id="{8CD8EAF1-AD90-487C-929A-09DD9629A50A}"/>
              </a:ext>
            </a:extLst>
          </p:cNvPr>
          <p:cNvSpPr>
            <a:spLocks xmlns:a="http://schemas.openxmlformats.org/drawingml/2006/main" noGrp="1"/>
          </p:cNvSpPr>
          <p:nvPr/>
        </p:nvSpPr>
        <p:spPr>
          <a:xfrm xmlns:a="http://schemas.openxmlformats.org/drawingml/2006/main">
            <a:off x="666750" y="1666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sSub>
                        <m:e>
                          <m:r>
                            <a:rPr sz="2400" lang="en-US">
                              <a:latin typeface="Cambria Math"/>
                            </a:rPr>
                            <m:t>M</m:t>
                          </m:r>
                        </m:e>
                        <m:sub>
                          <m:r>
                            <a:rPr sz="2400" lang="en-US">
                              <a:latin typeface="Cambria Math"/>
                            </a:rPr>
                            <m:t>0</m:t>
                          </m:r>
                        </m:sub>
                      </m:sSub>
                      <m:acc>
                        <m:accPr>
                          <m:chr m:val="̈"/>
                        </m:accPr>
                        <m:e>
                          <m:r>
                            <a:rPr sz="2400" lang="en-US">
                              <a:latin typeface="Cambria Math"/>
                            </a:rPr>
                            <m:t>q</m:t>
                          </m:r>
                        </m:e>
                      </m:acc>
                      <m:r>
                        <a:rPr sz="2400" lang="en-US">
                          <a:latin typeface="Cambria Math"/>
                        </a:rPr>
                        <m:t> + Kq = 0</m:t>
                      </m:r>
                    </m:e>
                    <m:e>
                      <m:sSub>
                        <m:e>
                          <m:r>
                            <a:rPr sz="2400" lang="en-US">
                              <a:latin typeface="Cambria Math"/>
                            </a:rPr>
                            <m:t>M</m:t>
                          </m:r>
                        </m:e>
                        <m:sub>
                          <m:r>
                            <a:rPr sz="2400" lang="en-US">
                              <a:latin typeface="Cambria Math"/>
                            </a:rPr>
                            <m:t>0</m:t>
                          </m:r>
                        </m:sub>
                      </m:sSub>
                      <m:r>
                        <a:rPr sz="2400" lang="en-US">
                          <a:latin typeface="Cambria Math"/>
                        </a:rPr>
                        <m:t> = [</m:t>
                      </m:r>
                      <m:sSub>
                        <m:e>
                          <m:r>
                            <a:rPr sz="2400" lang="en-US">
                              <a:latin typeface="Cambria Math"/>
                            </a:rPr>
                            <m:t>I</m:t>
                          </m:r>
                        </m:e>
                        <m:sub>
                          <m:r>
                            <a:rPr sz="2400" lang="en-US">
                              <a:latin typeface="Cambria Math"/>
                            </a:rPr>
                            <m:t>11</m:t>
                          </m:r>
                        </m:sub>
                      </m:sSub>
                      <m:r>
                        <a:rPr sz="2400" lang="en-US">
                          <a:latin typeface="Cambria Math"/>
                        </a:rPr>
                        <m:t>, C; C, </m:t>
                      </m:r>
                      <m:sSub>
                        <m:e>
                          <m:r>
                            <a:rPr sz="2400" lang="en-US">
                              <a:latin typeface="Cambria Math"/>
                            </a:rPr>
                            <m:t>I</m:t>
                          </m:r>
                        </m:e>
                        <m:sub>
                          <m:r>
                            <a:rPr sz="2400" lang="en-US">
                              <a:latin typeface="Cambria Math"/>
                            </a:rPr>
                            <m:t>22</m:t>
                          </m:r>
                        </m:sub>
                      </m:sSub>
                      <m:r>
                        <a:rPr sz="2400" lang="en-US">
                          <a:latin typeface="Cambria Math"/>
                        </a:rPr>
                        <m:t>]     K = diag(</m:t>
                      </m:r>
                      <m:sSub>
                        <m:e>
                          <m:r>
                            <a:rPr sz="2400" lang="en-US">
                              <a:latin typeface="Cambria Math"/>
                            </a:rPr>
                            <m:t>G</m:t>
                          </m:r>
                        </m:e>
                        <m:sub>
                          <m:r>
                            <a:rPr sz="2400" lang="en-US">
                              <a:latin typeface="Cambria Math"/>
                            </a:rPr>
                            <m:t>1</m:t>
                          </m:r>
                        </m:sub>
                      </m:sSub>
                      <m:r>
                        <a:rPr sz="2400" lang="en-US">
                          <a:latin typeface="Cambria Math"/>
                        </a:rPr>
                        <m:t>, </m:t>
                      </m:r>
                      <m:sSub>
                        <m:e>
                          <m:r>
                            <a:rPr sz="2400" lang="en-US">
                              <a:latin typeface="Cambria Math"/>
                            </a:rPr>
                            <m:t>G</m:t>
                          </m:r>
                        </m:e>
                        <m:sub>
                          <m:r>
                            <a:rPr sz="2400" lang="en-US">
                              <a:latin typeface="Cambria Math"/>
                            </a:rPr>
                            <m:t>2</m:t>
                          </m:r>
                        </m:sub>
                      </m:sSub>
                      <m:r>
                        <a:rPr sz="2400" lang="en-US">
                          <a:latin typeface="Cambria Math"/>
                        </a:rPr>
                        <m:t>)</m:t>
                      </m:r>
                    </m:e>
                  </m:eqArr>
                </m:oMath>
              </m:oMathPara>
            </a14:m>
            <a:endParaRPr lang="en-US" sz="2400"/>
          </a:p>
        </p:txBody>
      </p:sp>
      <p:sp>
        <p:nvSpPr>
          <p:cNvPr id="4" name="body0">
            <a:extLst xmlns:a="http://schemas.openxmlformats.org/drawingml/2006/main">
              <a:ext uri="{FF2B5EF4-FFF2-40B4-BE49-F238E27FC236}">
                <a16:creationId xmlns:a16="http://schemas.microsoft.com/office/drawing/2014/main" id="{EA50DB38-BB74-4369-8A09-2F6458DFB2C3}"/>
              </a:ext>
            </a:extLst>
          </p:cNvPr>
          <p:cNvSpPr>
            <a:spLocks xmlns:a="http://schemas.openxmlformats.org/drawingml/2006/main" noGrp="1"/>
          </p:cNvSpPr>
          <p:nvPr/>
        </p:nvSpPr>
        <p:spPr>
          <a:xfrm xmlns:a="http://schemas.openxmlformats.org/drawingml/2006/main">
            <a:off x="666750" y="2657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angles close to zero, sin θ ≈ θ and cos Δ ≈ 1. Products of small quantities drop out.</a:t>
            </a:r>
          </a:p>
        </p:txBody>
      </p:sp>
      <p:sp>
        <p:nvSpPr>
          <p:cNvPr id="5" name="body1">
            <a:extLst xmlns:a="http://schemas.openxmlformats.org/drawingml/2006/main">
              <a:ext uri="{FF2B5EF4-FFF2-40B4-BE49-F238E27FC236}">
                <a16:creationId xmlns:a16="http://schemas.microsoft.com/office/drawing/2014/main" id="{9E82D811-3C79-4E5F-89DF-16E34194CBF4}"/>
              </a:ext>
            </a:extLst>
          </p:cNvPr>
          <p:cNvSpPr>
            <a:spLocks xmlns:a="http://schemas.openxmlformats.org/drawingml/2006/main" noGrp="1"/>
          </p:cNvSpPr>
          <p:nvPr/>
        </p:nvSpPr>
        <p:spPr>
          <a:xfrm xmlns:a="http://schemas.openxmlformats.org/drawingml/2006/main">
            <a:off x="666750" y="3724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linear model has two normal modes: one largely moves the links together and the other largely moves them oppositely.</a:t>
            </a:r>
          </a:p>
        </p:txBody>
      </p:sp>
      <p:sp>
        <p:nvSpPr>
          <p:cNvPr id="6" name="body2">
            <a:extLst xmlns:a="http://schemas.openxmlformats.org/drawingml/2006/main">
              <a:ext uri="{FF2B5EF4-FFF2-40B4-BE49-F238E27FC236}">
                <a16:creationId xmlns:a16="http://schemas.microsoft.com/office/drawing/2014/main" id="{D66C02C3-8EB2-4A6E-9091-DC96659579AC}"/>
              </a:ext>
            </a:extLst>
          </p:cNvPr>
          <p:cNvSpPr>
            <a:spLocks xmlns:a="http://schemas.openxmlformats.org/drawingml/2006/main" noGrp="1"/>
          </p:cNvSpPr>
          <p:nvPr/>
        </p:nvSpPr>
        <p:spPr>
          <a:xfrm xmlns:a="http://schemas.openxmlformats.org/drawingml/2006/main">
            <a:off x="666750" y="47910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general small release can contain both modes. The angle trace can therefore contain two frequencies.</a:t>
            </a:r>
          </a:p>
        </p:txBody>
      </p:sp>
      <p:sp>
        <p:nvSpPr>
          <p:cNvPr id="7" name="page">
            <a:extLst xmlns:a="http://schemas.openxmlformats.org/drawingml/2006/main">
              <a:ext uri="{FF2B5EF4-FFF2-40B4-BE49-F238E27FC236}">
                <a16:creationId xmlns:a16="http://schemas.microsoft.com/office/drawing/2014/main" id="{F0BECB82-2327-46E1-97AE-9C31341FD598}"/>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19</a:t>
            </a:r>
          </a:p>
        </p:txBody>
      </p:sp>
    </p:spTree>
    <p:extLst>
      <p:ext uri="{BB962C8B-B14F-4D97-AF65-F5344CB8AC3E}">
        <p14:creationId xmlns:p14="http://schemas.microsoft.com/office/powerpoint/2010/main" val="154943858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F56821D9-1B49-4461-8D3F-E748415CC543}"/>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81C6CCB3-40B0-4DB9-9941-C57C534874A7}"/>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How the two mode frequencies are found</a:t>
            </a:r>
          </a:p>
        </p:txBody>
      </p:sp>
      <p:sp>
        <p:nvSpPr>
          <p:cNvPr id="3" name="EQ_mode">
            <a:extLst xmlns:a="http://schemas.openxmlformats.org/drawingml/2006/main">
              <a:ext uri="{FF2B5EF4-FFF2-40B4-BE49-F238E27FC236}">
                <a16:creationId xmlns:a16="http://schemas.microsoft.com/office/drawing/2014/main" id="{8304627B-21CC-4929-80C4-14C13AF8EB6D}"/>
              </a:ext>
            </a:extLst>
          </p:cNvPr>
          <p:cNvSpPr>
            <a:spLocks xmlns:a="http://schemas.openxmlformats.org/drawingml/2006/main" noGrp="1"/>
          </p:cNvSpPr>
          <p:nvPr/>
        </p:nvSpPr>
        <p:spPr>
          <a:xfrm xmlns:a="http://schemas.openxmlformats.org/drawingml/2006/main">
            <a:off x="666750" y="1666875"/>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eqArr>
                    <m:e>
                      <m:r>
                        <a:rPr sz="2400" lang="en-US">
                          <a:latin typeface="Cambria Math"/>
                        </a:rPr>
                        <m:t>q(t) = a cos(Ωt + φ)</m:t>
                      </m:r>
                    </m:e>
                    <m:e>
                      <m:r>
                        <a:rPr sz="2400" lang="en-US">
                          <a:latin typeface="Cambria Math"/>
                        </a:rPr>
                        <m:t>det(K − </m:t>
                      </m:r>
                      <m:sSup>
                        <m:e>
                          <m:r>
                            <a:rPr sz="2400" lang="en-US">
                              <a:latin typeface="Cambria Math"/>
                            </a:rPr>
                            <m:t>Ω</m:t>
                          </m:r>
                        </m:e>
                        <m:sup>
                          <m:r>
                            <a:rPr sz="2400" lang="en-US">
                              <a:latin typeface="Cambria Math"/>
                            </a:rPr>
                            <m:t>2</m:t>
                          </m:r>
                        </m:sup>
                      </m:sSup>
                      <m:sSub>
                        <m:e>
                          <m:r>
                            <a:rPr sz="2400" lang="en-US">
                              <a:latin typeface="Cambria Math"/>
                            </a:rPr>
                            <m:t>M</m:t>
                          </m:r>
                        </m:e>
                        <m:sub>
                          <m:r>
                            <a:rPr sz="2400" lang="en-US">
                              <a:latin typeface="Cambria Math"/>
                            </a:rPr>
                            <m:t>0</m:t>
                          </m:r>
                        </m:sub>
                      </m:sSub>
                      <m:r>
                        <a:rPr sz="2400" lang="en-US">
                          <a:latin typeface="Cambria Math"/>
                        </a:rPr>
                        <m:t>) = 0      f = </m:t>
                      </m:r>
                      <m:f>
                        <m:num>
                          <m:r>
                            <a:rPr sz="2400" lang="en-US">
                              <a:latin typeface="Cambria Math"/>
                            </a:rPr>
                            <m:t>Ω</m:t>
                          </m:r>
                        </m:num>
                        <m:den>
                          <m:r>
                            <a:rPr sz="2400" lang="en-US">
                              <a:latin typeface="Cambria Math"/>
                            </a:rPr>
                            <m:t>2π</m:t>
                          </m:r>
                        </m:den>
                      </m:f>
                    </m:e>
                  </m:eqArr>
                </m:oMath>
              </m:oMathPara>
            </a14:m>
            <a:endParaRPr lang="en-US" sz="2400"/>
          </a:p>
        </p:txBody>
      </p:sp>
      <p:sp>
        <p:nvSpPr>
          <p:cNvPr id="4" name="body0">
            <a:extLst xmlns:a="http://schemas.openxmlformats.org/drawingml/2006/main">
              <a:ext uri="{FF2B5EF4-FFF2-40B4-BE49-F238E27FC236}">
                <a16:creationId xmlns:a16="http://schemas.microsoft.com/office/drawing/2014/main" id="{DA66B264-F849-458A-82FD-767DFA6FF168}"/>
              </a:ext>
            </a:extLst>
          </p:cNvPr>
          <p:cNvSpPr>
            <a:spLocks xmlns:a="http://schemas.openxmlformats.org/drawingml/2006/main" noGrp="1"/>
          </p:cNvSpPr>
          <p:nvPr/>
        </p:nvSpPr>
        <p:spPr>
          <a:xfrm xmlns:a="http://schemas.openxmlformats.org/drawingml/2006/main">
            <a:off x="666750" y="28479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Ω is a mode angular frequency [rad/s]. It differs from the instantaneous speed ωᵢ(t).</a:t>
            </a:r>
          </a:p>
        </p:txBody>
      </p:sp>
      <p:sp>
        <p:nvSpPr>
          <p:cNvPr id="5" name="body1">
            <a:extLst xmlns:a="http://schemas.openxmlformats.org/drawingml/2006/main">
              <a:ext uri="{FF2B5EF4-FFF2-40B4-BE49-F238E27FC236}">
                <a16:creationId xmlns:a16="http://schemas.microsoft.com/office/drawing/2014/main" id="{5DE84446-5305-485C-BD39-9302CA5C938F}"/>
              </a:ext>
            </a:extLst>
          </p:cNvPr>
          <p:cNvSpPr>
            <a:spLocks xmlns:a="http://schemas.openxmlformats.org/drawingml/2006/main" noGrp="1"/>
          </p:cNvSpPr>
          <p:nvPr/>
        </p:nvSpPr>
        <p:spPr>
          <a:xfrm xmlns:a="http://schemas.openxmlformats.org/drawingml/2006/main">
            <a:off x="666750" y="39147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Assume a sinusoidal motion with a fixed ratio of the two angle amplitudes.</a:t>
            </a:r>
          </a:p>
        </p:txBody>
      </p:sp>
      <p:sp>
        <p:nvSpPr>
          <p:cNvPr id="6" name="body2">
            <a:extLst xmlns:a="http://schemas.openxmlformats.org/drawingml/2006/main">
              <a:ext uri="{FF2B5EF4-FFF2-40B4-BE49-F238E27FC236}">
                <a16:creationId xmlns:a16="http://schemas.microsoft.com/office/drawing/2014/main" id="{E761B76B-7C30-40FF-ABA9-9405294F84DD}"/>
              </a:ext>
            </a:extLst>
          </p:cNvPr>
          <p:cNvSpPr>
            <a:spLocks xmlns:a="http://schemas.openxmlformats.org/drawingml/2006/main" noGrp="1"/>
          </p:cNvSpPr>
          <p:nvPr/>
        </p:nvSpPr>
        <p:spPr>
          <a:xfrm xmlns:a="http://schemas.openxmlformats.org/drawingml/2006/main">
            <a:off x="666750" y="49815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The determinant condition gives two values of Ω². Divide Ω by 2π to obtain frequency in hertz.</a:t>
            </a:r>
          </a:p>
        </p:txBody>
      </p:sp>
      <p:sp>
        <p:nvSpPr>
          <p:cNvPr id="7" name="page">
            <a:extLst xmlns:a="http://schemas.openxmlformats.org/drawingml/2006/main">
              <a:ext uri="{FF2B5EF4-FFF2-40B4-BE49-F238E27FC236}">
                <a16:creationId xmlns:a16="http://schemas.microsoft.com/office/drawing/2014/main" id="{E2DBDA71-D759-4064-8C8F-0BFF6684CD3E}"/>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20</a:t>
            </a:r>
          </a:p>
        </p:txBody>
      </p:sp>
    </p:spTree>
    <p:extLst>
      <p:ext uri="{BB962C8B-B14F-4D97-AF65-F5344CB8AC3E}">
        <p14:creationId xmlns:p14="http://schemas.microsoft.com/office/powerpoint/2010/main" val="159877213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A40638E3-932E-4697-9D22-BE022EC9E51A}"/>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4B8E48BD-D268-47AD-A06E-EB0E26B111B5}"/>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Large motion and initial conditions</a:t>
            </a:r>
          </a:p>
        </p:txBody>
      </p:sp>
      <p:sp>
        <p:nvSpPr>
          <p:cNvPr id="3" name="body0">
            <a:extLst xmlns:a="http://schemas.openxmlformats.org/drawingml/2006/main">
              <a:ext uri="{FF2B5EF4-FFF2-40B4-BE49-F238E27FC236}">
                <a16:creationId xmlns:a16="http://schemas.microsoft.com/office/drawing/2014/main" id="{7425947B-F502-45FE-A2F2-370F4AA33F7C}"/>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 large angles, the small-angle approximation loses accuracy and the coupling changes throughout the swing.</a:t>
            </a:r>
          </a:p>
        </p:txBody>
      </p:sp>
      <p:sp>
        <p:nvSpPr>
          <p:cNvPr id="4" name="body1">
            <a:extLst xmlns:a="http://schemas.openxmlformats.org/drawingml/2006/main">
              <a:ext uri="{FF2B5EF4-FFF2-40B4-BE49-F238E27FC236}">
                <a16:creationId xmlns:a16="http://schemas.microsoft.com/office/drawing/2014/main" id="{A78F3FEF-DD0E-4FBE-8861-FF265761907A}"/>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Nearby starts can separate over time. Use the same model parameters when comparing them.</a:t>
            </a:r>
          </a:p>
        </p:txBody>
      </p:sp>
      <p:sp>
        <p:nvSpPr>
          <p:cNvPr id="5" name="body2">
            <a:extLst xmlns:a="http://schemas.openxmlformats.org/drawingml/2006/main">
              <a:ext uri="{FF2B5EF4-FFF2-40B4-BE49-F238E27FC236}">
                <a16:creationId xmlns:a16="http://schemas.microsoft.com/office/drawing/2014/main" id="{6C668368-A418-4956-B180-9D9C2A000788}"/>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Release without a push and record both actual initial angles.</a:t>
            </a:r>
          </a:p>
        </p:txBody>
      </p:sp>
      <p:sp>
        <p:nvSpPr>
          <p:cNvPr id="6" name="body3">
            <a:extLst xmlns:a="http://schemas.openxmlformats.org/drawingml/2006/main">
              <a:ext uri="{FF2B5EF4-FFF2-40B4-BE49-F238E27FC236}">
                <a16:creationId xmlns:a16="http://schemas.microsoft.com/office/drawing/2014/main" id="{DA370E66-EC90-4303-A2AC-285D58B496D5}"/>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short complicated trace can show sensitivity, but appearance alone does not prove mathematical chaos.</a:t>
            </a:r>
          </a:p>
        </p:txBody>
      </p:sp>
      <p:sp>
        <p:nvSpPr>
          <p:cNvPr id="7" name="page">
            <a:extLst xmlns:a="http://schemas.openxmlformats.org/drawingml/2006/main">
              <a:ext uri="{FF2B5EF4-FFF2-40B4-BE49-F238E27FC236}">
                <a16:creationId xmlns:a16="http://schemas.microsoft.com/office/drawing/2014/main" id="{2885CE7F-06DF-404C-BA9F-E16799610EF0}"/>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21</a:t>
            </a:r>
          </a:p>
        </p:txBody>
      </p:sp>
    </p:spTree>
    <p:extLst>
      <p:ext uri="{BB962C8B-B14F-4D97-AF65-F5344CB8AC3E}">
        <p14:creationId xmlns:p14="http://schemas.microsoft.com/office/powerpoint/2010/main" val="89232446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239A236F-7E56-4024-8DFC-3D667784A403}"/>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A4033893-5764-4865-9BE1-85C17792A3FD}"/>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four laboratory trials</a:t>
            </a:r>
          </a:p>
        </p:txBody>
      </p:sp>
      <p:sp>
        <p:nvSpPr>
          <p:cNvPr id="3" name="body0">
            <a:extLst xmlns:a="http://schemas.openxmlformats.org/drawingml/2006/main">
              <a:ext uri="{FF2B5EF4-FFF2-40B4-BE49-F238E27FC236}">
                <a16:creationId xmlns:a16="http://schemas.microsoft.com/office/drawing/2014/main" id="{7E3578EF-C5BE-44B2-8777-80D707347A7C}"/>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Trial A: small nonzero angles, roughly aligned links, released from rest.</a:t>
            </a:r>
          </a:p>
        </p:txBody>
      </p:sp>
      <p:sp>
        <p:nvSpPr>
          <p:cNvPr id="4" name="body1">
            <a:extLst xmlns:a="http://schemas.openxmlformats.org/drawingml/2006/main">
              <a:ext uri="{FF2B5EF4-FFF2-40B4-BE49-F238E27FC236}">
                <a16:creationId xmlns:a16="http://schemas.microsoft.com/office/drawing/2014/main" id="{BB2C627F-8B9E-46D7-BFC6-B2B0B3DE4704}"/>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Trials B–D: at least three larger combinations of initial angles.</a:t>
            </a:r>
          </a:p>
        </p:txBody>
      </p:sp>
      <p:sp>
        <p:nvSpPr>
          <p:cNvPr id="5" name="body2">
            <a:extLst xmlns:a="http://schemas.openxmlformats.org/drawingml/2006/main">
              <a:ext uri="{FF2B5EF4-FFF2-40B4-BE49-F238E27FC236}">
                <a16:creationId xmlns:a16="http://schemas.microsoft.com/office/drawing/2014/main" id="{8B4D1225-B90D-415E-8DFD-B431C96D3C8D}"/>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Include a pair of similar starts so that you can compare sensitivity.</a:t>
            </a:r>
          </a:p>
        </p:txBody>
      </p:sp>
      <p:sp>
        <p:nvSpPr>
          <p:cNvPr id="6" name="body3">
            <a:extLst xmlns:a="http://schemas.openxmlformats.org/drawingml/2006/main">
              <a:ext uri="{FF2B5EF4-FFF2-40B4-BE49-F238E27FC236}">
                <a16:creationId xmlns:a16="http://schemas.microsoft.com/office/drawing/2014/main" id="{342EA6BF-F1A7-41FC-93B4-360A67C23B77}"/>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every trial log both initial angles, masses, lengths, capture frame rate and filenames.</a:t>
            </a:r>
          </a:p>
        </p:txBody>
      </p:sp>
      <p:sp>
        <p:nvSpPr>
          <p:cNvPr id="7" name="page">
            <a:extLst xmlns:a="http://schemas.openxmlformats.org/drawingml/2006/main">
              <a:ext uri="{FF2B5EF4-FFF2-40B4-BE49-F238E27FC236}">
                <a16:creationId xmlns:a16="http://schemas.microsoft.com/office/drawing/2014/main" id="{A35F2013-2826-49AE-8C86-1F0EBCB0C72A}"/>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22</a:t>
            </a:r>
          </a:p>
        </p:txBody>
      </p:sp>
    </p:spTree>
    <p:extLst>
      <p:ext uri="{BB962C8B-B14F-4D97-AF65-F5344CB8AC3E}">
        <p14:creationId xmlns:p14="http://schemas.microsoft.com/office/powerpoint/2010/main" val="79824346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C99BBED8-E572-496A-9167-95F298FD7879}"/>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8CE94EE1-237D-4545-801E-74392ACB42F5}"/>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What the camera records</a:t>
            </a:r>
          </a:p>
        </p:txBody>
      </p:sp>
      <p:sp>
        <p:nvSpPr>
          <p:cNvPr id="3" name="body0">
            <a:extLst xmlns:a="http://schemas.openxmlformats.org/drawingml/2006/main">
              <a:ext uri="{FF2B5EF4-FFF2-40B4-BE49-F238E27FC236}">
                <a16:creationId xmlns:a16="http://schemas.microsoft.com/office/drawing/2014/main" id="{D504445A-8D87-4A37-9C12-A9D7595B5DCB}"/>
              </a:ext>
            </a:extLst>
          </p:cNvPr>
          <p:cNvSpPr>
            <a:spLocks xmlns:a="http://schemas.openxmlformats.org/drawingml/2006/main" noGrp="1"/>
          </p:cNvSpPr>
          <p:nvPr/>
        </p:nvSpPr>
        <p:spPr>
          <a:xfrm xmlns:a="http://schemas.openxmlformats.org/drawingml/2006/main">
            <a:off x="666750" y="16668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The camera records a sequence of images. The analyzer later extracts positions from them.</a:t>
            </a:r>
          </a:p>
        </p:txBody>
      </p:sp>
      <p:sp>
        <p:nvSpPr>
          <p:cNvPr id="4" name="body1">
            <a:extLst xmlns:a="http://schemas.openxmlformats.org/drawingml/2006/main">
              <a:ext uri="{FF2B5EF4-FFF2-40B4-BE49-F238E27FC236}">
                <a16:creationId xmlns:a16="http://schemas.microsoft.com/office/drawing/2014/main" id="{6493441E-389B-4B76-85E8-AEAA80D93AC7}"/>
              </a:ext>
            </a:extLst>
          </p:cNvPr>
          <p:cNvSpPr>
            <a:spLocks xmlns:a="http://schemas.openxmlformats.org/drawingml/2006/main" noGrp="1"/>
          </p:cNvSpPr>
          <p:nvPr/>
        </p:nvSpPr>
        <p:spPr>
          <a:xfrm xmlns:a="http://schemas.openxmlformats.org/drawingml/2006/main">
            <a:off x="666750" y="27908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Use a dark background, bright bobs, sharp focus and enough framing for the whole motion.</a:t>
            </a:r>
          </a:p>
        </p:txBody>
      </p:sp>
      <p:sp>
        <p:nvSpPr>
          <p:cNvPr id="5" name="body2">
            <a:extLst xmlns:a="http://schemas.openxmlformats.org/drawingml/2006/main">
              <a:ext uri="{FF2B5EF4-FFF2-40B4-BE49-F238E27FC236}">
                <a16:creationId xmlns:a16="http://schemas.microsoft.com/office/drawing/2014/main" id="{C1B8E5AD-D453-4A43-AEE2-1E4427A656DD}"/>
              </a:ext>
            </a:extLst>
          </p:cNvPr>
          <p:cNvSpPr>
            <a:spLocks xmlns:a="http://schemas.openxmlformats.org/drawingml/2006/main" noGrp="1"/>
          </p:cNvSpPr>
          <p:nvPr/>
        </p:nvSpPr>
        <p:spPr>
          <a:xfrm xmlns:a="http://schemas.openxmlformats.org/drawingml/2006/main">
            <a:off x="666750" y="39147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The lab setup uses 1280×1024 and nominal 1000 capture frames/s. Record the actual setting.</a:t>
            </a:r>
          </a:p>
        </p:txBody>
      </p:sp>
      <p:sp>
        <p:nvSpPr>
          <p:cNvPr id="6" name="body3">
            <a:extLst xmlns:a="http://schemas.openxmlformats.org/drawingml/2006/main">
              <a:ext uri="{FF2B5EF4-FFF2-40B4-BE49-F238E27FC236}">
                <a16:creationId xmlns:a16="http://schemas.microsoft.com/office/drawing/2014/main" id="{6821310B-11E4-4D07-8AE6-2DC4C49031E7}"/>
              </a:ext>
            </a:extLst>
          </p:cNvPr>
          <p:cNvSpPr>
            <a:spLocks xmlns:a="http://schemas.openxmlformats.org/drawingml/2006/main" noGrp="1"/>
          </p:cNvSpPr>
          <p:nvPr/>
        </p:nvSpPr>
        <p:spPr>
          <a:xfrm xmlns:a="http://schemas.openxmlformats.org/drawingml/2006/main">
            <a:off x="666750" y="50387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Capture frame rate and MP4 playback rate can differ. Enter the capture rate in the analyzer.</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c6945c281ef464b"/>
          <a:stretch xmlns:a="http://schemas.openxmlformats.org/drawingml/2006/main"/>
        </p:blipFill>
        <p:spPr>
          <a:xfrm xmlns:a="http://schemas.openxmlformats.org/drawingml/2006/main">
            <a:off x="6524625" y="1666875"/>
            <a:ext cx="5238750" cy="4191000"/>
          </a:xfrm>
          <a:prstGeom xmlns:a="http://schemas.openxmlformats.org/drawingml/2006/main" prst="rect">
            <a:avLst/>
          </a:prstGeom>
        </p:spPr>
      </p:pic>
      <p:sp>
        <p:nvSpPr>
          <p:cNvPr id="8" name="page">
            <a:extLst xmlns:a="http://schemas.openxmlformats.org/drawingml/2006/main">
              <a:ext uri="{FF2B5EF4-FFF2-40B4-BE49-F238E27FC236}">
                <a16:creationId xmlns:a16="http://schemas.microsoft.com/office/drawing/2014/main" id="{4B3996A7-7E26-41B9-B8EA-845CA153C974}"/>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23</a:t>
            </a:r>
          </a:p>
        </p:txBody>
      </p:sp>
    </p:spTree>
    <p:extLst>
      <p:ext uri="{BB962C8B-B14F-4D97-AF65-F5344CB8AC3E}">
        <p14:creationId xmlns:p14="http://schemas.microsoft.com/office/powerpoint/2010/main" val="194074798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5E0B3785-0745-4EAB-8B55-C1557036C6EE}"/>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E5511F92-1130-420D-AE47-099BC9CAB1D4}"/>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Tracking both bobs</a:t>
            </a:r>
          </a:p>
        </p:txBody>
      </p:sp>
      <p:sp>
        <p:nvSpPr>
          <p:cNvPr id="3" name="body0">
            <a:extLst xmlns:a="http://schemas.openxmlformats.org/drawingml/2006/main">
              <a:ext uri="{FF2B5EF4-FFF2-40B4-BE49-F238E27FC236}">
                <a16:creationId xmlns:a16="http://schemas.microsoft.com/office/drawing/2014/main" id="{6600F8E0-B1C6-497F-9231-279641686BEB}"/>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Select Double Pendulum in Pendulum Motion Analyzer V4.</a:t>
            </a:r>
          </a:p>
        </p:txBody>
      </p:sp>
      <p:sp>
        <p:nvSpPr>
          <p:cNvPr id="4" name="body1">
            <a:extLst xmlns:a="http://schemas.openxmlformats.org/drawingml/2006/main">
              <a:ext uri="{FF2B5EF4-FFF2-40B4-BE49-F238E27FC236}">
                <a16:creationId xmlns:a16="http://schemas.microsoft.com/office/drawing/2014/main" id="{BB59C682-4572-4FF6-AC8E-F446BB5684C4}"/>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Calibrate with a known distance and enter the actual capture frame rate.</a:t>
            </a:r>
          </a:p>
        </p:txBody>
      </p:sp>
      <p:sp>
        <p:nvSpPr>
          <p:cNvPr id="5" name="body2">
            <a:extLst xmlns:a="http://schemas.openxmlformats.org/drawingml/2006/main">
              <a:ext uri="{FF2B5EF4-FFF2-40B4-BE49-F238E27FC236}">
                <a16:creationId xmlns:a16="http://schemas.microsoft.com/office/drawing/2014/main" id="{3297F336-2ED9-444D-BEBA-725BE27361AF}"/>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Mark the fixed pivot and both bob centers. Inspect early, middle and late frames.</a:t>
            </a:r>
          </a:p>
        </p:txBody>
      </p:sp>
      <p:sp>
        <p:nvSpPr>
          <p:cNvPr id="6" name="body3">
            <a:extLst xmlns:a="http://schemas.openxmlformats.org/drawingml/2006/main">
              <a:ext uri="{FF2B5EF4-FFF2-40B4-BE49-F238E27FC236}">
                <a16:creationId xmlns:a16="http://schemas.microsoft.com/office/drawing/2014/main" id="{016088BF-EE73-47A5-A062-3C57C18ECB32}"/>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Use Quick Review to find problems, then Analyze All Frames and save results. Missing positions or a marker stuck on a fixed feature require correction.</a:t>
            </a:r>
          </a:p>
        </p:txBody>
      </p:sp>
      <p:sp>
        <p:nvSpPr>
          <p:cNvPr id="7" name="page">
            <a:extLst xmlns:a="http://schemas.openxmlformats.org/drawingml/2006/main">
              <a:ext uri="{FF2B5EF4-FFF2-40B4-BE49-F238E27FC236}">
                <a16:creationId xmlns:a16="http://schemas.microsoft.com/office/drawing/2014/main" id="{C4E349BD-6D74-4A70-A38C-21178B5EB7C8}"/>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24</a:t>
            </a:r>
          </a:p>
        </p:txBody>
      </p:sp>
    </p:spTree>
    <p:extLst>
      <p:ext uri="{BB962C8B-B14F-4D97-AF65-F5344CB8AC3E}">
        <p14:creationId xmlns:p14="http://schemas.microsoft.com/office/powerpoint/2010/main" val="6578114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CAAAF45A-BA5F-4A33-99C9-424267C90C73}"/>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5E9DD05A-961C-4355-8011-5045A8F50B6F}"/>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coordinates in ExpData</a:t>
            </a:r>
          </a:p>
        </p:txBody>
      </p:sp>
      <p:sp>
        <p:nvSpPr>
          <p:cNvPr id="3" name="body0">
            <a:extLst xmlns:a="http://schemas.openxmlformats.org/drawingml/2006/main">
              <a:ext uri="{FF2B5EF4-FFF2-40B4-BE49-F238E27FC236}">
                <a16:creationId xmlns:a16="http://schemas.microsoft.com/office/drawing/2014/main" id="{BCB80E67-BB3D-4780-9522-C64CBE063256}"/>
              </a:ext>
            </a:extLst>
          </p:cNvPr>
          <p:cNvSpPr>
            <a:spLocks xmlns:a="http://schemas.openxmlformats.org/drawingml/2006/main" noGrp="1"/>
          </p:cNvSpPr>
          <p:nvPr/>
        </p:nvSpPr>
        <p:spPr>
          <a:xfrm xmlns:a="http://schemas.openxmlformats.org/drawingml/2006/main">
            <a:off x="666750" y="16668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Columns: time [s], x₁ [mm], y₁ [mm], x₂ [mm], y₂ [mm].</a:t>
            </a:r>
          </a:p>
        </p:txBody>
      </p:sp>
      <p:sp>
        <p:nvSpPr>
          <p:cNvPr id="4" name="body1">
            <a:extLst xmlns:a="http://schemas.openxmlformats.org/drawingml/2006/main">
              <a:ext uri="{FF2B5EF4-FFF2-40B4-BE49-F238E27FC236}">
                <a16:creationId xmlns:a16="http://schemas.microsoft.com/office/drawing/2014/main" id="{8ECCC28F-8656-4A08-95BD-9BD9489B68EB}"/>
              </a:ext>
            </a:extLst>
          </p:cNvPr>
          <p:cNvSpPr>
            <a:spLocks xmlns:a="http://schemas.openxmlformats.org/drawingml/2006/main" noGrp="1"/>
          </p:cNvSpPr>
          <p:nvPr/>
        </p:nvSpPr>
        <p:spPr>
          <a:xfrm xmlns:a="http://schemas.openxmlformats.org/drawingml/2006/main">
            <a:off x="666750" y="27908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Coordinates are relative to the fixed pivot, with y positive upward.</a:t>
            </a:r>
          </a:p>
        </p:txBody>
      </p:sp>
      <p:sp>
        <p:nvSpPr>
          <p:cNvPr id="5" name="body2">
            <a:extLst xmlns:a="http://schemas.openxmlformats.org/drawingml/2006/main">
              <a:ext uri="{FF2B5EF4-FFF2-40B4-BE49-F238E27FC236}">
                <a16:creationId xmlns:a16="http://schemas.microsoft.com/office/drawing/2014/main" id="{E2545E6B-1F88-4A20-B413-E7809F489550}"/>
              </a:ext>
            </a:extLst>
          </p:cNvPr>
          <p:cNvSpPr>
            <a:spLocks xmlns:a="http://schemas.openxmlformats.org/drawingml/2006/main" noGrp="1"/>
          </p:cNvSpPr>
          <p:nvPr/>
        </p:nvSpPr>
        <p:spPr>
          <a:xfrm xmlns:a="http://schemas.openxmlformats.org/drawingml/2006/main">
            <a:off x="666750" y="391477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The vector from bob 1 to bob 2 is (x₂ − x₁, y₂ − y₁). This vector gives the lower-link direction.</a:t>
            </a:r>
          </a:p>
        </p:txBody>
      </p:sp>
      <p:sp>
        <p:nvSpPr>
          <p:cNvPr id="6" name="body3">
            <a:extLst xmlns:a="http://schemas.openxmlformats.org/drawingml/2006/main">
              <a:ext uri="{FF2B5EF4-FFF2-40B4-BE49-F238E27FC236}">
                <a16:creationId xmlns:a16="http://schemas.microsoft.com/office/drawing/2014/main" id="{82FDFAF4-1A4D-4714-870A-DB8C7F25E24C}"/>
              </a:ext>
            </a:extLst>
          </p:cNvPr>
          <p:cNvSpPr>
            <a:spLocks xmlns:a="http://schemas.openxmlformats.org/drawingml/2006/main" noGrp="1"/>
          </p:cNvSpPr>
          <p:nvPr/>
        </p:nvSpPr>
        <p:spPr>
          <a:xfrm xmlns:a="http://schemas.openxmlformats.org/drawingml/2006/main">
            <a:off x="666750" y="5038725"/>
            <a:ext cx="5429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202D3C"/>
                </a:solidFill>
                <a:latin typeface="Aptos"/>
                <a:ea typeface="Aptos"/>
                <a:cs typeface="Aptos"/>
              </a:defRPr>
            </a:pPr>
            <a:r>
              <a:rPr sz="1875" b="0">
                <a:solidFill>
                  <a:srgbClr val="202D3C"/>
                </a:solidFill>
                <a:latin typeface="Aptos"/>
                <a:ea typeface="Aptos"/>
                <a:cs typeface="Aptos"/>
              </a:rPr>
              <a:t>Inspect the saved MAT file before leaving the lab. Keep the original MP4.</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89b0447d7944f35"/>
          <a:stretch xmlns:a="http://schemas.openxmlformats.org/drawingml/2006/main"/>
        </p:blipFill>
        <p:spPr>
          <a:xfrm xmlns:a="http://schemas.openxmlformats.org/drawingml/2006/main">
            <a:off x="6524625" y="1823548"/>
            <a:ext cx="5238750" cy="3877654"/>
          </a:xfrm>
          <a:prstGeom xmlns:a="http://schemas.openxmlformats.org/drawingml/2006/main" prst="rect">
            <a:avLst/>
          </a:prstGeom>
        </p:spPr>
      </p:pic>
      <p:sp>
        <p:nvSpPr>
          <p:cNvPr id="8" name="page">
            <a:extLst xmlns:a="http://schemas.openxmlformats.org/drawingml/2006/main">
              <a:ext uri="{FF2B5EF4-FFF2-40B4-BE49-F238E27FC236}">
                <a16:creationId xmlns:a16="http://schemas.microsoft.com/office/drawing/2014/main" id="{B36486D7-DD04-4BEC-8151-0AA25A97F525}"/>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25</a:t>
            </a:r>
          </a:p>
        </p:txBody>
      </p:sp>
    </p:spTree>
    <p:extLst>
      <p:ext uri="{BB962C8B-B14F-4D97-AF65-F5344CB8AC3E}">
        <p14:creationId xmlns:p14="http://schemas.microsoft.com/office/powerpoint/2010/main" val="110146384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8DB6E958-06D8-4107-BEA2-A0E22B396C24}"/>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48B56815-3932-4FE9-8A36-1AA67E335EE6}"/>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Positions become the two absolute angles</a:t>
            </a:r>
          </a:p>
        </p:txBody>
      </p:sp>
      <p:sp>
        <p:nvSpPr>
          <p:cNvPr id="3" name="EQ_angle1">
            <a:extLst xmlns:a="http://schemas.openxmlformats.org/drawingml/2006/main">
              <a:ext uri="{FF2B5EF4-FFF2-40B4-BE49-F238E27FC236}">
                <a16:creationId xmlns:a16="http://schemas.microsoft.com/office/drawing/2014/main" id="{E0616B68-7F3E-4DF5-93C4-9C2967298F93}"/>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θ</m:t>
                      </m:r>
                    </m:e>
                    <m:sub>
                      <m:r>
                        <a:rPr sz="2400" lang="en-US">
                          <a:latin typeface="Cambria Math"/>
                        </a:rPr>
                        <m:t>1</m:t>
                      </m:r>
                    </m:sub>
                  </m:sSub>
                  <m:r>
                    <a:rPr sz="2400" lang="en-US">
                      <a:latin typeface="Cambria Math"/>
                    </a:rPr>
                    <m:t> = unwrap(atan2(</m:t>
                  </m:r>
                  <m:sSub>
                    <m:e>
                      <m:r>
                        <a:rPr sz="2400" lang="en-US">
                          <a:latin typeface="Cambria Math"/>
                        </a:rPr>
                        <m:t>x</m:t>
                      </m:r>
                    </m:e>
                    <m:sub>
                      <m:r>
                        <a:rPr sz="2400" lang="en-US">
                          <a:latin typeface="Cambria Math"/>
                        </a:rPr>
                        <m:t>1</m:t>
                      </m:r>
                    </m:sub>
                  </m:sSub>
                  <m:r>
                    <a:rPr sz="2400" lang="en-US">
                      <a:latin typeface="Cambria Math"/>
                    </a:rPr>
                    <m:t>, −</m:t>
                  </m:r>
                  <m:sSub>
                    <m:e>
                      <m:r>
                        <a:rPr sz="2400" lang="en-US">
                          <a:latin typeface="Cambria Math"/>
                        </a:rPr>
                        <m:t>y</m:t>
                      </m:r>
                    </m:e>
                    <m:sub>
                      <m:r>
                        <a:rPr sz="2400" lang="en-US">
                          <a:latin typeface="Cambria Math"/>
                        </a:rPr>
                        <m:t>1</m:t>
                      </m:r>
                    </m:sub>
                  </m:sSub>
                  <m:r>
                    <a:rPr sz="2400" lang="en-US">
                      <a:latin typeface="Cambria Math"/>
                    </a:rPr>
                    <m:t>))</m:t>
                  </m:r>
                </m:oMath>
              </m:oMathPara>
            </a14:m>
            <a:endParaRPr lang="en-US" sz="2400"/>
          </a:p>
        </p:txBody>
      </p:sp>
      <p:sp>
        <p:nvSpPr>
          <p:cNvPr id="4" name="EQ_angle2">
            <a:extLst xmlns:a="http://schemas.openxmlformats.org/drawingml/2006/main">
              <a:ext uri="{FF2B5EF4-FFF2-40B4-BE49-F238E27FC236}">
                <a16:creationId xmlns:a16="http://schemas.microsoft.com/office/drawing/2014/main" id="{B271331C-46D3-4D96-BCAD-08E5A4EFE98D}"/>
              </a:ext>
            </a:extLst>
          </p:cNvPr>
          <p:cNvSpPr>
            <a:spLocks xmlns:a="http://schemas.openxmlformats.org/drawingml/2006/main" noGrp="1"/>
          </p:cNvSpPr>
          <p:nvPr/>
        </p:nvSpPr>
        <p:spPr>
          <a:xfrm xmlns:a="http://schemas.openxmlformats.org/drawingml/2006/main">
            <a:off x="666750" y="24479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θ</m:t>
                      </m:r>
                    </m:e>
                    <m:sub>
                      <m:r>
                        <a:rPr sz="2400" lang="en-US">
                          <a:latin typeface="Cambria Math"/>
                        </a:rPr>
                        <m:t>2</m:t>
                      </m:r>
                    </m:sub>
                  </m:sSub>
                  <m:r>
                    <a:rPr sz="2400" lang="en-US">
                      <a:latin typeface="Cambria Math"/>
                    </a:rPr>
                    <m:t> = unwrap(atan2(</m:t>
                  </m:r>
                  <m:sSub>
                    <m:e>
                      <m:r>
                        <a:rPr sz="2400" lang="en-US">
                          <a:latin typeface="Cambria Math"/>
                        </a:rPr>
                        <m:t>x</m:t>
                      </m:r>
                    </m:e>
                    <m:sub>
                      <m:r>
                        <a:rPr sz="2400" lang="en-US">
                          <a:latin typeface="Cambria Math"/>
                        </a:rPr>
                        <m:t>2</m:t>
                      </m:r>
                    </m:sub>
                  </m:sSub>
                  <m:r>
                    <a:rPr sz="2400" lang="en-US">
                      <a:latin typeface="Cambria Math"/>
                    </a:rPr>
                    <m:t> − </m:t>
                  </m:r>
                  <m:sSub>
                    <m:e>
                      <m:r>
                        <a:rPr sz="2400" lang="en-US">
                          <a:latin typeface="Cambria Math"/>
                        </a:rPr>
                        <m:t>x</m:t>
                      </m:r>
                    </m:e>
                    <m:sub>
                      <m:r>
                        <a:rPr sz="2400" lang="en-US">
                          <a:latin typeface="Cambria Math"/>
                        </a:rPr>
                        <m:t>1</m:t>
                      </m:r>
                    </m:sub>
                  </m:sSub>
                  <m:r>
                    <a:rPr sz="2400" lang="en-US">
                      <a:latin typeface="Cambria Math"/>
                    </a:rPr>
                    <m:t>, −(</m:t>
                  </m:r>
                  <m:sSub>
                    <m:e>
                      <m:r>
                        <a:rPr sz="2400" lang="en-US">
                          <a:latin typeface="Cambria Math"/>
                        </a:rPr>
                        <m:t>y</m:t>
                      </m:r>
                    </m:e>
                    <m:sub>
                      <m:r>
                        <a:rPr sz="2400" lang="en-US">
                          <a:latin typeface="Cambria Math"/>
                        </a:rPr>
                        <m:t>2</m:t>
                      </m:r>
                    </m:sub>
                  </m:sSub>
                  <m:r>
                    <a:rPr sz="2400" lang="en-US">
                      <a:latin typeface="Cambria Math"/>
                    </a:rPr>
                    <m:t> − </m:t>
                  </m:r>
                  <m:sSub>
                    <m:e>
                      <m:r>
                        <a:rPr sz="2400" lang="en-US">
                          <a:latin typeface="Cambria Math"/>
                        </a:rPr>
                        <m:t>y</m:t>
                      </m:r>
                    </m:e>
                    <m:sub>
                      <m:r>
                        <a:rPr sz="2400" lang="en-US">
                          <a:latin typeface="Cambria Math"/>
                        </a:rPr>
                        <m:t>1</m:t>
                      </m:r>
                    </m:sub>
                  </m:sSub>
                  <m:r>
                    <a:rPr sz="2400" lang="en-US">
                      <a:latin typeface="Cambria Math"/>
                    </a:rPr>
                    <m:t>)))</m:t>
                  </m:r>
                </m:oMath>
              </m:oMathPara>
            </a14:m>
            <a:endParaRPr lang="en-US" sz="2400"/>
          </a:p>
        </p:txBody>
      </p:sp>
      <p:sp>
        <p:nvSpPr>
          <p:cNvPr id="5" name="body0">
            <a:extLst xmlns:a="http://schemas.openxmlformats.org/drawingml/2006/main">
              <a:ext uri="{FF2B5EF4-FFF2-40B4-BE49-F238E27FC236}">
                <a16:creationId xmlns:a16="http://schemas.microsoft.com/office/drawing/2014/main" id="{D9261223-A0D3-4B1F-A4DB-3F460B20EF37}"/>
              </a:ext>
            </a:extLst>
          </p:cNvPr>
          <p:cNvSpPr>
            <a:spLocks xmlns:a="http://schemas.openxmlformats.org/drawingml/2006/main" noGrp="1"/>
          </p:cNvSpPr>
          <p:nvPr/>
        </p:nvSpPr>
        <p:spPr>
          <a:xfrm xmlns:a="http://schemas.openxmlformats.org/drawingml/2006/main">
            <a:off x="666750" y="322897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atan2 uses both vector components to identify the correct quadrant.</a:t>
            </a:r>
          </a:p>
        </p:txBody>
      </p:sp>
      <p:sp>
        <p:nvSpPr>
          <p:cNvPr id="6" name="body1">
            <a:extLst xmlns:a="http://schemas.openxmlformats.org/drawingml/2006/main">
              <a:ext uri="{FF2B5EF4-FFF2-40B4-BE49-F238E27FC236}">
                <a16:creationId xmlns:a16="http://schemas.microsoft.com/office/drawing/2014/main" id="{2F769287-247A-44A4-8B41-E9FB22AA9F60}"/>
              </a:ext>
            </a:extLst>
          </p:cNvPr>
          <p:cNvSpPr>
            <a:spLocks xmlns:a="http://schemas.openxmlformats.org/drawingml/2006/main" noGrp="1"/>
          </p:cNvSpPr>
          <p:nvPr/>
        </p:nvSpPr>
        <p:spPr>
          <a:xfrm xmlns:a="http://schemas.openxmlformats.org/drawingml/2006/main">
            <a:off x="666750" y="4248150"/>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 downward link should give zero angle. Verify the sign using a known video frame.</a:t>
            </a:r>
          </a:p>
        </p:txBody>
      </p:sp>
      <p:sp>
        <p:nvSpPr>
          <p:cNvPr id="7" name="body2">
            <a:extLst xmlns:a="http://schemas.openxmlformats.org/drawingml/2006/main">
              <a:ext uri="{FF2B5EF4-FFF2-40B4-BE49-F238E27FC236}">
                <a16:creationId xmlns:a16="http://schemas.microsoft.com/office/drawing/2014/main" id="{3D1A38CC-4E95-4852-AA9D-7160B6135E84}"/>
              </a:ext>
            </a:extLst>
          </p:cNvPr>
          <p:cNvSpPr>
            <a:spLocks xmlns:a="http://schemas.openxmlformats.org/drawingml/2006/main" noGrp="1"/>
          </p:cNvSpPr>
          <p:nvPr/>
        </p:nvSpPr>
        <p:spPr>
          <a:xfrm xmlns:a="http://schemas.openxmlformats.org/drawingml/2006/main">
            <a:off x="666750" y="5267325"/>
            <a:ext cx="108585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Unwrapping removes artificial jumps at ±π when tracking continuous motion.</a:t>
            </a:r>
          </a:p>
        </p:txBody>
      </p:sp>
      <p:sp>
        <p:nvSpPr>
          <p:cNvPr id="8" name="page">
            <a:extLst xmlns:a="http://schemas.openxmlformats.org/drawingml/2006/main">
              <a:ext uri="{FF2B5EF4-FFF2-40B4-BE49-F238E27FC236}">
                <a16:creationId xmlns:a16="http://schemas.microsoft.com/office/drawing/2014/main" id="{93A15EB1-65DC-408B-ADC0-6C0F643F25DF}"/>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26</a:t>
            </a:r>
          </a:p>
        </p:txBody>
      </p:sp>
    </p:spTree>
    <p:extLst>
      <p:ext uri="{BB962C8B-B14F-4D97-AF65-F5344CB8AC3E}">
        <p14:creationId xmlns:p14="http://schemas.microsoft.com/office/powerpoint/2010/main" val="161076302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87F0D757-30A4-4DCA-9686-0FE3FAD876E5}"/>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6299102A-CC28-4B4B-8E0E-5019ABDBEF9E}"/>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Angular velocity and frequency analysis</a:t>
            </a:r>
          </a:p>
        </p:txBody>
      </p:sp>
      <p:sp>
        <p:nvSpPr>
          <p:cNvPr id="3" name="EQ_omega_fft">
            <a:extLst xmlns:a="http://schemas.openxmlformats.org/drawingml/2006/main">
              <a:ext uri="{FF2B5EF4-FFF2-40B4-BE49-F238E27FC236}">
                <a16:creationId xmlns:a16="http://schemas.microsoft.com/office/drawing/2014/main" id="{83BA8B26-C31D-4D46-ADBC-50B071AA8292}"/>
              </a:ext>
            </a:extLst>
          </p:cNvPr>
          <p:cNvSpPr>
            <a:spLocks xmlns:a="http://schemas.openxmlformats.org/drawingml/2006/main" noGrp="1"/>
          </p:cNvSpPr>
          <p:nvPr/>
        </p:nvSpPr>
        <p:spPr>
          <a:xfrm xmlns:a="http://schemas.openxmlformats.org/drawingml/2006/main">
            <a:off x="666750" y="166687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14:m xmlns:a14="http://schemas.microsoft.com/office/drawing/2010/main">
              <m:oMathPara xmlns:m="http://schemas.openxmlformats.org/officeDocument/2006/math">
                <m:oMathParaPr>
                  <m:jc m:val="left"/>
                </m:oMathParaPr>
                <m:oMath>
                  <m:sSub>
                    <m:e>
                      <m:r>
                        <a:rPr sz="2400" lang="en-US">
                          <a:latin typeface="Cambria Math"/>
                        </a:rPr>
                        <m:t>ω</m:t>
                      </m:r>
                    </m:e>
                    <m:sub>
                      <m:r>
                        <a:rPr sz="2400" lang="en-US">
                          <a:latin typeface="Cambria Math"/>
                        </a:rPr>
                        <m:t>i</m:t>
                      </m:r>
                    </m:sub>
                  </m:sSub>
                  <m:r>
                    <a:rPr sz="2400" lang="en-US">
                      <a:latin typeface="Cambria Math"/>
                    </a:rPr>
                    <m:t> = </m:t>
                  </m:r>
                  <m:f>
                    <m:num>
                      <m:r>
                        <a:rPr sz="2400" lang="en-US">
                          <a:latin typeface="Cambria Math"/>
                        </a:rPr>
                        <m:t>d</m:t>
                      </m:r>
                      <m:sSub>
                        <m:e>
                          <m:r>
                            <a:rPr sz="2400" lang="en-US">
                              <a:latin typeface="Cambria Math"/>
                            </a:rPr>
                            <m:t>θ</m:t>
                          </m:r>
                        </m:e>
                        <m:sub>
                          <m:r>
                            <a:rPr sz="2400" lang="en-US">
                              <a:latin typeface="Cambria Math"/>
                            </a:rPr>
                            <m:t>i</m:t>
                          </m:r>
                        </m:sub>
                      </m:sSub>
                    </m:num>
                    <m:den>
                      <m:r>
                        <a:rPr sz="2400" lang="en-US">
                          <a:latin typeface="Cambria Math"/>
                        </a:rPr>
                        <m:t>dt</m:t>
                      </m:r>
                    </m:den>
                  </m:f>
                  <m:r>
                    <a:rPr sz="2400" lang="en-US">
                      <a:latin typeface="Cambria Math"/>
                    </a:rPr>
                    <m:t>      Δf = </m:t>
                  </m:r>
                  <m:f>
                    <m:num>
                      <m:sSub>
                        <m:e>
                          <m:r>
                            <a:rPr sz="2400" lang="en-US">
                              <a:latin typeface="Cambria Math"/>
                            </a:rPr>
                            <m:t>f</m:t>
                          </m:r>
                        </m:e>
                        <m:sub>
                          <m:r>
                            <a:rPr sz="2400" lang="en-US">
                              <a:latin typeface="Cambria Math"/>
                            </a:rPr>
                            <m:t>s</m:t>
                          </m:r>
                        </m:sub>
                      </m:sSub>
                    </m:num>
                    <m:den>
                      <m:sSub>
                        <m:e>
                          <m:r>
                            <a:rPr sz="2400" lang="en-US">
                              <a:latin typeface="Cambria Math"/>
                            </a:rPr>
                            <m:t>N</m:t>
                          </m:r>
                        </m:e>
                        <m:sub>
                          <m:r>
                            <a:rPr sz="2400" lang="en-US">
                              <a:latin typeface="Cambria Math"/>
                            </a:rPr>
                            <m:t>s</m:t>
                          </m:r>
                        </m:sub>
                      </m:sSub>
                    </m:den>
                  </m:f>
                  <m:r>
                    <a:rPr sz="2400" lang="en-US">
                      <a:latin typeface="Cambria Math"/>
                    </a:rPr>
                    <m:t> = </m:t>
                  </m:r>
                  <m:f>
                    <m:num>
                      <m:r>
                        <a:rPr sz="2400" lang="en-US">
                          <a:latin typeface="Cambria Math"/>
                        </a:rPr>
                        <m:t>1</m:t>
                      </m:r>
                    </m:num>
                    <m:den>
                      <m:sSub>
                        <m:e>
                          <m:r>
                            <a:rPr sz="2400" lang="en-US">
                              <a:latin typeface="Cambria Math"/>
                            </a:rPr>
                            <m:t>T</m:t>
                          </m:r>
                        </m:e>
                        <m:sub>
                          <m:r>
                            <a:rPr sz="2400" lang="en-US">
                              <a:latin typeface="Cambria Math"/>
                            </a:rPr>
                            <m:t>r</m:t>
                          </m:r>
                        </m:sub>
                      </m:sSub>
                    </m:den>
                  </m:f>
                </m:oMath>
              </m:oMathPara>
            </a14:m>
            <a:endParaRPr lang="en-US" sz="2400"/>
          </a:p>
        </p:txBody>
      </p:sp>
      <p:sp>
        <p:nvSpPr>
          <p:cNvPr id="4" name="body0">
            <a:extLst xmlns:a="http://schemas.openxmlformats.org/drawingml/2006/main">
              <a:ext uri="{FF2B5EF4-FFF2-40B4-BE49-F238E27FC236}">
                <a16:creationId xmlns:a16="http://schemas.microsoft.com/office/drawing/2014/main" id="{7C72B6A6-D48C-4567-A471-5A299449E5FE}"/>
              </a:ext>
            </a:extLst>
          </p:cNvPr>
          <p:cNvSpPr>
            <a:spLocks xmlns:a="http://schemas.openxmlformats.org/drawingml/2006/main" noGrp="1"/>
          </p:cNvSpPr>
          <p:nvPr/>
        </p:nvSpPr>
        <p:spPr>
          <a:xfrm xmlns:a="http://schemas.openxmlformats.org/drawingml/2006/main">
            <a:off x="666750" y="2447925"/>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Angular velocity is the slope of the angle trace. Differentiation also amplifies tracking jitter.</a:t>
            </a:r>
          </a:p>
        </p:txBody>
      </p:sp>
      <p:sp>
        <p:nvSpPr>
          <p:cNvPr id="5" name="body1">
            <a:extLst xmlns:a="http://schemas.openxmlformats.org/drawingml/2006/main">
              <a:ext uri="{FF2B5EF4-FFF2-40B4-BE49-F238E27FC236}">
                <a16:creationId xmlns:a16="http://schemas.microsoft.com/office/drawing/2014/main" id="{4DFCA1BE-74FB-4D43-B2F9-9CDF38F20E9B}"/>
              </a:ext>
            </a:extLst>
          </p:cNvPr>
          <p:cNvSpPr>
            <a:spLocks xmlns:a="http://schemas.openxmlformats.org/drawingml/2006/main" noGrp="1"/>
          </p:cNvSpPr>
          <p:nvPr/>
        </p:nvSpPr>
        <p:spPr>
          <a:xfrm xmlns:a="http://schemas.openxmlformats.org/drawingml/2006/main">
            <a:off x="666750" y="3407569"/>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FFT identifies frequency components over a finite record. Remove the mean before analysis.</a:t>
            </a:r>
          </a:p>
        </p:txBody>
      </p:sp>
      <p:sp>
        <p:nvSpPr>
          <p:cNvPr id="6" name="body2">
            <a:extLst xmlns:a="http://schemas.openxmlformats.org/drawingml/2006/main">
              <a:ext uri="{FF2B5EF4-FFF2-40B4-BE49-F238E27FC236}">
                <a16:creationId xmlns:a16="http://schemas.microsoft.com/office/drawing/2014/main" id="{EF4E6835-72C2-4DF6-9EE8-2BDD48EF0589}"/>
              </a:ext>
            </a:extLst>
          </p:cNvPr>
          <p:cNvSpPr>
            <a:spLocks xmlns:a="http://schemas.openxmlformats.org/drawingml/2006/main" noGrp="1"/>
          </p:cNvSpPr>
          <p:nvPr/>
        </p:nvSpPr>
        <p:spPr>
          <a:xfrm xmlns:a="http://schemas.openxmlformats.org/drawingml/2006/main">
            <a:off x="666750" y="4367213"/>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Small motion may show two modal peaks. Large motion can have broader or changing spectral content.</a:t>
            </a:r>
          </a:p>
        </p:txBody>
      </p:sp>
      <p:sp>
        <p:nvSpPr>
          <p:cNvPr id="7" name="body3">
            <a:extLst xmlns:a="http://schemas.openxmlformats.org/drawingml/2006/main">
              <a:ext uri="{FF2B5EF4-FFF2-40B4-BE49-F238E27FC236}">
                <a16:creationId xmlns:a16="http://schemas.microsoft.com/office/drawing/2014/main" id="{B393962E-4F22-488A-99AA-5EF69E448753}"/>
              </a:ext>
            </a:extLst>
          </p:cNvPr>
          <p:cNvSpPr>
            <a:spLocks xmlns:a="http://schemas.openxmlformats.org/drawingml/2006/main" noGrp="1"/>
          </p:cNvSpPr>
          <p:nvPr/>
        </p:nvSpPr>
        <p:spPr>
          <a:xfrm xmlns:a="http://schemas.openxmlformats.org/drawingml/2006/main">
            <a:off x="666750" y="5326856"/>
            <a:ext cx="10858500" cy="8643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State record length and analysis choices. A single global sine fit may be inappropriate.</a:t>
            </a:r>
          </a:p>
        </p:txBody>
      </p:sp>
      <p:sp>
        <p:nvSpPr>
          <p:cNvPr id="8" name="page">
            <a:extLst xmlns:a="http://schemas.openxmlformats.org/drawingml/2006/main">
              <a:ext uri="{FF2B5EF4-FFF2-40B4-BE49-F238E27FC236}">
                <a16:creationId xmlns:a16="http://schemas.microsoft.com/office/drawing/2014/main" id="{936807A1-BBA1-4481-99C6-0B0FF4033E02}"/>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27</a:t>
            </a:r>
          </a:p>
        </p:txBody>
      </p:sp>
    </p:spTree>
    <p:extLst>
      <p:ext uri="{BB962C8B-B14F-4D97-AF65-F5344CB8AC3E}">
        <p14:creationId xmlns:p14="http://schemas.microsoft.com/office/powerpoint/2010/main" val="94295147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60486AFE-1729-4DA4-B97E-0C8EA8C69730}"/>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C0FC149D-026C-4B52-B429-87C477469917}"/>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Measured motion and the model</a:t>
            </a:r>
          </a:p>
        </p:txBody>
      </p:sp>
      <p:sp>
        <p:nvSpPr>
          <p:cNvPr id="3" name="body0">
            <a:extLst xmlns:a="http://schemas.openxmlformats.org/drawingml/2006/main">
              <a:ext uri="{FF2B5EF4-FFF2-40B4-BE49-F238E27FC236}">
                <a16:creationId xmlns:a16="http://schemas.microsoft.com/office/drawing/2014/main" id="{1855335D-C24B-4DDF-9E05-FEBDCC89D518}"/>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Use measured masses, lengths and starting conditions in the simulation.</a:t>
            </a:r>
          </a:p>
        </p:txBody>
      </p:sp>
      <p:sp>
        <p:nvSpPr>
          <p:cNvPr id="4" name="body1">
            <a:extLst xmlns:a="http://schemas.openxmlformats.org/drawingml/2006/main">
              <a:ext uri="{FF2B5EF4-FFF2-40B4-BE49-F238E27FC236}">
                <a16:creationId xmlns:a16="http://schemas.microsoft.com/office/drawing/2014/main" id="{249349C6-6899-43C2-B77E-C58D81FABEC1}"/>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Overlay both measured angles with their predictions and compare early timing and shape.</a:t>
            </a:r>
          </a:p>
        </p:txBody>
      </p:sp>
      <p:sp>
        <p:nvSpPr>
          <p:cNvPr id="5" name="body2">
            <a:extLst xmlns:a="http://schemas.openxmlformats.org/drawingml/2006/main">
              <a:ext uri="{FF2B5EF4-FFF2-40B4-BE49-F238E27FC236}">
                <a16:creationId xmlns:a16="http://schemas.microsoft.com/office/drawing/2014/main" id="{E572D46F-7BF9-4DCC-9BE0-356351FD9B2A}"/>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For a large-angle trial, explain how sensitive long-time agreement is to starting conditions.</a:t>
            </a:r>
          </a:p>
        </p:txBody>
      </p:sp>
      <p:sp>
        <p:nvSpPr>
          <p:cNvPr id="6" name="body3">
            <a:extLst xmlns:a="http://schemas.openxmlformats.org/drawingml/2006/main">
              <a:ext uri="{FF2B5EF4-FFF2-40B4-BE49-F238E27FC236}">
                <a16:creationId xmlns:a16="http://schemas.microsoft.com/office/drawing/2014/main" id="{C0214D51-F48C-446D-82CA-B04FCBB9230B}"/>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Discuss release push, calibration, friction, air drag and motion out of the camera plane.</a:t>
            </a:r>
          </a:p>
        </p:txBody>
      </p:sp>
      <p:sp>
        <p:nvSpPr>
          <p:cNvPr id="7" name="page">
            <a:extLst xmlns:a="http://schemas.openxmlformats.org/drawingml/2006/main">
              <a:ext uri="{FF2B5EF4-FFF2-40B4-BE49-F238E27FC236}">
                <a16:creationId xmlns:a16="http://schemas.microsoft.com/office/drawing/2014/main" id="{41F48413-A014-4421-8265-5FF6F3563134}"/>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28</a:t>
            </a:r>
          </a:p>
        </p:txBody>
      </p:sp>
    </p:spTree>
    <p:extLst>
      <p:ext uri="{BB962C8B-B14F-4D97-AF65-F5344CB8AC3E}">
        <p14:creationId xmlns:p14="http://schemas.microsoft.com/office/powerpoint/2010/main" val="118606239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B7A5770E-9674-4DEC-B4F1-24498E919B7E}"/>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C7707E23-DF76-4B65-859E-14E06758FCE9}"/>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Pre-Lab 3 and the laboratory</a:t>
            </a:r>
          </a:p>
        </p:txBody>
      </p:sp>
      <p:sp>
        <p:nvSpPr>
          <p:cNvPr id="3" name="body0">
            <a:extLst xmlns:a="http://schemas.openxmlformats.org/drawingml/2006/main">
              <a:ext uri="{FF2B5EF4-FFF2-40B4-BE49-F238E27FC236}">
                <a16:creationId xmlns:a16="http://schemas.microsoft.com/office/drawing/2014/main" id="{77CCB850-BBD3-41C2-B093-F43810F0BD3F}"/>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Run the supplied notebook and answer six questions in one Word or PDF file. No student programming is required.</a:t>
            </a:r>
          </a:p>
        </p:txBody>
      </p:sp>
      <p:sp>
        <p:nvSpPr>
          <p:cNvPr id="4" name="body1">
            <a:extLst xmlns:a="http://schemas.openxmlformats.org/drawingml/2006/main">
              <a:ext uri="{FF2B5EF4-FFF2-40B4-BE49-F238E27FC236}">
                <a16:creationId xmlns:a16="http://schemas.microsoft.com/office/drawing/2014/main" id="{A0F3CD0C-D3B4-4AD7-9FCE-20B8DCDF31D7}"/>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Compare one small release with two large releases separated by 1° at the start.</a:t>
            </a:r>
          </a:p>
        </p:txBody>
      </p:sp>
      <p:sp>
        <p:nvSpPr>
          <p:cNvPr id="5" name="body2">
            <a:extLst xmlns:a="http://schemas.openxmlformats.org/drawingml/2006/main">
              <a:ext uri="{FF2B5EF4-FFF2-40B4-BE49-F238E27FC236}">
                <a16:creationId xmlns:a16="http://schemas.microsoft.com/office/drawing/2014/main" id="{BA076B2E-2CAD-4197-AFD9-0955477267B7}"/>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Read angle traces, their separation and the spectra. Explain the role of energy and coupling.</a:t>
            </a:r>
          </a:p>
        </p:txBody>
      </p:sp>
      <p:sp>
        <p:nvSpPr>
          <p:cNvPr id="6" name="body3">
            <a:extLst xmlns:a="http://schemas.openxmlformats.org/drawingml/2006/main">
              <a:ext uri="{FF2B5EF4-FFF2-40B4-BE49-F238E27FC236}">
                <a16:creationId xmlns:a16="http://schemas.microsoft.com/office/drawing/2014/main" id="{BC5557F4-AA16-4392-8F40-49A0F562F03A}"/>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Use the pre-lab to plan measurements. Replace illustrative masses and lengths with your measured apparatus values.</a:t>
            </a:r>
          </a:p>
        </p:txBody>
      </p:sp>
      <p:sp>
        <p:nvSpPr>
          <p:cNvPr id="7" name="page">
            <a:extLst xmlns:a="http://schemas.openxmlformats.org/drawingml/2006/main">
              <a:ext uri="{FF2B5EF4-FFF2-40B4-BE49-F238E27FC236}">
                <a16:creationId xmlns:a16="http://schemas.microsoft.com/office/drawing/2014/main" id="{3BB2B070-ED14-4A9C-B5D8-2ED76F5F99FF}"/>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29</a:t>
            </a:r>
          </a:p>
        </p:txBody>
      </p:sp>
    </p:spTree>
    <p:extLst>
      <p:ext uri="{BB962C8B-B14F-4D97-AF65-F5344CB8AC3E}">
        <p14:creationId xmlns:p14="http://schemas.microsoft.com/office/powerpoint/2010/main" val="51371359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A60845CB-F1E9-48F3-9EB5-BB67E5817A68}"/>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8C38F616-95E5-441C-95BA-B3B32BD831D9}"/>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The practical sequence in the lab</a:t>
            </a:r>
          </a:p>
        </p:txBody>
      </p:sp>
      <p:sp>
        <p:nvSpPr>
          <p:cNvPr id="3" name="body0">
            <a:extLst xmlns:a="http://schemas.openxmlformats.org/drawingml/2006/main">
              <a:ext uri="{FF2B5EF4-FFF2-40B4-BE49-F238E27FC236}">
                <a16:creationId xmlns:a16="http://schemas.microsoft.com/office/drawing/2014/main" id="{21759953-2D27-483A-A19B-CD0E7A51D6DF}"/>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Measure and label the parts. Decide which mass belongs in each model parameter.</a:t>
            </a:r>
          </a:p>
        </p:txBody>
      </p:sp>
      <p:sp>
        <p:nvSpPr>
          <p:cNvPr id="4" name="body1">
            <a:extLst xmlns:a="http://schemas.openxmlformats.org/drawingml/2006/main">
              <a:ext uri="{FF2B5EF4-FFF2-40B4-BE49-F238E27FC236}">
                <a16:creationId xmlns:a16="http://schemas.microsoft.com/office/drawing/2014/main" id="{CE3D805E-3ED6-4130-904A-CA88F2FF4AAF}"/>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Set the camera and calibration, then record the four releases.</a:t>
            </a:r>
          </a:p>
        </p:txBody>
      </p:sp>
      <p:sp>
        <p:nvSpPr>
          <p:cNvPr id="5" name="body2">
            <a:extLst xmlns:a="http://schemas.openxmlformats.org/drawingml/2006/main">
              <a:ext uri="{FF2B5EF4-FFF2-40B4-BE49-F238E27FC236}">
                <a16:creationId xmlns:a16="http://schemas.microsoft.com/office/drawing/2014/main" id="{3EDF4B15-DE67-459F-9752-C24E84D3FAD6}"/>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Review pivot and bob markers throughout each recording. Analyze all frames and save ExpData.</a:t>
            </a:r>
          </a:p>
        </p:txBody>
      </p:sp>
      <p:sp>
        <p:nvSpPr>
          <p:cNvPr id="6" name="body3">
            <a:extLst xmlns:a="http://schemas.openxmlformats.org/drawingml/2006/main">
              <a:ext uri="{FF2B5EF4-FFF2-40B4-BE49-F238E27FC236}">
                <a16:creationId xmlns:a16="http://schemas.microsoft.com/office/drawing/2014/main" id="{7AFCBF8D-DF7E-4052-A961-64E9FD76E742}"/>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Generate two angle traces, two angular-velocity traces and spectra. Review one complete trial with the GTA.</a:t>
            </a:r>
          </a:p>
        </p:txBody>
      </p:sp>
      <p:sp>
        <p:nvSpPr>
          <p:cNvPr id="7" name="page">
            <a:extLst xmlns:a="http://schemas.openxmlformats.org/drawingml/2006/main">
              <a:ext uri="{FF2B5EF4-FFF2-40B4-BE49-F238E27FC236}">
                <a16:creationId xmlns:a16="http://schemas.microsoft.com/office/drawing/2014/main" id="{A4076046-359F-40E0-A455-AE9CB3060B2C}"/>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30</a:t>
            </a:r>
          </a:p>
        </p:txBody>
      </p:sp>
    </p:spTree>
    <p:extLst>
      <p:ext uri="{BB962C8B-B14F-4D97-AF65-F5344CB8AC3E}">
        <p14:creationId xmlns:p14="http://schemas.microsoft.com/office/powerpoint/2010/main" val="3077805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AF5DE32E-5318-4C3B-BF37-7835ACE785CA}"/>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8085E2E2-95C7-46D8-A1B2-3346299431BF}"/>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Before leaving the laboratory</a:t>
            </a:r>
          </a:p>
        </p:txBody>
      </p:sp>
      <p:sp>
        <p:nvSpPr>
          <p:cNvPr id="3" name="body0">
            <a:extLst xmlns:a="http://schemas.openxmlformats.org/drawingml/2006/main">
              <a:ext uri="{FF2B5EF4-FFF2-40B4-BE49-F238E27FC236}">
                <a16:creationId xmlns:a16="http://schemas.microsoft.com/office/drawing/2014/main" id="{B0F3F2F9-38BC-4B77-8F40-C6D8333C4018}"/>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Save four trial labels and their measured initial conditions.</a:t>
            </a:r>
          </a:p>
        </p:txBody>
      </p:sp>
      <p:sp>
        <p:nvSpPr>
          <p:cNvPr id="4" name="body1">
            <a:extLst xmlns:a="http://schemas.openxmlformats.org/drawingml/2006/main">
              <a:ext uri="{FF2B5EF4-FFF2-40B4-BE49-F238E27FC236}">
                <a16:creationId xmlns:a16="http://schemas.microsoft.com/office/drawing/2014/main" id="{6D699F8C-B3FE-4CD3-8671-4AE8A09CA36D}"/>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Record masses and lengths with units, capture frame rate and calibration distance.</a:t>
            </a:r>
          </a:p>
        </p:txBody>
      </p:sp>
      <p:sp>
        <p:nvSpPr>
          <p:cNvPr id="5" name="body2">
            <a:extLst xmlns:a="http://schemas.openxmlformats.org/drawingml/2006/main">
              <a:ext uri="{FF2B5EF4-FFF2-40B4-BE49-F238E27FC236}">
                <a16:creationId xmlns:a16="http://schemas.microsoft.com/office/drawing/2014/main" id="{087E2755-BDBC-4E9B-9DB7-A657B1F7F11A}"/>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Keep raw MP4 and ExpData MAT files for each trial.</a:t>
            </a:r>
          </a:p>
        </p:txBody>
      </p:sp>
      <p:sp>
        <p:nvSpPr>
          <p:cNvPr id="6" name="body3">
            <a:extLst xmlns:a="http://schemas.openxmlformats.org/drawingml/2006/main">
              <a:ext uri="{FF2B5EF4-FFF2-40B4-BE49-F238E27FC236}">
                <a16:creationId xmlns:a16="http://schemas.microsoft.com/office/drawing/2014/main" id="{49E06DFB-878F-470F-ACB6-6ED485DF027A}"/>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Confirm that the complete analysis opens on your own computer and that the plotted trajectories are physically plausible.</a:t>
            </a:r>
          </a:p>
        </p:txBody>
      </p:sp>
      <p:sp>
        <p:nvSpPr>
          <p:cNvPr id="7" name="page">
            <a:extLst xmlns:a="http://schemas.openxmlformats.org/drawingml/2006/main">
              <a:ext uri="{FF2B5EF4-FFF2-40B4-BE49-F238E27FC236}">
                <a16:creationId xmlns:a16="http://schemas.microsoft.com/office/drawing/2014/main" id="{84D218AE-909D-4511-824C-EAAFF9ABC194}"/>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31</a:t>
            </a:r>
          </a:p>
        </p:txBody>
      </p:sp>
    </p:spTree>
    <p:extLst>
      <p:ext uri="{BB962C8B-B14F-4D97-AF65-F5344CB8AC3E}">
        <p14:creationId xmlns:p14="http://schemas.microsoft.com/office/powerpoint/2010/main" val="94035850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4C1C1450-3D00-4721-908F-B126702EA656}"/>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F2E555C1-FAAD-42C7-943E-43680D0AB9A9}"/>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Questions for discussion</a:t>
            </a:r>
          </a:p>
        </p:txBody>
      </p:sp>
      <p:sp>
        <p:nvSpPr>
          <p:cNvPr id="3" name="body0">
            <a:extLst xmlns:a="http://schemas.openxmlformats.org/drawingml/2006/main">
              <a:ext uri="{FF2B5EF4-FFF2-40B4-BE49-F238E27FC236}">
                <a16:creationId xmlns:a16="http://schemas.microsoft.com/office/drawing/2014/main" id="{FE425210-DE55-49E3-8F6B-B7E3B7C4FC74}"/>
              </a:ext>
            </a:extLst>
          </p:cNvPr>
          <p:cNvSpPr>
            <a:spLocks xmlns:a="http://schemas.openxmlformats.org/drawingml/2006/main" noGrp="1"/>
          </p:cNvSpPr>
          <p:nvPr/>
        </p:nvSpPr>
        <p:spPr>
          <a:xfrm xmlns:a="http://schemas.openxmlformats.org/drawingml/2006/main">
            <a:off x="666750" y="16668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If both links start at the same angle, must they remain aligned? Explain using the coupling.</a:t>
            </a:r>
          </a:p>
        </p:txBody>
      </p:sp>
      <p:sp>
        <p:nvSpPr>
          <p:cNvPr id="4" name="body1">
            <a:extLst xmlns:a="http://schemas.openxmlformats.org/drawingml/2006/main">
              <a:ext uri="{FF2B5EF4-FFF2-40B4-BE49-F238E27FC236}">
                <a16:creationId xmlns:a16="http://schemas.microsoft.com/office/drawing/2014/main" id="{10AB8BF0-327C-4DA7-A451-0872EB6A8A57}"/>
              </a:ext>
            </a:extLst>
          </p:cNvPr>
          <p:cNvSpPr>
            <a:spLocks xmlns:a="http://schemas.openxmlformats.org/drawingml/2006/main" noGrp="1"/>
          </p:cNvSpPr>
          <p:nvPr/>
        </p:nvSpPr>
        <p:spPr>
          <a:xfrm xmlns:a="http://schemas.openxmlformats.org/drawingml/2006/main">
            <a:off x="666750" y="27336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Why does the lower assembly contribute to I₁₁ as well as I₂₂?</a:t>
            </a:r>
          </a:p>
        </p:txBody>
      </p:sp>
      <p:sp>
        <p:nvSpPr>
          <p:cNvPr id="5" name="body2">
            <a:extLst xmlns:a="http://schemas.openxmlformats.org/drawingml/2006/main">
              <a:ext uri="{FF2B5EF4-FFF2-40B4-BE49-F238E27FC236}">
                <a16:creationId xmlns:a16="http://schemas.microsoft.com/office/drawing/2014/main" id="{3AFE509A-2714-4E09-863C-EDEBBDE691DB}"/>
              </a:ext>
            </a:extLst>
          </p:cNvPr>
          <p:cNvSpPr>
            <a:spLocks xmlns:a="http://schemas.openxmlformats.org/drawingml/2006/main" noGrp="1"/>
          </p:cNvSpPr>
          <p:nvPr/>
        </p:nvSpPr>
        <p:spPr>
          <a:xfrm xmlns:a="http://schemas.openxmlformats.org/drawingml/2006/main">
            <a:off x="666750" y="38004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How would added lower-bob washers change kinetic and potential energy coefficients?</a:t>
            </a:r>
          </a:p>
        </p:txBody>
      </p:sp>
      <p:sp>
        <p:nvSpPr>
          <p:cNvPr id="6" name="body3">
            <a:extLst xmlns:a="http://schemas.openxmlformats.org/drawingml/2006/main">
              <a:ext uri="{FF2B5EF4-FFF2-40B4-BE49-F238E27FC236}">
                <a16:creationId xmlns:a16="http://schemas.microsoft.com/office/drawing/2014/main" id="{9B964034-B58F-4166-B6D2-ACFC64EB2693}"/>
              </a:ext>
            </a:extLst>
          </p:cNvPr>
          <p:cNvSpPr>
            <a:spLocks xmlns:a="http://schemas.openxmlformats.org/drawingml/2006/main" noGrp="1"/>
          </p:cNvSpPr>
          <p:nvPr/>
        </p:nvSpPr>
        <p:spPr>
          <a:xfrm xmlns:a="http://schemas.openxmlformats.org/drawingml/2006/main">
            <a:off x="666750" y="4867275"/>
            <a:ext cx="10858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What observation distinguishes bad tracking from real complex motion?</a:t>
            </a:r>
          </a:p>
        </p:txBody>
      </p:sp>
      <p:sp>
        <p:nvSpPr>
          <p:cNvPr id="7" name="page">
            <a:extLst xmlns:a="http://schemas.openxmlformats.org/drawingml/2006/main">
              <a:ext uri="{FF2B5EF4-FFF2-40B4-BE49-F238E27FC236}">
                <a16:creationId xmlns:a16="http://schemas.microsoft.com/office/drawing/2014/main" id="{9CFF3334-15A6-47E0-A298-B3057273FA8D}"/>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32</a:t>
            </a:r>
          </a:p>
        </p:txBody>
      </p:sp>
    </p:spTree>
    <p:extLst>
      <p:ext uri="{BB962C8B-B14F-4D97-AF65-F5344CB8AC3E}">
        <p14:creationId xmlns:p14="http://schemas.microsoft.com/office/powerpoint/2010/main" val="110054754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11385F42-4DF6-4CB0-AB6E-13E35574268F}"/>
              </a:ext>
            </a:extLst>
          </p:cNvPr>
          <p:cNvSpPr>
            <a:spLocks xmlns:a="http://schemas.openxmlformats.org/drawingml/2006/main" noGrp="1"/>
          </p:cNvSpPr>
          <p:nvPr/>
        </p:nvSpPr>
        <p:spPr>
          <a:xfrm xmlns:a="http://schemas.openxmlformats.org/drawingml/2006/main">
            <a:off x="495300" y="1905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75" b="1">
                <a:solidFill>
                  <a:srgbClr val="881C1C"/>
                </a:solidFill>
                <a:latin typeface="Aptos"/>
                <a:ea typeface="Aptos"/>
                <a:cs typeface="Aptos"/>
              </a:defRPr>
            </a:pPr>
            <a:r>
              <a:rPr sz="1275" b="1">
                <a:solidFill>
                  <a:srgbClr val="881C1C"/>
                </a:solidFill>
                <a:latin typeface="Aptos"/>
                <a:ea typeface="Aptos"/>
                <a:cs typeface="Aptos"/>
              </a:rPr>
              <a:t>MIE 402   ME LAB II</a:t>
            </a:r>
          </a:p>
        </p:txBody>
      </p:sp>
      <p:sp>
        <p:nvSpPr>
          <p:cNvPr id="2" name="title">
            <a:extLst xmlns:a="http://schemas.openxmlformats.org/drawingml/2006/main">
              <a:ext uri="{FF2B5EF4-FFF2-40B4-BE49-F238E27FC236}">
                <a16:creationId xmlns:a16="http://schemas.microsoft.com/office/drawing/2014/main" id="{3425F3BC-435C-4A09-A36A-78EFE0A4F913}"/>
              </a:ext>
            </a:extLst>
          </p:cNvPr>
          <p:cNvSpPr>
            <a:spLocks xmlns:a="http://schemas.openxmlformats.org/drawingml/2006/main" noGrp="1"/>
          </p:cNvSpPr>
          <p:nvPr/>
        </p:nvSpPr>
        <p:spPr>
          <a:xfrm xmlns:a="http://schemas.openxmlformats.org/drawingml/2006/main">
            <a:off x="495300" y="666750"/>
            <a:ext cx="11125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a:solidFill>
                  <a:srgbClr val="152437"/>
                </a:solidFill>
                <a:latin typeface="Aptos"/>
                <a:ea typeface="Aptos"/>
                <a:cs typeface="Aptos"/>
              </a:defRPr>
            </a:pPr>
            <a:r>
              <a:rPr sz="2925" b="1">
                <a:solidFill>
                  <a:srgbClr val="152437"/>
                </a:solidFill>
                <a:latin typeface="Aptos"/>
                <a:ea typeface="Aptos"/>
                <a:cs typeface="Aptos"/>
              </a:rPr>
              <a:t>Reference: remaining symbols and units</a:t>
            </a:r>
          </a:p>
        </p:txBody>
      </p:sp>
      <p:sp>
        <p:nvSpPr>
          <p:cNvPr id="3" name="body0">
            <a:extLst xmlns:a="http://schemas.openxmlformats.org/drawingml/2006/main">
              <a:ext uri="{FF2B5EF4-FFF2-40B4-BE49-F238E27FC236}">
                <a16:creationId xmlns:a16="http://schemas.microsoft.com/office/drawing/2014/main" id="{B03A101A-3CBE-475F-AB27-CE4B33E4BFB9}"/>
              </a:ext>
            </a:extLst>
          </p:cNvPr>
          <p:cNvSpPr>
            <a:spLocks xmlns:a="http://schemas.openxmlformats.org/drawingml/2006/main" noGrp="1"/>
          </p:cNvSpPr>
          <p:nvPr/>
        </p:nvSpPr>
        <p:spPr>
          <a:xfrm xmlns:a="http://schemas.openxmlformats.org/drawingml/2006/main">
            <a:off x="666750" y="1666875"/>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h₁, h₂ [m]: rise of each bob above its lowest position. hG₁, hG₂ [m]: rise of each bar center. g = 9.81 m/s² is gravitational acceleration.</a:t>
            </a:r>
          </a:p>
        </p:txBody>
      </p:sp>
      <p:sp>
        <p:nvSpPr>
          <p:cNvPr id="4" name="body1">
            <a:extLst xmlns:a="http://schemas.openxmlformats.org/drawingml/2006/main">
              <a:ext uri="{FF2B5EF4-FFF2-40B4-BE49-F238E27FC236}">
                <a16:creationId xmlns:a16="http://schemas.microsoft.com/office/drawing/2014/main" id="{A83A5CC8-5CFC-4940-BABD-1261598EA89A}"/>
              </a:ext>
            </a:extLst>
          </p:cNvPr>
          <p:cNvSpPr>
            <a:spLocks xmlns:a="http://schemas.openxmlformats.org/drawingml/2006/main" noGrp="1"/>
          </p:cNvSpPr>
          <p:nvPr/>
        </p:nvSpPr>
        <p:spPr>
          <a:xfrm xmlns:a="http://schemas.openxmlformats.org/drawingml/2006/main">
            <a:off x="666750" y="2590800"/>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Q₁, Q₂ [N·m]: generalized torques from effects excluded from V, such as friction. Qᵢωᵢ has units of power [W].</a:t>
            </a:r>
          </a:p>
        </p:txBody>
      </p:sp>
      <p:sp>
        <p:nvSpPr>
          <p:cNvPr id="5" name="body2">
            <a:extLst xmlns:a="http://schemas.openxmlformats.org/drawingml/2006/main">
              <a:ext uri="{FF2B5EF4-FFF2-40B4-BE49-F238E27FC236}">
                <a16:creationId xmlns:a16="http://schemas.microsoft.com/office/drawing/2014/main" id="{A6A9DB17-FD73-4977-A5F4-C5FB18A4901D}"/>
              </a:ext>
            </a:extLst>
          </p:cNvPr>
          <p:cNvSpPr>
            <a:spLocks xmlns:a="http://schemas.openxmlformats.org/drawingml/2006/main" noGrp="1"/>
          </p:cNvSpPr>
          <p:nvPr/>
        </p:nvSpPr>
        <p:spPr>
          <a:xfrm xmlns:a="http://schemas.openxmlformats.org/drawingml/2006/main">
            <a:off x="666750" y="3514725"/>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q = (θ₁, θ₂)ᵀ is the angle vector. a contains the two modal angle amplitudes; φ is the starting phase [rad].</a:t>
            </a:r>
          </a:p>
        </p:txBody>
      </p:sp>
      <p:sp>
        <p:nvSpPr>
          <p:cNvPr id="6" name="body3">
            <a:extLst xmlns:a="http://schemas.openxmlformats.org/drawingml/2006/main">
              <a:ext uri="{FF2B5EF4-FFF2-40B4-BE49-F238E27FC236}">
                <a16:creationId xmlns:a16="http://schemas.microsoft.com/office/drawing/2014/main" id="{9535F8F6-0CA6-4E76-8618-E55D1BDB3197}"/>
              </a:ext>
            </a:extLst>
          </p:cNvPr>
          <p:cNvSpPr>
            <a:spLocks xmlns:a="http://schemas.openxmlformats.org/drawingml/2006/main" noGrp="1"/>
          </p:cNvSpPr>
          <p:nvPr/>
        </p:nvSpPr>
        <p:spPr>
          <a:xfrm xmlns:a="http://schemas.openxmlformats.org/drawingml/2006/main">
            <a:off x="666750" y="4438650"/>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fₛ [Hz]: sampling rate of the analyzed data. Nₛ: number of samples. Tᵣ = Nₛ/fₛ [s]: record duration for FFT bin spacing.</a:t>
            </a:r>
          </a:p>
        </p:txBody>
      </p:sp>
      <p:sp>
        <p:nvSpPr>
          <p:cNvPr id="7" name="body4">
            <a:extLst xmlns:a="http://schemas.openxmlformats.org/drawingml/2006/main">
              <a:ext uri="{FF2B5EF4-FFF2-40B4-BE49-F238E27FC236}">
                <a16:creationId xmlns:a16="http://schemas.microsoft.com/office/drawing/2014/main" id="{995FDA83-878F-46B6-A972-67F8A9DA47BA}"/>
              </a:ext>
            </a:extLst>
          </p:cNvPr>
          <p:cNvSpPr>
            <a:spLocks xmlns:a="http://schemas.openxmlformats.org/drawingml/2006/main" noGrp="1"/>
          </p:cNvSpPr>
          <p:nvPr/>
        </p:nvSpPr>
        <p:spPr>
          <a:xfrm xmlns:a="http://schemas.openxmlformats.org/drawingml/2006/main">
            <a:off x="666750" y="5362575"/>
            <a:ext cx="1085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202D3C"/>
                </a:solidFill>
                <a:latin typeface="Aptos"/>
                <a:ea typeface="Aptos"/>
                <a:cs typeface="Aptos"/>
              </a:defRPr>
            </a:pPr>
            <a:r>
              <a:rPr sz="1950" b="0">
                <a:solidFill>
                  <a:srgbClr val="202D3C"/>
                </a:solidFill>
                <a:latin typeface="Aptos"/>
                <a:ea typeface="Aptos"/>
                <a:cs typeface="Aptos"/>
              </a:rPr>
              <a:t>Δf [Hz]: spacing between FFT frequency bins. A longer record reduces Δf; zero-padding alone does not improve physical resolution.</a:t>
            </a:r>
          </a:p>
        </p:txBody>
      </p:sp>
      <p:sp>
        <p:nvSpPr>
          <p:cNvPr id="8" name="page">
            <a:extLst xmlns:a="http://schemas.openxmlformats.org/drawingml/2006/main">
              <a:ext uri="{FF2B5EF4-FFF2-40B4-BE49-F238E27FC236}">
                <a16:creationId xmlns:a16="http://schemas.microsoft.com/office/drawing/2014/main" id="{53C03C2D-D8EA-4A10-9FD7-9CC7655BD3EB}"/>
              </a:ext>
            </a:extLst>
          </p:cNvPr>
          <p:cNvSpPr>
            <a:spLocks xmlns:a="http://schemas.openxmlformats.org/drawingml/2006/main" noGrp="1"/>
          </p:cNvSpPr>
          <p:nvPr/>
        </p:nvSpPr>
        <p:spPr>
          <a:xfrm xmlns:a="http://schemas.openxmlformats.org/drawingml/2006/main">
            <a:off x="11449050" y="65151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b="0">
                <a:solidFill>
                  <a:srgbClr val="6B7280"/>
                </a:solidFill>
                <a:latin typeface="Aptos"/>
                <a:ea typeface="Aptos"/>
                <a:cs typeface="Aptos"/>
              </a:defRPr>
            </a:pPr>
            <a:r>
              <a:rPr sz="1050" b="0">
                <a:solidFill>
                  <a:srgbClr val="6B7280"/>
                </a:solidFill>
                <a:latin typeface="Aptos"/>
                <a:ea typeface="Aptos"/>
                <a:cs typeface="Aptos"/>
              </a:rPr>
              <a:t>33</a:t>
            </a:r>
          </a:p>
        </p:txBody>
      </p:sp>
    </p:spTree>
    <p:extLst>
      <p:ext uri="{BB962C8B-B14F-4D97-AF65-F5344CB8AC3E}">
        <p14:creationId xmlns:p14="http://schemas.microsoft.com/office/powerpoint/2010/main" val="6987224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2026-10-04T21:59:16.1390000Z</dcterms:created>
  <dcterms:modified xsi:type="dcterms:W3CDTF">2026-10-04T21:59:16.1390000Z</dcterms:modified>
</coreProperties>
</file>