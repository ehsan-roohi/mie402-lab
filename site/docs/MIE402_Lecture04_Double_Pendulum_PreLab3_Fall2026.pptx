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8ec03a7e914100" /><Relationship Type="http://schemas.openxmlformats.org/officeDocument/2006/relationships/extended-properties" Target="/docProps/app.xml" Id="R2cdd92e7e72e43f6" /><Relationship Type="http://schemas.openxmlformats.org/officeDocument/2006/relationships/officeDocument" Target="/ppt/presentation.xml" Id="R6a79b43227444fdd" /></Relationships>
</file>

<file path=ppt/presentation.xml><?xml version="1.0" encoding="utf-8"?>
<p:presentation xmlns:p="http://schemas.openxmlformats.org/presentationml/2006/main">
  <p:sldMasterIdLst>
    <p:sldMasterId xmlns:r="http://schemas.openxmlformats.org/officeDocument/2006/relationships" id="2147483648" r:id="R68546d0fc9444627"/>
  </p:sldMasterIdLst>
  <p:notesMasterIdLst>
    <p:notesMasterId xmlns:r="http://schemas.openxmlformats.org/officeDocument/2006/relationships" r:id="R88e1fe9c716b42c6"/>
  </p:notesMasterIdLst>
  <p:sldIdLst>
    <p:sldId xmlns:r="http://schemas.openxmlformats.org/officeDocument/2006/relationships" id="256" r:id="Ra45d65b7241a476d"/>
    <p:sldId xmlns:r="http://schemas.openxmlformats.org/officeDocument/2006/relationships" id="257" r:id="Rd76d239a974045b9"/>
    <p:sldId xmlns:r="http://schemas.openxmlformats.org/officeDocument/2006/relationships" id="258" r:id="Rab111be0de4d4030"/>
    <p:sldId xmlns:r="http://schemas.openxmlformats.org/officeDocument/2006/relationships" id="259" r:id="R907fc71bd6e14cce"/>
    <p:sldId xmlns:r="http://schemas.openxmlformats.org/officeDocument/2006/relationships" id="260" r:id="R114e6b6fe5fd4e66"/>
    <p:sldId xmlns:r="http://schemas.openxmlformats.org/officeDocument/2006/relationships" id="261" r:id="R126a00d55fa341cc"/>
    <p:sldId xmlns:r="http://schemas.openxmlformats.org/officeDocument/2006/relationships" id="262" r:id="R078e321fb9c24214"/>
    <p:sldId xmlns:r="http://schemas.openxmlformats.org/officeDocument/2006/relationships" id="263" r:id="R13182a8fcab549c6"/>
    <p:sldId xmlns:r="http://schemas.openxmlformats.org/officeDocument/2006/relationships" id="264" r:id="Rc6ba59b28614452a"/>
    <p:sldId xmlns:r="http://schemas.openxmlformats.org/officeDocument/2006/relationships" id="265" r:id="Reff3ae017d484dd2"/>
    <p:sldId xmlns:r="http://schemas.openxmlformats.org/officeDocument/2006/relationships" id="266" r:id="R34ba154133ff4b81"/>
    <p:sldId xmlns:r="http://schemas.openxmlformats.org/officeDocument/2006/relationships" id="267" r:id="R466253c3b8784f40"/>
    <p:sldId xmlns:r="http://schemas.openxmlformats.org/officeDocument/2006/relationships" id="268" r:id="R927206c2a0554d66"/>
    <p:sldId xmlns:r="http://schemas.openxmlformats.org/officeDocument/2006/relationships" id="269" r:id="Recde5a1301be4120"/>
    <p:sldId xmlns:r="http://schemas.openxmlformats.org/officeDocument/2006/relationships" id="270" r:id="Rcd5e59a276254a78"/>
    <p:sldId xmlns:r="http://schemas.openxmlformats.org/officeDocument/2006/relationships" id="271" r:id="R9f106d52e6cf44e1"/>
    <p:sldId xmlns:r="http://schemas.openxmlformats.org/officeDocument/2006/relationships" id="272" r:id="Rf4ec6a52520e4ebf"/>
    <p:sldId xmlns:r="http://schemas.openxmlformats.org/officeDocument/2006/relationships" id="273" r:id="R323f28061f554418"/>
    <p:sldId xmlns:r="http://schemas.openxmlformats.org/officeDocument/2006/relationships" id="274" r:id="R50564c43395747fa"/>
    <p:sldId xmlns:r="http://schemas.openxmlformats.org/officeDocument/2006/relationships" id="275" r:id="R23c055ae042a4bb9"/>
    <p:sldId xmlns:r="http://schemas.openxmlformats.org/officeDocument/2006/relationships" id="276" r:id="R9b63010995c647c9"/>
    <p:sldId xmlns:r="http://schemas.openxmlformats.org/officeDocument/2006/relationships" id="277" r:id="R702163b27b1b4a35"/>
    <p:sldId xmlns:r="http://schemas.openxmlformats.org/officeDocument/2006/relationships" id="278" r:id="R96d840e29b7b4d72"/>
    <p:sldId xmlns:r="http://schemas.openxmlformats.org/officeDocument/2006/relationships" id="279" r:id="Rabaa29a8d58d45c9"/>
    <p:sldId xmlns:r="http://schemas.openxmlformats.org/officeDocument/2006/relationships" id="280" r:id="R9d7f48e988a04d6a"/>
    <p:sldId xmlns:r="http://schemas.openxmlformats.org/officeDocument/2006/relationships" id="281" r:id="R79b0d7d8b80344be"/>
    <p:sldId xmlns:r="http://schemas.openxmlformats.org/officeDocument/2006/relationships" id="282" r:id="R58f693b7c8d64659"/>
    <p:sldId xmlns:r="http://schemas.openxmlformats.org/officeDocument/2006/relationships" id="283" r:id="R492b581b334f476a"/>
    <p:sldId xmlns:r="http://schemas.openxmlformats.org/officeDocument/2006/relationships" id="284" r:id="Re9b4c17267bb45a1"/>
    <p:sldId xmlns:r="http://schemas.openxmlformats.org/officeDocument/2006/relationships" id="285" r:id="Rc5cb9bdad7b14a9e"/>
    <p:sldId xmlns:r="http://schemas.openxmlformats.org/officeDocument/2006/relationships" id="286" r:id="R7e9ebcf7cf20473f"/>
    <p:sldId xmlns:r="http://schemas.openxmlformats.org/officeDocument/2006/relationships" id="287" r:id="Ra08a80cd7437454d"/>
    <p:sldId xmlns:r="http://schemas.openxmlformats.org/officeDocument/2006/relationships" id="288" r:id="Rac219f2bcccb441d"/>
    <p:sldId xmlns:r="http://schemas.openxmlformats.org/officeDocument/2006/relationships" id="289" r:id="R0d20fe01db3e4a99"/>
    <p:sldId xmlns:r="http://schemas.openxmlformats.org/officeDocument/2006/relationships" id="290" r:id="R6b73c65f3ab64ada"/>
    <p:sldId xmlns:r="http://schemas.openxmlformats.org/officeDocument/2006/relationships" id="291" r:id="R4d85156a7f8344d8"/>
    <p:sldId xmlns:r="http://schemas.openxmlformats.org/officeDocument/2006/relationships" id="292" r:id="Raf3e863c90ee4c4e"/>
    <p:sldId xmlns:r="http://schemas.openxmlformats.org/officeDocument/2006/relationships" id="293" r:id="R0d78c815c17e40f7"/>
    <p:sldId xmlns:r="http://schemas.openxmlformats.org/officeDocument/2006/relationships" id="294" r:id="Re121d0e87c354839"/>
    <p:sldId xmlns:r="http://schemas.openxmlformats.org/officeDocument/2006/relationships" id="295" r:id="R9313aeaa74ea4250"/>
    <p:sldId xmlns:r="http://schemas.openxmlformats.org/officeDocument/2006/relationships" id="296" r:id="R51ed7ddf7bb14055"/>
    <p:sldId xmlns:r="http://schemas.openxmlformats.org/officeDocument/2006/relationships" id="297" r:id="Rc38c3ca6ef954b9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5f40605e8841d0" /><Relationship Type="http://schemas.openxmlformats.org/officeDocument/2006/relationships/slideMaster" Target="/ppt/slideMasters/slideMaster1.xml" Id="R68546d0fc9444627" /><Relationship Type="http://schemas.openxmlformats.org/officeDocument/2006/relationships/notesMaster" Target="/ppt/notesMasters/notesMaster1.xml" Id="R88e1fe9c716b42c6" /><Relationship Type="http://schemas.openxmlformats.org/officeDocument/2006/relationships/presProps" Target="/ppt/presProps.xml" Id="R8f5a929cb7094cfb" /><Relationship Type="http://schemas.openxmlformats.org/officeDocument/2006/relationships/tableStyles" Target="/ppt/tableStyles.xml" Id="Rbc6979d6169a4be2" /><Relationship Type="http://schemas.openxmlformats.org/officeDocument/2006/relationships/slide" Target="/ppt/slides/slide1.xml" Id="Ra45d65b7241a476d" /><Relationship Type="http://schemas.openxmlformats.org/officeDocument/2006/relationships/slide" Target="/ppt/slides/slide2.xml" Id="Rd76d239a974045b9" /><Relationship Type="http://schemas.openxmlformats.org/officeDocument/2006/relationships/slide" Target="/ppt/slides/slide3.xml" Id="Rab111be0de4d4030" /><Relationship Type="http://schemas.openxmlformats.org/officeDocument/2006/relationships/slide" Target="/ppt/slides/slide4.xml" Id="R907fc71bd6e14cce" /><Relationship Type="http://schemas.openxmlformats.org/officeDocument/2006/relationships/slide" Target="/ppt/slides/slide5.xml" Id="R114e6b6fe5fd4e66" /><Relationship Type="http://schemas.openxmlformats.org/officeDocument/2006/relationships/slide" Target="/ppt/slides/slide6.xml" Id="R126a00d55fa341cc" /><Relationship Type="http://schemas.openxmlformats.org/officeDocument/2006/relationships/slide" Target="/ppt/slides/slide7.xml" Id="R078e321fb9c24214" /><Relationship Type="http://schemas.openxmlformats.org/officeDocument/2006/relationships/slide" Target="/ppt/slides/slide8.xml" Id="R13182a8fcab549c6" /><Relationship Type="http://schemas.openxmlformats.org/officeDocument/2006/relationships/slide" Target="/ppt/slides/slide9.xml" Id="Rc6ba59b28614452a" /><Relationship Type="http://schemas.openxmlformats.org/officeDocument/2006/relationships/slide" Target="/ppt/slides/slide10.xml" Id="Reff3ae017d484dd2" /><Relationship Type="http://schemas.openxmlformats.org/officeDocument/2006/relationships/slide" Target="/ppt/slides/slide11.xml" Id="R34ba154133ff4b81" /><Relationship Type="http://schemas.openxmlformats.org/officeDocument/2006/relationships/slide" Target="/ppt/slides/slide12.xml" Id="R466253c3b8784f40" /><Relationship Type="http://schemas.openxmlformats.org/officeDocument/2006/relationships/slide" Target="/ppt/slides/slide13.xml" Id="R927206c2a0554d66" /><Relationship Type="http://schemas.openxmlformats.org/officeDocument/2006/relationships/slide" Target="/ppt/slides/slide14.xml" Id="Recde5a1301be4120" /><Relationship Type="http://schemas.openxmlformats.org/officeDocument/2006/relationships/slide" Target="/ppt/slides/slide15.xml" Id="Rcd5e59a276254a78" /><Relationship Type="http://schemas.openxmlformats.org/officeDocument/2006/relationships/slide" Target="/ppt/slides/slide16.xml" Id="R9f106d52e6cf44e1" /><Relationship Type="http://schemas.openxmlformats.org/officeDocument/2006/relationships/slide" Target="/ppt/slides/slide17.xml" Id="Rf4ec6a52520e4ebf" /><Relationship Type="http://schemas.openxmlformats.org/officeDocument/2006/relationships/slide" Target="/ppt/slides/slide18.xml" Id="R323f28061f554418" /><Relationship Type="http://schemas.openxmlformats.org/officeDocument/2006/relationships/slide" Target="/ppt/slides/slide19.xml" Id="R50564c43395747fa" /><Relationship Type="http://schemas.openxmlformats.org/officeDocument/2006/relationships/slide" Target="/ppt/slides/slide20.xml" Id="R23c055ae042a4bb9" /><Relationship Type="http://schemas.openxmlformats.org/officeDocument/2006/relationships/slide" Target="/ppt/slides/slide21.xml" Id="R9b63010995c647c9" /><Relationship Type="http://schemas.openxmlformats.org/officeDocument/2006/relationships/slide" Target="/ppt/slides/slide22.xml" Id="R702163b27b1b4a35" /><Relationship Type="http://schemas.openxmlformats.org/officeDocument/2006/relationships/slide" Target="/ppt/slides/slide23.xml" Id="R96d840e29b7b4d72" /><Relationship Type="http://schemas.openxmlformats.org/officeDocument/2006/relationships/slide" Target="/ppt/slides/slide24.xml" Id="Rabaa29a8d58d45c9" /><Relationship Type="http://schemas.openxmlformats.org/officeDocument/2006/relationships/slide" Target="/ppt/slides/slide25.xml" Id="R9d7f48e988a04d6a" /><Relationship Type="http://schemas.openxmlformats.org/officeDocument/2006/relationships/slide" Target="/ppt/slides/slide26.xml" Id="R79b0d7d8b80344be" /><Relationship Type="http://schemas.openxmlformats.org/officeDocument/2006/relationships/slide" Target="/ppt/slides/slide27.xml" Id="R58f693b7c8d64659" /><Relationship Type="http://schemas.openxmlformats.org/officeDocument/2006/relationships/slide" Target="/ppt/slides/slide28.xml" Id="R492b581b334f476a" /><Relationship Type="http://schemas.openxmlformats.org/officeDocument/2006/relationships/slide" Target="/ppt/slides/slide29.xml" Id="Re9b4c17267bb45a1" /><Relationship Type="http://schemas.openxmlformats.org/officeDocument/2006/relationships/slide" Target="/ppt/slides/slide30.xml" Id="Rc5cb9bdad7b14a9e" /><Relationship Type="http://schemas.openxmlformats.org/officeDocument/2006/relationships/slide" Target="/ppt/slides/slide31.xml" Id="R7e9ebcf7cf20473f" /><Relationship Type="http://schemas.openxmlformats.org/officeDocument/2006/relationships/slide" Target="/ppt/slides/slide32.xml" Id="Ra08a80cd7437454d" /><Relationship Type="http://schemas.openxmlformats.org/officeDocument/2006/relationships/slide" Target="/ppt/slides/slide33.xml" Id="Rac219f2bcccb441d" /><Relationship Type="http://schemas.openxmlformats.org/officeDocument/2006/relationships/slide" Target="/ppt/slides/slide34.xml" Id="R0d20fe01db3e4a99" /><Relationship Type="http://schemas.openxmlformats.org/officeDocument/2006/relationships/slide" Target="/ppt/slides/slide35.xml" Id="R6b73c65f3ab64ada" /><Relationship Type="http://schemas.openxmlformats.org/officeDocument/2006/relationships/slide" Target="/ppt/slides/slide36.xml" Id="R4d85156a7f8344d8" /><Relationship Type="http://schemas.openxmlformats.org/officeDocument/2006/relationships/slide" Target="/ppt/slides/slide37.xml" Id="Raf3e863c90ee4c4e" /><Relationship Type="http://schemas.openxmlformats.org/officeDocument/2006/relationships/slide" Target="/ppt/slides/slide38.xml" Id="R0d78c815c17e40f7" /><Relationship Type="http://schemas.openxmlformats.org/officeDocument/2006/relationships/slide" Target="/ppt/slides/slide39.xml" Id="Re121d0e87c354839" /><Relationship Type="http://schemas.openxmlformats.org/officeDocument/2006/relationships/slide" Target="/ppt/slides/slide40.xml" Id="R9313aeaa74ea4250" /><Relationship Type="http://schemas.openxmlformats.org/officeDocument/2006/relationships/slide" Target="/ppt/slides/slide41.xml" Id="R51ed7ddf7bb14055" /><Relationship Type="http://schemas.openxmlformats.org/officeDocument/2006/relationships/slide" Target="/ppt/slides/slide42.xml" Id="Rc38c3ca6ef954b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4e9ff1995a45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80996234494743" /><Relationship Type="http://schemas.openxmlformats.org/officeDocument/2006/relationships/notesMaster" Target="/ppt/notesMasters/notesMaster1.xml" Id="Re0a2a9103af24f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720769b71f4aad" /><Relationship Type="http://schemas.openxmlformats.org/officeDocument/2006/relationships/notesMaster" Target="/ppt/notesMasters/notesMaster1.xml" Id="R32444e53dec547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fd41d9a8ed48df" /><Relationship Type="http://schemas.openxmlformats.org/officeDocument/2006/relationships/notesMaster" Target="/ppt/notesMasters/notesMaster1.xml" Id="Rdf1156f38fae4e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980f3e63154305" /><Relationship Type="http://schemas.openxmlformats.org/officeDocument/2006/relationships/notesMaster" Target="/ppt/notesMasters/notesMaster1.xml" Id="Ra0323b5cf09941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65e12b5de942e2" /><Relationship Type="http://schemas.openxmlformats.org/officeDocument/2006/relationships/notesMaster" Target="/ppt/notesMasters/notesMaster1.xml" Id="R13cf268881974b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aa1035ede74d99" /><Relationship Type="http://schemas.openxmlformats.org/officeDocument/2006/relationships/notesMaster" Target="/ppt/notesMasters/notesMaster1.xml" Id="Rdd79b7baa09744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d99e9020824106" /><Relationship Type="http://schemas.openxmlformats.org/officeDocument/2006/relationships/notesMaster" Target="/ppt/notesMasters/notesMaster1.xml" Id="R97fc13e5333e41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08c35d75544db6" /><Relationship Type="http://schemas.openxmlformats.org/officeDocument/2006/relationships/notesMaster" Target="/ppt/notesMasters/notesMaster1.xml" Id="Rc19e9ea2e2c248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6322627c77480d" /><Relationship Type="http://schemas.openxmlformats.org/officeDocument/2006/relationships/notesMaster" Target="/ppt/notesMasters/notesMaster1.xml" Id="Re2299627df694e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e064e21d8841cd" /><Relationship Type="http://schemas.openxmlformats.org/officeDocument/2006/relationships/notesMaster" Target="/ppt/notesMasters/notesMaster1.xml" Id="Ref8520ab8b894e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d7c43f3d5114bc5" /><Relationship Type="http://schemas.openxmlformats.org/officeDocument/2006/relationships/notesMaster" Target="/ppt/notesMasters/notesMaster1.xml" Id="Rd906cc987bb942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ab4593524f4f84" /><Relationship Type="http://schemas.openxmlformats.org/officeDocument/2006/relationships/notesMaster" Target="/ppt/notesMasters/notesMaster1.xml" Id="R6e1991d80ea747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eb7d371492f46ce" /><Relationship Type="http://schemas.openxmlformats.org/officeDocument/2006/relationships/notesMaster" Target="/ppt/notesMasters/notesMaster1.xml" Id="R3392d84517af49a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1c8ec5595a450a" /><Relationship Type="http://schemas.openxmlformats.org/officeDocument/2006/relationships/notesMaster" Target="/ppt/notesMasters/notesMaster1.xml" Id="Rd7829d3781344a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c918b6078443d4" /><Relationship Type="http://schemas.openxmlformats.org/officeDocument/2006/relationships/notesMaster" Target="/ppt/notesMasters/notesMaster1.xml" Id="Rea75b76facaf40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9bd8798d4e451b" /><Relationship Type="http://schemas.openxmlformats.org/officeDocument/2006/relationships/notesMaster" Target="/ppt/notesMasters/notesMaster1.xml" Id="R4a700055e6f243e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92df05d92b1441c" /><Relationship Type="http://schemas.openxmlformats.org/officeDocument/2006/relationships/notesMaster" Target="/ppt/notesMasters/notesMaster1.xml" Id="Rf7d77afba31b46b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24386dcccc40cf" /><Relationship Type="http://schemas.openxmlformats.org/officeDocument/2006/relationships/notesMaster" Target="/ppt/notesMasters/notesMaster1.xml" Id="R28df7ce02cc1473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b1295a0dd604020" /><Relationship Type="http://schemas.openxmlformats.org/officeDocument/2006/relationships/notesMaster" Target="/ppt/notesMasters/notesMaster1.xml" Id="R562cc94d6bdf451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a0192b999754627" /><Relationship Type="http://schemas.openxmlformats.org/officeDocument/2006/relationships/notesMaster" Target="/ppt/notesMasters/notesMaster1.xml" Id="Rcf06c9198fd244c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42f3c26031048c4" /><Relationship Type="http://schemas.openxmlformats.org/officeDocument/2006/relationships/notesMaster" Target="/ppt/notesMasters/notesMaster1.xml" Id="R975e4d3c6b704c1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719b17589a64cb1" /><Relationship Type="http://schemas.openxmlformats.org/officeDocument/2006/relationships/notesMaster" Target="/ppt/notesMasters/notesMaster1.xml" Id="Rb862538447ae4f4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ad2306f5bd14c06" /><Relationship Type="http://schemas.openxmlformats.org/officeDocument/2006/relationships/notesMaster" Target="/ppt/notesMasters/notesMaster1.xml" Id="Rb60e8b44ebbd463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fc34cb065274113" /><Relationship Type="http://schemas.openxmlformats.org/officeDocument/2006/relationships/notesMaster" Target="/ppt/notesMasters/notesMaster1.xml" Id="R9d9254c65dde4bb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a0a4ca8b68d4bda" /><Relationship Type="http://schemas.openxmlformats.org/officeDocument/2006/relationships/notesMaster" Target="/ppt/notesMasters/notesMaster1.xml" Id="R527a422cbcc6405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c0f1f01119f416e" /><Relationship Type="http://schemas.openxmlformats.org/officeDocument/2006/relationships/notesMaster" Target="/ppt/notesMasters/notesMaster1.xml" Id="R52c2b6aaafaa42c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7ad1213a25c4cf3" /><Relationship Type="http://schemas.openxmlformats.org/officeDocument/2006/relationships/notesMaster" Target="/ppt/notesMasters/notesMaster1.xml" Id="Rf1d57084e3414d2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2210847362f4134" /><Relationship Type="http://schemas.openxmlformats.org/officeDocument/2006/relationships/notesMaster" Target="/ppt/notesMasters/notesMaster1.xml" Id="Rf5d22235c08448a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8e2740c0e8c492f" /><Relationship Type="http://schemas.openxmlformats.org/officeDocument/2006/relationships/notesMaster" Target="/ppt/notesMasters/notesMaster1.xml" Id="R3df15398078b4c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6e3a913fc254865" /><Relationship Type="http://schemas.openxmlformats.org/officeDocument/2006/relationships/notesMaster" Target="/ppt/notesMasters/notesMaster1.xml" Id="R490008880d174f4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150fa8a168f4a97" /><Relationship Type="http://schemas.openxmlformats.org/officeDocument/2006/relationships/notesMaster" Target="/ppt/notesMasters/notesMaster1.xml" Id="Rbdc8d90a8fdb44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b462e10f9f24775" /><Relationship Type="http://schemas.openxmlformats.org/officeDocument/2006/relationships/notesMaster" Target="/ppt/notesMasters/notesMaster1.xml" Id="R496f10d11acd4de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d68fbb7af154321" /><Relationship Type="http://schemas.openxmlformats.org/officeDocument/2006/relationships/notesMaster" Target="/ppt/notesMasters/notesMaster1.xml" Id="R749f8c17eb404e0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63479a68f540bc" /><Relationship Type="http://schemas.openxmlformats.org/officeDocument/2006/relationships/notesMaster" Target="/ppt/notesMasters/notesMaster1.xml" Id="R335d921ed78a4ef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c0b979c0f55415a" /><Relationship Type="http://schemas.openxmlformats.org/officeDocument/2006/relationships/notesMaster" Target="/ppt/notesMasters/notesMaster1.xml" Id="Rd4e0672bf76e449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8881303448a4396" /><Relationship Type="http://schemas.openxmlformats.org/officeDocument/2006/relationships/notesMaster" Target="/ppt/notesMasters/notesMaster1.xml" Id="R80fff0ce59ac418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a0dd35489204f60" /><Relationship Type="http://schemas.openxmlformats.org/officeDocument/2006/relationships/notesMaster" Target="/ppt/notesMasters/notesMaster1.xml" Id="Rbebecee6c0ce415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11c94fd4cbc491a" /><Relationship Type="http://schemas.openxmlformats.org/officeDocument/2006/relationships/notesMaster" Target="/ppt/notesMasters/notesMaster1.xml" Id="R96577470f428441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e57218324a54f30" /><Relationship Type="http://schemas.openxmlformats.org/officeDocument/2006/relationships/notesMaster" Target="/ppt/notesMasters/notesMaster1.xml" Id="R2f88a46317444ad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ff83d22e85d4dcd" /><Relationship Type="http://schemas.openxmlformats.org/officeDocument/2006/relationships/notesMaster" Target="/ppt/notesMasters/notesMaster1.xml" Id="R5181ebe68b31489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24448f8af614be6" /><Relationship Type="http://schemas.openxmlformats.org/officeDocument/2006/relationships/notesMaster" Target="/ppt/notesMasters/notesMaster1.xml" Id="Rc523c79f21fb4b9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ed89a597f6d4d54" /><Relationship Type="http://schemas.openxmlformats.org/officeDocument/2006/relationships/notesMaster" Target="/ppt/notesMasters/notesMaster1.xml" Id="Rf18a5514c2234d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Upper-bar mass m1 and lower-bar mass m2 are distributed along uniform links. M1 sits at the end of link 1; M2 sits at the end of link 2. This idealization omits the finite rotational inertia of bob bodies. Explain the physical allocation before entering values.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confuse angular speed omega_i with a normal-mode angular frequency Omega. The latter describes repetition of a small oscillation and is introduced later.</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Internal forces at a frictionless ideal joint exchange energy between components. Their net contribution to the virtual work of the complete constrained system vanishes. Energy is a derivation tool, not an unexplained black box.</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h1 is the height increase of the joint, hG1 of the upper bar center, hG2 of the lower bar center, and h2 of the lower bob. The same L1(1-cos theta1) term occurs in hG2 and h2 because their support point moves.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V=m1*g*hG1+M1*g*h1+m2*g*hG2+M2*g*h2, then collect the theta1 and theta2 terms. This gives G1=(m1/2+M1+m2+M2)gL1 and G2=(m2/2+M2)gL2. At zero angles the energy is zero.</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generalized torques for the two absolute-angle coordinates, not simply the net torque on an isolated lower bar about a moving pivot. That distinction prevents double-counting joint reactions.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Differentiate the coordinate equations. The two velocity vectors are tangent to their respective links. Their dot product is L1*L2*omega1*omega2*cos(theta1-theta2). This is a geometric projection, not a new force.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end inertia follows from I=integral_0^L s^2(m/L) ds=mL^2/3. The center inertia is mL^2/12. For the lower bar, T=1/2 m2 vG2^2+1/2 (m2 L2^2/12) omega2^2. Combining these gives the m2/3 and m2/2 factors on the next slide.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all four components. I11 includes the mass of the whole lower assembly because rotation of link 1 carries it through space. I22 is the lower assembly inertia about the moving joint. C is the coupling coefficient. T is a positive quadratic form for physical positive masses; a negative cross term does not mean negative total kinetic energy.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Q1 and Q2 are generalized nonconservative torques conjugate to the absolute angles. A torque at the moving joint does work at the relative angular speed, so it must contribute consistently to both generalized torques. Do not simply assign every damping effect to independent terms without defining the model.</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sequence rather than asking students to memorize the final result: positions, velocities, T and V, Lagrange equations, coupled accelerations. The derivatives introduce the sin Delta angular-speed-squared terms.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Delta=theta1-theta2. Equation 1 has +C*sin Delta*omega2^2 on the left; equation 2 has -C*sin Delta*omega1^2 on the left. In the supplied right-hand-side code these become -C*sin Delta*omega2^2 and +C*sin Delta*omega1^2 respectively. Signs have been checked against the Lagrangian.</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MATLAB baseline uses ode45; the current supplied pre-lab notebook uses a fixed-step RK4 implementation. State vector is [theta1, omega1, theta2, omega2]. Check numerical energy drift separately from real physical dissipation.</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say the two angles always have equal amplitudes in a mode. Their amplitude ratio depends on masses and lengths. Equal initial angles are not generally an exact normal mode.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vector a contains the two mode amplitudes. This is a generalized eigenvalue problem K*a=Omega^2*M0*a. M0=[[I11,C],[C,I22]] and K=diag(G1,G2). Use this connection when explaining why spectra of both angles may contain both natural frequencies.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Experience from Lab 2: a high percentage of finite coordinates does not prove the correct bob was tracked. Check movement and link lengths visually. Do not force a sinusoid through an invalid trajectory.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up-positive coordinates, the downward component is -y. For link 2 it is -(y2-y1). In MATLAB atan2 takes the first and second component in the order shown here. Use the relative link vector, not the lower bob position relative to the fixed pivot.</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these symbols before showing the following equations. Ask students to identify the corresponding physical part or measured quantity.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Ns is the number of equally spaced samples, fs is the sample rate of the analyzed angle series, and Tr=Ns/fs is its record duration convention. If processing every tenth camera frame, fs is lower than the capture rate. Do not feed irregularly missing samples into an ordinary FFT as if the spacing were unchanged.</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Answers: alignment is not generally an invariant motion or a pure mode; link-1 rotation carries the whole lower assembly; M2 enters I11,I22,C,G1,G2; compare markers and approximately constant link lengths with the raw video, rather than judging only plot smoothness.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facb69d91d41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256de363bb44ee" /><Relationship Type="http://schemas.openxmlformats.org/officeDocument/2006/relationships/slideLayout" Target="/ppt/slideLayouts/slideLayout1.xml" Id="R7ec31e6b85f24b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c31e6b85f24b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9ee259b58144f8" /><Relationship Type="http://schemas.openxmlformats.org/officeDocument/2006/relationships/image" Target="/ppt/media/image.jpeg" Id="Rf65cd75a8ffe42a2" /><Relationship Type="http://schemas.openxmlformats.org/officeDocument/2006/relationships/notesSlide" Target="/ppt/notesSlides/notesSlide1.xml" Id="R20a20ab053284f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7efb4c3185540cc" /><Relationship Type="http://schemas.openxmlformats.org/officeDocument/2006/relationships/notesSlide" Target="/ppt/notesSlides/notesSlide2.xml" Id="Rcb73e7a63e6b4b3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7e64b53661e48af" /><Relationship Type="http://schemas.openxmlformats.org/officeDocument/2006/relationships/image" Target="/ppt/media/image.png" Id="Ra1035ec4c9ac498b" /><Relationship Type="http://schemas.openxmlformats.org/officeDocument/2006/relationships/notesSlide" Target="/ppt/notesSlides/notesSlide3.xml" Id="Re4be0146191146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332924d5a745e2" /><Relationship Type="http://schemas.openxmlformats.org/officeDocument/2006/relationships/notesSlide" Target="/ppt/notesSlides/notesSlide4.xml" Id="Ref2e7f7e4b724f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468ffe9420a4240" /><Relationship Type="http://schemas.openxmlformats.org/officeDocument/2006/relationships/notesSlide" Target="/ppt/notesSlides/notesSlide5.xml" Id="Rf375b5a53c9648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9f268e50ec406b" /><Relationship Type="http://schemas.openxmlformats.org/officeDocument/2006/relationships/notesSlide" Target="/ppt/notesSlides/notesSlide6.xml" Id="Rbb34e6a2f1dd48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5ede7f977f4664" /><Relationship Type="http://schemas.openxmlformats.org/officeDocument/2006/relationships/notesSlide" Target="/ppt/notesSlides/notesSlide7.xml" Id="Rd424c0d4b7b042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524025b7a44ac5" /><Relationship Type="http://schemas.openxmlformats.org/officeDocument/2006/relationships/notesSlide" Target="/ppt/notesSlides/notesSlide8.xml" Id="R6899d5465ff049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2007688d47e4d3b" /><Relationship Type="http://schemas.openxmlformats.org/officeDocument/2006/relationships/notesSlide" Target="/ppt/notesSlides/notesSlide9.xml" Id="R62ba5f58f329447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986b4b23cf64cc2" /><Relationship Type="http://schemas.openxmlformats.org/officeDocument/2006/relationships/notesSlide" Target="/ppt/notesSlides/notesSlide10.xml" Id="Rfc4860d0323049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97fff35cf854127" /><Relationship Type="http://schemas.openxmlformats.org/officeDocument/2006/relationships/notesSlide" Target="/ppt/notesSlides/notesSlide11.xml" Id="Rfc3686f6485e47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51708fe7194e8b" /><Relationship Type="http://schemas.openxmlformats.org/officeDocument/2006/relationships/notesSlide" Target="/ppt/notesSlides/notesSlide12.xml" Id="R1659523cebf54e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4f108e439f34660" /><Relationship Type="http://schemas.openxmlformats.org/officeDocument/2006/relationships/notesSlide" Target="/ppt/notesSlides/notesSlide13.xml" Id="Rfb345df07b474f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cb1c3777f5e466c" /><Relationship Type="http://schemas.openxmlformats.org/officeDocument/2006/relationships/notesSlide" Target="/ppt/notesSlides/notesSlide14.xml" Id="R88ae5ca0b51040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01b04a875964cd1" /><Relationship Type="http://schemas.openxmlformats.org/officeDocument/2006/relationships/notesSlide" Target="/ppt/notesSlides/notesSlide15.xml" Id="Ra6f84723ce114ba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0102347cde47f6" /><Relationship Type="http://schemas.openxmlformats.org/officeDocument/2006/relationships/notesSlide" Target="/ppt/notesSlides/notesSlide16.xml" Id="Rbcd54c6757494c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5b6ff0b2794142" /><Relationship Type="http://schemas.openxmlformats.org/officeDocument/2006/relationships/notesSlide" Target="/ppt/notesSlides/notesSlide17.xml" Id="Rdfbbf12c6aeb4b3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f6472ed5e994ee3" /><Relationship Type="http://schemas.openxmlformats.org/officeDocument/2006/relationships/notesSlide" Target="/ppt/notesSlides/notesSlide18.xml" Id="Re4e7ed217d6d4ed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9b9d1cc192942b8" /><Relationship Type="http://schemas.openxmlformats.org/officeDocument/2006/relationships/notesSlide" Target="/ppt/notesSlides/notesSlide19.xml" Id="Rf39648be52074db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8168f461f754a20" /><Relationship Type="http://schemas.openxmlformats.org/officeDocument/2006/relationships/notesSlide" Target="/ppt/notesSlides/notesSlide20.xml" Id="R2300dd9a652042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da07df98ccb4711" /><Relationship Type="http://schemas.openxmlformats.org/officeDocument/2006/relationships/notesSlide" Target="/ppt/notesSlides/notesSlide21.xml" Id="Rbbc2dc82411a4d7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f4e4896a9834716" /><Relationship Type="http://schemas.openxmlformats.org/officeDocument/2006/relationships/notesSlide" Target="/ppt/notesSlides/notesSlide22.xml" Id="Rc6d8e91bcede4da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3c760d1385b4154" /><Relationship Type="http://schemas.openxmlformats.org/officeDocument/2006/relationships/notesSlide" Target="/ppt/notesSlides/notesSlide23.xml" Id="R1dbc39d307f249f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330b7bb176447b4" /><Relationship Type="http://schemas.openxmlformats.org/officeDocument/2006/relationships/notesSlide" Target="/ppt/notesSlides/notesSlide24.xml" Id="R8ed67dfdc622411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db3c2be0d6f4c01" /><Relationship Type="http://schemas.openxmlformats.org/officeDocument/2006/relationships/notesSlide" Target="/ppt/notesSlides/notesSlide25.xml" Id="Re749465eeb794b1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09f4ef34ba84a1b" /><Relationship Type="http://schemas.openxmlformats.org/officeDocument/2006/relationships/notesSlide" Target="/ppt/notesSlides/notesSlide26.xml" Id="Rd379329411c643f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d47d6f742644e0e" /><Relationship Type="http://schemas.openxmlformats.org/officeDocument/2006/relationships/notesSlide" Target="/ppt/notesSlides/notesSlide27.xml" Id="Rcda71722dd10415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ccf22ae94784e54" /><Relationship Type="http://schemas.openxmlformats.org/officeDocument/2006/relationships/notesSlide" Target="/ppt/notesSlides/notesSlide28.xml" Id="Re5736611dcb74f0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e436866d4ea4149" /><Relationship Type="http://schemas.openxmlformats.org/officeDocument/2006/relationships/notesSlide" Target="/ppt/notesSlides/notesSlide29.xml" Id="Rcc951f08bb31459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22a2b37b6d44030" /><Relationship Type="http://schemas.openxmlformats.org/officeDocument/2006/relationships/notesSlide" Target="/ppt/notesSlides/notesSlide30.xml" Id="Rb7f9ce8c7ba945a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fe2fd175f134605" /><Relationship Type="http://schemas.openxmlformats.org/officeDocument/2006/relationships/image" Target="/ppt/media/image2.jpeg" Id="Rf0dd9b6ea4dd49dc" /><Relationship Type="http://schemas.openxmlformats.org/officeDocument/2006/relationships/notesSlide" Target="/ppt/notesSlides/notesSlide31.xml" Id="R1087ee2de3b64f8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de03e8132e74f39" /><Relationship Type="http://schemas.openxmlformats.org/officeDocument/2006/relationships/notesSlide" Target="/ppt/notesSlides/notesSlide32.xml" Id="R2c968a0bf9e942a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ba666d069845d4" /><Relationship Type="http://schemas.openxmlformats.org/officeDocument/2006/relationships/image" Target="/ppt/media/image2.png" Id="R6e2c05a95ce44542" /><Relationship Type="http://schemas.openxmlformats.org/officeDocument/2006/relationships/notesSlide" Target="/ppt/notesSlides/notesSlide33.xml" Id="R92882b1494c2452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f10a6d43bfd4b5d" /><Relationship Type="http://schemas.openxmlformats.org/officeDocument/2006/relationships/notesSlide" Target="/ppt/notesSlides/notesSlide34.xml" Id="Rd203e97a27874b0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13f196f1ba24492" /><Relationship Type="http://schemas.openxmlformats.org/officeDocument/2006/relationships/notesSlide" Target="/ppt/notesSlides/notesSlide35.xml" Id="Rca7723aef8c04b4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667177be5974154" /><Relationship Type="http://schemas.openxmlformats.org/officeDocument/2006/relationships/notesSlide" Target="/ppt/notesSlides/notesSlide36.xml" Id="R9f7f2f9efb71451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3856754fe7a4dee" /><Relationship Type="http://schemas.openxmlformats.org/officeDocument/2006/relationships/notesSlide" Target="/ppt/notesSlides/notesSlide37.xml" Id="Rc659489219a747c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90bb89fbfad4749" /><Relationship Type="http://schemas.openxmlformats.org/officeDocument/2006/relationships/notesSlide" Target="/ppt/notesSlides/notesSlide38.xml" Id="Rd45f94f33c1f42d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394294091d3424b" /><Relationship Type="http://schemas.openxmlformats.org/officeDocument/2006/relationships/notesSlide" Target="/ppt/notesSlides/notesSlide39.xml" Id="R458ade314f92456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4365914fee944bd" /><Relationship Type="http://schemas.openxmlformats.org/officeDocument/2006/relationships/notesSlide" Target="/ppt/notesSlides/notesSlide40.xml" Id="Re6fb351fb0ef4a3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e9ee9bf2fad4cc2" /><Relationship Type="http://schemas.openxmlformats.org/officeDocument/2006/relationships/notesSlide" Target="/ppt/notesSlides/notesSlide41.xml" Id="Rc971000366db45f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006e6d8191b4585" /><Relationship Type="http://schemas.openxmlformats.org/officeDocument/2006/relationships/notesSlide" Target="/ppt/notesSlides/notesSlide42.xml" Id="R4c2d7118d7ff481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880626A-D487-41CF-A206-560C84A9A03E}"/>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EDB6C83-366E-4700-A614-564DA72B6DEC}"/>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Double pendulum: motion, energy and measurement</a:t>
            </a:r>
          </a:p>
        </p:txBody>
      </p:sp>
      <p:sp>
        <p:nvSpPr>
          <p:cNvPr id="3" name="body0">
            <a:extLst xmlns:a="http://schemas.openxmlformats.org/drawingml/2006/main">
              <a:ext uri="{FF2B5EF4-FFF2-40B4-BE49-F238E27FC236}">
                <a16:creationId xmlns:a16="http://schemas.microsoft.com/office/drawing/2014/main" id="{009B26CD-38BC-444E-B3AF-0D49C4D74CEF}"/>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Lecture 04 · MIE 402 · Fall 2026</a:t>
            </a:r>
          </a:p>
        </p:txBody>
      </p:sp>
      <p:sp>
        <p:nvSpPr>
          <p:cNvPr id="4" name="body1">
            <a:extLst xmlns:a="http://schemas.openxmlformats.org/drawingml/2006/main">
              <a:ext uri="{FF2B5EF4-FFF2-40B4-BE49-F238E27FC236}">
                <a16:creationId xmlns:a16="http://schemas.microsoft.com/office/drawing/2014/main" id="{6858650B-3C81-4B50-A9B3-07F6051773BE}"/>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A physical explanation of the model and the Lab 3 workflow.</a:t>
            </a:r>
          </a:p>
        </p:txBody>
      </p:sp>
      <p:sp>
        <p:nvSpPr>
          <p:cNvPr id="5" name="body2">
            <a:extLst xmlns:a="http://schemas.openxmlformats.org/drawingml/2006/main">
              <a:ext uri="{FF2B5EF4-FFF2-40B4-BE49-F238E27FC236}">
                <a16:creationId xmlns:a16="http://schemas.microsoft.com/office/drawing/2014/main" id="{EE0973E2-78D0-489E-97BF-63602FCFC006}"/>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Core lesson plus derivations for discussion and review.</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65cd75a8ffe42a2"/>
          <a:stretch xmlns:a="http://schemas.openxmlformats.org/drawingml/2006/main"/>
        </p:blipFill>
        <p:spPr>
          <a:xfrm xmlns:a="http://schemas.openxmlformats.org/drawingml/2006/main">
            <a:off x="6524625" y="1666875"/>
            <a:ext cx="5238750" cy="4191000"/>
          </a:xfrm>
          <a:prstGeom xmlns:a="http://schemas.openxmlformats.org/drawingml/2006/main" prst="rect">
            <a:avLst/>
          </a:prstGeom>
        </p:spPr>
      </p:pic>
      <p:sp>
        <p:nvSpPr>
          <p:cNvPr id="7" name="page">
            <a:extLst xmlns:a="http://schemas.openxmlformats.org/drawingml/2006/main">
              <a:ext uri="{FF2B5EF4-FFF2-40B4-BE49-F238E27FC236}">
                <a16:creationId xmlns:a16="http://schemas.microsoft.com/office/drawing/2014/main" id="{108806D2-E245-4A5C-85B4-2D8492F592F1}"/>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a:t>
            </a:r>
          </a:p>
        </p:txBody>
      </p:sp>
    </p:spTree>
    <p:extLst>
      <p:ext uri="{BB962C8B-B14F-4D97-AF65-F5344CB8AC3E}">
        <p14:creationId xmlns:p14="http://schemas.microsoft.com/office/powerpoint/2010/main" val="13415699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081E3FB-26C3-4EA0-AC13-75983A55A4B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975E9688-E0FB-4236-B309-AE610EDE51BE}"/>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work students will do</a:t>
            </a:r>
          </a:p>
        </p:txBody>
      </p:sp>
      <p:sp>
        <p:nvSpPr>
          <p:cNvPr id="3" name="body0">
            <a:extLst xmlns:a="http://schemas.openxmlformats.org/drawingml/2006/main">
              <a:ext uri="{FF2B5EF4-FFF2-40B4-BE49-F238E27FC236}">
                <a16:creationId xmlns:a16="http://schemas.microsoft.com/office/drawing/2014/main" id="{40AE12D7-C72F-4FD1-96CA-3D7C770D27CC}"/>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Measure the two links and the masses attached to them.</a:t>
            </a:r>
          </a:p>
        </p:txBody>
      </p:sp>
      <p:sp>
        <p:nvSpPr>
          <p:cNvPr id="4" name="body1">
            <a:extLst xmlns:a="http://schemas.openxmlformats.org/drawingml/2006/main">
              <a:ext uri="{FF2B5EF4-FFF2-40B4-BE49-F238E27FC236}">
                <a16:creationId xmlns:a16="http://schemas.microsoft.com/office/drawing/2014/main" id="{2E6934F0-CA42-4B3F-8480-3C90EB001A03}"/>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Record at least four releases and track both moving bob centers.</a:t>
            </a:r>
          </a:p>
        </p:txBody>
      </p:sp>
      <p:sp>
        <p:nvSpPr>
          <p:cNvPr id="5" name="body2">
            <a:extLst xmlns:a="http://schemas.openxmlformats.org/drawingml/2006/main">
              <a:ext uri="{FF2B5EF4-FFF2-40B4-BE49-F238E27FC236}">
                <a16:creationId xmlns:a16="http://schemas.microsoft.com/office/drawing/2014/main" id="{698E0708-5FA1-46DA-8749-55D5C076BD3F}"/>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Convert saved positions into angles and compare the measured motion with a simulation.</a:t>
            </a:r>
          </a:p>
        </p:txBody>
      </p:sp>
      <p:sp>
        <p:nvSpPr>
          <p:cNvPr id="6" name="body3">
            <a:extLst xmlns:a="http://schemas.openxmlformats.org/drawingml/2006/main">
              <a:ext uri="{FF2B5EF4-FFF2-40B4-BE49-F238E27FC236}">
                <a16:creationId xmlns:a16="http://schemas.microsoft.com/office/drawing/2014/main" id="{157DEAD4-D07C-4AE0-9646-DAD40D64531B}"/>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Keep the MP4, ExpData MAT file, settings and trial log for every release.</a:t>
            </a:r>
          </a:p>
        </p:txBody>
      </p:sp>
      <p:sp>
        <p:nvSpPr>
          <p:cNvPr id="7" name="page">
            <a:extLst xmlns:a="http://schemas.openxmlformats.org/drawingml/2006/main">
              <a:ext uri="{FF2B5EF4-FFF2-40B4-BE49-F238E27FC236}">
                <a16:creationId xmlns:a16="http://schemas.microsoft.com/office/drawing/2014/main" id="{99485AB3-F10A-45CD-AE44-1D1DD326F89D}"/>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a:t>
            </a:r>
          </a:p>
        </p:txBody>
      </p:sp>
    </p:spTree>
    <p:extLst>
      <p:ext uri="{BB962C8B-B14F-4D97-AF65-F5344CB8AC3E}">
        <p14:creationId xmlns:p14="http://schemas.microsoft.com/office/powerpoint/2010/main" val="20757103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C6779D5E-C6A6-4CD2-8027-EBBD8E4CF85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2A925985-BE9A-447E-BDCA-52EDA042D33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Two links and two absolute angles</a:t>
            </a:r>
          </a:p>
        </p:txBody>
      </p:sp>
      <p:sp>
        <p:nvSpPr>
          <p:cNvPr id="3" name="body0">
            <a:extLst xmlns:a="http://schemas.openxmlformats.org/drawingml/2006/main">
              <a:ext uri="{FF2B5EF4-FFF2-40B4-BE49-F238E27FC236}">
                <a16:creationId xmlns:a16="http://schemas.microsoft.com/office/drawing/2014/main" id="{3B92D9DA-BAAF-40FA-BDB9-FC91B8C30D49}"/>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θ₁ [rad]: orientation of the upper link. θ₂ [rad]: orientation of the lower link. Both start from the downward vertical.</a:t>
            </a:r>
          </a:p>
        </p:txBody>
      </p:sp>
      <p:sp>
        <p:nvSpPr>
          <p:cNvPr id="4" name="body1">
            <a:extLst xmlns:a="http://schemas.openxmlformats.org/drawingml/2006/main">
              <a:ext uri="{FF2B5EF4-FFF2-40B4-BE49-F238E27FC236}">
                <a16:creationId xmlns:a16="http://schemas.microsoft.com/office/drawing/2014/main" id="{4E5EC889-55AF-4A01-850F-4F254925F76E}"/>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L₁ [m]: fixed pivot to joint. L₂ [m]: joint to lower-bob center. Positive angles turn each downward link toward the right.</a:t>
            </a:r>
          </a:p>
        </p:txBody>
      </p:sp>
      <p:sp>
        <p:nvSpPr>
          <p:cNvPr id="5" name="body2">
            <a:extLst xmlns:a="http://schemas.openxmlformats.org/drawingml/2006/main">
              <a:ext uri="{FF2B5EF4-FFF2-40B4-BE49-F238E27FC236}">
                <a16:creationId xmlns:a16="http://schemas.microsoft.com/office/drawing/2014/main" id="{76FE53F8-279A-45E5-B4D7-A159A1E19872}"/>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joint angle is θ₂ − θ₁. The lower-link absolute angle θ₂ is measured from the vertical, even while the upper link moves.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1035ec4c9ac498b"/>
          <a:stretch xmlns:a="http://schemas.openxmlformats.org/drawingml/2006/main"/>
        </p:blipFill>
        <p:spPr>
          <a:xfrm xmlns:a="http://schemas.openxmlformats.org/drawingml/2006/main">
            <a:off x="6524625" y="1941001"/>
            <a:ext cx="5238750" cy="3642748"/>
          </a:xfrm>
          <a:prstGeom xmlns:a="http://schemas.openxmlformats.org/drawingml/2006/main" prst="rect">
            <a:avLst/>
          </a:prstGeom>
        </p:spPr>
      </p:pic>
      <p:sp>
        <p:nvSpPr>
          <p:cNvPr id="7" name="page">
            <a:extLst xmlns:a="http://schemas.openxmlformats.org/drawingml/2006/main">
              <a:ext uri="{FF2B5EF4-FFF2-40B4-BE49-F238E27FC236}">
                <a16:creationId xmlns:a16="http://schemas.microsoft.com/office/drawing/2014/main" id="{E2EB0E2D-13B1-47C9-AE25-9AB101AEAC5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a:t>
            </a:r>
          </a:p>
        </p:txBody>
      </p:sp>
    </p:spTree>
    <p:extLst>
      <p:ext uri="{BB962C8B-B14F-4D97-AF65-F5344CB8AC3E}">
        <p14:creationId xmlns:p14="http://schemas.microsoft.com/office/powerpoint/2010/main" val="9362769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0E971D0F-E266-474A-9BCA-8F23945EEB3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C36EC1A7-F252-4A97-BB11-F6BE1A1E2E6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Masses and lengths in the model</a:t>
            </a:r>
          </a:p>
        </p:txBody>
      </p:sp>
      <p:sp>
        <p:nvSpPr>
          <p:cNvPr id="3" name="body0">
            <a:extLst xmlns:a="http://schemas.openxmlformats.org/drawingml/2006/main">
              <a:ext uri="{FF2B5EF4-FFF2-40B4-BE49-F238E27FC236}">
                <a16:creationId xmlns:a16="http://schemas.microsoft.com/office/drawing/2014/main" id="{B7800BC7-E9BC-474B-A3E0-14CE157E97C3}"/>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m₁, m₂ [kg]: masses of the upper and lower uniform bars.</a:t>
            </a:r>
          </a:p>
        </p:txBody>
      </p:sp>
      <p:sp>
        <p:nvSpPr>
          <p:cNvPr id="4" name="body1">
            <a:extLst xmlns:a="http://schemas.openxmlformats.org/drawingml/2006/main">
              <a:ext uri="{FF2B5EF4-FFF2-40B4-BE49-F238E27FC236}">
                <a16:creationId xmlns:a16="http://schemas.microsoft.com/office/drawing/2014/main" id="{517E8D46-BEDC-46BD-85E9-3E9FF2A44B3C}"/>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M₁ [kg]: lumped mass at the moving joint. M₂ [kg]: lumped mass at the lower bob.</a:t>
            </a:r>
          </a:p>
        </p:txBody>
      </p:sp>
      <p:sp>
        <p:nvSpPr>
          <p:cNvPr id="5" name="body2">
            <a:extLst xmlns:a="http://schemas.openxmlformats.org/drawingml/2006/main">
              <a:ext uri="{FF2B5EF4-FFF2-40B4-BE49-F238E27FC236}">
                <a16:creationId xmlns:a16="http://schemas.microsoft.com/office/drawing/2014/main" id="{56B4E5BA-EA79-4B17-9296-AF065DDF130A}"/>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L₁ [m]: fixed pivot to moving joint. L₂ [m]: moving joint to lower-bob center.</a:t>
            </a:r>
          </a:p>
        </p:txBody>
      </p:sp>
      <p:sp>
        <p:nvSpPr>
          <p:cNvPr id="6" name="body3">
            <a:extLst xmlns:a="http://schemas.openxmlformats.org/drawingml/2006/main">
              <a:ext uri="{FF2B5EF4-FFF2-40B4-BE49-F238E27FC236}">
                <a16:creationId xmlns:a16="http://schemas.microsoft.com/office/drawing/2014/main" id="{94884531-058F-4D0C-B351-2491E2BD2343}"/>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Assign each washer and attachment to one component only. Use measured values, not the pre-lab example.</a:t>
            </a:r>
          </a:p>
        </p:txBody>
      </p:sp>
      <p:sp>
        <p:nvSpPr>
          <p:cNvPr id="7" name="page">
            <a:extLst xmlns:a="http://schemas.openxmlformats.org/drawingml/2006/main">
              <a:ext uri="{FF2B5EF4-FFF2-40B4-BE49-F238E27FC236}">
                <a16:creationId xmlns:a16="http://schemas.microsoft.com/office/drawing/2014/main" id="{EC4D950B-88E6-41D4-A719-9D6BE6B360BA}"/>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4</a:t>
            </a:r>
          </a:p>
        </p:txBody>
      </p:sp>
    </p:spTree>
    <p:extLst>
      <p:ext uri="{BB962C8B-B14F-4D97-AF65-F5344CB8AC3E}">
        <p14:creationId xmlns:p14="http://schemas.microsoft.com/office/powerpoint/2010/main" val="20915160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827F1BF4-4BF4-4EC4-9F3E-DB9C1D356459}"/>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5F228C1-E044-4E79-912F-092601E7F1C6}"/>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Angular velocity: what ω₁ and ω₂ mean</a:t>
            </a:r>
          </a:p>
        </p:txBody>
      </p:sp>
      <p:sp>
        <p:nvSpPr>
          <p:cNvPr id="3" name="EQ_rates">
            <a:extLst xmlns:a="http://schemas.openxmlformats.org/drawingml/2006/main">
              <a:ext uri="{FF2B5EF4-FFF2-40B4-BE49-F238E27FC236}">
                <a16:creationId xmlns:a16="http://schemas.microsoft.com/office/drawing/2014/main" id="{C47CD7E6-138A-4D14-B32F-4B8F9A0007B6}"/>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ω</m:t>
                      </m:r>
                    </m:e>
                    <m:sub>
                      <m:r>
                        <a:rPr sz="2400" lang="en-US">
                          <a:latin typeface="Cambria Math"/>
                        </a:rPr>
                        <m:t>1</m:t>
                      </m:r>
                    </m:sub>
                  </m:sSub>
                  <m:r>
                    <a:rPr sz="2400" lang="en-US">
                      <a:latin typeface="Cambria Math"/>
                    </a:rPr>
                    <m:t> = </m:t>
                  </m:r>
                  <m:acc>
                    <m:accPr>
                      <m:chr m:val="̇"/>
                    </m:accPr>
                    <m:e>
                      <m:sSub>
                        <m:e>
                          <m:r>
                            <a:rPr sz="2400" lang="en-US">
                              <a:latin typeface="Cambria Math"/>
                            </a:rPr>
                            <m:t>θ</m:t>
                          </m:r>
                        </m:e>
                        <m:sub>
                          <m:r>
                            <a:rPr sz="2400" lang="en-US">
                              <a:latin typeface="Cambria Math"/>
                            </a:rPr>
                            <m:t>1</m:t>
                          </m:r>
                        </m:sub>
                      </m:sSub>
                    </m:e>
                  </m:acc>
                  <m:r>
                    <a:rPr sz="2400" lang="en-US">
                      <a:latin typeface="Cambria Math"/>
                    </a:rPr>
                    <m:t> = </m:t>
                  </m:r>
                  <m:f>
                    <m:num>
                      <m:r>
                        <a:rPr sz="2400" lang="en-US">
                          <a:latin typeface="Cambria Math"/>
                        </a:rPr>
                        <m:t>d</m:t>
                      </m:r>
                      <m:sSub>
                        <m:e>
                          <m:r>
                            <a:rPr sz="2400" lang="en-US">
                              <a:latin typeface="Cambria Math"/>
                            </a:rPr>
                            <m:t>θ</m:t>
                          </m:r>
                        </m:e>
                        <m:sub>
                          <m:r>
                            <a:rPr sz="2400" lang="en-US">
                              <a:latin typeface="Cambria Math"/>
                            </a:rPr>
                            <m:t>1</m:t>
                          </m:r>
                        </m:sub>
                      </m:sSub>
                    </m:num>
                    <m:den>
                      <m:r>
                        <a:rPr sz="2400" lang="en-US">
                          <a:latin typeface="Cambria Math"/>
                        </a:rPr>
                        <m:t>dt</m:t>
                      </m:r>
                    </m:den>
                  </m:f>
                  <m:r>
                    <a:rPr sz="2400" lang="en-US">
                      <a:latin typeface="Cambria Math"/>
                    </a:rPr>
                    <m:t>     </m:t>
                  </m:r>
                  <m:sSub>
                    <m:e>
                      <m:r>
                        <a:rPr sz="2400" lang="en-US">
                          <a:latin typeface="Cambria Math"/>
                        </a:rPr>
                        <m:t>ω</m:t>
                      </m:r>
                    </m:e>
                    <m:sub>
                      <m:r>
                        <a:rPr sz="2400" lang="en-US">
                          <a:latin typeface="Cambria Math"/>
                        </a:rPr>
                        <m:t>2</m:t>
                      </m:r>
                    </m:sub>
                  </m:sSub>
                  <m:r>
                    <a:rPr sz="2400" lang="en-US">
                      <a:latin typeface="Cambria Math"/>
                    </a:rPr>
                    <m:t> = </m:t>
                  </m:r>
                  <m:acc>
                    <m:accPr>
                      <m:chr m:val="̇"/>
                    </m:accPr>
                    <m:e>
                      <m:sSub>
                        <m:e>
                          <m:r>
                            <a:rPr sz="2400" lang="en-US">
                              <a:latin typeface="Cambria Math"/>
                            </a:rPr>
                            <m:t>θ</m:t>
                          </m:r>
                        </m:e>
                        <m:sub>
                          <m:r>
                            <a:rPr sz="2400" lang="en-US">
                              <a:latin typeface="Cambria Math"/>
                            </a:rPr>
                            <m:t>2</m:t>
                          </m:r>
                        </m:sub>
                      </m:sSub>
                    </m:e>
                  </m:acc>
                  <m:r>
                    <a:rPr sz="2400" lang="en-US">
                      <a:latin typeface="Cambria Math"/>
                    </a:rPr>
                    <m:t> = </m:t>
                  </m:r>
                  <m:f>
                    <m:num>
                      <m:r>
                        <a:rPr sz="2400" lang="en-US">
                          <a:latin typeface="Cambria Math"/>
                        </a:rPr>
                        <m:t>d</m:t>
                      </m:r>
                      <m:sSub>
                        <m:e>
                          <m:r>
                            <a:rPr sz="2400" lang="en-US">
                              <a:latin typeface="Cambria Math"/>
                            </a:rPr>
                            <m:t>θ</m:t>
                          </m:r>
                        </m:e>
                        <m:sub>
                          <m:r>
                            <a:rPr sz="2400" lang="en-US">
                              <a:latin typeface="Cambria Math"/>
                            </a:rPr>
                            <m:t>2</m:t>
                          </m:r>
                        </m:sub>
                      </m:sSub>
                    </m:num>
                    <m:den>
                      <m:r>
                        <a:rPr sz="2400" lang="en-US">
                          <a:latin typeface="Cambria Math"/>
                        </a:rPr>
                        <m:t>dt</m:t>
                      </m:r>
                    </m:den>
                  </m:f>
                </m:oMath>
              </m:oMathPara>
            </a14:m>
            <a:endParaRPr lang="en-US" sz="2400"/>
          </a:p>
        </p:txBody>
      </p:sp>
      <p:sp>
        <p:nvSpPr>
          <p:cNvPr id="4" name="body0">
            <a:extLst xmlns:a="http://schemas.openxmlformats.org/drawingml/2006/main">
              <a:ext uri="{FF2B5EF4-FFF2-40B4-BE49-F238E27FC236}">
                <a16:creationId xmlns:a16="http://schemas.microsoft.com/office/drawing/2014/main" id="{E32029E0-604B-4114-9D7F-AFFC701BFAD5}"/>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ω₁ = dθ₁/dt [rad/s]: angular velocity of the upper link relative to the fixed vertical.</a:t>
            </a:r>
          </a:p>
        </p:txBody>
      </p:sp>
      <p:sp>
        <p:nvSpPr>
          <p:cNvPr id="5" name="body1">
            <a:extLst xmlns:a="http://schemas.openxmlformats.org/drawingml/2006/main">
              <a:ext uri="{FF2B5EF4-FFF2-40B4-BE49-F238E27FC236}">
                <a16:creationId xmlns:a16="http://schemas.microsoft.com/office/drawing/2014/main" id="{1A69E725-EADA-4DCE-A21F-8D1CA33B1C7C}"/>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ω₂ = dθ₂/dt [rad/s]: angular velocity of the lower link relative to the fixed vertical. The joint’s relative angular velocity is ω₂ − ω₁.</a:t>
            </a:r>
          </a:p>
        </p:txBody>
      </p:sp>
      <p:sp>
        <p:nvSpPr>
          <p:cNvPr id="6" name="body2">
            <a:extLst xmlns:a="http://schemas.openxmlformats.org/drawingml/2006/main">
              <a:ext uri="{FF2B5EF4-FFF2-40B4-BE49-F238E27FC236}">
                <a16:creationId xmlns:a16="http://schemas.microsoft.com/office/drawing/2014/main" id="{04003A62-07ED-403F-BFA3-C68984C9769D}"/>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α₁ and α₂ [rad/s²]: rates of change of ω₁ and ω₂. Here t is time [s], i = 1 or 2, and a dot denotes a time derivative.</a:t>
            </a:r>
          </a:p>
        </p:txBody>
      </p:sp>
      <p:sp>
        <p:nvSpPr>
          <p:cNvPr id="7" name="body3">
            <a:extLst xmlns:a="http://schemas.openxmlformats.org/drawingml/2006/main">
              <a:ext uri="{FF2B5EF4-FFF2-40B4-BE49-F238E27FC236}">
                <a16:creationId xmlns:a16="http://schemas.microsoft.com/office/drawing/2014/main" id="{5D4718E4-19F2-4F99-9D7C-EB2113942E41}"/>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sign gives rotation direction. Angular speed is |ωᵢ|. These instantaneous velocities are not oscillation frequencies in hertz.</a:t>
            </a:r>
          </a:p>
        </p:txBody>
      </p:sp>
      <p:sp>
        <p:nvSpPr>
          <p:cNvPr id="8" name="page">
            <a:extLst xmlns:a="http://schemas.openxmlformats.org/drawingml/2006/main">
              <a:ext uri="{FF2B5EF4-FFF2-40B4-BE49-F238E27FC236}">
                <a16:creationId xmlns:a16="http://schemas.microsoft.com/office/drawing/2014/main" id="{E88B7CD1-E2DC-4606-8456-6AA1E0D80CA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5</a:t>
            </a:r>
          </a:p>
        </p:txBody>
      </p:sp>
    </p:spTree>
    <p:extLst>
      <p:ext uri="{BB962C8B-B14F-4D97-AF65-F5344CB8AC3E}">
        <p14:creationId xmlns:p14="http://schemas.microsoft.com/office/powerpoint/2010/main" val="1724837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EEEEF45E-EF54-4374-8538-865FB7C3E4D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6EE95384-1F58-4CD3-8C6B-E5A332DB6482}"/>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Position symbols and coordinate convention</a:t>
            </a:r>
          </a:p>
        </p:txBody>
      </p:sp>
      <p:sp>
        <p:nvSpPr>
          <p:cNvPr id="3" name="body0">
            <a:extLst xmlns:a="http://schemas.openxmlformats.org/drawingml/2006/main">
              <a:ext uri="{FF2B5EF4-FFF2-40B4-BE49-F238E27FC236}">
                <a16:creationId xmlns:a16="http://schemas.microsoft.com/office/drawing/2014/main" id="{6A4DBC17-4C6D-439A-BC5A-9081BDA0DA1B}"/>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(x₁, y₁) [m]: position of the joint / first bob relative to the fixed pivot.</a:t>
            </a:r>
          </a:p>
        </p:txBody>
      </p:sp>
      <p:sp>
        <p:nvSpPr>
          <p:cNvPr id="4" name="body1">
            <a:extLst xmlns:a="http://schemas.openxmlformats.org/drawingml/2006/main">
              <a:ext uri="{FF2B5EF4-FFF2-40B4-BE49-F238E27FC236}">
                <a16:creationId xmlns:a16="http://schemas.microsoft.com/office/drawing/2014/main" id="{A8A2FCF1-7F75-4C00-8FF0-29C9A44D86C0}"/>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(x₂, y₂) [m]: position of the lower bob relative to the same fixed pivot.</a:t>
            </a:r>
          </a:p>
        </p:txBody>
      </p:sp>
      <p:sp>
        <p:nvSpPr>
          <p:cNvPr id="5" name="body2">
            <a:extLst xmlns:a="http://schemas.openxmlformats.org/drawingml/2006/main">
              <a:ext uri="{FF2B5EF4-FFF2-40B4-BE49-F238E27FC236}">
                <a16:creationId xmlns:a16="http://schemas.microsoft.com/office/drawing/2014/main" id="{93F4CDEE-F269-498E-A804-990DC0FDF311}"/>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origin is the fixed pivot. x increases rightward and y increases upward. A point below the pivot has negative y.</a:t>
            </a:r>
          </a:p>
        </p:txBody>
      </p:sp>
      <p:sp>
        <p:nvSpPr>
          <p:cNvPr id="6" name="body3">
            <a:extLst xmlns:a="http://schemas.openxmlformats.org/drawingml/2006/main">
              <a:ext uri="{FF2B5EF4-FFF2-40B4-BE49-F238E27FC236}">
                <a16:creationId xmlns:a16="http://schemas.microsoft.com/office/drawing/2014/main" id="{1C442E88-C0A9-4910-A013-083BBC4E058B}"/>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meters in the energy model. Later, convert the analyzer’s saved millimeter coordinates to meters when needed.</a:t>
            </a:r>
          </a:p>
        </p:txBody>
      </p:sp>
      <p:sp>
        <p:nvSpPr>
          <p:cNvPr id="7" name="page">
            <a:extLst xmlns:a="http://schemas.openxmlformats.org/drawingml/2006/main">
              <a:ext uri="{FF2B5EF4-FFF2-40B4-BE49-F238E27FC236}">
                <a16:creationId xmlns:a16="http://schemas.microsoft.com/office/drawing/2014/main" id="{216AEB14-5224-49B4-AC5D-58EB0004B11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6</a:t>
            </a:r>
          </a:p>
        </p:txBody>
      </p:sp>
    </p:spTree>
    <p:extLst>
      <p:ext uri="{BB962C8B-B14F-4D97-AF65-F5344CB8AC3E}">
        <p14:creationId xmlns:p14="http://schemas.microsoft.com/office/powerpoint/2010/main" val="13850343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57BA66C-8A5B-46E6-A0D6-C71B26131AD6}"/>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221BADE1-DBC2-4269-B751-9C2140B3EF44}"/>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Positions follow from the geometry</a:t>
            </a:r>
          </a:p>
        </p:txBody>
      </p:sp>
      <p:sp>
        <p:nvSpPr>
          <p:cNvPr id="3" name="EQ_xy1">
            <a:extLst xmlns:a="http://schemas.openxmlformats.org/drawingml/2006/main">
              <a:ext uri="{FF2B5EF4-FFF2-40B4-BE49-F238E27FC236}">
                <a16:creationId xmlns:a16="http://schemas.microsoft.com/office/drawing/2014/main" id="{C2237DFC-CBE4-4404-BE7B-BEB6F00002DF}"/>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x</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cos </m:t>
                  </m:r>
                  <m:sSub>
                    <m:e>
                      <m:r>
                        <a:rPr sz="2400" lang="en-US">
                          <a:latin typeface="Cambria Math"/>
                        </a:rPr>
                        <m:t>θ</m:t>
                      </m:r>
                    </m:e>
                    <m:sub>
                      <m:r>
                        <a:rPr sz="2400" lang="en-US">
                          <a:latin typeface="Cambria Math"/>
                        </a:rPr>
                        <m:t>1</m:t>
                      </m:r>
                    </m:sub>
                  </m:sSub>
                </m:oMath>
              </m:oMathPara>
            </a14:m>
            <a:endParaRPr lang="en-US" sz="2400"/>
          </a:p>
        </p:txBody>
      </p:sp>
      <p:sp>
        <p:nvSpPr>
          <p:cNvPr id="4" name="EQ_xy2">
            <a:extLst xmlns:a="http://schemas.openxmlformats.org/drawingml/2006/main">
              <a:ext uri="{FF2B5EF4-FFF2-40B4-BE49-F238E27FC236}">
                <a16:creationId xmlns:a16="http://schemas.microsoft.com/office/drawing/2014/main" id="{94F78213-C9A5-4186-8618-93268E210E5D}"/>
              </a:ext>
            </a:extLst>
          </p:cNvPr>
          <p:cNvSpPr>
            <a:spLocks xmlns:a="http://schemas.openxmlformats.org/drawingml/2006/main" noGrp="1"/>
          </p:cNvSpPr>
          <p:nvPr/>
        </p:nvSpPr>
        <p:spPr>
          <a:xfrm xmlns:a="http://schemas.openxmlformats.org/drawingml/2006/main">
            <a:off x="666750" y="244792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x</m:t>
                          </m:r>
                        </m:e>
                        <m:sub>
                          <m:r>
                            <a:rPr sz="2400" lang="en-US">
                              <a:latin typeface="Cambria Math"/>
                            </a:rPr>
                            <m:t>2</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 sin </m:t>
                      </m:r>
                      <m:sSub>
                        <m:e>
                          <m:r>
                            <a:rPr sz="2400" lang="en-US">
                              <a:latin typeface="Cambria Math"/>
                            </a:rPr>
                            <m:t>θ</m:t>
                          </m:r>
                        </m:e>
                        <m:sub>
                          <m:r>
                            <a:rPr sz="2400" lang="en-US">
                              <a:latin typeface="Cambria Math"/>
                            </a:rPr>
                            <m:t>2</m:t>
                          </m:r>
                        </m:sub>
                      </m:sSub>
                    </m:e>
                    <m:e>
                      <m:sSub>
                        <m:e>
                          <m:r>
                            <a:rPr sz="2400" lang="en-US">
                              <a:latin typeface="Cambria Math"/>
                            </a:rPr>
                            <m:t>y</m:t>
                          </m:r>
                        </m:e>
                        <m:sub>
                          <m:r>
                            <a:rPr sz="2400" lang="en-US">
                              <a:latin typeface="Cambria Math"/>
                            </a:rPr>
                            <m:t>2</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cos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 cos </m:t>
                      </m:r>
                      <m:sSub>
                        <m:e>
                          <m:r>
                            <a:rPr sz="2400" lang="en-US">
                              <a:latin typeface="Cambria Math"/>
                            </a:rPr>
                            <m:t>θ</m:t>
                          </m:r>
                        </m:e>
                        <m:sub>
                          <m:r>
                            <a:rPr sz="2400" lang="en-US">
                              <a:latin typeface="Cambria Math"/>
                            </a:rPr>
                            <m:t>2</m:t>
                          </m:r>
                        </m:sub>
                      </m:sSub>
                    </m:e>
                  </m:eqArr>
                </m:oMath>
              </m:oMathPara>
            </a14:m>
            <a:endParaRPr lang="en-US" sz="2400"/>
          </a:p>
        </p:txBody>
      </p:sp>
      <p:sp>
        <p:nvSpPr>
          <p:cNvPr id="5" name="body0">
            <a:extLst xmlns:a="http://schemas.openxmlformats.org/drawingml/2006/main">
              <a:ext uri="{FF2B5EF4-FFF2-40B4-BE49-F238E27FC236}">
                <a16:creationId xmlns:a16="http://schemas.microsoft.com/office/drawing/2014/main" id="{5CCFEA67-CE32-45F7-A75E-44B6032D75E2}"/>
              </a:ext>
            </a:extLst>
          </p:cNvPr>
          <p:cNvSpPr>
            <a:spLocks xmlns:a="http://schemas.openxmlformats.org/drawingml/2006/main" noGrp="1"/>
          </p:cNvSpPr>
          <p:nvPr/>
        </p:nvSpPr>
        <p:spPr>
          <a:xfrm xmlns:a="http://schemas.openxmlformats.org/drawingml/2006/main">
            <a:off x="666750" y="35337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Choose the fixed pivot as (0,0), with x positive right and y positive upward.</a:t>
            </a:r>
          </a:p>
        </p:txBody>
      </p:sp>
      <p:sp>
        <p:nvSpPr>
          <p:cNvPr id="6" name="body1">
            <a:extLst xmlns:a="http://schemas.openxmlformats.org/drawingml/2006/main">
              <a:ext uri="{FF2B5EF4-FFF2-40B4-BE49-F238E27FC236}">
                <a16:creationId xmlns:a16="http://schemas.microsoft.com/office/drawing/2014/main" id="{41A1DF54-169D-4067-84BB-90BE84F0CD1E}"/>
              </a:ext>
            </a:extLst>
          </p:cNvPr>
          <p:cNvSpPr>
            <a:spLocks xmlns:a="http://schemas.openxmlformats.org/drawingml/2006/main" noGrp="1"/>
          </p:cNvSpPr>
          <p:nvPr/>
        </p:nvSpPr>
        <p:spPr>
          <a:xfrm xmlns:a="http://schemas.openxmlformats.org/drawingml/2006/main">
            <a:off x="666750" y="46005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Bob 2 moves because both links move. Its coordinates contain a contribution from each link.</a:t>
            </a:r>
          </a:p>
        </p:txBody>
      </p:sp>
      <p:sp>
        <p:nvSpPr>
          <p:cNvPr id="7" name="page">
            <a:extLst xmlns:a="http://schemas.openxmlformats.org/drawingml/2006/main">
              <a:ext uri="{FF2B5EF4-FFF2-40B4-BE49-F238E27FC236}">
                <a16:creationId xmlns:a16="http://schemas.microsoft.com/office/drawing/2014/main" id="{108AC044-2C8E-4637-BF54-61518A271FF0}"/>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7</a:t>
            </a:r>
          </a:p>
        </p:txBody>
      </p:sp>
    </p:spTree>
    <p:extLst>
      <p:ext uri="{BB962C8B-B14F-4D97-AF65-F5344CB8AC3E}">
        <p14:creationId xmlns:p14="http://schemas.microsoft.com/office/powerpoint/2010/main" val="2290285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C0889E60-CFC8-4505-97C2-0D2E99743851}"/>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B276FB0-7A8B-4C69-9C6B-E5E927C1672E}"/>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Why we use energy to derive the model</a:t>
            </a:r>
          </a:p>
        </p:txBody>
      </p:sp>
      <p:sp>
        <p:nvSpPr>
          <p:cNvPr id="3" name="body0">
            <a:extLst xmlns:a="http://schemas.openxmlformats.org/drawingml/2006/main">
              <a:ext uri="{FF2B5EF4-FFF2-40B4-BE49-F238E27FC236}">
                <a16:creationId xmlns:a16="http://schemas.microsoft.com/office/drawing/2014/main" id="{44661B15-9D6C-42CC-B1FA-5F450D561160}"/>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 [J] is kinetic energy, the energy of motion. V [J] is gravitational potential energy, determined by mass height.</a:t>
            </a:r>
          </a:p>
        </p:txBody>
      </p:sp>
      <p:sp>
        <p:nvSpPr>
          <p:cNvPr id="4" name="body1">
            <a:extLst xmlns:a="http://schemas.openxmlformats.org/drawingml/2006/main">
              <a:ext uri="{FF2B5EF4-FFF2-40B4-BE49-F238E27FC236}">
                <a16:creationId xmlns:a16="http://schemas.microsoft.com/office/drawing/2014/main" id="{70F2C38D-39E1-48C4-B96C-672E8C1930F0}"/>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E = T + V [J] is total mechanical energy. ℒ = T − V [J] is the Lagrangian, the quantity used to derive the motion equations.</a:t>
            </a:r>
          </a:p>
        </p:txBody>
      </p:sp>
      <p:sp>
        <p:nvSpPr>
          <p:cNvPr id="5" name="body2">
            <a:extLst xmlns:a="http://schemas.openxmlformats.org/drawingml/2006/main">
              <a:ext uri="{FF2B5EF4-FFF2-40B4-BE49-F238E27FC236}">
                <a16:creationId xmlns:a16="http://schemas.microsoft.com/office/drawing/2014/main" id="{4921BBA4-775F-4635-84DA-30FC75063F47}"/>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energy method includes joint constraints without introducing every unknown internal force.</a:t>
            </a:r>
          </a:p>
        </p:txBody>
      </p:sp>
      <p:sp>
        <p:nvSpPr>
          <p:cNvPr id="6" name="body3">
            <a:extLst xmlns:a="http://schemas.openxmlformats.org/drawingml/2006/main">
              <a:ext uri="{FF2B5EF4-FFF2-40B4-BE49-F238E27FC236}">
                <a16:creationId xmlns:a16="http://schemas.microsoft.com/office/drawing/2014/main" id="{B85C3B83-7B9A-4CC9-A0DC-8FB64092F5A4}"/>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Baseline assumptions: rigid planar links, uniform bars, fixed pivot and no friction or air drag.</a:t>
            </a:r>
          </a:p>
        </p:txBody>
      </p:sp>
      <p:sp>
        <p:nvSpPr>
          <p:cNvPr id="7" name="page">
            <a:extLst xmlns:a="http://schemas.openxmlformats.org/drawingml/2006/main">
              <a:ext uri="{FF2B5EF4-FFF2-40B4-BE49-F238E27FC236}">
                <a16:creationId xmlns:a16="http://schemas.microsoft.com/office/drawing/2014/main" id="{C54BC3A5-DEB6-43F5-A11E-7C931150430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8</a:t>
            </a:r>
          </a:p>
        </p:txBody>
      </p:sp>
    </p:spTree>
    <p:extLst>
      <p:ext uri="{BB962C8B-B14F-4D97-AF65-F5344CB8AC3E}">
        <p14:creationId xmlns:p14="http://schemas.microsoft.com/office/powerpoint/2010/main" val="81152457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C3774674-395A-4A72-A1E5-20417AF2648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D7BDF038-A31C-48FB-97B6-43CB6FDC0F6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Height symbols before calculating potential energy</a:t>
            </a:r>
          </a:p>
        </p:txBody>
      </p:sp>
      <p:sp>
        <p:nvSpPr>
          <p:cNvPr id="3" name="body0">
            <a:extLst xmlns:a="http://schemas.openxmlformats.org/drawingml/2006/main">
              <a:ext uri="{FF2B5EF4-FFF2-40B4-BE49-F238E27FC236}">
                <a16:creationId xmlns:a16="http://schemas.microsoft.com/office/drawing/2014/main" id="{17B82A78-1B6D-4319-9AF6-36A6EC8A1C4C}"/>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h₁ and h₂ [m]: upward displacement of bob 1 and bob 2 from their positions when both links hang vertically downward.</a:t>
            </a:r>
          </a:p>
        </p:txBody>
      </p:sp>
      <p:sp>
        <p:nvSpPr>
          <p:cNvPr id="4" name="body1">
            <a:extLst xmlns:a="http://schemas.openxmlformats.org/drawingml/2006/main">
              <a:ext uri="{FF2B5EF4-FFF2-40B4-BE49-F238E27FC236}">
                <a16:creationId xmlns:a16="http://schemas.microsoft.com/office/drawing/2014/main" id="{EEB8E004-216B-461C-9AF7-87AAF5280FEA}"/>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a:t>
            </a:r>
            <a:r>
              <a:rPr sz="1462" b="0" baseline="-25000">
                <a:solidFill>
                  <a:srgbClr val="202D3C"/>
                </a:solidFill>
                <a:latin typeface="Aptos"/>
                <a:ea typeface="Aptos"/>
                <a:cs typeface="Aptos"/>
              </a:rPr>
              <a:t>G1</a:t>
            </a:r>
            <a:r>
              <a:rPr sz="1950" b="0">
                <a:solidFill>
                  <a:srgbClr val="202D3C"/>
                </a:solidFill>
                <a:latin typeface="Aptos"/>
                <a:ea typeface="Aptos"/>
                <a:cs typeface="Aptos"/>
              </a:rPr>
              <a:t> and </a:t>
            </a:r>
            <a:r>
              <a:rPr sz="1950" b="0">
                <a:solidFill>
                  <a:srgbClr val="202D3C"/>
                </a:solidFill>
                <a:latin typeface="Aptos"/>
                <a:ea typeface="Aptos"/>
                <a:cs typeface="Aptos"/>
              </a:rPr>
              <a:t>h</a:t>
            </a:r>
            <a:r>
              <a:rPr sz="1462" b="0" baseline="-25000">
                <a:solidFill>
                  <a:srgbClr val="202D3C"/>
                </a:solidFill>
                <a:latin typeface="Aptos"/>
                <a:ea typeface="Aptos"/>
                <a:cs typeface="Aptos"/>
              </a:rPr>
              <a:t>G2</a:t>
            </a:r>
            <a:r>
              <a:rPr sz="1950" b="0">
                <a:solidFill>
                  <a:srgbClr val="202D3C"/>
                </a:solidFill>
                <a:latin typeface="Aptos"/>
                <a:ea typeface="Aptos"/>
                <a:cs typeface="Aptos"/>
              </a:rPr>
              <a:t> [m]: upward displacement of the centers of the upper and lower bars from that same reference configuration.</a:t>
            </a:r>
          </a:p>
        </p:txBody>
      </p:sp>
      <p:sp>
        <p:nvSpPr>
          <p:cNvPr id="5" name="body2">
            <a:extLst xmlns:a="http://schemas.openxmlformats.org/drawingml/2006/main">
              <a:ext uri="{FF2B5EF4-FFF2-40B4-BE49-F238E27FC236}">
                <a16:creationId xmlns:a16="http://schemas.microsoft.com/office/drawing/2014/main" id="{87E20DB7-AD66-427D-BB1D-948D78EA46DE}"/>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subscript G denotes a bar’s center of mass. For a uniform bar, this center is halfway along its length.</a:t>
            </a:r>
          </a:p>
        </p:txBody>
      </p:sp>
      <p:sp>
        <p:nvSpPr>
          <p:cNvPr id="6" name="body3">
            <a:extLst xmlns:a="http://schemas.openxmlformats.org/drawingml/2006/main">
              <a:ext uri="{FF2B5EF4-FFF2-40B4-BE49-F238E27FC236}">
                <a16:creationId xmlns:a16="http://schemas.microsoft.com/office/drawing/2014/main" id="{6D0EE4C0-A570-49E5-AD6F-F270C84758D7}"/>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generic mass m [kg] raised by h [m], the energy increase is mgh [J]. g ≈ 9.81 m/s² is gravitational acceleration.</a:t>
            </a:r>
          </a:p>
        </p:txBody>
      </p:sp>
      <p:sp>
        <p:nvSpPr>
          <p:cNvPr id="7" name="page">
            <a:extLst xmlns:a="http://schemas.openxmlformats.org/drawingml/2006/main">
              <a:ext uri="{FF2B5EF4-FFF2-40B4-BE49-F238E27FC236}">
                <a16:creationId xmlns:a16="http://schemas.microsoft.com/office/drawing/2014/main" id="{B63E885C-BF99-4300-BDF7-06DBCE8285F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9</a:t>
            </a:r>
          </a:p>
        </p:txBody>
      </p:sp>
    </p:spTree>
    <p:extLst>
      <p:ext uri="{BB962C8B-B14F-4D97-AF65-F5344CB8AC3E}">
        <p14:creationId xmlns:p14="http://schemas.microsoft.com/office/powerpoint/2010/main" val="106742323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4C9A953D-9919-4B21-BDF0-86040948D436}"/>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CF4C8CA-9429-42E2-9AA5-537028B639A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Potential energy begins with height</a:t>
            </a:r>
          </a:p>
        </p:txBody>
      </p:sp>
      <p:sp>
        <p:nvSpPr>
          <p:cNvPr id="3" name="EQ_heights">
            <a:extLst xmlns:a="http://schemas.openxmlformats.org/drawingml/2006/main">
              <a:ext uri="{FF2B5EF4-FFF2-40B4-BE49-F238E27FC236}">
                <a16:creationId xmlns:a16="http://schemas.microsoft.com/office/drawing/2014/main" id="{F0E790AD-5964-4738-8F8D-32544EBF5B96}"/>
              </a:ext>
            </a:extLst>
          </p:cNvPr>
          <p:cNvSpPr>
            <a:spLocks xmlns:a="http://schemas.openxmlformats.org/drawingml/2006/main" noGrp="1"/>
          </p:cNvSpPr>
          <p:nvPr/>
        </p:nvSpPr>
        <p:spPr>
          <a:xfrm xmlns:a="http://schemas.openxmlformats.org/drawingml/2006/main">
            <a:off x="666750" y="1666875"/>
            <a:ext cx="10858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h</m:t>
                          </m:r>
                        </m:e>
                        <m:sub>
                          <m:r>
                            <a:rPr sz="2400" lang="en-US">
                              <a:latin typeface="Cambria Math"/>
                            </a:rPr>
                            <m:t>G1</m:t>
                          </m:r>
                        </m:sub>
                      </m:sSub>
                      <m:r>
                        <a:rPr sz="2400" lang="en-US">
                          <a:latin typeface="Cambria Math"/>
                        </a:rPr>
                        <m:t> = </m:t>
                      </m:r>
                      <m:f>
                        <m:num>
                          <m:sSub>
                            <m:e>
                              <m:r>
                                <a:rPr sz="2400" lang="en-US">
                                  <a:latin typeface="Cambria Math"/>
                                </a:rPr>
                                <m:t>L</m:t>
                              </m:r>
                            </m:e>
                            <m:sub>
                              <m:r>
                                <a:rPr sz="2400" lang="en-US">
                                  <a:latin typeface="Cambria Math"/>
                                </a:rPr>
                                <m:t>1</m:t>
                              </m:r>
                            </m:sub>
                          </m:sSub>
                        </m:num>
                        <m:den>
                          <m:r>
                            <a:rPr sz="2400" lang="en-US">
                              <a:latin typeface="Cambria Math"/>
                            </a:rPr>
                            <m:t>2</m:t>
                          </m:r>
                        </m:den>
                      </m:f>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m:t>
                      </m:r>
                    </m:e>
                    <m:e>
                      <m:sSub>
                        <m:e>
                          <m:r>
                            <a:rPr sz="2400" lang="en-US">
                              <a:latin typeface="Cambria Math"/>
                            </a:rPr>
                            <m:t>h</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m:t>
                      </m:r>
                    </m:e>
                    <m:e>
                      <m:sSub>
                        <m:e>
                          <m:r>
                            <a:rPr sz="2400" lang="en-US">
                              <a:latin typeface="Cambria Math"/>
                            </a:rPr>
                            <m:t>h</m:t>
                          </m:r>
                        </m:e>
                        <m:sub>
                          <m:r>
                            <a:rPr sz="2400" lang="en-US">
                              <a:latin typeface="Cambria Math"/>
                            </a:rPr>
                            <m:t>G2</m:t>
                          </m:r>
                        </m:sub>
                      </m:sSub>
                      <m:r>
                        <a:rPr sz="2400" lang="en-US">
                          <a:latin typeface="Cambria Math"/>
                        </a:rPr>
                        <m:t> = </m:t>
                      </m:r>
                      <m:sSub>
                        <m:e>
                          <m:r>
                            <a:rPr sz="2400" lang="en-US">
                              <a:latin typeface="Cambria Math"/>
                            </a:rPr>
                            <m:t>h</m:t>
                          </m:r>
                        </m:e>
                        <m:sub>
                          <m:r>
                            <a:rPr sz="2400" lang="en-US">
                              <a:latin typeface="Cambria Math"/>
                            </a:rPr>
                            <m:t>1</m:t>
                          </m:r>
                        </m:sub>
                      </m:sSub>
                      <m:r>
                        <a:rPr sz="2400" lang="en-US">
                          <a:latin typeface="Cambria Math"/>
                        </a:rPr>
                        <m:t> + </m:t>
                      </m:r>
                      <m:f>
                        <m:num>
                          <m:sSub>
                            <m:e>
                              <m:r>
                                <a:rPr sz="2400" lang="en-US">
                                  <a:latin typeface="Cambria Math"/>
                                </a:rPr>
                                <m:t>L</m:t>
                              </m:r>
                            </m:e>
                            <m:sub>
                              <m:r>
                                <a:rPr sz="2400" lang="en-US">
                                  <a:latin typeface="Cambria Math"/>
                                </a:rPr>
                                <m:t>2</m:t>
                              </m:r>
                            </m:sub>
                          </m:sSub>
                        </m:num>
                        <m:den>
                          <m:r>
                            <a:rPr sz="2400" lang="en-US">
                              <a:latin typeface="Cambria Math"/>
                            </a:rPr>
                            <m:t>2</m:t>
                          </m:r>
                        </m:den>
                      </m:f>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e>
                    <m:e>
                      <m:sSub>
                        <m:e>
                          <m:r>
                            <a:rPr sz="2400" lang="en-US">
                              <a:latin typeface="Cambria Math"/>
                            </a:rPr>
                            <m:t>h</m:t>
                          </m:r>
                        </m:e>
                        <m:sub>
                          <m:r>
                            <a:rPr sz="2400" lang="en-US">
                              <a:latin typeface="Cambria Math"/>
                            </a:rPr>
                            <m:t>2</m:t>
                          </m:r>
                        </m:sub>
                      </m:sSub>
                      <m:r>
                        <a:rPr sz="2400" lang="en-US">
                          <a:latin typeface="Cambria Math"/>
                        </a:rPr>
                        <m:t> = </m:t>
                      </m:r>
                      <m:sSub>
                        <m:e>
                          <m:r>
                            <a:rPr sz="2400" lang="en-US">
                              <a:latin typeface="Cambria Math"/>
                            </a:rPr>
                            <m:t>h</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1BD19CEB-489B-487E-8C43-388A172658D3}"/>
              </a:ext>
            </a:extLst>
          </p:cNvPr>
          <p:cNvSpPr>
            <a:spLocks xmlns:a="http://schemas.openxmlformats.org/drawingml/2006/main" noGrp="1"/>
          </p:cNvSpPr>
          <p:nvPr/>
        </p:nvSpPr>
        <p:spPr>
          <a:xfrm xmlns:a="http://schemas.openxmlformats.org/drawingml/2006/main">
            <a:off x="666750" y="4086225"/>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Set V = 0 when both links hang vertically downward.</a:t>
            </a:r>
          </a:p>
        </p:txBody>
      </p:sp>
      <p:sp>
        <p:nvSpPr>
          <p:cNvPr id="5" name="body1">
            <a:extLst xmlns:a="http://schemas.openxmlformats.org/drawingml/2006/main">
              <a:ext uri="{FF2B5EF4-FFF2-40B4-BE49-F238E27FC236}">
                <a16:creationId xmlns:a16="http://schemas.microsoft.com/office/drawing/2014/main" id="{0632B28B-CFC9-4A57-A1E5-892CEB503CB3}"/>
              </a:ext>
            </a:extLst>
          </p:cNvPr>
          <p:cNvSpPr>
            <a:spLocks xmlns:a="http://schemas.openxmlformats.org/drawingml/2006/main" noGrp="1"/>
          </p:cNvSpPr>
          <p:nvPr/>
        </p:nvSpPr>
        <p:spPr>
          <a:xfrm xmlns:a="http://schemas.openxmlformats.org/drawingml/2006/main">
            <a:off x="666750" y="4819650"/>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Raising any mass by h increases its gravitational potential energy by mgh.</a:t>
            </a:r>
          </a:p>
        </p:txBody>
      </p:sp>
      <p:sp>
        <p:nvSpPr>
          <p:cNvPr id="6" name="body2">
            <a:extLst xmlns:a="http://schemas.openxmlformats.org/drawingml/2006/main">
              <a:ext uri="{FF2B5EF4-FFF2-40B4-BE49-F238E27FC236}">
                <a16:creationId xmlns:a16="http://schemas.microsoft.com/office/drawing/2014/main" id="{E4EDD294-F1C8-41A1-90A7-507BF5BB6C39}"/>
              </a:ext>
            </a:extLst>
          </p:cNvPr>
          <p:cNvSpPr>
            <a:spLocks xmlns:a="http://schemas.openxmlformats.org/drawingml/2006/main" noGrp="1"/>
          </p:cNvSpPr>
          <p:nvPr/>
        </p:nvSpPr>
        <p:spPr>
          <a:xfrm xmlns:a="http://schemas.openxmlformats.org/drawingml/2006/main">
            <a:off x="666750" y="5553075"/>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center of a uniform bar lies halfway along it. The entire lower assembly also rises when link 1 rotates.</a:t>
            </a:r>
          </a:p>
        </p:txBody>
      </p:sp>
      <p:sp>
        <p:nvSpPr>
          <p:cNvPr id="7" name="page">
            <a:extLst xmlns:a="http://schemas.openxmlformats.org/drawingml/2006/main">
              <a:ext uri="{FF2B5EF4-FFF2-40B4-BE49-F238E27FC236}">
                <a16:creationId xmlns:a16="http://schemas.microsoft.com/office/drawing/2014/main" id="{51FAA011-39EA-41FC-84C3-5C8D2AB07265}"/>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10</a:t>
            </a:r>
          </a:p>
        </p:txBody>
      </p:sp>
    </p:spTree>
    <p:extLst>
      <p:ext uri="{BB962C8B-B14F-4D97-AF65-F5344CB8AC3E}">
        <p14:creationId xmlns:p14="http://schemas.microsoft.com/office/powerpoint/2010/main" val="132820851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4FC0D86-7F38-4DBE-81FF-191640BC1478}"/>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0E13B19-8F01-4ED8-874B-43472167951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gravity coefficients G₁ and G₂</a:t>
            </a:r>
          </a:p>
        </p:txBody>
      </p:sp>
      <p:sp>
        <p:nvSpPr>
          <p:cNvPr id="3" name="body0">
            <a:extLst xmlns:a="http://schemas.openxmlformats.org/drawingml/2006/main">
              <a:ext uri="{FF2B5EF4-FFF2-40B4-BE49-F238E27FC236}">
                <a16:creationId xmlns:a16="http://schemas.microsoft.com/office/drawing/2014/main" id="{49D21F62-DC0D-4B82-AF98-2CB085F8D247}"/>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G₁ [N·m = J]: coefficient collecting the gravitational effect of all masses raised when θ₁ changes.</a:t>
            </a:r>
          </a:p>
        </p:txBody>
      </p:sp>
      <p:sp>
        <p:nvSpPr>
          <p:cNvPr id="4" name="body1">
            <a:extLst xmlns:a="http://schemas.openxmlformats.org/drawingml/2006/main">
              <a:ext uri="{FF2B5EF4-FFF2-40B4-BE49-F238E27FC236}">
                <a16:creationId xmlns:a16="http://schemas.microsoft.com/office/drawing/2014/main" id="{E0F6957C-6138-44DF-9CD0-AAE57551FE6B}"/>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G₂ [N·m = J]: coefficient collecting the gravitational effect of the lower bar and bob when θ₂ changes.</a:t>
            </a:r>
          </a:p>
        </p:txBody>
      </p:sp>
      <p:sp>
        <p:nvSpPr>
          <p:cNvPr id="5" name="body2">
            <a:extLst xmlns:a="http://schemas.openxmlformats.org/drawingml/2006/main">
              <a:ext uri="{FF2B5EF4-FFF2-40B4-BE49-F238E27FC236}">
                <a16:creationId xmlns:a16="http://schemas.microsoft.com/office/drawing/2014/main" id="{332A8BC8-BF92-4991-9C7F-AC5FD7418B30}"/>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These capital G symbols are energy coefficients. The G in a center-of-mass subscript, such as </a:t>
            </a:r>
            <a:r>
              <a:rPr sz="1950" b="0">
                <a:solidFill>
                  <a:srgbClr val="202D3C"/>
                </a:solidFill>
                <a:latin typeface="Aptos"/>
                <a:ea typeface="Aptos"/>
                <a:cs typeface="Aptos"/>
              </a:rPr>
              <a:t>h</a:t>
            </a:r>
            <a:r>
              <a:rPr sz="1462" b="0" baseline="-25000">
                <a:solidFill>
                  <a:srgbClr val="202D3C"/>
                </a:solidFill>
                <a:latin typeface="Aptos"/>
                <a:ea typeface="Aptos"/>
                <a:cs typeface="Aptos"/>
              </a:rPr>
              <a:t>G2</a:t>
            </a:r>
            <a:r>
              <a:rPr sz="1950" b="0">
                <a:solidFill>
                  <a:srgbClr val="202D3C"/>
                </a:solidFill>
                <a:latin typeface="Aptos"/>
                <a:ea typeface="Aptos"/>
                <a:cs typeface="Aptos"/>
              </a:rPr>
              <a:t>, only labels a location.</a:t>
            </a:r>
          </a:p>
        </p:txBody>
      </p:sp>
      <p:sp>
        <p:nvSpPr>
          <p:cNvPr id="6" name="body3">
            <a:extLst xmlns:a="http://schemas.openxmlformats.org/drawingml/2006/main">
              <a:ext uri="{FF2B5EF4-FFF2-40B4-BE49-F238E27FC236}">
                <a16:creationId xmlns:a16="http://schemas.microsoft.com/office/drawing/2014/main" id="{D5C6C255-9CFB-4EF2-A5EE-3BB74BC5DF4D}"/>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We will group the four contributions to V using these two coefficients. They depend on measured masses, lengths and g.</a:t>
            </a:r>
          </a:p>
        </p:txBody>
      </p:sp>
      <p:sp>
        <p:nvSpPr>
          <p:cNvPr id="7" name="page">
            <a:extLst xmlns:a="http://schemas.openxmlformats.org/drawingml/2006/main">
              <a:ext uri="{FF2B5EF4-FFF2-40B4-BE49-F238E27FC236}">
                <a16:creationId xmlns:a16="http://schemas.microsoft.com/office/drawing/2014/main" id="{35F4D37D-A30D-47FA-B9A3-431A029858A5}"/>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11</a:t>
            </a:r>
          </a:p>
        </p:txBody>
      </p:sp>
    </p:spTree>
    <p:extLst>
      <p:ext uri="{BB962C8B-B14F-4D97-AF65-F5344CB8AC3E}">
        <p14:creationId xmlns:p14="http://schemas.microsoft.com/office/powerpoint/2010/main" val="6990186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7FF68F87-106F-4C36-9EC3-4652A00A437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C8BFFB4-3BC2-4E4E-9B32-643E4FA4D458}"/>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Potential energy of all four components</a:t>
            </a:r>
          </a:p>
        </p:txBody>
      </p:sp>
      <p:sp>
        <p:nvSpPr>
          <p:cNvPr id="3" name="EQ_potential">
            <a:extLst xmlns:a="http://schemas.openxmlformats.org/drawingml/2006/main">
              <a:ext uri="{FF2B5EF4-FFF2-40B4-BE49-F238E27FC236}">
                <a16:creationId xmlns:a16="http://schemas.microsoft.com/office/drawing/2014/main" id="{0DE1EBD2-90D4-487E-B91C-8F2D52D19E49}"/>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V = </m:t>
                  </m:r>
                  <m:sSub>
                    <m:e>
                      <m:r>
                        <a:rPr sz="2400" lang="en-US">
                          <a:latin typeface="Cambria Math"/>
                        </a:rPr>
                        <m:t>G</m:t>
                      </m:r>
                    </m:e>
                    <m:sub>
                      <m:r>
                        <a:rPr sz="2400" lang="en-US">
                          <a:latin typeface="Cambria Math"/>
                        </a:rPr>
                        <m:t>1</m:t>
                      </m:r>
                    </m:sub>
                  </m:sSub>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G</m:t>
                      </m:r>
                    </m:e>
                    <m:sub>
                      <m:r>
                        <a:rPr sz="2400" lang="en-US">
                          <a:latin typeface="Cambria Math"/>
                        </a:rPr>
                        <m:t>2</m:t>
                      </m:r>
                    </m:sub>
                  </m:sSub>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oMath>
              </m:oMathPara>
            </a14:m>
            <a:endParaRPr lang="en-US" sz="2400"/>
          </a:p>
        </p:txBody>
      </p:sp>
      <p:sp>
        <p:nvSpPr>
          <p:cNvPr id="4" name="EQ_gravitycoeff">
            <a:extLst xmlns:a="http://schemas.openxmlformats.org/drawingml/2006/main">
              <a:ext uri="{FF2B5EF4-FFF2-40B4-BE49-F238E27FC236}">
                <a16:creationId xmlns:a16="http://schemas.microsoft.com/office/drawing/2014/main" id="{2336CFCA-4CEC-421E-8E46-AD4ACBC1A606}"/>
              </a:ext>
            </a:extLst>
          </p:cNvPr>
          <p:cNvSpPr>
            <a:spLocks xmlns:a="http://schemas.openxmlformats.org/drawingml/2006/main" noGrp="1"/>
          </p:cNvSpPr>
          <p:nvPr/>
        </p:nvSpPr>
        <p:spPr>
          <a:xfrm xmlns:a="http://schemas.openxmlformats.org/drawingml/2006/main">
            <a:off x="666750" y="244792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G</m:t>
                          </m:r>
                        </m:e>
                        <m:sub>
                          <m:r>
                            <a:rPr sz="2400" lang="en-US">
                              <a:latin typeface="Cambria Math"/>
                            </a:rPr>
                            <m:t>1</m:t>
                          </m:r>
                        </m:sub>
                      </m:sSub>
                      <m:r>
                        <a:rPr sz="2400" lang="en-US">
                          <a:latin typeface="Cambria Math"/>
                        </a:rPr>
                        <m:t> = </m:t>
                      </m:r>
                      <m:r>
                        <a:rPr sz="2400" lang="en-US">
                          <a:latin typeface="Cambria Math"/>
                        </a:rPr>
                        <m:t>(</m:t>
                      </m:r>
                      <m:f>
                        <m:num>
                          <m:sSub>
                            <m:e>
                              <m:r>
                                <a:rPr sz="2400" lang="en-US">
                                  <a:latin typeface="Cambria Math"/>
                                </a:rPr>
                                <m:t>m</m:t>
                              </m:r>
                            </m:e>
                            <m:sub>
                              <m:r>
                                <a:rPr sz="2400" lang="en-US">
                                  <a:latin typeface="Cambria Math"/>
                                </a:rPr>
                                <m:t>1</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1</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)g</m:t>
                      </m:r>
                      <m:sSub>
                        <m:e>
                          <m:r>
                            <a:rPr sz="2400" lang="en-US">
                              <a:latin typeface="Cambria Math"/>
                            </a:rPr>
                            <m:t>L</m:t>
                          </m:r>
                        </m:e>
                        <m:sub>
                          <m:r>
                            <a:rPr sz="2400" lang="en-US">
                              <a:latin typeface="Cambria Math"/>
                            </a:rPr>
                            <m:t>1</m:t>
                          </m:r>
                        </m:sub>
                      </m:sSub>
                    </m:e>
                    <m:e>
                      <m:sSub>
                        <m:e>
                          <m:r>
                            <a:rPr sz="2400" lang="en-US">
                              <a:latin typeface="Cambria Math"/>
                            </a:rPr>
                            <m:t>G</m:t>
                          </m:r>
                        </m:e>
                        <m:sub>
                          <m:r>
                            <a:rPr sz="2400" lang="en-US">
                              <a:latin typeface="Cambria Math"/>
                            </a:rPr>
                            <m:t>2</m:t>
                          </m:r>
                        </m:sub>
                      </m:sSub>
                      <m:r>
                        <a:rPr sz="2400" lang="en-US">
                          <a:latin typeface="Cambria Math"/>
                        </a:rPr>
                        <m:t> = </m:t>
                      </m:r>
                      <m:r>
                        <a:rPr sz="2400" lang="en-US">
                          <a:latin typeface="Cambria Math"/>
                        </a:rPr>
                        <m:t>(</m:t>
                      </m:r>
                      <m:f>
                        <m:num>
                          <m:sSub>
                            <m:e>
                              <m:r>
                                <a:rPr sz="2400" lang="en-US">
                                  <a:latin typeface="Cambria Math"/>
                                </a:rPr>
                                <m:t>m</m:t>
                              </m:r>
                            </m:e>
                            <m:sub>
                              <m:r>
                                <a:rPr sz="2400" lang="en-US">
                                  <a:latin typeface="Cambria Math"/>
                                </a:rPr>
                                <m:t>2</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)g</m:t>
                      </m:r>
                      <m:sSub>
                        <m:e>
                          <m:r>
                            <a:rPr sz="2400" lang="en-US">
                              <a:latin typeface="Cambria Math"/>
                            </a:rPr>
                            <m:t>L</m:t>
                          </m:r>
                        </m:e>
                        <m:sub>
                          <m:r>
                            <a:rPr sz="2400" lang="en-US">
                              <a:latin typeface="Cambria Math"/>
                            </a:rPr>
                            <m:t>2</m:t>
                          </m:r>
                        </m:sub>
                      </m:sSub>
                    </m:e>
                  </m:eqArr>
                </m:oMath>
              </m:oMathPara>
            </a14:m>
            <a:endParaRPr lang="en-US" sz="2400"/>
          </a:p>
        </p:txBody>
      </p:sp>
      <p:sp>
        <p:nvSpPr>
          <p:cNvPr id="5" name="body0">
            <a:extLst xmlns:a="http://schemas.openxmlformats.org/drawingml/2006/main">
              <a:ext uri="{FF2B5EF4-FFF2-40B4-BE49-F238E27FC236}">
                <a16:creationId xmlns:a16="http://schemas.microsoft.com/office/drawing/2014/main" id="{CB00B16A-653E-44D8-A352-AB896E0E2E8C}"/>
              </a:ext>
            </a:extLst>
          </p:cNvPr>
          <p:cNvSpPr>
            <a:spLocks xmlns:a="http://schemas.openxmlformats.org/drawingml/2006/main" noGrp="1"/>
          </p:cNvSpPr>
          <p:nvPr/>
        </p:nvSpPr>
        <p:spPr>
          <a:xfrm xmlns:a="http://schemas.openxmlformats.org/drawingml/2006/main">
            <a:off x="666750" y="4010025"/>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Add the energy of both bars and both lumped masses.</a:t>
            </a:r>
          </a:p>
        </p:txBody>
      </p:sp>
      <p:sp>
        <p:nvSpPr>
          <p:cNvPr id="6" name="body1">
            <a:extLst xmlns:a="http://schemas.openxmlformats.org/drawingml/2006/main">
              <a:ext uri="{FF2B5EF4-FFF2-40B4-BE49-F238E27FC236}">
                <a16:creationId xmlns:a16="http://schemas.microsoft.com/office/drawing/2014/main" id="{FF6103D3-2B2F-4A4A-8B14-F0B88865E7E7}"/>
              </a:ext>
            </a:extLst>
          </p:cNvPr>
          <p:cNvSpPr>
            <a:spLocks xmlns:a="http://schemas.openxmlformats.org/drawingml/2006/main" noGrp="1"/>
          </p:cNvSpPr>
          <p:nvPr/>
        </p:nvSpPr>
        <p:spPr>
          <a:xfrm xmlns:a="http://schemas.openxmlformats.org/drawingml/2006/main">
            <a:off x="666750" y="4768850"/>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G₁ and G₂ are constants with units N·m, or joules. They collect mass, gravity and distance.</a:t>
            </a:r>
          </a:p>
        </p:txBody>
      </p:sp>
      <p:sp>
        <p:nvSpPr>
          <p:cNvPr id="7" name="body2">
            <a:extLst xmlns:a="http://schemas.openxmlformats.org/drawingml/2006/main">
              <a:ext uri="{FF2B5EF4-FFF2-40B4-BE49-F238E27FC236}">
                <a16:creationId xmlns:a16="http://schemas.microsoft.com/office/drawing/2014/main" id="{FF17E7BC-E0D4-4C4D-885D-323510D58770}"/>
              </a:ext>
            </a:extLst>
          </p:cNvPr>
          <p:cNvSpPr>
            <a:spLocks xmlns:a="http://schemas.openxmlformats.org/drawingml/2006/main" noGrp="1"/>
          </p:cNvSpPr>
          <p:nvPr/>
        </p:nvSpPr>
        <p:spPr>
          <a:xfrm xmlns:a="http://schemas.openxmlformats.org/drawingml/2006/main">
            <a:off x="666750" y="5527675"/>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larger mass or longer lever arm increases the energy needed to raise the system.</a:t>
            </a:r>
          </a:p>
        </p:txBody>
      </p:sp>
      <p:sp>
        <p:nvSpPr>
          <p:cNvPr id="8" name="page">
            <a:extLst xmlns:a="http://schemas.openxmlformats.org/drawingml/2006/main">
              <a:ext uri="{FF2B5EF4-FFF2-40B4-BE49-F238E27FC236}">
                <a16:creationId xmlns:a16="http://schemas.microsoft.com/office/drawing/2014/main" id="{395A288A-EED4-4BD5-9246-21B8B9235EC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12</a:t>
            </a:r>
          </a:p>
        </p:txBody>
      </p:sp>
    </p:spTree>
    <p:extLst>
      <p:ext uri="{BB962C8B-B14F-4D97-AF65-F5344CB8AC3E}">
        <p14:creationId xmlns:p14="http://schemas.microsoft.com/office/powerpoint/2010/main" val="147670950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3C94EFCD-70AB-42BA-957C-98E6DC7B143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2F7958C-3DD3-45C0-96F7-FA19903FA52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Gravity produces a restoring torque</a:t>
            </a:r>
          </a:p>
        </p:txBody>
      </p:sp>
      <p:sp>
        <p:nvSpPr>
          <p:cNvPr id="3" name="EQ_gravtorque">
            <a:extLst xmlns:a="http://schemas.openxmlformats.org/drawingml/2006/main">
              <a:ext uri="{FF2B5EF4-FFF2-40B4-BE49-F238E27FC236}">
                <a16:creationId xmlns:a16="http://schemas.microsoft.com/office/drawing/2014/main" id="{FB0B5265-9F47-41DD-B29B-2BE3829A7FAC}"/>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Q</m:t>
                      </m:r>
                    </m:e>
                    <m:sub>
                      <m:r>
                        <a:rPr sz="2400" lang="en-US">
                          <a:latin typeface="Cambria Math"/>
                        </a:rPr>
                        <m:t>g,i</m:t>
                      </m:r>
                    </m:sub>
                  </m:sSub>
                  <m:r>
                    <a:rPr sz="2400" lang="en-US">
                      <a:latin typeface="Cambria Math"/>
                    </a:rPr>
                    <m:t> = −</m:t>
                  </m:r>
                  <m:f>
                    <m:num>
                      <m:r>
                        <a:rPr sz="2400" lang="en-US">
                          <a:latin typeface="Cambria Math"/>
                        </a:rPr>
                        <m:t>∂V</m:t>
                      </m:r>
                    </m:num>
                    <m:den>
                      <m:r>
                        <a:rPr sz="2400" lang="en-US">
                          <a:latin typeface="Cambria Math"/>
                        </a:rPr>
                        <m:t>∂</m:t>
                      </m:r>
                      <m:sSub>
                        <m:e>
                          <m:r>
                            <a:rPr sz="2400" lang="en-US">
                              <a:latin typeface="Cambria Math"/>
                            </a:rPr>
                            <m:t>θ</m:t>
                          </m:r>
                        </m:e>
                        <m:sub>
                          <m:r>
                            <a:rPr sz="2400" lang="en-US">
                              <a:latin typeface="Cambria Math"/>
                            </a:rPr>
                            <m:t>i</m:t>
                          </m:r>
                        </m:sub>
                      </m:sSub>
                    </m:den>
                  </m:f>
                  <m:r>
                    <a:rPr sz="2400" lang="en-US">
                      <a:latin typeface="Cambria Math"/>
                    </a:rPr>
                    <m:t> = −</m:t>
                  </m:r>
                  <m:sSub>
                    <m:e>
                      <m:r>
                        <a:rPr sz="2400" lang="en-US">
                          <a:latin typeface="Cambria Math"/>
                        </a:rPr>
                        <m:t>G</m:t>
                      </m:r>
                    </m:e>
                    <m:sub>
                      <m:r>
                        <a:rPr sz="2400" lang="en-US">
                          <a:latin typeface="Cambria Math"/>
                        </a:rPr>
                        <m:t>i</m:t>
                      </m:r>
                    </m:sub>
                  </m:sSub>
                  <m:r>
                    <a:rPr sz="2400" lang="en-US">
                      <a:latin typeface="Cambria Math"/>
                    </a:rPr>
                    <m:t> sin </m:t>
                  </m:r>
                  <m:sSub>
                    <m:e>
                      <m:r>
                        <a:rPr sz="2400" lang="en-US">
                          <a:latin typeface="Cambria Math"/>
                        </a:rPr>
                        <m:t>θ</m:t>
                      </m:r>
                    </m:e>
                    <m:sub>
                      <m:r>
                        <a:rPr sz="2400" lang="en-US">
                          <a:latin typeface="Cambria Math"/>
                        </a:rPr>
                        <m:t>i</m:t>
                      </m:r>
                    </m:sub>
                  </m:sSub>
                </m:oMath>
              </m:oMathPara>
            </a14:m>
            <a:endParaRPr lang="en-US" sz="2400"/>
          </a:p>
        </p:txBody>
      </p:sp>
      <p:sp>
        <p:nvSpPr>
          <p:cNvPr id="4" name="body0">
            <a:extLst xmlns:a="http://schemas.openxmlformats.org/drawingml/2006/main">
              <a:ext uri="{FF2B5EF4-FFF2-40B4-BE49-F238E27FC236}">
                <a16:creationId xmlns:a16="http://schemas.microsoft.com/office/drawing/2014/main" id="{2BFE93F3-1C5D-4406-B2D4-192539FE8BF5}"/>
              </a:ext>
            </a:extLst>
          </p:cNvPr>
          <p:cNvSpPr>
            <a:spLocks xmlns:a="http://schemas.openxmlformats.org/drawingml/2006/main" noGrp="1"/>
          </p:cNvSpPr>
          <p:nvPr/>
        </p:nvSpPr>
        <p:spPr>
          <a:xfrm xmlns:a="http://schemas.openxmlformats.org/drawingml/2006/main">
            <a:off x="666750" y="24479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a:t>
            </a:r>
            <a:r>
              <a:rPr sz="1462" b="0" baseline="-25000">
                <a:solidFill>
                  <a:srgbClr val="202D3C"/>
                </a:solidFill>
                <a:latin typeface="Aptos"/>
                <a:ea typeface="Aptos"/>
                <a:cs typeface="Aptos"/>
              </a:rPr>
              <a:t>g,i</a:t>
            </a:r>
            <a:r>
              <a:rPr sz="1950" b="0">
                <a:solidFill>
                  <a:srgbClr val="202D3C"/>
                </a:solidFill>
                <a:latin typeface="Aptos"/>
                <a:ea typeface="Aptos"/>
                <a:cs typeface="Aptos"/>
              </a:rPr>
              <a:t> [N·m]: generalized gravitational torque associated with angle θᵢ, for i = 1 or 2. Subscript g denotes gravity.</a:t>
            </a:r>
          </a:p>
        </p:txBody>
      </p:sp>
      <p:sp>
        <p:nvSpPr>
          <p:cNvPr id="5" name="body1">
            <a:extLst xmlns:a="http://schemas.openxmlformats.org/drawingml/2006/main">
              <a:ext uri="{FF2B5EF4-FFF2-40B4-BE49-F238E27FC236}">
                <a16:creationId xmlns:a16="http://schemas.microsoft.com/office/drawing/2014/main" id="{8DCCE37C-D679-4840-9BF0-1BBA481036B6}"/>
              </a:ext>
            </a:extLst>
          </p:cNvPr>
          <p:cNvSpPr>
            <a:spLocks xmlns:a="http://schemas.openxmlformats.org/drawingml/2006/main" noGrp="1"/>
          </p:cNvSpPr>
          <p:nvPr/>
        </p:nvSpPr>
        <p:spPr>
          <a:xfrm xmlns:a="http://schemas.openxmlformats.org/drawingml/2006/main">
            <a:off x="666750" y="35147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∂V/∂θᵢ means the change in potential energy per change of θᵢ while holding the other angle fixed.</a:t>
            </a:r>
          </a:p>
        </p:txBody>
      </p:sp>
      <p:sp>
        <p:nvSpPr>
          <p:cNvPr id="6" name="body2">
            <a:extLst xmlns:a="http://schemas.openxmlformats.org/drawingml/2006/main">
              <a:ext uri="{FF2B5EF4-FFF2-40B4-BE49-F238E27FC236}">
                <a16:creationId xmlns:a16="http://schemas.microsoft.com/office/drawing/2014/main" id="{2446CAC8-B188-4655-877C-EA9F02ED0E94}"/>
              </a:ext>
            </a:extLst>
          </p:cNvPr>
          <p:cNvSpPr>
            <a:spLocks xmlns:a="http://schemas.openxmlformats.org/drawingml/2006/main" noGrp="1"/>
          </p:cNvSpPr>
          <p:nvPr/>
        </p:nvSpPr>
        <p:spPr>
          <a:xfrm xmlns:a="http://schemas.openxmlformats.org/drawingml/2006/main">
            <a:off x="666750" y="45815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small positive angle, the negative sign means gravity acts to reduce that angle. Each Gᵢ includes the masses raised by that angle.</a:t>
            </a:r>
          </a:p>
        </p:txBody>
      </p:sp>
      <p:sp>
        <p:nvSpPr>
          <p:cNvPr id="7" name="page">
            <a:extLst xmlns:a="http://schemas.openxmlformats.org/drawingml/2006/main">
              <a:ext uri="{FF2B5EF4-FFF2-40B4-BE49-F238E27FC236}">
                <a16:creationId xmlns:a16="http://schemas.microsoft.com/office/drawing/2014/main" id="{4C572ECF-4958-4D19-AA54-02CE9C0A9F03}"/>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13</a:t>
            </a:r>
          </a:p>
        </p:txBody>
      </p:sp>
    </p:spTree>
    <p:extLst>
      <p:ext uri="{BB962C8B-B14F-4D97-AF65-F5344CB8AC3E}">
        <p14:creationId xmlns:p14="http://schemas.microsoft.com/office/powerpoint/2010/main" val="119845335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1F163D5E-BDB9-4017-8308-CB9B5090E77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50437B8-2642-49D9-8DAB-0E557ED35C2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Speed and angle symbols in the bob energy</a:t>
            </a:r>
          </a:p>
        </p:txBody>
      </p:sp>
      <p:sp>
        <p:nvSpPr>
          <p:cNvPr id="3" name="body0">
            <a:extLst xmlns:a="http://schemas.openxmlformats.org/drawingml/2006/main">
              <a:ext uri="{FF2B5EF4-FFF2-40B4-BE49-F238E27FC236}">
                <a16:creationId xmlns:a16="http://schemas.microsoft.com/office/drawing/2014/main" id="{C20C3FC9-DA80-4A75-A71D-99AED9D0101B}"/>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v₁ and v₂ [m/s]: magnitudes of the translational velocities of bob 1 and bob 2, measured relative to the fixed laboratory.</a:t>
            </a:r>
          </a:p>
        </p:txBody>
      </p:sp>
      <p:sp>
        <p:nvSpPr>
          <p:cNvPr id="4" name="body1">
            <a:extLst xmlns:a="http://schemas.openxmlformats.org/drawingml/2006/main">
              <a:ext uri="{FF2B5EF4-FFF2-40B4-BE49-F238E27FC236}">
                <a16:creationId xmlns:a16="http://schemas.microsoft.com/office/drawing/2014/main" id="{99134ABE-F70F-46DA-B9B2-98F0294AEF31}"/>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bob 1</a:t>
            </a:r>
            <a:r>
              <a:rPr sz="1950" b="0">
                <a:solidFill>
                  <a:srgbClr val="202D3C"/>
                </a:solidFill>
                <a:latin typeface="Aptos"/>
                <a:ea typeface="Aptos"/>
                <a:cs typeface="Aptos"/>
              </a:rPr>
              <a:t> [J]: kinetic energy of bob 1. In the generic point-mass formula T = ½Mv², M is that point’s mass [kg] and v is its speed [m/s].</a:t>
            </a:r>
          </a:p>
        </p:txBody>
      </p:sp>
      <p:sp>
        <p:nvSpPr>
          <p:cNvPr id="5" name="body2">
            <a:extLst xmlns:a="http://schemas.openxmlformats.org/drawingml/2006/main">
              <a:ext uri="{FF2B5EF4-FFF2-40B4-BE49-F238E27FC236}">
                <a16:creationId xmlns:a16="http://schemas.microsoft.com/office/drawing/2014/main" id="{63F05623-CD67-4712-9DBF-5A1D66D0EB61}"/>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 = θ₁ − θ₂ [rad]: difference between the two absolute link angles. It determines the angle between the two velocity contributions.</a:t>
            </a:r>
          </a:p>
        </p:txBody>
      </p:sp>
      <p:sp>
        <p:nvSpPr>
          <p:cNvPr id="6" name="body3">
            <a:extLst xmlns:a="http://schemas.openxmlformats.org/drawingml/2006/main">
              <a:ext uri="{FF2B5EF4-FFF2-40B4-BE49-F238E27FC236}">
                <a16:creationId xmlns:a16="http://schemas.microsoft.com/office/drawing/2014/main" id="{726089B2-4AD2-457A-88D6-74CFC4118304}"/>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ω₁ and ω₂ are signed angular velocities [rad/s]. Multiplying a link length by angular velocity gives a tangential velocity contribution.</a:t>
            </a:r>
          </a:p>
        </p:txBody>
      </p:sp>
      <p:sp>
        <p:nvSpPr>
          <p:cNvPr id="7" name="page">
            <a:extLst xmlns:a="http://schemas.openxmlformats.org/drawingml/2006/main">
              <a:ext uri="{FF2B5EF4-FFF2-40B4-BE49-F238E27FC236}">
                <a16:creationId xmlns:a16="http://schemas.microsoft.com/office/drawing/2014/main" id="{FED0C0C6-77C2-4BD6-8894-0609D546D536}"/>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14</a:t>
            </a:r>
          </a:p>
        </p:txBody>
      </p:sp>
    </p:spTree>
    <p:extLst>
      <p:ext uri="{BB962C8B-B14F-4D97-AF65-F5344CB8AC3E}">
        <p14:creationId xmlns:p14="http://schemas.microsoft.com/office/powerpoint/2010/main" val="15001603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900152CD-3D86-47D7-9924-0D83BE76A292}"/>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CB6F65A-FA2F-49D0-9E3C-8DFDDDC5F3D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Kinetic energy of a moving bob</a:t>
            </a:r>
          </a:p>
        </p:txBody>
      </p:sp>
      <p:sp>
        <p:nvSpPr>
          <p:cNvPr id="3" name="EQ_bobkinetic">
            <a:extLst xmlns:a="http://schemas.openxmlformats.org/drawingml/2006/main">
              <a:ext uri="{FF2B5EF4-FFF2-40B4-BE49-F238E27FC236}">
                <a16:creationId xmlns:a16="http://schemas.microsoft.com/office/drawing/2014/main" id="{F520855D-C72C-4C3E-808E-7E301BA8421C}"/>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bob 1</m:t>
                      </m:r>
                    </m:sub>
                  </m:sSub>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M</m:t>
                      </m:r>
                    </m:e>
                    <m:sub>
                      <m:r>
                        <a:rPr sz="2400" lang="en-US">
                          <a:latin typeface="Cambria Math"/>
                        </a:rPr>
                        <m:t>1</m:t>
                      </m:r>
                    </m:sub>
                  </m:sSub>
                  <m:sSup>
                    <m:e>
                      <m:sSub>
                        <m:e>
                          <m:r>
                            <a:rPr sz="2400" lang="en-US">
                              <a:latin typeface="Cambria Math"/>
                            </a:rPr>
                            <m:t>L</m:t>
                          </m:r>
                        </m:e>
                        <m:sub>
                          <m:r>
                            <a:rPr sz="2400" lang="en-US">
                              <a:latin typeface="Cambria Math"/>
                            </a:rPr>
                            <m:t>1</m:t>
                          </m:r>
                        </m:sub>
                      </m:sSub>
                    </m:e>
                    <m:sup>
                      <m:r>
                        <a:rPr sz="2400" lang="en-US">
                          <a:latin typeface="Cambria Math"/>
                        </a:rPr>
                        <m:t>2</m:t>
                      </m:r>
                    </m:sup>
                  </m:sSup>
                  <m:sSup>
                    <m:e>
                      <m:sSub>
                        <m:e>
                          <m:r>
                            <a:rPr sz="2400" lang="en-US">
                              <a:latin typeface="Cambria Math"/>
                            </a:rPr>
                            <m:t>ω</m:t>
                          </m:r>
                        </m:e>
                        <m:sub>
                          <m:r>
                            <a:rPr sz="2400" lang="en-US">
                              <a:latin typeface="Cambria Math"/>
                            </a:rPr>
                            <m:t>1</m:t>
                          </m:r>
                        </m:sub>
                      </m:sSub>
                    </m:e>
                    <m:sup>
                      <m:r>
                        <a:rPr sz="2400" lang="en-US">
                          <a:latin typeface="Cambria Math"/>
                        </a:rPr>
                        <m:t>2</m:t>
                      </m:r>
                    </m:sup>
                  </m:sSup>
                </m:oMath>
              </m:oMathPara>
            </a14:m>
            <a:endParaRPr lang="en-US" sz="2400"/>
          </a:p>
        </p:txBody>
      </p:sp>
      <p:sp>
        <p:nvSpPr>
          <p:cNvPr id="4" name="EQ_v2">
            <a:extLst xmlns:a="http://schemas.openxmlformats.org/drawingml/2006/main">
              <a:ext uri="{FF2B5EF4-FFF2-40B4-BE49-F238E27FC236}">
                <a16:creationId xmlns:a16="http://schemas.microsoft.com/office/drawing/2014/main" id="{AE20DCB9-257B-409C-A74D-E9FC21756E66}"/>
              </a:ext>
            </a:extLst>
          </p:cNvPr>
          <p:cNvSpPr>
            <a:spLocks xmlns:a="http://schemas.openxmlformats.org/drawingml/2006/main" noGrp="1"/>
          </p:cNvSpPr>
          <p:nvPr/>
        </p:nvSpPr>
        <p:spPr>
          <a:xfrm xmlns:a="http://schemas.openxmlformats.org/drawingml/2006/main">
            <a:off x="666750" y="2447925"/>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p>
                    <m:e>
                      <m:sSub>
                        <m:e>
                          <m:r>
                            <a:rPr sz="2400" lang="en-US">
                              <a:latin typeface="Cambria Math"/>
                            </a:rPr>
                            <m:t>v</m:t>
                          </m:r>
                        </m:e>
                        <m:sub>
                          <m:r>
                            <a:rPr sz="2400" lang="en-US">
                              <a:latin typeface="Cambria Math"/>
                            </a:rPr>
                            <m:t>2</m:t>
                          </m:r>
                        </m:sub>
                      </m:sSub>
                    </m:e>
                    <m:sup>
                      <m:r>
                        <a:rPr sz="2400" lang="en-US">
                          <a:latin typeface="Cambria Math"/>
                        </a:rPr>
                        <m:t>2</m:t>
                      </m:r>
                    </m:sup>
                  </m:sSup>
                  <m:r>
                    <a:rPr sz="2400" lang="en-US">
                      <a:latin typeface="Cambria Math"/>
                    </a:rPr>
                    <m:t> = </m:t>
                  </m:r>
                  <m:sSup>
                    <m:e>
                      <m:sSub>
                        <m:e>
                          <m:r>
                            <a:rPr sz="2400" lang="en-US">
                              <a:latin typeface="Cambria Math"/>
                            </a:rPr>
                            <m:t>L</m:t>
                          </m:r>
                        </m:e>
                        <m:sub>
                          <m:r>
                            <a:rPr sz="2400" lang="en-US">
                              <a:latin typeface="Cambria Math"/>
                            </a:rPr>
                            <m:t>1</m:t>
                          </m:r>
                        </m:sub>
                      </m:sSub>
                    </m:e>
                    <m:sup>
                      <m:r>
                        <a:rPr sz="2400" lang="en-US">
                          <a:latin typeface="Cambria Math"/>
                        </a:rPr>
                        <m:t>2</m:t>
                      </m:r>
                    </m:sup>
                  </m:sSup>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sSup>
                    <m:e>
                      <m:sSub>
                        <m:e>
                          <m:r>
                            <a:rPr sz="2400" lang="en-US">
                              <a:latin typeface="Cambria Math"/>
                            </a:rPr>
                            <m:t>L</m:t>
                          </m:r>
                        </m:e>
                        <m:sub>
                          <m:r>
                            <a:rPr sz="2400" lang="en-US">
                              <a:latin typeface="Cambria Math"/>
                            </a:rPr>
                            <m:t>2</m:t>
                          </m:r>
                        </m:sub>
                      </m:sSub>
                    </m:e>
                    <m:sup>
                      <m:r>
                        <a:rPr sz="2400" lang="en-US">
                          <a:latin typeface="Cambria Math"/>
                        </a:rPr>
                        <m:t>2</m:t>
                      </m:r>
                    </m:sup>
                  </m:sSup>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+ 2</m:t>
                  </m:r>
                  <m:sSub>
                    <m:e>
                      <m:r>
                        <a:rPr sz="2400" lang="en-US">
                          <a:latin typeface="Cambria Math"/>
                        </a:rPr>
                        <m:t>L</m:t>
                      </m:r>
                    </m:e>
                    <m:sub>
                      <m:r>
                        <a:rPr sz="2400" lang="en-US">
                          <a:latin typeface="Cambria Math"/>
                        </a:rPr>
                        <m:t>1</m:t>
                      </m:r>
                    </m:sub>
                  </m:sSub>
                  <m:sSub>
                    <m:e>
                      <m:r>
                        <a:rPr sz="2400" lang="en-US">
                          <a:latin typeface="Cambria Math"/>
                        </a:rPr>
                        <m:t>L</m:t>
                      </m:r>
                    </m:e>
                    <m:sub>
                      <m:r>
                        <a:rPr sz="2400" lang="en-US">
                          <a:latin typeface="Cambria Math"/>
                        </a:rPr>
                        <m:t>2</m:t>
                      </m:r>
                    </m:sub>
                  </m:sSub>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r>
                    <a:rPr sz="2400" lang="en-US">
                      <a:latin typeface="Cambria Math"/>
                    </a:rPr>
                    <m:t> cos Δ</m:t>
                  </m:r>
                </m:oMath>
              </m:oMathPara>
            </a14:m>
            <a:endParaRPr lang="en-US" sz="2400"/>
          </a:p>
        </p:txBody>
      </p:sp>
      <p:sp>
        <p:nvSpPr>
          <p:cNvPr id="5" name="body0">
            <a:extLst xmlns:a="http://schemas.openxmlformats.org/drawingml/2006/main">
              <a:ext uri="{FF2B5EF4-FFF2-40B4-BE49-F238E27FC236}">
                <a16:creationId xmlns:a16="http://schemas.microsoft.com/office/drawing/2014/main" id="{9EB02723-3CA8-402A-9001-97875F985816}"/>
              </a:ext>
            </a:extLst>
          </p:cNvPr>
          <p:cNvSpPr>
            <a:spLocks xmlns:a="http://schemas.openxmlformats.org/drawingml/2006/main" noGrp="1"/>
          </p:cNvSpPr>
          <p:nvPr/>
        </p:nvSpPr>
        <p:spPr>
          <a:xfrm xmlns:a="http://schemas.openxmlformats.org/drawingml/2006/main">
            <a:off x="666750" y="340042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point mass, T = ½ Mv². Bob 1 moves on a circle about the fixed pivot.</a:t>
            </a:r>
          </a:p>
        </p:txBody>
      </p:sp>
      <p:sp>
        <p:nvSpPr>
          <p:cNvPr id="6" name="body1">
            <a:extLst xmlns:a="http://schemas.openxmlformats.org/drawingml/2006/main">
              <a:ext uri="{FF2B5EF4-FFF2-40B4-BE49-F238E27FC236}">
                <a16:creationId xmlns:a16="http://schemas.microsoft.com/office/drawing/2014/main" id="{219B04C3-F5C8-4C49-A881-BEF78E491284}"/>
              </a:ext>
            </a:extLst>
          </p:cNvPr>
          <p:cNvSpPr>
            <a:spLocks xmlns:a="http://schemas.openxmlformats.org/drawingml/2006/main" noGrp="1"/>
          </p:cNvSpPr>
          <p:nvPr/>
        </p:nvSpPr>
        <p:spPr>
          <a:xfrm xmlns:a="http://schemas.openxmlformats.org/drawingml/2006/main">
            <a:off x="666750" y="4362450"/>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Bob 2 has the velocity of the moving joint plus its motion relative to that joint.</a:t>
            </a:r>
          </a:p>
        </p:txBody>
      </p:sp>
      <p:sp>
        <p:nvSpPr>
          <p:cNvPr id="7" name="body2">
            <a:extLst xmlns:a="http://schemas.openxmlformats.org/drawingml/2006/main">
              <a:ext uri="{FF2B5EF4-FFF2-40B4-BE49-F238E27FC236}">
                <a16:creationId xmlns:a16="http://schemas.microsoft.com/office/drawing/2014/main" id="{B04CC60A-2E42-423C-B8C5-6E06014E5553}"/>
              </a:ext>
            </a:extLst>
          </p:cNvPr>
          <p:cNvSpPr>
            <a:spLocks xmlns:a="http://schemas.openxmlformats.org/drawingml/2006/main" noGrp="1"/>
          </p:cNvSpPr>
          <p:nvPr/>
        </p:nvSpPr>
        <p:spPr>
          <a:xfrm xmlns:a="http://schemas.openxmlformats.org/drawingml/2006/main">
            <a:off x="666750" y="532447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Squaring that sum produces a cross term. This is the origin of kinetic coupling.</a:t>
            </a:r>
          </a:p>
        </p:txBody>
      </p:sp>
      <p:sp>
        <p:nvSpPr>
          <p:cNvPr id="8" name="page">
            <a:extLst xmlns:a="http://schemas.openxmlformats.org/drawingml/2006/main">
              <a:ext uri="{FF2B5EF4-FFF2-40B4-BE49-F238E27FC236}">
                <a16:creationId xmlns:a16="http://schemas.microsoft.com/office/drawing/2014/main" id="{6730A168-F09B-4784-BB91-8F24DBA8037D}"/>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15</a:t>
            </a:r>
          </a:p>
        </p:txBody>
      </p:sp>
    </p:spTree>
    <p:extLst>
      <p:ext uri="{BB962C8B-B14F-4D97-AF65-F5344CB8AC3E}">
        <p14:creationId xmlns:p14="http://schemas.microsoft.com/office/powerpoint/2010/main" val="18666411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BC447052-D1A6-4810-8690-B370CD2DD438}"/>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3CA66E2-BA55-4F69-8120-66D916A313C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Symbols for a moving bar</a:t>
            </a:r>
          </a:p>
        </p:txBody>
      </p:sp>
      <p:sp>
        <p:nvSpPr>
          <p:cNvPr id="3" name="body0">
            <a:extLst xmlns:a="http://schemas.openxmlformats.org/drawingml/2006/main">
              <a:ext uri="{FF2B5EF4-FFF2-40B4-BE49-F238E27FC236}">
                <a16:creationId xmlns:a16="http://schemas.microsoft.com/office/drawing/2014/main" id="{79FBAD3D-134A-45F8-9E1D-EB4FB0729A3E}"/>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generic uniform bar, m [kg] is its mass and L [m] is its length.</a:t>
            </a:r>
          </a:p>
        </p:txBody>
      </p:sp>
      <p:sp>
        <p:nvSpPr>
          <p:cNvPr id="4" name="body1">
            <a:extLst xmlns:a="http://schemas.openxmlformats.org/drawingml/2006/main">
              <a:ext uri="{FF2B5EF4-FFF2-40B4-BE49-F238E27FC236}">
                <a16:creationId xmlns:a16="http://schemas.microsoft.com/office/drawing/2014/main" id="{B7137DE9-0078-4267-8D60-FD7CA08B203B}"/>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a:t>
            </a:r>
            <a:r>
              <a:rPr sz="1462" b="0" baseline="-25000">
                <a:solidFill>
                  <a:srgbClr val="202D3C"/>
                </a:solidFill>
                <a:latin typeface="Aptos"/>
                <a:ea typeface="Aptos"/>
                <a:cs typeface="Aptos"/>
              </a:rPr>
              <a:t>center</a:t>
            </a:r>
            <a:r>
              <a:rPr sz="1950" b="0">
                <a:solidFill>
                  <a:srgbClr val="202D3C"/>
                </a:solidFill>
                <a:latin typeface="Aptos"/>
                <a:ea typeface="Aptos"/>
                <a:cs typeface="Aptos"/>
              </a:rPr>
              <a:t> and </a:t>
            </a:r>
            <a:r>
              <a:rPr sz="1950" b="0">
                <a:solidFill>
                  <a:srgbClr val="202D3C"/>
                </a:solidFill>
                <a:latin typeface="Aptos"/>
                <a:ea typeface="Aptos"/>
                <a:cs typeface="Aptos"/>
              </a:rPr>
              <a:t>I</a:t>
            </a:r>
            <a:r>
              <a:rPr sz="1462" b="0" baseline="-25000">
                <a:solidFill>
                  <a:srgbClr val="202D3C"/>
                </a:solidFill>
                <a:latin typeface="Aptos"/>
                <a:ea typeface="Aptos"/>
                <a:cs typeface="Aptos"/>
              </a:rPr>
              <a:t>end</a:t>
            </a:r>
            <a:r>
              <a:rPr sz="1950" b="0">
                <a:solidFill>
                  <a:srgbClr val="202D3C"/>
                </a:solidFill>
                <a:latin typeface="Aptos"/>
                <a:ea typeface="Aptos"/>
                <a:cs typeface="Aptos"/>
              </a:rPr>
              <a:t> [kg·m²]: mass moments of inertia about axes through the bar center and end, perpendicular to the motion plane.</a:t>
            </a:r>
          </a:p>
        </p:txBody>
      </p:sp>
      <p:sp>
        <p:nvSpPr>
          <p:cNvPr id="5" name="body2">
            <a:extLst xmlns:a="http://schemas.openxmlformats.org/drawingml/2006/main">
              <a:ext uri="{FF2B5EF4-FFF2-40B4-BE49-F238E27FC236}">
                <a16:creationId xmlns:a16="http://schemas.microsoft.com/office/drawing/2014/main" id="{94096A74-E59E-45D8-A4A0-D940A4BEA627}"/>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v</a:t>
            </a:r>
            <a:r>
              <a:rPr sz="1462" b="0" baseline="-25000">
                <a:solidFill>
                  <a:srgbClr val="202D3C"/>
                </a:solidFill>
                <a:latin typeface="Aptos"/>
                <a:ea typeface="Aptos"/>
                <a:cs typeface="Aptos"/>
              </a:rPr>
              <a:t>G2</a:t>
            </a:r>
            <a:r>
              <a:rPr sz="1950" b="0">
                <a:solidFill>
                  <a:srgbClr val="202D3C"/>
                </a:solidFill>
                <a:latin typeface="Aptos"/>
                <a:ea typeface="Aptos"/>
                <a:cs typeface="Aptos"/>
              </a:rPr>
              <a:t> [m/s]: translational speed of the lower bar’s center of mass. </a:t>
            </a:r>
            <a:r>
              <a:rPr sz="1950" b="0">
                <a:solidFill>
                  <a:srgbClr val="202D3C"/>
                </a:solidFill>
                <a:latin typeface="Aptos"/>
                <a:ea typeface="Aptos"/>
                <a:cs typeface="Aptos"/>
              </a:rPr>
              <a:t>I</a:t>
            </a:r>
            <a:r>
              <a:rPr sz="1462" b="0" baseline="-25000">
                <a:solidFill>
                  <a:srgbClr val="202D3C"/>
                </a:solidFill>
                <a:latin typeface="Aptos"/>
                <a:ea typeface="Aptos"/>
                <a:cs typeface="Aptos"/>
              </a:rPr>
              <a:t>G2</a:t>
            </a:r>
            <a:r>
              <a:rPr sz="1950" b="0">
                <a:solidFill>
                  <a:srgbClr val="202D3C"/>
                </a:solidFill>
                <a:latin typeface="Aptos"/>
                <a:ea typeface="Aptos"/>
                <a:cs typeface="Aptos"/>
              </a:rPr>
              <a:t> [kg·m²] is its inertia about that center.</a:t>
            </a:r>
          </a:p>
        </p:txBody>
      </p:sp>
      <p:sp>
        <p:nvSpPr>
          <p:cNvPr id="6" name="body3">
            <a:extLst xmlns:a="http://schemas.openxmlformats.org/drawingml/2006/main">
              <a:ext uri="{FF2B5EF4-FFF2-40B4-BE49-F238E27FC236}">
                <a16:creationId xmlns:a16="http://schemas.microsoft.com/office/drawing/2014/main" id="{7314031B-1057-4780-8C2B-6F6B8E21069B}"/>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bar 2</a:t>
            </a:r>
            <a:r>
              <a:rPr sz="1950" b="0">
                <a:solidFill>
                  <a:srgbClr val="202D3C"/>
                </a:solidFill>
                <a:latin typeface="Aptos"/>
                <a:ea typeface="Aptos"/>
                <a:cs typeface="Aptos"/>
              </a:rPr>
              <a:t> [J]: lower-bar kinetic energy. It includes translation of the center and rotation about the center.</a:t>
            </a:r>
          </a:p>
        </p:txBody>
      </p:sp>
      <p:sp>
        <p:nvSpPr>
          <p:cNvPr id="7" name="page">
            <a:extLst xmlns:a="http://schemas.openxmlformats.org/drawingml/2006/main">
              <a:ext uri="{FF2B5EF4-FFF2-40B4-BE49-F238E27FC236}">
                <a16:creationId xmlns:a16="http://schemas.microsoft.com/office/drawing/2014/main" id="{B235F240-6D27-40EF-B074-24906C4D3ED0}"/>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16</a:t>
            </a:r>
          </a:p>
        </p:txBody>
      </p:sp>
    </p:spTree>
    <p:extLst>
      <p:ext uri="{BB962C8B-B14F-4D97-AF65-F5344CB8AC3E}">
        <p14:creationId xmlns:p14="http://schemas.microsoft.com/office/powerpoint/2010/main" val="86811708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021A8C71-F43A-4E2A-BB25-86E315B8050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865EF52-7165-4C6D-B3B3-81AFDFB195A2}"/>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 bar also carries kinetic energy</a:t>
            </a:r>
          </a:p>
        </p:txBody>
      </p:sp>
      <p:sp>
        <p:nvSpPr>
          <p:cNvPr id="3" name="EQ_barinertia">
            <a:extLst xmlns:a="http://schemas.openxmlformats.org/drawingml/2006/main">
              <a:ext uri="{FF2B5EF4-FFF2-40B4-BE49-F238E27FC236}">
                <a16:creationId xmlns:a16="http://schemas.microsoft.com/office/drawing/2014/main" id="{12653E10-80E5-4F86-BE79-AAE6A791C12A}"/>
              </a:ext>
            </a:extLst>
          </p:cNvPr>
          <p:cNvSpPr>
            <a:spLocks xmlns:a="http://schemas.openxmlformats.org/drawingml/2006/main" noGrp="1"/>
          </p:cNvSpPr>
          <p:nvPr/>
        </p:nvSpPr>
        <p:spPr>
          <a:xfrm xmlns:a="http://schemas.openxmlformats.org/drawingml/2006/main">
            <a:off x="666750" y="1666875"/>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I</m:t>
                      </m:r>
                    </m:e>
                    <m:sub>
                      <m:r>
                        <a:rPr sz="2400" lang="en-US">
                          <a:latin typeface="Cambria Math"/>
                        </a:rPr>
                        <m:t>center</m:t>
                      </m:r>
                    </m:sub>
                  </m:sSub>
                  <m:r>
                    <a:rPr sz="2400" lang="en-US">
                      <a:latin typeface="Cambria Math"/>
                    </a:rPr>
                    <m:t> = </m:t>
                  </m:r>
                  <m:f>
                    <m:num>
                      <m:r>
                        <a:rPr sz="2400" lang="en-US">
                          <a:latin typeface="Cambria Math"/>
                        </a:rPr>
                        <m:t>m</m:t>
                      </m:r>
                      <m:sSup>
                        <m:e>
                          <m:r>
                            <a:rPr sz="2400" lang="en-US">
                              <a:latin typeface="Cambria Math"/>
                            </a:rPr>
                            <m:t>L</m:t>
                          </m:r>
                        </m:e>
                        <m:sup>
                          <m:r>
                            <a:rPr sz="2400" lang="en-US">
                              <a:latin typeface="Cambria Math"/>
                            </a:rPr>
                            <m:t>2</m:t>
                          </m:r>
                        </m:sup>
                      </m:sSup>
                    </m:num>
                    <m:den>
                      <m:r>
                        <a:rPr sz="2400" lang="en-US">
                          <a:latin typeface="Cambria Math"/>
                        </a:rPr>
                        <m:t>12</m:t>
                      </m:r>
                    </m:den>
                  </m:f>
                  <m:r>
                    <a:rPr sz="2400" lang="en-US">
                      <a:latin typeface="Cambria Math"/>
                    </a:rPr>
                    <m:t>      </m:t>
                  </m:r>
                  <m:sSub>
                    <m:e>
                      <m:r>
                        <a:rPr sz="2400" lang="en-US">
                          <a:latin typeface="Cambria Math"/>
                        </a:rPr>
                        <m:t>I</m:t>
                      </m:r>
                    </m:e>
                    <m:sub>
                      <m:r>
                        <a:rPr sz="2400" lang="en-US">
                          <a:latin typeface="Cambria Math"/>
                        </a:rPr>
                        <m:t>end</m:t>
                      </m:r>
                    </m:sub>
                  </m:sSub>
                  <m:r>
                    <a:rPr sz="2400" lang="en-US">
                      <a:latin typeface="Cambria Math"/>
                    </a:rPr>
                    <m:t> = </m:t>
                  </m:r>
                  <m:f>
                    <m:num>
                      <m:r>
                        <a:rPr sz="2400" lang="en-US">
                          <a:latin typeface="Cambria Math"/>
                        </a:rPr>
                        <m:t>m</m:t>
                      </m:r>
                      <m:sSup>
                        <m:e>
                          <m:r>
                            <a:rPr sz="2400" lang="en-US">
                              <a:latin typeface="Cambria Math"/>
                            </a:rPr>
                            <m:t>L</m:t>
                          </m:r>
                        </m:e>
                        <m:sup>
                          <m:r>
                            <a:rPr sz="2400" lang="en-US">
                              <a:latin typeface="Cambria Math"/>
                            </a:rPr>
                            <m:t>2</m:t>
                          </m:r>
                        </m:sup>
                      </m:sSup>
                    </m:num>
                    <m:den>
                      <m:r>
                        <a:rPr sz="2400" lang="en-US">
                          <a:latin typeface="Cambria Math"/>
                        </a:rPr>
                        <m:t>3</m:t>
                      </m:r>
                    </m:den>
                  </m:f>
                </m:oMath>
              </m:oMathPara>
            </a14:m>
            <a:endParaRPr lang="en-US" sz="2400"/>
          </a:p>
        </p:txBody>
      </p:sp>
      <p:sp>
        <p:nvSpPr>
          <p:cNvPr id="4" name="EQ_bart">
            <a:extLst xmlns:a="http://schemas.openxmlformats.org/drawingml/2006/main">
              <a:ext uri="{FF2B5EF4-FFF2-40B4-BE49-F238E27FC236}">
                <a16:creationId xmlns:a16="http://schemas.microsoft.com/office/drawing/2014/main" id="{D140D196-9A50-485D-91C5-0E93F34F0EDC}"/>
              </a:ext>
            </a:extLst>
          </p:cNvPr>
          <p:cNvSpPr>
            <a:spLocks xmlns:a="http://schemas.openxmlformats.org/drawingml/2006/main" noGrp="1"/>
          </p:cNvSpPr>
          <p:nvPr/>
        </p:nvSpPr>
        <p:spPr>
          <a:xfrm xmlns:a="http://schemas.openxmlformats.org/drawingml/2006/main">
            <a:off x="666750" y="24098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bar 2</m:t>
                      </m:r>
                    </m:sub>
                  </m:sSub>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m</m:t>
                      </m:r>
                    </m:e>
                    <m:sub>
                      <m:r>
                        <a:rPr sz="2400" lang="en-US">
                          <a:latin typeface="Cambria Math"/>
                        </a:rPr>
                        <m:t>2</m:t>
                      </m:r>
                    </m:sub>
                  </m:sSub>
                  <m:sSup>
                    <m:e>
                      <m:sSub>
                        <m:e>
                          <m:r>
                            <a:rPr sz="2400" lang="en-US">
                              <a:latin typeface="Cambria Math"/>
                            </a:rPr>
                            <m:t>v</m:t>
                          </m:r>
                        </m:e>
                        <m:sub>
                          <m:r>
                            <a:rPr sz="2400" lang="en-US">
                              <a:latin typeface="Cambria Math"/>
                            </a:rPr>
                            <m:t>G2</m:t>
                          </m:r>
                        </m:sub>
                      </m:sSub>
                    </m:e>
                    <m:sup>
                      <m:r>
                        <a:rPr sz="2400" lang="en-US">
                          <a:latin typeface="Cambria Math"/>
                        </a:rPr>
                        <m:t>2</m:t>
                      </m:r>
                    </m:sup>
                  </m:sSup>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G2</m:t>
                      </m:r>
                    </m:sub>
                  </m:sSub>
                  <m:sSup>
                    <m:e>
                      <m:sSub>
                        <m:e>
                          <m:r>
                            <a:rPr sz="2400" lang="en-US">
                              <a:latin typeface="Cambria Math"/>
                            </a:rPr>
                            <m:t>ω</m:t>
                          </m:r>
                        </m:e>
                        <m:sub>
                          <m:r>
                            <a:rPr sz="2400" lang="en-US">
                              <a:latin typeface="Cambria Math"/>
                            </a:rPr>
                            <m:t>2</m:t>
                          </m:r>
                        </m:sub>
                      </m:sSub>
                    </m:e>
                    <m:sup>
                      <m:r>
                        <a:rPr sz="2400" lang="en-US">
                          <a:latin typeface="Cambria Math"/>
                        </a:rPr>
                        <m:t>2</m:t>
                      </m:r>
                    </m:sup>
                  </m:sSup>
                </m:oMath>
              </m:oMathPara>
            </a14:m>
            <a:endParaRPr lang="en-US" sz="2400"/>
          </a:p>
        </p:txBody>
      </p:sp>
      <p:sp>
        <p:nvSpPr>
          <p:cNvPr id="5" name="body0">
            <a:extLst xmlns:a="http://schemas.openxmlformats.org/drawingml/2006/main">
              <a:ext uri="{FF2B5EF4-FFF2-40B4-BE49-F238E27FC236}">
                <a16:creationId xmlns:a16="http://schemas.microsoft.com/office/drawing/2014/main" id="{247B552F-3AD4-4137-B2EF-A4853B4F0805}"/>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uniform bar rotating about its end has moment of inertia mL²/3.</a:t>
            </a:r>
          </a:p>
        </p:txBody>
      </p:sp>
      <p:sp>
        <p:nvSpPr>
          <p:cNvPr id="6" name="body1">
            <a:extLst xmlns:a="http://schemas.openxmlformats.org/drawingml/2006/main">
              <a:ext uri="{FF2B5EF4-FFF2-40B4-BE49-F238E27FC236}">
                <a16:creationId xmlns:a16="http://schemas.microsoft.com/office/drawing/2014/main" id="{F26CE9D2-81A6-431B-9CF2-34FDD45D5ADE}"/>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upper bar rotates about the fixed pivot. The lower bar also translates because its upper joint moves.</a:t>
            </a:r>
          </a:p>
        </p:txBody>
      </p:sp>
      <p:sp>
        <p:nvSpPr>
          <p:cNvPr id="7" name="body2">
            <a:extLst xmlns:a="http://schemas.openxmlformats.org/drawingml/2006/main">
              <a:ext uri="{FF2B5EF4-FFF2-40B4-BE49-F238E27FC236}">
                <a16:creationId xmlns:a16="http://schemas.microsoft.com/office/drawing/2014/main" id="{502F7B19-1B6C-4BFE-B740-843C318B402E}"/>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Include both translation of the center and rotation about the center for the lower bar.</a:t>
            </a:r>
          </a:p>
        </p:txBody>
      </p:sp>
      <p:sp>
        <p:nvSpPr>
          <p:cNvPr id="8" name="page">
            <a:extLst xmlns:a="http://schemas.openxmlformats.org/drawingml/2006/main">
              <a:ext uri="{FF2B5EF4-FFF2-40B4-BE49-F238E27FC236}">
                <a16:creationId xmlns:a16="http://schemas.microsoft.com/office/drawing/2014/main" id="{467AA2E6-79CE-4149-A6D9-33CBEA1A2FD7}"/>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17</a:t>
            </a:r>
          </a:p>
        </p:txBody>
      </p:sp>
    </p:spTree>
    <p:extLst>
      <p:ext uri="{BB962C8B-B14F-4D97-AF65-F5344CB8AC3E}">
        <p14:creationId xmlns:p14="http://schemas.microsoft.com/office/powerpoint/2010/main" val="78571873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D747570B-5434-4312-931D-B24D30C7C445}"/>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9C06FA6A-5537-461E-B7F5-B531ECC628C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inertia coefficients I₁₁, I₂₂ and C</a:t>
            </a:r>
          </a:p>
        </p:txBody>
      </p:sp>
      <p:sp>
        <p:nvSpPr>
          <p:cNvPr id="3" name="body0">
            <a:extLst xmlns:a="http://schemas.openxmlformats.org/drawingml/2006/main">
              <a:ext uri="{FF2B5EF4-FFF2-40B4-BE49-F238E27FC236}">
                <a16:creationId xmlns:a16="http://schemas.microsoft.com/office/drawing/2014/main" id="{E804A134-521C-4984-91A0-1670FC7E887D}"/>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I₁₁ [kg·m²]: coefficient multiplying ω₁². It includes the lower assembly because the upper link carries it through space.</a:t>
            </a:r>
          </a:p>
        </p:txBody>
      </p:sp>
      <p:sp>
        <p:nvSpPr>
          <p:cNvPr id="4" name="body1">
            <a:extLst xmlns:a="http://schemas.openxmlformats.org/drawingml/2006/main">
              <a:ext uri="{FF2B5EF4-FFF2-40B4-BE49-F238E27FC236}">
                <a16:creationId xmlns:a16="http://schemas.microsoft.com/office/drawing/2014/main" id="{C92BC1A9-CA2E-417F-9E85-54EB16B1BF8E}"/>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I₂₂ [kg·m²]: coefficient multiplying ω₂². It is the lower assembly’s inertia about the moving joint.</a:t>
            </a:r>
          </a:p>
        </p:txBody>
      </p:sp>
      <p:sp>
        <p:nvSpPr>
          <p:cNvPr id="5" name="body2">
            <a:extLst xmlns:a="http://schemas.openxmlformats.org/drawingml/2006/main">
              <a:ext uri="{FF2B5EF4-FFF2-40B4-BE49-F238E27FC236}">
                <a16:creationId xmlns:a16="http://schemas.microsoft.com/office/drawing/2014/main" id="{22826B5E-A24E-4085-AC6A-EC51C7F1FB21}"/>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 [kg·m²]: coefficient of the product ω₁ω₂ cos Δ. It measures how both rotations contribute to the same moving masses.</a:t>
            </a:r>
          </a:p>
        </p:txBody>
      </p:sp>
      <p:sp>
        <p:nvSpPr>
          <p:cNvPr id="6" name="body3">
            <a:extLst xmlns:a="http://schemas.openxmlformats.org/drawingml/2006/main">
              <a:ext uri="{FF2B5EF4-FFF2-40B4-BE49-F238E27FC236}">
                <a16:creationId xmlns:a16="http://schemas.microsoft.com/office/drawing/2014/main" id="{23A4F669-5D87-47D5-B135-35E78DCEA9C9}"/>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cross</a:t>
            </a:r>
            <a:r>
              <a:rPr sz="1950" b="0">
                <a:solidFill>
                  <a:srgbClr val="202D3C"/>
                </a:solidFill>
                <a:latin typeface="Aptos"/>
                <a:ea typeface="Aptos"/>
                <a:cs typeface="Aptos"/>
              </a:rPr>
              <a:t> [J] names that product term in total kinetic energy. Its sign can change, while the total kinetic energy remains nonnegative.</a:t>
            </a:r>
          </a:p>
        </p:txBody>
      </p:sp>
      <p:sp>
        <p:nvSpPr>
          <p:cNvPr id="7" name="page">
            <a:extLst xmlns:a="http://schemas.openxmlformats.org/drawingml/2006/main">
              <a:ext uri="{FF2B5EF4-FFF2-40B4-BE49-F238E27FC236}">
                <a16:creationId xmlns:a16="http://schemas.microsoft.com/office/drawing/2014/main" id="{39CD76E3-AA9F-4A1C-86E1-0442D82AA9A6}"/>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18</a:t>
            </a:r>
          </a:p>
        </p:txBody>
      </p:sp>
    </p:spTree>
    <p:extLst>
      <p:ext uri="{BB962C8B-B14F-4D97-AF65-F5344CB8AC3E}">
        <p14:creationId xmlns:p14="http://schemas.microsoft.com/office/powerpoint/2010/main" val="9217485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C2D797B3-2571-471E-BA1F-8613F4630EB2}"/>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4B34302-5EB0-4306-B225-47D5FE2851DC}"/>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Total kinetic energy</a:t>
            </a:r>
          </a:p>
        </p:txBody>
      </p:sp>
      <p:sp>
        <p:nvSpPr>
          <p:cNvPr id="3" name="EQ_kinetic">
            <a:extLst xmlns:a="http://schemas.openxmlformats.org/drawingml/2006/main">
              <a:ext uri="{FF2B5EF4-FFF2-40B4-BE49-F238E27FC236}">
                <a16:creationId xmlns:a16="http://schemas.microsoft.com/office/drawing/2014/main" id="{9CB35984-FAAA-459D-99B7-6DE66B023608}"/>
              </a:ext>
            </a:extLst>
          </p:cNvPr>
          <p:cNvSpPr>
            <a:spLocks xmlns:a="http://schemas.openxmlformats.org/drawingml/2006/main" noGrp="1"/>
          </p:cNvSpPr>
          <p:nvPr/>
        </p:nvSpPr>
        <p:spPr>
          <a:xfrm xmlns:a="http://schemas.openxmlformats.org/drawingml/2006/main">
            <a:off x="666750" y="16668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11</m:t>
                      </m:r>
                    </m:sub>
                  </m:sSub>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22</m:t>
                      </m:r>
                    </m:sub>
                  </m:sSub>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C cos Δ </m:t>
                  </m:r>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oMath>
              </m:oMathPara>
            </a14:m>
            <a:endParaRPr lang="en-US" sz="2400"/>
          </a:p>
        </p:txBody>
      </p:sp>
      <p:sp>
        <p:nvSpPr>
          <p:cNvPr id="4" name="EQ_inertiacoeff">
            <a:extLst xmlns:a="http://schemas.openxmlformats.org/drawingml/2006/main">
              <a:ext uri="{FF2B5EF4-FFF2-40B4-BE49-F238E27FC236}">
                <a16:creationId xmlns:a16="http://schemas.microsoft.com/office/drawing/2014/main" id="{E9238803-E6FF-4540-A96C-02952FB6129E}"/>
              </a:ext>
            </a:extLst>
          </p:cNvPr>
          <p:cNvSpPr>
            <a:spLocks xmlns:a="http://schemas.openxmlformats.org/drawingml/2006/main" noGrp="1"/>
          </p:cNvSpPr>
          <p:nvPr/>
        </p:nvSpPr>
        <p:spPr>
          <a:xfrm xmlns:a="http://schemas.openxmlformats.org/drawingml/2006/main">
            <a:off x="666750" y="256222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I</m:t>
                          </m:r>
                        </m:e>
                        <m:sub>
                          <m:r>
                            <a:rPr sz="2400" lang="en-US">
                              <a:latin typeface="Cambria Math"/>
                            </a:rPr>
                            <m:t>11</m:t>
                          </m:r>
                        </m:sub>
                      </m:sSub>
                      <m:r>
                        <a:rPr sz="2400" lang="en-US">
                          <a:latin typeface="Cambria Math"/>
                        </a:rPr>
                        <m:t> = (</m:t>
                      </m:r>
                      <m:f>
                        <m:num>
                          <m:sSub>
                            <m:e>
                              <m:r>
                                <a:rPr sz="2400" lang="en-US">
                                  <a:latin typeface="Cambria Math"/>
                                </a:rPr>
                                <m:t>m</m:t>
                              </m:r>
                            </m:e>
                            <m:sub>
                              <m:r>
                                <a:rPr sz="2400" lang="en-US">
                                  <a:latin typeface="Cambria Math"/>
                                </a:rPr>
                                <m:t>1</m:t>
                              </m:r>
                            </m:sub>
                          </m:sSub>
                        </m:num>
                        <m:den>
                          <m:r>
                            <a:rPr sz="2400" lang="en-US">
                              <a:latin typeface="Cambria Math"/>
                            </a:rPr>
                            <m:t>3</m:t>
                          </m:r>
                        </m:den>
                      </m:f>
                      <m:r>
                        <a:rPr sz="2400" lang="en-US">
                          <a:latin typeface="Cambria Math"/>
                        </a:rPr>
                        <m:t>+</m:t>
                      </m:r>
                      <m:sSub>
                        <m:e>
                          <m:r>
                            <a:rPr sz="2400" lang="en-US">
                              <a:latin typeface="Cambria Math"/>
                            </a:rPr>
                            <m:t>M</m:t>
                          </m:r>
                        </m:e>
                        <m:sub>
                          <m:r>
                            <a:rPr sz="2400" lang="en-US">
                              <a:latin typeface="Cambria Math"/>
                            </a:rPr>
                            <m:t>1</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p>
                        <m:e>
                          <m:sSub>
                            <m:e>
                              <m:r>
                                <a:rPr sz="2400" lang="en-US">
                                  <a:latin typeface="Cambria Math"/>
                                </a:rPr>
                                <m:t>L</m:t>
                              </m:r>
                            </m:e>
                            <m:sub>
                              <m:r>
                                <a:rPr sz="2400" lang="en-US">
                                  <a:latin typeface="Cambria Math"/>
                                </a:rPr>
                                <m:t>1</m:t>
                              </m:r>
                            </m:sub>
                          </m:sSub>
                        </m:e>
                        <m:sup>
                          <m:r>
                            <a:rPr sz="2400" lang="en-US">
                              <a:latin typeface="Cambria Math"/>
                            </a:rPr>
                            <m:t>2</m:t>
                          </m:r>
                        </m:sup>
                      </m:sSup>
                    </m:e>
                    <m:e>
                      <m:sSub>
                        <m:e>
                          <m:r>
                            <a:rPr sz="2400" lang="en-US">
                              <a:latin typeface="Cambria Math"/>
                            </a:rPr>
                            <m:t>I</m:t>
                          </m:r>
                        </m:e>
                        <m:sub>
                          <m:r>
                            <a:rPr sz="2400" lang="en-US">
                              <a:latin typeface="Cambria Math"/>
                            </a:rPr>
                            <m:t>22</m:t>
                          </m:r>
                        </m:sub>
                      </m:sSub>
                      <m:r>
                        <a:rPr sz="2400" lang="en-US">
                          <a:latin typeface="Cambria Math"/>
                        </a:rPr>
                        <m:t> = (</m:t>
                      </m:r>
                      <m:f>
                        <m:num>
                          <m:sSub>
                            <m:e>
                              <m:r>
                                <a:rPr sz="2400" lang="en-US">
                                  <a:latin typeface="Cambria Math"/>
                                </a:rPr>
                                <m:t>m</m:t>
                              </m:r>
                            </m:e>
                            <m:sub>
                              <m:r>
                                <a:rPr sz="2400" lang="en-US">
                                  <a:latin typeface="Cambria Math"/>
                                </a:rPr>
                                <m:t>2</m:t>
                              </m:r>
                            </m:sub>
                          </m:sSub>
                        </m:num>
                        <m:den>
                          <m:r>
                            <a:rPr sz="2400" lang="en-US">
                              <a:latin typeface="Cambria Math"/>
                            </a:rPr>
                            <m:t>3</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p>
                        <m:e>
                          <m:sSub>
                            <m:e>
                              <m:r>
                                <a:rPr sz="2400" lang="en-US">
                                  <a:latin typeface="Cambria Math"/>
                                </a:rPr>
                                <m:t>L</m:t>
                              </m:r>
                            </m:e>
                            <m:sub>
                              <m:r>
                                <a:rPr sz="2400" lang="en-US">
                                  <a:latin typeface="Cambria Math"/>
                                </a:rPr>
                                <m:t>2</m:t>
                              </m:r>
                            </m:sub>
                          </m:sSub>
                        </m:e>
                        <m:sup>
                          <m:r>
                            <a:rPr sz="2400" lang="en-US">
                              <a:latin typeface="Cambria Math"/>
                            </a:rPr>
                            <m:t>2</m:t>
                          </m:r>
                        </m:sup>
                      </m:sSup>
                    </m:e>
                  </m:eqArr>
                </m:oMath>
              </m:oMathPara>
            </a14:m>
            <a:endParaRPr lang="en-US" sz="2400"/>
          </a:p>
        </p:txBody>
      </p:sp>
      <p:sp>
        <p:nvSpPr>
          <p:cNvPr id="5" name="EQ_couplingcoeff">
            <a:extLst xmlns:a="http://schemas.openxmlformats.org/drawingml/2006/main">
              <a:ext uri="{FF2B5EF4-FFF2-40B4-BE49-F238E27FC236}">
                <a16:creationId xmlns:a16="http://schemas.microsoft.com/office/drawing/2014/main" id="{77862C3A-0AC6-441C-996A-C69CD0D18AF7}"/>
              </a:ext>
            </a:extLst>
          </p:cNvPr>
          <p:cNvSpPr>
            <a:spLocks xmlns:a="http://schemas.openxmlformats.org/drawingml/2006/main" noGrp="1"/>
          </p:cNvSpPr>
          <p:nvPr/>
        </p:nvSpPr>
        <p:spPr>
          <a:xfrm xmlns:a="http://schemas.openxmlformats.org/drawingml/2006/main">
            <a:off x="666750" y="37433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C = (</m:t>
                  </m:r>
                  <m:f>
                    <m:num>
                      <m:sSub>
                        <m:e>
                          <m:r>
                            <a:rPr sz="2400" lang="en-US">
                              <a:latin typeface="Cambria Math"/>
                            </a:rPr>
                            <m:t>m</m:t>
                          </m:r>
                        </m:e>
                        <m:sub>
                          <m:r>
                            <a:rPr sz="2400" lang="en-US">
                              <a:latin typeface="Cambria Math"/>
                            </a:rPr>
                            <m:t>2</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L</m:t>
                      </m:r>
                    </m:e>
                    <m:sub>
                      <m:r>
                        <a:rPr sz="2400" lang="en-US">
                          <a:latin typeface="Cambria Math"/>
                        </a:rPr>
                        <m:t>1</m:t>
                      </m:r>
                    </m:sub>
                  </m:sSub>
                  <m:sSub>
                    <m:e>
                      <m:r>
                        <a:rPr sz="2400" lang="en-US">
                          <a:latin typeface="Cambria Math"/>
                        </a:rPr>
                        <m:t>L</m:t>
                      </m:r>
                    </m:e>
                    <m:sub>
                      <m:r>
                        <a:rPr sz="2400" lang="en-US">
                          <a:latin typeface="Cambria Math"/>
                        </a:rPr>
                        <m:t>2</m:t>
                      </m:r>
                    </m:sub>
                  </m:sSub>
                </m:oMath>
              </m:oMathPara>
            </a14:m>
            <a:endParaRPr lang="en-US" sz="2400"/>
          </a:p>
        </p:txBody>
      </p:sp>
      <p:sp>
        <p:nvSpPr>
          <p:cNvPr id="6" name="body0">
            <a:extLst xmlns:a="http://schemas.openxmlformats.org/drawingml/2006/main">
              <a:ext uri="{FF2B5EF4-FFF2-40B4-BE49-F238E27FC236}">
                <a16:creationId xmlns:a16="http://schemas.microsoft.com/office/drawing/2014/main" id="{BDA569DA-12D2-420A-AE2B-786F042C42E3}"/>
              </a:ext>
            </a:extLst>
          </p:cNvPr>
          <p:cNvSpPr>
            <a:spLocks xmlns:a="http://schemas.openxmlformats.org/drawingml/2006/main" noGrp="1"/>
          </p:cNvSpPr>
          <p:nvPr/>
        </p:nvSpPr>
        <p:spPr>
          <a:xfrm xmlns:a="http://schemas.openxmlformats.org/drawingml/2006/main">
            <a:off x="666750" y="4524375"/>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first two terms account for motion associated with each angular speed.</a:t>
            </a:r>
          </a:p>
        </p:txBody>
      </p:sp>
      <p:sp>
        <p:nvSpPr>
          <p:cNvPr id="7" name="body1">
            <a:extLst xmlns:a="http://schemas.openxmlformats.org/drawingml/2006/main">
              <a:ext uri="{FF2B5EF4-FFF2-40B4-BE49-F238E27FC236}">
                <a16:creationId xmlns:a16="http://schemas.microsoft.com/office/drawing/2014/main" id="{64414148-18D7-4870-9FC8-5BDFFE8129D9}"/>
              </a:ext>
            </a:extLst>
          </p:cNvPr>
          <p:cNvSpPr>
            <a:spLocks xmlns:a="http://schemas.openxmlformats.org/drawingml/2006/main" noGrp="1"/>
          </p:cNvSpPr>
          <p:nvPr/>
        </p:nvSpPr>
        <p:spPr>
          <a:xfrm xmlns:a="http://schemas.openxmlformats.org/drawingml/2006/main">
            <a:off x="666750" y="5111750"/>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cross term accounts for the fact that both rotations contribute to the lower assembly’s velocity.</a:t>
            </a:r>
          </a:p>
        </p:txBody>
      </p:sp>
      <p:sp>
        <p:nvSpPr>
          <p:cNvPr id="8" name="body2">
            <a:extLst xmlns:a="http://schemas.openxmlformats.org/drawingml/2006/main">
              <a:ext uri="{FF2B5EF4-FFF2-40B4-BE49-F238E27FC236}">
                <a16:creationId xmlns:a16="http://schemas.microsoft.com/office/drawing/2014/main" id="{1DD9B3F3-45FC-4BDC-AB61-8A9A36B64EB0}"/>
              </a:ext>
            </a:extLst>
          </p:cNvPr>
          <p:cNvSpPr>
            <a:spLocks xmlns:a="http://schemas.openxmlformats.org/drawingml/2006/main" noGrp="1"/>
          </p:cNvSpPr>
          <p:nvPr/>
        </p:nvSpPr>
        <p:spPr>
          <a:xfrm xmlns:a="http://schemas.openxmlformats.org/drawingml/2006/main">
            <a:off x="666750" y="5699125"/>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I₁₁, I₂₂ and C all have units kg·m². They depend only on the apparatus masses and lengths.</a:t>
            </a:r>
          </a:p>
        </p:txBody>
      </p:sp>
      <p:sp>
        <p:nvSpPr>
          <p:cNvPr id="9" name="page">
            <a:extLst xmlns:a="http://schemas.openxmlformats.org/drawingml/2006/main">
              <a:ext uri="{FF2B5EF4-FFF2-40B4-BE49-F238E27FC236}">
                <a16:creationId xmlns:a16="http://schemas.microsoft.com/office/drawing/2014/main" id="{2F808147-C7B3-4F21-BBAA-7091B70C55B6}"/>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19</a:t>
            </a:r>
          </a:p>
        </p:txBody>
      </p:sp>
    </p:spTree>
    <p:extLst>
      <p:ext uri="{BB962C8B-B14F-4D97-AF65-F5344CB8AC3E}">
        <p14:creationId xmlns:p14="http://schemas.microsoft.com/office/powerpoint/2010/main" val="19306621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E7CE99C2-B14E-4766-B914-93B24408AB8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557D7B8-C585-4279-989D-AD616D2FC8F9}"/>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Meaning of the coupling term</a:t>
            </a:r>
          </a:p>
        </p:txBody>
      </p:sp>
      <p:sp>
        <p:nvSpPr>
          <p:cNvPr id="3" name="EQ_cross">
            <a:extLst xmlns:a="http://schemas.openxmlformats.org/drawingml/2006/main">
              <a:ext uri="{FF2B5EF4-FFF2-40B4-BE49-F238E27FC236}">
                <a16:creationId xmlns:a16="http://schemas.microsoft.com/office/drawing/2014/main" id="{7FE08E7F-B597-46CD-B7C8-E7EEA200A008}"/>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cross</m:t>
                      </m:r>
                    </m:sub>
                  </m:sSub>
                  <m:r>
                    <a:rPr sz="2400" lang="en-US">
                      <a:latin typeface="Cambria Math"/>
                    </a:rPr>
                    <m:t> = C cos(</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θ</m:t>
                      </m:r>
                    </m:e>
                    <m:sub>
                      <m:r>
                        <a:rPr sz="2400" lang="en-US">
                          <a:latin typeface="Cambria Math"/>
                        </a:rPr>
                        <m:t>2</m:t>
                      </m:r>
                    </m:sub>
                  </m:sSub>
                  <m:r>
                    <a:rPr sz="2400" lang="en-US">
                      <a:latin typeface="Cambria Math"/>
                    </a:rPr>
                    <m:t>)</m:t>
                  </m:r>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oMath>
              </m:oMathPara>
            </a14:m>
            <a:endParaRPr lang="en-US" sz="2400"/>
          </a:p>
        </p:txBody>
      </p:sp>
      <p:sp>
        <p:nvSpPr>
          <p:cNvPr id="4" name="body0">
            <a:extLst xmlns:a="http://schemas.openxmlformats.org/drawingml/2006/main">
              <a:ext uri="{FF2B5EF4-FFF2-40B4-BE49-F238E27FC236}">
                <a16:creationId xmlns:a16="http://schemas.microsoft.com/office/drawing/2014/main" id="{918F4600-9D17-4BE3-9892-9C7057927371}"/>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 = θ₁ − θ₂ measures the difference between the link orientations.</a:t>
            </a:r>
          </a:p>
        </p:txBody>
      </p:sp>
      <p:sp>
        <p:nvSpPr>
          <p:cNvPr id="5" name="body1">
            <a:extLst xmlns:a="http://schemas.openxmlformats.org/drawingml/2006/main">
              <a:ext uri="{FF2B5EF4-FFF2-40B4-BE49-F238E27FC236}">
                <a16:creationId xmlns:a16="http://schemas.microsoft.com/office/drawing/2014/main" id="{5B53BEA4-3F3E-4D01-AC89-7DE27E8C7CFE}"/>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aligned links moving in the same sense, the lower-bob velocity contributions reinforce each other.</a:t>
            </a:r>
          </a:p>
        </p:txBody>
      </p:sp>
      <p:sp>
        <p:nvSpPr>
          <p:cNvPr id="6" name="body2">
            <a:extLst xmlns:a="http://schemas.openxmlformats.org/drawingml/2006/main">
              <a:ext uri="{FF2B5EF4-FFF2-40B4-BE49-F238E27FC236}">
                <a16:creationId xmlns:a16="http://schemas.microsoft.com/office/drawing/2014/main" id="{36B840A2-797F-42ED-A87D-432C3028ACD4}"/>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Opposite angular speeds can partly cancel those contributions. The cross term may be negative, while total T remains nonnegative.</a:t>
            </a:r>
          </a:p>
        </p:txBody>
      </p:sp>
      <p:sp>
        <p:nvSpPr>
          <p:cNvPr id="7" name="body3">
            <a:extLst xmlns:a="http://schemas.openxmlformats.org/drawingml/2006/main">
              <a:ext uri="{FF2B5EF4-FFF2-40B4-BE49-F238E27FC236}">
                <a16:creationId xmlns:a16="http://schemas.microsoft.com/office/drawing/2014/main" id="{1E00E2B7-5988-4109-9953-634B5286C705}"/>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Δ = 90°, this cross term is zero at that instant. Other dynamic coupling terms can still remain.</a:t>
            </a:r>
          </a:p>
        </p:txBody>
      </p:sp>
      <p:sp>
        <p:nvSpPr>
          <p:cNvPr id="8" name="page">
            <a:extLst xmlns:a="http://schemas.openxmlformats.org/drawingml/2006/main">
              <a:ext uri="{FF2B5EF4-FFF2-40B4-BE49-F238E27FC236}">
                <a16:creationId xmlns:a16="http://schemas.microsoft.com/office/drawing/2014/main" id="{3B3D7EF8-EE6E-4923-8603-801000B1DC7E}"/>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20</a:t>
            </a:r>
          </a:p>
        </p:txBody>
      </p:sp>
    </p:spTree>
    <p:extLst>
      <p:ext uri="{BB962C8B-B14F-4D97-AF65-F5344CB8AC3E}">
        <p14:creationId xmlns:p14="http://schemas.microsoft.com/office/powerpoint/2010/main" val="190490403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3694873-D802-4C3F-A981-B190E89AE26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45F3D0A-F422-499C-8A89-1238B4FEB53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Torques and the rate of energy loss</a:t>
            </a:r>
          </a:p>
        </p:txBody>
      </p:sp>
      <p:sp>
        <p:nvSpPr>
          <p:cNvPr id="3" name="body0">
            <a:extLst xmlns:a="http://schemas.openxmlformats.org/drawingml/2006/main">
              <a:ext uri="{FF2B5EF4-FFF2-40B4-BE49-F238E27FC236}">
                <a16:creationId xmlns:a16="http://schemas.microsoft.com/office/drawing/2014/main" id="{CA126D0C-C648-423F-ADCD-C1036DE35F3E}"/>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Q₁ and Q₂ [N·m]: generalized nonconservative torques associated with θ₁ and θ₂, such as the effects of pivot friction or air drag.</a:t>
            </a:r>
          </a:p>
        </p:txBody>
      </p:sp>
      <p:sp>
        <p:nvSpPr>
          <p:cNvPr id="4" name="body1">
            <a:extLst xmlns:a="http://schemas.openxmlformats.org/drawingml/2006/main">
              <a:ext uri="{FF2B5EF4-FFF2-40B4-BE49-F238E27FC236}">
                <a16:creationId xmlns:a16="http://schemas.microsoft.com/office/drawing/2014/main" id="{DABECBD5-C34F-4EAF-A4A7-025D0606D8EC}"/>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Gravity is already included in V. These Q₁ and Q₂ differ from the gravitational torques </a:t>
            </a:r>
            <a:r>
              <a:rPr sz="1950" b="0">
                <a:solidFill>
                  <a:srgbClr val="202D3C"/>
                </a:solidFill>
                <a:latin typeface="Aptos"/>
                <a:ea typeface="Aptos"/>
                <a:cs typeface="Aptos"/>
              </a:rPr>
              <a:t>Q</a:t>
            </a:r>
            <a:r>
              <a:rPr sz="1462" b="0" baseline="-25000">
                <a:solidFill>
                  <a:srgbClr val="202D3C"/>
                </a:solidFill>
                <a:latin typeface="Aptos"/>
                <a:ea typeface="Aptos"/>
                <a:cs typeface="Aptos"/>
              </a:rPr>
              <a:t>g,1</a:t>
            </a:r>
            <a:r>
              <a:rPr sz="1950" b="0">
                <a:solidFill>
                  <a:srgbClr val="202D3C"/>
                </a:solidFill>
                <a:latin typeface="Aptos"/>
                <a:ea typeface="Aptos"/>
                <a:cs typeface="Aptos"/>
              </a:rPr>
              <a:t> and </a:t>
            </a:r>
            <a:r>
              <a:rPr sz="1950" b="0">
                <a:solidFill>
                  <a:srgbClr val="202D3C"/>
                </a:solidFill>
                <a:latin typeface="Aptos"/>
                <a:ea typeface="Aptos"/>
                <a:cs typeface="Aptos"/>
              </a:rPr>
              <a:t>Q</a:t>
            </a:r>
            <a:r>
              <a:rPr sz="1462" b="0" baseline="-25000">
                <a:solidFill>
                  <a:srgbClr val="202D3C"/>
                </a:solidFill>
                <a:latin typeface="Aptos"/>
                <a:ea typeface="Aptos"/>
                <a:cs typeface="Aptos"/>
              </a:rPr>
              <a:t>g,2</a:t>
            </a:r>
            <a:r>
              <a:rPr sz="1950" b="0">
                <a:solidFill>
                  <a:srgbClr val="202D3C"/>
                </a:solidFill>
                <a:latin typeface="Aptos"/>
                <a:ea typeface="Aptos"/>
                <a:cs typeface="Aptos"/>
              </a:rPr>
              <a:t>.</a:t>
            </a:r>
          </a:p>
        </p:txBody>
      </p:sp>
      <p:sp>
        <p:nvSpPr>
          <p:cNvPr id="5" name="body2">
            <a:extLst xmlns:a="http://schemas.openxmlformats.org/drawingml/2006/main">
              <a:ext uri="{FF2B5EF4-FFF2-40B4-BE49-F238E27FC236}">
                <a16:creationId xmlns:a16="http://schemas.microsoft.com/office/drawing/2014/main" id="{BAF20055-104B-4C0A-BA22-5E9291EBC9A7}"/>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Qᵢωᵢ [W] is the mechanical power associated with coordinate i. The total dE/dt [J/s = W] is the rate of change of mechanical energy.</a:t>
            </a:r>
          </a:p>
        </p:txBody>
      </p:sp>
      <p:sp>
        <p:nvSpPr>
          <p:cNvPr id="6" name="body3">
            <a:extLst xmlns:a="http://schemas.openxmlformats.org/drawingml/2006/main">
              <a:ext uri="{FF2B5EF4-FFF2-40B4-BE49-F238E27FC236}">
                <a16:creationId xmlns:a16="http://schemas.microsoft.com/office/drawing/2014/main" id="{64FA0069-8A40-4A09-A6F5-24076B167432}"/>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the moving joint, friction acts on relative rotation. Its effect must be included consistently in both generalized torques.</a:t>
            </a:r>
          </a:p>
        </p:txBody>
      </p:sp>
      <p:sp>
        <p:nvSpPr>
          <p:cNvPr id="7" name="page">
            <a:extLst xmlns:a="http://schemas.openxmlformats.org/drawingml/2006/main">
              <a:ext uri="{FF2B5EF4-FFF2-40B4-BE49-F238E27FC236}">
                <a16:creationId xmlns:a16="http://schemas.microsoft.com/office/drawing/2014/main" id="{4E2CA15A-7B5C-4A71-AF49-713554735121}"/>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21</a:t>
            </a:r>
          </a:p>
        </p:txBody>
      </p:sp>
    </p:spTree>
    <p:extLst>
      <p:ext uri="{BB962C8B-B14F-4D97-AF65-F5344CB8AC3E}">
        <p14:creationId xmlns:p14="http://schemas.microsoft.com/office/powerpoint/2010/main" val="183063599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AB03D4F8-F792-4064-B793-8CFE97CE118D}"/>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CF35E21-33BB-46ED-9590-42D889DD42B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Energy during real and ideal motion</a:t>
            </a:r>
          </a:p>
        </p:txBody>
      </p:sp>
      <p:sp>
        <p:nvSpPr>
          <p:cNvPr id="3" name="EQ_energy">
            <a:extLst xmlns:a="http://schemas.openxmlformats.org/drawingml/2006/main">
              <a:ext uri="{FF2B5EF4-FFF2-40B4-BE49-F238E27FC236}">
                <a16:creationId xmlns:a16="http://schemas.microsoft.com/office/drawing/2014/main" id="{BFF296C7-05E3-42A6-9E6E-BCCFF3832B0F}"/>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E = T + V     </m:t>
                  </m:r>
                  <m:f>
                    <m:num>
                      <m:r>
                        <a:rPr sz="2400" lang="en-US">
                          <a:latin typeface="Cambria Math"/>
                        </a:rPr>
                        <m:t>dE</m:t>
                      </m:r>
                    </m:num>
                    <m:den>
                      <m:r>
                        <a:rPr sz="2400" lang="en-US">
                          <a:latin typeface="Cambria Math"/>
                        </a:rPr>
                        <m:t>dt</m:t>
                      </m:r>
                    </m:den>
                  </m:f>
                  <m:r>
                    <a:rPr sz="2400" lang="en-US">
                      <a:latin typeface="Cambria Math"/>
                    </a:rPr>
                    <m:t> = 0  (ideal model)</m:t>
                  </m:r>
                </m:oMath>
              </m:oMathPara>
            </a14:m>
            <a:endParaRPr lang="en-US" sz="2400"/>
          </a:p>
        </p:txBody>
      </p:sp>
      <p:sp>
        <p:nvSpPr>
          <p:cNvPr id="4" name="EQ_energy_rate">
            <a:extLst xmlns:a="http://schemas.openxmlformats.org/drawingml/2006/main">
              <a:ext uri="{FF2B5EF4-FFF2-40B4-BE49-F238E27FC236}">
                <a16:creationId xmlns:a16="http://schemas.microsoft.com/office/drawing/2014/main" id="{855A084B-2863-4CC8-AC95-D2DC966129F4}"/>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f>
                    <m:num>
                      <m:r>
                        <a:rPr sz="2400" lang="en-US">
                          <a:latin typeface="Cambria Math"/>
                        </a:rPr>
                        <m:t>dE</m:t>
                      </m:r>
                    </m:num>
                    <m:den>
                      <m:r>
                        <a:rPr sz="2400" lang="en-US">
                          <a:latin typeface="Cambria Math"/>
                        </a:rPr>
                        <m:t>dt</m:t>
                      </m:r>
                    </m:den>
                  </m:f>
                  <m:r>
                    <a:rPr sz="2400" lang="en-US">
                      <a:latin typeface="Cambria Math"/>
                    </a:rPr>
                    <m:t> = </m:t>
                  </m:r>
                  <m:sSub>
                    <m:e>
                      <m:r>
                        <a:rPr sz="2400" lang="en-US">
                          <a:latin typeface="Cambria Math"/>
                        </a:rPr>
                        <m:t>Q</m:t>
                      </m:r>
                    </m:e>
                    <m:sub>
                      <m:r>
                        <a:rPr sz="2400" lang="en-US">
                          <a:latin typeface="Cambria Math"/>
                        </a:rPr>
                        <m:t>1</m:t>
                      </m:r>
                    </m:sub>
                  </m:sSub>
                  <m:sSub>
                    <m:e>
                      <m:r>
                        <a:rPr sz="2400" lang="en-US">
                          <a:latin typeface="Cambria Math"/>
                        </a:rPr>
                        <m:t>ω</m:t>
                      </m:r>
                    </m:e>
                    <m:sub>
                      <m:r>
                        <a:rPr sz="2400" lang="en-US">
                          <a:latin typeface="Cambria Math"/>
                        </a:rPr>
                        <m:t>1</m:t>
                      </m:r>
                    </m:sub>
                  </m:sSub>
                  <m:r>
                    <a:rPr sz="2400" lang="en-US">
                      <a:latin typeface="Cambria Math"/>
                    </a:rPr>
                    <m:t> + </m:t>
                  </m:r>
                  <m:sSub>
                    <m:e>
                      <m:r>
                        <a:rPr sz="2400" lang="en-US">
                          <a:latin typeface="Cambria Math"/>
                        </a:rPr>
                        <m:t>Q</m:t>
                      </m:r>
                    </m:e>
                    <m:sub>
                      <m:r>
                        <a:rPr sz="2400" lang="en-US">
                          <a:latin typeface="Cambria Math"/>
                        </a:rPr>
                        <m:t>2</m:t>
                      </m:r>
                    </m:sub>
                  </m:sSub>
                  <m:sSub>
                    <m:e>
                      <m:r>
                        <a:rPr sz="2400" lang="en-US">
                          <a:latin typeface="Cambria Math"/>
                        </a:rPr>
                        <m:t>ω</m:t>
                      </m:r>
                    </m:e>
                    <m:sub>
                      <m:r>
                        <a:rPr sz="2400" lang="en-US">
                          <a:latin typeface="Cambria Math"/>
                        </a:rPr>
                        <m:t>2</m:t>
                      </m:r>
                    </m:sub>
                  </m:sSub>
                  <m:r>
                    <a:rPr sz="2400" lang="en-US">
                      <a:latin typeface="Cambria Math"/>
                    </a:rPr>
                    <m:t>  (with nonconservative torques)</m:t>
                  </m:r>
                </m:oMath>
              </m:oMathPara>
            </a14:m>
            <a:endParaRPr lang="en-US" sz="2400"/>
          </a:p>
        </p:txBody>
      </p:sp>
      <p:sp>
        <p:nvSpPr>
          <p:cNvPr id="5" name="body0">
            <a:extLst xmlns:a="http://schemas.openxmlformats.org/drawingml/2006/main">
              <a:ext uri="{FF2B5EF4-FFF2-40B4-BE49-F238E27FC236}">
                <a16:creationId xmlns:a16="http://schemas.microsoft.com/office/drawing/2014/main" id="{54F224AD-25F9-4E0D-AE5B-59A3189CD56E}"/>
              </a:ext>
            </a:extLst>
          </p:cNvPr>
          <p:cNvSpPr>
            <a:spLocks xmlns:a="http://schemas.openxmlformats.org/drawingml/2006/main" noGrp="1"/>
          </p:cNvSpPr>
          <p:nvPr/>
        </p:nvSpPr>
        <p:spPr>
          <a:xfrm xmlns:a="http://schemas.openxmlformats.org/drawingml/2006/main">
            <a:off x="666750" y="3228975"/>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release from rest, T is zero and all initial mechanical energy is potential energy.</a:t>
            </a:r>
          </a:p>
        </p:txBody>
      </p:sp>
      <p:sp>
        <p:nvSpPr>
          <p:cNvPr id="6" name="body1">
            <a:extLst xmlns:a="http://schemas.openxmlformats.org/drawingml/2006/main">
              <a:ext uri="{FF2B5EF4-FFF2-40B4-BE49-F238E27FC236}">
                <a16:creationId xmlns:a16="http://schemas.microsoft.com/office/drawing/2014/main" id="{5DF94DE7-27A1-4062-9D7D-E486A8C065BC}"/>
              </a:ext>
            </a:extLst>
          </p:cNvPr>
          <p:cNvSpPr>
            <a:spLocks xmlns:a="http://schemas.openxmlformats.org/drawingml/2006/main" noGrp="1"/>
          </p:cNvSpPr>
          <p:nvPr/>
        </p:nvSpPr>
        <p:spPr>
          <a:xfrm xmlns:a="http://schemas.openxmlformats.org/drawingml/2006/main">
            <a:off x="666750" y="3993356"/>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As masses descend, some potential energy becomes kinetic energy. Both links exchange energy through their connection.</a:t>
            </a:r>
          </a:p>
        </p:txBody>
      </p:sp>
      <p:sp>
        <p:nvSpPr>
          <p:cNvPr id="7" name="body2">
            <a:extLst xmlns:a="http://schemas.openxmlformats.org/drawingml/2006/main">
              <a:ext uri="{FF2B5EF4-FFF2-40B4-BE49-F238E27FC236}">
                <a16:creationId xmlns:a16="http://schemas.microsoft.com/office/drawing/2014/main" id="{80E5C317-148D-4623-9BDD-236CE6BA5923}"/>
              </a:ext>
            </a:extLst>
          </p:cNvPr>
          <p:cNvSpPr>
            <a:spLocks xmlns:a="http://schemas.openxmlformats.org/drawingml/2006/main" noGrp="1"/>
          </p:cNvSpPr>
          <p:nvPr/>
        </p:nvSpPr>
        <p:spPr>
          <a:xfrm xmlns:a="http://schemas.openxmlformats.org/drawingml/2006/main">
            <a:off x="666750" y="4757738"/>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ideal simulation conserves total E. Real pivot friction and air drag remove mechanical energy.</a:t>
            </a:r>
          </a:p>
        </p:txBody>
      </p:sp>
      <p:sp>
        <p:nvSpPr>
          <p:cNvPr id="8" name="body3">
            <a:extLst xmlns:a="http://schemas.openxmlformats.org/drawingml/2006/main">
              <a:ext uri="{FF2B5EF4-FFF2-40B4-BE49-F238E27FC236}">
                <a16:creationId xmlns:a16="http://schemas.microsoft.com/office/drawing/2014/main" id="{6143CD32-726F-4892-B11A-135DAC228B64}"/>
              </a:ext>
            </a:extLst>
          </p:cNvPr>
          <p:cNvSpPr>
            <a:spLocks xmlns:a="http://schemas.openxmlformats.org/drawingml/2006/main" noGrp="1"/>
          </p:cNvSpPr>
          <p:nvPr/>
        </p:nvSpPr>
        <p:spPr>
          <a:xfrm xmlns:a="http://schemas.openxmlformats.org/drawingml/2006/main">
            <a:off x="666750" y="5522119"/>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Energy loss in a recording does not by itself identify which loss mechanism dominates.</a:t>
            </a:r>
          </a:p>
        </p:txBody>
      </p:sp>
      <p:sp>
        <p:nvSpPr>
          <p:cNvPr id="9" name="page">
            <a:extLst xmlns:a="http://schemas.openxmlformats.org/drawingml/2006/main">
              <a:ext uri="{FF2B5EF4-FFF2-40B4-BE49-F238E27FC236}">
                <a16:creationId xmlns:a16="http://schemas.microsoft.com/office/drawing/2014/main" id="{2FE7CF9C-2EF1-40D2-9EA1-C27B1954EF86}"/>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22</a:t>
            </a:r>
          </a:p>
        </p:txBody>
      </p:sp>
    </p:spTree>
    <p:extLst>
      <p:ext uri="{BB962C8B-B14F-4D97-AF65-F5344CB8AC3E}">
        <p14:creationId xmlns:p14="http://schemas.microsoft.com/office/powerpoint/2010/main" val="1259761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4919665B-7D12-4684-9CF1-AE4D3EF30108}"/>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BC6D8FB-443D-428D-B790-D7E393E88E32}"/>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How energy gives the equations of motion</a:t>
            </a:r>
          </a:p>
        </p:txBody>
      </p:sp>
      <p:sp>
        <p:nvSpPr>
          <p:cNvPr id="3" name="EQ_lagrange">
            <a:extLst xmlns:a="http://schemas.openxmlformats.org/drawingml/2006/main">
              <a:ext uri="{FF2B5EF4-FFF2-40B4-BE49-F238E27FC236}">
                <a16:creationId xmlns:a16="http://schemas.microsoft.com/office/drawing/2014/main" id="{9E09BD21-9AB8-4C29-84FA-2B7F17ED184F}"/>
              </a:ext>
            </a:extLst>
          </p:cNvPr>
          <p:cNvSpPr>
            <a:spLocks xmlns:a="http://schemas.openxmlformats.org/drawingml/2006/main" noGrp="1"/>
          </p:cNvSpPr>
          <p:nvPr/>
        </p:nvSpPr>
        <p:spPr>
          <a:xfrm xmlns:a="http://schemas.openxmlformats.org/drawingml/2006/main">
            <a:off x="666750" y="1666875"/>
            <a:ext cx="10858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f>
                    <m:num>
                      <m:r>
                        <a:rPr sz="2400" lang="en-US">
                          <a:latin typeface="Cambria Math"/>
                        </a:rPr>
                        <m:t>d</m:t>
                      </m:r>
                    </m:num>
                    <m:den>
                      <m:r>
                        <a:rPr sz="2400" lang="en-US">
                          <a:latin typeface="Cambria Math"/>
                        </a:rPr>
                        <m:t>dt</m:t>
                      </m:r>
                    </m:den>
                  </m:f>
                  <m:r>
                    <a:rPr sz="2400" lang="en-US">
                      <a:latin typeface="Cambria Math"/>
                    </a:rPr>
                    <m:t>(</m:t>
                  </m:r>
                  <m:f>
                    <m:num>
                      <m:r>
                        <a:rPr sz="2400" lang="en-US">
                          <a:latin typeface="Cambria Math"/>
                        </a:rPr>
                        <m:t>∂ℒ</m:t>
                      </m:r>
                    </m:num>
                    <m:den>
                      <m:r>
                        <a:rPr sz="2400" lang="en-US">
                          <a:latin typeface="Cambria Math"/>
                        </a:rPr>
                        <m:t>∂</m:t>
                      </m:r>
                      <m:sSub>
                        <m:e>
                          <m:r>
                            <a:rPr sz="2400" lang="en-US">
                              <a:latin typeface="Cambria Math"/>
                            </a:rPr>
                            <m:t>ω</m:t>
                          </m:r>
                        </m:e>
                        <m:sub>
                          <m:r>
                            <a:rPr sz="2400" lang="en-US">
                              <a:latin typeface="Cambria Math"/>
                            </a:rPr>
                            <m:t>i</m:t>
                          </m:r>
                        </m:sub>
                      </m:sSub>
                    </m:den>
                  </m:f>
                  <m:r>
                    <a:rPr sz="2400" lang="en-US">
                      <a:latin typeface="Cambria Math"/>
                    </a:rPr>
                    <m:t>) − </m:t>
                  </m:r>
                  <m:f>
                    <m:num>
                      <m:r>
                        <a:rPr sz="2400" lang="en-US">
                          <a:latin typeface="Cambria Math"/>
                        </a:rPr>
                        <m:t>∂ℒ</m:t>
                      </m:r>
                    </m:num>
                    <m:den>
                      <m:r>
                        <a:rPr sz="2400" lang="en-US">
                          <a:latin typeface="Cambria Math"/>
                        </a:rPr>
                        <m:t>∂</m:t>
                      </m:r>
                      <m:sSub>
                        <m:e>
                          <m:r>
                            <a:rPr sz="2400" lang="en-US">
                              <a:latin typeface="Cambria Math"/>
                            </a:rPr>
                            <m:t>θ</m:t>
                          </m:r>
                        </m:e>
                        <m:sub>
                          <m:r>
                            <a:rPr sz="2400" lang="en-US">
                              <a:latin typeface="Cambria Math"/>
                            </a:rPr>
                            <m:t>i</m:t>
                          </m:r>
                        </m:sub>
                      </m:sSub>
                    </m:den>
                  </m:f>
                  <m:r>
                    <a:rPr sz="2400" lang="en-US">
                      <a:latin typeface="Cambria Math"/>
                    </a:rPr>
                    <m:t> = </m:t>
                  </m:r>
                  <m:sSub>
                    <m:e>
                      <m:r>
                        <a:rPr sz="2400" lang="en-US">
                          <a:latin typeface="Cambria Math"/>
                        </a:rPr>
                        <m:t>Q</m:t>
                      </m:r>
                    </m:e>
                    <m:sub>
                      <m:r>
                        <a:rPr sz="2400" lang="en-US">
                          <a:latin typeface="Cambria Math"/>
                        </a:rPr>
                        <m:t>i</m:t>
                      </m:r>
                    </m:sub>
                  </m:sSub>
                  <m:r>
                    <a:rPr sz="2400" lang="en-US">
                      <a:latin typeface="Cambria Math"/>
                    </a:rPr>
                    <m:t>      i = 1, 2</m:t>
                  </m:r>
                </m:oMath>
              </m:oMathPara>
            </a14:m>
            <a:endParaRPr lang="en-US" sz="2400"/>
          </a:p>
        </p:txBody>
      </p:sp>
      <p:sp>
        <p:nvSpPr>
          <p:cNvPr id="4" name="body0">
            <a:extLst xmlns:a="http://schemas.openxmlformats.org/drawingml/2006/main">
              <a:ext uri="{FF2B5EF4-FFF2-40B4-BE49-F238E27FC236}">
                <a16:creationId xmlns:a16="http://schemas.microsoft.com/office/drawing/2014/main" id="{1F233602-2744-42D1-83A8-7CD97183BFBF}"/>
              </a:ext>
            </a:extLst>
          </p:cNvPr>
          <p:cNvSpPr>
            <a:spLocks xmlns:a="http://schemas.openxmlformats.org/drawingml/2006/main" noGrp="1"/>
          </p:cNvSpPr>
          <p:nvPr/>
        </p:nvSpPr>
        <p:spPr>
          <a:xfrm xmlns:a="http://schemas.openxmlformats.org/drawingml/2006/main">
            <a:off x="666750" y="2809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Form ℒ = T − V, then apply the equation once for θ₁ and once for θ₂.</a:t>
            </a:r>
          </a:p>
        </p:txBody>
      </p:sp>
      <p:sp>
        <p:nvSpPr>
          <p:cNvPr id="5" name="body1">
            <a:extLst xmlns:a="http://schemas.openxmlformats.org/drawingml/2006/main">
              <a:ext uri="{FF2B5EF4-FFF2-40B4-BE49-F238E27FC236}">
                <a16:creationId xmlns:a16="http://schemas.microsoft.com/office/drawing/2014/main" id="{85C1857C-3703-408A-B058-9F7662CED1B8}"/>
              </a:ext>
            </a:extLst>
          </p:cNvPr>
          <p:cNvSpPr>
            <a:spLocks xmlns:a="http://schemas.openxmlformats.org/drawingml/2006/main" noGrp="1"/>
          </p:cNvSpPr>
          <p:nvPr/>
        </p:nvSpPr>
        <p:spPr>
          <a:xfrm xmlns:a="http://schemas.openxmlformats.org/drawingml/2006/main">
            <a:off x="666750" y="3876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first term accounts for the rate of change of generalized momentum. The second accounts for how the energy changes with configuration.</a:t>
            </a:r>
          </a:p>
        </p:txBody>
      </p:sp>
      <p:sp>
        <p:nvSpPr>
          <p:cNvPr id="6" name="body2">
            <a:extLst xmlns:a="http://schemas.openxmlformats.org/drawingml/2006/main">
              <a:ext uri="{FF2B5EF4-FFF2-40B4-BE49-F238E27FC236}">
                <a16:creationId xmlns:a16="http://schemas.microsoft.com/office/drawing/2014/main" id="{721BF39B-C838-48EB-88E1-3A6F64422EE5}"/>
              </a:ext>
            </a:extLst>
          </p:cNvPr>
          <p:cNvSpPr>
            <a:spLocks xmlns:a="http://schemas.openxmlformats.org/drawingml/2006/main" noGrp="1"/>
          </p:cNvSpPr>
          <p:nvPr/>
        </p:nvSpPr>
        <p:spPr>
          <a:xfrm xmlns:a="http://schemas.openxmlformats.org/drawingml/2006/main">
            <a:off x="666750" y="4943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the ideal baseline, Q₁ = Q₂ = 0. A supplied numerical solver advances these equations in time.</a:t>
            </a:r>
          </a:p>
        </p:txBody>
      </p:sp>
      <p:sp>
        <p:nvSpPr>
          <p:cNvPr id="7" name="page">
            <a:extLst xmlns:a="http://schemas.openxmlformats.org/drawingml/2006/main">
              <a:ext uri="{FF2B5EF4-FFF2-40B4-BE49-F238E27FC236}">
                <a16:creationId xmlns:a16="http://schemas.microsoft.com/office/drawing/2014/main" id="{1B4F42C7-7484-4122-AA2E-26B9DD38D2E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23</a:t>
            </a:r>
          </a:p>
        </p:txBody>
      </p:sp>
    </p:spTree>
    <p:extLst>
      <p:ext uri="{BB962C8B-B14F-4D97-AF65-F5344CB8AC3E}">
        <p14:creationId xmlns:p14="http://schemas.microsoft.com/office/powerpoint/2010/main" val="117621077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3CADAF07-29DF-4DF3-9269-CC7BDC6A8DE8}"/>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0F1F198-882E-4F4A-82FC-EDCF1D113DF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two coupled acceleration equations</a:t>
            </a:r>
          </a:p>
        </p:txBody>
      </p:sp>
      <p:sp>
        <p:nvSpPr>
          <p:cNvPr id="3" name="EQ_eom1">
            <a:extLst xmlns:a="http://schemas.openxmlformats.org/drawingml/2006/main">
              <a:ext uri="{FF2B5EF4-FFF2-40B4-BE49-F238E27FC236}">
                <a16:creationId xmlns:a16="http://schemas.microsoft.com/office/drawing/2014/main" id="{725F70EF-8FED-48D0-BFE1-737881D2EDF7}"/>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I</m:t>
                      </m:r>
                    </m:e>
                    <m:sub>
                      <m:r>
                        <a:rPr sz="2400" lang="en-US">
                          <a:latin typeface="Cambria Math"/>
                        </a:rPr>
                        <m:t>11</m:t>
                      </m:r>
                    </m:sub>
                  </m:sSub>
                  <m:sSub>
                    <m:e>
                      <m:r>
                        <a:rPr sz="2400" lang="en-US">
                          <a:latin typeface="Cambria Math"/>
                        </a:rPr>
                        <m:t>α</m:t>
                      </m:r>
                    </m:e>
                    <m:sub>
                      <m:r>
                        <a:rPr sz="2400" lang="en-US">
                          <a:latin typeface="Cambria Math"/>
                        </a:rPr>
                        <m:t>1</m:t>
                      </m:r>
                    </m:sub>
                  </m:sSub>
                  <m:r>
                    <a:rPr sz="2400" lang="en-US">
                      <a:latin typeface="Cambria Math"/>
                    </a:rPr>
                    <m:t> + C cos Δ </m:t>
                  </m:r>
                  <m:sSub>
                    <m:e>
                      <m:r>
                        <a:rPr sz="2400" lang="en-US">
                          <a:latin typeface="Cambria Math"/>
                        </a:rPr>
                        <m:t>α</m:t>
                      </m:r>
                    </m:e>
                    <m:sub>
                      <m:r>
                        <a:rPr sz="2400" lang="en-US">
                          <a:latin typeface="Cambria Math"/>
                        </a:rPr>
                        <m:t>2</m:t>
                      </m:r>
                    </m:sub>
                  </m:sSub>
                  <m:r>
                    <a:rPr sz="2400" lang="en-US">
                      <a:latin typeface="Cambria Math"/>
                    </a:rPr>
                    <m:t> = −C sin Δ </m:t>
                  </m:r>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m:t>
                  </m:r>
                  <m:sSub>
                    <m:e>
                      <m:r>
                        <a:rPr sz="2400" lang="en-US">
                          <a:latin typeface="Cambria Math"/>
                        </a:rPr>
                        <m:t>G</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oMath>
              </m:oMathPara>
            </a14:m>
            <a:endParaRPr lang="en-US" sz="2400"/>
          </a:p>
        </p:txBody>
      </p:sp>
      <p:sp>
        <p:nvSpPr>
          <p:cNvPr id="4" name="EQ_eom2">
            <a:extLst xmlns:a="http://schemas.openxmlformats.org/drawingml/2006/main">
              <a:ext uri="{FF2B5EF4-FFF2-40B4-BE49-F238E27FC236}">
                <a16:creationId xmlns:a16="http://schemas.microsoft.com/office/drawing/2014/main" id="{6EEB2BF8-0463-4007-A742-CE08CA4C63D8}"/>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C cos Δ </m:t>
                  </m:r>
                  <m:sSub>
                    <m:e>
                      <m:r>
                        <a:rPr sz="2400" lang="en-US">
                          <a:latin typeface="Cambria Math"/>
                        </a:rPr>
                        <m:t>α</m:t>
                      </m:r>
                    </m:e>
                    <m:sub>
                      <m:r>
                        <a:rPr sz="2400" lang="en-US">
                          <a:latin typeface="Cambria Math"/>
                        </a:rPr>
                        <m:t>1</m:t>
                      </m:r>
                    </m:sub>
                  </m:sSub>
                  <m:r>
                    <a:rPr sz="2400" lang="en-US">
                      <a:latin typeface="Cambria Math"/>
                    </a:rPr>
                    <m:t> + </m:t>
                  </m:r>
                  <m:sSub>
                    <m:e>
                      <m:r>
                        <a:rPr sz="2400" lang="en-US">
                          <a:latin typeface="Cambria Math"/>
                        </a:rPr>
                        <m:t>I</m:t>
                      </m:r>
                    </m:e>
                    <m:sub>
                      <m:r>
                        <a:rPr sz="2400" lang="en-US">
                          <a:latin typeface="Cambria Math"/>
                        </a:rPr>
                        <m:t>22</m:t>
                      </m:r>
                    </m:sub>
                  </m:sSub>
                  <m:sSub>
                    <m:e>
                      <m:r>
                        <a:rPr sz="2400" lang="en-US">
                          <a:latin typeface="Cambria Math"/>
                        </a:rPr>
                        <m:t>α</m:t>
                      </m:r>
                    </m:e>
                    <m:sub>
                      <m:r>
                        <a:rPr sz="2400" lang="en-US">
                          <a:latin typeface="Cambria Math"/>
                        </a:rPr>
                        <m:t>2</m:t>
                      </m:r>
                    </m:sub>
                  </m:sSub>
                  <m:r>
                    <a:rPr sz="2400" lang="en-US">
                      <a:latin typeface="Cambria Math"/>
                    </a:rPr>
                    <m:t> = C sin Δ </m:t>
                  </m:r>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sSub>
                    <m:e>
                      <m:r>
                        <a:rPr sz="2400" lang="en-US">
                          <a:latin typeface="Cambria Math"/>
                        </a:rPr>
                        <m:t>G</m:t>
                      </m:r>
                    </m:e>
                    <m:sub>
                      <m:r>
                        <a:rPr sz="2400" lang="en-US">
                          <a:latin typeface="Cambria Math"/>
                        </a:rPr>
                        <m:t>2</m:t>
                      </m:r>
                    </m:sub>
                  </m:sSub>
                  <m:r>
                    <a:rPr sz="2400" lang="en-US">
                      <a:latin typeface="Cambria Math"/>
                    </a:rPr>
                    <m:t> sin </m:t>
                  </m:r>
                  <m:sSub>
                    <m:e>
                      <m:r>
                        <a:rPr sz="2400" lang="en-US">
                          <a:latin typeface="Cambria Math"/>
                        </a:rPr>
                        <m:t>θ</m:t>
                      </m:r>
                    </m:e>
                    <m:sub>
                      <m:r>
                        <a:rPr sz="2400" lang="en-US">
                          <a:latin typeface="Cambria Math"/>
                        </a:rPr>
                        <m:t>2</m:t>
                      </m:r>
                    </m:sub>
                  </m:sSub>
                </m:oMath>
              </m:oMathPara>
            </a14:m>
            <a:endParaRPr lang="en-US" sz="2400"/>
          </a:p>
        </p:txBody>
      </p:sp>
      <p:sp>
        <p:nvSpPr>
          <p:cNvPr id="5" name="body0">
            <a:extLst xmlns:a="http://schemas.openxmlformats.org/drawingml/2006/main">
              <a:ext uri="{FF2B5EF4-FFF2-40B4-BE49-F238E27FC236}">
                <a16:creationId xmlns:a16="http://schemas.microsoft.com/office/drawing/2014/main" id="{003F23E1-1A0A-49D9-8DBC-10035E0CC8F6}"/>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same I₁₁, I₂₂, C, G₁ and G₂ from the energy expressions appear here.</a:t>
            </a:r>
          </a:p>
        </p:txBody>
      </p:sp>
      <p:sp>
        <p:nvSpPr>
          <p:cNvPr id="6" name="body1">
            <a:extLst xmlns:a="http://schemas.openxmlformats.org/drawingml/2006/main">
              <a:ext uri="{FF2B5EF4-FFF2-40B4-BE49-F238E27FC236}">
                <a16:creationId xmlns:a16="http://schemas.microsoft.com/office/drawing/2014/main" id="{2BA54C24-A774-48A0-8330-E1843B2DC0D5}"/>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terms containing sin Δ and squared angular speed arise because the geometry changes during motion.</a:t>
            </a:r>
          </a:p>
        </p:txBody>
      </p:sp>
      <p:sp>
        <p:nvSpPr>
          <p:cNvPr id="7" name="body2">
            <a:extLst xmlns:a="http://schemas.openxmlformats.org/drawingml/2006/main">
              <a:ext uri="{FF2B5EF4-FFF2-40B4-BE49-F238E27FC236}">
                <a16:creationId xmlns:a16="http://schemas.microsoft.com/office/drawing/2014/main" id="{C7152427-59AC-4949-804C-9A55078E6249}"/>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Both angular accelerations must be solved together at each time step.</a:t>
            </a:r>
          </a:p>
        </p:txBody>
      </p:sp>
      <p:sp>
        <p:nvSpPr>
          <p:cNvPr id="8" name="page">
            <a:extLst xmlns:a="http://schemas.openxmlformats.org/drawingml/2006/main">
              <a:ext uri="{FF2B5EF4-FFF2-40B4-BE49-F238E27FC236}">
                <a16:creationId xmlns:a16="http://schemas.microsoft.com/office/drawing/2014/main" id="{F43CA600-F40F-40B4-A438-B2E2AF956E0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24</a:t>
            </a:r>
          </a:p>
        </p:txBody>
      </p:sp>
    </p:spTree>
    <p:extLst>
      <p:ext uri="{BB962C8B-B14F-4D97-AF65-F5344CB8AC3E}">
        <p14:creationId xmlns:p14="http://schemas.microsoft.com/office/powerpoint/2010/main" val="38659678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F9CD6615-59C7-46F3-9C20-5720FC8E7E1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9E0AB35A-9C95-4010-8020-0C64D73E025E}"/>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What the simulation code actually does</a:t>
            </a:r>
          </a:p>
        </p:txBody>
      </p:sp>
      <p:sp>
        <p:nvSpPr>
          <p:cNvPr id="3" name="EQ_state">
            <a:extLst xmlns:a="http://schemas.openxmlformats.org/drawingml/2006/main">
              <a:ext uri="{FF2B5EF4-FFF2-40B4-BE49-F238E27FC236}">
                <a16:creationId xmlns:a16="http://schemas.microsoft.com/office/drawing/2014/main" id="{F65EB786-98A8-4204-895E-03AD2220A424}"/>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q = (</m:t>
                  </m:r>
                  <m:sSub>
                    <m:e>
                      <m:r>
                        <a:rPr sz="2400" lang="en-US">
                          <a:latin typeface="Cambria Math"/>
                        </a:rPr>
                        <m:t>θ</m:t>
                      </m:r>
                    </m:e>
                    <m:sub>
                      <m:r>
                        <a:rPr sz="2400" lang="en-US">
                          <a:latin typeface="Cambria Math"/>
                        </a:rPr>
                        <m:t>1</m:t>
                      </m:r>
                    </m:sub>
                  </m:sSub>
                  <m:r>
                    <a:rPr sz="2400" lang="en-US">
                      <a:latin typeface="Cambria Math"/>
                    </a:rPr>
                    <m:t>, </m:t>
                  </m:r>
                  <m:sSub>
                    <m:e>
                      <m:r>
                        <a:rPr sz="2400" lang="en-US">
                          <a:latin typeface="Cambria Math"/>
                        </a:rPr>
                        <m:t>θ</m:t>
                      </m:r>
                    </m:e>
                    <m:sub>
                      <m:r>
                        <a:rPr sz="2400" lang="en-US">
                          <a:latin typeface="Cambria Math"/>
                        </a:rPr>
                        <m:t>2</m:t>
                      </m:r>
                    </m:sub>
                  </m:sSub>
                  <m:r>
                    <a:rPr sz="2400" lang="en-US">
                      <a:latin typeface="Cambria Math"/>
                    </a:rPr>
                    <m:t>)</m:t>
                  </m:r>
                  <m:r>
                    <a:rPr sz="2400" lang="en-US">
                      <a:latin typeface="Cambria Math"/>
                    </a:rPr>
                    <m:t>ᵀ</m:t>
                  </m:r>
                  <m:r>
                    <a:rPr sz="2400" lang="en-US">
                      <a:latin typeface="Cambria Math"/>
                    </a:rPr>
                    <m:t>      </m:t>
                  </m:r>
                  <m:sSub>
                    <m:e>
                      <m:r>
                        <a:rPr sz="2400" lang="en-US">
                          <a:latin typeface="Cambria Math"/>
                        </a:rPr>
                        <m:t>α</m:t>
                      </m:r>
                    </m:e>
                    <m:sub>
                      <m:r>
                        <a:rPr sz="2400" lang="en-US">
                          <a:latin typeface="Cambria Math"/>
                        </a:rPr>
                        <m:t>i</m:t>
                      </m:r>
                    </m:sub>
                  </m:sSub>
                  <m:r>
                    <a:rPr sz="2400" lang="en-US">
                      <a:latin typeface="Cambria Math"/>
                    </a:rPr>
                    <m:t> = </m:t>
                  </m:r>
                  <m:f>
                    <m:num>
                      <m:r>
                        <a:rPr sz="2400" lang="en-US">
                          <a:latin typeface="Cambria Math"/>
                        </a:rPr>
                        <m:t>d</m:t>
                      </m:r>
                      <m:sSub>
                        <m:e>
                          <m:r>
                            <a:rPr sz="2400" lang="en-US">
                              <a:latin typeface="Cambria Math"/>
                            </a:rPr>
                            <m:t>ω</m:t>
                          </m:r>
                        </m:e>
                        <m:sub>
                          <m:r>
                            <a:rPr sz="2400" lang="en-US">
                              <a:latin typeface="Cambria Math"/>
                            </a:rPr>
                            <m:t>i</m:t>
                          </m:r>
                        </m:sub>
                      </m:sSub>
                    </m:num>
                    <m:den>
                      <m:r>
                        <a:rPr sz="2400" lang="en-US">
                          <a:latin typeface="Cambria Math"/>
                        </a:rPr>
                        <m:t>dt</m:t>
                      </m:r>
                    </m:den>
                  </m:f>
                </m:oMath>
              </m:oMathPara>
            </a14:m>
            <a:endParaRPr lang="en-US" sz="2400"/>
          </a:p>
        </p:txBody>
      </p:sp>
      <p:sp>
        <p:nvSpPr>
          <p:cNvPr id="4" name="body0">
            <a:extLst xmlns:a="http://schemas.openxmlformats.org/drawingml/2006/main">
              <a:ext uri="{FF2B5EF4-FFF2-40B4-BE49-F238E27FC236}">
                <a16:creationId xmlns:a16="http://schemas.microsoft.com/office/drawing/2014/main" id="{051D1225-AF94-4CD0-993F-CD90D4B8A5F5}"/>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 = (θ₁, θ₂)ᵀ [rad] is the two-angle column vector. Superscript ᵀ means transpose. Inputs also include both angular velocities, masses and lengths.</a:t>
            </a:r>
          </a:p>
        </p:txBody>
      </p:sp>
      <p:sp>
        <p:nvSpPr>
          <p:cNvPr id="5" name="body1">
            <a:extLst xmlns:a="http://schemas.openxmlformats.org/drawingml/2006/main">
              <a:ext uri="{FF2B5EF4-FFF2-40B4-BE49-F238E27FC236}">
                <a16:creationId xmlns:a16="http://schemas.microsoft.com/office/drawing/2014/main" id="{FBE9CBF5-C846-4831-9F66-2844AD599073}"/>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the current angles and velocities, calculate the two right-hand sides and the 2×2 inertia matrix.</a:t>
            </a:r>
          </a:p>
        </p:txBody>
      </p:sp>
      <p:sp>
        <p:nvSpPr>
          <p:cNvPr id="6" name="body2">
            <a:extLst xmlns:a="http://schemas.openxmlformats.org/drawingml/2006/main">
              <a:ext uri="{FF2B5EF4-FFF2-40B4-BE49-F238E27FC236}">
                <a16:creationId xmlns:a16="http://schemas.microsoft.com/office/drawing/2014/main" id="{0E89812F-B8FD-45DE-81F8-5C0811880BB3}"/>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Solve for α₁ and α₂, then advance the angles and angular velocities in time.</a:t>
            </a:r>
          </a:p>
        </p:txBody>
      </p:sp>
      <p:sp>
        <p:nvSpPr>
          <p:cNvPr id="7" name="body3">
            <a:extLst xmlns:a="http://schemas.openxmlformats.org/drawingml/2006/main">
              <a:ext uri="{FF2B5EF4-FFF2-40B4-BE49-F238E27FC236}">
                <a16:creationId xmlns:a16="http://schemas.microsoft.com/office/drawing/2014/main" id="{09D206DF-45E7-4685-8158-BA456F8C1E4D}"/>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Students run the supplied solver. A small change in time step should not change the physical conclusion.</a:t>
            </a:r>
          </a:p>
        </p:txBody>
      </p:sp>
      <p:sp>
        <p:nvSpPr>
          <p:cNvPr id="8" name="page">
            <a:extLst xmlns:a="http://schemas.openxmlformats.org/drawingml/2006/main">
              <a:ext uri="{FF2B5EF4-FFF2-40B4-BE49-F238E27FC236}">
                <a16:creationId xmlns:a16="http://schemas.microsoft.com/office/drawing/2014/main" id="{44642B07-5597-4D94-BE5D-D911113E051A}"/>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25</a:t>
            </a:r>
          </a:p>
        </p:txBody>
      </p:sp>
    </p:spTree>
    <p:extLst>
      <p:ext uri="{BB962C8B-B14F-4D97-AF65-F5344CB8AC3E}">
        <p14:creationId xmlns:p14="http://schemas.microsoft.com/office/powerpoint/2010/main" val="13408399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71D37B55-20C9-4839-A2E9-4E5F45E9C794}"/>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38A7046-48F0-473C-B16B-DF89EC5707E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Matrix symbols for small oscillations</a:t>
            </a:r>
          </a:p>
        </p:txBody>
      </p:sp>
      <p:sp>
        <p:nvSpPr>
          <p:cNvPr id="3" name="body0">
            <a:extLst xmlns:a="http://schemas.openxmlformats.org/drawingml/2006/main">
              <a:ext uri="{FF2B5EF4-FFF2-40B4-BE49-F238E27FC236}">
                <a16:creationId xmlns:a16="http://schemas.microsoft.com/office/drawing/2014/main" id="{48BB624B-EFE5-40EB-AC30-CC4E839FA2A9}"/>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M₀ [kg·m²]: the constant 2×2 inertia matrix evaluated at the downward equilibrium. Its entries are I₁₁, I₂₂ and C.</a:t>
            </a:r>
          </a:p>
        </p:txBody>
      </p:sp>
      <p:sp>
        <p:nvSpPr>
          <p:cNvPr id="4" name="body1">
            <a:extLst xmlns:a="http://schemas.openxmlformats.org/drawingml/2006/main">
              <a:ext uri="{FF2B5EF4-FFF2-40B4-BE49-F238E27FC236}">
                <a16:creationId xmlns:a16="http://schemas.microsoft.com/office/drawing/2014/main" id="{B89ADE03-60F2-4FA8-AB71-4AB6B530D4D9}"/>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 [N·m/rad]: the angular restoring-stiffness matrix. Its diagonal entries are G₁ and G₂, with radians treated as dimensionless in SI.</a:t>
            </a:r>
          </a:p>
        </p:txBody>
      </p:sp>
      <p:sp>
        <p:nvSpPr>
          <p:cNvPr id="5" name="body2">
            <a:extLst xmlns:a="http://schemas.openxmlformats.org/drawingml/2006/main">
              <a:ext uri="{FF2B5EF4-FFF2-40B4-BE49-F238E27FC236}">
                <a16:creationId xmlns:a16="http://schemas.microsoft.com/office/drawing/2014/main" id="{55EFC953-E05A-40F8-8849-5693067672B4}"/>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 is the column of two angles. q̈ is the column of their angular accelerations [rad/s²]. The subscript 0 denotes the equilibrium value.</a:t>
            </a:r>
          </a:p>
        </p:txBody>
      </p:sp>
      <p:sp>
        <p:nvSpPr>
          <p:cNvPr id="6" name="body3">
            <a:extLst xmlns:a="http://schemas.openxmlformats.org/drawingml/2006/main">
              <a:ext uri="{FF2B5EF4-FFF2-40B4-BE49-F238E27FC236}">
                <a16:creationId xmlns:a16="http://schemas.microsoft.com/office/drawing/2014/main" id="{04B3296F-A586-4B6C-86B8-9036FFC2FFBA}"/>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diag(G₁,G₂) means a matrix with G₁ and G₂ on its diagonal and zeros elsewhere. The matrix M₀ is distinct from the bob masses M₁ and M₂.</a:t>
            </a:r>
          </a:p>
        </p:txBody>
      </p:sp>
      <p:sp>
        <p:nvSpPr>
          <p:cNvPr id="7" name="page">
            <a:extLst xmlns:a="http://schemas.openxmlformats.org/drawingml/2006/main">
              <a:ext uri="{FF2B5EF4-FFF2-40B4-BE49-F238E27FC236}">
                <a16:creationId xmlns:a16="http://schemas.microsoft.com/office/drawing/2014/main" id="{4F795E9D-D6BC-4835-B0D2-4BC2F5D7FB17}"/>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26</a:t>
            </a:r>
          </a:p>
        </p:txBody>
      </p:sp>
    </p:spTree>
    <p:extLst>
      <p:ext uri="{BB962C8B-B14F-4D97-AF65-F5344CB8AC3E}">
        <p14:creationId xmlns:p14="http://schemas.microsoft.com/office/powerpoint/2010/main" val="212331169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FCCFAA67-F30C-4164-B04A-14F96FACB829}"/>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0F64D096-D778-42E4-8F51-E6067851C585}"/>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Small motion and normal modes</a:t>
            </a:r>
          </a:p>
        </p:txBody>
      </p:sp>
      <p:sp>
        <p:nvSpPr>
          <p:cNvPr id="3" name="EQ_linear">
            <a:extLst xmlns:a="http://schemas.openxmlformats.org/drawingml/2006/main">
              <a:ext uri="{FF2B5EF4-FFF2-40B4-BE49-F238E27FC236}">
                <a16:creationId xmlns:a16="http://schemas.microsoft.com/office/drawing/2014/main" id="{6092FB39-870E-49E8-B172-CDFB957C6A42}"/>
              </a:ext>
            </a:extLst>
          </p:cNvPr>
          <p:cNvSpPr>
            <a:spLocks xmlns:a="http://schemas.openxmlformats.org/drawingml/2006/main" noGrp="1"/>
          </p:cNvSpPr>
          <p:nvPr/>
        </p:nvSpPr>
        <p:spPr>
          <a:xfrm xmlns:a="http://schemas.openxmlformats.org/drawingml/2006/main">
            <a:off x="666750" y="1666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M</m:t>
                          </m:r>
                        </m:e>
                        <m:sub>
                          <m:r>
                            <a:rPr sz="2400" lang="en-US">
                              <a:latin typeface="Cambria Math"/>
                            </a:rPr>
                            <m:t>0</m:t>
                          </m:r>
                        </m:sub>
                      </m:sSub>
                      <m:acc>
                        <m:accPr>
                          <m:chr m:val="̈"/>
                        </m:accPr>
                        <m:e>
                          <m:r>
                            <a:rPr sz="2400" lang="en-US">
                              <a:latin typeface="Cambria Math"/>
                            </a:rPr>
                            <m:t>q</m:t>
                          </m:r>
                        </m:e>
                      </m:acc>
                      <m:r>
                        <a:rPr sz="2400" lang="en-US">
                          <a:latin typeface="Cambria Math"/>
                        </a:rPr>
                        <m:t> + Kq = 0</m:t>
                      </m:r>
                    </m:e>
                    <m:e>
                      <m:sSub>
                        <m:e>
                          <m:r>
                            <a:rPr sz="2400" lang="en-US">
                              <a:latin typeface="Cambria Math"/>
                            </a:rPr>
                            <m:t>M</m:t>
                          </m:r>
                        </m:e>
                        <m:sub>
                          <m:r>
                            <a:rPr sz="2400" lang="en-US">
                              <a:latin typeface="Cambria Math"/>
                            </a:rPr>
                            <m:t>0</m:t>
                          </m:r>
                        </m:sub>
                      </m:sSub>
                      <m:r>
                        <a:rPr sz="2400" lang="en-US">
                          <a:latin typeface="Cambria Math"/>
                        </a:rPr>
                        <m:t> = [</m:t>
                      </m:r>
                      <m:sSub>
                        <m:e>
                          <m:r>
                            <a:rPr sz="2400" lang="en-US">
                              <a:latin typeface="Cambria Math"/>
                            </a:rPr>
                            <m:t>I</m:t>
                          </m:r>
                        </m:e>
                        <m:sub>
                          <m:r>
                            <a:rPr sz="2400" lang="en-US">
                              <a:latin typeface="Cambria Math"/>
                            </a:rPr>
                            <m:t>11</m:t>
                          </m:r>
                        </m:sub>
                      </m:sSub>
                      <m:r>
                        <a:rPr sz="2400" lang="en-US">
                          <a:latin typeface="Cambria Math"/>
                        </a:rPr>
                        <m:t>, C; C, </m:t>
                      </m:r>
                      <m:sSub>
                        <m:e>
                          <m:r>
                            <a:rPr sz="2400" lang="en-US">
                              <a:latin typeface="Cambria Math"/>
                            </a:rPr>
                            <m:t>I</m:t>
                          </m:r>
                        </m:e>
                        <m:sub>
                          <m:r>
                            <a:rPr sz="2400" lang="en-US">
                              <a:latin typeface="Cambria Math"/>
                            </a:rPr>
                            <m:t>22</m:t>
                          </m:r>
                        </m:sub>
                      </m:sSub>
                      <m:r>
                        <a:rPr sz="2400" lang="en-US">
                          <a:latin typeface="Cambria Math"/>
                        </a:rPr>
                        <m:t>]     K = diag(</m:t>
                      </m:r>
                      <m:sSub>
                        <m:e>
                          <m:r>
                            <a:rPr sz="2400" lang="en-US">
                              <a:latin typeface="Cambria Math"/>
                            </a:rPr>
                            <m:t>G</m:t>
                          </m:r>
                        </m:e>
                        <m:sub>
                          <m:r>
                            <a:rPr sz="2400" lang="en-US">
                              <a:latin typeface="Cambria Math"/>
                            </a:rPr>
                            <m:t>1</m:t>
                          </m:r>
                        </m:sub>
                      </m:sSub>
                      <m:r>
                        <a:rPr sz="2400" lang="en-US">
                          <a:latin typeface="Cambria Math"/>
                        </a:rPr>
                        <m:t>, </m:t>
                      </m:r>
                      <m:sSub>
                        <m:e>
                          <m:r>
                            <a:rPr sz="2400" lang="en-US">
                              <a:latin typeface="Cambria Math"/>
                            </a:rPr>
                            <m:t>G</m:t>
                          </m:r>
                        </m:e>
                        <m:sub>
                          <m:r>
                            <a:rPr sz="2400" lang="en-US">
                              <a:latin typeface="Cambria Math"/>
                            </a:rPr>
                            <m:t>2</m:t>
                          </m:r>
                        </m:sub>
                      </m:sSub>
                      <m:r>
                        <a:rPr sz="2400" lang="en-US">
                          <a:latin typeface="Cambria Math"/>
                        </a:rPr>
                        <m:t>)</m:t>
                      </m:r>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BDDA0A6A-2097-4426-906C-B754EB6E9785}"/>
              </a:ext>
            </a:extLst>
          </p:cNvPr>
          <p:cNvSpPr>
            <a:spLocks xmlns:a="http://schemas.openxmlformats.org/drawingml/2006/main" noGrp="1"/>
          </p:cNvSpPr>
          <p:nvPr/>
        </p:nvSpPr>
        <p:spPr>
          <a:xfrm xmlns:a="http://schemas.openxmlformats.org/drawingml/2006/main">
            <a:off x="666750" y="2657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angles close to zero, sin θ ≈ θ and cos Δ ≈ 1. Products of small quantities drop out.</a:t>
            </a:r>
          </a:p>
        </p:txBody>
      </p:sp>
      <p:sp>
        <p:nvSpPr>
          <p:cNvPr id="5" name="body1">
            <a:extLst xmlns:a="http://schemas.openxmlformats.org/drawingml/2006/main">
              <a:ext uri="{FF2B5EF4-FFF2-40B4-BE49-F238E27FC236}">
                <a16:creationId xmlns:a16="http://schemas.microsoft.com/office/drawing/2014/main" id="{BAB13964-B50B-4010-AC31-260E90A7FA43}"/>
              </a:ext>
            </a:extLst>
          </p:cNvPr>
          <p:cNvSpPr>
            <a:spLocks xmlns:a="http://schemas.openxmlformats.org/drawingml/2006/main" noGrp="1"/>
          </p:cNvSpPr>
          <p:nvPr/>
        </p:nvSpPr>
        <p:spPr>
          <a:xfrm xmlns:a="http://schemas.openxmlformats.org/drawingml/2006/main">
            <a:off x="666750" y="3724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linear model has two normal modes: one largely moves the links together and the other largely moves them oppositely.</a:t>
            </a:r>
          </a:p>
        </p:txBody>
      </p:sp>
      <p:sp>
        <p:nvSpPr>
          <p:cNvPr id="6" name="body2">
            <a:extLst xmlns:a="http://schemas.openxmlformats.org/drawingml/2006/main">
              <a:ext uri="{FF2B5EF4-FFF2-40B4-BE49-F238E27FC236}">
                <a16:creationId xmlns:a16="http://schemas.microsoft.com/office/drawing/2014/main" id="{8D92ED40-15FB-4627-9CFF-054E09E3369C}"/>
              </a:ext>
            </a:extLst>
          </p:cNvPr>
          <p:cNvSpPr>
            <a:spLocks xmlns:a="http://schemas.openxmlformats.org/drawingml/2006/main" noGrp="1"/>
          </p:cNvSpPr>
          <p:nvPr/>
        </p:nvSpPr>
        <p:spPr>
          <a:xfrm xmlns:a="http://schemas.openxmlformats.org/drawingml/2006/main">
            <a:off x="666750" y="47910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general small release can contain both modes. The angle trace can therefore contain two frequencies.</a:t>
            </a:r>
          </a:p>
        </p:txBody>
      </p:sp>
      <p:sp>
        <p:nvSpPr>
          <p:cNvPr id="7" name="page">
            <a:extLst xmlns:a="http://schemas.openxmlformats.org/drawingml/2006/main">
              <a:ext uri="{FF2B5EF4-FFF2-40B4-BE49-F238E27FC236}">
                <a16:creationId xmlns:a16="http://schemas.microsoft.com/office/drawing/2014/main" id="{9D9FD8F6-959E-423B-9208-7635FC1CD633}"/>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27</a:t>
            </a:r>
          </a:p>
        </p:txBody>
      </p:sp>
    </p:spTree>
    <p:extLst>
      <p:ext uri="{BB962C8B-B14F-4D97-AF65-F5344CB8AC3E}">
        <p14:creationId xmlns:p14="http://schemas.microsoft.com/office/powerpoint/2010/main" val="49965346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0116DC15-E4F0-49AE-83E7-1A0BB0CE85D4}"/>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B6E4551-AF5D-4B0C-8F6C-F7A34F99CF5F}"/>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How the two mode frequencies are found</a:t>
            </a:r>
          </a:p>
        </p:txBody>
      </p:sp>
      <p:sp>
        <p:nvSpPr>
          <p:cNvPr id="3" name="EQ_mode">
            <a:extLst xmlns:a="http://schemas.openxmlformats.org/drawingml/2006/main">
              <a:ext uri="{FF2B5EF4-FFF2-40B4-BE49-F238E27FC236}">
                <a16:creationId xmlns:a16="http://schemas.microsoft.com/office/drawing/2014/main" id="{E6123CF7-02CA-427F-8797-F0D0E3184ECF}"/>
              </a:ext>
            </a:extLst>
          </p:cNvPr>
          <p:cNvSpPr>
            <a:spLocks xmlns:a="http://schemas.openxmlformats.org/drawingml/2006/main" noGrp="1"/>
          </p:cNvSpPr>
          <p:nvPr/>
        </p:nvSpPr>
        <p:spPr>
          <a:xfrm xmlns:a="http://schemas.openxmlformats.org/drawingml/2006/main">
            <a:off x="666750" y="166687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r>
                        <a:rPr sz="2400" lang="en-US">
                          <a:latin typeface="Cambria Math"/>
                        </a:rPr>
                        <m:t>q(t) = a cos(Ωt + φ)</m:t>
                      </m:r>
                    </m:e>
                    <m:e>
                      <m:r>
                        <a:rPr sz="2400" lang="en-US">
                          <a:latin typeface="Cambria Math"/>
                        </a:rPr>
                        <m:t>det(K − </m:t>
                      </m:r>
                      <m:sSup>
                        <m:e>
                          <m:r>
                            <a:rPr sz="2400" lang="en-US">
                              <a:latin typeface="Cambria Math"/>
                            </a:rPr>
                            <m:t>Ω</m:t>
                          </m:r>
                        </m:e>
                        <m:sup>
                          <m:r>
                            <a:rPr sz="2400" lang="en-US">
                              <a:latin typeface="Cambria Math"/>
                            </a:rPr>
                            <m:t>2</m:t>
                          </m:r>
                        </m:sup>
                      </m:sSup>
                      <m:sSub>
                        <m:e>
                          <m:r>
                            <a:rPr sz="2400" lang="en-US">
                              <a:latin typeface="Cambria Math"/>
                            </a:rPr>
                            <m:t>M</m:t>
                          </m:r>
                        </m:e>
                        <m:sub>
                          <m:r>
                            <a:rPr sz="2400" lang="en-US">
                              <a:latin typeface="Cambria Math"/>
                            </a:rPr>
                            <m:t>0</m:t>
                          </m:r>
                        </m:sub>
                      </m:sSub>
                      <m:r>
                        <a:rPr sz="2400" lang="en-US">
                          <a:latin typeface="Cambria Math"/>
                        </a:rPr>
                        <m:t>) = 0      f = </m:t>
                      </m:r>
                      <m:f>
                        <m:num>
                          <m:r>
                            <a:rPr sz="2400" lang="en-US">
                              <a:latin typeface="Cambria Math"/>
                            </a:rPr>
                            <m:t>Ω</m:t>
                          </m:r>
                        </m:num>
                        <m:den>
                          <m:r>
                            <a:rPr sz="2400" lang="en-US">
                              <a:latin typeface="Cambria Math"/>
                            </a:rPr>
                            <m:t>2π</m:t>
                          </m:r>
                        </m:den>
                      </m:f>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AD7C7720-2C59-42C1-8197-8699A429A6F6}"/>
              </a:ext>
            </a:extLst>
          </p:cNvPr>
          <p:cNvSpPr>
            <a:spLocks xmlns:a="http://schemas.openxmlformats.org/drawingml/2006/main" noGrp="1"/>
          </p:cNvSpPr>
          <p:nvPr/>
        </p:nvSpPr>
        <p:spPr>
          <a:xfrm xmlns:a="http://schemas.openxmlformats.org/drawingml/2006/main">
            <a:off x="666750" y="28479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 (a₁,a₂)ᵀ [rad] contains the two signed modal angle amplitudes. φ [rad] is starting phase, and t [s] is time.</a:t>
            </a:r>
          </a:p>
        </p:txBody>
      </p:sp>
      <p:sp>
        <p:nvSpPr>
          <p:cNvPr id="5" name="body1">
            <a:extLst xmlns:a="http://schemas.openxmlformats.org/drawingml/2006/main">
              <a:ext uri="{FF2B5EF4-FFF2-40B4-BE49-F238E27FC236}">
                <a16:creationId xmlns:a16="http://schemas.microsoft.com/office/drawing/2014/main" id="{B8E34FE7-EA49-43EB-A918-933D177E534E}"/>
              </a:ext>
            </a:extLst>
          </p:cNvPr>
          <p:cNvSpPr>
            <a:spLocks xmlns:a="http://schemas.openxmlformats.org/drawingml/2006/main" noGrp="1"/>
          </p:cNvSpPr>
          <p:nvPr/>
        </p:nvSpPr>
        <p:spPr>
          <a:xfrm xmlns:a="http://schemas.openxmlformats.org/drawingml/2006/main">
            <a:off x="666750" y="39147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 [rad/s] is a mode’s oscillation angular frequency. f [Hz] is its cycles per second. Ω differs from instantaneous angular velocities ω₁(t) and ω₂(t).</a:t>
            </a:r>
          </a:p>
        </p:txBody>
      </p:sp>
      <p:sp>
        <p:nvSpPr>
          <p:cNvPr id="6" name="body2">
            <a:extLst xmlns:a="http://schemas.openxmlformats.org/drawingml/2006/main">
              <a:ext uri="{FF2B5EF4-FFF2-40B4-BE49-F238E27FC236}">
                <a16:creationId xmlns:a16="http://schemas.microsoft.com/office/drawing/2014/main" id="{5D023009-2D4E-4E82-80A5-D3F8D42EAE06}"/>
              </a:ext>
            </a:extLst>
          </p:cNvPr>
          <p:cNvSpPr>
            <a:spLocks xmlns:a="http://schemas.openxmlformats.org/drawingml/2006/main" noGrp="1"/>
          </p:cNvSpPr>
          <p:nvPr/>
        </p:nvSpPr>
        <p:spPr>
          <a:xfrm xmlns:a="http://schemas.openxmlformats.org/drawingml/2006/main">
            <a:off x="666750" y="49815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det means determinant. Setting it to zero allows a nonzero amplitude vector a and gives the two values of Ω². Divide each Ω by 2π to obtain f.</a:t>
            </a:r>
          </a:p>
        </p:txBody>
      </p:sp>
      <p:sp>
        <p:nvSpPr>
          <p:cNvPr id="7" name="page">
            <a:extLst xmlns:a="http://schemas.openxmlformats.org/drawingml/2006/main">
              <a:ext uri="{FF2B5EF4-FFF2-40B4-BE49-F238E27FC236}">
                <a16:creationId xmlns:a16="http://schemas.microsoft.com/office/drawing/2014/main" id="{976C4437-3DF0-4814-AD8C-9588493CB0E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28</a:t>
            </a:r>
          </a:p>
        </p:txBody>
      </p:sp>
    </p:spTree>
    <p:extLst>
      <p:ext uri="{BB962C8B-B14F-4D97-AF65-F5344CB8AC3E}">
        <p14:creationId xmlns:p14="http://schemas.microsoft.com/office/powerpoint/2010/main" val="10400398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5B766FE9-69C6-464E-B9EA-EA04E4D88371}"/>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E6ADAA8-228C-4E4D-B754-41D6C7F00DF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Large motion and initial conditions</a:t>
            </a:r>
          </a:p>
        </p:txBody>
      </p:sp>
      <p:sp>
        <p:nvSpPr>
          <p:cNvPr id="3" name="body0">
            <a:extLst xmlns:a="http://schemas.openxmlformats.org/drawingml/2006/main">
              <a:ext uri="{FF2B5EF4-FFF2-40B4-BE49-F238E27FC236}">
                <a16:creationId xmlns:a16="http://schemas.microsoft.com/office/drawing/2014/main" id="{A0BA3B33-B455-46A6-AEC5-05F3803F1ECA}"/>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large angles, the small-angle approximation loses accuracy and the coupling changes throughout the swing.</a:t>
            </a:r>
          </a:p>
        </p:txBody>
      </p:sp>
      <p:sp>
        <p:nvSpPr>
          <p:cNvPr id="4" name="body1">
            <a:extLst xmlns:a="http://schemas.openxmlformats.org/drawingml/2006/main">
              <a:ext uri="{FF2B5EF4-FFF2-40B4-BE49-F238E27FC236}">
                <a16:creationId xmlns:a16="http://schemas.microsoft.com/office/drawing/2014/main" id="{637B229A-7321-41AB-8C67-1650CDF77E20}"/>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Nearby starts can separate over time. Use the same model parameters when comparing them.</a:t>
            </a:r>
          </a:p>
        </p:txBody>
      </p:sp>
      <p:sp>
        <p:nvSpPr>
          <p:cNvPr id="5" name="body2">
            <a:extLst xmlns:a="http://schemas.openxmlformats.org/drawingml/2006/main">
              <a:ext uri="{FF2B5EF4-FFF2-40B4-BE49-F238E27FC236}">
                <a16:creationId xmlns:a16="http://schemas.microsoft.com/office/drawing/2014/main" id="{FAC1977C-1EB0-4BA0-BAD9-F8E45668B13F}"/>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Release without a push and record both actual initial angles.</a:t>
            </a:r>
          </a:p>
        </p:txBody>
      </p:sp>
      <p:sp>
        <p:nvSpPr>
          <p:cNvPr id="6" name="body3">
            <a:extLst xmlns:a="http://schemas.openxmlformats.org/drawingml/2006/main">
              <a:ext uri="{FF2B5EF4-FFF2-40B4-BE49-F238E27FC236}">
                <a16:creationId xmlns:a16="http://schemas.microsoft.com/office/drawing/2014/main" id="{E34C6959-E26E-463C-929D-4CC5FC45B7D7}"/>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short complicated trace can show sensitivity, but appearance alone does not prove mathematical chaos.</a:t>
            </a:r>
          </a:p>
        </p:txBody>
      </p:sp>
      <p:sp>
        <p:nvSpPr>
          <p:cNvPr id="7" name="page">
            <a:extLst xmlns:a="http://schemas.openxmlformats.org/drawingml/2006/main">
              <a:ext uri="{FF2B5EF4-FFF2-40B4-BE49-F238E27FC236}">
                <a16:creationId xmlns:a16="http://schemas.microsoft.com/office/drawing/2014/main" id="{C5CC0996-E2AD-4E3D-8F71-F5CBE9C6290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29</a:t>
            </a:r>
          </a:p>
        </p:txBody>
      </p:sp>
    </p:spTree>
    <p:extLst>
      <p:ext uri="{BB962C8B-B14F-4D97-AF65-F5344CB8AC3E}">
        <p14:creationId xmlns:p14="http://schemas.microsoft.com/office/powerpoint/2010/main" val="145576394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93880E0-675D-4FAB-9B3A-231586889D9E}"/>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236C461D-C4D2-4D4C-B796-C66571144349}"/>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four laboratory trials</a:t>
            </a:r>
          </a:p>
        </p:txBody>
      </p:sp>
      <p:sp>
        <p:nvSpPr>
          <p:cNvPr id="3" name="body0">
            <a:extLst xmlns:a="http://schemas.openxmlformats.org/drawingml/2006/main">
              <a:ext uri="{FF2B5EF4-FFF2-40B4-BE49-F238E27FC236}">
                <a16:creationId xmlns:a16="http://schemas.microsoft.com/office/drawing/2014/main" id="{44657007-86ED-403E-B319-076A42D50D8D}"/>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Trial A: small nonzero angles, roughly aligned links, released from rest.</a:t>
            </a:r>
          </a:p>
        </p:txBody>
      </p:sp>
      <p:sp>
        <p:nvSpPr>
          <p:cNvPr id="4" name="body1">
            <a:extLst xmlns:a="http://schemas.openxmlformats.org/drawingml/2006/main">
              <a:ext uri="{FF2B5EF4-FFF2-40B4-BE49-F238E27FC236}">
                <a16:creationId xmlns:a16="http://schemas.microsoft.com/office/drawing/2014/main" id="{7DD68D15-4E58-4E40-BA23-FD039363116B}"/>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Trials B–D: at least three larger combinations of initial angles.</a:t>
            </a:r>
          </a:p>
        </p:txBody>
      </p:sp>
      <p:sp>
        <p:nvSpPr>
          <p:cNvPr id="5" name="body2">
            <a:extLst xmlns:a="http://schemas.openxmlformats.org/drawingml/2006/main">
              <a:ext uri="{FF2B5EF4-FFF2-40B4-BE49-F238E27FC236}">
                <a16:creationId xmlns:a16="http://schemas.microsoft.com/office/drawing/2014/main" id="{B64A3B5F-FF96-462C-9CC8-9F795E92A8ED}"/>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Include a pair of similar starts so that you can compare sensitivity.</a:t>
            </a:r>
          </a:p>
        </p:txBody>
      </p:sp>
      <p:sp>
        <p:nvSpPr>
          <p:cNvPr id="6" name="body3">
            <a:extLst xmlns:a="http://schemas.openxmlformats.org/drawingml/2006/main">
              <a:ext uri="{FF2B5EF4-FFF2-40B4-BE49-F238E27FC236}">
                <a16:creationId xmlns:a16="http://schemas.microsoft.com/office/drawing/2014/main" id="{9093C897-0048-4A3D-B7C6-20BF02C7A160}"/>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every trial log both initial angles, masses, lengths, capture frame rate and filenames.</a:t>
            </a:r>
          </a:p>
        </p:txBody>
      </p:sp>
      <p:sp>
        <p:nvSpPr>
          <p:cNvPr id="7" name="page">
            <a:extLst xmlns:a="http://schemas.openxmlformats.org/drawingml/2006/main">
              <a:ext uri="{FF2B5EF4-FFF2-40B4-BE49-F238E27FC236}">
                <a16:creationId xmlns:a16="http://schemas.microsoft.com/office/drawing/2014/main" id="{0865AFDC-FF4A-4906-8B65-3128C04B71A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30</a:t>
            </a:r>
          </a:p>
        </p:txBody>
      </p:sp>
    </p:spTree>
    <p:extLst>
      <p:ext uri="{BB962C8B-B14F-4D97-AF65-F5344CB8AC3E}">
        <p14:creationId xmlns:p14="http://schemas.microsoft.com/office/powerpoint/2010/main" val="104785962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39F72148-032F-4E92-83C9-69448E0DA5A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928E7D2-1747-4971-B1A4-F4FBBBA77402}"/>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What the camera records</a:t>
            </a:r>
          </a:p>
        </p:txBody>
      </p:sp>
      <p:sp>
        <p:nvSpPr>
          <p:cNvPr id="3" name="body0">
            <a:extLst xmlns:a="http://schemas.openxmlformats.org/drawingml/2006/main">
              <a:ext uri="{FF2B5EF4-FFF2-40B4-BE49-F238E27FC236}">
                <a16:creationId xmlns:a16="http://schemas.microsoft.com/office/drawing/2014/main" id="{FD222345-C35D-4686-B7A7-3B9B25023BA0}"/>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camera records a sequence of images. The analyzer later extracts positions from them.</a:t>
            </a:r>
          </a:p>
        </p:txBody>
      </p:sp>
      <p:sp>
        <p:nvSpPr>
          <p:cNvPr id="4" name="body1">
            <a:extLst xmlns:a="http://schemas.openxmlformats.org/drawingml/2006/main">
              <a:ext uri="{FF2B5EF4-FFF2-40B4-BE49-F238E27FC236}">
                <a16:creationId xmlns:a16="http://schemas.microsoft.com/office/drawing/2014/main" id="{04CFF138-59DE-43C0-AF55-74669B81FED5}"/>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Use a dark background, bright bobs, sharp focus and enough framing for the whole motion.</a:t>
            </a:r>
          </a:p>
        </p:txBody>
      </p:sp>
      <p:sp>
        <p:nvSpPr>
          <p:cNvPr id="5" name="body2">
            <a:extLst xmlns:a="http://schemas.openxmlformats.org/drawingml/2006/main">
              <a:ext uri="{FF2B5EF4-FFF2-40B4-BE49-F238E27FC236}">
                <a16:creationId xmlns:a16="http://schemas.microsoft.com/office/drawing/2014/main" id="{4BAD6C3B-7069-4ADC-8301-AEF670A4A42D}"/>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lab setup uses 1280×1024 and nominal 1000 capture frames/s. Record the actual setting.</a:t>
            </a:r>
          </a:p>
        </p:txBody>
      </p:sp>
      <p:sp>
        <p:nvSpPr>
          <p:cNvPr id="6" name="body3">
            <a:extLst xmlns:a="http://schemas.openxmlformats.org/drawingml/2006/main">
              <a:ext uri="{FF2B5EF4-FFF2-40B4-BE49-F238E27FC236}">
                <a16:creationId xmlns:a16="http://schemas.microsoft.com/office/drawing/2014/main" id="{73E2A460-24DA-4CFA-AA8F-BA89251ABD37}"/>
              </a:ext>
            </a:extLst>
          </p:cNvPr>
          <p:cNvSpPr>
            <a:spLocks xmlns:a="http://schemas.openxmlformats.org/drawingml/2006/main" noGrp="1"/>
          </p:cNvSpPr>
          <p:nvPr/>
        </p:nvSpPr>
        <p:spPr>
          <a:xfrm xmlns:a="http://schemas.openxmlformats.org/drawingml/2006/main">
            <a:off x="666750" y="50387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Capture frame rate and MP4 playback rate can differ. Enter the capture rate in the analyzer.</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f0dd9b6ea4dd49dc"/>
          <a:stretch xmlns:a="http://schemas.openxmlformats.org/drawingml/2006/main"/>
        </p:blipFill>
        <p:spPr>
          <a:xfrm xmlns:a="http://schemas.openxmlformats.org/drawingml/2006/main">
            <a:off x="6524625" y="1666875"/>
            <a:ext cx="5238750" cy="4191000"/>
          </a:xfrm>
          <a:prstGeom xmlns:a="http://schemas.openxmlformats.org/drawingml/2006/main" prst="rect">
            <a:avLst/>
          </a:prstGeom>
        </p:spPr>
      </p:pic>
      <p:sp>
        <p:nvSpPr>
          <p:cNvPr id="8" name="page">
            <a:extLst xmlns:a="http://schemas.openxmlformats.org/drawingml/2006/main">
              <a:ext uri="{FF2B5EF4-FFF2-40B4-BE49-F238E27FC236}">
                <a16:creationId xmlns:a16="http://schemas.microsoft.com/office/drawing/2014/main" id="{872FA1FE-3B4F-48FF-85C5-678BC9FC849B}"/>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31</a:t>
            </a:r>
          </a:p>
        </p:txBody>
      </p:sp>
    </p:spTree>
    <p:extLst>
      <p:ext uri="{BB962C8B-B14F-4D97-AF65-F5344CB8AC3E}">
        <p14:creationId xmlns:p14="http://schemas.microsoft.com/office/powerpoint/2010/main" val="134275006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E0989D96-4ECB-4976-9271-3AB2C4DE4551}"/>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AD2DC77-19CC-4765-9A7D-07B9025685B4}"/>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Tracking both bobs</a:t>
            </a:r>
          </a:p>
        </p:txBody>
      </p:sp>
      <p:sp>
        <p:nvSpPr>
          <p:cNvPr id="3" name="body0">
            <a:extLst xmlns:a="http://schemas.openxmlformats.org/drawingml/2006/main">
              <a:ext uri="{FF2B5EF4-FFF2-40B4-BE49-F238E27FC236}">
                <a16:creationId xmlns:a16="http://schemas.microsoft.com/office/drawing/2014/main" id="{F8B50F79-1A2A-40C5-935E-849F3D070D26}"/>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Select Double Pendulum in Pendulum Motion Analyzer V4.</a:t>
            </a:r>
          </a:p>
        </p:txBody>
      </p:sp>
      <p:sp>
        <p:nvSpPr>
          <p:cNvPr id="4" name="body1">
            <a:extLst xmlns:a="http://schemas.openxmlformats.org/drawingml/2006/main">
              <a:ext uri="{FF2B5EF4-FFF2-40B4-BE49-F238E27FC236}">
                <a16:creationId xmlns:a16="http://schemas.microsoft.com/office/drawing/2014/main" id="{5D8A4D85-E9FC-42BD-83DA-B3627C604F9C}"/>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Calibrate with a known distance and enter the actual capture frame rate.</a:t>
            </a:r>
          </a:p>
        </p:txBody>
      </p:sp>
      <p:sp>
        <p:nvSpPr>
          <p:cNvPr id="5" name="body2">
            <a:extLst xmlns:a="http://schemas.openxmlformats.org/drawingml/2006/main">
              <a:ext uri="{FF2B5EF4-FFF2-40B4-BE49-F238E27FC236}">
                <a16:creationId xmlns:a16="http://schemas.microsoft.com/office/drawing/2014/main" id="{292D72AF-F9F0-4E3A-89D9-4114FC9CE0CE}"/>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Mark the fixed pivot and both bob centers. Inspect early, middle and late frames.</a:t>
            </a:r>
          </a:p>
        </p:txBody>
      </p:sp>
      <p:sp>
        <p:nvSpPr>
          <p:cNvPr id="6" name="body3">
            <a:extLst xmlns:a="http://schemas.openxmlformats.org/drawingml/2006/main">
              <a:ext uri="{FF2B5EF4-FFF2-40B4-BE49-F238E27FC236}">
                <a16:creationId xmlns:a16="http://schemas.microsoft.com/office/drawing/2014/main" id="{4F92182C-FA38-45B3-B97B-FA8D0BABD122}"/>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Quick Review to find problems, then Analyze All Frames and save results. Missing positions or a marker stuck on a fixed feature require correction.</a:t>
            </a:r>
          </a:p>
        </p:txBody>
      </p:sp>
      <p:sp>
        <p:nvSpPr>
          <p:cNvPr id="7" name="page">
            <a:extLst xmlns:a="http://schemas.openxmlformats.org/drawingml/2006/main">
              <a:ext uri="{FF2B5EF4-FFF2-40B4-BE49-F238E27FC236}">
                <a16:creationId xmlns:a16="http://schemas.microsoft.com/office/drawing/2014/main" id="{940E19AC-F7F1-4165-B4EC-B6A31324DFE1}"/>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32</a:t>
            </a:r>
          </a:p>
        </p:txBody>
      </p:sp>
    </p:spTree>
    <p:extLst>
      <p:ext uri="{BB962C8B-B14F-4D97-AF65-F5344CB8AC3E}">
        <p14:creationId xmlns:p14="http://schemas.microsoft.com/office/powerpoint/2010/main" val="182017715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541B2FDE-17D3-48DD-BBEC-6D634EEB2893}"/>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A3F232E-D8A0-4E5D-907E-DCF86E07417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coordinates in ExpData</a:t>
            </a:r>
          </a:p>
        </p:txBody>
      </p:sp>
      <p:sp>
        <p:nvSpPr>
          <p:cNvPr id="3" name="body0">
            <a:extLst xmlns:a="http://schemas.openxmlformats.org/drawingml/2006/main">
              <a:ext uri="{FF2B5EF4-FFF2-40B4-BE49-F238E27FC236}">
                <a16:creationId xmlns:a16="http://schemas.microsoft.com/office/drawing/2014/main" id="{63AD1E80-ACB7-463D-8BEA-8F38A986ABC7}"/>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Columns: time [s], x₁ [mm], y₁ [mm], x₂ [mm], y₂ [mm].</a:t>
            </a:r>
          </a:p>
        </p:txBody>
      </p:sp>
      <p:sp>
        <p:nvSpPr>
          <p:cNvPr id="4" name="body1">
            <a:extLst xmlns:a="http://schemas.openxmlformats.org/drawingml/2006/main">
              <a:ext uri="{FF2B5EF4-FFF2-40B4-BE49-F238E27FC236}">
                <a16:creationId xmlns:a16="http://schemas.microsoft.com/office/drawing/2014/main" id="{2C76F8F0-EA90-44F1-8985-5BB7F14B99D4}"/>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Coordinates are relative to the fixed pivot, with y positive upward.</a:t>
            </a:r>
          </a:p>
        </p:txBody>
      </p:sp>
      <p:sp>
        <p:nvSpPr>
          <p:cNvPr id="5" name="body2">
            <a:extLst xmlns:a="http://schemas.openxmlformats.org/drawingml/2006/main">
              <a:ext uri="{FF2B5EF4-FFF2-40B4-BE49-F238E27FC236}">
                <a16:creationId xmlns:a16="http://schemas.microsoft.com/office/drawing/2014/main" id="{96DF6C3D-6274-4F0F-8454-290F0FD6F884}"/>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vector from bob 1 to bob 2 is (x₂ − x₁, y₂ − y₁). This vector gives the lower-link direction.</a:t>
            </a:r>
          </a:p>
        </p:txBody>
      </p:sp>
      <p:sp>
        <p:nvSpPr>
          <p:cNvPr id="6" name="body3">
            <a:extLst xmlns:a="http://schemas.openxmlformats.org/drawingml/2006/main">
              <a:ext uri="{FF2B5EF4-FFF2-40B4-BE49-F238E27FC236}">
                <a16:creationId xmlns:a16="http://schemas.microsoft.com/office/drawing/2014/main" id="{1A822094-AEAF-4CF4-B455-B44EE082A8CE}"/>
              </a:ext>
            </a:extLst>
          </p:cNvPr>
          <p:cNvSpPr>
            <a:spLocks xmlns:a="http://schemas.openxmlformats.org/drawingml/2006/main" noGrp="1"/>
          </p:cNvSpPr>
          <p:nvPr/>
        </p:nvSpPr>
        <p:spPr>
          <a:xfrm xmlns:a="http://schemas.openxmlformats.org/drawingml/2006/main">
            <a:off x="666750" y="50387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Inspect the saved MAT file before leaving the lab. Keep the original MP4.</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e2c05a95ce44542"/>
          <a:stretch xmlns:a="http://schemas.openxmlformats.org/drawingml/2006/main"/>
        </p:blipFill>
        <p:spPr>
          <a:xfrm xmlns:a="http://schemas.openxmlformats.org/drawingml/2006/main">
            <a:off x="6524625" y="1823548"/>
            <a:ext cx="5238750" cy="3877654"/>
          </a:xfrm>
          <a:prstGeom xmlns:a="http://schemas.openxmlformats.org/drawingml/2006/main" prst="rect">
            <a:avLst/>
          </a:prstGeom>
        </p:spPr>
      </p:pic>
      <p:sp>
        <p:nvSpPr>
          <p:cNvPr id="8" name="page">
            <a:extLst xmlns:a="http://schemas.openxmlformats.org/drawingml/2006/main">
              <a:ext uri="{FF2B5EF4-FFF2-40B4-BE49-F238E27FC236}">
                <a16:creationId xmlns:a16="http://schemas.microsoft.com/office/drawing/2014/main" id="{E83DD9AF-BE58-4993-8DF7-A0E84EA951D1}"/>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33</a:t>
            </a:r>
          </a:p>
        </p:txBody>
      </p:sp>
    </p:spTree>
    <p:extLst>
      <p:ext uri="{BB962C8B-B14F-4D97-AF65-F5344CB8AC3E}">
        <p14:creationId xmlns:p14="http://schemas.microsoft.com/office/powerpoint/2010/main" val="189284008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788A41A6-0677-4E32-B4BE-1791A1E97939}"/>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B71C05D-75BB-4482-9947-D852D769CB48}"/>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Positions become the two absolute angles</a:t>
            </a:r>
          </a:p>
        </p:txBody>
      </p:sp>
      <p:sp>
        <p:nvSpPr>
          <p:cNvPr id="3" name="EQ_angle1">
            <a:extLst xmlns:a="http://schemas.openxmlformats.org/drawingml/2006/main">
              <a:ext uri="{FF2B5EF4-FFF2-40B4-BE49-F238E27FC236}">
                <a16:creationId xmlns:a16="http://schemas.microsoft.com/office/drawing/2014/main" id="{CF98F6E5-D5BA-42F4-AC71-7DD520375864}"/>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θ</m:t>
                      </m:r>
                    </m:e>
                    <m:sub>
                      <m:r>
                        <a:rPr sz="2400" lang="en-US">
                          <a:latin typeface="Cambria Math"/>
                        </a:rPr>
                        <m:t>1</m:t>
                      </m:r>
                    </m:sub>
                  </m:sSub>
                  <m:r>
                    <a:rPr sz="2400" lang="en-US">
                      <a:latin typeface="Cambria Math"/>
                    </a:rPr>
                    <m:t> = unwrap(atan2(</m:t>
                  </m:r>
                  <m:sSub>
                    <m:e>
                      <m:r>
                        <a:rPr sz="2400" lang="en-US">
                          <a:latin typeface="Cambria Math"/>
                        </a:rPr>
                        <m:t>x</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1</m:t>
                      </m:r>
                    </m:sub>
                  </m:sSub>
                  <m:r>
                    <a:rPr sz="2400" lang="en-US">
                      <a:latin typeface="Cambria Math"/>
                    </a:rPr>
                    <m:t>))</m:t>
                  </m:r>
                </m:oMath>
              </m:oMathPara>
            </a14:m>
            <a:endParaRPr lang="en-US" sz="2400"/>
          </a:p>
        </p:txBody>
      </p:sp>
      <p:sp>
        <p:nvSpPr>
          <p:cNvPr id="4" name="EQ_angle2">
            <a:extLst xmlns:a="http://schemas.openxmlformats.org/drawingml/2006/main">
              <a:ext uri="{FF2B5EF4-FFF2-40B4-BE49-F238E27FC236}">
                <a16:creationId xmlns:a16="http://schemas.microsoft.com/office/drawing/2014/main" id="{4BD66D16-86A5-4C18-BD29-6A9D10B436A4}"/>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θ</m:t>
                      </m:r>
                    </m:e>
                    <m:sub>
                      <m:r>
                        <a:rPr sz="2400" lang="en-US">
                          <a:latin typeface="Cambria Math"/>
                        </a:rPr>
                        <m:t>2</m:t>
                      </m:r>
                    </m:sub>
                  </m:sSub>
                  <m:r>
                    <a:rPr sz="2400" lang="en-US">
                      <a:latin typeface="Cambria Math"/>
                    </a:rPr>
                    <m:t> = unwrap(atan2(</m:t>
                  </m:r>
                  <m:sSub>
                    <m:e>
                      <m:r>
                        <a:rPr sz="2400" lang="en-US">
                          <a:latin typeface="Cambria Math"/>
                        </a:rPr>
                        <m:t>x</m:t>
                      </m:r>
                    </m:e>
                    <m:sub>
                      <m:r>
                        <a:rPr sz="2400" lang="en-US">
                          <a:latin typeface="Cambria Math"/>
                        </a:rPr>
                        <m:t>2</m:t>
                      </m:r>
                    </m:sub>
                  </m:sSub>
                  <m:r>
                    <a:rPr sz="2400" lang="en-US">
                      <a:latin typeface="Cambria Math"/>
                    </a:rPr>
                    <m:t> − </m:t>
                  </m:r>
                  <m:sSub>
                    <m:e>
                      <m:r>
                        <a:rPr sz="2400" lang="en-US">
                          <a:latin typeface="Cambria Math"/>
                        </a:rPr>
                        <m:t>x</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2</m:t>
                      </m:r>
                    </m:sub>
                  </m:sSub>
                  <m:r>
                    <a:rPr sz="2400" lang="en-US">
                      <a:latin typeface="Cambria Math"/>
                    </a:rPr>
                    <m:t> − </m:t>
                  </m:r>
                  <m:sSub>
                    <m:e>
                      <m:r>
                        <a:rPr sz="2400" lang="en-US">
                          <a:latin typeface="Cambria Math"/>
                        </a:rPr>
                        <m:t>y</m:t>
                      </m:r>
                    </m:e>
                    <m:sub>
                      <m:r>
                        <a:rPr sz="2400" lang="en-US">
                          <a:latin typeface="Cambria Math"/>
                        </a:rPr>
                        <m:t>1</m:t>
                      </m:r>
                    </m:sub>
                  </m:sSub>
                  <m:r>
                    <a:rPr sz="2400" lang="en-US">
                      <a:latin typeface="Cambria Math"/>
                    </a:rPr>
                    <m:t>)))</m:t>
                  </m:r>
                </m:oMath>
              </m:oMathPara>
            </a14:m>
            <a:endParaRPr lang="en-US" sz="2400"/>
          </a:p>
        </p:txBody>
      </p:sp>
      <p:sp>
        <p:nvSpPr>
          <p:cNvPr id="5" name="body0">
            <a:extLst xmlns:a="http://schemas.openxmlformats.org/drawingml/2006/main">
              <a:ext uri="{FF2B5EF4-FFF2-40B4-BE49-F238E27FC236}">
                <a16:creationId xmlns:a16="http://schemas.microsoft.com/office/drawing/2014/main" id="{12EB2E05-8A94-4D6B-9B0D-649B193A3FD9}"/>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atan2 uses both vector components to identify the correct quadrant.</a:t>
            </a:r>
          </a:p>
        </p:txBody>
      </p:sp>
      <p:sp>
        <p:nvSpPr>
          <p:cNvPr id="6" name="body1">
            <a:extLst xmlns:a="http://schemas.openxmlformats.org/drawingml/2006/main">
              <a:ext uri="{FF2B5EF4-FFF2-40B4-BE49-F238E27FC236}">
                <a16:creationId xmlns:a16="http://schemas.microsoft.com/office/drawing/2014/main" id="{768AD58D-394A-4834-A63D-A4705CA7C17F}"/>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downward link should give zero angle. Verify the sign using a known video frame.</a:t>
            </a:r>
          </a:p>
        </p:txBody>
      </p:sp>
      <p:sp>
        <p:nvSpPr>
          <p:cNvPr id="7" name="body2">
            <a:extLst xmlns:a="http://schemas.openxmlformats.org/drawingml/2006/main">
              <a:ext uri="{FF2B5EF4-FFF2-40B4-BE49-F238E27FC236}">
                <a16:creationId xmlns:a16="http://schemas.microsoft.com/office/drawing/2014/main" id="{037BC578-0B2C-482A-9DD4-AB4C108F51F1}"/>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Unwrapping removes artificial jumps at ±π when tracking continuous motion.</a:t>
            </a:r>
          </a:p>
        </p:txBody>
      </p:sp>
      <p:sp>
        <p:nvSpPr>
          <p:cNvPr id="8" name="page">
            <a:extLst xmlns:a="http://schemas.openxmlformats.org/drawingml/2006/main">
              <a:ext uri="{FF2B5EF4-FFF2-40B4-BE49-F238E27FC236}">
                <a16:creationId xmlns:a16="http://schemas.microsoft.com/office/drawing/2014/main" id="{F1582D29-74F7-4B91-A8A2-CA4EC39A1A8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34</a:t>
            </a:r>
          </a:p>
        </p:txBody>
      </p:sp>
    </p:spTree>
    <p:extLst>
      <p:ext uri="{BB962C8B-B14F-4D97-AF65-F5344CB8AC3E}">
        <p14:creationId xmlns:p14="http://schemas.microsoft.com/office/powerpoint/2010/main" val="29460021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81B65721-0460-43B4-BDAE-771529932347}"/>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F01ECBE1-2F12-4CB3-9779-C6E9842979CB}"/>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Sampling symbols before the FFT equation</a:t>
            </a:r>
          </a:p>
        </p:txBody>
      </p:sp>
      <p:sp>
        <p:nvSpPr>
          <p:cNvPr id="3" name="body0">
            <a:extLst xmlns:a="http://schemas.openxmlformats.org/drawingml/2006/main">
              <a:ext uri="{FF2B5EF4-FFF2-40B4-BE49-F238E27FC236}">
                <a16:creationId xmlns:a16="http://schemas.microsoft.com/office/drawing/2014/main" id="{EE06FA7D-E7E0-46B2-9C9F-16D523FE9258}"/>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FFT means Fast Fourier Transform. It computes frequency components from an equally spaced sequence of angle measurements.</a:t>
            </a:r>
          </a:p>
        </p:txBody>
      </p:sp>
      <p:sp>
        <p:nvSpPr>
          <p:cNvPr id="4" name="body1">
            <a:extLst xmlns:a="http://schemas.openxmlformats.org/drawingml/2006/main">
              <a:ext uri="{FF2B5EF4-FFF2-40B4-BE49-F238E27FC236}">
                <a16:creationId xmlns:a16="http://schemas.microsoft.com/office/drawing/2014/main" id="{096D8DA4-BE74-4D14-AEAE-3A59EC20C42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fₛ [Hz]: sample rate of the analyzed angle data. Nₛ: number of samples used. Tᵣ = Nₛ/fₛ [s]: record duration used for FFT bin spacing.</a:t>
            </a:r>
          </a:p>
        </p:txBody>
      </p:sp>
      <p:sp>
        <p:nvSpPr>
          <p:cNvPr id="5" name="body2">
            <a:extLst xmlns:a="http://schemas.openxmlformats.org/drawingml/2006/main">
              <a:ext uri="{FF2B5EF4-FFF2-40B4-BE49-F238E27FC236}">
                <a16:creationId xmlns:a16="http://schemas.microsoft.com/office/drawing/2014/main" id="{8E0F8413-5B3C-4340-B6EB-683852A7EF77}"/>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Δf [Hz]: spacing between neighboring FFT frequency bins. This Δf is different from the angle difference Δ = θ₁ − θ₂.</a:t>
            </a:r>
          </a:p>
        </p:txBody>
      </p:sp>
      <p:sp>
        <p:nvSpPr>
          <p:cNvPr id="6" name="body3">
            <a:extLst xmlns:a="http://schemas.openxmlformats.org/drawingml/2006/main">
              <a:ext uri="{FF2B5EF4-FFF2-40B4-BE49-F238E27FC236}">
                <a16:creationId xmlns:a16="http://schemas.microsoft.com/office/drawing/2014/main" id="{FE2E1898-ED46-4A37-BEFB-7C200DEE48D2}"/>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If the analyzer uses every tenth camera frame, fₛ is one tenth of the capture frame rate. Use the time column to verify the actual sample spacing.</a:t>
            </a:r>
          </a:p>
        </p:txBody>
      </p:sp>
      <p:sp>
        <p:nvSpPr>
          <p:cNvPr id="7" name="page">
            <a:extLst xmlns:a="http://schemas.openxmlformats.org/drawingml/2006/main">
              <a:ext uri="{FF2B5EF4-FFF2-40B4-BE49-F238E27FC236}">
                <a16:creationId xmlns:a16="http://schemas.microsoft.com/office/drawing/2014/main" id="{C70E556F-D409-4855-A082-927F4ED5C72A}"/>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35</a:t>
            </a:r>
          </a:p>
        </p:txBody>
      </p:sp>
    </p:spTree>
    <p:extLst>
      <p:ext uri="{BB962C8B-B14F-4D97-AF65-F5344CB8AC3E}">
        <p14:creationId xmlns:p14="http://schemas.microsoft.com/office/powerpoint/2010/main" val="7878662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33952F8B-AD90-4F85-B90E-D678C97F1D9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98C70A75-E9A4-4817-96A9-8368C60D994F}"/>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Angular velocity and frequency analysis</a:t>
            </a:r>
          </a:p>
        </p:txBody>
      </p:sp>
      <p:sp>
        <p:nvSpPr>
          <p:cNvPr id="3" name="EQ_omega_fft">
            <a:extLst xmlns:a="http://schemas.openxmlformats.org/drawingml/2006/main">
              <a:ext uri="{FF2B5EF4-FFF2-40B4-BE49-F238E27FC236}">
                <a16:creationId xmlns:a16="http://schemas.microsoft.com/office/drawing/2014/main" id="{A62B65CC-1C38-47AB-AD0A-135FD0124C36}"/>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ω</m:t>
                      </m:r>
                    </m:e>
                    <m:sub>
                      <m:r>
                        <a:rPr sz="2400" lang="en-US">
                          <a:latin typeface="Cambria Math"/>
                        </a:rPr>
                        <m:t>i</m:t>
                      </m:r>
                    </m:sub>
                  </m:sSub>
                  <m:r>
                    <a:rPr sz="2400" lang="en-US">
                      <a:latin typeface="Cambria Math"/>
                    </a:rPr>
                    <m:t> = </m:t>
                  </m:r>
                  <m:f>
                    <m:num>
                      <m:r>
                        <a:rPr sz="2400" lang="en-US">
                          <a:latin typeface="Cambria Math"/>
                        </a:rPr>
                        <m:t>d</m:t>
                      </m:r>
                      <m:sSub>
                        <m:e>
                          <m:r>
                            <a:rPr sz="2400" lang="en-US">
                              <a:latin typeface="Cambria Math"/>
                            </a:rPr>
                            <m:t>θ</m:t>
                          </m:r>
                        </m:e>
                        <m:sub>
                          <m:r>
                            <a:rPr sz="2400" lang="en-US">
                              <a:latin typeface="Cambria Math"/>
                            </a:rPr>
                            <m:t>i</m:t>
                          </m:r>
                        </m:sub>
                      </m:sSub>
                    </m:num>
                    <m:den>
                      <m:r>
                        <a:rPr sz="2400" lang="en-US">
                          <a:latin typeface="Cambria Math"/>
                        </a:rPr>
                        <m:t>dt</m:t>
                      </m:r>
                    </m:den>
                  </m:f>
                  <m:r>
                    <a:rPr sz="2400" lang="en-US">
                      <a:latin typeface="Cambria Math"/>
                    </a:rPr>
                    <m:t>      Δf = </m:t>
                  </m:r>
                  <m:f>
                    <m:num>
                      <m:sSub>
                        <m:e>
                          <m:r>
                            <a:rPr sz="2400" lang="en-US">
                              <a:latin typeface="Cambria Math"/>
                            </a:rPr>
                            <m:t>f</m:t>
                          </m:r>
                        </m:e>
                        <m:sub>
                          <m:r>
                            <a:rPr sz="2400" lang="en-US">
                              <a:latin typeface="Cambria Math"/>
                            </a:rPr>
                            <m:t>s</m:t>
                          </m:r>
                        </m:sub>
                      </m:sSub>
                    </m:num>
                    <m:den>
                      <m:sSub>
                        <m:e>
                          <m:r>
                            <a:rPr sz="2400" lang="en-US">
                              <a:latin typeface="Cambria Math"/>
                            </a:rPr>
                            <m:t>N</m:t>
                          </m:r>
                        </m:e>
                        <m:sub>
                          <m:r>
                            <a:rPr sz="2400" lang="en-US">
                              <a:latin typeface="Cambria Math"/>
                            </a:rPr>
                            <m:t>s</m:t>
                          </m:r>
                        </m:sub>
                      </m:sSub>
                    </m:den>
                  </m:f>
                  <m:r>
                    <a:rPr sz="2400" lang="en-US">
                      <a:latin typeface="Cambria Math"/>
                    </a:rPr>
                    <m:t> = </m:t>
                  </m:r>
                  <m:f>
                    <m:num>
                      <m:r>
                        <a:rPr sz="2400" lang="en-US">
                          <a:latin typeface="Cambria Math"/>
                        </a:rPr>
                        <m:t>1</m:t>
                      </m:r>
                    </m:num>
                    <m:den>
                      <m:sSub>
                        <m:e>
                          <m:r>
                            <a:rPr sz="2400" lang="en-US">
                              <a:latin typeface="Cambria Math"/>
                            </a:rPr>
                            <m:t>T</m:t>
                          </m:r>
                        </m:e>
                        <m:sub>
                          <m:r>
                            <a:rPr sz="2400" lang="en-US">
                              <a:latin typeface="Cambria Math"/>
                            </a:rPr>
                            <m:t>r</m:t>
                          </m:r>
                        </m:sub>
                      </m:sSub>
                    </m:den>
                  </m:f>
                </m:oMath>
              </m:oMathPara>
            </a14:m>
            <a:endParaRPr lang="en-US" sz="2400"/>
          </a:p>
        </p:txBody>
      </p:sp>
      <p:sp>
        <p:nvSpPr>
          <p:cNvPr id="4" name="body0">
            <a:extLst xmlns:a="http://schemas.openxmlformats.org/drawingml/2006/main">
              <a:ext uri="{FF2B5EF4-FFF2-40B4-BE49-F238E27FC236}">
                <a16:creationId xmlns:a16="http://schemas.microsoft.com/office/drawing/2014/main" id="{5402C52F-ACC1-470D-A156-495C9C9D6FCD}"/>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Angular velocity is the slope of the angle trace. Differentiation also amplifies tracking jitter.</a:t>
            </a:r>
          </a:p>
        </p:txBody>
      </p:sp>
      <p:sp>
        <p:nvSpPr>
          <p:cNvPr id="5" name="body1">
            <a:extLst xmlns:a="http://schemas.openxmlformats.org/drawingml/2006/main">
              <a:ext uri="{FF2B5EF4-FFF2-40B4-BE49-F238E27FC236}">
                <a16:creationId xmlns:a16="http://schemas.microsoft.com/office/drawing/2014/main" id="{EF7C3A39-405A-485A-BED8-545A7A26B550}"/>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FFT identifies frequency components over a finite record. Remove the mean before analysis.</a:t>
            </a:r>
          </a:p>
        </p:txBody>
      </p:sp>
      <p:sp>
        <p:nvSpPr>
          <p:cNvPr id="6" name="body2">
            <a:extLst xmlns:a="http://schemas.openxmlformats.org/drawingml/2006/main">
              <a:ext uri="{FF2B5EF4-FFF2-40B4-BE49-F238E27FC236}">
                <a16:creationId xmlns:a16="http://schemas.microsoft.com/office/drawing/2014/main" id="{9AF52E9F-AFE8-4F68-AB10-1E365D8B976D}"/>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Small motion may show two modal peaks. Large motion can have broader or changing spectral content.</a:t>
            </a:r>
          </a:p>
        </p:txBody>
      </p:sp>
      <p:sp>
        <p:nvSpPr>
          <p:cNvPr id="7" name="body3">
            <a:extLst xmlns:a="http://schemas.openxmlformats.org/drawingml/2006/main">
              <a:ext uri="{FF2B5EF4-FFF2-40B4-BE49-F238E27FC236}">
                <a16:creationId xmlns:a16="http://schemas.microsoft.com/office/drawing/2014/main" id="{2CB38640-9B46-46F5-86A7-C15BC0A54B98}"/>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State record length and analysis choices. A single global sine fit may be inappropriate.</a:t>
            </a:r>
          </a:p>
        </p:txBody>
      </p:sp>
      <p:sp>
        <p:nvSpPr>
          <p:cNvPr id="8" name="page">
            <a:extLst xmlns:a="http://schemas.openxmlformats.org/drawingml/2006/main">
              <a:ext uri="{FF2B5EF4-FFF2-40B4-BE49-F238E27FC236}">
                <a16:creationId xmlns:a16="http://schemas.microsoft.com/office/drawing/2014/main" id="{2BA596F2-4450-4C0F-BC40-E8F2E79AB33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36</a:t>
            </a:r>
          </a:p>
        </p:txBody>
      </p:sp>
    </p:spTree>
    <p:extLst>
      <p:ext uri="{BB962C8B-B14F-4D97-AF65-F5344CB8AC3E}">
        <p14:creationId xmlns:p14="http://schemas.microsoft.com/office/powerpoint/2010/main" val="127099620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0E34815-2621-48E1-AC6B-814191A3A127}"/>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0879574-8B72-4DE9-B817-E130CB43DD02}"/>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Measured motion and the model</a:t>
            </a:r>
          </a:p>
        </p:txBody>
      </p:sp>
      <p:sp>
        <p:nvSpPr>
          <p:cNvPr id="3" name="body0">
            <a:extLst xmlns:a="http://schemas.openxmlformats.org/drawingml/2006/main">
              <a:ext uri="{FF2B5EF4-FFF2-40B4-BE49-F238E27FC236}">
                <a16:creationId xmlns:a16="http://schemas.microsoft.com/office/drawing/2014/main" id="{95DE0F42-A3D3-4BBC-804A-F8FB12060F66}"/>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measured masses, lengths and starting conditions in the simulation.</a:t>
            </a:r>
          </a:p>
        </p:txBody>
      </p:sp>
      <p:sp>
        <p:nvSpPr>
          <p:cNvPr id="4" name="body1">
            <a:extLst xmlns:a="http://schemas.openxmlformats.org/drawingml/2006/main">
              <a:ext uri="{FF2B5EF4-FFF2-40B4-BE49-F238E27FC236}">
                <a16:creationId xmlns:a16="http://schemas.microsoft.com/office/drawing/2014/main" id="{FF52B362-14FF-49F5-B699-DBEBC28127B5}"/>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Overlay both measured angles with their predictions and compare early timing and shape.</a:t>
            </a:r>
          </a:p>
        </p:txBody>
      </p:sp>
      <p:sp>
        <p:nvSpPr>
          <p:cNvPr id="5" name="body2">
            <a:extLst xmlns:a="http://schemas.openxmlformats.org/drawingml/2006/main">
              <a:ext uri="{FF2B5EF4-FFF2-40B4-BE49-F238E27FC236}">
                <a16:creationId xmlns:a16="http://schemas.microsoft.com/office/drawing/2014/main" id="{DBCE2903-732E-4C2D-B4B8-70EFD7637F95}"/>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large-angle trial, explain how sensitive long-time agreement is to starting conditions.</a:t>
            </a:r>
          </a:p>
        </p:txBody>
      </p:sp>
      <p:sp>
        <p:nvSpPr>
          <p:cNvPr id="6" name="body3">
            <a:extLst xmlns:a="http://schemas.openxmlformats.org/drawingml/2006/main">
              <a:ext uri="{FF2B5EF4-FFF2-40B4-BE49-F238E27FC236}">
                <a16:creationId xmlns:a16="http://schemas.microsoft.com/office/drawing/2014/main" id="{325A2B2D-B713-42A0-B8A6-3DD38785E5CB}"/>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Discuss release push, calibration, friction, air drag and motion out of the camera plane.</a:t>
            </a:r>
          </a:p>
        </p:txBody>
      </p:sp>
      <p:sp>
        <p:nvSpPr>
          <p:cNvPr id="7" name="page">
            <a:extLst xmlns:a="http://schemas.openxmlformats.org/drawingml/2006/main">
              <a:ext uri="{FF2B5EF4-FFF2-40B4-BE49-F238E27FC236}">
                <a16:creationId xmlns:a16="http://schemas.microsoft.com/office/drawing/2014/main" id="{8A723536-C5BC-45B5-A5A7-AE1AB27D545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37</a:t>
            </a:r>
          </a:p>
        </p:txBody>
      </p:sp>
    </p:spTree>
    <p:extLst>
      <p:ext uri="{BB962C8B-B14F-4D97-AF65-F5344CB8AC3E}">
        <p14:creationId xmlns:p14="http://schemas.microsoft.com/office/powerpoint/2010/main" val="9556648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7495C94A-D1CD-4D4D-BBBF-FF2F29242F1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B53FCAB2-D53E-4FB0-892F-62F79FA15DF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Pre-Lab 3 and the laboratory</a:t>
            </a:r>
          </a:p>
        </p:txBody>
      </p:sp>
      <p:sp>
        <p:nvSpPr>
          <p:cNvPr id="3" name="body0">
            <a:extLst xmlns:a="http://schemas.openxmlformats.org/drawingml/2006/main">
              <a:ext uri="{FF2B5EF4-FFF2-40B4-BE49-F238E27FC236}">
                <a16:creationId xmlns:a16="http://schemas.microsoft.com/office/drawing/2014/main" id="{F7004EDA-A0E2-41E3-A930-80BA371FFF0B}"/>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Run the supplied notebook and answer six questions in one Word or PDF file. No student programming is required.</a:t>
            </a:r>
          </a:p>
        </p:txBody>
      </p:sp>
      <p:sp>
        <p:nvSpPr>
          <p:cNvPr id="4" name="body1">
            <a:extLst xmlns:a="http://schemas.openxmlformats.org/drawingml/2006/main">
              <a:ext uri="{FF2B5EF4-FFF2-40B4-BE49-F238E27FC236}">
                <a16:creationId xmlns:a16="http://schemas.microsoft.com/office/drawing/2014/main" id="{D60B1AE4-01F9-4390-B07E-EBCD50DF9AAA}"/>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Compare one small release with two large releases separated by 1° at the start.</a:t>
            </a:r>
          </a:p>
        </p:txBody>
      </p:sp>
      <p:sp>
        <p:nvSpPr>
          <p:cNvPr id="5" name="body2">
            <a:extLst xmlns:a="http://schemas.openxmlformats.org/drawingml/2006/main">
              <a:ext uri="{FF2B5EF4-FFF2-40B4-BE49-F238E27FC236}">
                <a16:creationId xmlns:a16="http://schemas.microsoft.com/office/drawing/2014/main" id="{7296CA3D-9DEC-44FE-BB77-9112496253BD}"/>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Read angle traces, their separation and the spectra. Explain the role of energy and coupling.</a:t>
            </a:r>
          </a:p>
        </p:txBody>
      </p:sp>
      <p:sp>
        <p:nvSpPr>
          <p:cNvPr id="6" name="body3">
            <a:extLst xmlns:a="http://schemas.openxmlformats.org/drawingml/2006/main">
              <a:ext uri="{FF2B5EF4-FFF2-40B4-BE49-F238E27FC236}">
                <a16:creationId xmlns:a16="http://schemas.microsoft.com/office/drawing/2014/main" id="{2589AE5B-F8F6-4D32-8A50-78D5EC38F9C6}"/>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the pre-lab to plan measurements. Replace illustrative masses and lengths with your measured apparatus values.</a:t>
            </a:r>
          </a:p>
        </p:txBody>
      </p:sp>
      <p:sp>
        <p:nvSpPr>
          <p:cNvPr id="7" name="page">
            <a:extLst xmlns:a="http://schemas.openxmlformats.org/drawingml/2006/main">
              <a:ext uri="{FF2B5EF4-FFF2-40B4-BE49-F238E27FC236}">
                <a16:creationId xmlns:a16="http://schemas.microsoft.com/office/drawing/2014/main" id="{AAC71699-7CC2-468F-97C7-61B8BB57D563}"/>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38</a:t>
            </a:r>
          </a:p>
        </p:txBody>
      </p:sp>
    </p:spTree>
    <p:extLst>
      <p:ext uri="{BB962C8B-B14F-4D97-AF65-F5344CB8AC3E}">
        <p14:creationId xmlns:p14="http://schemas.microsoft.com/office/powerpoint/2010/main" val="66873309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947ABC30-F2B1-4669-9BA2-2E13962EB47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01D24BE-0C5A-4882-91F9-B64BAEDFFA0B}"/>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practical sequence in the lab</a:t>
            </a:r>
          </a:p>
        </p:txBody>
      </p:sp>
      <p:sp>
        <p:nvSpPr>
          <p:cNvPr id="3" name="body0">
            <a:extLst xmlns:a="http://schemas.openxmlformats.org/drawingml/2006/main">
              <a:ext uri="{FF2B5EF4-FFF2-40B4-BE49-F238E27FC236}">
                <a16:creationId xmlns:a16="http://schemas.microsoft.com/office/drawing/2014/main" id="{508BE2E7-7E16-4E3C-9378-CF3C4F664A13}"/>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Measure and label the parts. Decide which mass belongs in each model parameter.</a:t>
            </a:r>
          </a:p>
        </p:txBody>
      </p:sp>
      <p:sp>
        <p:nvSpPr>
          <p:cNvPr id="4" name="body1">
            <a:extLst xmlns:a="http://schemas.openxmlformats.org/drawingml/2006/main">
              <a:ext uri="{FF2B5EF4-FFF2-40B4-BE49-F238E27FC236}">
                <a16:creationId xmlns:a16="http://schemas.microsoft.com/office/drawing/2014/main" id="{543DB576-7E0D-4E4C-8013-D4309BDA6888}"/>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Set the camera and calibration, then record the four releases.</a:t>
            </a:r>
          </a:p>
        </p:txBody>
      </p:sp>
      <p:sp>
        <p:nvSpPr>
          <p:cNvPr id="5" name="body2">
            <a:extLst xmlns:a="http://schemas.openxmlformats.org/drawingml/2006/main">
              <a:ext uri="{FF2B5EF4-FFF2-40B4-BE49-F238E27FC236}">
                <a16:creationId xmlns:a16="http://schemas.microsoft.com/office/drawing/2014/main" id="{A89DDBC9-E064-4EBB-8675-59B5A7033D54}"/>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Review pivot and bob markers throughout each recording. Analyze all frames and save ExpData.</a:t>
            </a:r>
          </a:p>
        </p:txBody>
      </p:sp>
      <p:sp>
        <p:nvSpPr>
          <p:cNvPr id="6" name="body3">
            <a:extLst xmlns:a="http://schemas.openxmlformats.org/drawingml/2006/main">
              <a:ext uri="{FF2B5EF4-FFF2-40B4-BE49-F238E27FC236}">
                <a16:creationId xmlns:a16="http://schemas.microsoft.com/office/drawing/2014/main" id="{690F33B2-9693-4496-B58C-04C2E1E88596}"/>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Generate two angle traces, two angular-velocity traces and spectra. Review one complete trial with the GTA.</a:t>
            </a:r>
          </a:p>
        </p:txBody>
      </p:sp>
      <p:sp>
        <p:nvSpPr>
          <p:cNvPr id="7" name="page">
            <a:extLst xmlns:a="http://schemas.openxmlformats.org/drawingml/2006/main">
              <a:ext uri="{FF2B5EF4-FFF2-40B4-BE49-F238E27FC236}">
                <a16:creationId xmlns:a16="http://schemas.microsoft.com/office/drawing/2014/main" id="{9B91B031-3142-4F4F-969C-3EB96F5C4A77}"/>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39</a:t>
            </a:r>
          </a:p>
        </p:txBody>
      </p:sp>
    </p:spTree>
    <p:extLst>
      <p:ext uri="{BB962C8B-B14F-4D97-AF65-F5344CB8AC3E}">
        <p14:creationId xmlns:p14="http://schemas.microsoft.com/office/powerpoint/2010/main" val="19993676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E6778A5A-836D-44EA-804D-9B96CBD538ED}"/>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AE9EFD9-AC30-4505-A55B-FA12872B837B}"/>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Before leaving the laboratory</a:t>
            </a:r>
          </a:p>
        </p:txBody>
      </p:sp>
      <p:sp>
        <p:nvSpPr>
          <p:cNvPr id="3" name="body0">
            <a:extLst xmlns:a="http://schemas.openxmlformats.org/drawingml/2006/main">
              <a:ext uri="{FF2B5EF4-FFF2-40B4-BE49-F238E27FC236}">
                <a16:creationId xmlns:a16="http://schemas.microsoft.com/office/drawing/2014/main" id="{DA4E6221-0420-4FA3-B5BC-2BFDA00805E7}"/>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Save four trial labels and their measured initial conditions.</a:t>
            </a:r>
          </a:p>
        </p:txBody>
      </p:sp>
      <p:sp>
        <p:nvSpPr>
          <p:cNvPr id="4" name="body1">
            <a:extLst xmlns:a="http://schemas.openxmlformats.org/drawingml/2006/main">
              <a:ext uri="{FF2B5EF4-FFF2-40B4-BE49-F238E27FC236}">
                <a16:creationId xmlns:a16="http://schemas.microsoft.com/office/drawing/2014/main" id="{9572D92D-766B-4885-9BA3-11E7DFEE4885}"/>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Record masses and lengths with units, capture frame rate and calibration distance.</a:t>
            </a:r>
          </a:p>
        </p:txBody>
      </p:sp>
      <p:sp>
        <p:nvSpPr>
          <p:cNvPr id="5" name="body2">
            <a:extLst xmlns:a="http://schemas.openxmlformats.org/drawingml/2006/main">
              <a:ext uri="{FF2B5EF4-FFF2-40B4-BE49-F238E27FC236}">
                <a16:creationId xmlns:a16="http://schemas.microsoft.com/office/drawing/2014/main" id="{4BE703CC-990B-46F2-AF31-4DE5B1D9131B}"/>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Keep raw MP4 and ExpData MAT files for each trial.</a:t>
            </a:r>
          </a:p>
        </p:txBody>
      </p:sp>
      <p:sp>
        <p:nvSpPr>
          <p:cNvPr id="6" name="body3">
            <a:extLst xmlns:a="http://schemas.openxmlformats.org/drawingml/2006/main">
              <a:ext uri="{FF2B5EF4-FFF2-40B4-BE49-F238E27FC236}">
                <a16:creationId xmlns:a16="http://schemas.microsoft.com/office/drawing/2014/main" id="{564898BA-D43D-4649-9904-7250DCCC5FE5}"/>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Confirm that the complete analysis opens on your own computer and that the plotted trajectories are physically plausible.</a:t>
            </a:r>
          </a:p>
        </p:txBody>
      </p:sp>
      <p:sp>
        <p:nvSpPr>
          <p:cNvPr id="7" name="page">
            <a:extLst xmlns:a="http://schemas.openxmlformats.org/drawingml/2006/main">
              <a:ext uri="{FF2B5EF4-FFF2-40B4-BE49-F238E27FC236}">
                <a16:creationId xmlns:a16="http://schemas.microsoft.com/office/drawing/2014/main" id="{E7E596D8-90FA-4AF1-AC93-B883C2DAD71E}"/>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40</a:t>
            </a:r>
          </a:p>
        </p:txBody>
      </p:sp>
    </p:spTree>
    <p:extLst>
      <p:ext uri="{BB962C8B-B14F-4D97-AF65-F5344CB8AC3E}">
        <p14:creationId xmlns:p14="http://schemas.microsoft.com/office/powerpoint/2010/main" val="169895281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B0301A4-1378-4B0A-A34E-800A7070A9E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F21D327-0B14-4A65-818F-D09CE7396B3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Questions for discussion</a:t>
            </a:r>
          </a:p>
        </p:txBody>
      </p:sp>
      <p:sp>
        <p:nvSpPr>
          <p:cNvPr id="3" name="body0">
            <a:extLst xmlns:a="http://schemas.openxmlformats.org/drawingml/2006/main">
              <a:ext uri="{FF2B5EF4-FFF2-40B4-BE49-F238E27FC236}">
                <a16:creationId xmlns:a16="http://schemas.microsoft.com/office/drawing/2014/main" id="{F0711447-3A6B-47F8-A9E2-32126445D8C3}"/>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If both links start at the same angle, must they remain aligned? Explain using the coupling.</a:t>
            </a:r>
          </a:p>
        </p:txBody>
      </p:sp>
      <p:sp>
        <p:nvSpPr>
          <p:cNvPr id="4" name="body1">
            <a:extLst xmlns:a="http://schemas.openxmlformats.org/drawingml/2006/main">
              <a:ext uri="{FF2B5EF4-FFF2-40B4-BE49-F238E27FC236}">
                <a16:creationId xmlns:a16="http://schemas.microsoft.com/office/drawing/2014/main" id="{F9882CDD-D6E5-45E4-AD59-31421BE5B2F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Why does the lower assembly contribute to I₁₁ as well as I₂₂?</a:t>
            </a:r>
          </a:p>
        </p:txBody>
      </p:sp>
      <p:sp>
        <p:nvSpPr>
          <p:cNvPr id="5" name="body2">
            <a:extLst xmlns:a="http://schemas.openxmlformats.org/drawingml/2006/main">
              <a:ext uri="{FF2B5EF4-FFF2-40B4-BE49-F238E27FC236}">
                <a16:creationId xmlns:a16="http://schemas.microsoft.com/office/drawing/2014/main" id="{D0950C8F-9C88-435F-B823-B70B5ABBBB83}"/>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How would added lower-bob washers change kinetic and potential energy coefficients?</a:t>
            </a:r>
          </a:p>
        </p:txBody>
      </p:sp>
      <p:sp>
        <p:nvSpPr>
          <p:cNvPr id="6" name="body3">
            <a:extLst xmlns:a="http://schemas.openxmlformats.org/drawingml/2006/main">
              <a:ext uri="{FF2B5EF4-FFF2-40B4-BE49-F238E27FC236}">
                <a16:creationId xmlns:a16="http://schemas.microsoft.com/office/drawing/2014/main" id="{35616D81-3F7A-4D45-BEE4-E5E9BBE6007C}"/>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What observation distinguishes bad tracking from real complex motion?</a:t>
            </a:r>
          </a:p>
        </p:txBody>
      </p:sp>
      <p:sp>
        <p:nvSpPr>
          <p:cNvPr id="7" name="page">
            <a:extLst xmlns:a="http://schemas.openxmlformats.org/drawingml/2006/main">
              <a:ext uri="{FF2B5EF4-FFF2-40B4-BE49-F238E27FC236}">
                <a16:creationId xmlns:a16="http://schemas.microsoft.com/office/drawing/2014/main" id="{F601EA3A-541D-4C51-B020-0B773CEC0A7B}"/>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41</a:t>
            </a:r>
          </a:p>
        </p:txBody>
      </p:sp>
    </p:spTree>
    <p:extLst>
      <p:ext uri="{BB962C8B-B14F-4D97-AF65-F5344CB8AC3E}">
        <p14:creationId xmlns:p14="http://schemas.microsoft.com/office/powerpoint/2010/main" val="182238873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F45E1AAA-E230-45B9-8662-AFC243615F8D}"/>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9EE36C1-E591-412C-A6EE-9000DB4493BA}"/>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Reference: remaining symbols and units</a:t>
            </a:r>
          </a:p>
        </p:txBody>
      </p:sp>
      <p:sp>
        <p:nvSpPr>
          <p:cNvPr id="3" name="body0">
            <a:extLst xmlns:a="http://schemas.openxmlformats.org/drawingml/2006/main">
              <a:ext uri="{FF2B5EF4-FFF2-40B4-BE49-F238E27FC236}">
                <a16:creationId xmlns:a16="http://schemas.microsoft.com/office/drawing/2014/main" id="{FC9E77D4-97E1-4737-806F-58239FCE974D}"/>
              </a:ext>
            </a:extLst>
          </p:cNvPr>
          <p:cNvSpPr>
            <a:spLocks xmlns:a="http://schemas.openxmlformats.org/drawingml/2006/main" noGrp="1"/>
          </p:cNvSpPr>
          <p:nvPr/>
        </p:nvSpPr>
        <p:spPr>
          <a:xfrm xmlns:a="http://schemas.openxmlformats.org/drawingml/2006/main">
            <a:off x="666750" y="166687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h₁, h₂ [m]: rise of each bob above its lowest position. </a:t>
            </a:r>
            <a:r>
              <a:rPr sz="1950" b="0">
                <a:solidFill>
                  <a:srgbClr val="202D3C"/>
                </a:solidFill>
                <a:latin typeface="Aptos"/>
                <a:ea typeface="Aptos"/>
                <a:cs typeface="Aptos"/>
              </a:rPr>
              <a:t>h</a:t>
            </a:r>
            <a:r>
              <a:rPr sz="1462" b="0" baseline="-25000">
                <a:solidFill>
                  <a:srgbClr val="202D3C"/>
                </a:solidFill>
                <a:latin typeface="Aptos"/>
                <a:ea typeface="Aptos"/>
                <a:cs typeface="Aptos"/>
              </a:rPr>
              <a:t>G1</a:t>
            </a:r>
            <a:r>
              <a:rPr sz="1950" b="0">
                <a:solidFill>
                  <a:srgbClr val="202D3C"/>
                </a:solidFill>
                <a:latin typeface="Aptos"/>
                <a:ea typeface="Aptos"/>
                <a:cs typeface="Aptos"/>
              </a:rPr>
              <a:t>, </a:t>
            </a:r>
            <a:r>
              <a:rPr sz="1950" b="0">
                <a:solidFill>
                  <a:srgbClr val="202D3C"/>
                </a:solidFill>
                <a:latin typeface="Aptos"/>
                <a:ea typeface="Aptos"/>
                <a:cs typeface="Aptos"/>
              </a:rPr>
              <a:t>h</a:t>
            </a:r>
            <a:r>
              <a:rPr sz="1462" b="0" baseline="-25000">
                <a:solidFill>
                  <a:srgbClr val="202D3C"/>
                </a:solidFill>
                <a:latin typeface="Aptos"/>
                <a:ea typeface="Aptos"/>
                <a:cs typeface="Aptos"/>
              </a:rPr>
              <a:t>G2</a:t>
            </a:r>
            <a:r>
              <a:rPr sz="1950" b="0">
                <a:solidFill>
                  <a:srgbClr val="202D3C"/>
                </a:solidFill>
                <a:latin typeface="Aptos"/>
                <a:ea typeface="Aptos"/>
                <a:cs typeface="Aptos"/>
              </a:rPr>
              <a:t> [m]: rise of each bar center. g = 9.81 m/s² is gravitational acceleration.</a:t>
            </a:r>
          </a:p>
        </p:txBody>
      </p:sp>
      <p:sp>
        <p:nvSpPr>
          <p:cNvPr id="4" name="body1">
            <a:extLst xmlns:a="http://schemas.openxmlformats.org/drawingml/2006/main">
              <a:ext uri="{FF2B5EF4-FFF2-40B4-BE49-F238E27FC236}">
                <a16:creationId xmlns:a16="http://schemas.microsoft.com/office/drawing/2014/main" id="{06F5366E-8777-4AA0-A0E8-C867A0491E93}"/>
              </a:ext>
            </a:extLst>
          </p:cNvPr>
          <p:cNvSpPr>
            <a:spLocks xmlns:a="http://schemas.openxmlformats.org/drawingml/2006/main" noGrp="1"/>
          </p:cNvSpPr>
          <p:nvPr/>
        </p:nvSpPr>
        <p:spPr>
          <a:xfrm xmlns:a="http://schemas.openxmlformats.org/drawingml/2006/main">
            <a:off x="666750" y="2590800"/>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Q₁, Q₂ [N·m]: generalized torques from effects excluded from V, such as friction. Qᵢωᵢ has units of power [W].</a:t>
            </a:r>
          </a:p>
        </p:txBody>
      </p:sp>
      <p:sp>
        <p:nvSpPr>
          <p:cNvPr id="5" name="body2">
            <a:extLst xmlns:a="http://schemas.openxmlformats.org/drawingml/2006/main">
              <a:ext uri="{FF2B5EF4-FFF2-40B4-BE49-F238E27FC236}">
                <a16:creationId xmlns:a16="http://schemas.microsoft.com/office/drawing/2014/main" id="{199C2DF0-7D9F-4EE3-9B7E-8895EBD94CC0}"/>
              </a:ext>
            </a:extLst>
          </p:cNvPr>
          <p:cNvSpPr>
            <a:spLocks xmlns:a="http://schemas.openxmlformats.org/drawingml/2006/main" noGrp="1"/>
          </p:cNvSpPr>
          <p:nvPr/>
        </p:nvSpPr>
        <p:spPr>
          <a:xfrm xmlns:a="http://schemas.openxmlformats.org/drawingml/2006/main">
            <a:off x="666750" y="351472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 = (θ₁, θ₂)ᵀ is the angle vector. a contains the two modal angle amplitudes; φ is the starting phase [rad].</a:t>
            </a:r>
          </a:p>
        </p:txBody>
      </p:sp>
      <p:sp>
        <p:nvSpPr>
          <p:cNvPr id="6" name="body3">
            <a:extLst xmlns:a="http://schemas.openxmlformats.org/drawingml/2006/main">
              <a:ext uri="{FF2B5EF4-FFF2-40B4-BE49-F238E27FC236}">
                <a16:creationId xmlns:a16="http://schemas.microsoft.com/office/drawing/2014/main" id="{3A749D61-5D6B-42AB-ABEF-4D06B20F65C8}"/>
              </a:ext>
            </a:extLst>
          </p:cNvPr>
          <p:cNvSpPr>
            <a:spLocks xmlns:a="http://schemas.openxmlformats.org/drawingml/2006/main" noGrp="1"/>
          </p:cNvSpPr>
          <p:nvPr/>
        </p:nvSpPr>
        <p:spPr>
          <a:xfrm xmlns:a="http://schemas.openxmlformats.org/drawingml/2006/main">
            <a:off x="666750" y="4438650"/>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fₛ [Hz]: sampling rate of the analyzed data. Nₛ: number of samples. Tᵣ = Nₛ/fₛ [s]: record duration for FFT bin spacing.</a:t>
            </a:r>
          </a:p>
        </p:txBody>
      </p:sp>
      <p:sp>
        <p:nvSpPr>
          <p:cNvPr id="7" name="body4">
            <a:extLst xmlns:a="http://schemas.openxmlformats.org/drawingml/2006/main">
              <a:ext uri="{FF2B5EF4-FFF2-40B4-BE49-F238E27FC236}">
                <a16:creationId xmlns:a16="http://schemas.microsoft.com/office/drawing/2014/main" id="{0D522315-3B15-4EC1-9884-8876AA172450}"/>
              </a:ext>
            </a:extLst>
          </p:cNvPr>
          <p:cNvSpPr>
            <a:spLocks xmlns:a="http://schemas.openxmlformats.org/drawingml/2006/main" noGrp="1"/>
          </p:cNvSpPr>
          <p:nvPr/>
        </p:nvSpPr>
        <p:spPr>
          <a:xfrm xmlns:a="http://schemas.openxmlformats.org/drawingml/2006/main">
            <a:off x="666750" y="536257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Δf [Hz]: spacing between FFT frequency bins. A longer record reduces Δf; zero-padding alone does not improve physical resolution.</a:t>
            </a:r>
          </a:p>
        </p:txBody>
      </p:sp>
      <p:sp>
        <p:nvSpPr>
          <p:cNvPr id="8" name="page">
            <a:extLst xmlns:a="http://schemas.openxmlformats.org/drawingml/2006/main">
              <a:ext uri="{FF2B5EF4-FFF2-40B4-BE49-F238E27FC236}">
                <a16:creationId xmlns:a16="http://schemas.microsoft.com/office/drawing/2014/main" id="{DEEBA7AF-BDE5-4D45-B2B6-538CB326CDDB}"/>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42</a:t>
            </a:r>
          </a:p>
        </p:txBody>
      </p:sp>
    </p:spTree>
    <p:extLst>
      <p:ext uri="{BB962C8B-B14F-4D97-AF65-F5344CB8AC3E}">
        <p14:creationId xmlns:p14="http://schemas.microsoft.com/office/powerpoint/2010/main" val="14144992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2026-10-04T22:36:55.3780000Z</dcterms:created>
  <dcterms:modified xsi:type="dcterms:W3CDTF">2026-10-04T22:36:55.3780000Z</dcterms:modified>
</coreProperties>
</file>