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fff0c64e4fa486d" Type="http://schemas.openxmlformats.org/officeDocument/2006/relationships/extended-properties" Target="docProps/app.xml"/><Relationship Id="R772e7dc5bbbb43b1" Type="http://schemas.openxmlformats.org/package/2006/relationships/metadata/core-properties" Target="docProps/core.xml"/><Relationship Id="R8bb6e4b471d04e39"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9b7949e459b648b6"/>
  </p:sldMasterIdLst>
  <p:notesMasterIdLst>
    <p:notesMasterId xmlns:r="http://schemas.openxmlformats.org/officeDocument/2006/relationships" r:id="R225ef45fb88643c7"/>
  </p:notesMasterIdLst>
  <p:sldIdLst>
    <p:sldId xmlns:r="http://schemas.openxmlformats.org/officeDocument/2006/relationships" id="256" r:id="R1988fbb60507401b"/>
    <p:sldId xmlns:r="http://schemas.openxmlformats.org/officeDocument/2006/relationships" id="257" r:id="Rf50ba6541c0447c2"/>
    <p:sldId xmlns:ns0="http://schemas.openxmlformats.org/officeDocument/2006/relationships" id="299" ns0:id="rId49"/>
    <p:sldId xmlns:r="http://schemas.openxmlformats.org/officeDocument/2006/relationships" id="258" r:id="Rcff35040d3fd4d84"/>
    <p:sldId xmlns:r="http://schemas.openxmlformats.org/officeDocument/2006/relationships" id="259" r:id="R742dae78e6224d1f"/>
    <p:sldId xmlns:r="http://schemas.openxmlformats.org/officeDocument/2006/relationships" id="261" r:id="Rf5b560d3f6834069"/>
    <p:sldId xmlns:r="http://schemas.openxmlformats.org/officeDocument/2006/relationships" id="260" r:id="Rd5e66271cc874ca8"/>
    <p:sldId xmlns:r="http://schemas.openxmlformats.org/officeDocument/2006/relationships" id="262" r:id="R07a32e2045c74cd9"/>
    <p:sldId xmlns:r="http://schemas.openxmlformats.org/officeDocument/2006/relationships" id="263" r:id="Rfc7930fae0f54cdb"/>
    <p:sldId xmlns:r="http://schemas.openxmlformats.org/officeDocument/2006/relationships" id="264" r:id="R017dc157592c4b4e"/>
    <p:sldId xmlns:r="http://schemas.openxmlformats.org/officeDocument/2006/relationships" id="265" r:id="Rffe09ae9db084bab"/>
    <p:sldId xmlns:r="http://schemas.openxmlformats.org/officeDocument/2006/relationships" id="266" r:id="R5121817388444214"/>
    <p:sldId xmlns:r="http://schemas.openxmlformats.org/officeDocument/2006/relationships" id="267" r:id="R54b0d62200ef458f"/>
    <p:sldId xmlns:r="http://schemas.openxmlformats.org/officeDocument/2006/relationships" id="268" r:id="R92aa4ae251504fa9"/>
    <p:sldId xmlns:r="http://schemas.openxmlformats.org/officeDocument/2006/relationships" id="269" r:id="R9241f6dadaae4bbf"/>
    <p:sldId xmlns:r="http://schemas.openxmlformats.org/officeDocument/2006/relationships" id="270" r:id="R1c96f06e31b7446f"/>
    <p:sldId xmlns:r="http://schemas.openxmlformats.org/officeDocument/2006/relationships" id="271" r:id="R4574901c9a424ab1"/>
    <p:sldId xmlns:ns0="http://schemas.openxmlformats.org/officeDocument/2006/relationships" id="300" ns0:id="rId50"/>
    <p:sldId xmlns:r="http://schemas.openxmlformats.org/officeDocument/2006/relationships" id="272" r:id="Rd00446442ea44031"/>
    <p:sldId xmlns:r="http://schemas.openxmlformats.org/officeDocument/2006/relationships" id="273" r:id="R5a6708c6388a4626"/>
    <p:sldId xmlns:r="http://schemas.openxmlformats.org/officeDocument/2006/relationships" id="274" r:id="R847762d6bd5e4710"/>
    <p:sldId xmlns:ns0="http://schemas.openxmlformats.org/officeDocument/2006/relationships" id="301" ns0:id="rId51"/>
    <p:sldId xmlns:r="http://schemas.openxmlformats.org/officeDocument/2006/relationships" id="275" r:id="Rba4d053c00de4b9a"/>
    <p:sldId xmlns:r="http://schemas.openxmlformats.org/officeDocument/2006/relationships" id="276" r:id="R3306116af6304e52"/>
    <p:sldId xmlns:r="http://schemas.openxmlformats.org/officeDocument/2006/relationships" id="277" r:id="R9024a665ea404475"/>
    <p:sldId xmlns:r="http://schemas.openxmlformats.org/officeDocument/2006/relationships" id="278" r:id="Rf8d27e91e3af4bdb"/>
    <p:sldId xmlns:ns0="http://schemas.openxmlformats.org/officeDocument/2006/relationships" id="302" ns0:id="rId52"/>
    <p:sldId xmlns:r="http://schemas.openxmlformats.org/officeDocument/2006/relationships" id="279" r:id="R0aad309aeb2f417a"/>
    <p:sldId xmlns:r="http://schemas.openxmlformats.org/officeDocument/2006/relationships" id="280" r:id="R3c0e0e1c3e164f43"/>
    <p:sldId xmlns:r="http://schemas.openxmlformats.org/officeDocument/2006/relationships" id="281" r:id="R446ec538cf9547ee"/>
    <p:sldId xmlns:r="http://schemas.openxmlformats.org/officeDocument/2006/relationships" id="282" r:id="R89bfbaa83fa44ffe"/>
    <p:sldId xmlns:r="http://schemas.openxmlformats.org/officeDocument/2006/relationships" id="283" r:id="R2614ed1b20aa4f2e"/>
    <p:sldId xmlns:r="http://schemas.openxmlformats.org/officeDocument/2006/relationships" id="284" r:id="Rc6fc4ff794494879"/>
    <p:sldId xmlns:ns0="http://schemas.openxmlformats.org/officeDocument/2006/relationships" id="303" ns0:id="rId53"/>
    <p:sldId xmlns:r="http://schemas.openxmlformats.org/officeDocument/2006/relationships" id="285" r:id="Rd5efbf21c928478d"/>
    <p:sldId xmlns:ns0="http://schemas.openxmlformats.org/officeDocument/2006/relationships" id="304" ns0:id="rId54"/>
    <p:sldId xmlns:r="http://schemas.openxmlformats.org/officeDocument/2006/relationships" id="286" r:id="R3b53c595cea24ba7"/>
    <p:sldId xmlns:r="http://schemas.openxmlformats.org/officeDocument/2006/relationships" id="287" r:id="Rb2f30029a21c4528"/>
    <p:sldId xmlns:r="http://schemas.openxmlformats.org/officeDocument/2006/relationships" id="288" r:id="R2bf222e737cc4096"/>
    <p:sldId xmlns:ns0="http://schemas.openxmlformats.org/officeDocument/2006/relationships" id="296" ns0:id="rId46"/>
    <p:sldId xmlns:ns0="http://schemas.openxmlformats.org/officeDocument/2006/relationships" id="297" ns0:id="rId47"/>
    <p:sldId xmlns:r="http://schemas.openxmlformats.org/officeDocument/2006/relationships" id="289" r:id="R8f78b7a93d494182"/>
    <p:sldId xmlns:r="http://schemas.openxmlformats.org/officeDocument/2006/relationships" id="290" r:id="R23eab27812cc4276"/>
    <p:sldId xmlns:ns0="http://schemas.openxmlformats.org/officeDocument/2006/relationships" id="298" ns0:id="rId48"/>
    <p:sldId xmlns:r="http://schemas.openxmlformats.org/officeDocument/2006/relationships" id="291" r:id="Re77c59c930144c2b"/>
    <p:sldId xmlns:r="http://schemas.openxmlformats.org/officeDocument/2006/relationships" id="292" r:id="R9e92e6a858d04fc5"/>
    <p:sldId xmlns:r="http://schemas.openxmlformats.org/officeDocument/2006/relationships" id="293" r:id="R74fd42e8dfbd4442"/>
    <p:sldId xmlns:r="http://schemas.openxmlformats.org/officeDocument/2006/relationships" id="294" r:id="R7805d5d61d744c36"/>
    <p:sldId xmlns:r="http://schemas.openxmlformats.org/officeDocument/2006/relationships" id="295" r:id="R0ee2b5f1775e4e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7dc157592c4b4e" Type="http://schemas.openxmlformats.org/officeDocument/2006/relationships/slide" Target="slides/slide10.xml"/><Relationship Id="R031c3dcb1402466c" Type="http://schemas.openxmlformats.org/officeDocument/2006/relationships/tableStyles" Target="tableStyles.xml"/><Relationship Id="R07a32e2045c74cd9" Type="http://schemas.openxmlformats.org/officeDocument/2006/relationships/slide" Target="slides/slide8.xml"/><Relationship Id="R0aad309aeb2f417a" Type="http://schemas.openxmlformats.org/officeDocument/2006/relationships/slide" Target="slides/slide26.xml"/><Relationship Id="R0ee2b5f1775e4efd" Type="http://schemas.openxmlformats.org/officeDocument/2006/relationships/slide" Target="slides/slide49.xml"/><Relationship Id="R1988fbb60507401b" Type="http://schemas.openxmlformats.org/officeDocument/2006/relationships/slide" Target="slides/slide1.xml"/><Relationship Id="R1c96f06e31b7446f" Type="http://schemas.openxmlformats.org/officeDocument/2006/relationships/slide" Target="slides/slide16.xml"/><Relationship Id="R225ef45fb88643c7" Type="http://schemas.openxmlformats.org/officeDocument/2006/relationships/notesMaster" Target="notesMasters/notesMaster1.xml"/><Relationship Id="R23eab27812cc4276" Type="http://schemas.openxmlformats.org/officeDocument/2006/relationships/slide" Target="slides/slide42.xml"/><Relationship Id="R2614ed1b20aa4f2e" Type="http://schemas.openxmlformats.org/officeDocument/2006/relationships/slide" Target="slides/slide31.xml"/><Relationship Id="R2bf222e737cc4096" Type="http://schemas.openxmlformats.org/officeDocument/2006/relationships/slide" Target="slides/slide38.xml"/><Relationship Id="R3306116af6304e52" Type="http://schemas.openxmlformats.org/officeDocument/2006/relationships/slide" Target="slides/slide24.xml"/><Relationship Id="R3b53c595cea24ba7" Type="http://schemas.openxmlformats.org/officeDocument/2006/relationships/slide" Target="slides/slide36.xml"/><Relationship Id="R3c0e0e1c3e164f43" Type="http://schemas.openxmlformats.org/officeDocument/2006/relationships/slide" Target="slides/slide27.xml"/><Relationship Id="R446ec538cf9547ee" Type="http://schemas.openxmlformats.org/officeDocument/2006/relationships/slide" Target="slides/slide28.xml"/><Relationship Id="R4574901c9a424ab1" Type="http://schemas.openxmlformats.org/officeDocument/2006/relationships/slide" Target="slides/slide17.xml"/><Relationship Id="R5121817388444214" Type="http://schemas.openxmlformats.org/officeDocument/2006/relationships/slide" Target="slides/slide12.xml"/><Relationship Id="R54b0d62200ef458f" Type="http://schemas.openxmlformats.org/officeDocument/2006/relationships/slide" Target="slides/slide13.xml"/><Relationship Id="R5a6708c6388a4626" Type="http://schemas.openxmlformats.org/officeDocument/2006/relationships/slide" Target="slides/slide20.xml"/><Relationship Id="R742dae78e6224d1f" Type="http://schemas.openxmlformats.org/officeDocument/2006/relationships/slide" Target="slides/slide5.xml"/><Relationship Id="R74fd42e8dfbd4442" Type="http://schemas.openxmlformats.org/officeDocument/2006/relationships/slide" Target="slides/slide46.xml"/><Relationship Id="R774e56118d3b49eb" Type="http://schemas.openxmlformats.org/officeDocument/2006/relationships/presProps" Target="presProps.xml"/><Relationship Id="R7805d5d61d744c36" Type="http://schemas.openxmlformats.org/officeDocument/2006/relationships/slide" Target="slides/slide47.xml"/><Relationship Id="R847762d6bd5e4710" Type="http://schemas.openxmlformats.org/officeDocument/2006/relationships/slide" Target="slides/slide21.xml"/><Relationship Id="R89bfbaa83fa44ffe" Type="http://schemas.openxmlformats.org/officeDocument/2006/relationships/slide" Target="slides/slide30.xml"/><Relationship Id="R8f78b7a93d494182" Type="http://schemas.openxmlformats.org/officeDocument/2006/relationships/slide" Target="slides/slide41.xml"/><Relationship Id="R9024a665ea404475" Type="http://schemas.openxmlformats.org/officeDocument/2006/relationships/slide" Target="slides/slide25.xml"/><Relationship Id="R9241f6dadaae4bbf" Type="http://schemas.openxmlformats.org/officeDocument/2006/relationships/slide" Target="slides/slide15.xml"/><Relationship Id="R92aa4ae251504fa9" Type="http://schemas.openxmlformats.org/officeDocument/2006/relationships/slide" Target="slides/slide14.xml"/><Relationship Id="R9b7949e459b648b6" Type="http://schemas.openxmlformats.org/officeDocument/2006/relationships/slideMaster" Target="slideMasters/slideMaster1.xml"/><Relationship Id="R9e92e6a858d04fc5" Type="http://schemas.openxmlformats.org/officeDocument/2006/relationships/slide" Target="slides/slide45.xml"/><Relationship Id="Rb2f30029a21c4528" Type="http://schemas.openxmlformats.org/officeDocument/2006/relationships/slide" Target="slides/slide37.xml"/><Relationship Id="Rba4d053c00de4b9a" Type="http://schemas.openxmlformats.org/officeDocument/2006/relationships/slide" Target="slides/slide23.xml"/><Relationship Id="Rc6fc4ff794494879" Type="http://schemas.openxmlformats.org/officeDocument/2006/relationships/slide" Target="slides/slide32.xml"/><Relationship Id="Rcff35040d3fd4d84" Type="http://schemas.openxmlformats.org/officeDocument/2006/relationships/slide" Target="slides/slide4.xml"/><Relationship Id="Rd00446442ea44031" Type="http://schemas.openxmlformats.org/officeDocument/2006/relationships/slide" Target="slides/slide19.xml"/><Relationship Id="Rd5e66271cc874ca8" Type="http://schemas.openxmlformats.org/officeDocument/2006/relationships/slide" Target="slides/slide7.xml"/><Relationship Id="Rd5efbf21c928478d" Type="http://schemas.openxmlformats.org/officeDocument/2006/relationships/slide" Target="slides/slide34.xml"/><Relationship Id="Rdb95afcd793749cb" Type="http://schemas.openxmlformats.org/officeDocument/2006/relationships/theme" Target="theme/theme1.xml"/><Relationship Id="Re77c59c930144c2b" Type="http://schemas.openxmlformats.org/officeDocument/2006/relationships/slide" Target="slides/slide44.xml"/><Relationship Id="Rf50ba6541c0447c2" Type="http://schemas.openxmlformats.org/officeDocument/2006/relationships/slide" Target="slides/slide2.xml"/><Relationship Id="Rf5b560d3f6834069" Type="http://schemas.openxmlformats.org/officeDocument/2006/relationships/slide" Target="slides/slide6.xml"/><Relationship Id="Rf8d27e91e3af4bdb" Type="http://schemas.openxmlformats.org/officeDocument/2006/relationships/slide" Target="slides/slide48.xml"/><Relationship Id="Rfc7930fae0f54cdb" Type="http://schemas.openxmlformats.org/officeDocument/2006/relationships/slide" Target="slides/slide9.xml"/><Relationship Id="Rffe09ae9db084bab" Type="http://schemas.openxmlformats.org/officeDocument/2006/relationships/slide" Target="slides/slide11.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3.xml"/><Relationship Id="rId49" Type="http://schemas.openxmlformats.org/officeDocument/2006/relationships/slide" Target="slides/slide3.xml"/><Relationship Id="rId50" Type="http://schemas.openxmlformats.org/officeDocument/2006/relationships/slide" Target="slides/slide18.xml"/><Relationship Id="rId51" Type="http://schemas.openxmlformats.org/officeDocument/2006/relationships/slide" Target="slides/slide22.xml"/><Relationship Id="rId52" Type="http://schemas.openxmlformats.org/officeDocument/2006/relationships/slide" Target="slides/slide29.xml"/><Relationship Id="rId53" Type="http://schemas.openxmlformats.org/officeDocument/2006/relationships/slide" Target="slides/slide33.xml"/><Relationship Id="rId54"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3cbc06b2dd5d42b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c79d6dfa4f74365" Type="http://schemas.openxmlformats.org/officeDocument/2006/relationships/notesMaster" Target="../notesMasters/notesMaster1.xml"/><Relationship Id="Rfda00602d80e454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748ff799716345aa" Type="http://schemas.openxmlformats.org/officeDocument/2006/relationships/slide" Target="../slides/slide2.xml"/><Relationship Id="Rbee6fda599f44a8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6cf8b36fba8148b9" Type="http://schemas.openxmlformats.org/officeDocument/2006/relationships/notesMaster" Target="../notesMasters/notesMaster1.xml"/><Relationship Id="Rb996038aff1e459f"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a66ac0573a3a48f5" Type="http://schemas.openxmlformats.org/officeDocument/2006/relationships/slide" Target="../slides/slide5.xml"/><Relationship Id="Rdb4842fa284343b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4bab7b378c394377" Type="http://schemas.openxmlformats.org/officeDocument/2006/relationships/notesMaster" Target="../notesMasters/notesMaster1.xml"/><Relationship Id="R99b486849a4144a4"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6930e95891c94433" Type="http://schemas.openxmlformats.org/officeDocument/2006/relationships/slide" Target="../slides/slide6.xml"/><Relationship Id="R749aa084a3ea4dbd"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12a530f55e64022" Type="http://schemas.openxmlformats.org/officeDocument/2006/relationships/slide" Target="../slides/slide8.xml"/><Relationship Id="Rdce9961ed012488c"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db0b359e5d324132" Type="http://schemas.openxmlformats.org/officeDocument/2006/relationships/notesMaster" Target="../notesMasters/notesMaster1.xml"/><Relationship Id="Rdd68469fb3824e78"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3e803ca53a2545a0" Type="http://schemas.openxmlformats.org/officeDocument/2006/relationships/slide" Target="../slides/slide10.xml"/><Relationship Id="Rbb8b04c6c43a4f83"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00091d18ebf94346" Type="http://schemas.openxmlformats.org/officeDocument/2006/relationships/notesMaster" Target="../notesMasters/notesMaster1.xml"/><Relationship Id="Rff44b2a8d6484668"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1cef163611244c76" Type="http://schemas.openxmlformats.org/officeDocument/2006/relationships/slide" Target="../slides/slide12.xml"/><Relationship Id="R341c2e0c13cb4cda"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763af5bcd224498c" Type="http://schemas.openxmlformats.org/officeDocument/2006/relationships/notesMaster" Target="../notesMasters/notesMaster1.xml"/><Relationship Id="Rb809aa41334e4bd8"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6d3dfb899b8b4e6d" Type="http://schemas.openxmlformats.org/officeDocument/2006/relationships/notesMaster" Target="../notesMasters/notesMaster1.xml"/><Relationship Id="Ra312da96ee8b4455"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cb1cc774af3d474a" Type="http://schemas.openxmlformats.org/officeDocument/2006/relationships/notesMaster" Target="../notesMasters/notesMaster1.xml"/><Relationship Id="Rd3cf2cf5a500408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36de47e230cf44e0" Type="http://schemas.openxmlformats.org/officeDocument/2006/relationships/notesMaster" Target="../notesMasters/notesMaster1.xml"/><Relationship Id="Ra815dd85341b47e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8cc23b987e5043b3" Type="http://schemas.openxmlformats.org/officeDocument/2006/relationships/slide" Target="../slides/slide17.xml"/><Relationship Id="Rf91153b072be4c50"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6528f6bdd32b47ed" Type="http://schemas.openxmlformats.org/officeDocument/2006/relationships/slide" Target="../slides/slide19.xml"/><Relationship Id="R6c53af97e49e4916"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83565a261aab455d" Type="http://schemas.openxmlformats.org/officeDocument/2006/relationships/notesMaster" Target="../notesMasters/notesMaster1.xml"/><Relationship Id="Rb26905e76e5f4e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1b99ef987876469d" Type="http://schemas.openxmlformats.org/officeDocument/2006/relationships/slide" Target="../slides/slide21.xml"/><Relationship Id="R644cf36ec2594a13"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66ac5469d9c24f91" Type="http://schemas.openxmlformats.org/officeDocument/2006/relationships/slide" Target="../slides/slide23.xml"/><Relationship Id="Rb53d0a9cd9f04276"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08be8a1b26094503" Type="http://schemas.openxmlformats.org/officeDocument/2006/relationships/notesMaster" Target="../notesMasters/notesMaster1.xml"/><Relationship Id="R5ae7b9a5e1cd46eb"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d32a35bfca154c52" Type="http://schemas.openxmlformats.org/officeDocument/2006/relationships/slide" Target="../slides/slide25.xml"/><Relationship Id="Rebb0c60930f3439a"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646031c8ae9d42d0" Type="http://schemas.openxmlformats.org/officeDocument/2006/relationships/slide" Target="../slides/slide48.xml"/><Relationship Id="R91c0e34e02cd486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64874121c3646a8" Type="http://schemas.openxmlformats.org/officeDocument/2006/relationships/notesMaster" Target="../notesMasters/notesMaster1.xml"/><Relationship Id="Red81b6833ddb48c4"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22cc75a30d3841fc" Type="http://schemas.openxmlformats.org/officeDocument/2006/relationships/notesMaster" Target="../notesMasters/notesMaster1.xml"/><Relationship Id="R5296e7d6026f49f4"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722d5a72189849a5" Type="http://schemas.openxmlformats.org/officeDocument/2006/relationships/slide" Target="../slides/slide28.xml"/><Relationship Id="Rd43ab2f95719455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81b8cd461d0e46a4" Type="http://schemas.openxmlformats.org/officeDocument/2006/relationships/notesMaster" Target="../notesMasters/notesMaster1.xml"/><Relationship Id="Rc3a6c05265884b11"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3d04417cd36a4c19" Type="http://schemas.openxmlformats.org/officeDocument/2006/relationships/slide" Target="../slides/slide31.xml"/><Relationship Id="Ra0a729b5dfc9400e"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37b19e00a9e48e4" Type="http://schemas.openxmlformats.org/officeDocument/2006/relationships/notesMaster" Target="../notesMasters/notesMaster1.xml"/><Relationship Id="Ra1655c791a0e4ce5"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15244260d3204711" Type="http://schemas.openxmlformats.org/officeDocument/2006/relationships/slide" Target="../slides/slide34.xml"/><Relationship Id="Rac1a0daa762b4a23"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95e3fd3ae7d9441c" Type="http://schemas.openxmlformats.org/officeDocument/2006/relationships/slide" Target="../slides/slide36.xml"/><Relationship Id="Rbbf58c45f7fd442d"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17da173920a54366" Type="http://schemas.openxmlformats.org/officeDocument/2006/relationships/slide" Target="../slides/slide37.xml"/><Relationship Id="R481131a0ab9e441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07fbaab5b2a04ba8" Type="http://schemas.openxmlformats.org/officeDocument/2006/relationships/slide" Target="../slides/slide38.xml"/><Relationship Id="R1195026e62e64f45"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3b3f85c73fa9495a" Type="http://schemas.openxmlformats.org/officeDocument/2006/relationships/slide" Target="../slides/slide41.xml"/><Relationship Id="R76221bcf6510427a"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807f6b6a4c924897" Type="http://schemas.openxmlformats.org/officeDocument/2006/relationships/notesMaster" Target="../notesMasters/notesMaster1.xml"/><Relationship Id="Rcdc59113596e4e04"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27e6b80db867406d" Type="http://schemas.openxmlformats.org/officeDocument/2006/relationships/slide" Target="../slides/slide44.xml"/><Relationship Id="Rf0a7364f6ba549b9"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bd0720affff7460e" Type="http://schemas.openxmlformats.org/officeDocument/2006/relationships/slide" Target="../slides/slide45.xml"/><Relationship Id="Reecc30be90f8494d"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613682fa62614c34" Type="http://schemas.openxmlformats.org/officeDocument/2006/relationships/slide" Target="../slides/slide46.xml"/><Relationship Id="Rd92bf6abee504989"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10256f7185644089" Type="http://schemas.openxmlformats.org/officeDocument/2006/relationships/notesMaster" Target="../notesMasters/notesMaster1.xml"/><Relationship Id="R2c89fae41c6a4d5b"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001ef98acdc34121" Type="http://schemas.openxmlformats.org/officeDocument/2006/relationships/slide" Target="../slides/slide49.xml"/><Relationship Id="R4f2e1ca509bd4e0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شروع درس: هدف این است که دانشجو بداند از یک آزادسازی ساده، سختی، فرکانس و میرایی را چگونه شناسایی می‌کنیم. ترتیب درس را شفاهی بگویید: دستگاه، نیرو، معادله، حل، اندازه‌گیری.</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یک ضربه یا جابه‌جایی اولیه، سیستم را تحریک می‌کند. پس از رهاسازی، پارامترهای خود سیستم پاسخ را تعیین می‌کنند. آزمون مدال سازه هوافضایی و کنترل ارتعاش ماشین مثال هستند. این آزمون آزمایشگاه تنها یک مد غالب و یک مختصات دارد.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شکل شماتیک است و جای عکس واقعی را نمی‌گیرد. عکس کار واقعی اسلاید قبل بود. دو فنر از دو طرف به تکیه‌گاه ثابت وصل می‌شوند. در حالت پایه ترمز مغناطیسی اضافه را برمی‌داریم؛ اصطکاک پایه هنوز صفر نیست.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دستگاه Vernier Go Direct Sensor Cart یک encoder wheel دارد. چرخش چرخ را به جابه‌جایی تبدیل می‌کند. نرم‌افزار روی رایانه Vernier Graphical Analysis است. لغزش چرخ خطای مکان می‌دهد. Source: https://www.vernier.com/manuals/gdx-cart-g/</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پیش از نشان دادن نتیجه، دانشجو باید پیش‌بینی کند. حداقل هفت حالت: پایه و دو تغییر جرم، دو میرایی و دو ترکیب فنر. جرم ترمزها را هم اندازه می‌گیریم.</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عکس فنر نمونه محصول آموزشی Vernier است و جای کالیبراسیون فنرهای خود آزمایشگاه را نمی‌گیرد. ترمز مغناطیسی شامل چهار محل آهنرباست؛ دو یا چهار یعنی تعداد آهنرباها، نه الزاماً دو یا چهار قطعه کامل. Sources: https://www.vernier.com/product/springs-set/ and https://www.vernier.com/manuals/dts-ecb/</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 از تعادل ساکن اندازه گرفته می‌شود. mg و N عمودی‌اند و روی حرکت افقی اثر مستقیم ندارند. جرم m شامل خود کار، وزنه‌ها و ترمزهای متصل است. یک درجه آزادی یعنی یک x برای تعیین وضعیت کافی است.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نکته کلیدی: در دو فنر کششی پیش‌کشیده، حرکت به راست کشش فنر چپ را زیاد و کشش فنر راست را کم می‌کند. هر دو تغییر، نیروی خالص به چپ ایجاد می‌کنند. نیروهای پیش‌کشش در تعادل یکدیگر را حذف می‌کنند.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ابتدا مدل ایده‌آل بدون اتلاف را حل می‌کنیم. اگر x مثبت باشد نیروی فنر منفی است. در شکل نیروی فنر به چپ است؛ جهت سرعت مستقل از جهت x است. اینجا دمپر وجود ندارد.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به جای فرمول آماده، پاسخ کسینوسی را امتحان می‌کنیم. دو بار مشتق کسینوس علامت منفی و ضریب ω² می‌دهد. با جایگذاری شرط برقراری معادله برای همه زمان‌ها k-mω²=0 می‌شود. A و φ تعریف می‌شوند.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ωn بر حسب رادیان بر ثانیه و fn دور بر ثانیه است. یک دور ۲π رادیان است. اینجا m=.5 و keq=21.4 مثال آموزشی‌اند و جای مقادیر اندازه‌گیری‌شده را نمی‌گیرند.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 انتهای مسیر سرعت صفر و انرژی فنر بیشینه است. در تعادل x صفر، نیروی خالص فنر صفر، ولی سرعت بیشینه است. انرژی کل مدل بدون میرایی ثابت است. نمودار محاسباتی است.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ترمز مغناطیسی Vernier در انتهای کار نصب می‌شود. حرکت آهنربا نسبت به ریل رسانا جریان گردابی تولید می‌کند، میدان القایی با حرکت مخالفت می‌کند و انرژی در ریل به گرما می‌رود. نماد داشپات فقط مدل نیروی سرعتی است. Photo: prior MIE402 cart image. Manufacturer: https://www.vernier.com/product/eddy-current-brake/</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منفی بودن توان به معنی کم شدن انرژی مکانیکی است. c مثبت است و مربع سرعت همیشه نامنفی. میرایی معادل در محدوده سرعت آزمایش معتبر است، اصطکاک خشک ممکن است انحراف ایجاد کند.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اولین بار است که مدل میرا را معرفی می‌کنیم. مدل جرم و فنر قبلی است با نیروی جدید -c xdot. هر دو نیروی فنر و دمپر را با علامت معادله بنویسید، نه با فرض اینکه همیشه هم‌جهت‌اند.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مهم‌ترین اتصال گم‌شده نسخه قبل: معادله را بر m تقسیم می‌کنیم. ضریب k/m را از قبل ωn² می‌شناسیم. ضریب c/m را 2ζωn می‌نامیم. ζ عدد بی‌بعد است.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یک پاسخ نمایی e^(st) را امتحان می‌کنیم چون مشتق آن فقط s ضرب می‌شود. پس از تقسیم بر e^(st) معادله درجه دو برای s می‌ماند. s واحد یک بر ثانیه دارد. برای ζ کمتر از یک ریشه‌ها مختلط‌اند.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برای 0&lt;ζ&lt;1 جذر منفی می‌شود و i ظاهر می‌شود. e^(iωt) بخش کسینوسی و سینوسی دارد. ترکیب حقیقی دو ریشه همان نمایی ضرب در سینوس و کسینوس است. C,D از شرایط اولیه‌اند؛ A,φ نمایش معادل‌اند.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پاسخ دقیق: ωn تعریف sqrt(k/m) دارد و در صورت ثابت بودن m,k با c عوض نمی‌شود. ωd فرکانس دیده‌شده کمتر است. اضافه کردن آهنربا جرم را هم عوض می‌کند پس جرم کل را ثبت می‌کنیم.</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از پاسخ قبلی قدرمطلق کسینوس حداکثر یک است، پس منحنی بین ±A exp(-αt) قرار می‌گیرد. α=ζωn نرخ واپاشی است و با c/(2m) برابر است. نقاط ماکزیمم دقیق لزوماً روی مرز envelope نیستند، ولی دنباله قله‌های هم‌علامت همان نمایی را دارد.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قله هم‌علامت انتخاب کنید تا یک سیکل کامل باشد. N تعداد سیکل‌ها بین دو قله است، نه تعداد نقاط. مثال قله اول و ششم پنج سیکل دارد.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از دنباله قله‌ها p_i=B exp(-αti) شروع می‌کنیم؛ B ضریب ثابت دنباله قله است و لازم نیست همان A مرز envelope باشد. تقسیم B را حذف می‌کند. این روش برای قله هم‌علامت پاسخ زیرمیرا معتبر است.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رابطه را از δ=αTd، α=ζωn و Td=2π/ωd جایگذاری می‌کنیم. به این ترتیب δ=2πζ/sqrt(1-ζ²). با مربع کردن و جابجایی ζ به دست می‌آید. رابطه دقیق زیرمیراست.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استاد قبلی از logarithmic fitting استفاده کرده است. log قله را در برابر زمان فیت می‌کنیم. محور log باید بی‌بعد باشد p/pref با pref=1m. شیب = -α. اگر روند خمیده یا خطی نبود مدل میرایی سرعتی شاید مناسب نباشد.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 روش logfit اول α و ωd اندازه‌گیری می‌شود. چون ωd²=ωn²-α² داریم ωn=sqrt(ωd²+α²). سپس ζ=α/ωn و c=2mα. اگر δ روش انتخاب شده باشد از روابط قبلی استفاده می‌شود.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نمودار محاسبه واقعی FFT یک سیگنال نمونه است، نتایج دانشجوی سال قبل نیست. FFT سینوسی‌ها را با داده مقایسه می‌کند. نزدیک fd جمع هم‌فاز بزرگ می‌شود. مقادیر نمودار نشانگر دقیق قله1.25 است در حالی که f0=1.23 چون فاصله بین=0.05Hz. قله FFT تقریبی است.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قبل از آزمایش افقی، هر فنر را عمودی با جرم معلوم تست می‌کنیم. وزن در تعادل با کشش فنر برابر است. q از تعادل تعریف می‌شود و mg با kΔ0 حذف می‌شود. Force sensor نیروی نوسانی را می‌سنجد نه مکان، ولی هر دو همان فرکانس را دارند.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تصویر واقعی ترم قبل است. a نیرو بر حسبN، b فرکانس زاویه‌ای rad/s، c فاز rad و d افستN. حرف c در نرم افزار با ضریب میرایی یکی نیست. در این اسلاید آن را cfit می‌نامیم. f=b/(2π). b=11.13 و mh=.1 gives12.39N/m.</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حالا بعد از تئوری نتایج را پیش‌بینی می‌کنیم. افزایش جرم با c ثابت α را کاهش می‌دهد، پس ادعای جرم فقط فرکانس را تغییر می‌دهد غلط است. افزایش k با m,c ثابت α را تغییر نمی‌دهد اما ζ را کم می‌کند.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نمودار واقعی گزارش‌های ترم قبل است. فقط مکان در زمان را نشان می‌دهد. ابتدا ردیف پایه را بخوانید. دو ردیف جرم فاصله قله بیشتر دارند. ردیف‌های میرایی سریعتر افت می‌کنند. تعداد سیکل و اختلاف شرایط را از داده واقعی بخوانید نه ادعای عدد دقیق.</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نسخه قبل نمودارها را تعریف نکرده بود. اینجا آبی مکان زمان است قرمز اندازه FFT فرکانس. هر سطر به یک آزمایش مربوط است. بزرگتر شدن دامنه اولیه ارتفاع FFT را هم عوض می‌کند؛ از ارتفاع قله تنها c را نتیجه نگیرید.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خطای رایج ترم قبل: اول release سپس collect. صحیح: ابتدا collect سپس release. fs را مطابق دستور محلی حداکثر25 انتخاب و برای حدود1Hz نزدیک25 بگیرید. مدت ثابت5ثانیه برای تمام damping مناسب نیست تا چند سیکل افت قابل اندازه گیری لازم است.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کد آماده را روی CSV اجرا می‌کنند. اشتباه سین فیت لب2 را تکرار نکنیم: تابع کمک را مستقیم Run نکنند. نام فایل اصلی از README دقیق باید تایید شود. این اسلاید generic entry script no guessed command. باید residualfit داده میرا باشد.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اگر lnpeak خمیده شد، اواخر نویز یا اصطکاک خشک را چک کنید. اگر فرکانس مدل فرق داشت جرم، ksum، واحد و slack را چک کنید. نمایش نمودار کامل به تنهایی کافی نیست.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پریلب برنامه‌نویسی نمی‌خواهد. مدل را با کد آماده اجرا و پیش‌بینی و تحلیل می‌کنند. گزارش باید برای همه هفت حالت پارامترها و مقایسه داشته باشد. موعد از Canvas بگیرند نه تاریخ ساختگی.</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اگر وقت کم است این اسلاید برای مرور است. مدل خطی برای ζ&gt;=1 نوسان ندارد، پس روش قله و logarithmic decrement قابل استفاده نیست. critical سریع‌ترین بازگشت بدون عبور برای شرایط اولیه معمول از سکون است.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مثال محاسباتی، داده دانشجو نیست. q p1=.04,p6=.02, tdiff5s N5. Td1 wd2pi δln2/5=.1386 ζ=.02206 wn6.2847 m.5 c.1386.</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 release از سکون v0=0، C=x0 و D=αx0/ωd است. پس نباید پاسخ را همیشه x0 exp(-αt)cos(ωdt) با سرعت اولیه صفر فرض کنیم، چون مشتق در t0 =-αx0 می‌شود.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 عمودی spring mass اگر مهم باشد meff≈mh+ms/3 برای فنر یکنواخت در مود پایین تقریبی. اصلی روش light damping. بدون ζ اندازه گیری دقیق k نمی توان. اضافه کردن g روی معادله حول تعادل دوباره شمارش است.</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منابع اصلی قدیمی شامل هدر استاد و ترم قبل هستند، فقط محتوای فنی و تصاویر مربوط استفاده شده. تمام نمودارهای محاسباتی این نسخه از معادلات نشان‌داده‌شده ساخته شده‌اند و با داده واقعی مخلوط نشده‌اند.</a:t>
            </a:r>
          </a:p>
          <a:p xmlns:a="http://schemas.openxmlformats.org/drawingml/2006/main">
            <a:r>
              <a:t/>
            </a:r>
          </a:p>
          <a:p xmlns:a="http://schemas.openxmlformats.org/drawingml/2006/main">
            <a:r>
              <a:t>Sources: MIE402 Lecture Notes/12_Lab4_Theory.pdf; Lecture Notes/13_Lab4_Exp.pdf; LAB4_MIE402.pdf (prior-term technical procedures; Fall 2026 course metadata replaces old headers).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note: distinguish sampling interval from true timing uncertainty; fitting several peaks often improves robustness. Do not invent error bars without repeat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note: time origin must be reset at release. Fitted model includes equilibrium offset; do not fit a sine-only signal to strongly damped data.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note: ask students to answer before revealing the final line. Discuss why changing brake hardware may also change moving mass.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درس: ابتدا عکس و حسگر؛ سپس نیرو و قانون دوم نیوتن؛ سپس ریشه‌ها و پاسخ زمانی؛ در پایان روش استخراج پارامتر و مقایسه با داده واقعی.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اسلاید پل مفهومی است. در معادله نیروها همه N هستند. x متر، c نیوتن ثانیه بر متر، k نیوتن بر متر، جرم کیلوگرم. ω طبیعی و α واپاشی از همین ODE تعریف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تفاوت بین بسامد طبیعی، بسامد میرا، نرخ زوال و محل پیک FFT را تأکید کنید. فرکانس FFT تابع مدت و پنجره و گام نمونه‌برداری هم هست.</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حل مشارکتی: از تعداد قله‌های هم‌علامت N=5 فاصله دوره‌ای را بیابید. نسبت دامنه log decrement را می‌دهد. از δ/T نرخ واپاشی و سپس c به دست می‌آید.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از دانشجو بخواهید تکرار اندازه‌گیری و عدم قطعیت نمونه‌برداری را گزارش کند. خطای جرم بر ωn و c اثر متفاوت دارد. بررسی کنید ترمز جرم کل را تغییر داده است.</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قبل از نشان دادن داده واقعی، قرارداد رنگ را توضیح دهید. آبی مکان در زمان، قرمز طیف همان داده است؛ هیچ‌یک از ارتفاع پیک به تنهایی میرایی را مشخص نمی‌کند.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8b8ba3de2b24e1a"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1a1bde6f595442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310ea285eee0406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b8f8251aa794a3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e0242565afb415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8ba48bf4c514fc4"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9BB54AF-C2CA-4E8A-9855-EFC1D9F4CD9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1F91DDB-5A09-4D30-ACEF-1E6356EBEA8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7D09B67-FB97-42B7-8822-E1E95D0E18F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1F90DA-9A3F-4316-B28D-FDF647FD03A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7D86BD4-6824-48F2-B760-A67FBD92ADC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63D045-4F5E-49CC-8626-AB045E5E92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9C9325-0218-4E49-AC2F-92AA2BDBCFD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B75E8CE-804A-4FB8-B889-992BFECDB0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4796C9-1F62-4818-9967-0B5F23A082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4E1FCB6-5442-4291-AD9C-009B783A32F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5c4a9ba73894d29" Type="http://schemas.openxmlformats.org/officeDocument/2006/relationships/slideLayout" Target="../slideLayouts/slideLayout3.xml"/><Relationship Id="R5311ba0bf7c54af5" Type="http://schemas.openxmlformats.org/officeDocument/2006/relationships/slideLayout" Target="../slideLayouts/slideLayout1.xml"/><Relationship Id="R6f421262dfa94af1" Type="http://schemas.openxmlformats.org/officeDocument/2006/relationships/slideLayout" Target="../slideLayouts/slideLayout4.xml"/><Relationship Id="Ra0c913dc6b884220" Type="http://schemas.openxmlformats.org/officeDocument/2006/relationships/slideLayout" Target="../slideLayouts/slideLayout5.xml"/><Relationship Id="Rd70c8117a55a464d" Type="http://schemas.openxmlformats.org/officeDocument/2006/relationships/theme" Target="theme/theme2.xml"/><Relationship Id="Re426f883423145b7" Type="http://schemas.openxmlformats.org/officeDocument/2006/relationships/slideLayout" Target="../slideLayouts/slideLayout2.xml"/><Relationship Id="Rf468113710f74b1d"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11ba0bf7c54af5"/>
    <p:sldLayoutId xmlns:r="http://schemas.openxmlformats.org/officeDocument/2006/relationships" id="2147483650" r:id="Re426f883423145b7"/>
    <p:sldLayoutId xmlns:r="http://schemas.openxmlformats.org/officeDocument/2006/relationships" id="2147483651" r:id="R35c4a9ba73894d29"/>
    <p:sldLayoutId xmlns:r="http://schemas.openxmlformats.org/officeDocument/2006/relationships" id="2147483652" r:id="R6f421262dfa94af1"/>
    <p:sldLayoutId xmlns:r="http://schemas.openxmlformats.org/officeDocument/2006/relationships" id="2147483653" r:id="Ra0c913dc6b884220"/>
    <p:sldLayoutId xmlns:r="http://schemas.openxmlformats.org/officeDocument/2006/relationships" id="2147483654" r:id="Rf468113710f74b1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2dae85b60754545" Type="http://schemas.openxmlformats.org/officeDocument/2006/relationships/slideLayout" Target="../slideLayouts/slideLayout6.xml"/><Relationship Id="Rbf6679b1d4e049f6" Type="http://schemas.openxmlformats.org/officeDocument/2006/relationships/image" Target="../media/image.jpeg"/><Relationship Id="Re860f04f92af41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6fbe2a05c98472b" Type="http://schemas.openxmlformats.org/officeDocument/2006/relationships/notesSlide" Target="../notesSlides/notesSlide2.xml"/><Relationship Id="R9b52368261e34d4c" Type="http://schemas.openxmlformats.org/officeDocument/2006/relationships/slideLayout" Target="../slideLayouts/slideLayout6.xml"/><Relationship Id="Re6d4241c4131442f" Type="http://schemas.openxmlformats.org/officeDocument/2006/relationships/image" Target="../media/image2.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xml.rels><?xml version='1.0' encoding='UTF-8' standalone='yes'?>
<Relationships xmlns="http://schemas.openxmlformats.org/package/2006/relationships"><Relationship Id="R3c6867873272451e" Type="http://schemas.openxmlformats.org/officeDocument/2006/relationships/notesSlide" Target="../notesSlides/notesSlide3.xml"/><Relationship Id="R491ddd7da8234ffe"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83dbfb35f87492a" Type="http://schemas.openxmlformats.org/officeDocument/2006/relationships/notesSlide" Target="../notesSlides/notesSlide4.xml"/><Relationship Id="R3c4f12b105004ed9" Type="http://schemas.openxmlformats.org/officeDocument/2006/relationships/image" Target="../media/image3.jpeg"/><Relationship Id="R6a11f303970e4f28" Type="http://schemas.openxmlformats.org/officeDocument/2006/relationships/image" Target="../media/image4.jpeg"/><Relationship Id="R7788ef33ca7b4758"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23090e84ee5a462d" Type="http://schemas.openxmlformats.org/officeDocument/2006/relationships/notesSlide" Target="../notesSlides/notesSlide6.xml"/><Relationship Id="R4f6792f154a34135" Type="http://schemas.openxmlformats.org/officeDocument/2006/relationships/image" Target="../media/image5.jpeg"/><Relationship Id="R8716be5e708a4ec4" Type="http://schemas.openxmlformats.org/officeDocument/2006/relationships/image" Target="../media/image6.jpeg"/><Relationship Id="Re6be3b6b7f394d9f"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1d0b29368c204f7b" Type="http://schemas.openxmlformats.org/officeDocument/2006/relationships/slideLayout" Target="../slideLayouts/slideLayout6.xml"/><Relationship Id="Rd5ebc939cca94ce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03e46bca6f814cd9" Type="http://schemas.openxmlformats.org/officeDocument/2006/relationships/image" Target="../media/image2.png"/><Relationship Id="R47401b09151a411f" Type="http://schemas.openxmlformats.org/officeDocument/2006/relationships/notesSlide" Target="../notesSlides/notesSlide7.xml"/><Relationship Id="R70be33ac792e4d2e" Type="http://schemas.openxmlformats.org/officeDocument/2006/relationships/slideLayout" Target="../slideLayouts/slideLayout6.xml"/><Relationship Id="R8f76d810bd1e4a34" Type="http://schemas.openxmlformats.org/officeDocument/2006/relationships/image" Target="../media/image.png"/></Relationships>
</file>

<file path=ppt/slides/_rels/slide9.xml.rels><?xml version='1.0' encoding='UTF-8' standalone='yes'?>
<Relationships xmlns="http://schemas.openxmlformats.org/package/2006/relationships"><Relationship Id="R0e488d19067249b8" Type="http://schemas.openxmlformats.org/officeDocument/2006/relationships/slideLayout" Target="../slideLayouts/slideLayout6.xml"/><Relationship Id="R3f96f8fa7f844f75" Type="http://schemas.openxmlformats.org/officeDocument/2006/relationships/image" Target="../media/image5.png"/><Relationship Id="R533f7677db514bc2" Type="http://schemas.openxmlformats.org/officeDocument/2006/relationships/image" Target="../media/image4.png"/><Relationship Id="R54f43cec749a41f3" Type="http://schemas.openxmlformats.org/officeDocument/2006/relationships/image" Target="../media/image3.png"/><Relationship Id="Ra5e704dfbbd04497" Type="http://schemas.openxmlformats.org/officeDocument/2006/relationships/notesSlide" Target="../notesSlides/notesSlide8.xml"/><Relationship Id="Rc31254773b6b4d66" Type="http://schemas.openxmlformats.org/officeDocument/2006/relationships/image" Target="../media/image6.png"/></Relationships>
</file>

<file path=ppt/slides/_rels/slide10.xml.rels><?xml version='1.0' encoding='UTF-8' standalone='yes'?>
<Relationships xmlns="http://schemas.openxmlformats.org/package/2006/relationships"><Relationship Id="R043847372341439c" Type="http://schemas.openxmlformats.org/officeDocument/2006/relationships/image" Target="../media/image9.png"/><Relationship Id="R11abea63580446f5" Type="http://schemas.openxmlformats.org/officeDocument/2006/relationships/image" Target="../media/image7.png"/><Relationship Id="R1bfaf1b9c5404b12" Type="http://schemas.openxmlformats.org/officeDocument/2006/relationships/notesSlide" Target="../notesSlides/notesSlide9.xml"/><Relationship Id="R4957c2a3dc2a4a9d" Type="http://schemas.openxmlformats.org/officeDocument/2006/relationships/slideLayout" Target="../slideLayouts/slideLayout6.xml"/><Relationship Id="Ra095ef5f1e5a4dfe" Type="http://schemas.openxmlformats.org/officeDocument/2006/relationships/image" Target="../media/image8.png"/></Relationships>
</file>

<file path=ppt/slides/_rels/slide11.xml.rels><?xml version='1.0' encoding='UTF-8' standalone='yes'?>
<Relationships xmlns="http://schemas.openxmlformats.org/package/2006/relationships"><Relationship Id="R122efd5bd1f0402a" Type="http://schemas.openxmlformats.org/officeDocument/2006/relationships/image" Target="../media/image10.png"/><Relationship Id="R6a9f10654b4e491a" Type="http://schemas.openxmlformats.org/officeDocument/2006/relationships/notesSlide" Target="../notesSlides/notesSlide10.xml"/><Relationship Id="R8f9f567cdf66499b" Type="http://schemas.openxmlformats.org/officeDocument/2006/relationships/image" Target="../media/image12.png"/><Relationship Id="Rae9e61ca7d434798" Type="http://schemas.openxmlformats.org/officeDocument/2006/relationships/slideLayout" Target="../slideLayouts/slideLayout6.xml"/><Relationship Id="Rc3477430048d4057" Type="http://schemas.openxmlformats.org/officeDocument/2006/relationships/image" Target="../media/image13.png"/><Relationship Id="Re0af5d956e3444b7" Type="http://schemas.openxmlformats.org/officeDocument/2006/relationships/image" Target="../media/image11.png"/></Relationships>
</file>

<file path=ppt/slides/_rels/slide12.xml.rels><?xml version='1.0' encoding='UTF-8' standalone='yes'?>
<Relationships xmlns="http://schemas.openxmlformats.org/package/2006/relationships"><Relationship Id="R0da9aa8dd2e04eac" Type="http://schemas.openxmlformats.org/officeDocument/2006/relationships/notesSlide" Target="../notesSlides/notesSlide11.xml"/><Relationship Id="R3c2a7fc174674772" Type="http://schemas.openxmlformats.org/officeDocument/2006/relationships/slideLayout" Target="../slideLayouts/slideLayout6.xml"/><Relationship Id="R733ccfc588164165" Type="http://schemas.openxmlformats.org/officeDocument/2006/relationships/image" Target="../media/image15.png"/><Relationship Id="Redb729a2c4e34090" Type="http://schemas.openxmlformats.org/officeDocument/2006/relationships/image" Target="../media/image14.png"/></Relationships>
</file>

<file path=ppt/slides/_rels/slide13.xml.rels><?xml version='1.0' encoding='UTF-8' standalone='yes'?>
<Relationships xmlns="http://schemas.openxmlformats.org/package/2006/relationships"><Relationship Id="R6c9df5b802874893" Type="http://schemas.openxmlformats.org/officeDocument/2006/relationships/image" Target="../media/image17.png"/><Relationship Id="R766c3a7754ca492e" Type="http://schemas.openxmlformats.org/officeDocument/2006/relationships/slideLayout" Target="../slideLayouts/slideLayout6.xml"/><Relationship Id="Rccc0daf9e5994d1b" Type="http://schemas.openxmlformats.org/officeDocument/2006/relationships/notesSlide" Target="../notesSlides/notesSlide12.xml"/><Relationship Id="Rf69304132a7c4cfe" Type="http://schemas.openxmlformats.org/officeDocument/2006/relationships/image" Target="../media/image16.png"/></Relationships>
</file>

<file path=ppt/slides/_rels/slide14.xml.rels><?xml version='1.0' encoding='UTF-8' standalone='yes'?>
<Relationships xmlns="http://schemas.openxmlformats.org/package/2006/relationships"><Relationship Id="R2b481859e3794320" Type="http://schemas.openxmlformats.org/officeDocument/2006/relationships/notesSlide" Target="../notesSlides/notesSlide13.xml"/><Relationship Id="R91723f06563345f2" Type="http://schemas.openxmlformats.org/officeDocument/2006/relationships/image" Target="../media/image18.png"/><Relationship Id="Ra389cd2882d84127" Type="http://schemas.openxmlformats.org/officeDocument/2006/relationships/slideLayout" Target="../slideLayouts/slideLayout6.xml"/><Relationship Id="Re7e9cfe070384555" Type="http://schemas.openxmlformats.org/officeDocument/2006/relationships/image" Target="../media/image7.jpeg"/></Relationships>
</file>

<file path=ppt/slides/_rels/slide15.xml.rels><?xml version='1.0' encoding='UTF-8' standalone='yes'?>
<Relationships xmlns="http://schemas.openxmlformats.org/package/2006/relationships"><Relationship Id="R39a9da13945b41fa" Type="http://schemas.openxmlformats.org/officeDocument/2006/relationships/notesSlide" Target="../notesSlides/notesSlide14.xml"/><Relationship Id="R50c354cb46cf4534" Type="http://schemas.openxmlformats.org/officeDocument/2006/relationships/image" Target="../media/image20.png"/><Relationship Id="R907797d600194213" Type="http://schemas.openxmlformats.org/officeDocument/2006/relationships/slideLayout" Target="../slideLayouts/slideLayout6.xml"/><Relationship Id="R91da592ab0094485" Type="http://schemas.openxmlformats.org/officeDocument/2006/relationships/image" Target="../media/image19.png"/><Relationship Id="R9238a3e4bc184055" Type="http://schemas.openxmlformats.org/officeDocument/2006/relationships/image" Target="../media/image21.png"/></Relationships>
</file>

<file path=ppt/slides/_rels/slide16.xml.rels><?xml version='1.0' encoding='UTF-8' standalone='yes'?>
<Relationships xmlns="http://schemas.openxmlformats.org/package/2006/relationships"><Relationship Id="R265f50ecd9484b25" Type="http://schemas.openxmlformats.org/officeDocument/2006/relationships/image" Target="../media/image22.png"/><Relationship Id="R269a80671af44be7" Type="http://schemas.openxmlformats.org/officeDocument/2006/relationships/notesSlide" Target="../notesSlides/notesSlide15.xml"/><Relationship Id="R43b6a0e88ceb40c4"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830432cb27446e9" Type="http://schemas.openxmlformats.org/officeDocument/2006/relationships/image" Target="../media/image23.png"/><Relationship Id="R1842215d5ade4f54" Type="http://schemas.openxmlformats.org/officeDocument/2006/relationships/image" Target="../media/image26.png"/><Relationship Id="R1dab6a198d9a4c41" Type="http://schemas.openxmlformats.org/officeDocument/2006/relationships/image" Target="../media/image24.png"/><Relationship Id="R1eb7d225302c4614" Type="http://schemas.openxmlformats.org/officeDocument/2006/relationships/slideLayout" Target="../slideLayouts/slideLayout6.xml"/><Relationship Id="R5d06bf2226c94e6f" Type="http://schemas.openxmlformats.org/officeDocument/2006/relationships/image" Target="../media/image25.png"/><Relationship Id="Rcf7ce9d963464a5f"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19.xml.rels><?xml version='1.0' encoding='UTF-8' standalone='yes'?>
<Relationships xmlns="http://schemas.openxmlformats.org/package/2006/relationships"><Relationship Id="R2629f071530a48f1" Type="http://schemas.openxmlformats.org/officeDocument/2006/relationships/notesSlide" Target="../notesSlides/notesSlide17.xml"/><Relationship Id="R615ee913d0784745" Type="http://schemas.openxmlformats.org/officeDocument/2006/relationships/slideLayout" Target="../slideLayouts/slideLayout6.xml"/><Relationship Id="R8266910dcf384614" Type="http://schemas.openxmlformats.org/officeDocument/2006/relationships/image" Target="../media/image27.png"/><Relationship Id="Ra25f1cf96c954c65" Type="http://schemas.openxmlformats.org/officeDocument/2006/relationships/image" Target="../media/image28.png"/><Relationship Id="Rc950c7f2cd4e4b8d" Type="http://schemas.openxmlformats.org/officeDocument/2006/relationships/image" Target="../media/image29.png"/></Relationships>
</file>

<file path=ppt/slides/_rels/slide20.xml.rels><?xml version='1.0' encoding='UTF-8' standalone='yes'?>
<Relationships xmlns="http://schemas.openxmlformats.org/package/2006/relationships"><Relationship Id="R6eed849743d04c09" Type="http://schemas.openxmlformats.org/officeDocument/2006/relationships/notesSlide" Target="../notesSlides/notesSlide18.xml"/><Relationship Id="R8eec404fab974a75" Type="http://schemas.openxmlformats.org/officeDocument/2006/relationships/image" Target="../media/image32.png"/><Relationship Id="R9338649955aa4eed" Type="http://schemas.openxmlformats.org/officeDocument/2006/relationships/image" Target="../media/image30.png"/><Relationship Id="Rc0fa930114db4c87" Type="http://schemas.openxmlformats.org/officeDocument/2006/relationships/image" Target="../media/image31.png"/><Relationship Id="Rf1545c48716c4b6d"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2fcf875be7714865" Type="http://schemas.openxmlformats.org/officeDocument/2006/relationships/notesSlide" Target="../notesSlides/notesSlide19.xml"/><Relationship Id="R697ec4a389e14ae1" Type="http://schemas.openxmlformats.org/officeDocument/2006/relationships/image" Target="../media/image34.png"/><Relationship Id="R8b079cb987c747e7" Type="http://schemas.openxmlformats.org/officeDocument/2006/relationships/image" Target="../media/image33.png"/><Relationship Id="Rc629bfcfdc7a422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35036575351c469c" Type="http://schemas.openxmlformats.org/officeDocument/2006/relationships/slideLayout" Target="../slideLayouts/slideLayout6.xml"/><Relationship Id="R953be229f7714356" Type="http://schemas.openxmlformats.org/officeDocument/2006/relationships/image" Target="../media/image37.png"/><Relationship Id="Racc6b4ef4f7c4a7b" Type="http://schemas.openxmlformats.org/officeDocument/2006/relationships/image" Target="../media/image36.png"/><Relationship Id="Rd53f5eb316114613" Type="http://schemas.openxmlformats.org/officeDocument/2006/relationships/notesSlide" Target="../notesSlides/notesSlide20.xml"/><Relationship Id="Rd7549f4aed404c14" Type="http://schemas.openxmlformats.org/officeDocument/2006/relationships/image" Target="../media/image35.png"/></Relationships>
</file>

<file path=ppt/slides/_rels/slide24.xml.rels><?xml version='1.0' encoding='UTF-8' standalone='yes'?>
<Relationships xmlns="http://schemas.openxmlformats.org/package/2006/relationships"><Relationship Id="R86d5c5bc5e1844c0" Type="http://schemas.openxmlformats.org/officeDocument/2006/relationships/slideLayout" Target="../slideLayouts/slideLayout6.xml"/><Relationship Id="Ra496d45609114957" Type="http://schemas.openxmlformats.org/officeDocument/2006/relationships/image" Target="../media/image39.png"/><Relationship Id="Rb9d8aa86f9e34c12" Type="http://schemas.openxmlformats.org/officeDocument/2006/relationships/image" Target="../media/image38.png"/><Relationship Id="Rdd68f7600ad64cb6"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2b1a2f371c754789" Type="http://schemas.openxmlformats.org/officeDocument/2006/relationships/image" Target="../media/image40.png"/><Relationship Id="R733338d547cc49cd" Type="http://schemas.openxmlformats.org/officeDocument/2006/relationships/image" Target="../media/image41.png"/><Relationship Id="R823e0a9a20bd4446" Type="http://schemas.openxmlformats.org/officeDocument/2006/relationships/slideLayout" Target="../slideLayouts/slideLayout6.xml"/><Relationship Id="Rb44352602c254100" Type="http://schemas.openxmlformats.org/officeDocument/2006/relationships/image" Target="../media/image42.png"/><Relationship Id="Reb1451e577504f10"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4883a89b923d4050" Type="http://schemas.openxmlformats.org/officeDocument/2006/relationships/image" Target="../media/image48.png"/><Relationship Id="R4f2050afa99c4729" Type="http://schemas.openxmlformats.org/officeDocument/2006/relationships/image" Target="../media/image47.png"/><Relationship Id="R71ab27cd55964ed7" Type="http://schemas.openxmlformats.org/officeDocument/2006/relationships/slideLayout" Target="../slideLayouts/slideLayout6.xml"/><Relationship Id="Rdd3de29503844ea6"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10ac777a24ae4397" Type="http://schemas.openxmlformats.org/officeDocument/2006/relationships/image" Target="../media/image50.png"/><Relationship Id="R13a07232c2ed4986" Type="http://schemas.openxmlformats.org/officeDocument/2006/relationships/image" Target="../media/image52.png"/><Relationship Id="R34834f36d6644dfb" Type="http://schemas.openxmlformats.org/officeDocument/2006/relationships/slideLayout" Target="../slideLayouts/slideLayout6.xml"/><Relationship Id="Rb03c11141b3944d1" Type="http://schemas.openxmlformats.org/officeDocument/2006/relationships/notesSlide" Target="../notesSlides/notesSlide25.xml"/><Relationship Id="Redc9a993582647c9" Type="http://schemas.openxmlformats.org/officeDocument/2006/relationships/image" Target="../media/image49.png"/><Relationship Id="Rf548e5dec6614852" Type="http://schemas.openxmlformats.org/officeDocument/2006/relationships/image" Target="../media/image51.png"/></Relationships>
</file>

<file path=ppt/slides/_rels/slide28.xml.rels><?xml version='1.0' encoding='UTF-8' standalone='yes'?>
<Relationships xmlns="http://schemas.openxmlformats.org/package/2006/relationships"><Relationship Id="R0baf273e5b8e47da" Type="http://schemas.openxmlformats.org/officeDocument/2006/relationships/notesSlide" Target="../notesSlides/notesSlide26.xml"/><Relationship Id="R0e1c3b75e6844246" Type="http://schemas.openxmlformats.org/officeDocument/2006/relationships/slideLayout" Target="../slideLayouts/slideLayout6.xml"/><Relationship Id="R466cf80dda934965" Type="http://schemas.openxmlformats.org/officeDocument/2006/relationships/image" Target="../media/image5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17d0f843206146b3" Type="http://schemas.openxmlformats.org/officeDocument/2006/relationships/image" Target="../media/image55.png"/><Relationship Id="R304e400ed354463d" Type="http://schemas.openxmlformats.org/officeDocument/2006/relationships/image" Target="../media/image54.png"/><Relationship Id="R64a29f404bc34950" Type="http://schemas.openxmlformats.org/officeDocument/2006/relationships/image" Target="../media/image57.png"/><Relationship Id="R76ccba0ac46b4bc1" Type="http://schemas.openxmlformats.org/officeDocument/2006/relationships/image" Target="../media/image56.png"/><Relationship Id="R975d131ab97b469a" Type="http://schemas.openxmlformats.org/officeDocument/2006/relationships/slideLayout" Target="../slideLayouts/slideLayout6.xml"/><Relationship Id="Raf176f2d7e3547fa"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06be1123d78b4d26" Type="http://schemas.openxmlformats.org/officeDocument/2006/relationships/image" Target="../media/image59.png"/><Relationship Id="R0dece44f951d490c" Type="http://schemas.openxmlformats.org/officeDocument/2006/relationships/image" Target="../media/image58.png"/><Relationship Id="R581b577b9f0b4650" Type="http://schemas.openxmlformats.org/officeDocument/2006/relationships/notesSlide" Target="../notesSlides/notesSlide28.xml"/><Relationship Id="R9c1a3ff20d094359" Type="http://schemas.openxmlformats.org/officeDocument/2006/relationships/image" Target="../media/image8.jpeg"/><Relationship Id="Rb422eff539b54faa"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c8584966f8fc4101" Type="http://schemas.openxmlformats.org/officeDocument/2006/relationships/slideLayout" Target="../slideLayouts/slideLayout6.xml"/><Relationship Id="Redf2f565a7f54731"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34.xml.rels><?xml version='1.0' encoding='UTF-8' standalone='yes'?>
<Relationships xmlns="http://schemas.openxmlformats.org/package/2006/relationships"><Relationship Id="R8da1934a590042cb" Type="http://schemas.openxmlformats.org/officeDocument/2006/relationships/slideLayout" Target="../slideLayouts/slideLayout6.xml"/><Relationship Id="Rcf0eb198526749d8" Type="http://schemas.openxmlformats.org/officeDocument/2006/relationships/image" Target="../media/image60.png"/><Relationship Id="Re21beecf7a064416"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36.xml.rels><?xml version='1.0' encoding='UTF-8' standalone='yes'?>
<Relationships xmlns="http://schemas.openxmlformats.org/package/2006/relationships"><Relationship Id="R1a9b8ef2b4da43ca" Type="http://schemas.openxmlformats.org/officeDocument/2006/relationships/image" Target="../media/image61.png"/><Relationship Id="R8987f02dd5f948f3" Type="http://schemas.openxmlformats.org/officeDocument/2006/relationships/slideLayout" Target="../slideLayouts/slideLayout6.xml"/><Relationship Id="Ra69649f889ca4831"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2c12bd9af47c4ee9" Type="http://schemas.openxmlformats.org/officeDocument/2006/relationships/slideLayout" Target="../slideLayouts/slideLayout6.xml"/><Relationship Id="R97ca51b0df5b4fc5" Type="http://schemas.openxmlformats.org/officeDocument/2006/relationships/image" Target="../media/image9.jpeg"/><Relationship Id="R9b8d237eb4634b38" Type="http://schemas.openxmlformats.org/officeDocument/2006/relationships/image" Target="../media/image10.jpeg"/><Relationship Id="Raffd4f710723484e"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8bb4e0bf3fdf458a" Type="http://schemas.openxmlformats.org/officeDocument/2006/relationships/slideLayout" Target="../slideLayouts/slideLayout6.xml"/><Relationship Id="Reef1cd9f562b48ba"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1.xml.rels><?xml version='1.0' encoding='UTF-8' standalone='yes'?>
<Relationships xmlns="http://schemas.openxmlformats.org/package/2006/relationships"><Relationship Id="R5c7c67f1150d47bb" Type="http://schemas.openxmlformats.org/officeDocument/2006/relationships/slideLayout" Target="../slideLayouts/slideLayout6.xml"/><Relationship Id="R97173b73aa23487c"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443a9ce2f2a14189" Type="http://schemas.openxmlformats.org/officeDocument/2006/relationships/slideLayout" Target="../slideLayouts/slideLayout6.xml"/><Relationship Id="Rf0dbe6a3314641c7"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0864e04e9f894918" Type="http://schemas.openxmlformats.org/officeDocument/2006/relationships/image" Target="../media/image62.png"/><Relationship Id="R458fdc2735814cd3" Type="http://schemas.openxmlformats.org/officeDocument/2006/relationships/notesSlide" Target="../notesSlides/notesSlide36.xml"/><Relationship Id="Rfb6054ceb5fc4b48"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4454bc8541544d5e" Type="http://schemas.openxmlformats.org/officeDocument/2006/relationships/image" Target="../media/image63.png"/><Relationship Id="R9d7c957246c94019" Type="http://schemas.openxmlformats.org/officeDocument/2006/relationships/slideLayout" Target="../slideLayouts/slideLayout6.xml"/><Relationship Id="Ra8cd481afa1e4f3d" Type="http://schemas.openxmlformats.org/officeDocument/2006/relationships/image" Target="../media/image65.png"/><Relationship Id="Rab1d1122b78c4f73" Type="http://schemas.openxmlformats.org/officeDocument/2006/relationships/notesSlide" Target="../notesSlides/notesSlide37.xml"/><Relationship Id="Rcad51a9672e049d4" Type="http://schemas.openxmlformats.org/officeDocument/2006/relationships/image" Target="../media/image66.png"/><Relationship Id="Rce2a010a29214e85" Type="http://schemas.openxmlformats.org/officeDocument/2006/relationships/image" Target="../media/image64.png"/></Relationships>
</file>

<file path=ppt/slides/_rels/slide46.xml.rels><?xml version='1.0' encoding='UTF-8' standalone='yes'?>
<Relationships xmlns="http://schemas.openxmlformats.org/package/2006/relationships"><Relationship Id="R2693996ba64444d3" Type="http://schemas.openxmlformats.org/officeDocument/2006/relationships/notesSlide" Target="../notesSlides/notesSlide38.xml"/><Relationship Id="R325a3f582b204f78" Type="http://schemas.openxmlformats.org/officeDocument/2006/relationships/image" Target="../media/image67.png"/><Relationship Id="R42e1e70791fd465a" Type="http://schemas.openxmlformats.org/officeDocument/2006/relationships/image" Target="../media/image69.png"/><Relationship Id="Rd111001bd0b84a53" Type="http://schemas.openxmlformats.org/officeDocument/2006/relationships/image" Target="../media/image68.png"/><Relationship Id="Rece82097eb904f5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1ea7fca78a584179" Type="http://schemas.openxmlformats.org/officeDocument/2006/relationships/image" Target="../media/image70.png"/><Relationship Id="Ra55f86db592145d5" Type="http://schemas.openxmlformats.org/officeDocument/2006/relationships/slideLayout" Target="../slideLayouts/slideLayout6.xml"/><Relationship Id="Rb3c620266df646bd"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3f2cac4e70a1421c" Type="http://schemas.openxmlformats.org/officeDocument/2006/relationships/image" Target="../media/image46.png"/><Relationship Id="R738f8bc1b682457d" Type="http://schemas.openxmlformats.org/officeDocument/2006/relationships/notesSlide" Target="../notesSlides/notesSlide23.xml"/><Relationship Id="R73ba43b25cf24ffb" Type="http://schemas.openxmlformats.org/officeDocument/2006/relationships/image" Target="../media/image44.png"/><Relationship Id="R7ca1974be7074cb7" Type="http://schemas.openxmlformats.org/officeDocument/2006/relationships/slideLayout" Target="../slideLayouts/slideLayout6.xml"/><Relationship Id="R86a5cd2fabcb4cea" Type="http://schemas.openxmlformats.org/officeDocument/2006/relationships/image" Target="../media/image45.png"/><Relationship Id="Rc623863aa5274e69" Type="http://schemas.openxmlformats.org/officeDocument/2006/relationships/image" Target="../media/image43.png"/></Relationships>
</file>

<file path=ppt/slides/_rels/slide49.xml.rels><?xml version='1.0' encoding='UTF-8' standalone='yes'?>
<Relationships xmlns="http://schemas.openxmlformats.org/package/2006/relationships"><Relationship Id="R1da67a001dcb4d95" Type="http://schemas.openxmlformats.org/officeDocument/2006/relationships/notesSlide" Target="../notesSlides/notesSlide40.xml"/><Relationship Id="R48dd5fae008f4501"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FD93795-0697-4CBA-A01F-0F2E3A71A9DE}"/>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F549945E-7CB8-43A3-AE70-3B594E81C47C}"/>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Lecture 05 • Lab 4 theory</a:t>
            </a:r>
          </a:p>
        </p:txBody>
      </p:sp>
      <p:sp>
        <p:nvSpPr>
          <p:cNvPr id="3" name="">
            <a:extLst xmlns:a="http://schemas.openxmlformats.org/drawingml/2006/main">
              <a:ext uri="{FF2B5EF4-FFF2-40B4-BE49-F238E27FC236}">
                <a16:creationId xmlns:a16="http://schemas.microsoft.com/office/drawing/2014/main" id="{D2F7B779-D05D-4B21-BF37-5B989C869618}"/>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Free vibration of a spring–mass system</a:t>
            </a:r>
          </a:p>
        </p:txBody>
      </p:sp>
      <p:sp>
        <p:nvSpPr>
          <p:cNvPr id="4" name="">
            <a:extLst xmlns:a="http://schemas.openxmlformats.org/drawingml/2006/main">
              <a:ext uri="{FF2B5EF4-FFF2-40B4-BE49-F238E27FC236}">
                <a16:creationId xmlns:a16="http://schemas.microsoft.com/office/drawing/2014/main" id="{FAE51555-098C-4AFA-9109-216E8D430B89}"/>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AC8BE3A-7765-441B-B995-6939E9F14CFD}"/>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a:t>
            </a:r>
          </a:p>
        </p:txBody>
      </p:sp>
      <p:sp>
        <p:nvSpPr>
          <p:cNvPr id="6" name="">
            <a:extLst xmlns:a="http://schemas.openxmlformats.org/drawingml/2006/main">
              <a:ext uri="{FF2B5EF4-FFF2-40B4-BE49-F238E27FC236}">
                <a16:creationId xmlns:a16="http://schemas.microsoft.com/office/drawing/2014/main" id="{4196F2B4-804E-4EAE-9CD3-22744C1F06B1}"/>
              </a:ext>
            </a:extLst>
          </p:cNvPr>
          <p:cNvSpPr>
            <a:spLocks xmlns:a="http://schemas.openxmlformats.org/drawingml/2006/main" noGrp="1"/>
          </p:cNvSpPr>
          <p:nvPr/>
        </p:nvSpPr>
        <p:spPr>
          <a:xfrm xmlns:a="http://schemas.openxmlformats.org/drawingml/2006/main">
            <a:off x="523875" y="65341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pPr algn="l">
              <a:defRPr sz="975" b="0">
                <a:solidFill>
                  <a:srgbClr val="536575"/>
                </a:solidFill>
              </a:defRPr>
            </a:pPr>
            <a:r>
              <a:rPr sz="975" b="0">
                <a:solidFill>
                  <a:srgbClr val="536575"/>
                </a:solidFill>
              </a:rPr>
              <a:t>October 19, 2026</a:t>
            </a:r>
          </a:p>
        </p:txBody>
      </p:sp>
      <p:pic>
        <p:nvPicPr>
          <p:cNvPr id="7" name="">
            <a:extLst xmlns:a="http://schemas.openxmlformats.org/drawingml/2006/main">
              <a:ext uri="{FF2B5EF4-FFF2-40B4-BE49-F238E27FC236}">
                <a16:creationId xmlns:a16="http://schemas.microsoft.com/office/drawing/2014/main" id="{D4E5EFF7-698D-4D2D-9A9E-8E47104AC497}"/>
              </a:ext>
            </a:extLst>
          </p:cNvPr>
          <p:cNvPicPr>
            <a:picLocks xmlns:a="http://schemas.openxmlformats.org/drawingml/2006/main" noChangeAspect="1"/>
          </p:cNvPicPr>
          <p:nvPr/>
        </p:nvPicPr>
        <p:blipFill>
          <a:blip xmlns:r="http://schemas.openxmlformats.org/officeDocument/2006/relationships" xmlns:a="http://schemas.openxmlformats.org/drawingml/2006/main" r:embed="Rbf6679b1d4e049f6"/>
          <a:srcRect xmlns:a="http://schemas.openxmlformats.org/drawingml/2006/main" l="0" t="6932" r="0" b="6932"/>
          <a:stretch xmlns:a="http://schemas.openxmlformats.org/drawingml/2006/main">
            <a:fillRect l="0" t="0" r="0" b="0"/>
          </a:stretch>
        </p:blipFill>
        <p:spPr>
          <a:xfrm xmlns:a="http://schemas.openxmlformats.org/drawingml/2006/main">
            <a:off x="6286500" y="1638300"/>
            <a:ext cx="5381625" cy="34766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41A9F6E-DEFC-4EC0-8F8A-D31E6C7EF63E}"/>
              </a:ext>
            </a:extLst>
          </p:cNvPr>
          <p:cNvSpPr>
            <a:spLocks xmlns:a="http://schemas.openxmlformats.org/drawingml/2006/main" noGrp="1"/>
          </p:cNvSpPr>
          <p:nvPr/>
        </p:nvSpPr>
        <p:spPr>
          <a:xfrm xmlns:a="http://schemas.openxmlformats.org/drawingml/2006/main">
            <a:off x="619125" y="1809750"/>
            <a:ext cx="5143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From the real cart</a:t>
            </a:r>
          </a:p>
          <a:p xmlns:a="http://schemas.openxmlformats.org/drawingml/2006/main">
            <a:pPr algn="l">
              <a:defRPr sz="2550" b="1">
                <a:solidFill>
                  <a:srgbClr val="142D42"/>
                </a:solidFill>
              </a:defRPr>
            </a:pPr>
            <a:r>
              <a:rPr sz="2550" b="1">
                <a:solidFill>
                  <a:srgbClr val="142D42"/>
                </a:solidFill>
              </a:rPr>
              <a:t>to a testable mathematical model</a:t>
            </a:r>
          </a:p>
        </p:txBody>
      </p:sp>
      <p:sp>
        <p:nvSpPr>
          <p:cNvPr id="9" name="">
            <a:extLst xmlns:a="http://schemas.openxmlformats.org/drawingml/2006/main">
              <a:ext uri="{FF2B5EF4-FFF2-40B4-BE49-F238E27FC236}">
                <a16:creationId xmlns:a16="http://schemas.microsoft.com/office/drawing/2014/main" id="{D8948C7A-8E74-4B3B-8973-9D84F71DA14D}"/>
              </a:ext>
            </a:extLst>
          </p:cNvPr>
          <p:cNvSpPr>
            <a:spLocks xmlns:a="http://schemas.openxmlformats.org/drawingml/2006/main" noGrp="1"/>
          </p:cNvSpPr>
          <p:nvPr/>
        </p:nvSpPr>
        <p:spPr>
          <a:xfrm xmlns:a="http://schemas.openxmlformats.org/drawingml/2006/main">
            <a:off x="666750" y="3476625"/>
            <a:ext cx="5048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950" b="0">
                <a:solidFill>
                  <a:srgbClr val="142D42"/>
                </a:solidFill>
              </a:defRPr>
            </a:defPPr>
            <a:lvl1pPr algn="l">
              <a:defRPr sz="1950" b="0">
                <a:solidFill>
                  <a:srgbClr val="142D42"/>
                </a:solidFill>
              </a:defRPr>
            </a:lvl1pPr>
            <a:lvl2pPr algn="l">
              <a:defRPr sz="1950" b="0">
                <a:solidFill>
                  <a:srgbClr val="142D42"/>
                </a:solidFill>
              </a:defRPr>
            </a:lvl2pPr>
            <a:lvl3pPr algn="l">
              <a:defRPr sz="1950" b="0">
                <a:solidFill>
                  <a:srgbClr val="142D42"/>
                </a:solidFill>
              </a:defRPr>
            </a:lvl3pPr>
            <a:lvl4pPr algn="l">
              <a:defRPr sz="1950" b="0">
                <a:solidFill>
                  <a:srgbClr val="142D42"/>
                </a:solidFill>
              </a:defRPr>
            </a:lvl4pPr>
            <a:lvl5pPr algn="l">
              <a:defRPr sz="1950" b="0">
                <a:solidFill>
                  <a:srgbClr val="142D42"/>
                </a:solidFill>
              </a:defRPr>
            </a:lvl5pPr>
            <a:lvl6pPr algn="l">
              <a:defRPr sz="1950" b="0">
                <a:solidFill>
                  <a:srgbClr val="142D42"/>
                </a:solidFill>
              </a:defRPr>
            </a:lvl6pPr>
            <a:lvl7pPr algn="l">
              <a:defRPr sz="1950" b="0">
                <a:solidFill>
                  <a:srgbClr val="142D42"/>
                </a:solidFill>
              </a:defRPr>
            </a:lvl7pPr>
            <a:lvl8pPr algn="l">
              <a:defRPr sz="1950" b="0">
                <a:solidFill>
                  <a:srgbClr val="142D42"/>
                </a:solidFill>
              </a:defRPr>
            </a:lvl8pPr>
            <a:lvl9pPr algn="l">
              <a:defRPr sz="1950" b="0">
                <a:solidFill>
                  <a:srgbClr val="142D42"/>
                </a:solidFill>
              </a:defRPr>
            </a:lvl9pPr>
          </a:lstStyle>
          <a:p xmlns:a="http://schemas.openxmlformats.org/drawingml/2006/main">
            <a:pPr algn="l">
              <a:defRPr sz="1950" b="0">
                <a:solidFill>
                  <a:srgbClr val="142D42"/>
                </a:solidFill>
              </a:defRPr>
            </a:pPr>
            <a:r>
              <a:rPr sz="1950" b="0">
                <a:solidFill>
                  <a:srgbClr val="142D42"/>
                </a:solidFill>
              </a:rPr>
              <a:t>What makes it oscillate?</a:t>
            </a:r>
          </a:p>
          <a:p xmlns:a="http://schemas.openxmlformats.org/drawingml/2006/main">
            <a:pPr algn="l">
              <a:defRPr sz="1950" b="0">
                <a:solidFill>
                  <a:srgbClr val="142D42"/>
                </a:solidFill>
              </a:defRPr>
            </a:pPr>
            <a:r>
              <a:rPr sz="1950" b="0">
                <a:solidFill>
                  <a:srgbClr val="142D42"/>
                </a:solidFill>
              </a:rPr>
              <a:t>Why does it stop?</a:t>
            </a:r>
          </a:p>
          <a:p xmlns:a="http://schemas.openxmlformats.org/drawingml/2006/main">
            <a:pPr algn="l">
              <a:defRPr sz="1950" b="0">
                <a:solidFill>
                  <a:srgbClr val="142D42"/>
                </a:solidFill>
              </a:defRPr>
            </a:pPr>
            <a:r>
              <a:rPr sz="1950" b="0">
                <a:solidFill>
                  <a:srgbClr val="142D42"/>
                </a:solidFill>
              </a:rPr>
              <a:t>What can one position record tell us?</a:t>
            </a:r>
          </a:p>
        </p:txBody>
      </p:sp>
      <p:sp>
        <p:nvSpPr>
          <p:cNvPr id="10" name="">
            <a:extLst xmlns:a="http://schemas.openxmlformats.org/drawingml/2006/main">
              <a:ext uri="{FF2B5EF4-FFF2-40B4-BE49-F238E27FC236}">
                <a16:creationId xmlns:a16="http://schemas.microsoft.com/office/drawing/2014/main" id="{B8C63BD3-C838-471E-9FDE-6DD277F3F701}"/>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75E0BF54-755C-4EA4-9878-62F63C449611}"/>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We will derive every analysis formula from the same equation of motion.</a:t>
            </a:r>
          </a:p>
        </p:txBody>
      </p:sp>
      <p:sp xmlns:a="http://schemas.openxmlformats.org/drawingml/2006/main">
        <p:nvSpPr>
          <p:cNvPr id="13" name="TextBox 12"/>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0–1 min</a:t>
            </a:r>
          </a:p>
        </p:txBody>
      </p:sp>
    </p:spTree>
    <p:extLst>
      <p:ext uri="{BB962C8B-B14F-4D97-AF65-F5344CB8AC3E}">
        <p14:creationId xmlns:p14="http://schemas.microsoft.com/office/powerpoint/2010/main" val="20334934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69AAA42-74DD-49D8-ADBE-6CEB850984F6}"/>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DF4FBC10-2353-4CAD-B38B-2CB6122DC9EC}"/>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Purpose</a:t>
            </a:r>
          </a:p>
        </p:txBody>
      </p:sp>
      <p:sp>
        <p:nvSpPr>
          <p:cNvPr id="3" name="">
            <a:extLst xmlns:a="http://schemas.openxmlformats.org/drawingml/2006/main">
              <a:ext uri="{FF2B5EF4-FFF2-40B4-BE49-F238E27FC236}">
                <a16:creationId xmlns:a16="http://schemas.microsoft.com/office/drawing/2014/main" id="{1E4606E7-51E4-4D1B-830F-4AAD51594A6B}"/>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Why engineers measure a free response</a:t>
            </a:r>
          </a:p>
        </p:txBody>
      </p:sp>
      <p:sp>
        <p:nvSpPr>
          <p:cNvPr id="4" name="">
            <a:extLst xmlns:a="http://schemas.openxmlformats.org/drawingml/2006/main">
              <a:ext uri="{FF2B5EF4-FFF2-40B4-BE49-F238E27FC236}">
                <a16:creationId xmlns:a16="http://schemas.microsoft.com/office/drawing/2014/main" id="{2941CF51-6343-4C59-A4AC-E919C2DFB847}"/>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DA695B-CD77-4E93-899F-F7D259C4E1B0}"/>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2</a:t>
            </a:r>
          </a:p>
        </p:txBody>
      </p:sp>
      <p:sp>
        <p:nvSpPr>
          <p:cNvPr id="6" name="">
            <a:extLst xmlns:a="http://schemas.openxmlformats.org/drawingml/2006/main">
              <a:ext uri="{FF2B5EF4-FFF2-40B4-BE49-F238E27FC236}">
                <a16:creationId xmlns:a16="http://schemas.microsoft.com/office/drawing/2014/main" id="{264E02CA-7FD6-41C0-A460-5DFFE88944B5}"/>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1–2 min</a:t>
            </a:r>
          </a:p>
        </p:txBody>
      </p:sp>
      <p:pic>
        <p:nvPicPr>
          <p:cNvPr id="7" name="">
            <a:extLst xmlns:a="http://schemas.openxmlformats.org/drawingml/2006/main">
              <a:ext uri="{FF2B5EF4-FFF2-40B4-BE49-F238E27FC236}">
                <a16:creationId xmlns:a16="http://schemas.microsoft.com/office/drawing/2014/main" id="{21B04D17-661C-4C64-A7E0-335418D399E2}"/>
              </a:ext>
            </a:extLst>
          </p:cNvPr>
          <p:cNvPicPr>
            <a:picLocks xmlns:a="http://schemas.openxmlformats.org/drawingml/2006/main" noChangeAspect="1"/>
          </p:cNvPicPr>
          <p:nvPr/>
        </p:nvPicPr>
        <p:blipFill>
          <a:blip xmlns:r="http://schemas.openxmlformats.org/officeDocument/2006/relationships" xmlns:a="http://schemas.openxmlformats.org/drawingml/2006/main" r:embed="Re6d4241c4131442f"/>
          <a:srcRect xmlns:a="http://schemas.openxmlformats.org/drawingml/2006/main" l="0" t="6195" r="0" b="6195"/>
          <a:stretch xmlns:a="http://schemas.openxmlformats.org/drawingml/2006/main">
            <a:fillRect l="0" t="0" r="0" b="0"/>
          </a:stretch>
        </p:blipFill>
        <p:spPr>
          <a:xfrm xmlns:a="http://schemas.openxmlformats.org/drawingml/2006/main">
            <a:off x="619125" y="1647825"/>
            <a:ext cx="5381625" cy="31432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629FDD7-8C59-420F-8761-3C86D7C15BA1}"/>
              </a:ext>
            </a:extLst>
          </p:cNvPr>
          <p:cNvSpPr>
            <a:spLocks xmlns:a="http://schemas.openxmlformats.org/drawingml/2006/main" noGrp="1"/>
          </p:cNvSpPr>
          <p:nvPr/>
        </p:nvSpPr>
        <p:spPr>
          <a:xfrm xmlns:a="http://schemas.openxmlformats.org/drawingml/2006/main">
            <a:off x="6572250" y="1714500"/>
            <a:ext cx="466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100" b="1">
                <a:solidFill>
                  <a:srgbClr val="142D42"/>
                </a:solidFill>
              </a:defRPr>
            </a:defPPr>
            <a:lvl1pPr algn="l">
              <a:defRPr sz="2100" b="1">
                <a:solidFill>
                  <a:srgbClr val="142D42"/>
                </a:solidFill>
              </a:defRPr>
            </a:lvl1pPr>
            <a:lvl2pPr algn="l">
              <a:defRPr sz="2100" b="1">
                <a:solidFill>
                  <a:srgbClr val="142D42"/>
                </a:solidFill>
              </a:defRPr>
            </a:lvl2pPr>
            <a:lvl3pPr algn="l">
              <a:defRPr sz="2100" b="1">
                <a:solidFill>
                  <a:srgbClr val="142D42"/>
                </a:solidFill>
              </a:defRPr>
            </a:lvl3pPr>
            <a:lvl4pPr algn="l">
              <a:defRPr sz="2100" b="1">
                <a:solidFill>
                  <a:srgbClr val="142D42"/>
                </a:solidFill>
              </a:defRPr>
            </a:lvl4pPr>
            <a:lvl5pPr algn="l">
              <a:defRPr sz="2100" b="1">
                <a:solidFill>
                  <a:srgbClr val="142D42"/>
                </a:solidFill>
              </a:defRPr>
            </a:lvl5pPr>
            <a:lvl6pPr algn="l">
              <a:defRPr sz="2100" b="1">
                <a:solidFill>
                  <a:srgbClr val="142D42"/>
                </a:solidFill>
              </a:defRPr>
            </a:lvl6pPr>
            <a:lvl7pPr algn="l">
              <a:defRPr sz="2100" b="1">
                <a:solidFill>
                  <a:srgbClr val="142D42"/>
                </a:solidFill>
              </a:defRPr>
            </a:lvl7pPr>
            <a:lvl8pPr algn="l">
              <a:defRPr sz="2100" b="1">
                <a:solidFill>
                  <a:srgbClr val="142D42"/>
                </a:solidFill>
              </a:defRPr>
            </a:lvl8pPr>
            <a:lvl9pPr algn="l">
              <a:defRPr sz="2100" b="1">
                <a:solidFill>
                  <a:srgbClr val="142D42"/>
                </a:solidFill>
              </a:defRPr>
            </a:lvl9pPr>
          </a:lstStyle>
          <a:p xmlns:a="http://schemas.openxmlformats.org/drawingml/2006/main">
            <a:pPr algn="l">
              <a:defRPr sz="2100" b="1">
                <a:solidFill>
                  <a:srgbClr val="142D42"/>
                </a:solidFill>
              </a:defRPr>
            </a:pPr>
            <a:r>
              <a:rPr sz="2100" b="1">
                <a:solidFill>
                  <a:srgbClr val="142D42"/>
                </a:solidFill>
              </a:rPr>
              <a:t>Spacecraft and equipment testing</a:t>
            </a:r>
          </a:p>
        </p:txBody>
      </p:sp>
      <p:sp>
        <p:nvSpPr>
          <p:cNvPr id="9" name="">
            <a:extLst xmlns:a="http://schemas.openxmlformats.org/drawingml/2006/main">
              <a:ext uri="{FF2B5EF4-FFF2-40B4-BE49-F238E27FC236}">
                <a16:creationId xmlns:a16="http://schemas.microsoft.com/office/drawing/2014/main" id="{51204D1F-69B4-4DE8-B282-95B9B42D7DAE}"/>
              </a:ext>
            </a:extLst>
          </p:cNvPr>
          <p:cNvSpPr>
            <a:spLocks xmlns:a="http://schemas.openxmlformats.org/drawingml/2006/main" noGrp="1"/>
          </p:cNvSpPr>
          <p:nvPr/>
        </p:nvSpPr>
        <p:spPr>
          <a:xfrm xmlns:a="http://schemas.openxmlformats.org/drawingml/2006/main">
            <a:off x="6572250" y="2381250"/>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Measured frequency checks stiffness and moving mass.</a:t>
            </a:r>
          </a:p>
        </p:txBody>
      </p:sp>
      <p:sp>
        <p:nvSpPr>
          <p:cNvPr id="10" name="">
            <a:extLst xmlns:a="http://schemas.openxmlformats.org/drawingml/2006/main">
              <a:ext uri="{FF2B5EF4-FFF2-40B4-BE49-F238E27FC236}">
                <a16:creationId xmlns:a16="http://schemas.microsoft.com/office/drawing/2014/main" id="{FE6D048A-9692-4D19-83D8-82D9FD3CF688}"/>
              </a:ext>
            </a:extLst>
          </p:cNvPr>
          <p:cNvSpPr>
            <a:spLocks xmlns:a="http://schemas.openxmlformats.org/drawingml/2006/main" noGrp="1"/>
          </p:cNvSpPr>
          <p:nvPr/>
        </p:nvSpPr>
        <p:spPr>
          <a:xfrm xmlns:a="http://schemas.openxmlformats.org/drawingml/2006/main">
            <a:off x="6572250" y="3381375"/>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Decay rate reveals energy losses and settling behavior.</a:t>
            </a:r>
          </a:p>
        </p:txBody>
      </p:sp>
      <p:sp>
        <p:nvSpPr>
          <p:cNvPr id="11" name="">
            <a:extLst xmlns:a="http://schemas.openxmlformats.org/drawingml/2006/main">
              <a:ext uri="{FF2B5EF4-FFF2-40B4-BE49-F238E27FC236}">
                <a16:creationId xmlns:a16="http://schemas.microsoft.com/office/drawing/2014/main" id="{9F26D4EC-8F7D-4EC9-B30C-1159745E648D}"/>
              </a:ext>
            </a:extLst>
          </p:cNvPr>
          <p:cNvSpPr>
            <a:spLocks xmlns:a="http://schemas.openxmlformats.org/drawingml/2006/main" noGrp="1"/>
          </p:cNvSpPr>
          <p:nvPr/>
        </p:nvSpPr>
        <p:spPr>
          <a:xfrm xmlns:a="http://schemas.openxmlformats.org/drawingml/2006/main">
            <a:off x="6572250" y="4381500"/>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The same ideas guide suspension tuning and machinery diagnostics.</a:t>
            </a:r>
          </a:p>
        </p:txBody>
      </p:sp>
      <p:sp>
        <p:nvSpPr>
          <p:cNvPr id="12" name="">
            <a:extLst xmlns:a="http://schemas.openxmlformats.org/drawingml/2006/main">
              <a:ext uri="{FF2B5EF4-FFF2-40B4-BE49-F238E27FC236}">
                <a16:creationId xmlns:a16="http://schemas.microsoft.com/office/drawing/2014/main" id="{73A9AF55-9900-49D0-971D-21326EDD1E1A}"/>
              </a:ext>
            </a:extLst>
          </p:cNvPr>
          <p:cNvSpPr>
            <a:spLocks xmlns:a="http://schemas.openxmlformats.org/drawingml/2006/main" noGrp="1"/>
          </p:cNvSpPr>
          <p:nvPr/>
        </p:nvSpPr>
        <p:spPr>
          <a:xfrm xmlns:a="http://schemas.openxmlformats.org/drawingml/2006/main">
            <a:off x="619125" y="4905375"/>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0">
                <a:solidFill>
                  <a:srgbClr val="536575"/>
                </a:solidFill>
              </a:defRPr>
            </a:defPPr>
            <a:lvl1pPr algn="l">
              <a:defRPr sz="1200" b="0">
                <a:solidFill>
                  <a:srgbClr val="536575"/>
                </a:solidFill>
              </a:defRPr>
            </a:lvl1pPr>
            <a:lvl2pPr algn="l">
              <a:defRPr sz="1200" b="0">
                <a:solidFill>
                  <a:srgbClr val="536575"/>
                </a:solidFill>
              </a:defRPr>
            </a:lvl2pPr>
            <a:lvl3pPr algn="l">
              <a:defRPr sz="1200" b="0">
                <a:solidFill>
                  <a:srgbClr val="536575"/>
                </a:solidFill>
              </a:defRPr>
            </a:lvl3pPr>
            <a:lvl4pPr algn="l">
              <a:defRPr sz="1200" b="0">
                <a:solidFill>
                  <a:srgbClr val="536575"/>
                </a:solidFill>
              </a:defRPr>
            </a:lvl4pPr>
            <a:lvl5pPr algn="l">
              <a:defRPr sz="1200" b="0">
                <a:solidFill>
                  <a:srgbClr val="536575"/>
                </a:solidFill>
              </a:defRPr>
            </a:lvl5pPr>
            <a:lvl6pPr algn="l">
              <a:defRPr sz="1200" b="0">
                <a:solidFill>
                  <a:srgbClr val="536575"/>
                </a:solidFill>
              </a:defRPr>
            </a:lvl6pPr>
            <a:lvl7pPr algn="l">
              <a:defRPr sz="1200" b="0">
                <a:solidFill>
                  <a:srgbClr val="536575"/>
                </a:solidFill>
              </a:defRPr>
            </a:lvl7pPr>
            <a:lvl8pPr algn="l">
              <a:defRPr sz="1200" b="0">
                <a:solidFill>
                  <a:srgbClr val="536575"/>
                </a:solidFill>
              </a:defRPr>
            </a:lvl8pPr>
            <a:lvl9pPr algn="l">
              <a:defRPr sz="1200" b="0">
                <a:solidFill>
                  <a:srgbClr val="536575"/>
                </a:solidFill>
              </a:defRPr>
            </a:lvl9pPr>
          </a:lstStyle>
          <a:p xmlns:a="http://schemas.openxmlformats.org/drawingml/2006/main">
            <a:pPr algn="l">
              <a:defRPr sz="1200" b="0">
                <a:solidFill>
                  <a:srgbClr val="536575"/>
                </a:solidFill>
              </a:defRPr>
            </a:pPr>
            <a:r>
              <a:rPr sz="1200" b="0">
                <a:solidFill>
                  <a:srgbClr val="536575"/>
                </a:solidFill>
              </a:rPr>
              <a:t>NASA / GSFC: TESS vibration testing</a:t>
            </a:r>
          </a:p>
        </p:txBody>
      </p:sp>
      <p:sp>
        <p:nvSpPr>
          <p:cNvPr id="13" name="">
            <a:extLst xmlns:a="http://schemas.openxmlformats.org/drawingml/2006/main">
              <a:ext uri="{FF2B5EF4-FFF2-40B4-BE49-F238E27FC236}">
                <a16:creationId xmlns:a16="http://schemas.microsoft.com/office/drawing/2014/main" id="{2DF3D8E6-9319-4708-AFC0-45562CEA97B4}"/>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BBDFE65D-F006-47C0-9BB1-E74558695B3B}"/>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Lab 4 isolates these ideas in a single horizontal cart.</a:t>
            </a:r>
          </a:p>
        </p:txBody>
      </p:sp>
    </p:spTree>
    <p:extLst>
      <p:ext uri="{BB962C8B-B14F-4D97-AF65-F5344CB8AC3E}">
        <p14:creationId xmlns:p14="http://schemas.microsoft.com/office/powerpoint/2010/main" val="1966998823"/>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566928" y="164592"/>
            <a:ext cx="4114800" cy="292608"/>
          </a:xfrm>
          <a:prstGeom prst="rect">
            <a:avLst/>
          </a:prstGeom>
          <a:noFill/>
        </p:spPr>
        <p:txBody>
          <a:bodyPr wrap="square" lIns="45720" rIns="45720" tIns="27432">
            <a:spAutoFit/>
          </a:bodyPr>
          <a:lstStyle/>
          <a:p>
            <a:pPr>
              <a:spcAft>
                <a:spcPts val="600"/>
              </a:spcAft>
            </a:pPr>
            <a:r>
              <a:rPr sz="1200" b="1">
                <a:solidFill>
                  <a:srgbClr val="972D41"/>
                </a:solidFill>
                <a:latin typeface="Aptos"/>
              </a:rPr>
              <a:t>MIE 402  •  MECHANICAL ENGINEERING LAB II</a:t>
            </a:r>
          </a:p>
        </p:txBody>
      </p:sp>
      <p:sp>
        <p:nvSpPr>
          <p:cNvPr id="5" name="TextBox 4"/>
          <p:cNvSpPr txBox="1"/>
          <p:nvPr/>
        </p:nvSpPr>
        <p:spPr>
          <a:xfrm>
            <a:off x="8229600" y="164592"/>
            <a:ext cx="3291840" cy="292608"/>
          </a:xfrm>
          <a:prstGeom prst="rect">
            <a:avLst/>
          </a:prstGeom>
          <a:noFill/>
        </p:spPr>
        <p:txBody>
          <a:bodyPr wrap="square" lIns="45720" rIns="45720" tIns="27432">
            <a:spAutoFit/>
          </a:bodyPr>
          <a:lstStyle/>
          <a:p>
            <a:pPr algn="r">
              <a:spcAft>
                <a:spcPts val="600"/>
              </a:spcAft>
            </a:pPr>
            <a:r>
              <a:rPr sz="1100" b="0">
                <a:solidFill>
                  <a:srgbClr val="55646F"/>
                </a:solidFill>
                <a:latin typeface="Aptos"/>
              </a:rPr>
              <a:t>Learning map</a:t>
            </a:r>
          </a:p>
        </p:txBody>
      </p:sp>
      <p:sp>
        <p:nvSpPr>
          <p:cNvPr id="6" name="TextBox 5"/>
          <p:cNvSpPr txBox="1"/>
          <p:nvPr/>
        </p:nvSpPr>
        <p:spPr>
          <a:xfrm>
            <a:off x="566928" y="621792"/>
            <a:ext cx="11064240" cy="658368"/>
          </a:xfrm>
          <a:prstGeom prst="rect">
            <a:avLst/>
          </a:prstGeom>
          <a:noFill/>
        </p:spPr>
        <p:txBody>
          <a:bodyPr wrap="square" lIns="45720" rIns="45720" tIns="27432">
            <a:spAutoFit/>
          </a:bodyPr>
          <a:lstStyle/>
          <a:p>
            <a:pPr>
              <a:spcAft>
                <a:spcPts val="600"/>
              </a:spcAft>
            </a:pPr>
            <a:r>
              <a:rPr sz="2700" b="1">
                <a:solidFill>
                  <a:srgbClr val="193143"/>
                </a:solidFill>
                <a:latin typeface="Aptos"/>
              </a:rPr>
              <a:t>One cart, one model, four things to measure</a:t>
            </a:r>
          </a:p>
        </p:txBody>
      </p:sp>
      <p:sp>
        <p:nvSpPr>
          <p:cNvPr id="7" name="Rectangle 6"/>
          <p:cNvSpPr/>
          <p:nvPr/>
        </p:nvSpPr>
        <p:spPr>
          <a:xfrm>
            <a:off x="566928" y="1335024"/>
            <a:ext cx="11018520" cy="10972"/>
          </a:xfrm>
          <a:prstGeom prst="rect">
            <a:avLst/>
          </a:prstGeom>
          <a:solidFill>
            <a:srgbClr val="D8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13232" y="1856231"/>
            <a:ext cx="3337560" cy="3273552"/>
          </a:xfrm>
          <a:prstGeom prst="roundRect">
            <a:avLst/>
          </a:prstGeom>
          <a:solidFill>
            <a:srgbClr val="F2F6F9"/>
          </a:solidFill>
          <a:ln>
            <a:solidFill>
              <a:srgbClr val="D2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103120"/>
            <a:ext cx="2926080" cy="548640"/>
          </a:xfrm>
          <a:prstGeom prst="rect">
            <a:avLst/>
          </a:prstGeom>
          <a:noFill/>
        </p:spPr>
        <p:txBody>
          <a:bodyPr wrap="square" lIns="45720" rIns="45720" tIns="27432">
            <a:spAutoFit/>
          </a:bodyPr>
          <a:lstStyle/>
          <a:p>
            <a:pPr>
              <a:spcAft>
                <a:spcPts val="600"/>
              </a:spcAft>
            </a:pPr>
            <a:r>
              <a:rPr sz="2100" b="1">
                <a:solidFill>
                  <a:srgbClr val="256A99"/>
                </a:solidFill>
                <a:latin typeface="Aptos"/>
              </a:rPr>
              <a:t>Observe</a:t>
            </a:r>
          </a:p>
        </p:txBody>
      </p:sp>
      <p:sp>
        <p:nvSpPr>
          <p:cNvPr id="10" name="TextBox 9"/>
          <p:cNvSpPr txBox="1"/>
          <p:nvPr/>
        </p:nvSpPr>
        <p:spPr>
          <a:xfrm>
            <a:off x="886968" y="2926080"/>
            <a:ext cx="2907792" cy="1792224"/>
          </a:xfrm>
          <a:prstGeom prst="rect">
            <a:avLst/>
          </a:prstGeom>
          <a:noFill/>
        </p:spPr>
        <p:txBody>
          <a:bodyPr wrap="square" lIns="45720" rIns="45720" tIns="27432">
            <a:spAutoFit/>
          </a:bodyPr>
          <a:lstStyle/>
          <a:p>
            <a:pPr>
              <a:spcAft>
                <a:spcPts val="600"/>
              </a:spcAft>
            </a:pPr>
            <a:r>
              <a:rPr sz="1900" b="0">
                <a:solidFill>
                  <a:srgbClr val="193143"/>
                </a:solidFill>
                <a:latin typeface="Aptos"/>
              </a:rPr>
              <a:t>The encoder gives a time series of cart position, X(t).</a:t>
            </a:r>
          </a:p>
        </p:txBody>
      </p:sp>
      <p:sp>
        <p:nvSpPr>
          <p:cNvPr id="11" name="TextBox 10"/>
          <p:cNvSpPr txBox="1"/>
          <p:nvPr/>
        </p:nvSpPr>
        <p:spPr>
          <a:xfrm>
            <a:off x="4114800" y="3090672"/>
            <a:ext cx="402336" cy="548640"/>
          </a:xfrm>
          <a:prstGeom prst="rect">
            <a:avLst/>
          </a:prstGeom>
          <a:noFill/>
        </p:spPr>
        <p:txBody>
          <a:bodyPr wrap="square" lIns="45720" rIns="45720" tIns="27432">
            <a:spAutoFit/>
          </a:bodyPr>
          <a:lstStyle/>
          <a:p>
            <a:pPr>
              <a:spcAft>
                <a:spcPts val="600"/>
              </a:spcAft>
            </a:pPr>
            <a:r>
              <a:rPr sz="2500" b="1">
                <a:solidFill>
                  <a:srgbClr val="972D41"/>
                </a:solidFill>
                <a:latin typeface="Aptos"/>
              </a:rPr>
              <a:t>→</a:t>
            </a:r>
          </a:p>
        </p:txBody>
      </p:sp>
      <p:sp>
        <p:nvSpPr>
          <p:cNvPr id="12" name="Rounded Rectangle 11"/>
          <p:cNvSpPr/>
          <p:nvPr/>
        </p:nvSpPr>
        <p:spPr>
          <a:xfrm>
            <a:off x="4507992" y="1856231"/>
            <a:ext cx="3337560" cy="3273552"/>
          </a:xfrm>
          <a:prstGeom prst="roundRect">
            <a:avLst/>
          </a:prstGeom>
          <a:solidFill>
            <a:srgbClr val="F2F6F9"/>
          </a:solidFill>
          <a:ln>
            <a:solidFill>
              <a:srgbClr val="D2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103120"/>
            <a:ext cx="2926080" cy="548640"/>
          </a:xfrm>
          <a:prstGeom prst="rect">
            <a:avLst/>
          </a:prstGeom>
          <a:noFill/>
        </p:spPr>
        <p:txBody>
          <a:bodyPr wrap="square" lIns="45720" rIns="45720" tIns="27432">
            <a:spAutoFit/>
          </a:bodyPr>
          <a:lstStyle/>
          <a:p>
            <a:pPr>
              <a:spcAft>
                <a:spcPts val="600"/>
              </a:spcAft>
            </a:pPr>
            <a:r>
              <a:rPr sz="2100" b="1">
                <a:solidFill>
                  <a:srgbClr val="256A99"/>
                </a:solidFill>
                <a:latin typeface="Aptos"/>
              </a:rPr>
              <a:t>Explain</a:t>
            </a:r>
          </a:p>
        </p:txBody>
      </p:sp>
      <p:sp>
        <p:nvSpPr>
          <p:cNvPr id="14" name="TextBox 13"/>
          <p:cNvSpPr txBox="1"/>
          <p:nvPr/>
        </p:nvSpPr>
        <p:spPr>
          <a:xfrm>
            <a:off x="4681728" y="2926080"/>
            <a:ext cx="2907792" cy="1792224"/>
          </a:xfrm>
          <a:prstGeom prst="rect">
            <a:avLst/>
          </a:prstGeom>
          <a:noFill/>
        </p:spPr>
        <p:txBody>
          <a:bodyPr wrap="square" lIns="45720" rIns="45720" tIns="27432">
            <a:spAutoFit/>
          </a:bodyPr>
          <a:lstStyle/>
          <a:p>
            <a:pPr>
              <a:spcAft>
                <a:spcPts val="600"/>
              </a:spcAft>
            </a:pPr>
            <a:r>
              <a:rPr sz="1900" b="0">
                <a:solidFill>
                  <a:srgbClr val="193143"/>
                </a:solidFill>
                <a:latin typeface="Aptos"/>
              </a:rPr>
              <a:t>Newton’s law gives mass, stiffness, and damping parameters.</a:t>
            </a:r>
          </a:p>
        </p:txBody>
      </p:sp>
      <p:sp>
        <p:nvSpPr>
          <p:cNvPr id="15" name="TextBox 14"/>
          <p:cNvSpPr txBox="1"/>
          <p:nvPr/>
        </p:nvSpPr>
        <p:spPr>
          <a:xfrm>
            <a:off x="7909560" y="3090672"/>
            <a:ext cx="402336" cy="548640"/>
          </a:xfrm>
          <a:prstGeom prst="rect">
            <a:avLst/>
          </a:prstGeom>
          <a:noFill/>
        </p:spPr>
        <p:txBody>
          <a:bodyPr wrap="square" lIns="45720" rIns="45720" tIns="27432">
            <a:spAutoFit/>
          </a:bodyPr>
          <a:lstStyle/>
          <a:p>
            <a:pPr>
              <a:spcAft>
                <a:spcPts val="600"/>
              </a:spcAft>
            </a:pPr>
            <a:r>
              <a:rPr sz="2500" b="1">
                <a:solidFill>
                  <a:srgbClr val="972D41"/>
                </a:solidFill>
                <a:latin typeface="Aptos"/>
              </a:rPr>
              <a:t>→</a:t>
            </a:r>
          </a:p>
        </p:txBody>
      </p:sp>
      <p:sp>
        <p:nvSpPr>
          <p:cNvPr id="16" name="Rounded Rectangle 15"/>
          <p:cNvSpPr/>
          <p:nvPr/>
        </p:nvSpPr>
        <p:spPr>
          <a:xfrm>
            <a:off x="8302752" y="1856231"/>
            <a:ext cx="3337560" cy="3273552"/>
          </a:xfrm>
          <a:prstGeom prst="roundRect">
            <a:avLst/>
          </a:prstGeom>
          <a:solidFill>
            <a:srgbClr val="F2F6F9"/>
          </a:solidFill>
          <a:ln>
            <a:solidFill>
              <a:srgbClr val="D2DE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6488" y="2103120"/>
            <a:ext cx="2926080" cy="548640"/>
          </a:xfrm>
          <a:prstGeom prst="rect">
            <a:avLst/>
          </a:prstGeom>
          <a:noFill/>
        </p:spPr>
        <p:txBody>
          <a:bodyPr wrap="square" lIns="45720" rIns="45720" tIns="27432">
            <a:spAutoFit/>
          </a:bodyPr>
          <a:lstStyle/>
          <a:p>
            <a:pPr>
              <a:spcAft>
                <a:spcPts val="600"/>
              </a:spcAft>
            </a:pPr>
            <a:r>
              <a:rPr sz="2100" b="1">
                <a:solidFill>
                  <a:srgbClr val="256A99"/>
                </a:solidFill>
                <a:latin typeface="Aptos"/>
              </a:rPr>
              <a:t>Estimate</a:t>
            </a:r>
          </a:p>
        </p:txBody>
      </p:sp>
      <p:sp>
        <p:nvSpPr>
          <p:cNvPr id="18" name="TextBox 17"/>
          <p:cNvSpPr txBox="1"/>
          <p:nvPr/>
        </p:nvSpPr>
        <p:spPr>
          <a:xfrm>
            <a:off x="8476488" y="2926080"/>
            <a:ext cx="2907792" cy="1792224"/>
          </a:xfrm>
          <a:prstGeom prst="rect">
            <a:avLst/>
          </a:prstGeom>
          <a:noFill/>
        </p:spPr>
        <p:txBody>
          <a:bodyPr wrap="square" lIns="45720" rIns="45720" tIns="27432">
            <a:spAutoFit/>
          </a:bodyPr>
          <a:lstStyle/>
          <a:p>
            <a:pPr>
              <a:spcAft>
                <a:spcPts val="600"/>
              </a:spcAft>
            </a:pPr>
            <a:r>
              <a:rPr sz="1900" b="0">
                <a:solidFill>
                  <a:srgbClr val="193143"/>
                </a:solidFill>
                <a:latin typeface="Aptos"/>
              </a:rPr>
              <a:t>Peak spacing, peak decay, and FFT check different features.</a:t>
            </a:r>
          </a:p>
        </p:txBody>
      </p:sp>
      <p:sp>
        <p:nvSpPr>
          <p:cNvPr id="19" name="Rectangle 18"/>
          <p:cNvSpPr/>
          <p:nvPr/>
        </p:nvSpPr>
        <p:spPr>
          <a:xfrm>
            <a:off x="566928" y="5888736"/>
            <a:ext cx="11027664" cy="585216"/>
          </a:xfrm>
          <a:prstGeom prst="rect">
            <a:avLst/>
          </a:prstGeom>
          <a:solidFill>
            <a:srgbClr val="EF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989320"/>
            <a:ext cx="10661904" cy="365760"/>
          </a:xfrm>
          <a:prstGeom prst="rect">
            <a:avLst/>
          </a:prstGeom>
          <a:noFill/>
        </p:spPr>
        <p:txBody>
          <a:bodyPr wrap="square" lIns="45720" rIns="45720" tIns="27432">
            <a:spAutoFit/>
          </a:bodyPr>
          <a:lstStyle/>
          <a:p>
            <a:pPr>
              <a:spcAft>
                <a:spcPts val="600"/>
              </a:spcAft>
            </a:pPr>
            <a:r>
              <a:rPr sz="1600" b="1">
                <a:solidFill>
                  <a:srgbClr val="972D41"/>
                </a:solidFill>
                <a:latin typeface="Aptos"/>
              </a:rPr>
              <a:t>Every measured formula will be traced back to the equation of motion.</a:t>
            </a:r>
          </a:p>
        </p:txBody>
      </p:sp>
      <p:sp>
        <p:nvSpPr>
          <p:cNvPr id="21" name="TextBox 20"/>
          <p:cNvSpPr txBox="1"/>
          <p:nvPr/>
        </p:nvSpPr>
        <p:spPr>
          <a:xfrm>
            <a:off x="594360" y="6556248"/>
            <a:ext cx="6400800" cy="182880"/>
          </a:xfrm>
          <a:prstGeom prst="rect">
            <a:avLst/>
          </a:prstGeom>
          <a:noFill/>
        </p:spPr>
        <p:txBody>
          <a:bodyPr wrap="square" lIns="45720" rIns="45720" tIns="27432">
            <a:spAutoFit/>
          </a:bodyPr>
          <a:lstStyle/>
          <a:p>
            <a:pPr>
              <a:spcAft>
                <a:spcPts val="600"/>
              </a:spcAft>
            </a:pPr>
            <a:r>
              <a:rPr sz="1000" b="0">
                <a:solidFill>
                  <a:srgbClr val="55646F"/>
                </a:solidFill>
                <a:latin typeface="Aptos"/>
              </a:rPr>
              <a:t>Ehsan Roohi  •  UMass Amherst  •  Fall 2026</a:t>
            </a:r>
          </a:p>
        </p:txBody>
      </p:sp>
      <p:sp>
        <p:nvSpPr>
          <p:cNvPr id="22" name="TextBox 21"/>
          <p:cNvSpPr txBox="1"/>
          <p:nvPr/>
        </p:nvSpPr>
        <p:spPr>
          <a:xfrm>
            <a:off x="11064240" y="6556248"/>
            <a:ext cx="566928" cy="182880"/>
          </a:xfrm>
          <a:prstGeom prst="rect">
            <a:avLst/>
          </a:prstGeom>
          <a:noFill/>
        </p:spPr>
        <p:txBody>
          <a:bodyPr wrap="square" lIns="45720" rIns="45720" tIns="27432">
            <a:spAutoFit/>
          </a:bodyPr>
          <a:lstStyle/>
          <a:p>
            <a:pPr algn="r"/>
            <a:r>
              <a:rPr sz="1000">
                <a:solidFill>
                  <a:srgbClr val="5A666E"/>
                </a:solidFill>
              </a:rPr>
              <a:t>3</a:t>
            </a:r>
          </a:p>
        </p:txBody>
      </p:sp>
      <p:sp>
        <p:nvSpPr>
          <p:cNvPr id="23" name="TextBox 22"/>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2–3 min</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FD916A59-63C0-49AC-9B62-4119A21FDE4C}"/>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C42953B2-5F81-499E-9A97-F8156BA314B9}"/>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Apparatus</a:t>
            </a:r>
          </a:p>
        </p:txBody>
      </p:sp>
      <p:sp>
        <p:nvSpPr>
          <p:cNvPr id="3" name="">
            <a:extLst xmlns:a="http://schemas.openxmlformats.org/drawingml/2006/main">
              <a:ext uri="{FF2B5EF4-FFF2-40B4-BE49-F238E27FC236}">
                <a16:creationId xmlns:a16="http://schemas.microsoft.com/office/drawing/2014/main" id="{C57A4DCD-9CB5-4195-B359-59B264054BBC}"/>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physical test: a cart between two springs</a:t>
            </a:r>
          </a:p>
        </p:txBody>
      </p:sp>
      <p:sp>
        <p:nvSpPr>
          <p:cNvPr id="4" name="">
            <a:extLst xmlns:a="http://schemas.openxmlformats.org/drawingml/2006/main">
              <a:ext uri="{FF2B5EF4-FFF2-40B4-BE49-F238E27FC236}">
                <a16:creationId xmlns:a16="http://schemas.microsoft.com/office/drawing/2014/main" id="{1072168B-911C-486B-BA2D-D0718A60BEB5}"/>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774C26-5960-4595-92D1-E7C25C1B7F4B}"/>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4</a:t>
            </a:r>
          </a:p>
        </p:txBody>
      </p:sp>
      <p:sp>
        <p:nvSpPr>
          <p:cNvPr id="6" name="">
            <a:extLst xmlns:a="http://schemas.openxmlformats.org/drawingml/2006/main">
              <a:ext uri="{FF2B5EF4-FFF2-40B4-BE49-F238E27FC236}">
                <a16:creationId xmlns:a16="http://schemas.microsoft.com/office/drawing/2014/main" id="{2F59E185-7249-4B48-9020-4730141694FF}"/>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3–4 min</a:t>
            </a:r>
          </a:p>
        </p:txBody>
      </p:sp>
      <p:sp>
        <p:nvSpPr>
          <p:cNvPr id="7" name="">
            <a:extLst xmlns:a="http://schemas.openxmlformats.org/drawingml/2006/main">
              <a:ext uri="{FF2B5EF4-FFF2-40B4-BE49-F238E27FC236}">
                <a16:creationId xmlns:a16="http://schemas.microsoft.com/office/drawing/2014/main" id="{1919C86D-B023-4806-BCE4-CF4C92A29689}"/>
              </a:ext>
            </a:extLst>
          </p:cNvPr>
          <p:cNvSpPr>
            <a:spLocks xmlns:a="http://schemas.openxmlformats.org/drawingml/2006/main" noGrp="1"/>
          </p:cNvSpPr>
          <p:nvPr/>
        </p:nvSpPr>
        <p:spPr>
          <a:xfrm xmlns:a="http://schemas.openxmlformats.org/drawingml/2006/main">
            <a:off x="952500" y="2381250"/>
            <a:ext cx="133350" cy="1762125"/>
          </a:xfrm>
          <a:prstGeom xmlns:a="http://schemas.openxmlformats.org/drawingml/2006/main" prst="rect">
            <a:avLst/>
          </a:prstGeom>
          <a:solidFill xmlns:a="http://schemas.openxmlformats.org/drawingml/2006/main">
            <a:srgbClr val="536575"/>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DE81C710-85DA-4680-AAE4-495BCD7207A3}"/>
              </a:ext>
            </a:extLst>
          </p:cNvPr>
          <p:cNvSpPr>
            <a:spLocks xmlns:a="http://schemas.openxmlformats.org/drawingml/2006/main" noGrp="1"/>
          </p:cNvSpPr>
          <p:nvPr/>
        </p:nvSpPr>
        <p:spPr>
          <a:xfrm xmlns:a="http://schemas.openxmlformats.org/drawingml/2006/main">
            <a:off x="10810875" y="2381250"/>
            <a:ext cx="133350" cy="1762125"/>
          </a:xfrm>
          <a:prstGeom xmlns:a="http://schemas.openxmlformats.org/drawingml/2006/main" prst="rect">
            <a:avLst/>
          </a:prstGeom>
          <a:solidFill xmlns:a="http://schemas.openxmlformats.org/drawingml/2006/main">
            <a:srgbClr val="536575"/>
          </a:solidFill>
          <a:ln xmlns:a="http://schemas.openxmlformats.org/drawingml/2006/main" w="0">
            <a:no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8D4EB100-CFE8-43B2-9109-5148699F5196}"/>
              </a:ext>
            </a:extLst>
          </p:cNvPr>
          <p:cNvSpPr>
            <a:spLocks xmlns:a="http://schemas.openxmlformats.org/drawingml/2006/main" noGrp="1"/>
          </p:cNvSpPr>
          <p:nvPr/>
        </p:nvSpPr>
        <p:spPr>
          <a:xfrm xmlns:a="http://schemas.openxmlformats.org/drawingml/2006/main" rot="0">
            <a:off x="952500" y="3824288"/>
            <a:ext cx="10001250" cy="28575"/>
          </a:xfrm>
          <a:prstGeom xmlns:a="http://schemas.openxmlformats.org/drawingml/2006/main" prst="rect">
            <a:avLst/>
          </a:prstGeom>
          <a:solidFill xmlns:a="http://schemas.openxmlformats.org/drawingml/2006/main">
            <a:srgbClr val="536575"/>
          </a:solidFill>
          <a:ln xmlns:a="http://schemas.openxmlformats.org/drawingml/2006/main" w="0">
            <a:no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C0888C7A-E274-4609-87A1-DC55ABC6032C}"/>
              </a:ext>
            </a:extLst>
          </p:cNvPr>
          <p:cNvSpPr>
            <a:spLocks xmlns:a="http://schemas.openxmlformats.org/drawingml/2006/main" noGrp="1"/>
          </p:cNvSpPr>
          <p:nvPr/>
        </p:nvSpPr>
        <p:spPr>
          <a:xfrm xmlns:a="http://schemas.openxmlformats.org/drawingml/2006/main" rot="0">
            <a:off x="1085850" y="2986088"/>
            <a:ext cx="17145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16D640F-9BCD-474E-943B-E756F6877F3B}"/>
              </a:ext>
            </a:extLst>
          </p:cNvPr>
          <p:cNvSpPr>
            <a:spLocks xmlns:a="http://schemas.openxmlformats.org/drawingml/2006/main" noGrp="1"/>
          </p:cNvSpPr>
          <p:nvPr/>
        </p:nvSpPr>
        <p:spPr>
          <a:xfrm xmlns:a="http://schemas.openxmlformats.org/drawingml/2006/main" rot="0">
            <a:off x="1257300" y="2986088"/>
            <a:ext cx="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71AF6E1E-FD3F-49CB-8541-848D60C482C5}"/>
              </a:ext>
            </a:extLst>
          </p:cNvPr>
          <p:cNvSpPr>
            <a:spLocks xmlns:a="http://schemas.openxmlformats.org/drawingml/2006/main" noGrp="1"/>
          </p:cNvSpPr>
          <p:nvPr/>
        </p:nvSpPr>
        <p:spPr>
          <a:xfrm xmlns:a="http://schemas.openxmlformats.org/drawingml/2006/main" rot="1538460">
            <a:off x="1242127" y="3052763"/>
            <a:ext cx="30815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C863C9D-B588-47E1-AF6A-B3FE05E0F7C6}"/>
              </a:ext>
            </a:extLst>
          </p:cNvPr>
          <p:cNvSpPr>
            <a:spLocks xmlns:a="http://schemas.openxmlformats.org/drawingml/2006/main" noGrp="1"/>
          </p:cNvSpPr>
          <p:nvPr/>
        </p:nvSpPr>
        <p:spPr>
          <a:xfrm xmlns:a="http://schemas.openxmlformats.org/drawingml/2006/main" rot="-2629852">
            <a:off x="1481464"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9354BDEA-CF2D-4491-B426-6B4C25C7C4A1}"/>
              </a:ext>
            </a:extLst>
          </p:cNvPr>
          <p:cNvSpPr>
            <a:spLocks xmlns:a="http://schemas.openxmlformats.org/drawingml/2006/main" noGrp="1"/>
          </p:cNvSpPr>
          <p:nvPr/>
        </p:nvSpPr>
        <p:spPr>
          <a:xfrm xmlns:a="http://schemas.openxmlformats.org/drawingml/2006/main" rot="2629852">
            <a:off x="1759277"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600656C5-0FD1-4345-8211-4E3CA4F5FE08}"/>
              </a:ext>
            </a:extLst>
          </p:cNvPr>
          <p:cNvSpPr>
            <a:spLocks xmlns:a="http://schemas.openxmlformats.org/drawingml/2006/main" noGrp="1"/>
          </p:cNvSpPr>
          <p:nvPr/>
        </p:nvSpPr>
        <p:spPr>
          <a:xfrm xmlns:a="http://schemas.openxmlformats.org/drawingml/2006/main" rot="-2629852">
            <a:off x="2037089"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F446D417-A9F8-4973-9082-1111D963BAAB}"/>
              </a:ext>
            </a:extLst>
          </p:cNvPr>
          <p:cNvSpPr>
            <a:spLocks xmlns:a="http://schemas.openxmlformats.org/drawingml/2006/main" noGrp="1"/>
          </p:cNvSpPr>
          <p:nvPr/>
        </p:nvSpPr>
        <p:spPr>
          <a:xfrm xmlns:a="http://schemas.openxmlformats.org/drawingml/2006/main" rot="2629852">
            <a:off x="2314902"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E35B0E88-F13F-44F0-AD02-E22F0338BD61}"/>
              </a:ext>
            </a:extLst>
          </p:cNvPr>
          <p:cNvSpPr>
            <a:spLocks xmlns:a="http://schemas.openxmlformats.org/drawingml/2006/main" noGrp="1"/>
          </p:cNvSpPr>
          <p:nvPr/>
        </p:nvSpPr>
        <p:spPr>
          <a:xfrm xmlns:a="http://schemas.openxmlformats.org/drawingml/2006/main" rot="-2629852">
            <a:off x="2592714"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4FC90BBE-EFD2-4979-A0B2-9BEE008BC244}"/>
              </a:ext>
            </a:extLst>
          </p:cNvPr>
          <p:cNvSpPr>
            <a:spLocks xmlns:a="http://schemas.openxmlformats.org/drawingml/2006/main" noGrp="1"/>
          </p:cNvSpPr>
          <p:nvPr/>
        </p:nvSpPr>
        <p:spPr>
          <a:xfrm xmlns:a="http://schemas.openxmlformats.org/drawingml/2006/main" rot="2629852">
            <a:off x="2870527"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8832B03F-7593-4917-B2BC-5C52C7328B05}"/>
              </a:ext>
            </a:extLst>
          </p:cNvPr>
          <p:cNvSpPr>
            <a:spLocks xmlns:a="http://schemas.openxmlformats.org/drawingml/2006/main" noGrp="1"/>
          </p:cNvSpPr>
          <p:nvPr/>
        </p:nvSpPr>
        <p:spPr>
          <a:xfrm xmlns:a="http://schemas.openxmlformats.org/drawingml/2006/main" rot="-2629852">
            <a:off x="3148339"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81542E0E-3AF3-4A23-B541-1D2B4D1D02ED}"/>
              </a:ext>
            </a:extLst>
          </p:cNvPr>
          <p:cNvSpPr>
            <a:spLocks xmlns:a="http://schemas.openxmlformats.org/drawingml/2006/main" noGrp="1"/>
          </p:cNvSpPr>
          <p:nvPr/>
        </p:nvSpPr>
        <p:spPr>
          <a:xfrm xmlns:a="http://schemas.openxmlformats.org/drawingml/2006/main" rot="2629852">
            <a:off x="3426152"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0F6DF071-1EE9-462B-B748-45EDEFCB2005}"/>
              </a:ext>
            </a:extLst>
          </p:cNvPr>
          <p:cNvSpPr>
            <a:spLocks xmlns:a="http://schemas.openxmlformats.org/drawingml/2006/main" noGrp="1"/>
          </p:cNvSpPr>
          <p:nvPr/>
        </p:nvSpPr>
        <p:spPr>
          <a:xfrm xmlns:a="http://schemas.openxmlformats.org/drawingml/2006/main" rot="-2629852">
            <a:off x="3703964"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87733DEE-39BA-4A50-97CF-718AD24B82D7}"/>
              </a:ext>
            </a:extLst>
          </p:cNvPr>
          <p:cNvSpPr>
            <a:spLocks xmlns:a="http://schemas.openxmlformats.org/drawingml/2006/main" noGrp="1"/>
          </p:cNvSpPr>
          <p:nvPr/>
        </p:nvSpPr>
        <p:spPr>
          <a:xfrm xmlns:a="http://schemas.openxmlformats.org/drawingml/2006/main" rot="2629852">
            <a:off x="3981777" y="2986088"/>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3074DEAD-D015-49F7-AFEA-187C3D03E47F}"/>
              </a:ext>
            </a:extLst>
          </p:cNvPr>
          <p:cNvSpPr>
            <a:spLocks xmlns:a="http://schemas.openxmlformats.org/drawingml/2006/main" noGrp="1"/>
          </p:cNvSpPr>
          <p:nvPr/>
        </p:nvSpPr>
        <p:spPr>
          <a:xfrm xmlns:a="http://schemas.openxmlformats.org/drawingml/2006/main" rot="-1538460">
            <a:off x="4298064" y="3052763"/>
            <a:ext cx="30815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DAA3485A-1E1E-4B02-A40A-9C5A58EE215C}"/>
              </a:ext>
            </a:extLst>
          </p:cNvPr>
          <p:cNvSpPr>
            <a:spLocks xmlns:a="http://schemas.openxmlformats.org/drawingml/2006/main" noGrp="1"/>
          </p:cNvSpPr>
          <p:nvPr/>
        </p:nvSpPr>
        <p:spPr>
          <a:xfrm xmlns:a="http://schemas.openxmlformats.org/drawingml/2006/main" rot="0">
            <a:off x="4591050" y="2986088"/>
            <a:ext cx="17145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ADB19DB8-730D-4A3A-A759-6FD6CDFFA521}"/>
              </a:ext>
            </a:extLst>
          </p:cNvPr>
          <p:cNvSpPr>
            <a:spLocks xmlns:a="http://schemas.openxmlformats.org/drawingml/2006/main" noGrp="1"/>
          </p:cNvSpPr>
          <p:nvPr/>
        </p:nvSpPr>
        <p:spPr>
          <a:xfrm xmlns:a="http://schemas.openxmlformats.org/drawingml/2006/main" rot="0">
            <a:off x="7239000" y="2986088"/>
            <a:ext cx="17145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FC23E9A0-9E80-4D8E-BEE6-9BA587081C24}"/>
              </a:ext>
            </a:extLst>
          </p:cNvPr>
          <p:cNvSpPr>
            <a:spLocks xmlns:a="http://schemas.openxmlformats.org/drawingml/2006/main" noGrp="1"/>
          </p:cNvSpPr>
          <p:nvPr/>
        </p:nvSpPr>
        <p:spPr>
          <a:xfrm xmlns:a="http://schemas.openxmlformats.org/drawingml/2006/main" rot="0">
            <a:off x="7410450" y="2986088"/>
            <a:ext cx="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7" name="">
            <a:extLst xmlns:a="http://schemas.openxmlformats.org/drawingml/2006/main">
              <a:ext uri="{FF2B5EF4-FFF2-40B4-BE49-F238E27FC236}">
                <a16:creationId xmlns:a16="http://schemas.microsoft.com/office/drawing/2014/main" id="{3A45E940-E291-4606-9147-2251E108903E}"/>
              </a:ext>
            </a:extLst>
          </p:cNvPr>
          <p:cNvSpPr>
            <a:spLocks xmlns:a="http://schemas.openxmlformats.org/drawingml/2006/main" noGrp="1"/>
          </p:cNvSpPr>
          <p:nvPr/>
        </p:nvSpPr>
        <p:spPr>
          <a:xfrm xmlns:a="http://schemas.openxmlformats.org/drawingml/2006/main" rot="1581713">
            <a:off x="7394835" y="3052763"/>
            <a:ext cx="300311"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03F275EF-2AC1-4D4F-AA58-D8F8F758ACEE}"/>
              </a:ext>
            </a:extLst>
          </p:cNvPr>
          <p:cNvSpPr>
            <a:spLocks xmlns:a="http://schemas.openxmlformats.org/drawingml/2006/main" noGrp="1"/>
          </p:cNvSpPr>
          <p:nvPr/>
        </p:nvSpPr>
        <p:spPr>
          <a:xfrm xmlns:a="http://schemas.openxmlformats.org/drawingml/2006/main" rot="-2684721">
            <a:off x="7624643"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166B68A7-9B51-4B45-BE1B-8AD735395140}"/>
              </a:ext>
            </a:extLst>
          </p:cNvPr>
          <p:cNvSpPr>
            <a:spLocks xmlns:a="http://schemas.openxmlformats.org/drawingml/2006/main" noGrp="1"/>
          </p:cNvSpPr>
          <p:nvPr/>
        </p:nvSpPr>
        <p:spPr>
          <a:xfrm xmlns:a="http://schemas.openxmlformats.org/drawingml/2006/main" rot="2684721">
            <a:off x="7893724"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E2B770CB-7DDC-4A92-89E0-AE2DF43DF014}"/>
              </a:ext>
            </a:extLst>
          </p:cNvPr>
          <p:cNvSpPr>
            <a:spLocks xmlns:a="http://schemas.openxmlformats.org/drawingml/2006/main" noGrp="1"/>
          </p:cNvSpPr>
          <p:nvPr/>
        </p:nvSpPr>
        <p:spPr>
          <a:xfrm xmlns:a="http://schemas.openxmlformats.org/drawingml/2006/main" rot="-2684721">
            <a:off x="8162805"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1" name="">
            <a:extLst xmlns:a="http://schemas.openxmlformats.org/drawingml/2006/main">
              <a:ext uri="{FF2B5EF4-FFF2-40B4-BE49-F238E27FC236}">
                <a16:creationId xmlns:a16="http://schemas.microsoft.com/office/drawing/2014/main" id="{1A7DB8A9-3F8E-4F99-BAD6-92C4359AA68E}"/>
              </a:ext>
            </a:extLst>
          </p:cNvPr>
          <p:cNvSpPr>
            <a:spLocks xmlns:a="http://schemas.openxmlformats.org/drawingml/2006/main" noGrp="1"/>
          </p:cNvSpPr>
          <p:nvPr/>
        </p:nvSpPr>
        <p:spPr>
          <a:xfrm xmlns:a="http://schemas.openxmlformats.org/drawingml/2006/main" rot="2684721">
            <a:off x="8431886"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2" name="">
            <a:extLst xmlns:a="http://schemas.openxmlformats.org/drawingml/2006/main">
              <a:ext uri="{FF2B5EF4-FFF2-40B4-BE49-F238E27FC236}">
                <a16:creationId xmlns:a16="http://schemas.microsoft.com/office/drawing/2014/main" id="{212BB194-01A2-4E87-B980-A33BC59CE32D}"/>
              </a:ext>
            </a:extLst>
          </p:cNvPr>
          <p:cNvSpPr>
            <a:spLocks xmlns:a="http://schemas.openxmlformats.org/drawingml/2006/main" noGrp="1"/>
          </p:cNvSpPr>
          <p:nvPr/>
        </p:nvSpPr>
        <p:spPr>
          <a:xfrm xmlns:a="http://schemas.openxmlformats.org/drawingml/2006/main" rot="-2684721">
            <a:off x="8700968"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3B0B71CB-8F60-4738-BCFA-30EF72A54852}"/>
              </a:ext>
            </a:extLst>
          </p:cNvPr>
          <p:cNvSpPr>
            <a:spLocks xmlns:a="http://schemas.openxmlformats.org/drawingml/2006/main" noGrp="1"/>
          </p:cNvSpPr>
          <p:nvPr/>
        </p:nvSpPr>
        <p:spPr>
          <a:xfrm xmlns:a="http://schemas.openxmlformats.org/drawingml/2006/main" rot="2684721">
            <a:off x="8970049"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4" name="">
            <a:extLst xmlns:a="http://schemas.openxmlformats.org/drawingml/2006/main">
              <a:ext uri="{FF2B5EF4-FFF2-40B4-BE49-F238E27FC236}">
                <a16:creationId xmlns:a16="http://schemas.microsoft.com/office/drawing/2014/main" id="{AB37C6E4-ED23-4421-B4B2-75AD312E1C90}"/>
              </a:ext>
            </a:extLst>
          </p:cNvPr>
          <p:cNvSpPr>
            <a:spLocks xmlns:a="http://schemas.openxmlformats.org/drawingml/2006/main" noGrp="1"/>
          </p:cNvSpPr>
          <p:nvPr/>
        </p:nvSpPr>
        <p:spPr>
          <a:xfrm xmlns:a="http://schemas.openxmlformats.org/drawingml/2006/main" rot="-2684721">
            <a:off x="9239130"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5" name="">
            <a:extLst xmlns:a="http://schemas.openxmlformats.org/drawingml/2006/main">
              <a:ext uri="{FF2B5EF4-FFF2-40B4-BE49-F238E27FC236}">
                <a16:creationId xmlns:a16="http://schemas.microsoft.com/office/drawing/2014/main" id="{F1F5C0D0-F4B9-4189-B356-A683A773CF2A}"/>
              </a:ext>
            </a:extLst>
          </p:cNvPr>
          <p:cNvSpPr>
            <a:spLocks xmlns:a="http://schemas.openxmlformats.org/drawingml/2006/main" noGrp="1"/>
          </p:cNvSpPr>
          <p:nvPr/>
        </p:nvSpPr>
        <p:spPr>
          <a:xfrm xmlns:a="http://schemas.openxmlformats.org/drawingml/2006/main" rot="2684721">
            <a:off x="9508211"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6" name="">
            <a:extLst xmlns:a="http://schemas.openxmlformats.org/drawingml/2006/main">
              <a:ext uri="{FF2B5EF4-FFF2-40B4-BE49-F238E27FC236}">
                <a16:creationId xmlns:a16="http://schemas.microsoft.com/office/drawing/2014/main" id="{0D8D01FC-76F7-457D-B8AF-077020BCC9E8}"/>
              </a:ext>
            </a:extLst>
          </p:cNvPr>
          <p:cNvSpPr>
            <a:spLocks xmlns:a="http://schemas.openxmlformats.org/drawingml/2006/main" noGrp="1"/>
          </p:cNvSpPr>
          <p:nvPr/>
        </p:nvSpPr>
        <p:spPr>
          <a:xfrm xmlns:a="http://schemas.openxmlformats.org/drawingml/2006/main" rot="-2684721">
            <a:off x="9777293"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7" name="">
            <a:extLst xmlns:a="http://schemas.openxmlformats.org/drawingml/2006/main">
              <a:ext uri="{FF2B5EF4-FFF2-40B4-BE49-F238E27FC236}">
                <a16:creationId xmlns:a16="http://schemas.microsoft.com/office/drawing/2014/main" id="{066B350E-2A8B-4E5D-BA7F-07F1F986A3E7}"/>
              </a:ext>
            </a:extLst>
          </p:cNvPr>
          <p:cNvSpPr>
            <a:spLocks xmlns:a="http://schemas.openxmlformats.org/drawingml/2006/main" noGrp="1"/>
          </p:cNvSpPr>
          <p:nvPr/>
        </p:nvSpPr>
        <p:spPr>
          <a:xfrm xmlns:a="http://schemas.openxmlformats.org/drawingml/2006/main" rot="2684721">
            <a:off x="10046374" y="2986088"/>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8" name="">
            <a:extLst xmlns:a="http://schemas.openxmlformats.org/drawingml/2006/main">
              <a:ext uri="{FF2B5EF4-FFF2-40B4-BE49-F238E27FC236}">
                <a16:creationId xmlns:a16="http://schemas.microsoft.com/office/drawing/2014/main" id="{C82A2F71-1BDC-4581-91C6-96B285488E25}"/>
              </a:ext>
            </a:extLst>
          </p:cNvPr>
          <p:cNvSpPr>
            <a:spLocks xmlns:a="http://schemas.openxmlformats.org/drawingml/2006/main" noGrp="1"/>
          </p:cNvSpPr>
          <p:nvPr/>
        </p:nvSpPr>
        <p:spPr>
          <a:xfrm xmlns:a="http://schemas.openxmlformats.org/drawingml/2006/main" rot="-1581713">
            <a:off x="10354729" y="3052763"/>
            <a:ext cx="300311"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9" name="">
            <a:extLst xmlns:a="http://schemas.openxmlformats.org/drawingml/2006/main">
              <a:ext uri="{FF2B5EF4-FFF2-40B4-BE49-F238E27FC236}">
                <a16:creationId xmlns:a16="http://schemas.microsoft.com/office/drawing/2014/main" id="{1555AC21-9990-4A4F-8966-840DFDD05417}"/>
              </a:ext>
            </a:extLst>
          </p:cNvPr>
          <p:cNvSpPr>
            <a:spLocks xmlns:a="http://schemas.openxmlformats.org/drawingml/2006/main" noGrp="1"/>
          </p:cNvSpPr>
          <p:nvPr/>
        </p:nvSpPr>
        <p:spPr>
          <a:xfrm xmlns:a="http://schemas.openxmlformats.org/drawingml/2006/main" rot="0">
            <a:off x="10639425" y="2986088"/>
            <a:ext cx="17145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40" name="">
            <a:extLst xmlns:a="http://schemas.openxmlformats.org/drawingml/2006/main">
              <a:ext uri="{FF2B5EF4-FFF2-40B4-BE49-F238E27FC236}">
                <a16:creationId xmlns:a16="http://schemas.microsoft.com/office/drawing/2014/main" id="{971C3959-96E0-4BA0-9BF8-80511A0CDD90}"/>
              </a:ext>
            </a:extLst>
          </p:cNvPr>
          <p:cNvSpPr>
            <a:spLocks xmlns:a="http://schemas.openxmlformats.org/drawingml/2006/main" noGrp="1"/>
          </p:cNvSpPr>
          <p:nvPr/>
        </p:nvSpPr>
        <p:spPr>
          <a:xfrm xmlns:a="http://schemas.openxmlformats.org/drawingml/2006/main">
            <a:off x="4762500" y="2409825"/>
            <a:ext cx="2476500" cy="1143000"/>
          </a:xfrm>
          <a:prstGeom xmlns:a="http://schemas.openxmlformats.org/drawingml/2006/main" prst="rect">
            <a:avLst/>
          </a:prstGeom>
          <a:solidFill xmlns:a="http://schemas.openxmlformats.org/drawingml/2006/main">
            <a:srgbClr val="E5EFF8"/>
          </a:solidFill>
          <a:ln xmlns:a="http://schemas.openxmlformats.org/drawingml/2006/main" w="9525">
            <a:solidFill>
              <a:srgbClr val="2467A5"/>
            </a:solidFill>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F975D5AC-287F-4BF2-8AE5-21986503A8A1}"/>
              </a:ext>
            </a:extLst>
          </p:cNvPr>
          <p:cNvSpPr>
            <a:spLocks xmlns:a="http://schemas.openxmlformats.org/drawingml/2006/main" noGrp="1"/>
          </p:cNvSpPr>
          <p:nvPr/>
        </p:nvSpPr>
        <p:spPr>
          <a:xfrm xmlns:a="http://schemas.openxmlformats.org/drawingml/2006/main">
            <a:off x="4905375" y="266700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725" b="1">
                <a:solidFill>
                  <a:srgbClr val="142D42"/>
                </a:solidFill>
              </a:defRPr>
            </a:defPPr>
            <a:lvl1pPr algn="ctr">
              <a:defRPr sz="1725" b="1">
                <a:solidFill>
                  <a:srgbClr val="142D42"/>
                </a:solidFill>
              </a:defRPr>
            </a:lvl1pPr>
            <a:lvl2pPr algn="ctr">
              <a:defRPr sz="1725" b="1">
                <a:solidFill>
                  <a:srgbClr val="142D42"/>
                </a:solidFill>
              </a:defRPr>
            </a:lvl2pPr>
            <a:lvl3pPr algn="ctr">
              <a:defRPr sz="1725" b="1">
                <a:solidFill>
                  <a:srgbClr val="142D42"/>
                </a:solidFill>
              </a:defRPr>
            </a:lvl3pPr>
            <a:lvl4pPr algn="ctr">
              <a:defRPr sz="1725" b="1">
                <a:solidFill>
                  <a:srgbClr val="142D42"/>
                </a:solidFill>
              </a:defRPr>
            </a:lvl4pPr>
            <a:lvl5pPr algn="ctr">
              <a:defRPr sz="1725" b="1">
                <a:solidFill>
                  <a:srgbClr val="142D42"/>
                </a:solidFill>
              </a:defRPr>
            </a:lvl5pPr>
            <a:lvl6pPr algn="ctr">
              <a:defRPr sz="1725" b="1">
                <a:solidFill>
                  <a:srgbClr val="142D42"/>
                </a:solidFill>
              </a:defRPr>
            </a:lvl6pPr>
            <a:lvl7pPr algn="ctr">
              <a:defRPr sz="1725" b="1">
                <a:solidFill>
                  <a:srgbClr val="142D42"/>
                </a:solidFill>
              </a:defRPr>
            </a:lvl7pPr>
            <a:lvl8pPr algn="ctr">
              <a:defRPr sz="1725" b="1">
                <a:solidFill>
                  <a:srgbClr val="142D42"/>
                </a:solidFill>
              </a:defRPr>
            </a:lvl8pPr>
            <a:lvl9pPr algn="ctr">
              <a:defRPr sz="1725" b="1">
                <a:solidFill>
                  <a:srgbClr val="142D42"/>
                </a:solidFill>
              </a:defRPr>
            </a:lvl9pPr>
          </a:lstStyle>
          <a:p xmlns:a="http://schemas.openxmlformats.org/drawingml/2006/main">
            <a:pPr algn="ctr">
              <a:defRPr sz="1725" b="1">
                <a:solidFill>
                  <a:srgbClr val="142D42"/>
                </a:solidFill>
              </a:defRPr>
            </a:pPr>
            <a:r>
              <a:rPr sz="1725" b="1">
                <a:solidFill>
                  <a:srgbClr val="142D42"/>
                </a:solidFill>
              </a:rPr>
              <a:t>cart, total mass m</a:t>
            </a:r>
          </a:p>
        </p:txBody>
      </p:sp>
      <p:sp>
        <p:nvSpPr>
          <p:cNvPr id="42" name="">
            <a:extLst xmlns:a="http://schemas.openxmlformats.org/drawingml/2006/main">
              <a:ext uri="{FF2B5EF4-FFF2-40B4-BE49-F238E27FC236}">
                <a16:creationId xmlns:a16="http://schemas.microsoft.com/office/drawing/2014/main" id="{0A902A4F-4B7B-4868-83ED-93CAF7181765}"/>
              </a:ext>
            </a:extLst>
          </p:cNvPr>
          <p:cNvSpPr>
            <a:spLocks xmlns:a="http://schemas.openxmlformats.org/drawingml/2006/main" noGrp="1"/>
          </p:cNvSpPr>
          <p:nvPr/>
        </p:nvSpPr>
        <p:spPr>
          <a:xfrm xmlns:a="http://schemas.openxmlformats.org/drawingml/2006/main">
            <a:off x="5143500" y="3552825"/>
            <a:ext cx="285750" cy="285750"/>
          </a:xfrm>
          <a:prstGeom xmlns:a="http://schemas.openxmlformats.org/drawingml/2006/main" prst="ellipse">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3" name="">
            <a:extLst xmlns:a="http://schemas.openxmlformats.org/drawingml/2006/main">
              <a:ext uri="{FF2B5EF4-FFF2-40B4-BE49-F238E27FC236}">
                <a16:creationId xmlns:a16="http://schemas.microsoft.com/office/drawing/2014/main" id="{D6D6DDC3-0595-42F8-92DB-42F99E0EA94D}"/>
              </a:ext>
            </a:extLst>
          </p:cNvPr>
          <p:cNvSpPr>
            <a:spLocks xmlns:a="http://schemas.openxmlformats.org/drawingml/2006/main" noGrp="1"/>
          </p:cNvSpPr>
          <p:nvPr/>
        </p:nvSpPr>
        <p:spPr>
          <a:xfrm xmlns:a="http://schemas.openxmlformats.org/drawingml/2006/main">
            <a:off x="6810375" y="3552825"/>
            <a:ext cx="285750" cy="285750"/>
          </a:xfrm>
          <a:prstGeom xmlns:a="http://schemas.openxmlformats.org/drawingml/2006/main" prst="ellipse">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4" name="">
            <a:extLst xmlns:a="http://schemas.openxmlformats.org/drawingml/2006/main">
              <a:ext uri="{FF2B5EF4-FFF2-40B4-BE49-F238E27FC236}">
                <a16:creationId xmlns:a16="http://schemas.microsoft.com/office/drawing/2014/main" id="{C7721165-E5A4-4081-B777-5F51910EF80B}"/>
              </a:ext>
            </a:extLst>
          </p:cNvPr>
          <p:cNvSpPr>
            <a:spLocks xmlns:a="http://schemas.openxmlformats.org/drawingml/2006/main" noGrp="1"/>
          </p:cNvSpPr>
          <p:nvPr/>
        </p:nvSpPr>
        <p:spPr>
          <a:xfrm xmlns:a="http://schemas.openxmlformats.org/drawingml/2006/main">
            <a:off x="2000250" y="2219325"/>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1">
                <a:solidFill>
                  <a:srgbClr val="2467A5"/>
                </a:solidFill>
              </a:defRPr>
            </a:defPPr>
            <a:lvl1pPr algn="l">
              <a:defRPr sz="1575" b="1">
                <a:solidFill>
                  <a:srgbClr val="2467A5"/>
                </a:solidFill>
              </a:defRPr>
            </a:lvl1pPr>
            <a:lvl2pPr algn="l">
              <a:defRPr sz="1575" b="1">
                <a:solidFill>
                  <a:srgbClr val="2467A5"/>
                </a:solidFill>
              </a:defRPr>
            </a:lvl2pPr>
            <a:lvl3pPr algn="l">
              <a:defRPr sz="1575" b="1">
                <a:solidFill>
                  <a:srgbClr val="2467A5"/>
                </a:solidFill>
              </a:defRPr>
            </a:lvl3pPr>
            <a:lvl4pPr algn="l">
              <a:defRPr sz="1575" b="1">
                <a:solidFill>
                  <a:srgbClr val="2467A5"/>
                </a:solidFill>
              </a:defRPr>
            </a:lvl4pPr>
            <a:lvl5pPr algn="l">
              <a:defRPr sz="1575" b="1">
                <a:solidFill>
                  <a:srgbClr val="2467A5"/>
                </a:solidFill>
              </a:defRPr>
            </a:lvl5pPr>
            <a:lvl6pPr algn="l">
              <a:defRPr sz="1575" b="1">
                <a:solidFill>
                  <a:srgbClr val="2467A5"/>
                </a:solidFill>
              </a:defRPr>
            </a:lvl6pPr>
            <a:lvl7pPr algn="l">
              <a:defRPr sz="1575" b="1">
                <a:solidFill>
                  <a:srgbClr val="2467A5"/>
                </a:solidFill>
              </a:defRPr>
            </a:lvl7pPr>
            <a:lvl8pPr algn="l">
              <a:defRPr sz="1575" b="1">
                <a:solidFill>
                  <a:srgbClr val="2467A5"/>
                </a:solidFill>
              </a:defRPr>
            </a:lvl8pPr>
            <a:lvl9pPr algn="l">
              <a:defRPr sz="1575" b="1">
                <a:solidFill>
                  <a:srgbClr val="2467A5"/>
                </a:solidFill>
              </a:defRPr>
            </a:lvl9pPr>
          </a:lstStyle>
          <a:p xmlns:a="http://schemas.openxmlformats.org/drawingml/2006/main">
            <a:pPr algn="l">
              <a:defRPr sz="1575" b="1">
                <a:solidFill>
                  <a:srgbClr val="2467A5"/>
                </a:solidFill>
              </a:defRPr>
            </a:pPr>
            <a:r>
              <a:rPr sz="1575" b="1">
                <a:solidFill>
                  <a:srgbClr val="2467A5"/>
                </a:solidFill>
              </a:rPr>
              <a:t>left spring</a:t>
            </a:r>
          </a:p>
        </p:txBody>
      </p:sp>
      <p:sp>
        <p:nvSpPr>
          <p:cNvPr id="45" name="">
            <a:extLst xmlns:a="http://schemas.openxmlformats.org/drawingml/2006/main">
              <a:ext uri="{FF2B5EF4-FFF2-40B4-BE49-F238E27FC236}">
                <a16:creationId xmlns:a16="http://schemas.microsoft.com/office/drawing/2014/main" id="{29952991-396D-4998-BC28-5BD2FAA983F6}"/>
              </a:ext>
            </a:extLst>
          </p:cNvPr>
          <p:cNvSpPr>
            <a:spLocks xmlns:a="http://schemas.openxmlformats.org/drawingml/2006/main" noGrp="1"/>
          </p:cNvSpPr>
          <p:nvPr/>
        </p:nvSpPr>
        <p:spPr>
          <a:xfrm xmlns:a="http://schemas.openxmlformats.org/drawingml/2006/main">
            <a:off x="7905750" y="2219325"/>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1">
                <a:solidFill>
                  <a:srgbClr val="2467A5"/>
                </a:solidFill>
              </a:defRPr>
            </a:defPPr>
            <a:lvl1pPr algn="l">
              <a:defRPr sz="1575" b="1">
                <a:solidFill>
                  <a:srgbClr val="2467A5"/>
                </a:solidFill>
              </a:defRPr>
            </a:lvl1pPr>
            <a:lvl2pPr algn="l">
              <a:defRPr sz="1575" b="1">
                <a:solidFill>
                  <a:srgbClr val="2467A5"/>
                </a:solidFill>
              </a:defRPr>
            </a:lvl2pPr>
            <a:lvl3pPr algn="l">
              <a:defRPr sz="1575" b="1">
                <a:solidFill>
                  <a:srgbClr val="2467A5"/>
                </a:solidFill>
              </a:defRPr>
            </a:lvl3pPr>
            <a:lvl4pPr algn="l">
              <a:defRPr sz="1575" b="1">
                <a:solidFill>
                  <a:srgbClr val="2467A5"/>
                </a:solidFill>
              </a:defRPr>
            </a:lvl4pPr>
            <a:lvl5pPr algn="l">
              <a:defRPr sz="1575" b="1">
                <a:solidFill>
                  <a:srgbClr val="2467A5"/>
                </a:solidFill>
              </a:defRPr>
            </a:lvl5pPr>
            <a:lvl6pPr algn="l">
              <a:defRPr sz="1575" b="1">
                <a:solidFill>
                  <a:srgbClr val="2467A5"/>
                </a:solidFill>
              </a:defRPr>
            </a:lvl6pPr>
            <a:lvl7pPr algn="l">
              <a:defRPr sz="1575" b="1">
                <a:solidFill>
                  <a:srgbClr val="2467A5"/>
                </a:solidFill>
              </a:defRPr>
            </a:lvl7pPr>
            <a:lvl8pPr algn="l">
              <a:defRPr sz="1575" b="1">
                <a:solidFill>
                  <a:srgbClr val="2467A5"/>
                </a:solidFill>
              </a:defRPr>
            </a:lvl8pPr>
            <a:lvl9pPr algn="l">
              <a:defRPr sz="1575" b="1">
                <a:solidFill>
                  <a:srgbClr val="2467A5"/>
                </a:solidFill>
              </a:defRPr>
            </a:lvl9pPr>
          </a:lstStyle>
          <a:p xmlns:a="http://schemas.openxmlformats.org/drawingml/2006/main">
            <a:pPr algn="l">
              <a:defRPr sz="1575" b="1">
                <a:solidFill>
                  <a:srgbClr val="2467A5"/>
                </a:solidFill>
              </a:defRPr>
            </a:pPr>
            <a:r>
              <a:rPr sz="1575" b="1">
                <a:solidFill>
                  <a:srgbClr val="2467A5"/>
                </a:solidFill>
              </a:rPr>
              <a:t>right spring</a:t>
            </a:r>
          </a:p>
        </p:txBody>
      </p:sp>
      <p:sp>
        <p:nvSpPr>
          <p:cNvPr id="46" name="">
            <a:extLst xmlns:a="http://schemas.openxmlformats.org/drawingml/2006/main">
              <a:ext uri="{FF2B5EF4-FFF2-40B4-BE49-F238E27FC236}">
                <a16:creationId xmlns:a16="http://schemas.microsoft.com/office/drawing/2014/main" id="{4B4F2C46-6212-4C58-9DCB-95D7B52D11A9}"/>
              </a:ext>
            </a:extLst>
          </p:cNvPr>
          <p:cNvSpPr>
            <a:spLocks xmlns:a="http://schemas.openxmlformats.org/drawingml/2006/main" noGrp="1"/>
          </p:cNvSpPr>
          <p:nvPr/>
        </p:nvSpPr>
        <p:spPr>
          <a:xfrm xmlns:a="http://schemas.openxmlformats.org/drawingml/2006/main" rot="0">
            <a:off x="5905500" y="1938338"/>
            <a:ext cx="1762125" cy="28575"/>
          </a:xfrm>
          <a:prstGeom xmlns:a="http://schemas.openxmlformats.org/drawingml/2006/main" prst="rect">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7" name="">
            <a:extLst xmlns:a="http://schemas.openxmlformats.org/drawingml/2006/main">
              <a:ext uri="{FF2B5EF4-FFF2-40B4-BE49-F238E27FC236}">
                <a16:creationId xmlns:a16="http://schemas.microsoft.com/office/drawing/2014/main" id="{8B70B0FD-FEC4-4D35-9220-B4389D982D4D}"/>
              </a:ext>
            </a:extLst>
          </p:cNvPr>
          <p:cNvSpPr>
            <a:spLocks xmlns:a="http://schemas.openxmlformats.org/drawingml/2006/main" noGrp="1"/>
          </p:cNvSpPr>
          <p:nvPr/>
        </p:nvSpPr>
        <p:spPr>
          <a:xfrm xmlns:a="http://schemas.openxmlformats.org/drawingml/2006/main" rot="9081127">
            <a:off x="7551379" y="1968020"/>
            <a:ext cx="123825" cy="28575"/>
          </a:xfrm>
          <a:prstGeom xmlns:a="http://schemas.openxmlformats.org/drawingml/2006/main" prst="rect">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8" name="">
            <a:extLst xmlns:a="http://schemas.openxmlformats.org/drawingml/2006/main">
              <a:ext uri="{FF2B5EF4-FFF2-40B4-BE49-F238E27FC236}">
                <a16:creationId xmlns:a16="http://schemas.microsoft.com/office/drawing/2014/main" id="{46FFCBF5-CCBE-49D1-89E1-5218BD3E19F1}"/>
              </a:ext>
            </a:extLst>
          </p:cNvPr>
          <p:cNvSpPr>
            <a:spLocks xmlns:a="http://schemas.openxmlformats.org/drawingml/2006/main" noGrp="1"/>
          </p:cNvSpPr>
          <p:nvPr/>
        </p:nvSpPr>
        <p:spPr>
          <a:xfrm xmlns:a="http://schemas.openxmlformats.org/drawingml/2006/main" rot="-9081127">
            <a:off x="7551379" y="1908655"/>
            <a:ext cx="123825" cy="28575"/>
          </a:xfrm>
          <a:prstGeom xmlns:a="http://schemas.openxmlformats.org/drawingml/2006/main" prst="rect">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9" name="">
            <a:extLst xmlns:a="http://schemas.openxmlformats.org/drawingml/2006/main">
              <a:ext uri="{FF2B5EF4-FFF2-40B4-BE49-F238E27FC236}">
                <a16:creationId xmlns:a16="http://schemas.microsoft.com/office/drawing/2014/main" id="{59F2C3A0-9F4E-40A8-A26B-0FC0B4E46502}"/>
              </a:ext>
            </a:extLst>
          </p:cNvPr>
          <p:cNvSpPr>
            <a:spLocks xmlns:a="http://schemas.openxmlformats.org/drawingml/2006/main" noGrp="1"/>
          </p:cNvSpPr>
          <p:nvPr/>
        </p:nvSpPr>
        <p:spPr>
          <a:xfrm xmlns:a="http://schemas.openxmlformats.org/drawingml/2006/main">
            <a:off x="5953125" y="1524000"/>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0">
                <a:solidFill>
                  <a:srgbClr val="142D42"/>
                </a:solidFill>
              </a:defRPr>
            </a:defPPr>
            <a:lvl1pPr algn="l">
              <a:defRPr sz="1500" b="0">
                <a:solidFill>
                  <a:srgbClr val="142D42"/>
                </a:solidFill>
              </a:defRPr>
            </a:lvl1pPr>
            <a:lvl2pPr algn="l">
              <a:defRPr sz="1500" b="0">
                <a:solidFill>
                  <a:srgbClr val="142D42"/>
                </a:solidFill>
              </a:defRPr>
            </a:lvl2pPr>
            <a:lvl3pPr algn="l">
              <a:defRPr sz="1500" b="0">
                <a:solidFill>
                  <a:srgbClr val="142D42"/>
                </a:solidFill>
              </a:defRPr>
            </a:lvl3pPr>
            <a:lvl4pPr algn="l">
              <a:defRPr sz="1500" b="0">
                <a:solidFill>
                  <a:srgbClr val="142D42"/>
                </a:solidFill>
              </a:defRPr>
            </a:lvl4pPr>
            <a:lvl5pPr algn="l">
              <a:defRPr sz="1500" b="0">
                <a:solidFill>
                  <a:srgbClr val="142D42"/>
                </a:solidFill>
              </a:defRPr>
            </a:lvl5pPr>
            <a:lvl6pPr algn="l">
              <a:defRPr sz="1500" b="0">
                <a:solidFill>
                  <a:srgbClr val="142D42"/>
                </a:solidFill>
              </a:defRPr>
            </a:lvl6pPr>
            <a:lvl7pPr algn="l">
              <a:defRPr sz="1500" b="0">
                <a:solidFill>
                  <a:srgbClr val="142D42"/>
                </a:solidFill>
              </a:defRPr>
            </a:lvl7pPr>
            <a:lvl8pPr algn="l">
              <a:defRPr sz="1500" b="0">
                <a:solidFill>
                  <a:srgbClr val="142D42"/>
                </a:solidFill>
              </a:defRPr>
            </a:lvl8pPr>
            <a:lvl9pPr algn="l">
              <a:defRPr sz="1500" b="0">
                <a:solidFill>
                  <a:srgbClr val="142D42"/>
                </a:solidFill>
              </a:defRPr>
            </a:lvl9pPr>
          </a:lstStyle>
          <a:p xmlns:a="http://schemas.openxmlformats.org/drawingml/2006/main">
            <a:pPr algn="l">
              <a:defRPr sz="1500" b="0">
                <a:solidFill>
                  <a:srgbClr val="142D42"/>
                </a:solidFill>
              </a:defRPr>
            </a:pPr>
            <a:r>
              <a:rPr sz="1500" b="0">
                <a:solidFill>
                  <a:srgbClr val="142D42"/>
                </a:solidFill>
              </a:rPr>
              <a:t>positive x</a:t>
            </a:r>
          </a:p>
        </p:txBody>
      </p:sp>
      <p:sp>
        <p:nvSpPr>
          <p:cNvPr id="50" name="">
            <a:extLst xmlns:a="http://schemas.openxmlformats.org/drawingml/2006/main">
              <a:ext uri="{FF2B5EF4-FFF2-40B4-BE49-F238E27FC236}">
                <a16:creationId xmlns:a16="http://schemas.microsoft.com/office/drawing/2014/main" id="{BDAF6F29-A1E1-404B-9960-235CDE1061D2}"/>
              </a:ext>
            </a:extLst>
          </p:cNvPr>
          <p:cNvSpPr>
            <a:spLocks xmlns:a="http://schemas.openxmlformats.org/drawingml/2006/main" noGrp="1"/>
          </p:cNvSpPr>
          <p:nvPr/>
        </p:nvSpPr>
        <p:spPr>
          <a:xfrm xmlns:a="http://schemas.openxmlformats.org/drawingml/2006/main">
            <a:off x="1619250" y="4857750"/>
            <a:ext cx="8953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950" b="1">
                <a:solidFill>
                  <a:srgbClr val="142D42"/>
                </a:solidFill>
              </a:defRPr>
            </a:defPPr>
            <a:lvl1pPr algn="ctr">
              <a:defRPr sz="1950" b="1">
                <a:solidFill>
                  <a:srgbClr val="142D42"/>
                </a:solidFill>
              </a:defRPr>
            </a:lvl1pPr>
            <a:lvl2pPr algn="ctr">
              <a:defRPr sz="1950" b="1">
                <a:solidFill>
                  <a:srgbClr val="142D42"/>
                </a:solidFill>
              </a:defRPr>
            </a:lvl2pPr>
            <a:lvl3pPr algn="ctr">
              <a:defRPr sz="1950" b="1">
                <a:solidFill>
                  <a:srgbClr val="142D42"/>
                </a:solidFill>
              </a:defRPr>
            </a:lvl3pPr>
            <a:lvl4pPr algn="ctr">
              <a:defRPr sz="1950" b="1">
                <a:solidFill>
                  <a:srgbClr val="142D42"/>
                </a:solidFill>
              </a:defRPr>
            </a:lvl4pPr>
            <a:lvl5pPr algn="ctr">
              <a:defRPr sz="1950" b="1">
                <a:solidFill>
                  <a:srgbClr val="142D42"/>
                </a:solidFill>
              </a:defRPr>
            </a:lvl5pPr>
            <a:lvl6pPr algn="ctr">
              <a:defRPr sz="1950" b="1">
                <a:solidFill>
                  <a:srgbClr val="142D42"/>
                </a:solidFill>
              </a:defRPr>
            </a:lvl6pPr>
            <a:lvl7pPr algn="ctr">
              <a:defRPr sz="1950" b="1">
                <a:solidFill>
                  <a:srgbClr val="142D42"/>
                </a:solidFill>
              </a:defRPr>
            </a:lvl7pPr>
            <a:lvl8pPr algn="ctr">
              <a:defRPr sz="1950" b="1">
                <a:solidFill>
                  <a:srgbClr val="142D42"/>
                </a:solidFill>
              </a:defRPr>
            </a:lvl8pPr>
            <a:lvl9pPr algn="ctr">
              <a:defRPr sz="1950" b="1">
                <a:solidFill>
                  <a:srgbClr val="142D42"/>
                </a:solidFill>
              </a:defRPr>
            </a:lvl9pPr>
          </a:lstStyle>
          <a:p xmlns:a="http://schemas.openxmlformats.org/drawingml/2006/main">
            <a:pPr algn="ctr">
              <a:defRPr sz="1950" b="1">
                <a:solidFill>
                  <a:srgbClr val="142D42"/>
                </a:solidFill>
              </a:defRPr>
            </a:pPr>
            <a:r>
              <a:rPr sz="1950" b="1">
                <a:solidFill>
                  <a:srgbClr val="142D42"/>
                </a:solidFill>
              </a:rPr>
              <a:t>Both springs must remain engaged near equilibrium; verify preload.</a:t>
            </a:r>
          </a:p>
        </p:txBody>
      </p:sp>
      <p:sp>
        <p:nvSpPr>
          <p:cNvPr id="51" name="">
            <a:extLst xmlns:a="http://schemas.openxmlformats.org/drawingml/2006/main">
              <a:ext uri="{FF2B5EF4-FFF2-40B4-BE49-F238E27FC236}">
                <a16:creationId xmlns:a16="http://schemas.microsoft.com/office/drawing/2014/main" id="{64F2BC34-7969-4A73-82A0-94312722EC7E}"/>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52" name="">
            <a:extLst xmlns:a="http://schemas.openxmlformats.org/drawingml/2006/main">
              <a:ext uri="{FF2B5EF4-FFF2-40B4-BE49-F238E27FC236}">
                <a16:creationId xmlns:a16="http://schemas.microsoft.com/office/drawing/2014/main" id="{2EECFF50-515A-4C33-91D3-BA96AD542C5D}"/>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Baseline: remove added magnetic brakes. Residual rolling and air losses remain.</a:t>
            </a:r>
          </a:p>
        </p:txBody>
      </p:sp>
    </p:spTree>
    <p:extLst>
      <p:ext uri="{BB962C8B-B14F-4D97-AF65-F5344CB8AC3E}">
        <p14:creationId xmlns:p14="http://schemas.microsoft.com/office/powerpoint/2010/main" val="20261683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A0F2B1A-DE27-468B-9BC8-F6511E1C873F}"/>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DE2F5BEE-63B6-42F8-BF53-1110D040DF33}"/>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Measurement</a:t>
            </a:r>
          </a:p>
        </p:txBody>
      </p:sp>
      <p:sp>
        <p:nvSpPr>
          <p:cNvPr id="3" name="">
            <a:extLst xmlns:a="http://schemas.openxmlformats.org/drawingml/2006/main">
              <a:ext uri="{FF2B5EF4-FFF2-40B4-BE49-F238E27FC236}">
                <a16:creationId xmlns:a16="http://schemas.microsoft.com/office/drawing/2014/main" id="{C83BD87B-57FB-42DE-8684-08F53D6278CB}"/>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How position reaches the computer</a:t>
            </a:r>
          </a:p>
        </p:txBody>
      </p:sp>
      <p:sp>
        <p:nvSpPr>
          <p:cNvPr id="4" name="">
            <a:extLst xmlns:a="http://schemas.openxmlformats.org/drawingml/2006/main">
              <a:ext uri="{FF2B5EF4-FFF2-40B4-BE49-F238E27FC236}">
                <a16:creationId xmlns:a16="http://schemas.microsoft.com/office/drawing/2014/main" id="{6AC844AE-ABEB-4F5F-B344-09D99B30D641}"/>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6897A19-5BC6-4E0C-8ABA-FD3E3DA4B9FA}"/>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5</a:t>
            </a:r>
          </a:p>
        </p:txBody>
      </p:sp>
      <p:sp>
        <p:nvSpPr>
          <p:cNvPr id="6" name="">
            <a:extLst xmlns:a="http://schemas.openxmlformats.org/drawingml/2006/main">
              <a:ext uri="{FF2B5EF4-FFF2-40B4-BE49-F238E27FC236}">
                <a16:creationId xmlns:a16="http://schemas.microsoft.com/office/drawing/2014/main" id="{40967EB8-EF67-492C-BA43-30F4565F545C}"/>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4–5 min</a:t>
            </a:r>
          </a:p>
        </p:txBody>
      </p:sp>
      <p:pic>
        <p:nvPicPr>
          <p:cNvPr id="7" name="">
            <a:extLst xmlns:a="http://schemas.openxmlformats.org/drawingml/2006/main">
              <a:ext uri="{FF2B5EF4-FFF2-40B4-BE49-F238E27FC236}">
                <a16:creationId xmlns:a16="http://schemas.microsoft.com/office/drawing/2014/main" id="{1E495C8C-C9A7-4F3C-894E-8F852D1D6AB3}"/>
              </a:ext>
            </a:extLst>
          </p:cNvPr>
          <p:cNvPicPr>
            <a:picLocks xmlns:a="http://schemas.openxmlformats.org/drawingml/2006/main" noChangeAspect="1"/>
          </p:cNvPicPr>
          <p:nvPr/>
        </p:nvPicPr>
        <p:blipFill>
          <a:blip xmlns:r="http://schemas.openxmlformats.org/officeDocument/2006/relationships" xmlns:a="http://schemas.openxmlformats.org/drawingml/2006/main" r:embed="R3c4f12b105004ed9"/>
          <a:stretch xmlns:a="http://schemas.openxmlformats.org/drawingml/2006/main"/>
        </p:blipFill>
        <p:spPr>
          <a:xfrm xmlns:a="http://schemas.openxmlformats.org/drawingml/2006/main">
            <a:off x="619125" y="1643063"/>
            <a:ext cx="5334000" cy="300037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F664CA2-B4FA-424D-9DB2-99A90508633B}"/>
              </a:ext>
            </a:extLst>
          </p:cNvPr>
          <p:cNvPicPr>
            <a:picLocks xmlns:a="http://schemas.openxmlformats.org/drawingml/2006/main" noChangeAspect="1"/>
          </p:cNvPicPr>
          <p:nvPr/>
        </p:nvPicPr>
        <p:blipFill>
          <a:blip xmlns:r="http://schemas.openxmlformats.org/officeDocument/2006/relationships" xmlns:a="http://schemas.openxmlformats.org/drawingml/2006/main" r:embed="R6a11f303970e4f28"/>
          <a:stretch xmlns:a="http://schemas.openxmlformats.org/drawingml/2006/main"/>
        </p:blipFill>
        <p:spPr>
          <a:xfrm xmlns:a="http://schemas.openxmlformats.org/drawingml/2006/main">
            <a:off x="7677380" y="1619250"/>
            <a:ext cx="2695116" cy="2095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85CC6B4C-772F-45C2-A6D4-75F7A78EC863}"/>
              </a:ext>
            </a:extLst>
          </p:cNvPr>
          <p:cNvSpPr>
            <a:spLocks xmlns:a="http://schemas.openxmlformats.org/drawingml/2006/main" noGrp="1"/>
          </p:cNvSpPr>
          <p:nvPr/>
        </p:nvSpPr>
        <p:spPr>
          <a:xfrm xmlns:a="http://schemas.openxmlformats.org/drawingml/2006/main">
            <a:off x="666750" y="476250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025" b="1">
                <a:solidFill>
                  <a:srgbClr val="2467A5"/>
                </a:solidFill>
              </a:defRPr>
            </a:defPPr>
            <a:lvl1pPr algn="l">
              <a:defRPr sz="2025" b="1">
                <a:solidFill>
                  <a:srgbClr val="2467A5"/>
                </a:solidFill>
              </a:defRPr>
            </a:lvl1pPr>
            <a:lvl2pPr algn="l">
              <a:defRPr sz="2025" b="1">
                <a:solidFill>
                  <a:srgbClr val="2467A5"/>
                </a:solidFill>
              </a:defRPr>
            </a:lvl2pPr>
            <a:lvl3pPr algn="l">
              <a:defRPr sz="2025" b="1">
                <a:solidFill>
                  <a:srgbClr val="2467A5"/>
                </a:solidFill>
              </a:defRPr>
            </a:lvl3pPr>
            <a:lvl4pPr algn="l">
              <a:defRPr sz="2025" b="1">
                <a:solidFill>
                  <a:srgbClr val="2467A5"/>
                </a:solidFill>
              </a:defRPr>
            </a:lvl4pPr>
            <a:lvl5pPr algn="l">
              <a:defRPr sz="2025" b="1">
                <a:solidFill>
                  <a:srgbClr val="2467A5"/>
                </a:solidFill>
              </a:defRPr>
            </a:lvl5pPr>
            <a:lvl6pPr algn="l">
              <a:defRPr sz="2025" b="1">
                <a:solidFill>
                  <a:srgbClr val="2467A5"/>
                </a:solidFill>
              </a:defRPr>
            </a:lvl6pPr>
            <a:lvl7pPr algn="l">
              <a:defRPr sz="2025" b="1">
                <a:solidFill>
                  <a:srgbClr val="2467A5"/>
                </a:solidFill>
              </a:defRPr>
            </a:lvl7pPr>
            <a:lvl8pPr algn="l">
              <a:defRPr sz="2025" b="1">
                <a:solidFill>
                  <a:srgbClr val="2467A5"/>
                </a:solidFill>
              </a:defRPr>
            </a:lvl8pPr>
            <a:lvl9pPr algn="l">
              <a:defRPr sz="2025" b="1">
                <a:solidFill>
                  <a:srgbClr val="2467A5"/>
                </a:solidFill>
              </a:defRPr>
            </a:lvl9pPr>
          </a:lstStyle>
          <a:p xmlns:a="http://schemas.openxmlformats.org/drawingml/2006/main">
            <a:pPr algn="l">
              <a:defRPr sz="2025" b="1">
                <a:solidFill>
                  <a:srgbClr val="2467A5"/>
                </a:solidFill>
              </a:defRPr>
            </a:pPr>
            <a:r>
              <a:rPr sz="2025" b="1">
                <a:solidFill>
                  <a:srgbClr val="2467A5"/>
                </a:solidFill>
              </a:rPr>
              <a:t>Encoder wheel</a:t>
            </a:r>
          </a:p>
        </p:txBody>
      </p:sp>
      <p:sp>
        <p:nvSpPr>
          <p:cNvPr id="10" name="">
            <a:extLst xmlns:a="http://schemas.openxmlformats.org/drawingml/2006/main">
              <a:ext uri="{FF2B5EF4-FFF2-40B4-BE49-F238E27FC236}">
                <a16:creationId xmlns:a16="http://schemas.microsoft.com/office/drawing/2014/main" id="{3D9A168B-EBA7-4DD0-B35A-AD215B337D88}"/>
              </a:ext>
            </a:extLst>
          </p:cNvPr>
          <p:cNvSpPr>
            <a:spLocks xmlns:a="http://schemas.openxmlformats.org/drawingml/2006/main" noGrp="1"/>
          </p:cNvSpPr>
          <p:nvPr/>
        </p:nvSpPr>
        <p:spPr>
          <a:xfrm xmlns:a="http://schemas.openxmlformats.org/drawingml/2006/main">
            <a:off x="666750" y="5191125"/>
            <a:ext cx="5095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Wheel rotation becomes position x(t).</a:t>
            </a:r>
          </a:p>
          <a:p xmlns:a="http://schemas.openxmlformats.org/drawingml/2006/main">
            <a:pPr algn="l">
              <a:defRPr sz="1725" b="0">
                <a:solidFill>
                  <a:srgbClr val="142D42"/>
                </a:solidFill>
              </a:defRPr>
            </a:pPr>
            <a:r>
              <a:rPr sz="1725" b="0">
                <a:solidFill>
                  <a:srgbClr val="142D42"/>
                </a:solidFill>
              </a:rPr>
              <a:t>The encoder wheel must roll without slip.</a:t>
            </a:r>
          </a:p>
        </p:txBody>
      </p:sp>
      <p:sp>
        <p:nvSpPr>
          <p:cNvPr id="11" name="">
            <a:extLst xmlns:a="http://schemas.openxmlformats.org/drawingml/2006/main">
              <a:ext uri="{FF2B5EF4-FFF2-40B4-BE49-F238E27FC236}">
                <a16:creationId xmlns:a16="http://schemas.microsoft.com/office/drawing/2014/main" id="{AB354354-3C8C-4DD5-AEE0-0B1E4B860B1B}"/>
              </a:ext>
            </a:extLst>
          </p:cNvPr>
          <p:cNvSpPr>
            <a:spLocks xmlns:a="http://schemas.openxmlformats.org/drawingml/2006/main" noGrp="1"/>
          </p:cNvSpPr>
          <p:nvPr/>
        </p:nvSpPr>
        <p:spPr>
          <a:xfrm xmlns:a="http://schemas.openxmlformats.org/drawingml/2006/main">
            <a:off x="6667500" y="3952875"/>
            <a:ext cx="4714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025" b="1">
                <a:solidFill>
                  <a:srgbClr val="A82C3C"/>
                </a:solidFill>
              </a:defRPr>
            </a:defPPr>
            <a:lvl1pPr algn="l">
              <a:defRPr sz="2025" b="1">
                <a:solidFill>
                  <a:srgbClr val="A82C3C"/>
                </a:solidFill>
              </a:defRPr>
            </a:lvl1pPr>
            <a:lvl2pPr algn="l">
              <a:defRPr sz="2025" b="1">
                <a:solidFill>
                  <a:srgbClr val="A82C3C"/>
                </a:solidFill>
              </a:defRPr>
            </a:lvl2pPr>
            <a:lvl3pPr algn="l">
              <a:defRPr sz="2025" b="1">
                <a:solidFill>
                  <a:srgbClr val="A82C3C"/>
                </a:solidFill>
              </a:defRPr>
            </a:lvl3pPr>
            <a:lvl4pPr algn="l">
              <a:defRPr sz="2025" b="1">
                <a:solidFill>
                  <a:srgbClr val="A82C3C"/>
                </a:solidFill>
              </a:defRPr>
            </a:lvl4pPr>
            <a:lvl5pPr algn="l">
              <a:defRPr sz="2025" b="1">
                <a:solidFill>
                  <a:srgbClr val="A82C3C"/>
                </a:solidFill>
              </a:defRPr>
            </a:lvl5pPr>
            <a:lvl6pPr algn="l">
              <a:defRPr sz="2025" b="1">
                <a:solidFill>
                  <a:srgbClr val="A82C3C"/>
                </a:solidFill>
              </a:defRPr>
            </a:lvl6pPr>
            <a:lvl7pPr algn="l">
              <a:defRPr sz="2025" b="1">
                <a:solidFill>
                  <a:srgbClr val="A82C3C"/>
                </a:solidFill>
              </a:defRPr>
            </a:lvl7pPr>
            <a:lvl8pPr algn="l">
              <a:defRPr sz="2025" b="1">
                <a:solidFill>
                  <a:srgbClr val="A82C3C"/>
                </a:solidFill>
              </a:defRPr>
            </a:lvl8pPr>
            <a:lvl9pPr algn="l">
              <a:defRPr sz="2025" b="1">
                <a:solidFill>
                  <a:srgbClr val="A82C3C"/>
                </a:solidFill>
              </a:defRPr>
            </a:lvl9pPr>
          </a:lstStyle>
          <a:p xmlns:a="http://schemas.openxmlformats.org/drawingml/2006/main">
            <a:pPr algn="l">
              <a:defRPr sz="2025" b="1">
                <a:solidFill>
                  <a:srgbClr val="A82C3C"/>
                </a:solidFill>
              </a:defRPr>
            </a:pPr>
            <a:r>
              <a:rPr sz="2025" b="1">
                <a:solidFill>
                  <a:srgbClr val="A82C3C"/>
                </a:solidFill>
              </a:rPr>
              <a:t>Vernier Graphical Analysis</a:t>
            </a:r>
          </a:p>
        </p:txBody>
      </p:sp>
      <p:sp>
        <p:nvSpPr>
          <p:cNvPr id="12" name="">
            <a:extLst xmlns:a="http://schemas.openxmlformats.org/drawingml/2006/main">
              <a:ext uri="{FF2B5EF4-FFF2-40B4-BE49-F238E27FC236}">
                <a16:creationId xmlns:a16="http://schemas.microsoft.com/office/drawing/2014/main" id="{C5251826-669E-43EA-BBF3-5B7BE6276973}"/>
              </a:ext>
            </a:extLst>
          </p:cNvPr>
          <p:cNvSpPr>
            <a:spLocks xmlns:a="http://schemas.openxmlformats.org/drawingml/2006/main" noGrp="1"/>
          </p:cNvSpPr>
          <p:nvPr/>
        </p:nvSpPr>
        <p:spPr>
          <a:xfrm xmlns:a="http://schemas.openxmlformats.org/drawingml/2006/main">
            <a:off x="6667500" y="4524375"/>
            <a:ext cx="4714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Select the cart by its serial number.</a:t>
            </a:r>
          </a:p>
          <a:p xmlns:a="http://schemas.openxmlformats.org/drawingml/2006/main">
            <a:pPr algn="l">
              <a:defRPr sz="1725" b="0">
                <a:solidFill>
                  <a:srgbClr val="142D42"/>
                </a:solidFill>
              </a:defRPr>
            </a:pPr>
            <a:r>
              <a:rPr sz="1725" b="0">
                <a:solidFill>
                  <a:srgbClr val="142D42"/>
                </a:solidFill>
              </a:rPr>
              <a:t>Record time and position, then export CSV.</a:t>
            </a:r>
          </a:p>
        </p:txBody>
      </p:sp>
      <p:sp>
        <p:nvSpPr>
          <p:cNvPr id="13" name="">
            <a:extLst xmlns:a="http://schemas.openxmlformats.org/drawingml/2006/main">
              <a:ext uri="{FF2B5EF4-FFF2-40B4-BE49-F238E27FC236}">
                <a16:creationId xmlns:a16="http://schemas.microsoft.com/office/drawing/2014/main" id="{834B7257-722E-46A0-9DC4-944B37377468}"/>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D80B13CF-0A94-43B5-A9F3-84A63D67C172}"/>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The sensor supplies x(t). The analysis code estimates frequency and damping.</a:t>
            </a:r>
          </a:p>
        </p:txBody>
      </p:sp>
    </p:spTree>
    <p:extLst>
      <p:ext uri="{BB962C8B-B14F-4D97-AF65-F5344CB8AC3E}">
        <p14:creationId xmlns:p14="http://schemas.microsoft.com/office/powerpoint/2010/main" val="13789499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AA3845B-19BC-453E-BE6D-2B4F0DA31171}"/>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6EB9D008-1EF5-4373-A7DB-459E4DE30C5A}"/>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Physical components</a:t>
            </a:r>
          </a:p>
        </p:txBody>
      </p:sp>
      <p:sp>
        <p:nvSpPr>
          <p:cNvPr id="3" name="">
            <a:extLst xmlns:a="http://schemas.openxmlformats.org/drawingml/2006/main">
              <a:ext uri="{FF2B5EF4-FFF2-40B4-BE49-F238E27FC236}">
                <a16:creationId xmlns:a16="http://schemas.microsoft.com/office/drawing/2014/main" id="{0E6F099F-3BB3-4A6A-8DBA-CE71429D454B}"/>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Spring hardware and brake hardware have different roles</a:t>
            </a:r>
          </a:p>
        </p:txBody>
      </p:sp>
      <p:sp>
        <p:nvSpPr>
          <p:cNvPr id="4" name="">
            <a:extLst xmlns:a="http://schemas.openxmlformats.org/drawingml/2006/main">
              <a:ext uri="{FF2B5EF4-FFF2-40B4-BE49-F238E27FC236}">
                <a16:creationId xmlns:a16="http://schemas.microsoft.com/office/drawing/2014/main" id="{AFD2D122-A3CB-42E5-8B3D-A21F1EA64DDA}"/>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3FAD6D-2F76-483A-9D65-7087D3409169}"/>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6</a:t>
            </a:r>
          </a:p>
        </p:txBody>
      </p:sp>
      <p:pic>
        <p:nvPicPr>
          <p:cNvPr id="6" name="">
            <a:extLst xmlns:a="http://schemas.openxmlformats.org/drawingml/2006/main">
              <a:ext uri="{FF2B5EF4-FFF2-40B4-BE49-F238E27FC236}">
                <a16:creationId xmlns:a16="http://schemas.microsoft.com/office/drawing/2014/main" id="{2D82557A-9490-4C2B-B067-B33796BBD781}"/>
              </a:ext>
            </a:extLst>
          </p:cNvPr>
          <p:cNvPicPr>
            <a:picLocks xmlns:a="http://schemas.openxmlformats.org/drawingml/2006/main" noChangeAspect="1"/>
          </p:cNvPicPr>
          <p:nvPr/>
        </p:nvPicPr>
        <p:blipFill>
          <a:blip xmlns:r="http://schemas.openxmlformats.org/officeDocument/2006/relationships" xmlns:a="http://schemas.openxmlformats.org/drawingml/2006/main" r:embed="R4f6792f154a34135"/>
          <a:stretch xmlns:a="http://schemas.openxmlformats.org/drawingml/2006/main"/>
        </p:blipFill>
        <p:spPr>
          <a:xfrm xmlns:a="http://schemas.openxmlformats.org/drawingml/2006/main">
            <a:off x="619125" y="1622227"/>
            <a:ext cx="5238750" cy="2946797"/>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ED421E34-753E-45BE-A167-53C2D2E68310}"/>
              </a:ext>
            </a:extLst>
          </p:cNvPr>
          <p:cNvPicPr>
            <a:picLocks xmlns:a="http://schemas.openxmlformats.org/drawingml/2006/main" noChangeAspect="1"/>
          </p:cNvPicPr>
          <p:nvPr/>
        </p:nvPicPr>
        <p:blipFill>
          <a:blip xmlns:r="http://schemas.openxmlformats.org/officeDocument/2006/relationships" xmlns:a="http://schemas.openxmlformats.org/drawingml/2006/main" r:embed="R8716be5e708a4ec4"/>
          <a:stretch xmlns:a="http://schemas.openxmlformats.org/drawingml/2006/main"/>
        </p:blipFill>
        <p:spPr>
          <a:xfrm xmlns:a="http://schemas.openxmlformats.org/drawingml/2006/main">
            <a:off x="6334125" y="1622227"/>
            <a:ext cx="5238750" cy="2946797"/>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9BF4954-7E1B-42D2-B0FB-374835473F99}"/>
              </a:ext>
            </a:extLst>
          </p:cNvPr>
          <p:cNvSpPr>
            <a:spLocks xmlns:a="http://schemas.openxmlformats.org/drawingml/2006/main" noGrp="1"/>
          </p:cNvSpPr>
          <p:nvPr/>
        </p:nvSpPr>
        <p:spPr>
          <a:xfrm xmlns:a="http://schemas.openxmlformats.org/drawingml/2006/main">
            <a:off x="809625" y="46196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025" b="1">
                <a:solidFill>
                  <a:srgbClr val="2467A5"/>
                </a:solidFill>
              </a:defRPr>
            </a:defPPr>
            <a:lvl1pPr algn="l">
              <a:defRPr sz="2025" b="1">
                <a:solidFill>
                  <a:srgbClr val="2467A5"/>
                </a:solidFill>
              </a:defRPr>
            </a:lvl1pPr>
            <a:lvl2pPr algn="l">
              <a:defRPr sz="2025" b="1">
                <a:solidFill>
                  <a:srgbClr val="2467A5"/>
                </a:solidFill>
              </a:defRPr>
            </a:lvl2pPr>
            <a:lvl3pPr algn="l">
              <a:defRPr sz="2025" b="1">
                <a:solidFill>
                  <a:srgbClr val="2467A5"/>
                </a:solidFill>
              </a:defRPr>
            </a:lvl3pPr>
            <a:lvl4pPr algn="l">
              <a:defRPr sz="2025" b="1">
                <a:solidFill>
                  <a:srgbClr val="2467A5"/>
                </a:solidFill>
              </a:defRPr>
            </a:lvl4pPr>
            <a:lvl5pPr algn="l">
              <a:defRPr sz="2025" b="1">
                <a:solidFill>
                  <a:srgbClr val="2467A5"/>
                </a:solidFill>
              </a:defRPr>
            </a:lvl5pPr>
            <a:lvl6pPr algn="l">
              <a:defRPr sz="2025" b="1">
                <a:solidFill>
                  <a:srgbClr val="2467A5"/>
                </a:solidFill>
              </a:defRPr>
            </a:lvl6pPr>
            <a:lvl7pPr algn="l">
              <a:defRPr sz="2025" b="1">
                <a:solidFill>
                  <a:srgbClr val="2467A5"/>
                </a:solidFill>
              </a:defRPr>
            </a:lvl7pPr>
            <a:lvl8pPr algn="l">
              <a:defRPr sz="2025" b="1">
                <a:solidFill>
                  <a:srgbClr val="2467A5"/>
                </a:solidFill>
              </a:defRPr>
            </a:lvl8pPr>
            <a:lvl9pPr algn="l">
              <a:defRPr sz="2025" b="1">
                <a:solidFill>
                  <a:srgbClr val="2467A5"/>
                </a:solidFill>
              </a:defRPr>
            </a:lvl9pPr>
          </a:lstStyle>
          <a:p xmlns:a="http://schemas.openxmlformats.org/drawingml/2006/main">
            <a:pPr algn="l">
              <a:defRPr sz="2025" b="1">
                <a:solidFill>
                  <a:srgbClr val="2467A5"/>
                </a:solidFill>
              </a:defRPr>
            </a:pPr>
            <a:r>
              <a:rPr sz="2025" b="1">
                <a:solidFill>
                  <a:srgbClr val="2467A5"/>
                </a:solidFill>
              </a:rPr>
              <a:t>Coil spring</a:t>
            </a:r>
          </a:p>
        </p:txBody>
      </p:sp>
      <p:sp>
        <p:nvSpPr>
          <p:cNvPr id="9" name="">
            <a:extLst xmlns:a="http://schemas.openxmlformats.org/drawingml/2006/main">
              <a:ext uri="{FF2B5EF4-FFF2-40B4-BE49-F238E27FC236}">
                <a16:creationId xmlns:a16="http://schemas.microsoft.com/office/drawing/2014/main" id="{3B13816B-0C5B-4EE0-B347-7B0D833ED823}"/>
              </a:ext>
            </a:extLst>
          </p:cNvPr>
          <p:cNvSpPr>
            <a:spLocks xmlns:a="http://schemas.openxmlformats.org/drawingml/2006/main" noGrp="1"/>
          </p:cNvSpPr>
          <p:nvPr/>
        </p:nvSpPr>
        <p:spPr>
          <a:xfrm xmlns:a="http://schemas.openxmlformats.org/drawingml/2006/main">
            <a:off x="809625" y="5095875"/>
            <a:ext cx="485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142D42"/>
                </a:solidFill>
              </a:defRPr>
            </a:defPPr>
            <a:lvl1pPr algn="l">
              <a:defRPr sz="1650" b="0">
                <a:solidFill>
                  <a:srgbClr val="142D42"/>
                </a:solidFill>
              </a:defRPr>
            </a:lvl1pPr>
            <a:lvl2pPr algn="l">
              <a:defRPr sz="1650" b="0">
                <a:solidFill>
                  <a:srgbClr val="142D42"/>
                </a:solidFill>
              </a:defRPr>
            </a:lvl2pPr>
            <a:lvl3pPr algn="l">
              <a:defRPr sz="1650" b="0">
                <a:solidFill>
                  <a:srgbClr val="142D42"/>
                </a:solidFill>
              </a:defRPr>
            </a:lvl3pPr>
            <a:lvl4pPr algn="l">
              <a:defRPr sz="1650" b="0">
                <a:solidFill>
                  <a:srgbClr val="142D42"/>
                </a:solidFill>
              </a:defRPr>
            </a:lvl4pPr>
            <a:lvl5pPr algn="l">
              <a:defRPr sz="1650" b="0">
                <a:solidFill>
                  <a:srgbClr val="142D42"/>
                </a:solidFill>
              </a:defRPr>
            </a:lvl5pPr>
            <a:lvl6pPr algn="l">
              <a:defRPr sz="1650" b="0">
                <a:solidFill>
                  <a:srgbClr val="142D42"/>
                </a:solidFill>
              </a:defRPr>
            </a:lvl6pPr>
            <a:lvl7pPr algn="l">
              <a:defRPr sz="1650" b="0">
                <a:solidFill>
                  <a:srgbClr val="142D42"/>
                </a:solidFill>
              </a:defRPr>
            </a:lvl7pPr>
            <a:lvl8pPr algn="l">
              <a:defRPr sz="1650" b="0">
                <a:solidFill>
                  <a:srgbClr val="142D42"/>
                </a:solidFill>
              </a:defRPr>
            </a:lvl8pPr>
            <a:lvl9pPr algn="l">
              <a:defRPr sz="1650" b="0">
                <a:solidFill>
                  <a:srgbClr val="142D42"/>
                </a:solidFill>
              </a:defRPr>
            </a:lvl9pPr>
          </a:lstStyle>
          <a:p xmlns:a="http://schemas.openxmlformats.org/drawingml/2006/main">
            <a:pPr algn="l">
              <a:defRPr sz="1650" b="0">
                <a:solidFill>
                  <a:srgbClr val="142D42"/>
                </a:solidFill>
              </a:defRPr>
            </a:pPr>
            <a:r>
              <a:rPr sz="1650" b="0">
                <a:solidFill>
                  <a:srgbClr val="142D42"/>
                </a:solidFill>
              </a:rPr>
              <a:t>Stores elastic energy and provides restoring force.</a:t>
            </a:r>
          </a:p>
          <a:p xmlns:a="http://schemas.openxmlformats.org/drawingml/2006/main">
            <a:pPr algn="l">
              <a:defRPr sz="1650" b="0">
                <a:solidFill>
                  <a:srgbClr val="142D42"/>
                </a:solidFill>
              </a:defRPr>
            </a:pPr>
            <a:r>
              <a:rPr sz="1650" b="0">
                <a:solidFill>
                  <a:srgbClr val="142D42"/>
                </a:solidFill>
              </a:rPr>
              <a:t>Illustrative Vernier set. Calibrate the actual lab springs.</a:t>
            </a:r>
          </a:p>
        </p:txBody>
      </p:sp>
      <p:sp>
        <p:nvSpPr>
          <p:cNvPr id="10" name="">
            <a:extLst xmlns:a="http://schemas.openxmlformats.org/drawingml/2006/main">
              <a:ext uri="{FF2B5EF4-FFF2-40B4-BE49-F238E27FC236}">
                <a16:creationId xmlns:a16="http://schemas.microsoft.com/office/drawing/2014/main" id="{384A076A-E011-4019-AF6D-C5616DE095BF}"/>
              </a:ext>
            </a:extLst>
          </p:cNvPr>
          <p:cNvSpPr>
            <a:spLocks xmlns:a="http://schemas.openxmlformats.org/drawingml/2006/main" noGrp="1"/>
          </p:cNvSpPr>
          <p:nvPr/>
        </p:nvSpPr>
        <p:spPr>
          <a:xfrm xmlns:a="http://schemas.openxmlformats.org/drawingml/2006/main">
            <a:off x="6524625" y="46196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025" b="1">
                <a:solidFill>
                  <a:srgbClr val="A82C3C"/>
                </a:solidFill>
              </a:defRPr>
            </a:defPPr>
            <a:lvl1pPr algn="l">
              <a:defRPr sz="2025" b="1">
                <a:solidFill>
                  <a:srgbClr val="A82C3C"/>
                </a:solidFill>
              </a:defRPr>
            </a:lvl1pPr>
            <a:lvl2pPr algn="l">
              <a:defRPr sz="2025" b="1">
                <a:solidFill>
                  <a:srgbClr val="A82C3C"/>
                </a:solidFill>
              </a:defRPr>
            </a:lvl2pPr>
            <a:lvl3pPr algn="l">
              <a:defRPr sz="2025" b="1">
                <a:solidFill>
                  <a:srgbClr val="A82C3C"/>
                </a:solidFill>
              </a:defRPr>
            </a:lvl3pPr>
            <a:lvl4pPr algn="l">
              <a:defRPr sz="2025" b="1">
                <a:solidFill>
                  <a:srgbClr val="A82C3C"/>
                </a:solidFill>
              </a:defRPr>
            </a:lvl4pPr>
            <a:lvl5pPr algn="l">
              <a:defRPr sz="2025" b="1">
                <a:solidFill>
                  <a:srgbClr val="A82C3C"/>
                </a:solidFill>
              </a:defRPr>
            </a:lvl5pPr>
            <a:lvl6pPr algn="l">
              <a:defRPr sz="2025" b="1">
                <a:solidFill>
                  <a:srgbClr val="A82C3C"/>
                </a:solidFill>
              </a:defRPr>
            </a:lvl6pPr>
            <a:lvl7pPr algn="l">
              <a:defRPr sz="2025" b="1">
                <a:solidFill>
                  <a:srgbClr val="A82C3C"/>
                </a:solidFill>
              </a:defRPr>
            </a:lvl7pPr>
            <a:lvl8pPr algn="l">
              <a:defRPr sz="2025" b="1">
                <a:solidFill>
                  <a:srgbClr val="A82C3C"/>
                </a:solidFill>
              </a:defRPr>
            </a:lvl8pPr>
            <a:lvl9pPr algn="l">
              <a:defRPr sz="2025" b="1">
                <a:solidFill>
                  <a:srgbClr val="A82C3C"/>
                </a:solidFill>
              </a:defRPr>
            </a:lvl9pPr>
          </a:lstStyle>
          <a:p xmlns:a="http://schemas.openxmlformats.org/drawingml/2006/main">
            <a:pPr algn="l">
              <a:defRPr sz="2025" b="1">
                <a:solidFill>
                  <a:srgbClr val="A82C3C"/>
                </a:solidFill>
              </a:defRPr>
            </a:pPr>
            <a:r>
              <a:rPr sz="2025" b="1">
                <a:solidFill>
                  <a:srgbClr val="A82C3C"/>
                </a:solidFill>
              </a:rPr>
              <a:t>Eddy-current brake</a:t>
            </a:r>
          </a:p>
        </p:txBody>
      </p:sp>
      <p:sp>
        <p:nvSpPr>
          <p:cNvPr id="11" name="">
            <a:extLst xmlns:a="http://schemas.openxmlformats.org/drawingml/2006/main">
              <a:ext uri="{FF2B5EF4-FFF2-40B4-BE49-F238E27FC236}">
                <a16:creationId xmlns:a16="http://schemas.microsoft.com/office/drawing/2014/main" id="{13E9B2D4-BD9D-44FB-BCFB-ACF0888B4EDE}"/>
              </a:ext>
            </a:extLst>
          </p:cNvPr>
          <p:cNvSpPr>
            <a:spLocks xmlns:a="http://schemas.openxmlformats.org/drawingml/2006/main" noGrp="1"/>
          </p:cNvSpPr>
          <p:nvPr/>
        </p:nvSpPr>
        <p:spPr>
          <a:xfrm xmlns:a="http://schemas.openxmlformats.org/drawingml/2006/main">
            <a:off x="6524625" y="5095875"/>
            <a:ext cx="485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142D42"/>
                </a:solidFill>
              </a:defRPr>
            </a:defPPr>
            <a:lvl1pPr algn="l">
              <a:defRPr sz="1650" b="0">
                <a:solidFill>
                  <a:srgbClr val="142D42"/>
                </a:solidFill>
              </a:defRPr>
            </a:lvl1pPr>
            <a:lvl2pPr algn="l">
              <a:defRPr sz="1650" b="0">
                <a:solidFill>
                  <a:srgbClr val="142D42"/>
                </a:solidFill>
              </a:defRPr>
            </a:lvl2pPr>
            <a:lvl3pPr algn="l">
              <a:defRPr sz="1650" b="0">
                <a:solidFill>
                  <a:srgbClr val="142D42"/>
                </a:solidFill>
              </a:defRPr>
            </a:lvl3pPr>
            <a:lvl4pPr algn="l">
              <a:defRPr sz="1650" b="0">
                <a:solidFill>
                  <a:srgbClr val="142D42"/>
                </a:solidFill>
              </a:defRPr>
            </a:lvl4pPr>
            <a:lvl5pPr algn="l">
              <a:defRPr sz="1650" b="0">
                <a:solidFill>
                  <a:srgbClr val="142D42"/>
                </a:solidFill>
              </a:defRPr>
            </a:lvl5pPr>
            <a:lvl6pPr algn="l">
              <a:defRPr sz="1650" b="0">
                <a:solidFill>
                  <a:srgbClr val="142D42"/>
                </a:solidFill>
              </a:defRPr>
            </a:lvl6pPr>
            <a:lvl7pPr algn="l">
              <a:defRPr sz="1650" b="0">
                <a:solidFill>
                  <a:srgbClr val="142D42"/>
                </a:solidFill>
              </a:defRPr>
            </a:lvl7pPr>
            <a:lvl8pPr algn="l">
              <a:defRPr sz="1650" b="0">
                <a:solidFill>
                  <a:srgbClr val="142D42"/>
                </a:solidFill>
              </a:defRPr>
            </a:lvl8pPr>
            <a:lvl9pPr algn="l">
              <a:defRPr sz="1650" b="0">
                <a:solidFill>
                  <a:srgbClr val="142D42"/>
                </a:solidFill>
              </a:defRPr>
            </a:lvl9pPr>
          </a:lstStyle>
          <a:p xmlns:a="http://schemas.openxmlformats.org/drawingml/2006/main">
            <a:pPr algn="l">
              <a:defRPr sz="1650" b="0">
                <a:solidFill>
                  <a:srgbClr val="142D42"/>
                </a:solidFill>
              </a:defRPr>
            </a:pPr>
            <a:r>
              <a:rPr sz="1650" b="0">
                <a:solidFill>
                  <a:srgbClr val="142D42"/>
                </a:solidFill>
              </a:rPr>
              <a:t>Holds removable magnets near the track.</a:t>
            </a:r>
          </a:p>
          <a:p xmlns:a="http://schemas.openxmlformats.org/drawingml/2006/main">
            <a:pPr algn="l">
              <a:defRPr sz="1650" b="0">
                <a:solidFill>
                  <a:srgbClr val="142D42"/>
                </a:solidFill>
              </a:defRPr>
            </a:pPr>
            <a:r>
              <a:rPr sz="1650" b="0">
                <a:solidFill>
                  <a:srgbClr val="142D42"/>
                </a:solidFill>
              </a:rPr>
              <a:t>The lab varies magnet count to change damping.</a:t>
            </a:r>
          </a:p>
        </p:txBody>
      </p:sp>
      <p:sp>
        <p:nvSpPr>
          <p:cNvPr id="12" name="">
            <a:extLst xmlns:a="http://schemas.openxmlformats.org/drawingml/2006/main">
              <a:ext uri="{FF2B5EF4-FFF2-40B4-BE49-F238E27FC236}">
                <a16:creationId xmlns:a16="http://schemas.microsoft.com/office/drawing/2014/main" id="{77E7839C-4064-4EAA-9C48-E70D586739FF}"/>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EA83FD32-AE0D-430B-9C3C-379716149EB5}"/>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Measure the mass of attached hardware. A magnet count is different from a brake-assembly count.</a:t>
            </a:r>
          </a:p>
        </p:txBody>
      </p:sp>
      <p:sp xmlns:a="http://schemas.openxmlformats.org/drawingml/2006/main">
        <p:nvSpPr>
          <p:cNvPr id="15" name="TextBox 14"/>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5–6 min</a:t>
            </a:r>
          </a:p>
        </p:txBody>
      </p:sp>
    </p:spTree>
    <p:extLst>
      <p:ext uri="{BB962C8B-B14F-4D97-AF65-F5344CB8AC3E}">
        <p14:creationId xmlns:p14="http://schemas.microsoft.com/office/powerpoint/2010/main" val="213527895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091FD99-A7D7-4310-A02C-2B4B369F7C6B}"/>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9FF8FE0F-25A0-4A04-BB98-D8478E93F27C}"/>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Test plan</a:t>
            </a:r>
          </a:p>
        </p:txBody>
      </p:sp>
      <p:sp>
        <p:nvSpPr>
          <p:cNvPr id="3" name="">
            <a:extLst xmlns:a="http://schemas.openxmlformats.org/drawingml/2006/main">
              <a:ext uri="{FF2B5EF4-FFF2-40B4-BE49-F238E27FC236}">
                <a16:creationId xmlns:a16="http://schemas.microsoft.com/office/drawing/2014/main" id="{C1494EE8-085D-46CA-858D-A190933A5F5B}"/>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experiment changes one property at a time</a:t>
            </a:r>
          </a:p>
        </p:txBody>
      </p:sp>
      <p:sp>
        <p:nvSpPr>
          <p:cNvPr id="4" name="">
            <a:extLst xmlns:a="http://schemas.openxmlformats.org/drawingml/2006/main">
              <a:ext uri="{FF2B5EF4-FFF2-40B4-BE49-F238E27FC236}">
                <a16:creationId xmlns:a16="http://schemas.microsoft.com/office/drawing/2014/main" id="{2C5DFE55-897C-4AB0-8A01-B7731F6C1E36}"/>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7C02C78-43F8-4C95-A502-1585B4A446DA}"/>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7</a:t>
            </a:r>
          </a:p>
        </p:txBody>
      </p:sp>
      <p:sp>
        <p:nvSpPr>
          <p:cNvPr id="6" name="">
            <a:extLst xmlns:a="http://schemas.openxmlformats.org/drawingml/2006/main">
              <a:ext uri="{FF2B5EF4-FFF2-40B4-BE49-F238E27FC236}">
                <a16:creationId xmlns:a16="http://schemas.microsoft.com/office/drawing/2014/main" id="{3DD696AC-9D1E-4181-A100-B97F7B923409}"/>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6–7 min</a:t>
            </a:r>
          </a:p>
        </p:txBody>
      </p:sp>
      <p:sp>
        <p:nvSpPr>
          <p:cNvPr id="7" name="">
            <a:extLst xmlns:a="http://schemas.openxmlformats.org/drawingml/2006/main">
              <a:ext uri="{FF2B5EF4-FFF2-40B4-BE49-F238E27FC236}">
                <a16:creationId xmlns:a16="http://schemas.microsoft.com/office/drawing/2014/main" id="{668C29E6-F705-4590-9F31-A4E9760A0B1F}"/>
              </a:ext>
            </a:extLst>
          </p:cNvPr>
          <p:cNvSpPr>
            <a:spLocks xmlns:a="http://schemas.openxmlformats.org/drawingml/2006/main" noGrp="1"/>
          </p:cNvSpPr>
          <p:nvPr/>
        </p:nvSpPr>
        <p:spPr>
          <a:xfrm xmlns:a="http://schemas.openxmlformats.org/drawingml/2006/main">
            <a:off x="714375" y="1666875"/>
            <a:ext cx="2714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A82C3C"/>
                </a:solidFill>
              </a:defRPr>
            </a:defPPr>
            <a:lvl1pPr algn="l">
              <a:defRPr sz="1875" b="1">
                <a:solidFill>
                  <a:srgbClr val="A82C3C"/>
                </a:solidFill>
              </a:defRPr>
            </a:lvl1pPr>
            <a:lvl2pPr algn="l">
              <a:defRPr sz="1875" b="1">
                <a:solidFill>
                  <a:srgbClr val="A82C3C"/>
                </a:solidFill>
              </a:defRPr>
            </a:lvl2pPr>
            <a:lvl3pPr algn="l">
              <a:defRPr sz="1875" b="1">
                <a:solidFill>
                  <a:srgbClr val="A82C3C"/>
                </a:solidFill>
              </a:defRPr>
            </a:lvl3pPr>
            <a:lvl4pPr algn="l">
              <a:defRPr sz="1875" b="1">
                <a:solidFill>
                  <a:srgbClr val="A82C3C"/>
                </a:solidFill>
              </a:defRPr>
            </a:lvl4pPr>
            <a:lvl5pPr algn="l">
              <a:defRPr sz="1875" b="1">
                <a:solidFill>
                  <a:srgbClr val="A82C3C"/>
                </a:solidFill>
              </a:defRPr>
            </a:lvl5pPr>
            <a:lvl6pPr algn="l">
              <a:defRPr sz="1875" b="1">
                <a:solidFill>
                  <a:srgbClr val="A82C3C"/>
                </a:solidFill>
              </a:defRPr>
            </a:lvl6pPr>
            <a:lvl7pPr algn="l">
              <a:defRPr sz="1875" b="1">
                <a:solidFill>
                  <a:srgbClr val="A82C3C"/>
                </a:solidFill>
              </a:defRPr>
            </a:lvl7pPr>
            <a:lvl8pPr algn="l">
              <a:defRPr sz="1875" b="1">
                <a:solidFill>
                  <a:srgbClr val="A82C3C"/>
                </a:solidFill>
              </a:defRPr>
            </a:lvl8pPr>
            <a:lvl9pPr algn="l">
              <a:defRPr sz="1875" b="1">
                <a:solidFill>
                  <a:srgbClr val="A82C3C"/>
                </a:solidFill>
              </a:defRPr>
            </a:lvl9pPr>
          </a:lstStyle>
          <a:p xmlns:a="http://schemas.openxmlformats.org/drawingml/2006/main">
            <a:pPr algn="l">
              <a:defRPr sz="1875" b="1">
                <a:solidFill>
                  <a:srgbClr val="A82C3C"/>
                </a:solidFill>
              </a:defRPr>
            </a:pPr>
            <a:r>
              <a:rPr sz="1875" b="1">
                <a:solidFill>
                  <a:srgbClr val="A82C3C"/>
                </a:solidFill>
              </a:rPr>
              <a:t>Base</a:t>
            </a:r>
          </a:p>
        </p:txBody>
      </p:sp>
      <p:sp>
        <p:nvSpPr>
          <p:cNvPr id="8" name="">
            <a:extLst xmlns:a="http://schemas.openxmlformats.org/drawingml/2006/main">
              <a:ext uri="{FF2B5EF4-FFF2-40B4-BE49-F238E27FC236}">
                <a16:creationId xmlns:a16="http://schemas.microsoft.com/office/drawing/2014/main" id="{8C9A0DCD-C74C-47D8-B95A-48DECAE6B9D7}"/>
              </a:ext>
            </a:extLst>
          </p:cNvPr>
          <p:cNvSpPr>
            <a:spLocks xmlns:a="http://schemas.openxmlformats.org/drawingml/2006/main" noGrp="1"/>
          </p:cNvSpPr>
          <p:nvPr/>
        </p:nvSpPr>
        <p:spPr>
          <a:xfrm xmlns:a="http://schemas.openxmlformats.org/drawingml/2006/main">
            <a:off x="3619500" y="1666875"/>
            <a:ext cx="752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original mass, original spring pair, no added brakes</a:t>
            </a:r>
          </a:p>
        </p:txBody>
      </p:sp>
      <p:sp>
        <p:nvSpPr>
          <p:cNvPr id="9" name="">
            <a:extLst xmlns:a="http://schemas.openxmlformats.org/drawingml/2006/main">
              <a:ext uri="{FF2B5EF4-FFF2-40B4-BE49-F238E27FC236}">
                <a16:creationId xmlns:a16="http://schemas.microsoft.com/office/drawing/2014/main" id="{034EB1B1-3D61-48FB-9D50-17777F8FD357}"/>
              </a:ext>
            </a:extLst>
          </p:cNvPr>
          <p:cNvSpPr>
            <a:spLocks xmlns:a="http://schemas.openxmlformats.org/drawingml/2006/main" noGrp="1"/>
          </p:cNvSpPr>
          <p:nvPr/>
        </p:nvSpPr>
        <p:spPr>
          <a:xfrm xmlns:a="http://schemas.openxmlformats.org/drawingml/2006/main" rot="0">
            <a:off x="714375" y="2500313"/>
            <a:ext cx="10620375"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217BB53A-2D45-4BEE-80EB-66F500CC99F6}"/>
              </a:ext>
            </a:extLst>
          </p:cNvPr>
          <p:cNvSpPr>
            <a:spLocks xmlns:a="http://schemas.openxmlformats.org/drawingml/2006/main" noGrp="1"/>
          </p:cNvSpPr>
          <p:nvPr/>
        </p:nvSpPr>
        <p:spPr>
          <a:xfrm xmlns:a="http://schemas.openxmlformats.org/drawingml/2006/main">
            <a:off x="714375" y="2638425"/>
            <a:ext cx="2714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A82C3C"/>
                </a:solidFill>
              </a:defRPr>
            </a:defPPr>
            <a:lvl1pPr algn="l">
              <a:defRPr sz="1875" b="1">
                <a:solidFill>
                  <a:srgbClr val="A82C3C"/>
                </a:solidFill>
              </a:defRPr>
            </a:lvl1pPr>
            <a:lvl2pPr algn="l">
              <a:defRPr sz="1875" b="1">
                <a:solidFill>
                  <a:srgbClr val="A82C3C"/>
                </a:solidFill>
              </a:defRPr>
            </a:lvl2pPr>
            <a:lvl3pPr algn="l">
              <a:defRPr sz="1875" b="1">
                <a:solidFill>
                  <a:srgbClr val="A82C3C"/>
                </a:solidFill>
              </a:defRPr>
            </a:lvl3pPr>
            <a:lvl4pPr algn="l">
              <a:defRPr sz="1875" b="1">
                <a:solidFill>
                  <a:srgbClr val="A82C3C"/>
                </a:solidFill>
              </a:defRPr>
            </a:lvl4pPr>
            <a:lvl5pPr algn="l">
              <a:defRPr sz="1875" b="1">
                <a:solidFill>
                  <a:srgbClr val="A82C3C"/>
                </a:solidFill>
              </a:defRPr>
            </a:lvl5pPr>
            <a:lvl6pPr algn="l">
              <a:defRPr sz="1875" b="1">
                <a:solidFill>
                  <a:srgbClr val="A82C3C"/>
                </a:solidFill>
              </a:defRPr>
            </a:lvl6pPr>
            <a:lvl7pPr algn="l">
              <a:defRPr sz="1875" b="1">
                <a:solidFill>
                  <a:srgbClr val="A82C3C"/>
                </a:solidFill>
              </a:defRPr>
            </a:lvl7pPr>
            <a:lvl8pPr algn="l">
              <a:defRPr sz="1875" b="1">
                <a:solidFill>
                  <a:srgbClr val="A82C3C"/>
                </a:solidFill>
              </a:defRPr>
            </a:lvl8pPr>
            <a:lvl9pPr algn="l">
              <a:defRPr sz="1875" b="1">
                <a:solidFill>
                  <a:srgbClr val="A82C3C"/>
                </a:solidFill>
              </a:defRPr>
            </a:lvl9pPr>
          </a:lstStyle>
          <a:p xmlns:a="http://schemas.openxmlformats.org/drawingml/2006/main">
            <a:pPr algn="l">
              <a:defRPr sz="1875" b="1">
                <a:solidFill>
                  <a:srgbClr val="A82C3C"/>
                </a:solidFill>
              </a:defRPr>
            </a:pPr>
            <a:r>
              <a:rPr sz="1875" b="1">
                <a:solidFill>
                  <a:srgbClr val="A82C3C"/>
                </a:solidFill>
              </a:rPr>
              <a:t>Two mass cases</a:t>
            </a:r>
          </a:p>
        </p:txBody>
      </p:sp>
      <p:sp>
        <p:nvSpPr>
          <p:cNvPr id="11" name="">
            <a:extLst xmlns:a="http://schemas.openxmlformats.org/drawingml/2006/main">
              <a:ext uri="{FF2B5EF4-FFF2-40B4-BE49-F238E27FC236}">
                <a16:creationId xmlns:a16="http://schemas.microsoft.com/office/drawing/2014/main" id="{3E172C21-34D7-4417-A750-6DC6ED3D9893}"/>
              </a:ext>
            </a:extLst>
          </p:cNvPr>
          <p:cNvSpPr>
            <a:spLocks xmlns:a="http://schemas.openxmlformats.org/drawingml/2006/main" noGrp="1"/>
          </p:cNvSpPr>
          <p:nvPr/>
        </p:nvSpPr>
        <p:spPr>
          <a:xfrm xmlns:a="http://schemas.openxmlformats.org/drawingml/2006/main">
            <a:off x="3619500" y="2638425"/>
            <a:ext cx="752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same springs, add one mass and then a second</a:t>
            </a:r>
          </a:p>
        </p:txBody>
      </p:sp>
      <p:sp>
        <p:nvSpPr>
          <p:cNvPr id="12" name="">
            <a:extLst xmlns:a="http://schemas.openxmlformats.org/drawingml/2006/main">
              <a:ext uri="{FF2B5EF4-FFF2-40B4-BE49-F238E27FC236}">
                <a16:creationId xmlns:a16="http://schemas.microsoft.com/office/drawing/2014/main" id="{D30B09EC-47AA-4471-8756-3952BBE418EF}"/>
              </a:ext>
            </a:extLst>
          </p:cNvPr>
          <p:cNvSpPr>
            <a:spLocks xmlns:a="http://schemas.openxmlformats.org/drawingml/2006/main" noGrp="1"/>
          </p:cNvSpPr>
          <p:nvPr/>
        </p:nvSpPr>
        <p:spPr>
          <a:xfrm xmlns:a="http://schemas.openxmlformats.org/drawingml/2006/main" rot="0">
            <a:off x="714375" y="3471863"/>
            <a:ext cx="10620375"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F2AC53A1-51CE-4129-BEFF-47B74CDC31A4}"/>
              </a:ext>
            </a:extLst>
          </p:cNvPr>
          <p:cNvSpPr>
            <a:spLocks xmlns:a="http://schemas.openxmlformats.org/drawingml/2006/main" noGrp="1"/>
          </p:cNvSpPr>
          <p:nvPr/>
        </p:nvSpPr>
        <p:spPr>
          <a:xfrm xmlns:a="http://schemas.openxmlformats.org/drawingml/2006/main">
            <a:off x="714375" y="3609975"/>
            <a:ext cx="2714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A82C3C"/>
                </a:solidFill>
              </a:defRPr>
            </a:defPPr>
            <a:lvl1pPr algn="l">
              <a:defRPr sz="1875" b="1">
                <a:solidFill>
                  <a:srgbClr val="A82C3C"/>
                </a:solidFill>
              </a:defRPr>
            </a:lvl1pPr>
            <a:lvl2pPr algn="l">
              <a:defRPr sz="1875" b="1">
                <a:solidFill>
                  <a:srgbClr val="A82C3C"/>
                </a:solidFill>
              </a:defRPr>
            </a:lvl2pPr>
            <a:lvl3pPr algn="l">
              <a:defRPr sz="1875" b="1">
                <a:solidFill>
                  <a:srgbClr val="A82C3C"/>
                </a:solidFill>
              </a:defRPr>
            </a:lvl3pPr>
            <a:lvl4pPr algn="l">
              <a:defRPr sz="1875" b="1">
                <a:solidFill>
                  <a:srgbClr val="A82C3C"/>
                </a:solidFill>
              </a:defRPr>
            </a:lvl4pPr>
            <a:lvl5pPr algn="l">
              <a:defRPr sz="1875" b="1">
                <a:solidFill>
                  <a:srgbClr val="A82C3C"/>
                </a:solidFill>
              </a:defRPr>
            </a:lvl5pPr>
            <a:lvl6pPr algn="l">
              <a:defRPr sz="1875" b="1">
                <a:solidFill>
                  <a:srgbClr val="A82C3C"/>
                </a:solidFill>
              </a:defRPr>
            </a:lvl6pPr>
            <a:lvl7pPr algn="l">
              <a:defRPr sz="1875" b="1">
                <a:solidFill>
                  <a:srgbClr val="A82C3C"/>
                </a:solidFill>
              </a:defRPr>
            </a:lvl7pPr>
            <a:lvl8pPr algn="l">
              <a:defRPr sz="1875" b="1">
                <a:solidFill>
                  <a:srgbClr val="A82C3C"/>
                </a:solidFill>
              </a:defRPr>
            </a:lvl8pPr>
            <a:lvl9pPr algn="l">
              <a:defRPr sz="1875" b="1">
                <a:solidFill>
                  <a:srgbClr val="A82C3C"/>
                </a:solidFill>
              </a:defRPr>
            </a:lvl9pPr>
          </a:lstStyle>
          <a:p xmlns:a="http://schemas.openxmlformats.org/drawingml/2006/main">
            <a:pPr algn="l">
              <a:defRPr sz="1875" b="1">
                <a:solidFill>
                  <a:srgbClr val="A82C3C"/>
                </a:solidFill>
              </a:defRPr>
            </a:pPr>
            <a:r>
              <a:rPr sz="1875" b="1">
                <a:solidFill>
                  <a:srgbClr val="A82C3C"/>
                </a:solidFill>
              </a:rPr>
              <a:t>Two damping cases</a:t>
            </a:r>
          </a:p>
        </p:txBody>
      </p:sp>
      <p:sp>
        <p:nvSpPr>
          <p:cNvPr id="14" name="">
            <a:extLst xmlns:a="http://schemas.openxmlformats.org/drawingml/2006/main">
              <a:ext uri="{FF2B5EF4-FFF2-40B4-BE49-F238E27FC236}">
                <a16:creationId xmlns:a16="http://schemas.microsoft.com/office/drawing/2014/main" id="{CE8C5C67-B680-4D53-9D19-2AA908056EC2}"/>
              </a:ext>
            </a:extLst>
          </p:cNvPr>
          <p:cNvSpPr>
            <a:spLocks xmlns:a="http://schemas.openxmlformats.org/drawingml/2006/main" noGrp="1"/>
          </p:cNvSpPr>
          <p:nvPr/>
        </p:nvSpPr>
        <p:spPr>
          <a:xfrm xmlns:a="http://schemas.openxmlformats.org/drawingml/2006/main">
            <a:off x="3619500" y="3609975"/>
            <a:ext cx="752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same springs, add two and then four brake magnets</a:t>
            </a:r>
          </a:p>
        </p:txBody>
      </p:sp>
      <p:sp>
        <p:nvSpPr>
          <p:cNvPr id="15" name="">
            <a:extLst xmlns:a="http://schemas.openxmlformats.org/drawingml/2006/main">
              <a:ext uri="{FF2B5EF4-FFF2-40B4-BE49-F238E27FC236}">
                <a16:creationId xmlns:a16="http://schemas.microsoft.com/office/drawing/2014/main" id="{162AC8A3-065B-4521-B05D-47429F12C2D6}"/>
              </a:ext>
            </a:extLst>
          </p:cNvPr>
          <p:cNvSpPr>
            <a:spLocks xmlns:a="http://schemas.openxmlformats.org/drawingml/2006/main" noGrp="1"/>
          </p:cNvSpPr>
          <p:nvPr/>
        </p:nvSpPr>
        <p:spPr>
          <a:xfrm xmlns:a="http://schemas.openxmlformats.org/drawingml/2006/main" rot="0">
            <a:off x="714375" y="4443413"/>
            <a:ext cx="10620375"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1E1A8161-64EE-4085-9DD2-C4F5CF8DA9D4}"/>
              </a:ext>
            </a:extLst>
          </p:cNvPr>
          <p:cNvSpPr>
            <a:spLocks xmlns:a="http://schemas.openxmlformats.org/drawingml/2006/main" noGrp="1"/>
          </p:cNvSpPr>
          <p:nvPr/>
        </p:nvSpPr>
        <p:spPr>
          <a:xfrm xmlns:a="http://schemas.openxmlformats.org/drawingml/2006/main">
            <a:off x="714375" y="4581525"/>
            <a:ext cx="2714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A82C3C"/>
                </a:solidFill>
              </a:defRPr>
            </a:defPPr>
            <a:lvl1pPr algn="l">
              <a:defRPr sz="1875" b="1">
                <a:solidFill>
                  <a:srgbClr val="A82C3C"/>
                </a:solidFill>
              </a:defRPr>
            </a:lvl1pPr>
            <a:lvl2pPr algn="l">
              <a:defRPr sz="1875" b="1">
                <a:solidFill>
                  <a:srgbClr val="A82C3C"/>
                </a:solidFill>
              </a:defRPr>
            </a:lvl2pPr>
            <a:lvl3pPr algn="l">
              <a:defRPr sz="1875" b="1">
                <a:solidFill>
                  <a:srgbClr val="A82C3C"/>
                </a:solidFill>
              </a:defRPr>
            </a:lvl3pPr>
            <a:lvl4pPr algn="l">
              <a:defRPr sz="1875" b="1">
                <a:solidFill>
                  <a:srgbClr val="A82C3C"/>
                </a:solidFill>
              </a:defRPr>
            </a:lvl4pPr>
            <a:lvl5pPr algn="l">
              <a:defRPr sz="1875" b="1">
                <a:solidFill>
                  <a:srgbClr val="A82C3C"/>
                </a:solidFill>
              </a:defRPr>
            </a:lvl5pPr>
            <a:lvl6pPr algn="l">
              <a:defRPr sz="1875" b="1">
                <a:solidFill>
                  <a:srgbClr val="A82C3C"/>
                </a:solidFill>
              </a:defRPr>
            </a:lvl6pPr>
            <a:lvl7pPr algn="l">
              <a:defRPr sz="1875" b="1">
                <a:solidFill>
                  <a:srgbClr val="A82C3C"/>
                </a:solidFill>
              </a:defRPr>
            </a:lvl7pPr>
            <a:lvl8pPr algn="l">
              <a:defRPr sz="1875" b="1">
                <a:solidFill>
                  <a:srgbClr val="A82C3C"/>
                </a:solidFill>
              </a:defRPr>
            </a:lvl8pPr>
            <a:lvl9pPr algn="l">
              <a:defRPr sz="1875" b="1">
                <a:solidFill>
                  <a:srgbClr val="A82C3C"/>
                </a:solidFill>
              </a:defRPr>
            </a:lvl9pPr>
          </a:lstStyle>
          <a:p xmlns:a="http://schemas.openxmlformats.org/drawingml/2006/main">
            <a:pPr algn="l">
              <a:defRPr sz="1875" b="1">
                <a:solidFill>
                  <a:srgbClr val="A82C3C"/>
                </a:solidFill>
              </a:defRPr>
            </a:pPr>
            <a:r>
              <a:rPr sz="1875" b="1">
                <a:solidFill>
                  <a:srgbClr val="A82C3C"/>
                </a:solidFill>
              </a:rPr>
              <a:t>Two stiffness cases</a:t>
            </a:r>
          </a:p>
        </p:txBody>
      </p:sp>
      <p:sp>
        <p:nvSpPr>
          <p:cNvPr id="17" name="">
            <a:extLst xmlns:a="http://schemas.openxmlformats.org/drawingml/2006/main">
              <a:ext uri="{FF2B5EF4-FFF2-40B4-BE49-F238E27FC236}">
                <a16:creationId xmlns:a16="http://schemas.microsoft.com/office/drawing/2014/main" id="{A2F34DB7-636D-4218-89DF-7271AF184B7D}"/>
              </a:ext>
            </a:extLst>
          </p:cNvPr>
          <p:cNvSpPr>
            <a:spLocks xmlns:a="http://schemas.openxmlformats.org/drawingml/2006/main" noGrp="1"/>
          </p:cNvSpPr>
          <p:nvPr/>
        </p:nvSpPr>
        <p:spPr>
          <a:xfrm xmlns:a="http://schemas.openxmlformats.org/drawingml/2006/main">
            <a:off x="3619500" y="4581525"/>
            <a:ext cx="752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return to base mass and change spring combinations</a:t>
            </a:r>
          </a:p>
        </p:txBody>
      </p:sp>
      <p:sp>
        <p:nvSpPr>
          <p:cNvPr id="18" name="">
            <a:extLst xmlns:a="http://schemas.openxmlformats.org/drawingml/2006/main">
              <a:ext uri="{FF2B5EF4-FFF2-40B4-BE49-F238E27FC236}">
                <a16:creationId xmlns:a16="http://schemas.microsoft.com/office/drawing/2014/main" id="{7EC6E6C8-6FF9-4A78-8838-2B3F33A91A38}"/>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C27FB682-68F2-4C4A-92EB-8F0A8F7E29FA}"/>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We derive the predictions first. Prior-class measurements follow the analysis methods.</a:t>
            </a:r>
          </a:p>
        </p:txBody>
      </p:sp>
    </p:spTree>
    <p:extLst>
      <p:ext uri="{BB962C8B-B14F-4D97-AF65-F5344CB8AC3E}">
        <p14:creationId xmlns:p14="http://schemas.microsoft.com/office/powerpoint/2010/main" val="4080741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4923B5C-E9BB-4E9E-AA2A-8A4A960868AD}"/>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1A92DCAF-701A-4FFB-8DF1-47742C32B509}"/>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Model</a:t>
            </a:r>
          </a:p>
        </p:txBody>
      </p:sp>
      <p:sp>
        <p:nvSpPr>
          <p:cNvPr id="3" name="">
            <a:extLst xmlns:a="http://schemas.openxmlformats.org/drawingml/2006/main">
              <a:ext uri="{FF2B5EF4-FFF2-40B4-BE49-F238E27FC236}">
                <a16:creationId xmlns:a16="http://schemas.microsoft.com/office/drawing/2014/main" id="{9287BAA9-FA4F-4820-9C94-3B6D6715DD5D}"/>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coordinate and all model variables</a:t>
            </a:r>
          </a:p>
        </p:txBody>
      </p:sp>
      <p:sp>
        <p:nvSpPr>
          <p:cNvPr id="4" name="">
            <a:extLst xmlns:a="http://schemas.openxmlformats.org/drawingml/2006/main">
              <a:ext uri="{FF2B5EF4-FFF2-40B4-BE49-F238E27FC236}">
                <a16:creationId xmlns:a16="http://schemas.microsoft.com/office/drawing/2014/main" id="{78A64209-69B5-4A2A-9ED9-D18E53AFD99C}"/>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64F34BF-F402-4F41-AD42-FE86DEE6D3C3}"/>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8</a:t>
            </a:r>
          </a:p>
        </p:txBody>
      </p:sp>
      <p:sp>
        <p:nvSpPr>
          <p:cNvPr id="6" name="">
            <a:extLst xmlns:a="http://schemas.openxmlformats.org/drawingml/2006/main">
              <a:ext uri="{FF2B5EF4-FFF2-40B4-BE49-F238E27FC236}">
                <a16:creationId xmlns:a16="http://schemas.microsoft.com/office/drawing/2014/main" id="{84DCEE7A-479F-4024-8632-AEEB4A53F713}"/>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7–8 min</a:t>
            </a:r>
          </a:p>
        </p:txBody>
      </p:sp>
      <p:pic>
        <p:nvPicPr>
          <p:cNvPr id="7" name="">
            <a:extLst xmlns:a="http://schemas.openxmlformats.org/drawingml/2006/main">
              <a:ext uri="{FF2B5EF4-FFF2-40B4-BE49-F238E27FC236}">
                <a16:creationId xmlns:a16="http://schemas.microsoft.com/office/drawing/2014/main" id="{151BB7F3-E6B9-4469-8D3B-A5B8E61EF483}"/>
              </a:ext>
            </a:extLst>
          </p:cNvPr>
          <p:cNvPicPr>
            <a:picLocks xmlns:a="http://schemas.openxmlformats.org/drawingml/2006/main" noChangeAspect="1"/>
          </p:cNvPicPr>
          <p:nvPr/>
        </p:nvPicPr>
        <p:blipFill>
          <a:blip xmlns:r="http://schemas.openxmlformats.org/officeDocument/2006/relationships" xmlns:a="http://schemas.openxmlformats.org/drawingml/2006/main" r:embed="R8f76d810bd1e4a34"/>
          <a:stretch xmlns:a="http://schemas.openxmlformats.org/drawingml/2006/main"/>
        </p:blipFill>
        <p:spPr>
          <a:xfrm xmlns:a="http://schemas.openxmlformats.org/drawingml/2006/main">
            <a:off x="666750" y="1666875"/>
            <a:ext cx="2492026" cy="461486"/>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C5A84C62-23F4-4FEB-A6C9-DF1967395251}"/>
              </a:ext>
            </a:extLst>
          </p:cNvPr>
          <p:cNvPicPr>
            <a:picLocks xmlns:a="http://schemas.openxmlformats.org/drawingml/2006/main" noChangeAspect="1"/>
          </p:cNvPicPr>
          <p:nvPr/>
        </p:nvPicPr>
        <p:blipFill>
          <a:blip xmlns:r="http://schemas.openxmlformats.org/officeDocument/2006/relationships" xmlns:a="http://schemas.openxmlformats.org/drawingml/2006/main" r:embed="R03e46bca6f814cd9"/>
          <a:stretch xmlns:a="http://schemas.openxmlformats.org/drawingml/2006/main"/>
        </p:blipFill>
        <p:spPr>
          <a:xfrm xmlns:a="http://schemas.openxmlformats.org/drawingml/2006/main">
            <a:off x="6477000" y="1666875"/>
            <a:ext cx="2870930" cy="60721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6BF6C2F-478C-435E-9157-E3F6957106D7}"/>
              </a:ext>
            </a:extLst>
          </p:cNvPr>
          <p:cNvSpPr>
            <a:spLocks xmlns:a="http://schemas.openxmlformats.org/drawingml/2006/main" noGrp="1"/>
          </p:cNvSpPr>
          <p:nvPr/>
        </p:nvSpPr>
        <p:spPr>
          <a:xfrm xmlns:a="http://schemas.openxmlformats.org/drawingml/2006/main">
            <a:off x="714375" y="2809875"/>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x: displacement from equilibrium [m]</a:t>
            </a:r>
          </a:p>
        </p:txBody>
      </p:sp>
      <p:sp>
        <p:nvSpPr>
          <p:cNvPr id="10" name="">
            <a:extLst xmlns:a="http://schemas.openxmlformats.org/drawingml/2006/main">
              <a:ext uri="{FF2B5EF4-FFF2-40B4-BE49-F238E27FC236}">
                <a16:creationId xmlns:a16="http://schemas.microsoft.com/office/drawing/2014/main" id="{7ECDE03F-110C-4833-A8F2-72E1AA3B11EE}"/>
              </a:ext>
            </a:extLst>
          </p:cNvPr>
          <p:cNvSpPr>
            <a:spLocks xmlns:a="http://schemas.openxmlformats.org/drawingml/2006/main" noGrp="1"/>
          </p:cNvSpPr>
          <p:nvPr/>
        </p:nvSpPr>
        <p:spPr>
          <a:xfrm xmlns:a="http://schemas.openxmlformats.org/drawingml/2006/main">
            <a:off x="714375" y="3619500"/>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m: total moving mass [kg]</a:t>
            </a:r>
          </a:p>
        </p:txBody>
      </p:sp>
      <p:sp>
        <p:nvSpPr>
          <p:cNvPr id="11" name="">
            <a:extLst xmlns:a="http://schemas.openxmlformats.org/drawingml/2006/main">
              <a:ext uri="{FF2B5EF4-FFF2-40B4-BE49-F238E27FC236}">
                <a16:creationId xmlns:a16="http://schemas.microsoft.com/office/drawing/2014/main" id="{1EAE0E42-D1A1-46FE-ACE7-02E5E02BB118}"/>
              </a:ext>
            </a:extLst>
          </p:cNvPr>
          <p:cNvSpPr>
            <a:spLocks xmlns:a="http://schemas.openxmlformats.org/drawingml/2006/main" noGrp="1"/>
          </p:cNvSpPr>
          <p:nvPr/>
        </p:nvSpPr>
        <p:spPr>
          <a:xfrm xmlns:a="http://schemas.openxmlformats.org/drawingml/2006/main">
            <a:off x="714375" y="4429125"/>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Left / right spring stiffnesses [N/m]</a:t>
            </a:r>
          </a:p>
        </p:txBody>
      </p:sp>
      <p:sp>
        <p:nvSpPr>
          <p:cNvPr id="12" name="">
            <a:extLst xmlns:a="http://schemas.openxmlformats.org/drawingml/2006/main">
              <a:ext uri="{FF2B5EF4-FFF2-40B4-BE49-F238E27FC236}">
                <a16:creationId xmlns:a16="http://schemas.microsoft.com/office/drawing/2014/main" id="{04FB7899-04A3-4420-99E0-0AF7B2FDCB3B}"/>
              </a:ext>
            </a:extLst>
          </p:cNvPr>
          <p:cNvSpPr>
            <a:spLocks xmlns:a="http://schemas.openxmlformats.org/drawingml/2006/main" noGrp="1"/>
          </p:cNvSpPr>
          <p:nvPr/>
        </p:nvSpPr>
        <p:spPr>
          <a:xfrm xmlns:a="http://schemas.openxmlformats.org/drawingml/2006/main">
            <a:off x="6477000" y="2809875"/>
            <a:ext cx="5000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x-dot: velocity [m/s]</a:t>
            </a:r>
          </a:p>
        </p:txBody>
      </p:sp>
      <p:sp>
        <p:nvSpPr>
          <p:cNvPr id="13" name="">
            <a:extLst xmlns:a="http://schemas.openxmlformats.org/drawingml/2006/main">
              <a:ext uri="{FF2B5EF4-FFF2-40B4-BE49-F238E27FC236}">
                <a16:creationId xmlns:a16="http://schemas.microsoft.com/office/drawing/2014/main" id="{8E35427A-5A7E-4133-8E9B-E984AC04AD06}"/>
              </a:ext>
            </a:extLst>
          </p:cNvPr>
          <p:cNvSpPr>
            <a:spLocks xmlns:a="http://schemas.openxmlformats.org/drawingml/2006/main" noGrp="1"/>
          </p:cNvSpPr>
          <p:nvPr/>
        </p:nvSpPr>
        <p:spPr>
          <a:xfrm xmlns:a="http://schemas.openxmlformats.org/drawingml/2006/main">
            <a:off x="6477000" y="3619500"/>
            <a:ext cx="5000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x-double-dot: acceleration [m/s²]</a:t>
            </a:r>
          </a:p>
        </p:txBody>
      </p:sp>
      <p:sp>
        <p:nvSpPr>
          <p:cNvPr id="14" name="">
            <a:extLst xmlns:a="http://schemas.openxmlformats.org/drawingml/2006/main">
              <a:ext uri="{FF2B5EF4-FFF2-40B4-BE49-F238E27FC236}">
                <a16:creationId xmlns:a16="http://schemas.microsoft.com/office/drawing/2014/main" id="{FE59ED58-87B1-4867-B4CE-63733288C6D5}"/>
              </a:ext>
            </a:extLst>
          </p:cNvPr>
          <p:cNvSpPr>
            <a:spLocks xmlns:a="http://schemas.openxmlformats.org/drawingml/2006/main" noGrp="1"/>
          </p:cNvSpPr>
          <p:nvPr/>
        </p:nvSpPr>
        <p:spPr>
          <a:xfrm xmlns:a="http://schemas.openxmlformats.org/drawingml/2006/main">
            <a:off x="6477000" y="4429125"/>
            <a:ext cx="5000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One degree of freedom: one coordinate describes the cart.</a:t>
            </a:r>
          </a:p>
        </p:txBody>
      </p:sp>
      <p:sp>
        <p:nvSpPr>
          <p:cNvPr id="15" name="">
            <a:extLst xmlns:a="http://schemas.openxmlformats.org/drawingml/2006/main">
              <a:ext uri="{FF2B5EF4-FFF2-40B4-BE49-F238E27FC236}">
                <a16:creationId xmlns:a16="http://schemas.microsoft.com/office/drawing/2014/main" id="{AD9CCDE2-0E0B-41D7-9081-F399D44E8027}"/>
              </a:ext>
            </a:extLst>
          </p:cNvPr>
          <p:cNvSpPr>
            <a:spLocks xmlns:a="http://schemas.openxmlformats.org/drawingml/2006/main" noGrp="1"/>
          </p:cNvSpPr>
          <p:nvPr/>
        </p:nvSpPr>
        <p:spPr>
          <a:xfrm xmlns:a="http://schemas.openxmlformats.org/drawingml/2006/main">
            <a:off x="714375" y="53816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0">
                <a:solidFill>
                  <a:srgbClr val="536575"/>
                </a:solidFill>
              </a:defRPr>
            </a:defPPr>
            <a:lvl1pPr algn="l">
              <a:defRPr sz="1500" b="0">
                <a:solidFill>
                  <a:srgbClr val="536575"/>
                </a:solidFill>
              </a:defRPr>
            </a:lvl1pPr>
            <a:lvl2pPr algn="l">
              <a:defRPr sz="1500" b="0">
                <a:solidFill>
                  <a:srgbClr val="536575"/>
                </a:solidFill>
              </a:defRPr>
            </a:lvl2pPr>
            <a:lvl3pPr algn="l">
              <a:defRPr sz="1500" b="0">
                <a:solidFill>
                  <a:srgbClr val="536575"/>
                </a:solidFill>
              </a:defRPr>
            </a:lvl3pPr>
            <a:lvl4pPr algn="l">
              <a:defRPr sz="1500" b="0">
                <a:solidFill>
                  <a:srgbClr val="536575"/>
                </a:solidFill>
              </a:defRPr>
            </a:lvl4pPr>
            <a:lvl5pPr algn="l">
              <a:defRPr sz="1500" b="0">
                <a:solidFill>
                  <a:srgbClr val="536575"/>
                </a:solidFill>
              </a:defRPr>
            </a:lvl5pPr>
            <a:lvl6pPr algn="l">
              <a:defRPr sz="1500" b="0">
                <a:solidFill>
                  <a:srgbClr val="536575"/>
                </a:solidFill>
              </a:defRPr>
            </a:lvl6pPr>
            <a:lvl7pPr algn="l">
              <a:defRPr sz="1500" b="0">
                <a:solidFill>
                  <a:srgbClr val="536575"/>
                </a:solidFill>
              </a:defRPr>
            </a:lvl7pPr>
            <a:lvl8pPr algn="l">
              <a:defRPr sz="1500" b="0">
                <a:solidFill>
                  <a:srgbClr val="536575"/>
                </a:solidFill>
              </a:defRPr>
            </a:lvl8pPr>
            <a:lvl9pPr algn="l">
              <a:defRPr sz="1500" b="0">
                <a:solidFill>
                  <a:srgbClr val="536575"/>
                </a:solidFill>
              </a:defRPr>
            </a:lvl9pPr>
          </a:lstStyle>
          <a:p xmlns:a="http://schemas.openxmlformats.org/drawingml/2006/main">
            <a:pPr algn="l">
              <a:defRPr sz="1500" b="0">
                <a:solidFill>
                  <a:srgbClr val="536575"/>
                </a:solidFill>
              </a:defRPr>
            </a:pPr>
            <a:r>
              <a:rPr sz="1500" b="0">
                <a:solidFill>
                  <a:srgbClr val="536575"/>
                </a:solidFill>
              </a:rPr>
              <a:t>X: encoder position. Xeq: equilibrium position [m]. t: time [s].</a:t>
            </a:r>
          </a:p>
        </p:txBody>
      </p:sp>
      <p:sp>
        <p:nvSpPr>
          <p:cNvPr id="16" name="">
            <a:extLst xmlns:a="http://schemas.openxmlformats.org/drawingml/2006/main">
              <a:ext uri="{FF2B5EF4-FFF2-40B4-BE49-F238E27FC236}">
                <a16:creationId xmlns:a16="http://schemas.microsoft.com/office/drawing/2014/main" id="{E3FE7C01-D89E-48D1-A157-6F0CF320E0E8}"/>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AD8EFB5E-2094-4EA0-B1DB-32F9FF9C04BF}"/>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A level track balances weight with the normal force. We model horizontal motion.</a:t>
            </a:r>
          </a:p>
        </p:txBody>
      </p:sp>
    </p:spTree>
    <p:extLst>
      <p:ext uri="{BB962C8B-B14F-4D97-AF65-F5344CB8AC3E}">
        <p14:creationId xmlns:p14="http://schemas.microsoft.com/office/powerpoint/2010/main" val="213566110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6A6CC35-61CB-4189-A60A-BD987CC14F46}"/>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3DA7C16D-47A1-467F-942B-18FA1DBB1C19}"/>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Spring force</a:t>
            </a:r>
          </a:p>
        </p:txBody>
      </p:sp>
      <p:sp>
        <p:nvSpPr>
          <p:cNvPr id="3" name="">
            <a:extLst xmlns:a="http://schemas.openxmlformats.org/drawingml/2006/main">
              <a:ext uri="{FF2B5EF4-FFF2-40B4-BE49-F238E27FC236}">
                <a16:creationId xmlns:a16="http://schemas.microsoft.com/office/drawing/2014/main" id="{E7F3F1B7-E81E-43A9-90BF-243265B6BC8D}"/>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Why the spring stiffnesses add</a:t>
            </a:r>
          </a:p>
        </p:txBody>
      </p:sp>
      <p:sp>
        <p:nvSpPr>
          <p:cNvPr id="4" name="">
            <a:extLst xmlns:a="http://schemas.openxmlformats.org/drawingml/2006/main">
              <a:ext uri="{FF2B5EF4-FFF2-40B4-BE49-F238E27FC236}">
                <a16:creationId xmlns:a16="http://schemas.microsoft.com/office/drawing/2014/main" id="{009CD872-3DE2-410A-9C3E-60388C9DE175}"/>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8CC8703-6018-42BF-9B5B-25E397544D83}"/>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9</a:t>
            </a:r>
          </a:p>
        </p:txBody>
      </p:sp>
      <p:sp>
        <p:nvSpPr>
          <p:cNvPr id="6" name="">
            <a:extLst xmlns:a="http://schemas.openxmlformats.org/drawingml/2006/main">
              <a:ext uri="{FF2B5EF4-FFF2-40B4-BE49-F238E27FC236}">
                <a16:creationId xmlns:a16="http://schemas.microsoft.com/office/drawing/2014/main" id="{26AA31C1-F08F-4294-9459-476CCCB8FEBE}"/>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8–10 min</a:t>
            </a:r>
          </a:p>
        </p:txBody>
      </p:sp>
      <p:sp>
        <p:nvSpPr>
          <p:cNvPr id="7" name="">
            <a:extLst xmlns:a="http://schemas.openxmlformats.org/drawingml/2006/main">
              <a:ext uri="{FF2B5EF4-FFF2-40B4-BE49-F238E27FC236}">
                <a16:creationId xmlns:a16="http://schemas.microsoft.com/office/drawing/2014/main" id="{A34E5AA6-2F8D-4BC7-A3A8-441296D27A22}"/>
              </a:ext>
            </a:extLst>
          </p:cNvPr>
          <p:cNvSpPr>
            <a:spLocks xmlns:a="http://schemas.openxmlformats.org/drawingml/2006/main" noGrp="1"/>
          </p:cNvSpPr>
          <p:nvPr/>
        </p:nvSpPr>
        <p:spPr>
          <a:xfrm xmlns:a="http://schemas.openxmlformats.org/drawingml/2006/main">
            <a:off x="714375" y="1609725"/>
            <a:ext cx="1000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950" b="1">
                <a:solidFill>
                  <a:srgbClr val="142D42"/>
                </a:solidFill>
              </a:defRPr>
            </a:defPPr>
            <a:lvl1pPr algn="l">
              <a:defRPr sz="1950" b="1">
                <a:solidFill>
                  <a:srgbClr val="142D42"/>
                </a:solidFill>
              </a:defRPr>
            </a:lvl1pPr>
            <a:lvl2pPr algn="l">
              <a:defRPr sz="1950" b="1">
                <a:solidFill>
                  <a:srgbClr val="142D42"/>
                </a:solidFill>
              </a:defRPr>
            </a:lvl2pPr>
            <a:lvl3pPr algn="l">
              <a:defRPr sz="1950" b="1">
                <a:solidFill>
                  <a:srgbClr val="142D42"/>
                </a:solidFill>
              </a:defRPr>
            </a:lvl3pPr>
            <a:lvl4pPr algn="l">
              <a:defRPr sz="1950" b="1">
                <a:solidFill>
                  <a:srgbClr val="142D42"/>
                </a:solidFill>
              </a:defRPr>
            </a:lvl4pPr>
            <a:lvl5pPr algn="l">
              <a:defRPr sz="1950" b="1">
                <a:solidFill>
                  <a:srgbClr val="142D42"/>
                </a:solidFill>
              </a:defRPr>
            </a:lvl5pPr>
            <a:lvl6pPr algn="l">
              <a:defRPr sz="1950" b="1">
                <a:solidFill>
                  <a:srgbClr val="142D42"/>
                </a:solidFill>
              </a:defRPr>
            </a:lvl6pPr>
            <a:lvl7pPr algn="l">
              <a:defRPr sz="1950" b="1">
                <a:solidFill>
                  <a:srgbClr val="142D42"/>
                </a:solidFill>
              </a:defRPr>
            </a:lvl7pPr>
            <a:lvl8pPr algn="l">
              <a:defRPr sz="1950" b="1">
                <a:solidFill>
                  <a:srgbClr val="142D42"/>
                </a:solidFill>
              </a:defRPr>
            </a:lvl8pPr>
            <a:lvl9pPr algn="l">
              <a:defRPr sz="1950" b="1">
                <a:solidFill>
                  <a:srgbClr val="142D42"/>
                </a:solidFill>
              </a:defRPr>
            </a:lvl9pPr>
          </a:lstStyle>
          <a:p xmlns:a="http://schemas.openxmlformats.org/drawingml/2006/main">
            <a:pPr algn="l">
              <a:defRPr sz="1950" b="1">
                <a:solidFill>
                  <a:srgbClr val="142D42"/>
                </a:solidFill>
              </a:defRPr>
            </a:pPr>
            <a:r>
              <a:rPr sz="1950" b="1">
                <a:solidFill>
                  <a:srgbClr val="142D42"/>
                </a:solidFill>
              </a:rPr>
              <a:t>For a small positive displacement x:</a:t>
            </a:r>
          </a:p>
        </p:txBody>
      </p:sp>
      <p:sp>
        <p:nvSpPr>
          <p:cNvPr id="8" name="">
            <a:extLst xmlns:a="http://schemas.openxmlformats.org/drawingml/2006/main">
              <a:ext uri="{FF2B5EF4-FFF2-40B4-BE49-F238E27FC236}">
                <a16:creationId xmlns:a16="http://schemas.microsoft.com/office/drawing/2014/main" id="{EB76F63A-26F7-4F73-B2CB-D0D4126A0B9B}"/>
              </a:ext>
            </a:extLst>
          </p:cNvPr>
          <p:cNvSpPr>
            <a:spLocks xmlns:a="http://schemas.openxmlformats.org/drawingml/2006/main" noGrp="1"/>
          </p:cNvSpPr>
          <p:nvPr/>
        </p:nvSpPr>
        <p:spPr>
          <a:xfrm xmlns:a="http://schemas.openxmlformats.org/drawingml/2006/main">
            <a:off x="714375" y="2333625"/>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2467A5"/>
                </a:solidFill>
              </a:defRPr>
            </a:defPPr>
            <a:lvl1pPr algn="l">
              <a:defRPr sz="1875" b="1">
                <a:solidFill>
                  <a:srgbClr val="2467A5"/>
                </a:solidFill>
              </a:defRPr>
            </a:lvl1pPr>
            <a:lvl2pPr algn="l">
              <a:defRPr sz="1875" b="1">
                <a:solidFill>
                  <a:srgbClr val="2467A5"/>
                </a:solidFill>
              </a:defRPr>
            </a:lvl2pPr>
            <a:lvl3pPr algn="l">
              <a:defRPr sz="1875" b="1">
                <a:solidFill>
                  <a:srgbClr val="2467A5"/>
                </a:solidFill>
              </a:defRPr>
            </a:lvl3pPr>
            <a:lvl4pPr algn="l">
              <a:defRPr sz="1875" b="1">
                <a:solidFill>
                  <a:srgbClr val="2467A5"/>
                </a:solidFill>
              </a:defRPr>
            </a:lvl4pPr>
            <a:lvl5pPr algn="l">
              <a:defRPr sz="1875" b="1">
                <a:solidFill>
                  <a:srgbClr val="2467A5"/>
                </a:solidFill>
              </a:defRPr>
            </a:lvl5pPr>
            <a:lvl6pPr algn="l">
              <a:defRPr sz="1875" b="1">
                <a:solidFill>
                  <a:srgbClr val="2467A5"/>
                </a:solidFill>
              </a:defRPr>
            </a:lvl6pPr>
            <a:lvl7pPr algn="l">
              <a:defRPr sz="1875" b="1">
                <a:solidFill>
                  <a:srgbClr val="2467A5"/>
                </a:solidFill>
              </a:defRPr>
            </a:lvl7pPr>
            <a:lvl8pPr algn="l">
              <a:defRPr sz="1875" b="1">
                <a:solidFill>
                  <a:srgbClr val="2467A5"/>
                </a:solidFill>
              </a:defRPr>
            </a:lvl8pPr>
            <a:lvl9pPr algn="l">
              <a:defRPr sz="1875" b="1">
                <a:solidFill>
                  <a:srgbClr val="2467A5"/>
                </a:solidFill>
              </a:defRPr>
            </a:lvl9pPr>
          </a:lstStyle>
          <a:p xmlns:a="http://schemas.openxmlformats.org/drawingml/2006/main">
            <a:pPr algn="l">
              <a:defRPr sz="1875" b="1">
                <a:solidFill>
                  <a:srgbClr val="2467A5"/>
                </a:solidFill>
              </a:defRPr>
            </a:pPr>
            <a:r>
              <a:rPr sz="1875" b="1">
                <a:solidFill>
                  <a:srgbClr val="2467A5"/>
                </a:solidFill>
              </a:rPr>
              <a:t>Left spring stretches more</a:t>
            </a:r>
          </a:p>
        </p:txBody>
      </p:sp>
      <p:sp>
        <p:nvSpPr>
          <p:cNvPr id="9" name="">
            <a:extLst xmlns:a="http://schemas.openxmlformats.org/drawingml/2006/main">
              <a:ext uri="{FF2B5EF4-FFF2-40B4-BE49-F238E27FC236}">
                <a16:creationId xmlns:a16="http://schemas.microsoft.com/office/drawing/2014/main" id="{D349F24F-9DDA-40DC-9BE5-A93E78383C63}"/>
              </a:ext>
            </a:extLst>
          </p:cNvPr>
          <p:cNvSpPr>
            <a:spLocks xmlns:a="http://schemas.openxmlformats.org/drawingml/2006/main" noGrp="1"/>
          </p:cNvSpPr>
          <p:nvPr/>
        </p:nvSpPr>
        <p:spPr>
          <a:xfrm xmlns:a="http://schemas.openxmlformats.org/drawingml/2006/main">
            <a:off x="6524625" y="2333625"/>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2467A5"/>
                </a:solidFill>
              </a:defRPr>
            </a:defPPr>
            <a:lvl1pPr algn="l">
              <a:defRPr sz="1875" b="1">
                <a:solidFill>
                  <a:srgbClr val="2467A5"/>
                </a:solidFill>
              </a:defRPr>
            </a:lvl1pPr>
            <a:lvl2pPr algn="l">
              <a:defRPr sz="1875" b="1">
                <a:solidFill>
                  <a:srgbClr val="2467A5"/>
                </a:solidFill>
              </a:defRPr>
            </a:lvl2pPr>
            <a:lvl3pPr algn="l">
              <a:defRPr sz="1875" b="1">
                <a:solidFill>
                  <a:srgbClr val="2467A5"/>
                </a:solidFill>
              </a:defRPr>
            </a:lvl3pPr>
            <a:lvl4pPr algn="l">
              <a:defRPr sz="1875" b="1">
                <a:solidFill>
                  <a:srgbClr val="2467A5"/>
                </a:solidFill>
              </a:defRPr>
            </a:lvl4pPr>
            <a:lvl5pPr algn="l">
              <a:defRPr sz="1875" b="1">
                <a:solidFill>
                  <a:srgbClr val="2467A5"/>
                </a:solidFill>
              </a:defRPr>
            </a:lvl5pPr>
            <a:lvl6pPr algn="l">
              <a:defRPr sz="1875" b="1">
                <a:solidFill>
                  <a:srgbClr val="2467A5"/>
                </a:solidFill>
              </a:defRPr>
            </a:lvl6pPr>
            <a:lvl7pPr algn="l">
              <a:defRPr sz="1875" b="1">
                <a:solidFill>
                  <a:srgbClr val="2467A5"/>
                </a:solidFill>
              </a:defRPr>
            </a:lvl7pPr>
            <a:lvl8pPr algn="l">
              <a:defRPr sz="1875" b="1">
                <a:solidFill>
                  <a:srgbClr val="2467A5"/>
                </a:solidFill>
              </a:defRPr>
            </a:lvl8pPr>
            <a:lvl9pPr algn="l">
              <a:defRPr sz="1875" b="1">
                <a:solidFill>
                  <a:srgbClr val="2467A5"/>
                </a:solidFill>
              </a:defRPr>
            </a:lvl9pPr>
          </a:lstStyle>
          <a:p xmlns:a="http://schemas.openxmlformats.org/drawingml/2006/main">
            <a:pPr algn="l">
              <a:defRPr sz="1875" b="1">
                <a:solidFill>
                  <a:srgbClr val="2467A5"/>
                </a:solidFill>
              </a:defRPr>
            </a:pPr>
            <a:r>
              <a:rPr sz="1875" b="1">
                <a:solidFill>
                  <a:srgbClr val="2467A5"/>
                </a:solidFill>
              </a:rPr>
              <a:t>Right spring stretches less</a:t>
            </a:r>
          </a:p>
        </p:txBody>
      </p:sp>
      <p:pic>
        <p:nvPicPr>
          <p:cNvPr id="10" name="">
            <a:extLst xmlns:a="http://schemas.openxmlformats.org/drawingml/2006/main">
              <a:ext uri="{FF2B5EF4-FFF2-40B4-BE49-F238E27FC236}">
                <a16:creationId xmlns:a16="http://schemas.microsoft.com/office/drawing/2014/main" id="{07D0ADEE-0221-4E44-BF90-6B5DC666E28D}"/>
              </a:ext>
            </a:extLst>
          </p:cNvPr>
          <p:cNvPicPr>
            <a:picLocks xmlns:a="http://schemas.openxmlformats.org/drawingml/2006/main" noChangeAspect="1"/>
          </p:cNvPicPr>
          <p:nvPr/>
        </p:nvPicPr>
        <p:blipFill>
          <a:blip xmlns:r="http://schemas.openxmlformats.org/officeDocument/2006/relationships" xmlns:a="http://schemas.openxmlformats.org/drawingml/2006/main" r:embed="R54f43cec749a41f3"/>
          <a:stretch xmlns:a="http://schemas.openxmlformats.org/drawingml/2006/main"/>
        </p:blipFill>
        <p:spPr>
          <a:xfrm xmlns:a="http://schemas.openxmlformats.org/drawingml/2006/main">
            <a:off x="714375" y="2914650"/>
            <a:ext cx="1894522" cy="43234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D3B99F7D-3A59-48B4-A986-EEBDBC30CB46}"/>
              </a:ext>
            </a:extLst>
          </p:cNvPr>
          <p:cNvPicPr>
            <a:picLocks xmlns:a="http://schemas.openxmlformats.org/drawingml/2006/main" noChangeAspect="1"/>
          </p:cNvPicPr>
          <p:nvPr/>
        </p:nvPicPr>
        <p:blipFill>
          <a:blip xmlns:r="http://schemas.openxmlformats.org/officeDocument/2006/relationships" xmlns:a="http://schemas.openxmlformats.org/drawingml/2006/main" r:embed="R533f7677db514bc2"/>
          <a:stretch xmlns:a="http://schemas.openxmlformats.org/drawingml/2006/main"/>
        </p:blipFill>
        <p:spPr>
          <a:xfrm xmlns:a="http://schemas.openxmlformats.org/drawingml/2006/main">
            <a:off x="6524625" y="2914650"/>
            <a:ext cx="1923669" cy="43234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8A4CE93E-B457-49CD-AFE7-13039AEF701F}"/>
              </a:ext>
            </a:extLst>
          </p:cNvPr>
          <p:cNvPicPr>
            <a:picLocks xmlns:a="http://schemas.openxmlformats.org/drawingml/2006/main" noChangeAspect="1"/>
          </p:cNvPicPr>
          <p:nvPr/>
        </p:nvPicPr>
        <p:blipFill>
          <a:blip xmlns:r="http://schemas.openxmlformats.org/officeDocument/2006/relationships" xmlns:a="http://schemas.openxmlformats.org/drawingml/2006/main" r:embed="R3f96f8fa7f844f75"/>
          <a:stretch xmlns:a="http://schemas.openxmlformats.org/drawingml/2006/main"/>
        </p:blipFill>
        <p:spPr>
          <a:xfrm xmlns:a="http://schemas.openxmlformats.org/drawingml/2006/main">
            <a:off x="2476500" y="4095750"/>
            <a:ext cx="3857054" cy="461486"/>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215859AA-3D72-47FF-BC00-EAE3A31641DD}"/>
              </a:ext>
            </a:extLst>
          </p:cNvPr>
          <p:cNvPicPr>
            <a:picLocks xmlns:a="http://schemas.openxmlformats.org/drawingml/2006/main" noChangeAspect="1"/>
          </p:cNvPicPr>
          <p:nvPr/>
        </p:nvPicPr>
        <p:blipFill>
          <a:blip xmlns:r="http://schemas.openxmlformats.org/officeDocument/2006/relationships" xmlns:a="http://schemas.openxmlformats.org/drawingml/2006/main" r:embed="Rc31254773b6b4d66"/>
          <a:stretch xmlns:a="http://schemas.openxmlformats.org/drawingml/2006/main"/>
        </p:blipFill>
        <p:spPr>
          <a:xfrm xmlns:a="http://schemas.openxmlformats.org/drawingml/2006/main">
            <a:off x="4238625" y="5000625"/>
            <a:ext cx="1991678" cy="461486"/>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D02EB7DA-EFF0-4F5E-9EED-D9FA3C17E8B8}"/>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203B3ABA-9060-4A1F-A2D0-F5C513B945FB}"/>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The constant preload forces cancel at equilibrium. Their changes provide the restoring force.</a:t>
            </a:r>
          </a:p>
        </p:txBody>
      </p:sp>
    </p:spTree>
    <p:extLst>
      <p:ext uri="{BB962C8B-B14F-4D97-AF65-F5344CB8AC3E}">
        <p14:creationId xmlns:p14="http://schemas.microsoft.com/office/powerpoint/2010/main" val="56389920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887509B-DEBF-4588-BDE3-39AEB597DB6E}"/>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7D2F00F1-849C-434D-B5D3-DA2AF88EA323}"/>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Undamped model</a:t>
            </a:r>
          </a:p>
        </p:txBody>
      </p:sp>
      <p:sp>
        <p:nvSpPr>
          <p:cNvPr id="3" name="">
            <a:extLst xmlns:a="http://schemas.openxmlformats.org/drawingml/2006/main">
              <a:ext uri="{FF2B5EF4-FFF2-40B4-BE49-F238E27FC236}">
                <a16:creationId xmlns:a16="http://schemas.microsoft.com/office/drawing/2014/main" id="{4EF943EE-A065-41EB-BF61-4B0DE028AEEE}"/>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Newton’s second law gives the undamped equation</a:t>
            </a:r>
          </a:p>
        </p:txBody>
      </p:sp>
      <p:sp>
        <p:nvSpPr>
          <p:cNvPr id="4" name="">
            <a:extLst xmlns:a="http://schemas.openxmlformats.org/drawingml/2006/main">
              <a:ext uri="{FF2B5EF4-FFF2-40B4-BE49-F238E27FC236}">
                <a16:creationId xmlns:a16="http://schemas.microsoft.com/office/drawing/2014/main" id="{C5A00D99-9DF7-44B2-8698-9508CF1A4C89}"/>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51467C5-3B06-4807-96D6-F61EE2D38515}"/>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10</a:t>
            </a:r>
          </a:p>
        </p:txBody>
      </p:sp>
      <p:sp>
        <p:nvSpPr>
          <p:cNvPr id="6" name="">
            <a:extLst xmlns:a="http://schemas.openxmlformats.org/drawingml/2006/main">
              <a:ext uri="{FF2B5EF4-FFF2-40B4-BE49-F238E27FC236}">
                <a16:creationId xmlns:a16="http://schemas.microsoft.com/office/drawing/2014/main" id="{6B31646D-F5B8-4EDA-ACE3-A3AA724161C3}"/>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10–11 min</a:t>
            </a:r>
          </a:p>
        </p:txBody>
      </p:sp>
      <p:sp>
        <p:nvSpPr>
          <p:cNvPr id="7" name="">
            <a:extLst xmlns:a="http://schemas.openxmlformats.org/drawingml/2006/main">
              <a:ext uri="{FF2B5EF4-FFF2-40B4-BE49-F238E27FC236}">
                <a16:creationId xmlns:a16="http://schemas.microsoft.com/office/drawing/2014/main" id="{D47CB121-9BA3-47C1-BF77-28BD39301159}"/>
              </a:ext>
            </a:extLst>
          </p:cNvPr>
          <p:cNvSpPr>
            <a:spLocks xmlns:a="http://schemas.openxmlformats.org/drawingml/2006/main" noGrp="1"/>
          </p:cNvSpPr>
          <p:nvPr/>
        </p:nvSpPr>
        <p:spPr>
          <a:xfrm xmlns:a="http://schemas.openxmlformats.org/drawingml/2006/main">
            <a:off x="1285875" y="2286000"/>
            <a:ext cx="2238375" cy="1047750"/>
          </a:xfrm>
          <a:prstGeom xmlns:a="http://schemas.openxmlformats.org/drawingml/2006/main" prst="rect">
            <a:avLst/>
          </a:prstGeom>
          <a:solidFill xmlns:a="http://schemas.openxmlformats.org/drawingml/2006/main">
            <a:srgbClr val="E5EFF8"/>
          </a:solidFill>
          <a:ln xmlns:a="http://schemas.openxmlformats.org/drawingml/2006/main" w="9525">
            <a:solidFill>
              <a:srgbClr val="2467A5"/>
            </a:solid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7087DDC-2DBC-4DDA-A03D-C63538585E21}"/>
              </a:ext>
            </a:extLst>
          </p:cNvPr>
          <p:cNvSpPr>
            <a:spLocks xmlns:a="http://schemas.openxmlformats.org/drawingml/2006/main" noGrp="1"/>
          </p:cNvSpPr>
          <p:nvPr/>
        </p:nvSpPr>
        <p:spPr>
          <a:xfrm xmlns:a="http://schemas.openxmlformats.org/drawingml/2006/main">
            <a:off x="2000250" y="247650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2625" b="1">
                <a:solidFill>
                  <a:srgbClr val="142D42"/>
                </a:solidFill>
              </a:defRPr>
            </a:defPPr>
            <a:lvl1pPr algn="ctr">
              <a:defRPr sz="2625" b="1">
                <a:solidFill>
                  <a:srgbClr val="142D42"/>
                </a:solidFill>
              </a:defRPr>
            </a:lvl1pPr>
            <a:lvl2pPr algn="ctr">
              <a:defRPr sz="2625" b="1">
                <a:solidFill>
                  <a:srgbClr val="142D42"/>
                </a:solidFill>
              </a:defRPr>
            </a:lvl2pPr>
            <a:lvl3pPr algn="ctr">
              <a:defRPr sz="2625" b="1">
                <a:solidFill>
                  <a:srgbClr val="142D42"/>
                </a:solidFill>
              </a:defRPr>
            </a:lvl3pPr>
            <a:lvl4pPr algn="ctr">
              <a:defRPr sz="2625" b="1">
                <a:solidFill>
                  <a:srgbClr val="142D42"/>
                </a:solidFill>
              </a:defRPr>
            </a:lvl4pPr>
            <a:lvl5pPr algn="ctr">
              <a:defRPr sz="2625" b="1">
                <a:solidFill>
                  <a:srgbClr val="142D42"/>
                </a:solidFill>
              </a:defRPr>
            </a:lvl5pPr>
            <a:lvl6pPr algn="ctr">
              <a:defRPr sz="2625" b="1">
                <a:solidFill>
                  <a:srgbClr val="142D42"/>
                </a:solidFill>
              </a:defRPr>
            </a:lvl6pPr>
            <a:lvl7pPr algn="ctr">
              <a:defRPr sz="2625" b="1">
                <a:solidFill>
                  <a:srgbClr val="142D42"/>
                </a:solidFill>
              </a:defRPr>
            </a:lvl7pPr>
            <a:lvl8pPr algn="ctr">
              <a:defRPr sz="2625" b="1">
                <a:solidFill>
                  <a:srgbClr val="142D42"/>
                </a:solidFill>
              </a:defRPr>
            </a:lvl8pPr>
            <a:lvl9pPr algn="ctr">
              <a:defRPr sz="2625" b="1">
                <a:solidFill>
                  <a:srgbClr val="142D42"/>
                </a:solidFill>
              </a:defRPr>
            </a:lvl9pPr>
          </a:lstStyle>
          <a:p xmlns:a="http://schemas.openxmlformats.org/drawingml/2006/main">
            <a:pPr algn="ctr">
              <a:defRPr sz="2625" b="1">
                <a:solidFill>
                  <a:srgbClr val="142D42"/>
                </a:solidFill>
              </a:defRPr>
            </a:pPr>
            <a:r>
              <a:rPr sz="2625" b="1">
                <a:solidFill>
                  <a:srgbClr val="142D42"/>
                </a:solidFill>
              </a:rPr>
              <a:t>m</a:t>
            </a:r>
          </a:p>
        </p:txBody>
      </p:sp>
      <p:sp>
        <p:nvSpPr>
          <p:cNvPr id="9" name="">
            <a:extLst xmlns:a="http://schemas.openxmlformats.org/drawingml/2006/main">
              <a:ext uri="{FF2B5EF4-FFF2-40B4-BE49-F238E27FC236}">
                <a16:creationId xmlns:a16="http://schemas.microsoft.com/office/drawing/2014/main" id="{CE999156-A118-4B79-B53B-24F84BDB157B}"/>
              </a:ext>
            </a:extLst>
          </p:cNvPr>
          <p:cNvSpPr>
            <a:spLocks xmlns:a="http://schemas.openxmlformats.org/drawingml/2006/main" noGrp="1"/>
          </p:cNvSpPr>
          <p:nvPr/>
        </p:nvSpPr>
        <p:spPr>
          <a:xfrm xmlns:a="http://schemas.openxmlformats.org/drawingml/2006/main" rot="10800000">
            <a:off x="523875" y="2790825"/>
            <a:ext cx="762000" cy="38100"/>
          </a:xfrm>
          <a:prstGeom xmlns:a="http://schemas.openxmlformats.org/drawingml/2006/main" prst="rect">
            <a:avLst/>
          </a:prstGeom>
          <a:solidFill xmlns:a="http://schemas.openxmlformats.org/drawingml/2006/main">
            <a:srgbClr val="A82C3C"/>
          </a:solidFill>
          <a:ln xmlns:a="http://schemas.openxmlformats.org/drawingml/2006/main" w="0">
            <a:no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898A372F-7974-4AE3-AB3F-A3E5E19A2080}"/>
              </a:ext>
            </a:extLst>
          </p:cNvPr>
          <p:cNvSpPr>
            <a:spLocks xmlns:a="http://schemas.openxmlformats.org/drawingml/2006/main" noGrp="1"/>
          </p:cNvSpPr>
          <p:nvPr/>
        </p:nvSpPr>
        <p:spPr>
          <a:xfrm xmlns:a="http://schemas.openxmlformats.org/drawingml/2006/main" rot="-1718873">
            <a:off x="516296" y="2761143"/>
            <a:ext cx="123825" cy="38100"/>
          </a:xfrm>
          <a:prstGeom xmlns:a="http://schemas.openxmlformats.org/drawingml/2006/main" prst="rect">
            <a:avLst/>
          </a:prstGeom>
          <a:solidFill xmlns:a="http://schemas.openxmlformats.org/drawingml/2006/main">
            <a:srgbClr val="A82C3C"/>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7B78C1D9-CD19-43C0-8B13-65F718B13BB9}"/>
              </a:ext>
            </a:extLst>
          </p:cNvPr>
          <p:cNvSpPr>
            <a:spLocks xmlns:a="http://schemas.openxmlformats.org/drawingml/2006/main" noGrp="1"/>
          </p:cNvSpPr>
          <p:nvPr/>
        </p:nvSpPr>
        <p:spPr>
          <a:xfrm xmlns:a="http://schemas.openxmlformats.org/drawingml/2006/main" rot="1718873">
            <a:off x="516296" y="2820507"/>
            <a:ext cx="123825" cy="38100"/>
          </a:xfrm>
          <a:prstGeom xmlns:a="http://schemas.openxmlformats.org/drawingml/2006/main" prst="rect">
            <a:avLst/>
          </a:prstGeom>
          <a:solidFill xmlns:a="http://schemas.openxmlformats.org/drawingml/2006/main">
            <a:srgbClr val="A82C3C"/>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9F2B4FE2-DD56-472C-9270-C0894D568139}"/>
              </a:ext>
            </a:extLst>
          </p:cNvPr>
          <p:cNvSpPr>
            <a:spLocks xmlns:a="http://schemas.openxmlformats.org/drawingml/2006/main" noGrp="1"/>
          </p:cNvSpPr>
          <p:nvPr/>
        </p:nvSpPr>
        <p:spPr>
          <a:xfrm xmlns:a="http://schemas.openxmlformats.org/drawingml/2006/main">
            <a:off x="619125" y="3495675"/>
            <a:ext cx="276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0">
                <a:solidFill>
                  <a:srgbClr val="A82C3C"/>
                </a:solidFill>
              </a:defRPr>
            </a:defPPr>
            <a:lvl1pPr algn="l">
              <a:defRPr sz="1575" b="0">
                <a:solidFill>
                  <a:srgbClr val="A82C3C"/>
                </a:solidFill>
              </a:defRPr>
            </a:lvl1pPr>
            <a:lvl2pPr algn="l">
              <a:defRPr sz="1575" b="0">
                <a:solidFill>
                  <a:srgbClr val="A82C3C"/>
                </a:solidFill>
              </a:defRPr>
            </a:lvl2pPr>
            <a:lvl3pPr algn="l">
              <a:defRPr sz="1575" b="0">
                <a:solidFill>
                  <a:srgbClr val="A82C3C"/>
                </a:solidFill>
              </a:defRPr>
            </a:lvl3pPr>
            <a:lvl4pPr algn="l">
              <a:defRPr sz="1575" b="0">
                <a:solidFill>
                  <a:srgbClr val="A82C3C"/>
                </a:solidFill>
              </a:defRPr>
            </a:lvl4pPr>
            <a:lvl5pPr algn="l">
              <a:defRPr sz="1575" b="0">
                <a:solidFill>
                  <a:srgbClr val="A82C3C"/>
                </a:solidFill>
              </a:defRPr>
            </a:lvl5pPr>
            <a:lvl6pPr algn="l">
              <a:defRPr sz="1575" b="0">
                <a:solidFill>
                  <a:srgbClr val="A82C3C"/>
                </a:solidFill>
              </a:defRPr>
            </a:lvl6pPr>
            <a:lvl7pPr algn="l">
              <a:defRPr sz="1575" b="0">
                <a:solidFill>
                  <a:srgbClr val="A82C3C"/>
                </a:solidFill>
              </a:defRPr>
            </a:lvl7pPr>
            <a:lvl8pPr algn="l">
              <a:defRPr sz="1575" b="0">
                <a:solidFill>
                  <a:srgbClr val="A82C3C"/>
                </a:solidFill>
              </a:defRPr>
            </a:lvl8pPr>
            <a:lvl9pPr algn="l">
              <a:defRPr sz="1575" b="0">
                <a:solidFill>
                  <a:srgbClr val="A82C3C"/>
                </a:solidFill>
              </a:defRPr>
            </a:lvl9pPr>
          </a:lstStyle>
          <a:p xmlns:a="http://schemas.openxmlformats.org/drawingml/2006/main">
            <a:pPr algn="l">
              <a:defRPr sz="1575" b="0">
                <a:solidFill>
                  <a:srgbClr val="A82C3C"/>
                </a:solidFill>
              </a:defRPr>
            </a:pPr>
            <a:r>
              <a:rPr sz="1575" b="0">
                <a:solidFill>
                  <a:srgbClr val="A82C3C"/>
                </a:solidFill>
              </a:rPr>
              <a:t>restoring force</a:t>
            </a:r>
          </a:p>
        </p:txBody>
      </p:sp>
      <p:sp>
        <p:nvSpPr>
          <p:cNvPr id="13" name="">
            <a:extLst xmlns:a="http://schemas.openxmlformats.org/drawingml/2006/main">
              <a:ext uri="{FF2B5EF4-FFF2-40B4-BE49-F238E27FC236}">
                <a16:creationId xmlns:a16="http://schemas.microsoft.com/office/drawing/2014/main" id="{97FE4242-6EC1-43EE-AD1B-636A3E29D75E}"/>
              </a:ext>
            </a:extLst>
          </p:cNvPr>
          <p:cNvSpPr>
            <a:spLocks xmlns:a="http://schemas.openxmlformats.org/drawingml/2006/main" noGrp="1"/>
          </p:cNvSpPr>
          <p:nvPr/>
        </p:nvSpPr>
        <p:spPr>
          <a:xfrm xmlns:a="http://schemas.openxmlformats.org/drawingml/2006/main" rot="0">
            <a:off x="3667125" y="1985963"/>
            <a:ext cx="1238250" cy="28575"/>
          </a:xfrm>
          <a:prstGeom xmlns:a="http://schemas.openxmlformats.org/drawingml/2006/main" prst="rect">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2A1E7899-411C-4C8B-A83A-6929D34EF436}"/>
              </a:ext>
            </a:extLst>
          </p:cNvPr>
          <p:cNvSpPr>
            <a:spLocks xmlns:a="http://schemas.openxmlformats.org/drawingml/2006/main" noGrp="1"/>
          </p:cNvSpPr>
          <p:nvPr/>
        </p:nvSpPr>
        <p:spPr>
          <a:xfrm xmlns:a="http://schemas.openxmlformats.org/drawingml/2006/main" rot="9081127">
            <a:off x="4789129" y="2015645"/>
            <a:ext cx="123825" cy="28575"/>
          </a:xfrm>
          <a:prstGeom xmlns:a="http://schemas.openxmlformats.org/drawingml/2006/main" prst="rect">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B40D4A44-055A-47AA-AAE0-990A74837203}"/>
              </a:ext>
            </a:extLst>
          </p:cNvPr>
          <p:cNvSpPr>
            <a:spLocks xmlns:a="http://schemas.openxmlformats.org/drawingml/2006/main" noGrp="1"/>
          </p:cNvSpPr>
          <p:nvPr/>
        </p:nvSpPr>
        <p:spPr>
          <a:xfrm xmlns:a="http://schemas.openxmlformats.org/drawingml/2006/main" rot="-9081127">
            <a:off x="4789129" y="1956280"/>
            <a:ext cx="123825" cy="28575"/>
          </a:xfrm>
          <a:prstGeom xmlns:a="http://schemas.openxmlformats.org/drawingml/2006/main" prst="rect">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3C8218E0-BA80-4455-A35B-B39ECDD0C2EE}"/>
              </a:ext>
            </a:extLst>
          </p:cNvPr>
          <p:cNvSpPr>
            <a:spLocks xmlns:a="http://schemas.openxmlformats.org/drawingml/2006/main" noGrp="1"/>
          </p:cNvSpPr>
          <p:nvPr/>
        </p:nvSpPr>
        <p:spPr>
          <a:xfrm xmlns:a="http://schemas.openxmlformats.org/drawingml/2006/main">
            <a:off x="3762375" y="1571625"/>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0">
                <a:solidFill>
                  <a:srgbClr val="142D42"/>
                </a:solidFill>
              </a:defRPr>
            </a:defPPr>
            <a:lvl1pPr algn="l">
              <a:defRPr sz="1575" b="0">
                <a:solidFill>
                  <a:srgbClr val="142D42"/>
                </a:solidFill>
              </a:defRPr>
            </a:lvl1pPr>
            <a:lvl2pPr algn="l">
              <a:defRPr sz="1575" b="0">
                <a:solidFill>
                  <a:srgbClr val="142D42"/>
                </a:solidFill>
              </a:defRPr>
            </a:lvl2pPr>
            <a:lvl3pPr algn="l">
              <a:defRPr sz="1575" b="0">
                <a:solidFill>
                  <a:srgbClr val="142D42"/>
                </a:solidFill>
              </a:defRPr>
            </a:lvl3pPr>
            <a:lvl4pPr algn="l">
              <a:defRPr sz="1575" b="0">
                <a:solidFill>
                  <a:srgbClr val="142D42"/>
                </a:solidFill>
              </a:defRPr>
            </a:lvl4pPr>
            <a:lvl5pPr algn="l">
              <a:defRPr sz="1575" b="0">
                <a:solidFill>
                  <a:srgbClr val="142D42"/>
                </a:solidFill>
              </a:defRPr>
            </a:lvl5pPr>
            <a:lvl6pPr algn="l">
              <a:defRPr sz="1575" b="0">
                <a:solidFill>
                  <a:srgbClr val="142D42"/>
                </a:solidFill>
              </a:defRPr>
            </a:lvl6pPr>
            <a:lvl7pPr algn="l">
              <a:defRPr sz="1575" b="0">
                <a:solidFill>
                  <a:srgbClr val="142D42"/>
                </a:solidFill>
              </a:defRPr>
            </a:lvl7pPr>
            <a:lvl8pPr algn="l">
              <a:defRPr sz="1575" b="0">
                <a:solidFill>
                  <a:srgbClr val="142D42"/>
                </a:solidFill>
              </a:defRPr>
            </a:lvl8pPr>
            <a:lvl9pPr algn="l">
              <a:defRPr sz="1575" b="0">
                <a:solidFill>
                  <a:srgbClr val="142D42"/>
                </a:solidFill>
              </a:defRPr>
            </a:lvl9pPr>
          </a:lstStyle>
          <a:p xmlns:a="http://schemas.openxmlformats.org/drawingml/2006/main">
            <a:pPr algn="l">
              <a:defRPr sz="1575" b="0">
                <a:solidFill>
                  <a:srgbClr val="142D42"/>
                </a:solidFill>
              </a:defRPr>
            </a:pPr>
            <a:r>
              <a:rPr sz="1575" b="0">
                <a:solidFill>
                  <a:srgbClr val="142D42"/>
                </a:solidFill>
              </a:rPr>
              <a:t>positive x</a:t>
            </a:r>
          </a:p>
        </p:txBody>
      </p:sp>
      <p:pic>
        <p:nvPicPr>
          <p:cNvPr id="17" name="">
            <a:extLst xmlns:a="http://schemas.openxmlformats.org/drawingml/2006/main">
              <a:ext uri="{FF2B5EF4-FFF2-40B4-BE49-F238E27FC236}">
                <a16:creationId xmlns:a16="http://schemas.microsoft.com/office/drawing/2014/main" id="{05827660-DECD-43A9-8971-172AEC585ED9}"/>
              </a:ext>
            </a:extLst>
          </p:cNvPr>
          <p:cNvPicPr>
            <a:picLocks xmlns:a="http://schemas.openxmlformats.org/drawingml/2006/main" noChangeAspect="1"/>
          </p:cNvPicPr>
          <p:nvPr/>
        </p:nvPicPr>
        <p:blipFill>
          <a:blip xmlns:r="http://schemas.openxmlformats.org/officeDocument/2006/relationships" xmlns:a="http://schemas.openxmlformats.org/drawingml/2006/main" r:embed="R11abea63580446f5"/>
          <a:stretch xmlns:a="http://schemas.openxmlformats.org/drawingml/2006/main"/>
        </p:blipFill>
        <p:spPr>
          <a:xfrm xmlns:a="http://schemas.openxmlformats.org/drawingml/2006/main">
            <a:off x="6191250" y="1857375"/>
            <a:ext cx="1622489" cy="451771"/>
          </a:xfrm>
          <a:prstGeom xmlns:a="http://schemas.openxmlformats.org/drawingml/2006/main" prst="rect">
            <a:avLst/>
          </a:prstGeom>
        </p:spPr>
      </p:pic>
      <p:pic>
        <p:nvPicPr>
          <p:cNvPr id="18" name="">
            <a:extLst xmlns:a="http://schemas.openxmlformats.org/drawingml/2006/main">
              <a:ext uri="{FF2B5EF4-FFF2-40B4-BE49-F238E27FC236}">
                <a16:creationId xmlns:a16="http://schemas.microsoft.com/office/drawing/2014/main" id="{5C4FF6F2-61E2-423C-82DF-36541DEF3991}"/>
              </a:ext>
            </a:extLst>
          </p:cNvPr>
          <p:cNvPicPr>
            <a:picLocks xmlns:a="http://schemas.openxmlformats.org/drawingml/2006/main" noChangeAspect="1"/>
          </p:cNvPicPr>
          <p:nvPr/>
        </p:nvPicPr>
        <p:blipFill>
          <a:blip xmlns:r="http://schemas.openxmlformats.org/officeDocument/2006/relationships" xmlns:a="http://schemas.openxmlformats.org/drawingml/2006/main" r:embed="Ra095ef5f1e5a4dfe"/>
          <a:stretch xmlns:a="http://schemas.openxmlformats.org/drawingml/2006/main"/>
        </p:blipFill>
        <p:spPr>
          <a:xfrm xmlns:a="http://schemas.openxmlformats.org/drawingml/2006/main">
            <a:off x="6191250" y="2952750"/>
            <a:ext cx="1773079" cy="461486"/>
          </a:xfrm>
          <a:prstGeom xmlns:a="http://schemas.openxmlformats.org/drawingml/2006/main" prst="rect">
            <a:avLst/>
          </a:prstGeom>
        </p:spPr>
      </p:pic>
      <p:pic>
        <p:nvPicPr>
          <p:cNvPr id="19" name="">
            <a:extLst xmlns:a="http://schemas.openxmlformats.org/drawingml/2006/main">
              <a:ext uri="{FF2B5EF4-FFF2-40B4-BE49-F238E27FC236}">
                <a16:creationId xmlns:a16="http://schemas.microsoft.com/office/drawing/2014/main" id="{C7BA8A4B-F7FC-47FA-8F04-B591F706BA85}"/>
              </a:ext>
            </a:extLst>
          </p:cNvPr>
          <p:cNvPicPr>
            <a:picLocks xmlns:a="http://schemas.openxmlformats.org/drawingml/2006/main" noChangeAspect="1"/>
          </p:cNvPicPr>
          <p:nvPr/>
        </p:nvPicPr>
        <p:blipFill>
          <a:blip xmlns:r="http://schemas.openxmlformats.org/officeDocument/2006/relationships" xmlns:a="http://schemas.openxmlformats.org/drawingml/2006/main" r:embed="R043847372341439c"/>
          <a:stretch xmlns:a="http://schemas.openxmlformats.org/drawingml/2006/main"/>
        </p:blipFill>
        <p:spPr>
          <a:xfrm xmlns:a="http://schemas.openxmlformats.org/drawingml/2006/main">
            <a:off x="6191250" y="4048125"/>
            <a:ext cx="2113121" cy="461486"/>
          </a:xfrm>
          <a:prstGeom xmlns:a="http://schemas.openxmlformats.org/drawingml/2006/main" prst="rect">
            <a:avLst/>
          </a:prstGeom>
        </p:spPr>
      </p:pic>
      <p:sp>
        <p:nvSpPr>
          <p:cNvPr id="20" name="">
            <a:extLst xmlns:a="http://schemas.openxmlformats.org/drawingml/2006/main">
              <a:ext uri="{FF2B5EF4-FFF2-40B4-BE49-F238E27FC236}">
                <a16:creationId xmlns:a16="http://schemas.microsoft.com/office/drawing/2014/main" id="{E8EA5451-99EB-4856-A3C7-D9708587220E}"/>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0BD912EE-F26D-47EE-B98D-FA2291F78CA7}"/>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After release the external forcing is zero. The initial displacement starts the motion.</a:t>
            </a:r>
          </a:p>
        </p:txBody>
      </p:sp>
    </p:spTree>
    <p:extLst>
      <p:ext uri="{BB962C8B-B14F-4D97-AF65-F5344CB8AC3E}">
        <p14:creationId xmlns:p14="http://schemas.microsoft.com/office/powerpoint/2010/main" val="110642591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987929A-5016-46D5-8F62-58F2691E5EB1}"/>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AD0260E3-6686-4FEE-B534-C98C44304C88}"/>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Undamped solution</a:t>
            </a:r>
          </a:p>
        </p:txBody>
      </p:sp>
      <p:sp>
        <p:nvSpPr>
          <p:cNvPr id="3" name="">
            <a:extLst xmlns:a="http://schemas.openxmlformats.org/drawingml/2006/main">
              <a:ext uri="{FF2B5EF4-FFF2-40B4-BE49-F238E27FC236}">
                <a16:creationId xmlns:a16="http://schemas.microsoft.com/office/drawing/2014/main" id="{AECDD5A4-2BCE-4A56-BF01-782902D1DEC2}"/>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How the equation produces a sinusoid</a:t>
            </a:r>
          </a:p>
        </p:txBody>
      </p:sp>
      <p:sp>
        <p:nvSpPr>
          <p:cNvPr id="4" name="">
            <a:extLst xmlns:a="http://schemas.openxmlformats.org/drawingml/2006/main">
              <a:ext uri="{FF2B5EF4-FFF2-40B4-BE49-F238E27FC236}">
                <a16:creationId xmlns:a16="http://schemas.microsoft.com/office/drawing/2014/main" id="{1007DCBB-2620-43D4-B880-4703799B8E43}"/>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B4368A-8C14-4BCF-89FD-7023461042A9}"/>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11</a:t>
            </a:r>
          </a:p>
        </p:txBody>
      </p:sp>
      <p:sp>
        <p:nvSpPr>
          <p:cNvPr id="6" name="">
            <a:extLst xmlns:a="http://schemas.openxmlformats.org/drawingml/2006/main">
              <a:ext uri="{FF2B5EF4-FFF2-40B4-BE49-F238E27FC236}">
                <a16:creationId xmlns:a16="http://schemas.microsoft.com/office/drawing/2014/main" id="{0CCE81F2-2F4A-40C5-8D8D-577E10A19429}"/>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11–13 min</a:t>
            </a:r>
          </a:p>
        </p:txBody>
      </p:sp>
      <p:sp>
        <p:nvSpPr>
          <p:cNvPr id="7" name="">
            <a:extLst xmlns:a="http://schemas.openxmlformats.org/drawingml/2006/main">
              <a:ext uri="{FF2B5EF4-FFF2-40B4-BE49-F238E27FC236}">
                <a16:creationId xmlns:a16="http://schemas.microsoft.com/office/drawing/2014/main" id="{C2445A1E-276F-48F0-ABE2-A8741B657351}"/>
              </a:ext>
            </a:extLst>
          </p:cNvPr>
          <p:cNvSpPr>
            <a:spLocks xmlns:a="http://schemas.openxmlformats.org/drawingml/2006/main" noGrp="1"/>
          </p:cNvSpPr>
          <p:nvPr/>
        </p:nvSpPr>
        <p:spPr>
          <a:xfrm xmlns:a="http://schemas.openxmlformats.org/drawingml/2006/main">
            <a:off x="666750" y="1571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Try a sinusoidal motion with unknown angular frequency ω:</a:t>
            </a:r>
          </a:p>
        </p:txBody>
      </p:sp>
      <p:pic>
        <p:nvPicPr>
          <p:cNvPr id="8" name="">
            <a:extLst xmlns:a="http://schemas.openxmlformats.org/drawingml/2006/main">
              <a:ext uri="{FF2B5EF4-FFF2-40B4-BE49-F238E27FC236}">
                <a16:creationId xmlns:a16="http://schemas.microsoft.com/office/drawing/2014/main" id="{CB5B6009-C916-4165-BB72-599FFD30CD7D}"/>
              </a:ext>
            </a:extLst>
          </p:cNvPr>
          <p:cNvPicPr>
            <a:picLocks xmlns:a="http://schemas.openxmlformats.org/drawingml/2006/main" noChangeAspect="1"/>
          </p:cNvPicPr>
          <p:nvPr/>
        </p:nvPicPr>
        <p:blipFill>
          <a:blip xmlns:r="http://schemas.openxmlformats.org/officeDocument/2006/relationships" xmlns:a="http://schemas.openxmlformats.org/drawingml/2006/main" r:embed="R122efd5bd1f0402a"/>
          <a:stretch xmlns:a="http://schemas.openxmlformats.org/drawingml/2006/main"/>
        </p:blipFill>
        <p:spPr>
          <a:xfrm xmlns:a="http://schemas.openxmlformats.org/drawingml/2006/main">
            <a:off x="1095375" y="2333625"/>
            <a:ext cx="2637758" cy="432340"/>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B5D6B8F0-6341-48E7-92A6-C8D2005573C5}"/>
              </a:ext>
            </a:extLst>
          </p:cNvPr>
          <p:cNvPicPr>
            <a:picLocks xmlns:a="http://schemas.openxmlformats.org/drawingml/2006/main" noChangeAspect="1"/>
          </p:cNvPicPr>
          <p:nvPr/>
        </p:nvPicPr>
        <p:blipFill>
          <a:blip xmlns:r="http://schemas.openxmlformats.org/officeDocument/2006/relationships" xmlns:a="http://schemas.openxmlformats.org/drawingml/2006/main" r:embed="Re0af5d956e3444b7"/>
          <a:stretch xmlns:a="http://schemas.openxmlformats.org/drawingml/2006/main"/>
        </p:blipFill>
        <p:spPr>
          <a:xfrm xmlns:a="http://schemas.openxmlformats.org/drawingml/2006/main">
            <a:off x="6429375" y="2333625"/>
            <a:ext cx="3327559" cy="480917"/>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BA9823C2-8FB3-4E57-B6F7-076B274A88DA}"/>
              </a:ext>
            </a:extLst>
          </p:cNvPr>
          <p:cNvPicPr>
            <a:picLocks xmlns:a="http://schemas.openxmlformats.org/drawingml/2006/main" noChangeAspect="1"/>
          </p:cNvPicPr>
          <p:nvPr/>
        </p:nvPicPr>
        <p:blipFill>
          <a:blip xmlns:r="http://schemas.openxmlformats.org/officeDocument/2006/relationships" xmlns:a="http://schemas.openxmlformats.org/drawingml/2006/main" r:embed="R8f9f567cdf66499b"/>
          <a:stretch xmlns:a="http://schemas.openxmlformats.org/drawingml/2006/main"/>
        </p:blipFill>
        <p:spPr>
          <a:xfrm xmlns:a="http://schemas.openxmlformats.org/drawingml/2006/main">
            <a:off x="2333625" y="3524250"/>
            <a:ext cx="4546854" cy="510064"/>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E2D6B5EB-734D-4F05-9722-3146C0CCB5BF}"/>
              </a:ext>
            </a:extLst>
          </p:cNvPr>
          <p:cNvPicPr>
            <a:picLocks xmlns:a="http://schemas.openxmlformats.org/drawingml/2006/main" noChangeAspect="1"/>
          </p:cNvPicPr>
          <p:nvPr/>
        </p:nvPicPr>
        <p:blipFill>
          <a:blip xmlns:r="http://schemas.openxmlformats.org/officeDocument/2006/relationships" xmlns:a="http://schemas.openxmlformats.org/drawingml/2006/main" r:embed="Rc3477430048d4057"/>
          <a:stretch xmlns:a="http://schemas.openxmlformats.org/drawingml/2006/main"/>
        </p:blipFill>
        <p:spPr>
          <a:xfrm xmlns:a="http://schemas.openxmlformats.org/drawingml/2006/main">
            <a:off x="4429125" y="4667250"/>
            <a:ext cx="1675924" cy="694658"/>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334AD9A3-0FB3-4ADF-84D3-41D92F15FD3E}"/>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2E5FEC84-80B8-4F99-99C2-21E03D643CF6}"/>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A is displacement amplitude [m]. φ is initial phase [rad]. Initial conditions set both.</a:t>
            </a:r>
          </a:p>
        </p:txBody>
      </p:sp>
    </p:spTree>
    <p:extLst>
      <p:ext uri="{BB962C8B-B14F-4D97-AF65-F5344CB8AC3E}">
        <p14:creationId xmlns:p14="http://schemas.microsoft.com/office/powerpoint/2010/main" val="36011645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3EE2293-83F9-48A6-8708-F0B6F0D32D65}"/>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E39955CF-E849-48A6-B54E-9D8A6B4CB4CA}"/>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Physical meaning</a:t>
            </a:r>
          </a:p>
        </p:txBody>
      </p:sp>
      <p:sp>
        <p:nvSpPr>
          <p:cNvPr id="3" name="">
            <a:extLst xmlns:a="http://schemas.openxmlformats.org/drawingml/2006/main">
              <a:ext uri="{FF2B5EF4-FFF2-40B4-BE49-F238E27FC236}">
                <a16:creationId xmlns:a16="http://schemas.microsoft.com/office/drawing/2014/main" id="{992891DB-32BE-4469-901D-0BBD3EECA243}"/>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Angular frequency, frequency, and period</a:t>
            </a:r>
          </a:p>
        </p:txBody>
      </p:sp>
      <p:sp>
        <p:nvSpPr>
          <p:cNvPr id="4" name="">
            <a:extLst xmlns:a="http://schemas.openxmlformats.org/drawingml/2006/main">
              <a:ext uri="{FF2B5EF4-FFF2-40B4-BE49-F238E27FC236}">
                <a16:creationId xmlns:a16="http://schemas.microsoft.com/office/drawing/2014/main" id="{43FEC84B-73A5-4D13-87B9-B315DDB9974E}"/>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CD14D9B-B3C1-462C-BA04-5F6054B91C3F}"/>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12</a:t>
            </a:r>
          </a:p>
        </p:txBody>
      </p:sp>
      <p:sp>
        <p:nvSpPr>
          <p:cNvPr id="6" name="">
            <a:extLst xmlns:a="http://schemas.openxmlformats.org/drawingml/2006/main">
              <a:ext uri="{FF2B5EF4-FFF2-40B4-BE49-F238E27FC236}">
                <a16:creationId xmlns:a16="http://schemas.microsoft.com/office/drawing/2014/main" id="{B230C74E-A02C-4168-A5F0-57EBBA03D30A}"/>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13–14 min</a:t>
            </a:r>
          </a:p>
        </p:txBody>
      </p:sp>
      <p:pic>
        <p:nvPicPr>
          <p:cNvPr id="7" name="">
            <a:extLst xmlns:a="http://schemas.openxmlformats.org/drawingml/2006/main">
              <a:ext uri="{FF2B5EF4-FFF2-40B4-BE49-F238E27FC236}">
                <a16:creationId xmlns:a16="http://schemas.microsoft.com/office/drawing/2014/main" id="{72BD66A6-8020-43F1-B8B9-4B1DD5CB8889}"/>
              </a:ext>
            </a:extLst>
          </p:cNvPr>
          <p:cNvPicPr>
            <a:picLocks xmlns:a="http://schemas.openxmlformats.org/drawingml/2006/main" noChangeAspect="1"/>
          </p:cNvPicPr>
          <p:nvPr/>
        </p:nvPicPr>
        <p:blipFill>
          <a:blip xmlns:r="http://schemas.openxmlformats.org/officeDocument/2006/relationships" xmlns:a="http://schemas.openxmlformats.org/drawingml/2006/main" r:embed="Redb729a2c4e34090"/>
          <a:stretch xmlns:a="http://schemas.openxmlformats.org/drawingml/2006/main"/>
        </p:blipFill>
        <p:spPr>
          <a:xfrm xmlns:a="http://schemas.openxmlformats.org/drawingml/2006/main">
            <a:off x="1619250" y="1666875"/>
            <a:ext cx="5518404" cy="772382"/>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D4E5996-88DB-4B49-8CCF-77B921E419E1}"/>
              </a:ext>
            </a:extLst>
          </p:cNvPr>
          <p:cNvSpPr>
            <a:spLocks xmlns:a="http://schemas.openxmlformats.org/drawingml/2006/main" noGrp="1"/>
          </p:cNvSpPr>
          <p:nvPr/>
        </p:nvSpPr>
        <p:spPr>
          <a:xfrm xmlns:a="http://schemas.openxmlformats.org/drawingml/2006/main">
            <a:off x="714375" y="28098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Angular natural frequency [rad/s]: phase advance per second</a:t>
            </a:r>
          </a:p>
        </p:txBody>
      </p:sp>
      <p:sp>
        <p:nvSpPr>
          <p:cNvPr id="9" name="">
            <a:extLst xmlns:a="http://schemas.openxmlformats.org/drawingml/2006/main">
              <a:ext uri="{FF2B5EF4-FFF2-40B4-BE49-F238E27FC236}">
                <a16:creationId xmlns:a16="http://schemas.microsoft.com/office/drawing/2014/main" id="{3F49EC8C-3614-45EC-8205-66145187414B}"/>
              </a:ext>
            </a:extLst>
          </p:cNvPr>
          <p:cNvSpPr>
            <a:spLocks xmlns:a="http://schemas.openxmlformats.org/drawingml/2006/main" noGrp="1"/>
          </p:cNvSpPr>
          <p:nvPr/>
        </p:nvSpPr>
        <p:spPr>
          <a:xfrm xmlns:a="http://schemas.openxmlformats.org/drawingml/2006/main">
            <a:off x="714375" y="35718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Natural frequency [Hz]: complete cycles per second</a:t>
            </a:r>
          </a:p>
        </p:txBody>
      </p:sp>
      <p:sp>
        <p:nvSpPr>
          <p:cNvPr id="10" name="">
            <a:extLst xmlns:a="http://schemas.openxmlformats.org/drawingml/2006/main">
              <a:ext uri="{FF2B5EF4-FFF2-40B4-BE49-F238E27FC236}">
                <a16:creationId xmlns:a16="http://schemas.microsoft.com/office/drawing/2014/main" id="{1BE2BC2A-3B79-48AC-9B3F-29040EA44B4B}"/>
              </a:ext>
            </a:extLst>
          </p:cNvPr>
          <p:cNvSpPr>
            <a:spLocks xmlns:a="http://schemas.openxmlformats.org/drawingml/2006/main" noGrp="1"/>
          </p:cNvSpPr>
          <p:nvPr/>
        </p:nvSpPr>
        <p:spPr>
          <a:xfrm xmlns:a="http://schemas.openxmlformats.org/drawingml/2006/main">
            <a:off x="714375" y="43338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Natural period [s]: time between successive equal-sign peaks</a:t>
            </a:r>
          </a:p>
        </p:txBody>
      </p:sp>
      <p:pic>
        <p:nvPicPr>
          <p:cNvPr id="11" name="">
            <a:extLst xmlns:a="http://schemas.openxmlformats.org/drawingml/2006/main">
              <a:ext uri="{FF2B5EF4-FFF2-40B4-BE49-F238E27FC236}">
                <a16:creationId xmlns:a16="http://schemas.microsoft.com/office/drawing/2014/main" id="{78292AF9-1613-431A-B106-C359A9105C4E}"/>
              </a:ext>
            </a:extLst>
          </p:cNvPr>
          <p:cNvPicPr>
            <a:picLocks xmlns:a="http://schemas.openxmlformats.org/drawingml/2006/main" noChangeAspect="1"/>
          </p:cNvPicPr>
          <p:nvPr/>
        </p:nvPicPr>
        <p:blipFill>
          <a:blip xmlns:r="http://schemas.openxmlformats.org/officeDocument/2006/relationships" xmlns:a="http://schemas.openxmlformats.org/drawingml/2006/main" r:embed="R733ccfc588164165"/>
          <a:stretch xmlns:a="http://schemas.openxmlformats.org/drawingml/2006/main"/>
        </p:blipFill>
        <p:spPr>
          <a:xfrm xmlns:a="http://schemas.openxmlformats.org/drawingml/2006/main">
            <a:off x="1047750" y="5143500"/>
            <a:ext cx="6454902" cy="389096"/>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C2C5B222-3228-4FE3-A55C-D9EDDC72BFB3}"/>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D4FCCF40-F199-4806-B6DC-71C8FC0041B6}"/>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Example values illustrate the model. Use the measured moving mass and calibrated springs.</a:t>
            </a:r>
          </a:p>
        </p:txBody>
      </p:sp>
    </p:spTree>
    <p:extLst>
      <p:ext uri="{BB962C8B-B14F-4D97-AF65-F5344CB8AC3E}">
        <p14:creationId xmlns:p14="http://schemas.microsoft.com/office/powerpoint/2010/main" val="104712955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E6BE040-FF51-4E60-B205-57FF6B5BC44D}"/>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1B3EC9D7-4A83-4A48-912D-E440B0BE0A93}"/>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Energy</a:t>
            </a:r>
          </a:p>
        </p:txBody>
      </p:sp>
      <p:sp>
        <p:nvSpPr>
          <p:cNvPr id="3" name="">
            <a:extLst xmlns:a="http://schemas.openxmlformats.org/drawingml/2006/main">
              <a:ext uri="{FF2B5EF4-FFF2-40B4-BE49-F238E27FC236}">
                <a16:creationId xmlns:a16="http://schemas.microsoft.com/office/drawing/2014/main" id="{9CEC85F0-7968-4593-8A31-67D46F4B52A1}"/>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Energy moves between the springs and the cart</a:t>
            </a:r>
          </a:p>
        </p:txBody>
      </p:sp>
      <p:sp>
        <p:nvSpPr>
          <p:cNvPr id="4" name="">
            <a:extLst xmlns:a="http://schemas.openxmlformats.org/drawingml/2006/main">
              <a:ext uri="{FF2B5EF4-FFF2-40B4-BE49-F238E27FC236}">
                <a16:creationId xmlns:a16="http://schemas.microsoft.com/office/drawing/2014/main" id="{9F80A946-FAA4-461D-8832-8B3592FC83A1}"/>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F6054EE-ED0E-4F6D-A2C6-653D59ADC26D}"/>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13</a:t>
            </a:r>
          </a:p>
        </p:txBody>
      </p:sp>
      <p:sp>
        <p:nvSpPr>
          <p:cNvPr id="6" name="">
            <a:extLst xmlns:a="http://schemas.openxmlformats.org/drawingml/2006/main">
              <a:ext uri="{FF2B5EF4-FFF2-40B4-BE49-F238E27FC236}">
                <a16:creationId xmlns:a16="http://schemas.microsoft.com/office/drawing/2014/main" id="{8230DC06-11C1-490F-AF18-894E2DEA2BDD}"/>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14–15 min</a:t>
            </a:r>
          </a:p>
        </p:txBody>
      </p:sp>
      <p:pic>
        <p:nvPicPr>
          <p:cNvPr id="7" name="">
            <a:extLst xmlns:a="http://schemas.openxmlformats.org/drawingml/2006/main">
              <a:ext uri="{FF2B5EF4-FFF2-40B4-BE49-F238E27FC236}">
                <a16:creationId xmlns:a16="http://schemas.microsoft.com/office/drawing/2014/main" id="{38A8532B-505E-4140-BA06-47FCB40D4553}"/>
              </a:ext>
            </a:extLst>
          </p:cNvPr>
          <p:cNvPicPr>
            <a:picLocks xmlns:a="http://schemas.openxmlformats.org/drawingml/2006/main" noChangeAspect="1"/>
          </p:cNvPicPr>
          <p:nvPr/>
        </p:nvPicPr>
        <p:blipFill>
          <a:blip xmlns:r="http://schemas.openxmlformats.org/officeDocument/2006/relationships" xmlns:a="http://schemas.openxmlformats.org/drawingml/2006/main" r:embed="Rf69304132a7c4cfe"/>
          <a:stretch xmlns:a="http://schemas.openxmlformats.org/drawingml/2006/main"/>
        </p:blipFill>
        <p:spPr>
          <a:xfrm xmlns:a="http://schemas.openxmlformats.org/drawingml/2006/main">
            <a:off x="3333750" y="1571625"/>
            <a:ext cx="2841784" cy="514922"/>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0E50B469-976F-4BDD-A7C1-025DF79C493D}"/>
              </a:ext>
            </a:extLst>
          </p:cNvPr>
          <p:cNvSpPr>
            <a:spLocks xmlns:a="http://schemas.openxmlformats.org/drawingml/2006/main" noGrp="1"/>
          </p:cNvSpPr>
          <p:nvPr/>
        </p:nvSpPr>
        <p:spPr>
          <a:xfrm xmlns:a="http://schemas.openxmlformats.org/drawingml/2006/main">
            <a:off x="714375" y="23812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0">
                <a:solidFill>
                  <a:srgbClr val="536575"/>
                </a:solidFill>
              </a:defRPr>
            </a:defPPr>
            <a:lvl1pPr algn="l">
              <a:defRPr sz="1575" b="0">
                <a:solidFill>
                  <a:srgbClr val="536575"/>
                </a:solidFill>
              </a:defRPr>
            </a:lvl1pPr>
            <a:lvl2pPr algn="l">
              <a:defRPr sz="1575" b="0">
                <a:solidFill>
                  <a:srgbClr val="536575"/>
                </a:solidFill>
              </a:defRPr>
            </a:lvl2pPr>
            <a:lvl3pPr algn="l">
              <a:defRPr sz="1575" b="0">
                <a:solidFill>
                  <a:srgbClr val="536575"/>
                </a:solidFill>
              </a:defRPr>
            </a:lvl3pPr>
            <a:lvl4pPr algn="l">
              <a:defRPr sz="1575" b="0">
                <a:solidFill>
                  <a:srgbClr val="536575"/>
                </a:solidFill>
              </a:defRPr>
            </a:lvl4pPr>
            <a:lvl5pPr algn="l">
              <a:defRPr sz="1575" b="0">
                <a:solidFill>
                  <a:srgbClr val="536575"/>
                </a:solidFill>
              </a:defRPr>
            </a:lvl5pPr>
            <a:lvl6pPr algn="l">
              <a:defRPr sz="1575" b="0">
                <a:solidFill>
                  <a:srgbClr val="536575"/>
                </a:solidFill>
              </a:defRPr>
            </a:lvl6pPr>
            <a:lvl7pPr algn="l">
              <a:defRPr sz="1575" b="0">
                <a:solidFill>
                  <a:srgbClr val="536575"/>
                </a:solidFill>
              </a:defRPr>
            </a:lvl7pPr>
            <a:lvl8pPr algn="l">
              <a:defRPr sz="1575" b="0">
                <a:solidFill>
                  <a:srgbClr val="536575"/>
                </a:solidFill>
              </a:defRPr>
            </a:lvl8pPr>
            <a:lvl9pPr algn="l">
              <a:defRPr sz="1575" b="0">
                <a:solidFill>
                  <a:srgbClr val="536575"/>
                </a:solidFill>
              </a:defRPr>
            </a:lvl9pPr>
          </a:lstStyle>
          <a:p xmlns:a="http://schemas.openxmlformats.org/drawingml/2006/main">
            <a:pPr algn="l">
              <a:defRPr sz="1575" b="0">
                <a:solidFill>
                  <a:srgbClr val="536575"/>
                </a:solidFill>
              </a:defRPr>
            </a:pPr>
            <a:r>
              <a:rPr sz="1575" b="0">
                <a:solidFill>
                  <a:srgbClr val="536575"/>
                </a:solidFill>
              </a:rPr>
              <a:t>Spring energy is the area under the linear force–extension curve. E is total energy [J].</a:t>
            </a:r>
          </a:p>
        </p:txBody>
      </p:sp>
      <p:pic>
        <p:nvPicPr>
          <p:cNvPr id="9" name="">
            <a:extLst xmlns:a="http://schemas.openxmlformats.org/drawingml/2006/main">
              <a:ext uri="{FF2B5EF4-FFF2-40B4-BE49-F238E27FC236}">
                <a16:creationId xmlns:a16="http://schemas.microsoft.com/office/drawing/2014/main" id="{F1C27C26-8B62-417B-B31B-CB236E677B2D}"/>
              </a:ext>
            </a:extLst>
          </p:cNvPr>
          <p:cNvPicPr>
            <a:picLocks xmlns:a="http://schemas.openxmlformats.org/drawingml/2006/main" noChangeAspect="1"/>
          </p:cNvPicPr>
          <p:nvPr/>
        </p:nvPicPr>
        <p:blipFill>
          <a:blip xmlns:r="http://schemas.openxmlformats.org/officeDocument/2006/relationships" xmlns:a="http://schemas.openxmlformats.org/drawingml/2006/main" r:embed="R6c9df5b802874893"/>
          <a:stretch xmlns:a="http://schemas.openxmlformats.org/drawingml/2006/main"/>
        </p:blipFill>
        <p:spPr>
          <a:xfrm xmlns:a="http://schemas.openxmlformats.org/drawingml/2006/main">
            <a:off x="1657070" y="2857500"/>
            <a:ext cx="8782610" cy="2714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7B9818F9-5CE3-4FC6-A84E-29884ECF3E09}"/>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1E6FE944-1B87-4018-8696-3E1DE91FBD0A}"/>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At a turning point: spring energy is largest. At equilibrium: kinetic energy is largest.</a:t>
            </a:r>
          </a:p>
        </p:txBody>
      </p:sp>
    </p:spTree>
    <p:extLst>
      <p:ext uri="{BB962C8B-B14F-4D97-AF65-F5344CB8AC3E}">
        <p14:creationId xmlns:p14="http://schemas.microsoft.com/office/powerpoint/2010/main" val="7437532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F9E5F64-9822-4012-84E5-696DAC380907}"/>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A2C97EBC-920F-451A-9105-DDEBCD2FFFFC}"/>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Damping hardware</a:t>
            </a:r>
          </a:p>
        </p:txBody>
      </p:sp>
      <p:sp>
        <p:nvSpPr>
          <p:cNvPr id="3" name="">
            <a:extLst xmlns:a="http://schemas.openxmlformats.org/drawingml/2006/main">
              <a:ext uri="{FF2B5EF4-FFF2-40B4-BE49-F238E27FC236}">
                <a16:creationId xmlns:a16="http://schemas.microsoft.com/office/drawing/2014/main" id="{F549EFA8-F811-4C3F-B666-A20F6A283DA8}"/>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real damper is a magnetic brake</a:t>
            </a:r>
          </a:p>
        </p:txBody>
      </p:sp>
      <p:sp>
        <p:nvSpPr>
          <p:cNvPr id="4" name="">
            <a:extLst xmlns:a="http://schemas.openxmlformats.org/drawingml/2006/main">
              <a:ext uri="{FF2B5EF4-FFF2-40B4-BE49-F238E27FC236}">
                <a16:creationId xmlns:a16="http://schemas.microsoft.com/office/drawing/2014/main" id="{A08888EA-88BC-4917-85D4-88C2D30A6C3D}"/>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7FCBD62-D012-4D87-8B78-4E860918346E}"/>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14</a:t>
            </a:r>
          </a:p>
        </p:txBody>
      </p:sp>
      <p:sp>
        <p:nvSpPr>
          <p:cNvPr id="6" name="">
            <a:extLst xmlns:a="http://schemas.openxmlformats.org/drawingml/2006/main">
              <a:ext uri="{FF2B5EF4-FFF2-40B4-BE49-F238E27FC236}">
                <a16:creationId xmlns:a16="http://schemas.microsoft.com/office/drawing/2014/main" id="{642CB9F4-57FB-4079-B1B6-18AC2AD1C7E8}"/>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15–16 min</a:t>
            </a:r>
          </a:p>
        </p:txBody>
      </p:sp>
      <p:pic>
        <p:nvPicPr>
          <p:cNvPr id="7" name="">
            <a:extLst xmlns:a="http://schemas.openxmlformats.org/drawingml/2006/main">
              <a:ext uri="{FF2B5EF4-FFF2-40B4-BE49-F238E27FC236}">
                <a16:creationId xmlns:a16="http://schemas.microsoft.com/office/drawing/2014/main" id="{7613F859-EF65-4A78-9C16-7DD1FE87F9E2}"/>
              </a:ext>
            </a:extLst>
          </p:cNvPr>
          <p:cNvPicPr>
            <a:picLocks xmlns:a="http://schemas.openxmlformats.org/drawingml/2006/main" noChangeAspect="1"/>
          </p:cNvPicPr>
          <p:nvPr/>
        </p:nvPicPr>
        <p:blipFill>
          <a:blip xmlns:r="http://schemas.openxmlformats.org/officeDocument/2006/relationships" xmlns:a="http://schemas.openxmlformats.org/drawingml/2006/main" r:embed="Re7e9cfe070384555"/>
          <a:stretch xmlns:a="http://schemas.openxmlformats.org/drawingml/2006/main"/>
        </p:blipFill>
        <p:spPr>
          <a:xfrm xmlns:a="http://schemas.openxmlformats.org/drawingml/2006/main">
            <a:off x="1206500" y="1666875"/>
            <a:ext cx="4254500" cy="31908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256B02D-B18E-4E02-8776-CBB68F3D0AE8}"/>
              </a:ext>
            </a:extLst>
          </p:cNvPr>
          <p:cNvSpPr>
            <a:spLocks xmlns:a="http://schemas.openxmlformats.org/drawingml/2006/main" noGrp="1"/>
          </p:cNvSpPr>
          <p:nvPr/>
        </p:nvSpPr>
        <p:spPr>
          <a:xfrm xmlns:a="http://schemas.openxmlformats.org/drawingml/2006/main">
            <a:off x="762000" y="49911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1">
                <a:solidFill>
                  <a:srgbClr val="A82C3C"/>
                </a:solidFill>
              </a:defRPr>
            </a:defPPr>
            <a:lvl1pPr algn="l">
              <a:defRPr sz="1800" b="1">
                <a:solidFill>
                  <a:srgbClr val="A82C3C"/>
                </a:solidFill>
              </a:defRPr>
            </a:lvl1pPr>
            <a:lvl2pPr algn="l">
              <a:defRPr sz="1800" b="1">
                <a:solidFill>
                  <a:srgbClr val="A82C3C"/>
                </a:solidFill>
              </a:defRPr>
            </a:lvl2pPr>
            <a:lvl3pPr algn="l">
              <a:defRPr sz="1800" b="1">
                <a:solidFill>
                  <a:srgbClr val="A82C3C"/>
                </a:solidFill>
              </a:defRPr>
            </a:lvl3pPr>
            <a:lvl4pPr algn="l">
              <a:defRPr sz="1800" b="1">
                <a:solidFill>
                  <a:srgbClr val="A82C3C"/>
                </a:solidFill>
              </a:defRPr>
            </a:lvl4pPr>
            <a:lvl5pPr algn="l">
              <a:defRPr sz="1800" b="1">
                <a:solidFill>
                  <a:srgbClr val="A82C3C"/>
                </a:solidFill>
              </a:defRPr>
            </a:lvl5pPr>
            <a:lvl6pPr algn="l">
              <a:defRPr sz="1800" b="1">
                <a:solidFill>
                  <a:srgbClr val="A82C3C"/>
                </a:solidFill>
              </a:defRPr>
            </a:lvl6pPr>
            <a:lvl7pPr algn="l">
              <a:defRPr sz="1800" b="1">
                <a:solidFill>
                  <a:srgbClr val="A82C3C"/>
                </a:solidFill>
              </a:defRPr>
            </a:lvl7pPr>
            <a:lvl8pPr algn="l">
              <a:defRPr sz="1800" b="1">
                <a:solidFill>
                  <a:srgbClr val="A82C3C"/>
                </a:solidFill>
              </a:defRPr>
            </a:lvl8pPr>
            <a:lvl9pPr algn="l">
              <a:defRPr sz="1800" b="1">
                <a:solidFill>
                  <a:srgbClr val="A82C3C"/>
                </a:solidFill>
              </a:defRPr>
            </a:lvl9pPr>
          </a:lstStyle>
          <a:p xmlns:a="http://schemas.openxmlformats.org/drawingml/2006/main">
            <a:pPr algn="l">
              <a:defRPr sz="1800" b="1">
                <a:solidFill>
                  <a:srgbClr val="A82C3C"/>
                </a:solidFill>
              </a:defRPr>
            </a:pPr>
            <a:r>
              <a:rPr sz="1800" b="1">
                <a:solidFill>
                  <a:srgbClr val="A82C3C"/>
                </a:solidFill>
              </a:rPr>
              <a:t>Black end attachment</a:t>
            </a:r>
          </a:p>
        </p:txBody>
      </p:sp>
      <p:sp>
        <p:nvSpPr>
          <p:cNvPr id="9" name="">
            <a:extLst xmlns:a="http://schemas.openxmlformats.org/drawingml/2006/main">
              <a:ext uri="{FF2B5EF4-FFF2-40B4-BE49-F238E27FC236}">
                <a16:creationId xmlns:a16="http://schemas.microsoft.com/office/drawing/2014/main" id="{3B2A315D-A284-4328-B5C0-C457E30C9DE6}"/>
              </a:ext>
            </a:extLst>
          </p:cNvPr>
          <p:cNvSpPr>
            <a:spLocks xmlns:a="http://schemas.openxmlformats.org/drawingml/2006/main" noGrp="1"/>
          </p:cNvSpPr>
          <p:nvPr/>
        </p:nvSpPr>
        <p:spPr>
          <a:xfrm xmlns:a="http://schemas.openxmlformats.org/drawingml/2006/main">
            <a:off x="762000" y="5410200"/>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0">
                <a:solidFill>
                  <a:srgbClr val="142D42"/>
                </a:solidFill>
              </a:defRPr>
            </a:defPPr>
            <a:lvl1pPr algn="l">
              <a:defRPr sz="1500" b="0">
                <a:solidFill>
                  <a:srgbClr val="142D42"/>
                </a:solidFill>
              </a:defRPr>
            </a:lvl1pPr>
            <a:lvl2pPr algn="l">
              <a:defRPr sz="1500" b="0">
                <a:solidFill>
                  <a:srgbClr val="142D42"/>
                </a:solidFill>
              </a:defRPr>
            </a:lvl2pPr>
            <a:lvl3pPr algn="l">
              <a:defRPr sz="1500" b="0">
                <a:solidFill>
                  <a:srgbClr val="142D42"/>
                </a:solidFill>
              </a:defRPr>
            </a:lvl3pPr>
            <a:lvl4pPr algn="l">
              <a:defRPr sz="1500" b="0">
                <a:solidFill>
                  <a:srgbClr val="142D42"/>
                </a:solidFill>
              </a:defRPr>
            </a:lvl4pPr>
            <a:lvl5pPr algn="l">
              <a:defRPr sz="1500" b="0">
                <a:solidFill>
                  <a:srgbClr val="142D42"/>
                </a:solidFill>
              </a:defRPr>
            </a:lvl5pPr>
            <a:lvl6pPr algn="l">
              <a:defRPr sz="1500" b="0">
                <a:solidFill>
                  <a:srgbClr val="142D42"/>
                </a:solidFill>
              </a:defRPr>
            </a:lvl6pPr>
            <a:lvl7pPr algn="l">
              <a:defRPr sz="1500" b="0">
                <a:solidFill>
                  <a:srgbClr val="142D42"/>
                </a:solidFill>
              </a:defRPr>
            </a:lvl7pPr>
            <a:lvl8pPr algn="l">
              <a:defRPr sz="1500" b="0">
                <a:solidFill>
                  <a:srgbClr val="142D42"/>
                </a:solidFill>
              </a:defRPr>
            </a:lvl8pPr>
            <a:lvl9pPr algn="l">
              <a:defRPr sz="1500" b="0">
                <a:solidFill>
                  <a:srgbClr val="142D42"/>
                </a:solidFill>
              </a:defRPr>
            </a:lvl9pPr>
          </a:lstStyle>
          <a:p xmlns:a="http://schemas.openxmlformats.org/drawingml/2006/main">
            <a:pPr algn="l">
              <a:defRPr sz="1500" b="0">
                <a:solidFill>
                  <a:srgbClr val="142D42"/>
                </a:solidFill>
              </a:defRPr>
            </a:pPr>
            <a:r>
              <a:rPr sz="1500" b="0">
                <a:solidFill>
                  <a:srgbClr val="142D42"/>
                </a:solidFill>
              </a:rPr>
              <a:t>Magnetic brake hardware on the real cart.</a:t>
            </a:r>
          </a:p>
          <a:p xmlns:a="http://schemas.openxmlformats.org/drawingml/2006/main">
            <a:pPr algn="l">
              <a:defRPr sz="1500" b="0">
                <a:solidFill>
                  <a:srgbClr val="142D42"/>
                </a:solidFill>
              </a:defRPr>
            </a:pPr>
            <a:r>
              <a:rPr sz="1500" b="0">
                <a:solidFill>
                  <a:srgbClr val="142D42"/>
                </a:solidFill>
              </a:rPr>
              <a:t>Confirm magnet count with the GTA.</a:t>
            </a:r>
          </a:p>
        </p:txBody>
      </p:sp>
      <p:sp>
        <p:nvSpPr>
          <p:cNvPr id="10" name="">
            <a:extLst xmlns:a="http://schemas.openxmlformats.org/drawingml/2006/main">
              <a:ext uri="{FF2B5EF4-FFF2-40B4-BE49-F238E27FC236}">
                <a16:creationId xmlns:a16="http://schemas.microsoft.com/office/drawing/2014/main" id="{56D005C9-AAC0-4B4E-9941-92134DCBCD6F}"/>
              </a:ext>
            </a:extLst>
          </p:cNvPr>
          <p:cNvSpPr>
            <a:spLocks xmlns:a="http://schemas.openxmlformats.org/drawingml/2006/main" noGrp="1"/>
          </p:cNvSpPr>
          <p:nvPr/>
        </p:nvSpPr>
        <p:spPr>
          <a:xfrm xmlns:a="http://schemas.openxmlformats.org/drawingml/2006/main">
            <a:off x="6667500" y="1714500"/>
            <a:ext cx="4714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Magnets move over the conducting track.</a:t>
            </a:r>
          </a:p>
        </p:txBody>
      </p:sp>
      <p:sp>
        <p:nvSpPr>
          <p:cNvPr id="11" name="">
            <a:extLst xmlns:a="http://schemas.openxmlformats.org/drawingml/2006/main">
              <a:ext uri="{FF2B5EF4-FFF2-40B4-BE49-F238E27FC236}">
                <a16:creationId xmlns:a16="http://schemas.microsoft.com/office/drawing/2014/main" id="{63F60BF2-D50C-41AD-8AF5-8609E44EAE7F}"/>
              </a:ext>
            </a:extLst>
          </p:cNvPr>
          <p:cNvSpPr>
            <a:spLocks xmlns:a="http://schemas.openxmlformats.org/drawingml/2006/main" noGrp="1"/>
          </p:cNvSpPr>
          <p:nvPr/>
        </p:nvSpPr>
        <p:spPr>
          <a:xfrm xmlns:a="http://schemas.openxmlformats.org/drawingml/2006/main">
            <a:off x="6667500" y="2762250"/>
            <a:ext cx="4714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Induced eddy currents oppose the motion.</a:t>
            </a:r>
          </a:p>
        </p:txBody>
      </p:sp>
      <p:sp>
        <p:nvSpPr>
          <p:cNvPr id="12" name="">
            <a:extLst xmlns:a="http://schemas.openxmlformats.org/drawingml/2006/main">
              <a:ext uri="{FF2B5EF4-FFF2-40B4-BE49-F238E27FC236}">
                <a16:creationId xmlns:a16="http://schemas.microsoft.com/office/drawing/2014/main" id="{DFAB053D-9DC3-4157-B495-69475360EF52}"/>
              </a:ext>
            </a:extLst>
          </p:cNvPr>
          <p:cNvSpPr>
            <a:spLocks xmlns:a="http://schemas.openxmlformats.org/drawingml/2006/main" noGrp="1"/>
          </p:cNvSpPr>
          <p:nvPr/>
        </p:nvSpPr>
        <p:spPr>
          <a:xfrm xmlns:a="http://schemas.openxmlformats.org/drawingml/2006/main">
            <a:off x="6667500" y="3810000"/>
            <a:ext cx="4714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Mechanical energy becomes heat.</a:t>
            </a:r>
          </a:p>
        </p:txBody>
      </p:sp>
      <p:pic>
        <p:nvPicPr>
          <p:cNvPr id="13" name="">
            <a:extLst xmlns:a="http://schemas.openxmlformats.org/drawingml/2006/main">
              <a:ext uri="{FF2B5EF4-FFF2-40B4-BE49-F238E27FC236}">
                <a16:creationId xmlns:a16="http://schemas.microsoft.com/office/drawing/2014/main" id="{46A7F9B7-DC16-4855-A051-B7A2ABA5B694}"/>
              </a:ext>
            </a:extLst>
          </p:cNvPr>
          <p:cNvPicPr>
            <a:picLocks xmlns:a="http://schemas.openxmlformats.org/drawingml/2006/main" noChangeAspect="1"/>
          </p:cNvPicPr>
          <p:nvPr/>
        </p:nvPicPr>
        <p:blipFill>
          <a:blip xmlns:r="http://schemas.openxmlformats.org/officeDocument/2006/relationships" xmlns:a="http://schemas.openxmlformats.org/drawingml/2006/main" r:embed="R91723f06563345f2"/>
          <a:stretch xmlns:a="http://schemas.openxmlformats.org/drawingml/2006/main"/>
        </p:blipFill>
        <p:spPr>
          <a:xfrm xmlns:a="http://schemas.openxmlformats.org/drawingml/2006/main">
            <a:off x="6905625" y="5000625"/>
            <a:ext cx="1598200" cy="43234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8FFF8EFD-816E-4142-AAEB-90F354F563EF}"/>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085E8F7E-48BE-450F-B8E5-D8D08B543A5B}"/>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c is an equivalent damping coefficient [N·s/m]. A dashpot symbol represents this force law.</a:t>
            </a:r>
          </a:p>
        </p:txBody>
      </p:sp>
    </p:spTree>
    <p:extLst>
      <p:ext uri="{BB962C8B-B14F-4D97-AF65-F5344CB8AC3E}">
        <p14:creationId xmlns:p14="http://schemas.microsoft.com/office/powerpoint/2010/main" val="9309573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F349043-E2B8-47A0-82D3-B1A5C194A176}"/>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3C9C2E29-EEC0-4B4F-8FB5-D8171FDBECA6}"/>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Damping physics</a:t>
            </a:r>
          </a:p>
        </p:txBody>
      </p:sp>
      <p:sp>
        <p:nvSpPr>
          <p:cNvPr id="3" name="">
            <a:extLst xmlns:a="http://schemas.openxmlformats.org/drawingml/2006/main">
              <a:ext uri="{FF2B5EF4-FFF2-40B4-BE49-F238E27FC236}">
                <a16:creationId xmlns:a16="http://schemas.microsoft.com/office/drawing/2014/main" id="{BC72E72C-ED22-475B-A878-4C0D822432D4}"/>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Damping force and energy loss come from the same law</a:t>
            </a:r>
          </a:p>
        </p:txBody>
      </p:sp>
      <p:sp>
        <p:nvSpPr>
          <p:cNvPr id="4" name="">
            <a:extLst xmlns:a="http://schemas.openxmlformats.org/drawingml/2006/main">
              <a:ext uri="{FF2B5EF4-FFF2-40B4-BE49-F238E27FC236}">
                <a16:creationId xmlns:a16="http://schemas.microsoft.com/office/drawing/2014/main" id="{6DFEFE9D-363E-453F-9A69-D98D2523CAC3}"/>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AA17748-7385-4CF4-8EAF-148F99460A53}"/>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15</a:t>
            </a:r>
          </a:p>
        </p:txBody>
      </p:sp>
      <p:sp>
        <p:nvSpPr>
          <p:cNvPr id="6" name="">
            <a:extLst xmlns:a="http://schemas.openxmlformats.org/drawingml/2006/main">
              <a:ext uri="{FF2B5EF4-FFF2-40B4-BE49-F238E27FC236}">
                <a16:creationId xmlns:a16="http://schemas.microsoft.com/office/drawing/2014/main" id="{459018F2-278F-4568-81E0-4B9F68397BBC}"/>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16–17 min</a:t>
            </a:r>
          </a:p>
        </p:txBody>
      </p:sp>
      <p:pic>
        <p:nvPicPr>
          <p:cNvPr id="7" name="">
            <a:extLst xmlns:a="http://schemas.openxmlformats.org/drawingml/2006/main">
              <a:ext uri="{FF2B5EF4-FFF2-40B4-BE49-F238E27FC236}">
                <a16:creationId xmlns:a16="http://schemas.microsoft.com/office/drawing/2014/main" id="{9A0FC0E1-6C82-4F0F-A345-51B2C873542C}"/>
              </a:ext>
            </a:extLst>
          </p:cNvPr>
          <p:cNvPicPr>
            <a:picLocks xmlns:a="http://schemas.openxmlformats.org/drawingml/2006/main" noChangeAspect="1"/>
          </p:cNvPicPr>
          <p:nvPr/>
        </p:nvPicPr>
        <p:blipFill>
          <a:blip xmlns:r="http://schemas.openxmlformats.org/officeDocument/2006/relationships" xmlns:a="http://schemas.openxmlformats.org/drawingml/2006/main" r:embed="R91da592ab0094485"/>
          <a:stretch xmlns:a="http://schemas.openxmlformats.org/drawingml/2006/main"/>
        </p:blipFill>
        <p:spPr>
          <a:xfrm xmlns:a="http://schemas.openxmlformats.org/drawingml/2006/main">
            <a:off x="857250" y="1714500"/>
            <a:ext cx="1442752" cy="43234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9671234-906A-4641-840A-B884275FEDAD}"/>
              </a:ext>
            </a:extLst>
          </p:cNvPr>
          <p:cNvSpPr>
            <a:spLocks xmlns:a="http://schemas.openxmlformats.org/drawingml/2006/main" noGrp="1"/>
          </p:cNvSpPr>
          <p:nvPr/>
        </p:nvSpPr>
        <p:spPr>
          <a:xfrm xmlns:a="http://schemas.openxmlformats.org/drawingml/2006/main">
            <a:off x="6572250" y="171450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0">
                <a:solidFill>
                  <a:srgbClr val="142D42"/>
                </a:solidFill>
              </a:defRPr>
            </a:defPPr>
            <a:lvl1pPr algn="l">
              <a:defRPr sz="1875" b="0">
                <a:solidFill>
                  <a:srgbClr val="142D42"/>
                </a:solidFill>
              </a:defRPr>
            </a:lvl1pPr>
            <a:lvl2pPr algn="l">
              <a:defRPr sz="1875" b="0">
                <a:solidFill>
                  <a:srgbClr val="142D42"/>
                </a:solidFill>
              </a:defRPr>
            </a:lvl2pPr>
            <a:lvl3pPr algn="l">
              <a:defRPr sz="1875" b="0">
                <a:solidFill>
                  <a:srgbClr val="142D42"/>
                </a:solidFill>
              </a:defRPr>
            </a:lvl3pPr>
            <a:lvl4pPr algn="l">
              <a:defRPr sz="1875" b="0">
                <a:solidFill>
                  <a:srgbClr val="142D42"/>
                </a:solidFill>
              </a:defRPr>
            </a:lvl4pPr>
            <a:lvl5pPr algn="l">
              <a:defRPr sz="1875" b="0">
                <a:solidFill>
                  <a:srgbClr val="142D42"/>
                </a:solidFill>
              </a:defRPr>
            </a:lvl5pPr>
            <a:lvl6pPr algn="l">
              <a:defRPr sz="1875" b="0">
                <a:solidFill>
                  <a:srgbClr val="142D42"/>
                </a:solidFill>
              </a:defRPr>
            </a:lvl6pPr>
            <a:lvl7pPr algn="l">
              <a:defRPr sz="1875" b="0">
                <a:solidFill>
                  <a:srgbClr val="142D42"/>
                </a:solidFill>
              </a:defRPr>
            </a:lvl7pPr>
            <a:lvl8pPr algn="l">
              <a:defRPr sz="1875" b="0">
                <a:solidFill>
                  <a:srgbClr val="142D42"/>
                </a:solidFill>
              </a:defRPr>
            </a:lvl8pPr>
            <a:lvl9pPr algn="l">
              <a:defRPr sz="1875" b="0">
                <a:solidFill>
                  <a:srgbClr val="142D42"/>
                </a:solidFill>
              </a:defRPr>
            </a:lvl9pPr>
          </a:lstStyle>
          <a:p xmlns:a="http://schemas.openxmlformats.org/drawingml/2006/main">
            <a:pPr algn="l">
              <a:defRPr sz="1875" b="0">
                <a:solidFill>
                  <a:srgbClr val="142D42"/>
                </a:solidFill>
              </a:defRPr>
            </a:pPr>
            <a:r>
              <a:rPr sz="1875" b="0">
                <a:solidFill>
                  <a:srgbClr val="142D42"/>
                </a:solidFill>
              </a:rPr>
              <a:t>Opposes the instantaneous velocity.</a:t>
            </a:r>
          </a:p>
        </p:txBody>
      </p:sp>
      <p:pic>
        <p:nvPicPr>
          <p:cNvPr id="9" name="">
            <a:extLst xmlns:a="http://schemas.openxmlformats.org/drawingml/2006/main">
              <a:ext uri="{FF2B5EF4-FFF2-40B4-BE49-F238E27FC236}">
                <a16:creationId xmlns:a16="http://schemas.microsoft.com/office/drawing/2014/main" id="{0C37ED14-50F8-4706-BAFE-FBFD2EC9F952}"/>
              </a:ext>
            </a:extLst>
          </p:cNvPr>
          <p:cNvPicPr>
            <a:picLocks xmlns:a="http://schemas.openxmlformats.org/drawingml/2006/main" noChangeAspect="1"/>
          </p:cNvPicPr>
          <p:nvPr/>
        </p:nvPicPr>
        <p:blipFill>
          <a:blip xmlns:r="http://schemas.openxmlformats.org/officeDocument/2006/relationships" xmlns:a="http://schemas.openxmlformats.org/drawingml/2006/main" r:embed="R50c354cb46cf4534"/>
          <a:stretch xmlns:a="http://schemas.openxmlformats.org/drawingml/2006/main"/>
        </p:blipFill>
        <p:spPr>
          <a:xfrm xmlns:a="http://schemas.openxmlformats.org/drawingml/2006/main">
            <a:off x="857250" y="2952750"/>
            <a:ext cx="2603754" cy="480917"/>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EA80778E-E5AB-4041-A34D-45C8AF8321D3}"/>
              </a:ext>
            </a:extLst>
          </p:cNvPr>
          <p:cNvSpPr>
            <a:spLocks xmlns:a="http://schemas.openxmlformats.org/drawingml/2006/main" noGrp="1"/>
          </p:cNvSpPr>
          <p:nvPr/>
        </p:nvSpPr>
        <p:spPr>
          <a:xfrm xmlns:a="http://schemas.openxmlformats.org/drawingml/2006/main">
            <a:off x="6572250" y="2952750"/>
            <a:ext cx="457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0">
                <a:solidFill>
                  <a:srgbClr val="142D42"/>
                </a:solidFill>
              </a:defRPr>
            </a:defPPr>
            <a:lvl1pPr algn="l">
              <a:defRPr sz="1875" b="0">
                <a:solidFill>
                  <a:srgbClr val="142D42"/>
                </a:solidFill>
              </a:defRPr>
            </a:lvl1pPr>
            <a:lvl2pPr algn="l">
              <a:defRPr sz="1875" b="0">
                <a:solidFill>
                  <a:srgbClr val="142D42"/>
                </a:solidFill>
              </a:defRPr>
            </a:lvl2pPr>
            <a:lvl3pPr algn="l">
              <a:defRPr sz="1875" b="0">
                <a:solidFill>
                  <a:srgbClr val="142D42"/>
                </a:solidFill>
              </a:defRPr>
            </a:lvl3pPr>
            <a:lvl4pPr algn="l">
              <a:defRPr sz="1875" b="0">
                <a:solidFill>
                  <a:srgbClr val="142D42"/>
                </a:solidFill>
              </a:defRPr>
            </a:lvl4pPr>
            <a:lvl5pPr algn="l">
              <a:defRPr sz="1875" b="0">
                <a:solidFill>
                  <a:srgbClr val="142D42"/>
                </a:solidFill>
              </a:defRPr>
            </a:lvl5pPr>
            <a:lvl6pPr algn="l">
              <a:defRPr sz="1875" b="0">
                <a:solidFill>
                  <a:srgbClr val="142D42"/>
                </a:solidFill>
              </a:defRPr>
            </a:lvl6pPr>
            <a:lvl7pPr algn="l">
              <a:defRPr sz="1875" b="0">
                <a:solidFill>
                  <a:srgbClr val="142D42"/>
                </a:solidFill>
              </a:defRPr>
            </a:lvl7pPr>
            <a:lvl8pPr algn="l">
              <a:defRPr sz="1875" b="0">
                <a:solidFill>
                  <a:srgbClr val="142D42"/>
                </a:solidFill>
              </a:defRPr>
            </a:lvl8pPr>
            <a:lvl9pPr algn="l">
              <a:defRPr sz="1875" b="0">
                <a:solidFill>
                  <a:srgbClr val="142D42"/>
                </a:solidFill>
              </a:defRPr>
            </a:lvl9pPr>
          </a:lstStyle>
          <a:p xmlns:a="http://schemas.openxmlformats.org/drawingml/2006/main">
            <a:pPr algn="l">
              <a:defRPr sz="1875" b="0">
                <a:solidFill>
                  <a:srgbClr val="142D42"/>
                </a:solidFill>
              </a:defRPr>
            </a:pPr>
            <a:r>
              <a:rPr sz="1875" b="0">
                <a:solidFill>
                  <a:srgbClr val="142D42"/>
                </a:solidFill>
              </a:rPr>
              <a:t>Signed damping power [W]. Negative power removes mechanical energy.</a:t>
            </a:r>
          </a:p>
        </p:txBody>
      </p:sp>
      <p:pic>
        <p:nvPicPr>
          <p:cNvPr id="11" name="">
            <a:extLst xmlns:a="http://schemas.openxmlformats.org/drawingml/2006/main">
              <a:ext uri="{FF2B5EF4-FFF2-40B4-BE49-F238E27FC236}">
                <a16:creationId xmlns:a16="http://schemas.microsoft.com/office/drawing/2014/main" id="{CCB0C2DC-3313-43ED-A0BA-746791E3D1E1}"/>
              </a:ext>
            </a:extLst>
          </p:cNvPr>
          <p:cNvPicPr>
            <a:picLocks xmlns:a="http://schemas.openxmlformats.org/drawingml/2006/main" noChangeAspect="1"/>
          </p:cNvPicPr>
          <p:nvPr/>
        </p:nvPicPr>
        <p:blipFill>
          <a:blip xmlns:r="http://schemas.openxmlformats.org/officeDocument/2006/relationships" xmlns:a="http://schemas.openxmlformats.org/drawingml/2006/main" r:embed="R9238a3e4bc184055"/>
          <a:stretch xmlns:a="http://schemas.openxmlformats.org/drawingml/2006/main"/>
        </p:blipFill>
        <p:spPr>
          <a:xfrm xmlns:a="http://schemas.openxmlformats.org/drawingml/2006/main">
            <a:off x="857250" y="4333875"/>
            <a:ext cx="2205419" cy="519779"/>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20E567BC-5028-4146-9992-F6C1DF3A072D}"/>
              </a:ext>
            </a:extLst>
          </p:cNvPr>
          <p:cNvSpPr>
            <a:spLocks xmlns:a="http://schemas.openxmlformats.org/drawingml/2006/main" noGrp="1"/>
          </p:cNvSpPr>
          <p:nvPr/>
        </p:nvSpPr>
        <p:spPr>
          <a:xfrm xmlns:a="http://schemas.openxmlformats.org/drawingml/2006/main">
            <a:off x="6572250" y="4333875"/>
            <a:ext cx="4572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Loss is largest where speed is largest.</a:t>
            </a:r>
          </a:p>
          <a:p xmlns:a="http://schemas.openxmlformats.org/drawingml/2006/main">
            <a:pPr algn="l">
              <a:defRPr sz="1800" b="0">
                <a:solidFill>
                  <a:srgbClr val="142D42"/>
                </a:solidFill>
              </a:defRPr>
            </a:pPr>
            <a:r>
              <a:rPr sz="1800" b="0">
                <a:solidFill>
                  <a:srgbClr val="142D42"/>
                </a:solidFill>
              </a:rPr>
              <a:t>It is zero instantaneously at a turning point.</a:t>
            </a:r>
          </a:p>
        </p:txBody>
      </p:sp>
      <p:sp>
        <p:nvSpPr>
          <p:cNvPr id="13" name="">
            <a:extLst xmlns:a="http://schemas.openxmlformats.org/drawingml/2006/main">
              <a:ext uri="{FF2B5EF4-FFF2-40B4-BE49-F238E27FC236}">
                <a16:creationId xmlns:a16="http://schemas.microsoft.com/office/drawing/2014/main" id="{50A9BAE7-0B47-4F2F-BC6E-2E5CE7D07008}"/>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1C5C1EC5-BA63-45F8-B097-A0D6B7601F61}"/>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A smaller amplitude means less mechanical energy remains in the oscillation.</a:t>
            </a:r>
          </a:p>
        </p:txBody>
      </p:sp>
    </p:spTree>
    <p:extLst>
      <p:ext uri="{BB962C8B-B14F-4D97-AF65-F5344CB8AC3E}">
        <p14:creationId xmlns:p14="http://schemas.microsoft.com/office/powerpoint/2010/main" val="125296477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24245048-D1F4-4C9B-BBDF-AD75D86F2672}"/>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159B5CCE-8B42-45DB-8219-1526B3AB566E}"/>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Damped equation</a:t>
            </a:r>
          </a:p>
        </p:txBody>
      </p:sp>
      <p:sp>
        <p:nvSpPr>
          <p:cNvPr id="3" name="">
            <a:extLst xmlns:a="http://schemas.openxmlformats.org/drawingml/2006/main">
              <a:ext uri="{FF2B5EF4-FFF2-40B4-BE49-F238E27FC236}">
                <a16:creationId xmlns:a16="http://schemas.microsoft.com/office/drawing/2014/main" id="{F2A8DF0C-4CE9-43E4-BD63-CD59593F2C7A}"/>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Adding the brake changes the force balance</a:t>
            </a:r>
          </a:p>
        </p:txBody>
      </p:sp>
      <p:sp>
        <p:nvSpPr>
          <p:cNvPr id="4" name="">
            <a:extLst xmlns:a="http://schemas.openxmlformats.org/drawingml/2006/main">
              <a:ext uri="{FF2B5EF4-FFF2-40B4-BE49-F238E27FC236}">
                <a16:creationId xmlns:a16="http://schemas.microsoft.com/office/drawing/2014/main" id="{5B389BD4-42F8-43EC-9C0A-5F0461E79DE2}"/>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75D177-2943-4DE4-854F-AD8920037D20}"/>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16</a:t>
            </a:r>
          </a:p>
        </p:txBody>
      </p:sp>
      <p:sp>
        <p:nvSpPr>
          <p:cNvPr id="6" name="">
            <a:extLst xmlns:a="http://schemas.openxmlformats.org/drawingml/2006/main">
              <a:ext uri="{FF2B5EF4-FFF2-40B4-BE49-F238E27FC236}">
                <a16:creationId xmlns:a16="http://schemas.microsoft.com/office/drawing/2014/main" id="{7AD389ED-30FD-4AC2-8208-2FDDBA984693}"/>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17–18 min</a:t>
            </a:r>
          </a:p>
        </p:txBody>
      </p:sp>
      <p:sp>
        <p:nvSpPr>
          <p:cNvPr id="7" name="">
            <a:extLst xmlns:a="http://schemas.openxmlformats.org/drawingml/2006/main">
              <a:ext uri="{FF2B5EF4-FFF2-40B4-BE49-F238E27FC236}">
                <a16:creationId xmlns:a16="http://schemas.microsoft.com/office/drawing/2014/main" id="{BE65167D-172D-4E18-9CC1-5AF07C9E0025}"/>
              </a:ext>
            </a:extLst>
          </p:cNvPr>
          <p:cNvSpPr>
            <a:spLocks xmlns:a="http://schemas.openxmlformats.org/drawingml/2006/main" noGrp="1"/>
          </p:cNvSpPr>
          <p:nvPr/>
        </p:nvSpPr>
        <p:spPr>
          <a:xfrm xmlns:a="http://schemas.openxmlformats.org/drawingml/2006/main">
            <a:off x="952500" y="2333625"/>
            <a:ext cx="133350" cy="1762125"/>
          </a:xfrm>
          <a:prstGeom xmlns:a="http://schemas.openxmlformats.org/drawingml/2006/main" prst="rect">
            <a:avLst/>
          </a:prstGeom>
          <a:solidFill xmlns:a="http://schemas.openxmlformats.org/drawingml/2006/main">
            <a:srgbClr val="536575"/>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0957D5E6-8D3F-4F47-AB56-F3BAD4421EBB}"/>
              </a:ext>
            </a:extLst>
          </p:cNvPr>
          <p:cNvSpPr>
            <a:spLocks xmlns:a="http://schemas.openxmlformats.org/drawingml/2006/main" noGrp="1"/>
          </p:cNvSpPr>
          <p:nvPr/>
        </p:nvSpPr>
        <p:spPr>
          <a:xfrm xmlns:a="http://schemas.openxmlformats.org/drawingml/2006/main">
            <a:off x="10810875" y="2333625"/>
            <a:ext cx="133350" cy="1762125"/>
          </a:xfrm>
          <a:prstGeom xmlns:a="http://schemas.openxmlformats.org/drawingml/2006/main" prst="rect">
            <a:avLst/>
          </a:prstGeom>
          <a:solidFill xmlns:a="http://schemas.openxmlformats.org/drawingml/2006/main">
            <a:srgbClr val="536575"/>
          </a:solidFill>
          <a:ln xmlns:a="http://schemas.openxmlformats.org/drawingml/2006/main" w="0">
            <a:no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042CBB7F-A531-43E2-9260-A5613DB12BB7}"/>
              </a:ext>
            </a:extLst>
          </p:cNvPr>
          <p:cNvSpPr>
            <a:spLocks xmlns:a="http://schemas.openxmlformats.org/drawingml/2006/main" noGrp="1"/>
          </p:cNvSpPr>
          <p:nvPr/>
        </p:nvSpPr>
        <p:spPr>
          <a:xfrm xmlns:a="http://schemas.openxmlformats.org/drawingml/2006/main" rot="0">
            <a:off x="952500" y="3776663"/>
            <a:ext cx="10001250" cy="28575"/>
          </a:xfrm>
          <a:prstGeom xmlns:a="http://schemas.openxmlformats.org/drawingml/2006/main" prst="rect">
            <a:avLst/>
          </a:prstGeom>
          <a:solidFill xmlns:a="http://schemas.openxmlformats.org/drawingml/2006/main">
            <a:srgbClr val="536575"/>
          </a:solidFill>
          <a:ln xmlns:a="http://schemas.openxmlformats.org/drawingml/2006/main" w="0">
            <a:no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D94AE45E-B7F3-4A8C-AE8E-45DC170BF886}"/>
              </a:ext>
            </a:extLst>
          </p:cNvPr>
          <p:cNvSpPr>
            <a:spLocks xmlns:a="http://schemas.openxmlformats.org/drawingml/2006/main" noGrp="1"/>
          </p:cNvSpPr>
          <p:nvPr/>
        </p:nvSpPr>
        <p:spPr>
          <a:xfrm xmlns:a="http://schemas.openxmlformats.org/drawingml/2006/main" rot="0">
            <a:off x="1085850" y="2938463"/>
            <a:ext cx="17145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CAB8B79-6454-48ED-8DE4-4B93898769AC}"/>
              </a:ext>
            </a:extLst>
          </p:cNvPr>
          <p:cNvSpPr>
            <a:spLocks xmlns:a="http://schemas.openxmlformats.org/drawingml/2006/main" noGrp="1"/>
          </p:cNvSpPr>
          <p:nvPr/>
        </p:nvSpPr>
        <p:spPr>
          <a:xfrm xmlns:a="http://schemas.openxmlformats.org/drawingml/2006/main" rot="0">
            <a:off x="1257300" y="2938463"/>
            <a:ext cx="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C6B4EC40-B6E6-43F2-BA19-8A9F7B1B3642}"/>
              </a:ext>
            </a:extLst>
          </p:cNvPr>
          <p:cNvSpPr>
            <a:spLocks xmlns:a="http://schemas.openxmlformats.org/drawingml/2006/main" noGrp="1"/>
          </p:cNvSpPr>
          <p:nvPr/>
        </p:nvSpPr>
        <p:spPr>
          <a:xfrm xmlns:a="http://schemas.openxmlformats.org/drawingml/2006/main" rot="1538460">
            <a:off x="1242127" y="3005138"/>
            <a:ext cx="30815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E54C145B-F3FC-4BDA-B230-6BB8FEAB2148}"/>
              </a:ext>
            </a:extLst>
          </p:cNvPr>
          <p:cNvSpPr>
            <a:spLocks xmlns:a="http://schemas.openxmlformats.org/drawingml/2006/main" noGrp="1"/>
          </p:cNvSpPr>
          <p:nvPr/>
        </p:nvSpPr>
        <p:spPr>
          <a:xfrm xmlns:a="http://schemas.openxmlformats.org/drawingml/2006/main" rot="-2629852">
            <a:off x="1481464"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69E39508-DBB8-4291-9A49-4A92FE383FCE}"/>
              </a:ext>
            </a:extLst>
          </p:cNvPr>
          <p:cNvSpPr>
            <a:spLocks xmlns:a="http://schemas.openxmlformats.org/drawingml/2006/main" noGrp="1"/>
          </p:cNvSpPr>
          <p:nvPr/>
        </p:nvSpPr>
        <p:spPr>
          <a:xfrm xmlns:a="http://schemas.openxmlformats.org/drawingml/2006/main" rot="2629852">
            <a:off x="1759277"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F41619E9-3297-445C-9800-C0CE0AE4DB8E}"/>
              </a:ext>
            </a:extLst>
          </p:cNvPr>
          <p:cNvSpPr>
            <a:spLocks xmlns:a="http://schemas.openxmlformats.org/drawingml/2006/main" noGrp="1"/>
          </p:cNvSpPr>
          <p:nvPr/>
        </p:nvSpPr>
        <p:spPr>
          <a:xfrm xmlns:a="http://schemas.openxmlformats.org/drawingml/2006/main" rot="-2629852">
            <a:off x="2037089"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9FB603BF-42BD-4F0D-88CB-5F7A78D55B16}"/>
              </a:ext>
            </a:extLst>
          </p:cNvPr>
          <p:cNvSpPr>
            <a:spLocks xmlns:a="http://schemas.openxmlformats.org/drawingml/2006/main" noGrp="1"/>
          </p:cNvSpPr>
          <p:nvPr/>
        </p:nvSpPr>
        <p:spPr>
          <a:xfrm xmlns:a="http://schemas.openxmlformats.org/drawingml/2006/main" rot="2629852">
            <a:off x="2314902"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5982154E-D750-434F-94E1-EE4370AF3C30}"/>
              </a:ext>
            </a:extLst>
          </p:cNvPr>
          <p:cNvSpPr>
            <a:spLocks xmlns:a="http://schemas.openxmlformats.org/drawingml/2006/main" noGrp="1"/>
          </p:cNvSpPr>
          <p:nvPr/>
        </p:nvSpPr>
        <p:spPr>
          <a:xfrm xmlns:a="http://schemas.openxmlformats.org/drawingml/2006/main" rot="-2629852">
            <a:off x="2592714"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23203CEA-CE12-42E7-9BCB-8256B4D2531F}"/>
              </a:ext>
            </a:extLst>
          </p:cNvPr>
          <p:cNvSpPr>
            <a:spLocks xmlns:a="http://schemas.openxmlformats.org/drawingml/2006/main" noGrp="1"/>
          </p:cNvSpPr>
          <p:nvPr/>
        </p:nvSpPr>
        <p:spPr>
          <a:xfrm xmlns:a="http://schemas.openxmlformats.org/drawingml/2006/main" rot="2629852">
            <a:off x="2870527"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6C1C380C-ECAA-414D-A733-6DE1BA93A2FB}"/>
              </a:ext>
            </a:extLst>
          </p:cNvPr>
          <p:cNvSpPr>
            <a:spLocks xmlns:a="http://schemas.openxmlformats.org/drawingml/2006/main" noGrp="1"/>
          </p:cNvSpPr>
          <p:nvPr/>
        </p:nvSpPr>
        <p:spPr>
          <a:xfrm xmlns:a="http://schemas.openxmlformats.org/drawingml/2006/main" rot="-2629852">
            <a:off x="3148339"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44789BCB-1E6F-4E56-9E54-C45A4C5F9A12}"/>
              </a:ext>
            </a:extLst>
          </p:cNvPr>
          <p:cNvSpPr>
            <a:spLocks xmlns:a="http://schemas.openxmlformats.org/drawingml/2006/main" noGrp="1"/>
          </p:cNvSpPr>
          <p:nvPr/>
        </p:nvSpPr>
        <p:spPr>
          <a:xfrm xmlns:a="http://schemas.openxmlformats.org/drawingml/2006/main" rot="2629852">
            <a:off x="3426152"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15386FC9-B077-4B37-B3D8-7F85476E0F22}"/>
              </a:ext>
            </a:extLst>
          </p:cNvPr>
          <p:cNvSpPr>
            <a:spLocks xmlns:a="http://schemas.openxmlformats.org/drawingml/2006/main" noGrp="1"/>
          </p:cNvSpPr>
          <p:nvPr/>
        </p:nvSpPr>
        <p:spPr>
          <a:xfrm xmlns:a="http://schemas.openxmlformats.org/drawingml/2006/main" rot="-2629852">
            <a:off x="3703964"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17270C62-E2AD-4606-9675-969EE7769707}"/>
              </a:ext>
            </a:extLst>
          </p:cNvPr>
          <p:cNvSpPr>
            <a:spLocks xmlns:a="http://schemas.openxmlformats.org/drawingml/2006/main" noGrp="1"/>
          </p:cNvSpPr>
          <p:nvPr/>
        </p:nvSpPr>
        <p:spPr>
          <a:xfrm xmlns:a="http://schemas.openxmlformats.org/drawingml/2006/main" rot="2629852">
            <a:off x="3981777" y="2938463"/>
            <a:ext cx="38510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AAA22E2A-1DC1-4215-BF2C-40D2E88257CA}"/>
              </a:ext>
            </a:extLst>
          </p:cNvPr>
          <p:cNvSpPr>
            <a:spLocks xmlns:a="http://schemas.openxmlformats.org/drawingml/2006/main" noGrp="1"/>
          </p:cNvSpPr>
          <p:nvPr/>
        </p:nvSpPr>
        <p:spPr>
          <a:xfrm xmlns:a="http://schemas.openxmlformats.org/drawingml/2006/main" rot="-1538460">
            <a:off x="4298064" y="3005138"/>
            <a:ext cx="308159"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B8EE74C9-5998-4B04-98EE-C09B2429FB12}"/>
              </a:ext>
            </a:extLst>
          </p:cNvPr>
          <p:cNvSpPr>
            <a:spLocks xmlns:a="http://schemas.openxmlformats.org/drawingml/2006/main" noGrp="1"/>
          </p:cNvSpPr>
          <p:nvPr/>
        </p:nvSpPr>
        <p:spPr>
          <a:xfrm xmlns:a="http://schemas.openxmlformats.org/drawingml/2006/main" rot="0">
            <a:off x="4591050" y="2938463"/>
            <a:ext cx="17145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D7329F19-D5F8-4930-A0C6-5AFC0FC6615C}"/>
              </a:ext>
            </a:extLst>
          </p:cNvPr>
          <p:cNvSpPr>
            <a:spLocks xmlns:a="http://schemas.openxmlformats.org/drawingml/2006/main" noGrp="1"/>
          </p:cNvSpPr>
          <p:nvPr/>
        </p:nvSpPr>
        <p:spPr>
          <a:xfrm xmlns:a="http://schemas.openxmlformats.org/drawingml/2006/main" rot="0">
            <a:off x="7239000" y="2938463"/>
            <a:ext cx="17145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D3062625-0FB8-4123-9AD2-775CBDC482B3}"/>
              </a:ext>
            </a:extLst>
          </p:cNvPr>
          <p:cNvSpPr>
            <a:spLocks xmlns:a="http://schemas.openxmlformats.org/drawingml/2006/main" noGrp="1"/>
          </p:cNvSpPr>
          <p:nvPr/>
        </p:nvSpPr>
        <p:spPr>
          <a:xfrm xmlns:a="http://schemas.openxmlformats.org/drawingml/2006/main" rot="0">
            <a:off x="7410450" y="2938463"/>
            <a:ext cx="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7" name="">
            <a:extLst xmlns:a="http://schemas.openxmlformats.org/drawingml/2006/main">
              <a:ext uri="{FF2B5EF4-FFF2-40B4-BE49-F238E27FC236}">
                <a16:creationId xmlns:a16="http://schemas.microsoft.com/office/drawing/2014/main" id="{C38E59B5-1CF5-4580-97BA-C194BA68B15E}"/>
              </a:ext>
            </a:extLst>
          </p:cNvPr>
          <p:cNvSpPr>
            <a:spLocks xmlns:a="http://schemas.openxmlformats.org/drawingml/2006/main" noGrp="1"/>
          </p:cNvSpPr>
          <p:nvPr/>
        </p:nvSpPr>
        <p:spPr>
          <a:xfrm xmlns:a="http://schemas.openxmlformats.org/drawingml/2006/main" rot="1581713">
            <a:off x="7394835" y="3005138"/>
            <a:ext cx="300311"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B37A0F0E-2E55-4E17-B1C3-4A0CAAF7694D}"/>
              </a:ext>
            </a:extLst>
          </p:cNvPr>
          <p:cNvSpPr>
            <a:spLocks xmlns:a="http://schemas.openxmlformats.org/drawingml/2006/main" noGrp="1"/>
          </p:cNvSpPr>
          <p:nvPr/>
        </p:nvSpPr>
        <p:spPr>
          <a:xfrm xmlns:a="http://schemas.openxmlformats.org/drawingml/2006/main" rot="-2684721">
            <a:off x="7624643"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71AA0A66-5FD8-439E-B4A7-796A81898E76}"/>
              </a:ext>
            </a:extLst>
          </p:cNvPr>
          <p:cNvSpPr>
            <a:spLocks xmlns:a="http://schemas.openxmlformats.org/drawingml/2006/main" noGrp="1"/>
          </p:cNvSpPr>
          <p:nvPr/>
        </p:nvSpPr>
        <p:spPr>
          <a:xfrm xmlns:a="http://schemas.openxmlformats.org/drawingml/2006/main" rot="2684721">
            <a:off x="7893724"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88D24C9F-A8EF-4E78-9389-9F08DA276A46}"/>
              </a:ext>
            </a:extLst>
          </p:cNvPr>
          <p:cNvSpPr>
            <a:spLocks xmlns:a="http://schemas.openxmlformats.org/drawingml/2006/main" noGrp="1"/>
          </p:cNvSpPr>
          <p:nvPr/>
        </p:nvSpPr>
        <p:spPr>
          <a:xfrm xmlns:a="http://schemas.openxmlformats.org/drawingml/2006/main" rot="-2684721">
            <a:off x="8162805"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1" name="">
            <a:extLst xmlns:a="http://schemas.openxmlformats.org/drawingml/2006/main">
              <a:ext uri="{FF2B5EF4-FFF2-40B4-BE49-F238E27FC236}">
                <a16:creationId xmlns:a16="http://schemas.microsoft.com/office/drawing/2014/main" id="{40C85393-BA08-4B92-827D-AB5AC8D5A9C8}"/>
              </a:ext>
            </a:extLst>
          </p:cNvPr>
          <p:cNvSpPr>
            <a:spLocks xmlns:a="http://schemas.openxmlformats.org/drawingml/2006/main" noGrp="1"/>
          </p:cNvSpPr>
          <p:nvPr/>
        </p:nvSpPr>
        <p:spPr>
          <a:xfrm xmlns:a="http://schemas.openxmlformats.org/drawingml/2006/main" rot="2684721">
            <a:off x="8431886"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2" name="">
            <a:extLst xmlns:a="http://schemas.openxmlformats.org/drawingml/2006/main">
              <a:ext uri="{FF2B5EF4-FFF2-40B4-BE49-F238E27FC236}">
                <a16:creationId xmlns:a16="http://schemas.microsoft.com/office/drawing/2014/main" id="{66946D9B-3B64-4E57-BE47-E228E9EFF6E2}"/>
              </a:ext>
            </a:extLst>
          </p:cNvPr>
          <p:cNvSpPr>
            <a:spLocks xmlns:a="http://schemas.openxmlformats.org/drawingml/2006/main" noGrp="1"/>
          </p:cNvSpPr>
          <p:nvPr/>
        </p:nvSpPr>
        <p:spPr>
          <a:xfrm xmlns:a="http://schemas.openxmlformats.org/drawingml/2006/main" rot="-2684721">
            <a:off x="8700968"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AF4F7D39-8195-47FA-9B42-9760578A4A44}"/>
              </a:ext>
            </a:extLst>
          </p:cNvPr>
          <p:cNvSpPr>
            <a:spLocks xmlns:a="http://schemas.openxmlformats.org/drawingml/2006/main" noGrp="1"/>
          </p:cNvSpPr>
          <p:nvPr/>
        </p:nvSpPr>
        <p:spPr>
          <a:xfrm xmlns:a="http://schemas.openxmlformats.org/drawingml/2006/main" rot="2684721">
            <a:off x="8970049"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4" name="">
            <a:extLst xmlns:a="http://schemas.openxmlformats.org/drawingml/2006/main">
              <a:ext uri="{FF2B5EF4-FFF2-40B4-BE49-F238E27FC236}">
                <a16:creationId xmlns:a16="http://schemas.microsoft.com/office/drawing/2014/main" id="{94669F85-F835-4092-AF71-689046CE8A84}"/>
              </a:ext>
            </a:extLst>
          </p:cNvPr>
          <p:cNvSpPr>
            <a:spLocks xmlns:a="http://schemas.openxmlformats.org/drawingml/2006/main" noGrp="1"/>
          </p:cNvSpPr>
          <p:nvPr/>
        </p:nvSpPr>
        <p:spPr>
          <a:xfrm xmlns:a="http://schemas.openxmlformats.org/drawingml/2006/main" rot="-2684721">
            <a:off x="9239130"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5" name="">
            <a:extLst xmlns:a="http://schemas.openxmlformats.org/drawingml/2006/main">
              <a:ext uri="{FF2B5EF4-FFF2-40B4-BE49-F238E27FC236}">
                <a16:creationId xmlns:a16="http://schemas.microsoft.com/office/drawing/2014/main" id="{C621ECEF-4530-48ED-9A62-C33CB28D250C}"/>
              </a:ext>
            </a:extLst>
          </p:cNvPr>
          <p:cNvSpPr>
            <a:spLocks xmlns:a="http://schemas.openxmlformats.org/drawingml/2006/main" noGrp="1"/>
          </p:cNvSpPr>
          <p:nvPr/>
        </p:nvSpPr>
        <p:spPr>
          <a:xfrm xmlns:a="http://schemas.openxmlformats.org/drawingml/2006/main" rot="2684721">
            <a:off x="9508211"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6" name="">
            <a:extLst xmlns:a="http://schemas.openxmlformats.org/drawingml/2006/main">
              <a:ext uri="{FF2B5EF4-FFF2-40B4-BE49-F238E27FC236}">
                <a16:creationId xmlns:a16="http://schemas.microsoft.com/office/drawing/2014/main" id="{C252B4E2-59E7-46A6-BCE4-900E56D84850}"/>
              </a:ext>
            </a:extLst>
          </p:cNvPr>
          <p:cNvSpPr>
            <a:spLocks xmlns:a="http://schemas.openxmlformats.org/drawingml/2006/main" noGrp="1"/>
          </p:cNvSpPr>
          <p:nvPr/>
        </p:nvSpPr>
        <p:spPr>
          <a:xfrm xmlns:a="http://schemas.openxmlformats.org/drawingml/2006/main" rot="-2684721">
            <a:off x="9777293"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7" name="">
            <a:extLst xmlns:a="http://schemas.openxmlformats.org/drawingml/2006/main">
              <a:ext uri="{FF2B5EF4-FFF2-40B4-BE49-F238E27FC236}">
                <a16:creationId xmlns:a16="http://schemas.microsoft.com/office/drawing/2014/main" id="{B28D6E1F-8171-4FC4-9D5C-D8FC856AE370}"/>
              </a:ext>
            </a:extLst>
          </p:cNvPr>
          <p:cNvSpPr>
            <a:spLocks xmlns:a="http://schemas.openxmlformats.org/drawingml/2006/main" noGrp="1"/>
          </p:cNvSpPr>
          <p:nvPr/>
        </p:nvSpPr>
        <p:spPr>
          <a:xfrm xmlns:a="http://schemas.openxmlformats.org/drawingml/2006/main" rot="2684721">
            <a:off x="10046374" y="2938463"/>
            <a:ext cx="378858"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8" name="">
            <a:extLst xmlns:a="http://schemas.openxmlformats.org/drawingml/2006/main">
              <a:ext uri="{FF2B5EF4-FFF2-40B4-BE49-F238E27FC236}">
                <a16:creationId xmlns:a16="http://schemas.microsoft.com/office/drawing/2014/main" id="{113E335D-1728-4428-8152-17838C16FE66}"/>
              </a:ext>
            </a:extLst>
          </p:cNvPr>
          <p:cNvSpPr>
            <a:spLocks xmlns:a="http://schemas.openxmlformats.org/drawingml/2006/main" noGrp="1"/>
          </p:cNvSpPr>
          <p:nvPr/>
        </p:nvSpPr>
        <p:spPr>
          <a:xfrm xmlns:a="http://schemas.openxmlformats.org/drawingml/2006/main" rot="-1581713">
            <a:off x="10354729" y="3005138"/>
            <a:ext cx="300311"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39" name="">
            <a:extLst xmlns:a="http://schemas.openxmlformats.org/drawingml/2006/main">
              <a:ext uri="{FF2B5EF4-FFF2-40B4-BE49-F238E27FC236}">
                <a16:creationId xmlns:a16="http://schemas.microsoft.com/office/drawing/2014/main" id="{F76873AD-282F-4E2A-AF61-C773EEF09E3F}"/>
              </a:ext>
            </a:extLst>
          </p:cNvPr>
          <p:cNvSpPr>
            <a:spLocks xmlns:a="http://schemas.openxmlformats.org/drawingml/2006/main" noGrp="1"/>
          </p:cNvSpPr>
          <p:nvPr/>
        </p:nvSpPr>
        <p:spPr>
          <a:xfrm xmlns:a="http://schemas.openxmlformats.org/drawingml/2006/main" rot="0">
            <a:off x="10639425" y="2938463"/>
            <a:ext cx="171450" cy="28575"/>
          </a:xfrm>
          <a:prstGeom xmlns:a="http://schemas.openxmlformats.org/drawingml/2006/main" prst="rect">
            <a:avLst/>
          </a:prstGeom>
          <a:solidFill xmlns:a="http://schemas.openxmlformats.org/drawingml/2006/main">
            <a:srgbClr val="2467A5"/>
          </a:solidFill>
          <a:ln xmlns:a="http://schemas.openxmlformats.org/drawingml/2006/main" w="0">
            <a:noFill/>
          </a:ln>
        </p:spPr>
        <p:txBody xmlns:a="http://schemas.openxmlformats.org/drawingml/2006/main">
          <a:bodyPr/>
          <a:p/>
        </p:txBody>
      </p:sp>
      <p:sp>
        <p:nvSpPr>
          <p:cNvPr id="40" name="">
            <a:extLst xmlns:a="http://schemas.openxmlformats.org/drawingml/2006/main">
              <a:ext uri="{FF2B5EF4-FFF2-40B4-BE49-F238E27FC236}">
                <a16:creationId xmlns:a16="http://schemas.microsoft.com/office/drawing/2014/main" id="{20D103E7-AAAD-495C-88A6-184C3A873F31}"/>
              </a:ext>
            </a:extLst>
          </p:cNvPr>
          <p:cNvSpPr>
            <a:spLocks xmlns:a="http://schemas.openxmlformats.org/drawingml/2006/main" noGrp="1"/>
          </p:cNvSpPr>
          <p:nvPr/>
        </p:nvSpPr>
        <p:spPr>
          <a:xfrm xmlns:a="http://schemas.openxmlformats.org/drawingml/2006/main">
            <a:off x="4762500" y="2362200"/>
            <a:ext cx="2476500" cy="1143000"/>
          </a:xfrm>
          <a:prstGeom xmlns:a="http://schemas.openxmlformats.org/drawingml/2006/main" prst="rect">
            <a:avLst/>
          </a:prstGeom>
          <a:solidFill xmlns:a="http://schemas.openxmlformats.org/drawingml/2006/main">
            <a:srgbClr val="E5EFF8"/>
          </a:solidFill>
          <a:ln xmlns:a="http://schemas.openxmlformats.org/drawingml/2006/main" w="9525">
            <a:solidFill>
              <a:srgbClr val="2467A5"/>
            </a:solidFill>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FC41B6AC-0D29-4AD5-950D-90643A5A6539}"/>
              </a:ext>
            </a:extLst>
          </p:cNvPr>
          <p:cNvSpPr>
            <a:spLocks xmlns:a="http://schemas.openxmlformats.org/drawingml/2006/main" noGrp="1"/>
          </p:cNvSpPr>
          <p:nvPr/>
        </p:nvSpPr>
        <p:spPr>
          <a:xfrm xmlns:a="http://schemas.openxmlformats.org/drawingml/2006/main">
            <a:off x="4905375" y="2619375"/>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ctr">
              <a:defRPr sz="1725" b="1">
                <a:solidFill>
                  <a:srgbClr val="142D42"/>
                </a:solidFill>
              </a:defRPr>
            </a:defPPr>
            <a:lvl1pPr algn="ctr">
              <a:defRPr sz="1725" b="1">
                <a:solidFill>
                  <a:srgbClr val="142D42"/>
                </a:solidFill>
              </a:defRPr>
            </a:lvl1pPr>
            <a:lvl2pPr algn="ctr">
              <a:defRPr sz="1725" b="1">
                <a:solidFill>
                  <a:srgbClr val="142D42"/>
                </a:solidFill>
              </a:defRPr>
            </a:lvl2pPr>
            <a:lvl3pPr algn="ctr">
              <a:defRPr sz="1725" b="1">
                <a:solidFill>
                  <a:srgbClr val="142D42"/>
                </a:solidFill>
              </a:defRPr>
            </a:lvl3pPr>
            <a:lvl4pPr algn="ctr">
              <a:defRPr sz="1725" b="1">
                <a:solidFill>
                  <a:srgbClr val="142D42"/>
                </a:solidFill>
              </a:defRPr>
            </a:lvl4pPr>
            <a:lvl5pPr algn="ctr">
              <a:defRPr sz="1725" b="1">
                <a:solidFill>
                  <a:srgbClr val="142D42"/>
                </a:solidFill>
              </a:defRPr>
            </a:lvl5pPr>
            <a:lvl6pPr algn="ctr">
              <a:defRPr sz="1725" b="1">
                <a:solidFill>
                  <a:srgbClr val="142D42"/>
                </a:solidFill>
              </a:defRPr>
            </a:lvl6pPr>
            <a:lvl7pPr algn="ctr">
              <a:defRPr sz="1725" b="1">
                <a:solidFill>
                  <a:srgbClr val="142D42"/>
                </a:solidFill>
              </a:defRPr>
            </a:lvl7pPr>
            <a:lvl8pPr algn="ctr">
              <a:defRPr sz="1725" b="1">
                <a:solidFill>
                  <a:srgbClr val="142D42"/>
                </a:solidFill>
              </a:defRPr>
            </a:lvl8pPr>
            <a:lvl9pPr algn="ctr">
              <a:defRPr sz="1725" b="1">
                <a:solidFill>
                  <a:srgbClr val="142D42"/>
                </a:solidFill>
              </a:defRPr>
            </a:lvl9pPr>
          </a:lstStyle>
          <a:p xmlns:a="http://schemas.openxmlformats.org/drawingml/2006/main">
            <a:pPr algn="ctr">
              <a:defRPr sz="1725" b="1">
                <a:solidFill>
                  <a:srgbClr val="142D42"/>
                </a:solidFill>
              </a:defRPr>
            </a:pPr>
            <a:r>
              <a:rPr sz="1725" b="1">
                <a:solidFill>
                  <a:srgbClr val="142D42"/>
                </a:solidFill>
              </a:rPr>
              <a:t>cart, total mass m</a:t>
            </a:r>
          </a:p>
        </p:txBody>
      </p:sp>
      <p:sp>
        <p:nvSpPr>
          <p:cNvPr id="42" name="">
            <a:extLst xmlns:a="http://schemas.openxmlformats.org/drawingml/2006/main">
              <a:ext uri="{FF2B5EF4-FFF2-40B4-BE49-F238E27FC236}">
                <a16:creationId xmlns:a16="http://schemas.microsoft.com/office/drawing/2014/main" id="{6B9C0FFA-DEC0-441A-9517-6EAA68132C59}"/>
              </a:ext>
            </a:extLst>
          </p:cNvPr>
          <p:cNvSpPr>
            <a:spLocks xmlns:a="http://schemas.openxmlformats.org/drawingml/2006/main" noGrp="1"/>
          </p:cNvSpPr>
          <p:nvPr/>
        </p:nvSpPr>
        <p:spPr>
          <a:xfrm xmlns:a="http://schemas.openxmlformats.org/drawingml/2006/main">
            <a:off x="5143500" y="3505200"/>
            <a:ext cx="285750" cy="285750"/>
          </a:xfrm>
          <a:prstGeom xmlns:a="http://schemas.openxmlformats.org/drawingml/2006/main" prst="ellipse">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3" name="">
            <a:extLst xmlns:a="http://schemas.openxmlformats.org/drawingml/2006/main">
              <a:ext uri="{FF2B5EF4-FFF2-40B4-BE49-F238E27FC236}">
                <a16:creationId xmlns:a16="http://schemas.microsoft.com/office/drawing/2014/main" id="{36A8884B-5F61-4F2B-A6E3-97BD14387325}"/>
              </a:ext>
            </a:extLst>
          </p:cNvPr>
          <p:cNvSpPr>
            <a:spLocks xmlns:a="http://schemas.openxmlformats.org/drawingml/2006/main" noGrp="1"/>
          </p:cNvSpPr>
          <p:nvPr/>
        </p:nvSpPr>
        <p:spPr>
          <a:xfrm xmlns:a="http://schemas.openxmlformats.org/drawingml/2006/main">
            <a:off x="6810375" y="3505200"/>
            <a:ext cx="285750" cy="285750"/>
          </a:xfrm>
          <a:prstGeom xmlns:a="http://schemas.openxmlformats.org/drawingml/2006/main" prst="ellipse">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4" name="">
            <a:extLst xmlns:a="http://schemas.openxmlformats.org/drawingml/2006/main">
              <a:ext uri="{FF2B5EF4-FFF2-40B4-BE49-F238E27FC236}">
                <a16:creationId xmlns:a16="http://schemas.microsoft.com/office/drawing/2014/main" id="{10A5B05D-6D80-4146-923D-BCE1FC9D8366}"/>
              </a:ext>
            </a:extLst>
          </p:cNvPr>
          <p:cNvSpPr>
            <a:spLocks xmlns:a="http://schemas.openxmlformats.org/drawingml/2006/main" noGrp="1"/>
          </p:cNvSpPr>
          <p:nvPr/>
        </p:nvSpPr>
        <p:spPr>
          <a:xfrm xmlns:a="http://schemas.openxmlformats.org/drawingml/2006/main">
            <a:off x="2000250" y="217170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1">
                <a:solidFill>
                  <a:srgbClr val="2467A5"/>
                </a:solidFill>
              </a:defRPr>
            </a:defPPr>
            <a:lvl1pPr algn="l">
              <a:defRPr sz="1575" b="1">
                <a:solidFill>
                  <a:srgbClr val="2467A5"/>
                </a:solidFill>
              </a:defRPr>
            </a:lvl1pPr>
            <a:lvl2pPr algn="l">
              <a:defRPr sz="1575" b="1">
                <a:solidFill>
                  <a:srgbClr val="2467A5"/>
                </a:solidFill>
              </a:defRPr>
            </a:lvl2pPr>
            <a:lvl3pPr algn="l">
              <a:defRPr sz="1575" b="1">
                <a:solidFill>
                  <a:srgbClr val="2467A5"/>
                </a:solidFill>
              </a:defRPr>
            </a:lvl3pPr>
            <a:lvl4pPr algn="l">
              <a:defRPr sz="1575" b="1">
                <a:solidFill>
                  <a:srgbClr val="2467A5"/>
                </a:solidFill>
              </a:defRPr>
            </a:lvl4pPr>
            <a:lvl5pPr algn="l">
              <a:defRPr sz="1575" b="1">
                <a:solidFill>
                  <a:srgbClr val="2467A5"/>
                </a:solidFill>
              </a:defRPr>
            </a:lvl5pPr>
            <a:lvl6pPr algn="l">
              <a:defRPr sz="1575" b="1">
                <a:solidFill>
                  <a:srgbClr val="2467A5"/>
                </a:solidFill>
              </a:defRPr>
            </a:lvl6pPr>
            <a:lvl7pPr algn="l">
              <a:defRPr sz="1575" b="1">
                <a:solidFill>
                  <a:srgbClr val="2467A5"/>
                </a:solidFill>
              </a:defRPr>
            </a:lvl7pPr>
            <a:lvl8pPr algn="l">
              <a:defRPr sz="1575" b="1">
                <a:solidFill>
                  <a:srgbClr val="2467A5"/>
                </a:solidFill>
              </a:defRPr>
            </a:lvl8pPr>
            <a:lvl9pPr algn="l">
              <a:defRPr sz="1575" b="1">
                <a:solidFill>
                  <a:srgbClr val="2467A5"/>
                </a:solidFill>
              </a:defRPr>
            </a:lvl9pPr>
          </a:lstStyle>
          <a:p xmlns:a="http://schemas.openxmlformats.org/drawingml/2006/main">
            <a:pPr algn="l">
              <a:defRPr sz="1575" b="1">
                <a:solidFill>
                  <a:srgbClr val="2467A5"/>
                </a:solidFill>
              </a:defRPr>
            </a:pPr>
            <a:r>
              <a:rPr sz="1575" b="1">
                <a:solidFill>
                  <a:srgbClr val="2467A5"/>
                </a:solidFill>
              </a:rPr>
              <a:t>left spring</a:t>
            </a:r>
          </a:p>
        </p:txBody>
      </p:sp>
      <p:sp>
        <p:nvSpPr>
          <p:cNvPr id="45" name="">
            <a:extLst xmlns:a="http://schemas.openxmlformats.org/drawingml/2006/main">
              <a:ext uri="{FF2B5EF4-FFF2-40B4-BE49-F238E27FC236}">
                <a16:creationId xmlns:a16="http://schemas.microsoft.com/office/drawing/2014/main" id="{298A6B92-DD0A-4EBE-9525-0E607D404141}"/>
              </a:ext>
            </a:extLst>
          </p:cNvPr>
          <p:cNvSpPr>
            <a:spLocks xmlns:a="http://schemas.openxmlformats.org/drawingml/2006/main" noGrp="1"/>
          </p:cNvSpPr>
          <p:nvPr/>
        </p:nvSpPr>
        <p:spPr>
          <a:xfrm xmlns:a="http://schemas.openxmlformats.org/drawingml/2006/main">
            <a:off x="7905750" y="217170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1">
                <a:solidFill>
                  <a:srgbClr val="2467A5"/>
                </a:solidFill>
              </a:defRPr>
            </a:defPPr>
            <a:lvl1pPr algn="l">
              <a:defRPr sz="1575" b="1">
                <a:solidFill>
                  <a:srgbClr val="2467A5"/>
                </a:solidFill>
              </a:defRPr>
            </a:lvl1pPr>
            <a:lvl2pPr algn="l">
              <a:defRPr sz="1575" b="1">
                <a:solidFill>
                  <a:srgbClr val="2467A5"/>
                </a:solidFill>
              </a:defRPr>
            </a:lvl2pPr>
            <a:lvl3pPr algn="l">
              <a:defRPr sz="1575" b="1">
                <a:solidFill>
                  <a:srgbClr val="2467A5"/>
                </a:solidFill>
              </a:defRPr>
            </a:lvl3pPr>
            <a:lvl4pPr algn="l">
              <a:defRPr sz="1575" b="1">
                <a:solidFill>
                  <a:srgbClr val="2467A5"/>
                </a:solidFill>
              </a:defRPr>
            </a:lvl4pPr>
            <a:lvl5pPr algn="l">
              <a:defRPr sz="1575" b="1">
                <a:solidFill>
                  <a:srgbClr val="2467A5"/>
                </a:solidFill>
              </a:defRPr>
            </a:lvl5pPr>
            <a:lvl6pPr algn="l">
              <a:defRPr sz="1575" b="1">
                <a:solidFill>
                  <a:srgbClr val="2467A5"/>
                </a:solidFill>
              </a:defRPr>
            </a:lvl6pPr>
            <a:lvl7pPr algn="l">
              <a:defRPr sz="1575" b="1">
                <a:solidFill>
                  <a:srgbClr val="2467A5"/>
                </a:solidFill>
              </a:defRPr>
            </a:lvl7pPr>
            <a:lvl8pPr algn="l">
              <a:defRPr sz="1575" b="1">
                <a:solidFill>
                  <a:srgbClr val="2467A5"/>
                </a:solidFill>
              </a:defRPr>
            </a:lvl8pPr>
            <a:lvl9pPr algn="l">
              <a:defRPr sz="1575" b="1">
                <a:solidFill>
                  <a:srgbClr val="2467A5"/>
                </a:solidFill>
              </a:defRPr>
            </a:lvl9pPr>
          </a:lstStyle>
          <a:p xmlns:a="http://schemas.openxmlformats.org/drawingml/2006/main">
            <a:pPr algn="l">
              <a:defRPr sz="1575" b="1">
                <a:solidFill>
                  <a:srgbClr val="2467A5"/>
                </a:solidFill>
              </a:defRPr>
            </a:pPr>
            <a:r>
              <a:rPr sz="1575" b="1">
                <a:solidFill>
                  <a:srgbClr val="2467A5"/>
                </a:solidFill>
              </a:rPr>
              <a:t>right spring</a:t>
            </a:r>
          </a:p>
        </p:txBody>
      </p:sp>
      <p:sp>
        <p:nvSpPr>
          <p:cNvPr id="46" name="">
            <a:extLst xmlns:a="http://schemas.openxmlformats.org/drawingml/2006/main">
              <a:ext uri="{FF2B5EF4-FFF2-40B4-BE49-F238E27FC236}">
                <a16:creationId xmlns:a16="http://schemas.microsoft.com/office/drawing/2014/main" id="{E58ABA25-ACCA-4F79-8D22-28F764932A01}"/>
              </a:ext>
            </a:extLst>
          </p:cNvPr>
          <p:cNvSpPr>
            <a:spLocks xmlns:a="http://schemas.openxmlformats.org/drawingml/2006/main" noGrp="1"/>
          </p:cNvSpPr>
          <p:nvPr/>
        </p:nvSpPr>
        <p:spPr>
          <a:xfrm xmlns:a="http://schemas.openxmlformats.org/drawingml/2006/main" rot="0">
            <a:off x="5905500" y="1890713"/>
            <a:ext cx="1762125" cy="28575"/>
          </a:xfrm>
          <a:prstGeom xmlns:a="http://schemas.openxmlformats.org/drawingml/2006/main" prst="rect">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7" name="">
            <a:extLst xmlns:a="http://schemas.openxmlformats.org/drawingml/2006/main">
              <a:ext uri="{FF2B5EF4-FFF2-40B4-BE49-F238E27FC236}">
                <a16:creationId xmlns:a16="http://schemas.microsoft.com/office/drawing/2014/main" id="{8478804A-3289-4EBE-A4A2-ED087337A744}"/>
              </a:ext>
            </a:extLst>
          </p:cNvPr>
          <p:cNvSpPr>
            <a:spLocks xmlns:a="http://schemas.openxmlformats.org/drawingml/2006/main" noGrp="1"/>
          </p:cNvSpPr>
          <p:nvPr/>
        </p:nvSpPr>
        <p:spPr>
          <a:xfrm xmlns:a="http://schemas.openxmlformats.org/drawingml/2006/main" rot="9081127">
            <a:off x="7551379" y="1920395"/>
            <a:ext cx="123825" cy="28575"/>
          </a:xfrm>
          <a:prstGeom xmlns:a="http://schemas.openxmlformats.org/drawingml/2006/main" prst="rect">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8" name="">
            <a:extLst xmlns:a="http://schemas.openxmlformats.org/drawingml/2006/main">
              <a:ext uri="{FF2B5EF4-FFF2-40B4-BE49-F238E27FC236}">
                <a16:creationId xmlns:a16="http://schemas.microsoft.com/office/drawing/2014/main" id="{8548B5F3-3708-49A5-A500-C5871C98839D}"/>
              </a:ext>
            </a:extLst>
          </p:cNvPr>
          <p:cNvSpPr>
            <a:spLocks xmlns:a="http://schemas.openxmlformats.org/drawingml/2006/main" noGrp="1"/>
          </p:cNvSpPr>
          <p:nvPr/>
        </p:nvSpPr>
        <p:spPr>
          <a:xfrm xmlns:a="http://schemas.openxmlformats.org/drawingml/2006/main" rot="-9081127">
            <a:off x="7551379" y="1861030"/>
            <a:ext cx="123825" cy="28575"/>
          </a:xfrm>
          <a:prstGeom xmlns:a="http://schemas.openxmlformats.org/drawingml/2006/main" prst="rect">
            <a:avLst/>
          </a:prstGeom>
          <a:solidFill xmlns:a="http://schemas.openxmlformats.org/drawingml/2006/main">
            <a:srgbClr val="142D42"/>
          </a:solidFill>
          <a:ln xmlns:a="http://schemas.openxmlformats.org/drawingml/2006/main" w="0">
            <a:noFill/>
          </a:ln>
        </p:spPr>
        <p:txBody xmlns:a="http://schemas.openxmlformats.org/drawingml/2006/main">
          <a:bodyPr/>
          <a:p/>
        </p:txBody>
      </p:sp>
      <p:sp>
        <p:nvSpPr>
          <p:cNvPr id="49" name="">
            <a:extLst xmlns:a="http://schemas.openxmlformats.org/drawingml/2006/main">
              <a:ext uri="{FF2B5EF4-FFF2-40B4-BE49-F238E27FC236}">
                <a16:creationId xmlns:a16="http://schemas.microsoft.com/office/drawing/2014/main" id="{F3AD6BB7-2FF1-477F-BCEE-A780ED24995F}"/>
              </a:ext>
            </a:extLst>
          </p:cNvPr>
          <p:cNvSpPr>
            <a:spLocks xmlns:a="http://schemas.openxmlformats.org/drawingml/2006/main" noGrp="1"/>
          </p:cNvSpPr>
          <p:nvPr/>
        </p:nvSpPr>
        <p:spPr>
          <a:xfrm xmlns:a="http://schemas.openxmlformats.org/drawingml/2006/main">
            <a:off x="5953125" y="1476375"/>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0">
                <a:solidFill>
                  <a:srgbClr val="142D42"/>
                </a:solidFill>
              </a:defRPr>
            </a:defPPr>
            <a:lvl1pPr algn="l">
              <a:defRPr sz="1500" b="0">
                <a:solidFill>
                  <a:srgbClr val="142D42"/>
                </a:solidFill>
              </a:defRPr>
            </a:lvl1pPr>
            <a:lvl2pPr algn="l">
              <a:defRPr sz="1500" b="0">
                <a:solidFill>
                  <a:srgbClr val="142D42"/>
                </a:solidFill>
              </a:defRPr>
            </a:lvl2pPr>
            <a:lvl3pPr algn="l">
              <a:defRPr sz="1500" b="0">
                <a:solidFill>
                  <a:srgbClr val="142D42"/>
                </a:solidFill>
              </a:defRPr>
            </a:lvl3pPr>
            <a:lvl4pPr algn="l">
              <a:defRPr sz="1500" b="0">
                <a:solidFill>
                  <a:srgbClr val="142D42"/>
                </a:solidFill>
              </a:defRPr>
            </a:lvl4pPr>
            <a:lvl5pPr algn="l">
              <a:defRPr sz="1500" b="0">
                <a:solidFill>
                  <a:srgbClr val="142D42"/>
                </a:solidFill>
              </a:defRPr>
            </a:lvl5pPr>
            <a:lvl6pPr algn="l">
              <a:defRPr sz="1500" b="0">
                <a:solidFill>
                  <a:srgbClr val="142D42"/>
                </a:solidFill>
              </a:defRPr>
            </a:lvl6pPr>
            <a:lvl7pPr algn="l">
              <a:defRPr sz="1500" b="0">
                <a:solidFill>
                  <a:srgbClr val="142D42"/>
                </a:solidFill>
              </a:defRPr>
            </a:lvl7pPr>
            <a:lvl8pPr algn="l">
              <a:defRPr sz="1500" b="0">
                <a:solidFill>
                  <a:srgbClr val="142D42"/>
                </a:solidFill>
              </a:defRPr>
            </a:lvl8pPr>
            <a:lvl9pPr algn="l">
              <a:defRPr sz="1500" b="0">
                <a:solidFill>
                  <a:srgbClr val="142D42"/>
                </a:solidFill>
              </a:defRPr>
            </a:lvl9pPr>
          </a:lstStyle>
          <a:p xmlns:a="http://schemas.openxmlformats.org/drawingml/2006/main">
            <a:pPr algn="l">
              <a:defRPr sz="1500" b="0">
                <a:solidFill>
                  <a:srgbClr val="142D42"/>
                </a:solidFill>
              </a:defRPr>
            </a:pPr>
            <a:r>
              <a:rPr sz="1500" b="0">
                <a:solidFill>
                  <a:srgbClr val="142D42"/>
                </a:solidFill>
              </a:rPr>
              <a:t>positive x</a:t>
            </a:r>
          </a:p>
        </p:txBody>
      </p:sp>
      <p:sp>
        <p:nvSpPr>
          <p:cNvPr id="50" name="">
            <a:extLst xmlns:a="http://schemas.openxmlformats.org/drawingml/2006/main">
              <a:ext uri="{FF2B5EF4-FFF2-40B4-BE49-F238E27FC236}">
                <a16:creationId xmlns:a16="http://schemas.microsoft.com/office/drawing/2014/main" id="{F69B073D-DC8D-437A-955A-14C3D569EEEC}"/>
              </a:ext>
            </a:extLst>
          </p:cNvPr>
          <p:cNvSpPr>
            <a:spLocks xmlns:a="http://schemas.openxmlformats.org/drawingml/2006/main" noGrp="1"/>
          </p:cNvSpPr>
          <p:nvPr/>
        </p:nvSpPr>
        <p:spPr>
          <a:xfrm xmlns:a="http://schemas.openxmlformats.org/drawingml/2006/main" rot="0">
            <a:off x="1085850" y="3648075"/>
            <a:ext cx="1390650" cy="38100"/>
          </a:xfrm>
          <a:prstGeom xmlns:a="http://schemas.openxmlformats.org/drawingml/2006/main" prst="rect">
            <a:avLst/>
          </a:prstGeom>
          <a:solidFill xmlns:a="http://schemas.openxmlformats.org/drawingml/2006/main">
            <a:srgbClr val="A82C3C"/>
          </a:solidFill>
          <a:ln xmlns:a="http://schemas.openxmlformats.org/drawingml/2006/main" w="0">
            <a:noFill/>
          </a:ln>
        </p:spPr>
        <p:txBody xmlns:a="http://schemas.openxmlformats.org/drawingml/2006/main">
          <a:bodyPr/>
          <a:p/>
        </p:txBody>
      </p:sp>
      <p:sp>
        <p:nvSpPr>
          <p:cNvPr id="51" name="">
            <a:extLst xmlns:a="http://schemas.openxmlformats.org/drawingml/2006/main">
              <a:ext uri="{FF2B5EF4-FFF2-40B4-BE49-F238E27FC236}">
                <a16:creationId xmlns:a16="http://schemas.microsoft.com/office/drawing/2014/main" id="{07D539CD-06A8-4D0B-B5C5-44F5A9E3B01D}"/>
              </a:ext>
            </a:extLst>
          </p:cNvPr>
          <p:cNvSpPr>
            <a:spLocks xmlns:a="http://schemas.openxmlformats.org/drawingml/2006/main" noGrp="1"/>
          </p:cNvSpPr>
          <p:nvPr/>
        </p:nvSpPr>
        <p:spPr>
          <a:xfrm xmlns:a="http://schemas.openxmlformats.org/drawingml/2006/main">
            <a:off x="2476500" y="3409950"/>
            <a:ext cx="952500" cy="523875"/>
          </a:xfrm>
          <a:prstGeom xmlns:a="http://schemas.openxmlformats.org/drawingml/2006/main" prst="rect">
            <a:avLst/>
          </a:prstGeom>
          <a:solidFill xmlns:a="http://schemas.openxmlformats.org/drawingml/2006/main">
            <a:srgbClr val="F9EEF0"/>
          </a:solidFill>
          <a:ln xmlns:a="http://schemas.openxmlformats.org/drawingml/2006/main" w="9525">
            <a:solidFill>
              <a:srgbClr val="A82C3C"/>
            </a:solidFill>
          </a:ln>
        </p:spPr>
        <p:txBody xmlns:a="http://schemas.openxmlformats.org/drawingml/2006/main">
          <a:bodyPr/>
          <a:p/>
        </p:txBody>
      </p:sp>
      <p:sp>
        <p:nvSpPr>
          <p:cNvPr id="52" name="">
            <a:extLst xmlns:a="http://schemas.openxmlformats.org/drawingml/2006/main">
              <a:ext uri="{FF2B5EF4-FFF2-40B4-BE49-F238E27FC236}">
                <a16:creationId xmlns:a16="http://schemas.microsoft.com/office/drawing/2014/main" id="{FA7C7082-AE6D-4819-9A29-71631C71D012}"/>
              </a:ext>
            </a:extLst>
          </p:cNvPr>
          <p:cNvSpPr>
            <a:spLocks xmlns:a="http://schemas.openxmlformats.org/drawingml/2006/main" noGrp="1"/>
          </p:cNvSpPr>
          <p:nvPr/>
        </p:nvSpPr>
        <p:spPr>
          <a:xfrm xmlns:a="http://schemas.openxmlformats.org/drawingml/2006/main" rot="5400000">
            <a:off x="2781300" y="3648075"/>
            <a:ext cx="438150" cy="38100"/>
          </a:xfrm>
          <a:prstGeom xmlns:a="http://schemas.openxmlformats.org/drawingml/2006/main" prst="rect">
            <a:avLst/>
          </a:prstGeom>
          <a:solidFill xmlns:a="http://schemas.openxmlformats.org/drawingml/2006/main">
            <a:srgbClr val="A82C3C"/>
          </a:solidFill>
          <a:ln xmlns:a="http://schemas.openxmlformats.org/drawingml/2006/main" w="0">
            <a:noFill/>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905D5DD5-B41D-43BD-8E80-D2FE5DFB3ACF}"/>
              </a:ext>
            </a:extLst>
          </p:cNvPr>
          <p:cNvSpPr>
            <a:spLocks xmlns:a="http://schemas.openxmlformats.org/drawingml/2006/main" noGrp="1"/>
          </p:cNvSpPr>
          <p:nvPr/>
        </p:nvSpPr>
        <p:spPr>
          <a:xfrm xmlns:a="http://schemas.openxmlformats.org/drawingml/2006/main" rot="0">
            <a:off x="3000375" y="3648075"/>
            <a:ext cx="1762125" cy="38100"/>
          </a:xfrm>
          <a:prstGeom xmlns:a="http://schemas.openxmlformats.org/drawingml/2006/main" prst="rect">
            <a:avLst/>
          </a:prstGeom>
          <a:solidFill xmlns:a="http://schemas.openxmlformats.org/drawingml/2006/main">
            <a:srgbClr val="A82C3C"/>
          </a:solidFill>
          <a:ln xmlns:a="http://schemas.openxmlformats.org/drawingml/2006/main" w="0">
            <a:noFill/>
          </a:ln>
        </p:spPr>
        <p:txBody xmlns:a="http://schemas.openxmlformats.org/drawingml/2006/main">
          <a:bodyPr/>
          <a:p/>
        </p:txBody>
      </p:sp>
      <p:sp>
        <p:nvSpPr>
          <p:cNvPr id="54" name="">
            <a:extLst xmlns:a="http://schemas.openxmlformats.org/drawingml/2006/main">
              <a:ext uri="{FF2B5EF4-FFF2-40B4-BE49-F238E27FC236}">
                <a16:creationId xmlns:a16="http://schemas.microsoft.com/office/drawing/2014/main" id="{55935C84-61A4-4F78-8E78-CDE64DEB153F}"/>
              </a:ext>
            </a:extLst>
          </p:cNvPr>
          <p:cNvSpPr>
            <a:spLocks xmlns:a="http://schemas.openxmlformats.org/drawingml/2006/main" noGrp="1"/>
          </p:cNvSpPr>
          <p:nvPr/>
        </p:nvSpPr>
        <p:spPr>
          <a:xfrm xmlns:a="http://schemas.openxmlformats.org/drawingml/2006/main">
            <a:off x="1571625" y="4238625"/>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1">
                <a:solidFill>
                  <a:srgbClr val="A82C3C"/>
                </a:solidFill>
              </a:defRPr>
            </a:defPPr>
            <a:lvl1pPr algn="l">
              <a:defRPr sz="1575" b="1">
                <a:solidFill>
                  <a:srgbClr val="A82C3C"/>
                </a:solidFill>
              </a:defRPr>
            </a:lvl1pPr>
            <a:lvl2pPr algn="l">
              <a:defRPr sz="1575" b="1">
                <a:solidFill>
                  <a:srgbClr val="A82C3C"/>
                </a:solidFill>
              </a:defRPr>
            </a:lvl2pPr>
            <a:lvl3pPr algn="l">
              <a:defRPr sz="1575" b="1">
                <a:solidFill>
                  <a:srgbClr val="A82C3C"/>
                </a:solidFill>
              </a:defRPr>
            </a:lvl3pPr>
            <a:lvl4pPr algn="l">
              <a:defRPr sz="1575" b="1">
                <a:solidFill>
                  <a:srgbClr val="A82C3C"/>
                </a:solidFill>
              </a:defRPr>
            </a:lvl4pPr>
            <a:lvl5pPr algn="l">
              <a:defRPr sz="1575" b="1">
                <a:solidFill>
                  <a:srgbClr val="A82C3C"/>
                </a:solidFill>
              </a:defRPr>
            </a:lvl5pPr>
            <a:lvl6pPr algn="l">
              <a:defRPr sz="1575" b="1">
                <a:solidFill>
                  <a:srgbClr val="A82C3C"/>
                </a:solidFill>
              </a:defRPr>
            </a:lvl6pPr>
            <a:lvl7pPr algn="l">
              <a:defRPr sz="1575" b="1">
                <a:solidFill>
                  <a:srgbClr val="A82C3C"/>
                </a:solidFill>
              </a:defRPr>
            </a:lvl7pPr>
            <a:lvl8pPr algn="l">
              <a:defRPr sz="1575" b="1">
                <a:solidFill>
                  <a:srgbClr val="A82C3C"/>
                </a:solidFill>
              </a:defRPr>
            </a:lvl8pPr>
            <a:lvl9pPr algn="l">
              <a:defRPr sz="1575" b="1">
                <a:solidFill>
                  <a:srgbClr val="A82C3C"/>
                </a:solidFill>
              </a:defRPr>
            </a:lvl9pPr>
          </a:lstStyle>
          <a:p xmlns:a="http://schemas.openxmlformats.org/drawingml/2006/main">
            <a:pPr algn="l">
              <a:defRPr sz="1575" b="1">
                <a:solidFill>
                  <a:srgbClr val="A82C3C"/>
                </a:solidFill>
              </a:defRPr>
            </a:pPr>
            <a:r>
              <a:rPr sz="1575" b="1">
                <a:solidFill>
                  <a:srgbClr val="A82C3C"/>
                </a:solidFill>
              </a:rPr>
              <a:t>equivalent damper c</a:t>
            </a:r>
          </a:p>
        </p:txBody>
      </p:sp>
      <p:pic>
        <p:nvPicPr>
          <p:cNvPr id="55" name="">
            <a:extLst xmlns:a="http://schemas.openxmlformats.org/drawingml/2006/main">
              <a:ext uri="{FF2B5EF4-FFF2-40B4-BE49-F238E27FC236}">
                <a16:creationId xmlns:a16="http://schemas.microsoft.com/office/drawing/2014/main" id="{9B852AEA-8682-49B8-918E-4D5DB0764B95}"/>
              </a:ext>
            </a:extLst>
          </p:cNvPr>
          <p:cNvPicPr>
            <a:picLocks xmlns:a="http://schemas.openxmlformats.org/drawingml/2006/main" noChangeAspect="1"/>
          </p:cNvPicPr>
          <p:nvPr/>
        </p:nvPicPr>
        <p:blipFill>
          <a:blip xmlns:r="http://schemas.openxmlformats.org/officeDocument/2006/relationships" xmlns:a="http://schemas.openxmlformats.org/drawingml/2006/main" r:embed="R265f50ecd9484b25"/>
          <a:stretch xmlns:a="http://schemas.openxmlformats.org/drawingml/2006/main"/>
        </p:blipFill>
        <p:spPr>
          <a:xfrm xmlns:a="http://schemas.openxmlformats.org/drawingml/2006/main">
            <a:off x="2762250" y="4762500"/>
            <a:ext cx="2516315" cy="461486"/>
          </a:xfrm>
          <a:prstGeom xmlns:a="http://schemas.openxmlformats.org/drawingml/2006/main" prst="rect">
            <a:avLst/>
          </a:prstGeom>
        </p:spPr>
      </p:pic>
      <p:sp>
        <p:nvSpPr>
          <p:cNvPr id="56" name="">
            <a:extLst xmlns:a="http://schemas.openxmlformats.org/drawingml/2006/main">
              <a:ext uri="{FF2B5EF4-FFF2-40B4-BE49-F238E27FC236}">
                <a16:creationId xmlns:a16="http://schemas.microsoft.com/office/drawing/2014/main" id="{F41F6D5E-565F-475B-BF7C-9C930ADE79F6}"/>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57" name="">
            <a:extLst xmlns:a="http://schemas.openxmlformats.org/drawingml/2006/main">
              <a:ext uri="{FF2B5EF4-FFF2-40B4-BE49-F238E27FC236}">
                <a16:creationId xmlns:a16="http://schemas.microsoft.com/office/drawing/2014/main" id="{4DEA06B7-B7D4-4ED8-BD4C-F80D73B4BB10}"/>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Adding a velocity-dependent force gives the damped equation. Set c = 0 to recover the undamped model.</a:t>
            </a:r>
          </a:p>
        </p:txBody>
      </p:sp>
    </p:spTree>
    <p:extLst>
      <p:ext uri="{BB962C8B-B14F-4D97-AF65-F5344CB8AC3E}">
        <p14:creationId xmlns:p14="http://schemas.microsoft.com/office/powerpoint/2010/main" val="127437527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5AC71C8-4E17-4843-ACE0-EE7AF318C318}"/>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1F0238A9-38D5-48A9-919A-EB3692D47855}"/>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Derivation 1 of 3</a:t>
            </a:r>
          </a:p>
        </p:txBody>
      </p:sp>
      <p:sp>
        <p:nvSpPr>
          <p:cNvPr id="3" name="">
            <a:extLst xmlns:a="http://schemas.openxmlformats.org/drawingml/2006/main">
              <a:ext uri="{FF2B5EF4-FFF2-40B4-BE49-F238E27FC236}">
                <a16:creationId xmlns:a16="http://schemas.microsoft.com/office/drawing/2014/main" id="{F91BE83E-D826-4529-90F2-34E956D43404}"/>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Standard form is only a change of notation</a:t>
            </a:r>
          </a:p>
        </p:txBody>
      </p:sp>
      <p:sp>
        <p:nvSpPr>
          <p:cNvPr id="4" name="">
            <a:extLst xmlns:a="http://schemas.openxmlformats.org/drawingml/2006/main">
              <a:ext uri="{FF2B5EF4-FFF2-40B4-BE49-F238E27FC236}">
                <a16:creationId xmlns:a16="http://schemas.microsoft.com/office/drawing/2014/main" id="{3580C52D-7AD8-45CD-8B06-4507CAC03D64}"/>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73EFDEC-163D-46EC-A90D-DEE93778F939}"/>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17</a:t>
            </a:r>
          </a:p>
        </p:txBody>
      </p:sp>
      <p:sp>
        <p:nvSpPr>
          <p:cNvPr id="6" name="">
            <a:extLst xmlns:a="http://schemas.openxmlformats.org/drawingml/2006/main">
              <a:ext uri="{FF2B5EF4-FFF2-40B4-BE49-F238E27FC236}">
                <a16:creationId xmlns:a16="http://schemas.microsoft.com/office/drawing/2014/main" id="{3BC7DEE7-5B2D-448D-B677-C320CFD560BA}"/>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18–20 min</a:t>
            </a:r>
          </a:p>
        </p:txBody>
      </p:sp>
      <p:sp>
        <p:nvSpPr>
          <p:cNvPr id="7" name="">
            <a:extLst xmlns:a="http://schemas.openxmlformats.org/drawingml/2006/main">
              <a:ext uri="{FF2B5EF4-FFF2-40B4-BE49-F238E27FC236}">
                <a16:creationId xmlns:a16="http://schemas.microsoft.com/office/drawing/2014/main" id="{D7DD5E1A-1274-45B2-9CF8-915D958476AD}"/>
              </a:ext>
            </a:extLst>
          </p:cNvPr>
          <p:cNvSpPr>
            <a:spLocks xmlns:a="http://schemas.openxmlformats.org/drawingml/2006/main" noGrp="1"/>
          </p:cNvSpPr>
          <p:nvPr/>
        </p:nvSpPr>
        <p:spPr>
          <a:xfrm xmlns:a="http://schemas.openxmlformats.org/drawingml/2006/main">
            <a:off x="666750" y="1571625"/>
            <a:ext cx="5143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1">
                <a:solidFill>
                  <a:srgbClr val="A82C3C"/>
                </a:solidFill>
              </a:defRPr>
            </a:defPPr>
            <a:lvl1pPr algn="l">
              <a:defRPr sz="1800" b="1">
                <a:solidFill>
                  <a:srgbClr val="A82C3C"/>
                </a:solidFill>
              </a:defRPr>
            </a:lvl1pPr>
            <a:lvl2pPr algn="l">
              <a:defRPr sz="1800" b="1">
                <a:solidFill>
                  <a:srgbClr val="A82C3C"/>
                </a:solidFill>
              </a:defRPr>
            </a:lvl2pPr>
            <a:lvl3pPr algn="l">
              <a:defRPr sz="1800" b="1">
                <a:solidFill>
                  <a:srgbClr val="A82C3C"/>
                </a:solidFill>
              </a:defRPr>
            </a:lvl3pPr>
            <a:lvl4pPr algn="l">
              <a:defRPr sz="1800" b="1">
                <a:solidFill>
                  <a:srgbClr val="A82C3C"/>
                </a:solidFill>
              </a:defRPr>
            </a:lvl4pPr>
            <a:lvl5pPr algn="l">
              <a:defRPr sz="1800" b="1">
                <a:solidFill>
                  <a:srgbClr val="A82C3C"/>
                </a:solidFill>
              </a:defRPr>
            </a:lvl5pPr>
            <a:lvl6pPr algn="l">
              <a:defRPr sz="1800" b="1">
                <a:solidFill>
                  <a:srgbClr val="A82C3C"/>
                </a:solidFill>
              </a:defRPr>
            </a:lvl6pPr>
            <a:lvl7pPr algn="l">
              <a:defRPr sz="1800" b="1">
                <a:solidFill>
                  <a:srgbClr val="A82C3C"/>
                </a:solidFill>
              </a:defRPr>
            </a:lvl7pPr>
            <a:lvl8pPr algn="l">
              <a:defRPr sz="1800" b="1">
                <a:solidFill>
                  <a:srgbClr val="A82C3C"/>
                </a:solidFill>
              </a:defRPr>
            </a:lvl8pPr>
            <a:lvl9pPr algn="l">
              <a:defRPr sz="1800" b="1">
                <a:solidFill>
                  <a:srgbClr val="A82C3C"/>
                </a:solidFill>
              </a:defRPr>
            </a:lvl9pPr>
          </a:lstStyle>
          <a:p xmlns:a="http://schemas.openxmlformats.org/drawingml/2006/main">
            <a:pPr algn="l">
              <a:defRPr sz="1800" b="1">
                <a:solidFill>
                  <a:srgbClr val="A82C3C"/>
                </a:solidFill>
              </a:defRPr>
            </a:pPr>
            <a:r>
              <a:rPr sz="1800" b="1">
                <a:solidFill>
                  <a:srgbClr val="A82C3C"/>
                </a:solidFill>
              </a:rPr>
              <a:t>1. Divide Newton’s equation by m.</a:t>
            </a:r>
          </a:p>
        </p:txBody>
      </p:sp>
      <p:pic>
        <p:nvPicPr>
          <p:cNvPr id="8" name="">
            <a:extLst xmlns:a="http://schemas.openxmlformats.org/drawingml/2006/main">
              <a:ext uri="{FF2B5EF4-FFF2-40B4-BE49-F238E27FC236}">
                <a16:creationId xmlns:a16="http://schemas.microsoft.com/office/drawing/2014/main" id="{17F55868-3778-4198-ADEF-888E2D2D4648}"/>
              </a:ext>
            </a:extLst>
          </p:cNvPr>
          <p:cNvPicPr>
            <a:picLocks xmlns:a="http://schemas.openxmlformats.org/drawingml/2006/main" noChangeAspect="1"/>
          </p:cNvPicPr>
          <p:nvPr/>
        </p:nvPicPr>
        <p:blipFill>
          <a:blip xmlns:r="http://schemas.openxmlformats.org/officeDocument/2006/relationships" xmlns:a="http://schemas.openxmlformats.org/drawingml/2006/main" r:embed="R1830432cb27446e9"/>
          <a:stretch xmlns:a="http://schemas.openxmlformats.org/drawingml/2006/main"/>
        </p:blipFill>
        <p:spPr>
          <a:xfrm xmlns:a="http://schemas.openxmlformats.org/drawingml/2006/main">
            <a:off x="6238875" y="1504950"/>
            <a:ext cx="2322195" cy="499491"/>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A4D044A-5E97-4479-AB97-5A110C06F64A}"/>
              </a:ext>
            </a:extLst>
          </p:cNvPr>
          <p:cNvSpPr>
            <a:spLocks xmlns:a="http://schemas.openxmlformats.org/drawingml/2006/main" noGrp="1"/>
          </p:cNvSpPr>
          <p:nvPr/>
        </p:nvSpPr>
        <p:spPr>
          <a:xfrm xmlns:a="http://schemas.openxmlformats.org/drawingml/2006/main">
            <a:off x="666750" y="2762250"/>
            <a:ext cx="5143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1">
                <a:solidFill>
                  <a:srgbClr val="A82C3C"/>
                </a:solidFill>
              </a:defRPr>
            </a:defPPr>
            <a:lvl1pPr algn="l">
              <a:defRPr sz="1800" b="1">
                <a:solidFill>
                  <a:srgbClr val="A82C3C"/>
                </a:solidFill>
              </a:defRPr>
            </a:lvl1pPr>
            <a:lvl2pPr algn="l">
              <a:defRPr sz="1800" b="1">
                <a:solidFill>
                  <a:srgbClr val="A82C3C"/>
                </a:solidFill>
              </a:defRPr>
            </a:lvl2pPr>
            <a:lvl3pPr algn="l">
              <a:defRPr sz="1800" b="1">
                <a:solidFill>
                  <a:srgbClr val="A82C3C"/>
                </a:solidFill>
              </a:defRPr>
            </a:lvl3pPr>
            <a:lvl4pPr algn="l">
              <a:defRPr sz="1800" b="1">
                <a:solidFill>
                  <a:srgbClr val="A82C3C"/>
                </a:solidFill>
              </a:defRPr>
            </a:lvl4pPr>
            <a:lvl5pPr algn="l">
              <a:defRPr sz="1800" b="1">
                <a:solidFill>
                  <a:srgbClr val="A82C3C"/>
                </a:solidFill>
              </a:defRPr>
            </a:lvl5pPr>
            <a:lvl6pPr algn="l">
              <a:defRPr sz="1800" b="1">
                <a:solidFill>
                  <a:srgbClr val="A82C3C"/>
                </a:solidFill>
              </a:defRPr>
            </a:lvl6pPr>
            <a:lvl7pPr algn="l">
              <a:defRPr sz="1800" b="1">
                <a:solidFill>
                  <a:srgbClr val="A82C3C"/>
                </a:solidFill>
              </a:defRPr>
            </a:lvl7pPr>
            <a:lvl8pPr algn="l">
              <a:defRPr sz="1800" b="1">
                <a:solidFill>
                  <a:srgbClr val="A82C3C"/>
                </a:solidFill>
              </a:defRPr>
            </a:lvl8pPr>
            <a:lvl9pPr algn="l">
              <a:defRPr sz="1800" b="1">
                <a:solidFill>
                  <a:srgbClr val="A82C3C"/>
                </a:solidFill>
              </a:defRPr>
            </a:lvl9pPr>
          </a:lstStyle>
          <a:p xmlns:a="http://schemas.openxmlformats.org/drawingml/2006/main">
            <a:pPr algn="l">
              <a:defRPr sz="1800" b="1">
                <a:solidFill>
                  <a:srgbClr val="A82C3C"/>
                </a:solidFill>
              </a:defRPr>
            </a:pPr>
            <a:r>
              <a:rPr sz="1800" b="1">
                <a:solidFill>
                  <a:srgbClr val="A82C3C"/>
                </a:solidFill>
              </a:rPr>
              <a:t>2. Define the two coefficients.</a:t>
            </a:r>
          </a:p>
        </p:txBody>
      </p:sp>
      <p:pic>
        <p:nvPicPr>
          <p:cNvPr id="10" name="">
            <a:extLst xmlns:a="http://schemas.openxmlformats.org/drawingml/2006/main">
              <a:ext uri="{FF2B5EF4-FFF2-40B4-BE49-F238E27FC236}">
                <a16:creationId xmlns:a16="http://schemas.microsoft.com/office/drawing/2014/main" id="{7E1EF9AF-7072-4845-AB06-04F7E4FE911D}"/>
              </a:ext>
            </a:extLst>
          </p:cNvPr>
          <p:cNvPicPr>
            <a:picLocks xmlns:a="http://schemas.openxmlformats.org/drawingml/2006/main" noChangeAspect="1"/>
          </p:cNvPicPr>
          <p:nvPr/>
        </p:nvPicPr>
        <p:blipFill>
          <a:blip xmlns:r="http://schemas.openxmlformats.org/officeDocument/2006/relationships" xmlns:a="http://schemas.openxmlformats.org/drawingml/2006/main" r:embed="R1dab6a198d9a4c41"/>
          <a:stretch xmlns:a="http://schemas.openxmlformats.org/drawingml/2006/main"/>
        </p:blipFill>
        <p:spPr>
          <a:xfrm xmlns:a="http://schemas.openxmlformats.org/drawingml/2006/main">
            <a:off x="6238875" y="2628900"/>
            <a:ext cx="3242310" cy="517017"/>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E4C2B865-448D-4D82-803D-6EE4BEA79208}"/>
              </a:ext>
            </a:extLst>
          </p:cNvPr>
          <p:cNvSpPr>
            <a:spLocks xmlns:a="http://schemas.openxmlformats.org/drawingml/2006/main" noGrp="1"/>
          </p:cNvSpPr>
          <p:nvPr/>
        </p:nvSpPr>
        <p:spPr>
          <a:xfrm xmlns:a="http://schemas.openxmlformats.org/drawingml/2006/main">
            <a:off x="666750" y="3952875"/>
            <a:ext cx="5143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1">
                <a:solidFill>
                  <a:srgbClr val="A82C3C"/>
                </a:solidFill>
              </a:defRPr>
            </a:defPPr>
            <a:lvl1pPr algn="l">
              <a:defRPr sz="1800" b="1">
                <a:solidFill>
                  <a:srgbClr val="A82C3C"/>
                </a:solidFill>
              </a:defRPr>
            </a:lvl1pPr>
            <a:lvl2pPr algn="l">
              <a:defRPr sz="1800" b="1">
                <a:solidFill>
                  <a:srgbClr val="A82C3C"/>
                </a:solidFill>
              </a:defRPr>
            </a:lvl2pPr>
            <a:lvl3pPr algn="l">
              <a:defRPr sz="1800" b="1">
                <a:solidFill>
                  <a:srgbClr val="A82C3C"/>
                </a:solidFill>
              </a:defRPr>
            </a:lvl3pPr>
            <a:lvl4pPr algn="l">
              <a:defRPr sz="1800" b="1">
                <a:solidFill>
                  <a:srgbClr val="A82C3C"/>
                </a:solidFill>
              </a:defRPr>
            </a:lvl4pPr>
            <a:lvl5pPr algn="l">
              <a:defRPr sz="1800" b="1">
                <a:solidFill>
                  <a:srgbClr val="A82C3C"/>
                </a:solidFill>
              </a:defRPr>
            </a:lvl5pPr>
            <a:lvl6pPr algn="l">
              <a:defRPr sz="1800" b="1">
                <a:solidFill>
                  <a:srgbClr val="A82C3C"/>
                </a:solidFill>
              </a:defRPr>
            </a:lvl6pPr>
            <a:lvl7pPr algn="l">
              <a:defRPr sz="1800" b="1">
                <a:solidFill>
                  <a:srgbClr val="A82C3C"/>
                </a:solidFill>
              </a:defRPr>
            </a:lvl7pPr>
            <a:lvl8pPr algn="l">
              <a:defRPr sz="1800" b="1">
                <a:solidFill>
                  <a:srgbClr val="A82C3C"/>
                </a:solidFill>
              </a:defRPr>
            </a:lvl8pPr>
            <a:lvl9pPr algn="l">
              <a:defRPr sz="1800" b="1">
                <a:solidFill>
                  <a:srgbClr val="A82C3C"/>
                </a:solidFill>
              </a:defRPr>
            </a:lvl9pPr>
          </a:lstStyle>
          <a:p xmlns:a="http://schemas.openxmlformats.org/drawingml/2006/main">
            <a:pPr algn="l">
              <a:defRPr sz="1800" b="1">
                <a:solidFill>
                  <a:srgbClr val="A82C3C"/>
                </a:solidFill>
              </a:defRPr>
            </a:pPr>
            <a:r>
              <a:rPr sz="1800" b="1">
                <a:solidFill>
                  <a:srgbClr val="A82C3C"/>
                </a:solidFill>
              </a:rPr>
              <a:t>3. Substitute those definitions.</a:t>
            </a:r>
          </a:p>
        </p:txBody>
      </p:sp>
      <p:pic>
        <p:nvPicPr>
          <p:cNvPr id="12" name="">
            <a:extLst xmlns:a="http://schemas.openxmlformats.org/drawingml/2006/main">
              <a:ext uri="{FF2B5EF4-FFF2-40B4-BE49-F238E27FC236}">
                <a16:creationId xmlns:a16="http://schemas.microsoft.com/office/drawing/2014/main" id="{250603FE-1C0A-4EDE-BC00-3F492A4BC2C5}"/>
              </a:ext>
            </a:extLst>
          </p:cNvPr>
          <p:cNvPicPr>
            <a:picLocks xmlns:a="http://schemas.openxmlformats.org/drawingml/2006/main" noChangeAspect="1"/>
          </p:cNvPicPr>
          <p:nvPr/>
        </p:nvPicPr>
        <p:blipFill>
          <a:blip xmlns:r="http://schemas.openxmlformats.org/officeDocument/2006/relationships" xmlns:a="http://schemas.openxmlformats.org/drawingml/2006/main" r:embed="R5d06bf2226c94e6f"/>
          <a:stretch xmlns:a="http://schemas.openxmlformats.org/drawingml/2006/main"/>
        </p:blipFill>
        <p:spPr>
          <a:xfrm xmlns:a="http://schemas.openxmlformats.org/drawingml/2006/main">
            <a:off x="6238875" y="3810000"/>
            <a:ext cx="2869883" cy="464439"/>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FBED6779-7C54-4BD7-914B-14C8997315BC}"/>
              </a:ext>
            </a:extLst>
          </p:cNvPr>
          <p:cNvPicPr>
            <a:picLocks xmlns:a="http://schemas.openxmlformats.org/drawingml/2006/main" noChangeAspect="1"/>
          </p:cNvPicPr>
          <p:nvPr/>
        </p:nvPicPr>
        <p:blipFill>
          <a:blip xmlns:r="http://schemas.openxmlformats.org/officeDocument/2006/relationships" xmlns:a="http://schemas.openxmlformats.org/drawingml/2006/main" r:embed="R1842215d5ade4f54"/>
          <a:stretch xmlns:a="http://schemas.openxmlformats.org/drawingml/2006/main"/>
        </p:blipFill>
        <p:spPr>
          <a:xfrm xmlns:a="http://schemas.openxmlformats.org/drawingml/2006/main">
            <a:off x="3524250" y="5048250"/>
            <a:ext cx="2696051" cy="631508"/>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17BECCAD-B1AE-4DA2-8C4A-EA97811A89C6}"/>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867F6B85-96EC-4CD9-ABA4-EA2B3B9D6E78}"/>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ζ is the dimensionless damping ratio. This is the same physical equation, rewritten.</a:t>
            </a:r>
          </a:p>
        </p:txBody>
      </p:sp>
    </p:spTree>
    <p:extLst>
      <p:ext uri="{BB962C8B-B14F-4D97-AF65-F5344CB8AC3E}">
        <p14:creationId xmlns:p14="http://schemas.microsoft.com/office/powerpoint/2010/main" val="161588860"/>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566928" y="164592"/>
            <a:ext cx="4114800" cy="292608"/>
          </a:xfrm>
          <a:prstGeom prst="rect">
            <a:avLst/>
          </a:prstGeom>
          <a:noFill/>
        </p:spPr>
        <p:txBody>
          <a:bodyPr wrap="square" lIns="45720" rIns="45720" tIns="27432">
            <a:spAutoFit/>
          </a:bodyPr>
          <a:lstStyle/>
          <a:p>
            <a:pPr>
              <a:spcAft>
                <a:spcPts val="600"/>
              </a:spcAft>
            </a:pPr>
            <a:r>
              <a:rPr sz="1200" b="1">
                <a:solidFill>
                  <a:srgbClr val="972D41"/>
                </a:solidFill>
                <a:latin typeface="Aptos"/>
              </a:rPr>
              <a:t>MIE 402  •  MECHANICAL ENGINEERING LAB II</a:t>
            </a:r>
          </a:p>
        </p:txBody>
      </p:sp>
      <p:sp>
        <p:nvSpPr>
          <p:cNvPr id="5" name="TextBox 4"/>
          <p:cNvSpPr txBox="1"/>
          <p:nvPr/>
        </p:nvSpPr>
        <p:spPr>
          <a:xfrm>
            <a:off x="8229600" y="164592"/>
            <a:ext cx="3291840" cy="292608"/>
          </a:xfrm>
          <a:prstGeom prst="rect">
            <a:avLst/>
          </a:prstGeom>
          <a:noFill/>
        </p:spPr>
        <p:txBody>
          <a:bodyPr wrap="square" lIns="45720" rIns="45720" tIns="27432">
            <a:spAutoFit/>
          </a:bodyPr>
          <a:lstStyle/>
          <a:p>
            <a:pPr algn="r">
              <a:spcAft>
                <a:spcPts val="600"/>
              </a:spcAft>
            </a:pPr>
            <a:r>
              <a:rPr sz="1100" b="0">
                <a:solidFill>
                  <a:srgbClr val="55646F"/>
                </a:solidFill>
                <a:latin typeface="Aptos"/>
              </a:rPr>
              <a:t>Derivation bridge</a:t>
            </a:r>
          </a:p>
        </p:txBody>
      </p:sp>
      <p:sp>
        <p:nvSpPr>
          <p:cNvPr id="6" name="TextBox 5"/>
          <p:cNvSpPr txBox="1"/>
          <p:nvPr/>
        </p:nvSpPr>
        <p:spPr>
          <a:xfrm>
            <a:off x="566928" y="621792"/>
            <a:ext cx="11064240" cy="658368"/>
          </a:xfrm>
          <a:prstGeom prst="rect">
            <a:avLst/>
          </a:prstGeom>
          <a:noFill/>
        </p:spPr>
        <p:txBody>
          <a:bodyPr wrap="square" lIns="45720" rIns="45720" tIns="27432">
            <a:spAutoFit/>
          </a:bodyPr>
          <a:lstStyle/>
          <a:p>
            <a:pPr>
              <a:spcAft>
                <a:spcPts val="600"/>
              </a:spcAft>
            </a:pPr>
            <a:r>
              <a:rPr sz="2700" b="1">
                <a:solidFill>
                  <a:srgbClr val="193143"/>
                </a:solidFill>
                <a:latin typeface="Aptos"/>
              </a:rPr>
              <a:t>The complete chain: forces → ODE → response</a:t>
            </a:r>
          </a:p>
        </p:txBody>
      </p:sp>
      <p:sp>
        <p:nvSpPr>
          <p:cNvPr id="7" name="Rectangle 6"/>
          <p:cNvSpPr/>
          <p:nvPr/>
        </p:nvSpPr>
        <p:spPr>
          <a:xfrm>
            <a:off x="566928" y="1335024"/>
            <a:ext cx="11018520" cy="10972"/>
          </a:xfrm>
          <a:prstGeom prst="rect">
            <a:avLst/>
          </a:prstGeom>
          <a:solidFill>
            <a:srgbClr val="D8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3657600" cy="731520"/>
          </a:xfrm>
          <a:prstGeom prst="rect">
            <a:avLst/>
          </a:prstGeom>
          <a:noFill/>
        </p:spPr>
        <p:txBody>
          <a:bodyPr wrap="square" lIns="45720" rIns="45720" tIns="27432">
            <a:spAutoFit/>
          </a:bodyPr>
          <a:lstStyle/>
          <a:p>
            <a:pPr>
              <a:spcAft>
                <a:spcPts val="600"/>
              </a:spcAft>
            </a:pPr>
            <a:r>
              <a:rPr sz="1900" b="1">
                <a:solidFill>
                  <a:srgbClr val="256A99"/>
                </a:solidFill>
                <a:latin typeface="Aptos"/>
              </a:rPr>
              <a:t>Forces [N]</a:t>
            </a:r>
          </a:p>
        </p:txBody>
      </p:sp>
      <p:sp>
        <p:nvSpPr>
          <p:cNvPr id="9" name="TextBox 8"/>
          <p:cNvSpPr txBox="1"/>
          <p:nvPr/>
        </p:nvSpPr>
        <p:spPr>
          <a:xfrm>
            <a:off x="4343400" y="1645920"/>
            <a:ext cx="7059168" cy="868680"/>
          </a:xfrm>
          <a:prstGeom prst="rect">
            <a:avLst/>
          </a:prstGeom>
          <a:noFill/>
        </p:spPr>
        <p:txBody>
          <a:bodyPr wrap="square" lIns="45720" rIns="45720" tIns="27432">
            <a:spAutoFit/>
          </a:bodyPr>
          <a:lstStyle/>
          <a:p>
            <a:pPr>
              <a:spcAft>
                <a:spcPts val="600"/>
              </a:spcAft>
            </a:pPr>
            <a:r>
              <a:rPr sz="2200" b="0">
                <a:solidFill>
                  <a:srgbClr val="193143"/>
                </a:solidFill>
                <a:latin typeface="Cambria Math"/>
              </a:rPr>
              <a:t>Fₛ = −(k₁ + k₂)x,    F𝒹 ≈ −cẋ</a:t>
            </a:r>
          </a:p>
        </p:txBody>
      </p:sp>
      <p:sp>
        <p:nvSpPr>
          <p:cNvPr id="10" name="TextBox 9"/>
          <p:cNvSpPr txBox="1"/>
          <p:nvPr/>
        </p:nvSpPr>
        <p:spPr>
          <a:xfrm>
            <a:off x="822960" y="2834640"/>
            <a:ext cx="3657600" cy="731520"/>
          </a:xfrm>
          <a:prstGeom prst="rect">
            <a:avLst/>
          </a:prstGeom>
          <a:noFill/>
        </p:spPr>
        <p:txBody>
          <a:bodyPr wrap="square" lIns="45720" rIns="45720" tIns="27432">
            <a:spAutoFit/>
          </a:bodyPr>
          <a:lstStyle/>
          <a:p>
            <a:pPr>
              <a:spcAft>
                <a:spcPts val="600"/>
              </a:spcAft>
            </a:pPr>
            <a:r>
              <a:rPr sz="1900" b="1">
                <a:solidFill>
                  <a:srgbClr val="256A99"/>
                </a:solidFill>
                <a:latin typeface="Aptos"/>
              </a:rPr>
              <a:t>Equation [N]</a:t>
            </a:r>
          </a:p>
        </p:txBody>
      </p:sp>
      <p:sp>
        <p:nvSpPr>
          <p:cNvPr id="11" name="TextBox 10"/>
          <p:cNvSpPr txBox="1"/>
          <p:nvPr/>
        </p:nvSpPr>
        <p:spPr>
          <a:xfrm>
            <a:off x="4343400" y="2788920"/>
            <a:ext cx="7059168" cy="868680"/>
          </a:xfrm>
          <a:prstGeom prst="rect">
            <a:avLst/>
          </a:prstGeom>
          <a:noFill/>
        </p:spPr>
        <p:txBody>
          <a:bodyPr wrap="square" lIns="45720" rIns="45720" tIns="27432">
            <a:spAutoFit/>
          </a:bodyPr>
          <a:lstStyle/>
          <a:p>
            <a:pPr>
              <a:spcAft>
                <a:spcPts val="600"/>
              </a:spcAft>
            </a:pPr>
            <a:r>
              <a:rPr sz="2200" b="0">
                <a:solidFill>
                  <a:srgbClr val="193143"/>
                </a:solidFill>
                <a:latin typeface="Cambria Math"/>
              </a:rPr>
              <a:t>mẍ + cẋ + (k₁ + k₂)x = 0</a:t>
            </a:r>
          </a:p>
        </p:txBody>
      </p:sp>
      <p:sp>
        <p:nvSpPr>
          <p:cNvPr id="12" name="TextBox 11"/>
          <p:cNvSpPr txBox="1"/>
          <p:nvPr/>
        </p:nvSpPr>
        <p:spPr>
          <a:xfrm>
            <a:off x="822960" y="3977639"/>
            <a:ext cx="3657600" cy="731520"/>
          </a:xfrm>
          <a:prstGeom prst="rect">
            <a:avLst/>
          </a:prstGeom>
          <a:noFill/>
        </p:spPr>
        <p:txBody>
          <a:bodyPr wrap="square" lIns="45720" rIns="45720" tIns="27432">
            <a:spAutoFit/>
          </a:bodyPr>
          <a:lstStyle/>
          <a:p>
            <a:pPr>
              <a:spcAft>
                <a:spcPts val="600"/>
              </a:spcAft>
            </a:pPr>
            <a:r>
              <a:rPr sz="1900" b="1">
                <a:solidFill>
                  <a:srgbClr val="256A99"/>
                </a:solidFill>
                <a:latin typeface="Aptos"/>
              </a:rPr>
              <a:t>Parameters</a:t>
            </a:r>
          </a:p>
        </p:txBody>
      </p:sp>
      <p:sp>
        <p:nvSpPr>
          <p:cNvPr id="13" name="TextBox 12"/>
          <p:cNvSpPr txBox="1"/>
          <p:nvPr/>
        </p:nvSpPr>
        <p:spPr>
          <a:xfrm>
            <a:off x="4343400" y="3931920"/>
            <a:ext cx="7059168" cy="868680"/>
          </a:xfrm>
          <a:prstGeom prst="rect">
            <a:avLst/>
          </a:prstGeom>
          <a:noFill/>
        </p:spPr>
        <p:txBody>
          <a:bodyPr wrap="square" lIns="45720" rIns="45720" tIns="27432">
            <a:spAutoFit/>
          </a:bodyPr>
          <a:lstStyle/>
          <a:p>
            <a:pPr>
              <a:spcAft>
                <a:spcPts val="600"/>
              </a:spcAft>
            </a:pPr>
            <a:r>
              <a:rPr sz="2200" b="0">
                <a:solidFill>
                  <a:srgbClr val="193143"/>
                </a:solidFill>
                <a:latin typeface="Cambria Math"/>
              </a:rPr>
              <a:t>ωₙ = √(kₑq/m),    α = c/(2m)</a:t>
            </a:r>
          </a:p>
        </p:txBody>
      </p:sp>
      <p:sp>
        <p:nvSpPr>
          <p:cNvPr id="14" name="TextBox 13"/>
          <p:cNvSpPr txBox="1"/>
          <p:nvPr/>
        </p:nvSpPr>
        <p:spPr>
          <a:xfrm>
            <a:off x="822960" y="5120640"/>
            <a:ext cx="3657600" cy="731520"/>
          </a:xfrm>
          <a:prstGeom prst="rect">
            <a:avLst/>
          </a:prstGeom>
          <a:noFill/>
        </p:spPr>
        <p:txBody>
          <a:bodyPr wrap="square" lIns="45720" rIns="45720" tIns="27432">
            <a:spAutoFit/>
          </a:bodyPr>
          <a:lstStyle/>
          <a:p>
            <a:pPr>
              <a:spcAft>
                <a:spcPts val="600"/>
              </a:spcAft>
            </a:pPr>
            <a:r>
              <a:rPr sz="1900" b="1">
                <a:solidFill>
                  <a:srgbClr val="256A99"/>
                </a:solidFill>
                <a:latin typeface="Aptos"/>
              </a:rPr>
              <a:t>Observable</a:t>
            </a:r>
          </a:p>
        </p:txBody>
      </p:sp>
      <p:sp>
        <p:nvSpPr>
          <p:cNvPr id="15" name="TextBox 14"/>
          <p:cNvSpPr txBox="1"/>
          <p:nvPr/>
        </p:nvSpPr>
        <p:spPr>
          <a:xfrm>
            <a:off x="4343400" y="5074920"/>
            <a:ext cx="7059168" cy="868680"/>
          </a:xfrm>
          <a:prstGeom prst="rect">
            <a:avLst/>
          </a:prstGeom>
          <a:noFill/>
        </p:spPr>
        <p:txBody>
          <a:bodyPr wrap="square" lIns="45720" rIns="45720" tIns="27432">
            <a:spAutoFit/>
          </a:bodyPr>
          <a:lstStyle/>
          <a:p>
            <a:pPr>
              <a:spcAft>
                <a:spcPts val="600"/>
              </a:spcAft>
            </a:pPr>
            <a:r>
              <a:rPr sz="2200" b="0">
                <a:solidFill>
                  <a:srgbClr val="193143"/>
                </a:solidFill>
                <a:latin typeface="Cambria Math"/>
              </a:rPr>
              <a:t>x(t) = Ae^(−αt) cos(ω𝒹t − φ)</a:t>
            </a:r>
          </a:p>
        </p:txBody>
      </p:sp>
      <p:sp>
        <p:nvSpPr>
          <p:cNvPr id="16" name="Rectangle 15"/>
          <p:cNvSpPr/>
          <p:nvPr/>
        </p:nvSpPr>
        <p:spPr>
          <a:xfrm>
            <a:off x="566928" y="5888736"/>
            <a:ext cx="11027664" cy="585216"/>
          </a:xfrm>
          <a:prstGeom prst="rect">
            <a:avLst/>
          </a:prstGeom>
          <a:solidFill>
            <a:srgbClr val="EF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989320"/>
            <a:ext cx="10661904" cy="365760"/>
          </a:xfrm>
          <a:prstGeom prst="rect">
            <a:avLst/>
          </a:prstGeom>
          <a:noFill/>
        </p:spPr>
        <p:txBody>
          <a:bodyPr wrap="square" lIns="45720" rIns="45720" tIns="27432">
            <a:spAutoFit/>
          </a:bodyPr>
          <a:lstStyle/>
          <a:p>
            <a:pPr>
              <a:spcAft>
                <a:spcPts val="600"/>
              </a:spcAft>
            </a:pPr>
            <a:r>
              <a:rPr sz="1600" b="1">
                <a:solidFill>
                  <a:srgbClr val="972D41"/>
                </a:solidFill>
                <a:latin typeface="Aptos"/>
              </a:rPr>
              <a:t>kₑq = k₁ + k₂; every term in Newton’s equation has units of force.</a:t>
            </a:r>
          </a:p>
        </p:txBody>
      </p:sp>
      <p:sp>
        <p:nvSpPr>
          <p:cNvPr id="18" name="TextBox 17"/>
          <p:cNvSpPr txBox="1"/>
          <p:nvPr/>
        </p:nvSpPr>
        <p:spPr>
          <a:xfrm>
            <a:off x="594360" y="6556248"/>
            <a:ext cx="6400800" cy="182880"/>
          </a:xfrm>
          <a:prstGeom prst="rect">
            <a:avLst/>
          </a:prstGeom>
          <a:noFill/>
        </p:spPr>
        <p:txBody>
          <a:bodyPr wrap="square" lIns="45720" rIns="45720" tIns="27432">
            <a:spAutoFit/>
          </a:bodyPr>
          <a:lstStyle/>
          <a:p>
            <a:pPr>
              <a:spcAft>
                <a:spcPts val="600"/>
              </a:spcAft>
            </a:pPr>
            <a:r>
              <a:rPr sz="1000" b="0">
                <a:solidFill>
                  <a:srgbClr val="55646F"/>
                </a:solidFill>
                <a:latin typeface="Aptos"/>
              </a:rPr>
              <a:t>Ehsan Roohi  •  UMass Amherst  •  Fall 2026</a:t>
            </a:r>
          </a:p>
        </p:txBody>
      </p:sp>
      <p:sp>
        <p:nvSpPr>
          <p:cNvPr id="19" name="TextBox 18"/>
          <p:cNvSpPr txBox="1"/>
          <p:nvPr/>
        </p:nvSpPr>
        <p:spPr>
          <a:xfrm>
            <a:off x="11064240" y="6556248"/>
            <a:ext cx="566928" cy="182880"/>
          </a:xfrm>
          <a:prstGeom prst="rect">
            <a:avLst/>
          </a:prstGeom>
          <a:noFill/>
        </p:spPr>
        <p:txBody>
          <a:bodyPr wrap="square" lIns="45720" rIns="45720" tIns="27432">
            <a:spAutoFit/>
          </a:bodyPr>
          <a:lstStyle/>
          <a:p>
            <a:pPr algn="r"/>
            <a:r>
              <a:rPr sz="1000">
                <a:solidFill>
                  <a:srgbClr val="5A666E"/>
                </a:solidFill>
              </a:rPr>
              <a:t>18</a:t>
            </a:r>
          </a:p>
        </p:txBody>
      </p:sp>
      <p:sp>
        <p:nvSpPr>
          <p:cNvPr id="20" name="TextBox 19"/>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20–21 min</a:t>
            </a:r>
          </a:p>
        </p:txBody>
      </p:sp>
    </p:spTree>
  </p:cSld>
  <p:clrMapOvr>
    <a:masterClrMapping/>
  </p:clrMapOvr>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061070-8756-4DD3-9960-94A652497DBD}"/>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CA362717-B578-4FA3-9EB0-39336928532F}"/>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Derivation 2 of 3</a:t>
            </a:r>
          </a:p>
        </p:txBody>
      </p:sp>
      <p:sp>
        <p:nvSpPr>
          <p:cNvPr id="3" name="">
            <a:extLst xmlns:a="http://schemas.openxmlformats.org/drawingml/2006/main">
              <a:ext uri="{FF2B5EF4-FFF2-40B4-BE49-F238E27FC236}">
                <a16:creationId xmlns:a16="http://schemas.microsoft.com/office/drawing/2014/main" id="{9131F865-F028-4A4D-B4A5-B26EF0CA0811}"/>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characteristic equation tells us the response shape</a:t>
            </a:r>
          </a:p>
        </p:txBody>
      </p:sp>
      <p:sp>
        <p:nvSpPr>
          <p:cNvPr id="4" name="">
            <a:extLst xmlns:a="http://schemas.openxmlformats.org/drawingml/2006/main">
              <a:ext uri="{FF2B5EF4-FFF2-40B4-BE49-F238E27FC236}">
                <a16:creationId xmlns:a16="http://schemas.microsoft.com/office/drawing/2014/main" id="{EA82FC42-1021-464B-86CC-D54D96E54F67}"/>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F66A9B-13DD-490E-AAC5-8024B6F6E7E2}"/>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19</a:t>
            </a:r>
          </a:p>
        </p:txBody>
      </p:sp>
      <p:sp>
        <p:nvSpPr>
          <p:cNvPr id="6" name="">
            <a:extLst xmlns:a="http://schemas.openxmlformats.org/drawingml/2006/main">
              <a:ext uri="{FF2B5EF4-FFF2-40B4-BE49-F238E27FC236}">
                <a16:creationId xmlns:a16="http://schemas.microsoft.com/office/drawing/2014/main" id="{DEC69B5C-76EF-4550-A406-82FFC5933BF9}"/>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21–23 min</a:t>
            </a:r>
          </a:p>
        </p:txBody>
      </p:sp>
      <p:sp>
        <p:nvSpPr>
          <p:cNvPr id="7" name="">
            <a:extLst xmlns:a="http://schemas.openxmlformats.org/drawingml/2006/main">
              <a:ext uri="{FF2B5EF4-FFF2-40B4-BE49-F238E27FC236}">
                <a16:creationId xmlns:a16="http://schemas.microsoft.com/office/drawing/2014/main" id="{A620A41C-AD59-4BD5-8FF6-FC994F804F5F}"/>
              </a:ext>
            </a:extLst>
          </p:cNvPr>
          <p:cNvSpPr>
            <a:spLocks xmlns:a="http://schemas.openxmlformats.org/drawingml/2006/main" noGrp="1"/>
          </p:cNvSpPr>
          <p:nvPr/>
        </p:nvSpPr>
        <p:spPr>
          <a:xfrm xmlns:a="http://schemas.openxmlformats.org/drawingml/2006/main">
            <a:off x="666750" y="1571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0">
                <a:solidFill>
                  <a:srgbClr val="142D42"/>
                </a:solidFill>
              </a:defRPr>
            </a:defPPr>
            <a:lvl1pPr algn="l">
              <a:defRPr sz="1875" b="0">
                <a:solidFill>
                  <a:srgbClr val="142D42"/>
                </a:solidFill>
              </a:defRPr>
            </a:lvl1pPr>
            <a:lvl2pPr algn="l">
              <a:defRPr sz="1875" b="0">
                <a:solidFill>
                  <a:srgbClr val="142D42"/>
                </a:solidFill>
              </a:defRPr>
            </a:lvl2pPr>
            <a:lvl3pPr algn="l">
              <a:defRPr sz="1875" b="0">
                <a:solidFill>
                  <a:srgbClr val="142D42"/>
                </a:solidFill>
              </a:defRPr>
            </a:lvl3pPr>
            <a:lvl4pPr algn="l">
              <a:defRPr sz="1875" b="0">
                <a:solidFill>
                  <a:srgbClr val="142D42"/>
                </a:solidFill>
              </a:defRPr>
            </a:lvl4pPr>
            <a:lvl5pPr algn="l">
              <a:defRPr sz="1875" b="0">
                <a:solidFill>
                  <a:srgbClr val="142D42"/>
                </a:solidFill>
              </a:defRPr>
            </a:lvl5pPr>
            <a:lvl6pPr algn="l">
              <a:defRPr sz="1875" b="0">
                <a:solidFill>
                  <a:srgbClr val="142D42"/>
                </a:solidFill>
              </a:defRPr>
            </a:lvl6pPr>
            <a:lvl7pPr algn="l">
              <a:defRPr sz="1875" b="0">
                <a:solidFill>
                  <a:srgbClr val="142D42"/>
                </a:solidFill>
              </a:defRPr>
            </a:lvl7pPr>
            <a:lvl8pPr algn="l">
              <a:defRPr sz="1875" b="0">
                <a:solidFill>
                  <a:srgbClr val="142D42"/>
                </a:solidFill>
              </a:defRPr>
            </a:lvl8pPr>
            <a:lvl9pPr algn="l">
              <a:defRPr sz="1875" b="0">
                <a:solidFill>
                  <a:srgbClr val="142D42"/>
                </a:solidFill>
              </a:defRPr>
            </a:lvl9pPr>
          </a:lstStyle>
          <a:p xmlns:a="http://schemas.openxmlformats.org/drawingml/2006/main">
            <a:pPr algn="l">
              <a:defRPr sz="1875" b="0">
                <a:solidFill>
                  <a:srgbClr val="142D42"/>
                </a:solidFill>
              </a:defRPr>
            </a:pPr>
            <a:r>
              <a:rPr sz="1875" b="0">
                <a:solidFill>
                  <a:srgbClr val="142D42"/>
                </a:solidFill>
              </a:rPr>
              <a:t>Try an exponential motion. The unknown root s has units of inverse seconds [1/s].</a:t>
            </a:r>
          </a:p>
        </p:txBody>
      </p:sp>
      <p:pic>
        <p:nvPicPr>
          <p:cNvPr id="8" name="">
            <a:extLst xmlns:a="http://schemas.openxmlformats.org/drawingml/2006/main">
              <a:ext uri="{FF2B5EF4-FFF2-40B4-BE49-F238E27FC236}">
                <a16:creationId xmlns:a16="http://schemas.microsoft.com/office/drawing/2014/main" id="{042F0EA7-D361-45CA-A687-1811B3DBC6EE}"/>
              </a:ext>
            </a:extLst>
          </p:cNvPr>
          <p:cNvPicPr>
            <a:picLocks xmlns:a="http://schemas.openxmlformats.org/drawingml/2006/main" noChangeAspect="1"/>
          </p:cNvPicPr>
          <p:nvPr/>
        </p:nvPicPr>
        <p:blipFill>
          <a:blip xmlns:r="http://schemas.openxmlformats.org/officeDocument/2006/relationships" xmlns:a="http://schemas.openxmlformats.org/drawingml/2006/main" r:embed="R8266910dcf384614"/>
          <a:stretch xmlns:a="http://schemas.openxmlformats.org/drawingml/2006/main"/>
        </p:blipFill>
        <p:spPr>
          <a:xfrm xmlns:a="http://schemas.openxmlformats.org/drawingml/2006/main">
            <a:off x="1714500" y="2333625"/>
            <a:ext cx="5265801" cy="480917"/>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C5F635D2-9DDC-4761-8E44-CF5BFD3FB6CA}"/>
              </a:ext>
            </a:extLst>
          </p:cNvPr>
          <p:cNvPicPr>
            <a:picLocks xmlns:a="http://schemas.openxmlformats.org/drawingml/2006/main" noChangeAspect="1"/>
          </p:cNvPicPr>
          <p:nvPr/>
        </p:nvPicPr>
        <p:blipFill>
          <a:blip xmlns:r="http://schemas.openxmlformats.org/officeDocument/2006/relationships" xmlns:a="http://schemas.openxmlformats.org/drawingml/2006/main" r:embed="Ra25f1cf96c954c65"/>
          <a:stretch xmlns:a="http://schemas.openxmlformats.org/drawingml/2006/main"/>
        </p:blipFill>
        <p:spPr>
          <a:xfrm xmlns:a="http://schemas.openxmlformats.org/drawingml/2006/main">
            <a:off x="3048000" y="3286125"/>
            <a:ext cx="3147822" cy="514922"/>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B0FE2A1B-7726-415D-97C4-2A8DFC042C93}"/>
              </a:ext>
            </a:extLst>
          </p:cNvPr>
          <p:cNvPicPr>
            <a:picLocks xmlns:a="http://schemas.openxmlformats.org/drawingml/2006/main" noChangeAspect="1"/>
          </p:cNvPicPr>
          <p:nvPr/>
        </p:nvPicPr>
        <p:blipFill>
          <a:blip xmlns:r="http://schemas.openxmlformats.org/officeDocument/2006/relationships" xmlns:a="http://schemas.openxmlformats.org/drawingml/2006/main" r:embed="Rc950c7f2cd4e4b8d"/>
          <a:stretch xmlns:a="http://schemas.openxmlformats.org/drawingml/2006/main"/>
        </p:blipFill>
        <p:spPr>
          <a:xfrm xmlns:a="http://schemas.openxmlformats.org/drawingml/2006/main">
            <a:off x="2571750" y="4286250"/>
            <a:ext cx="3628739" cy="621792"/>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EC3CD69-CED9-4EE8-9946-07124DCB1365}"/>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C4FC694C-F459-4E73-A339-7B1F3F0417F4}"/>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The root’s real part controls decay. Its imaginary part controls oscillation.</a:t>
            </a:r>
          </a:p>
        </p:txBody>
      </p:sp>
    </p:spTree>
    <p:extLst>
      <p:ext uri="{BB962C8B-B14F-4D97-AF65-F5344CB8AC3E}">
        <p14:creationId xmlns:p14="http://schemas.microsoft.com/office/powerpoint/2010/main" val="152295253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B814B3-F14D-4418-A799-0B625DC31DC7}"/>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917E115A-FE81-4FAA-8AC9-DF6C9BD96F36}"/>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Derivation 3 of 3</a:t>
            </a:r>
          </a:p>
        </p:txBody>
      </p:sp>
      <p:sp>
        <p:nvSpPr>
          <p:cNvPr id="3" name="">
            <a:extLst xmlns:a="http://schemas.openxmlformats.org/drawingml/2006/main">
              <a:ext uri="{FF2B5EF4-FFF2-40B4-BE49-F238E27FC236}">
                <a16:creationId xmlns:a16="http://schemas.microsoft.com/office/drawing/2014/main" id="{F33F7D78-2B9D-413D-9E46-E3731D99FC4D}"/>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decaying sinusoid is the solution of those roots</a:t>
            </a:r>
          </a:p>
        </p:txBody>
      </p:sp>
      <p:sp>
        <p:nvSpPr>
          <p:cNvPr id="4" name="">
            <a:extLst xmlns:a="http://schemas.openxmlformats.org/drawingml/2006/main">
              <a:ext uri="{FF2B5EF4-FFF2-40B4-BE49-F238E27FC236}">
                <a16:creationId xmlns:a16="http://schemas.microsoft.com/office/drawing/2014/main" id="{7DCB3A62-A589-45AF-A22F-7BB10A9B5183}"/>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51168F-ECE0-493D-98E5-EBCF09DD7773}"/>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20</a:t>
            </a:r>
          </a:p>
        </p:txBody>
      </p:sp>
      <p:sp>
        <p:nvSpPr>
          <p:cNvPr id="6" name="">
            <a:extLst xmlns:a="http://schemas.openxmlformats.org/drawingml/2006/main">
              <a:ext uri="{FF2B5EF4-FFF2-40B4-BE49-F238E27FC236}">
                <a16:creationId xmlns:a16="http://schemas.microsoft.com/office/drawing/2014/main" id="{447933EC-EA49-40D9-8D02-E2530DB31DB5}"/>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23–24 min</a:t>
            </a:r>
          </a:p>
        </p:txBody>
      </p:sp>
      <p:pic>
        <p:nvPicPr>
          <p:cNvPr id="7" name="">
            <a:extLst xmlns:a="http://schemas.openxmlformats.org/drawingml/2006/main">
              <a:ext uri="{FF2B5EF4-FFF2-40B4-BE49-F238E27FC236}">
                <a16:creationId xmlns:a16="http://schemas.microsoft.com/office/drawing/2014/main" id="{4BE81331-BD2A-4764-AA27-6446C312792F}"/>
              </a:ext>
            </a:extLst>
          </p:cNvPr>
          <p:cNvPicPr>
            <a:picLocks xmlns:a="http://schemas.openxmlformats.org/drawingml/2006/main" noChangeAspect="1"/>
          </p:cNvPicPr>
          <p:nvPr/>
        </p:nvPicPr>
        <p:blipFill>
          <a:blip xmlns:r="http://schemas.openxmlformats.org/officeDocument/2006/relationships" xmlns:a="http://schemas.openxmlformats.org/drawingml/2006/main" r:embed="R9338649955aa4eed"/>
          <a:stretch xmlns:a="http://schemas.openxmlformats.org/drawingml/2006/main"/>
        </p:blipFill>
        <p:spPr>
          <a:xfrm xmlns:a="http://schemas.openxmlformats.org/drawingml/2006/main">
            <a:off x="762000" y="1571625"/>
            <a:ext cx="7115556" cy="560832"/>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99E31E5-B2E9-4F5F-A6FE-BE19E7FC55FF}"/>
              </a:ext>
            </a:extLst>
          </p:cNvPr>
          <p:cNvPicPr>
            <a:picLocks xmlns:a="http://schemas.openxmlformats.org/drawingml/2006/main" noChangeAspect="1"/>
          </p:cNvPicPr>
          <p:nvPr/>
        </p:nvPicPr>
        <p:blipFill>
          <a:blip xmlns:r="http://schemas.openxmlformats.org/officeDocument/2006/relationships" xmlns:a="http://schemas.openxmlformats.org/drawingml/2006/main" r:embed="Rc0fa930114db4c87"/>
          <a:stretch xmlns:a="http://schemas.openxmlformats.org/drawingml/2006/main"/>
        </p:blipFill>
        <p:spPr>
          <a:xfrm xmlns:a="http://schemas.openxmlformats.org/drawingml/2006/main">
            <a:off x="1143000" y="2762250"/>
            <a:ext cx="5090065" cy="4476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EA3B474C-EBF9-4AEF-B81B-32E036F0DC98}"/>
              </a:ext>
            </a:extLst>
          </p:cNvPr>
          <p:cNvSpPr>
            <a:spLocks xmlns:a="http://schemas.openxmlformats.org/drawingml/2006/main" noGrp="1"/>
          </p:cNvSpPr>
          <p:nvPr/>
        </p:nvSpPr>
        <p:spPr>
          <a:xfrm xmlns:a="http://schemas.openxmlformats.org/drawingml/2006/main">
            <a:off x="762000" y="39052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Equivalently, combine C and D into an amplitude A and phase φ:</a:t>
            </a:r>
          </a:p>
        </p:txBody>
      </p:sp>
      <p:pic>
        <p:nvPicPr>
          <p:cNvPr id="10" name="">
            <a:extLst xmlns:a="http://schemas.openxmlformats.org/drawingml/2006/main">
              <a:ext uri="{FF2B5EF4-FFF2-40B4-BE49-F238E27FC236}">
                <a16:creationId xmlns:a16="http://schemas.microsoft.com/office/drawing/2014/main" id="{98F67D79-2366-491A-9D79-6B6F288F05F9}"/>
              </a:ext>
            </a:extLst>
          </p:cNvPr>
          <p:cNvPicPr>
            <a:picLocks xmlns:a="http://schemas.openxmlformats.org/drawingml/2006/main" noChangeAspect="1"/>
          </p:cNvPicPr>
          <p:nvPr/>
        </p:nvPicPr>
        <p:blipFill>
          <a:blip xmlns:r="http://schemas.openxmlformats.org/officeDocument/2006/relationships" xmlns:a="http://schemas.openxmlformats.org/drawingml/2006/main" r:embed="R8eec404fab974a75"/>
          <a:stretch xmlns:a="http://schemas.openxmlformats.org/drawingml/2006/main"/>
        </p:blipFill>
        <p:spPr>
          <a:xfrm xmlns:a="http://schemas.openxmlformats.org/drawingml/2006/main">
            <a:off x="2190750" y="4714875"/>
            <a:ext cx="4012502" cy="4857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E20CF03-3EC9-48A5-AB13-3C61CF6ECCAC}"/>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196610CF-0A02-4248-9B27-A5AD4CED5CD5}"/>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Damped angular frequency: radians per second. C, D and A have units of length. i² = −1.</a:t>
            </a:r>
          </a:p>
        </p:txBody>
      </p:sp>
    </p:spTree>
    <p:extLst>
      <p:ext uri="{BB962C8B-B14F-4D97-AF65-F5344CB8AC3E}">
        <p14:creationId xmlns:p14="http://schemas.microsoft.com/office/powerpoint/2010/main" val="113259190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1956F83-C2D6-4111-9952-BA20EA609E49}"/>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CB49AD30-2980-4E10-B2EE-231C1F2B7B7C}"/>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Frequency distinction</a:t>
            </a:r>
          </a:p>
        </p:txBody>
      </p:sp>
      <p:sp>
        <p:nvSpPr>
          <p:cNvPr id="3" name="">
            <a:extLst xmlns:a="http://schemas.openxmlformats.org/drawingml/2006/main">
              <a:ext uri="{FF2B5EF4-FFF2-40B4-BE49-F238E27FC236}">
                <a16:creationId xmlns:a16="http://schemas.microsoft.com/office/drawing/2014/main" id="{C2F79769-6942-4787-9993-0DB4A3E6E3D0}"/>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Does damping change the natural frequency?</a:t>
            </a:r>
          </a:p>
        </p:txBody>
      </p:sp>
      <p:sp>
        <p:nvSpPr>
          <p:cNvPr id="4" name="">
            <a:extLst xmlns:a="http://schemas.openxmlformats.org/drawingml/2006/main">
              <a:ext uri="{FF2B5EF4-FFF2-40B4-BE49-F238E27FC236}">
                <a16:creationId xmlns:a16="http://schemas.microsoft.com/office/drawing/2014/main" id="{B9FA8B2F-C76D-44E4-B611-C0D3864AD3E3}"/>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238B7E5-D763-4FC2-A37E-E4E50AC2B6F9}"/>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21</a:t>
            </a:r>
          </a:p>
        </p:txBody>
      </p:sp>
      <p:sp>
        <p:nvSpPr>
          <p:cNvPr id="6" name="">
            <a:extLst xmlns:a="http://schemas.openxmlformats.org/drawingml/2006/main">
              <a:ext uri="{FF2B5EF4-FFF2-40B4-BE49-F238E27FC236}">
                <a16:creationId xmlns:a16="http://schemas.microsoft.com/office/drawing/2014/main" id="{7CEC7834-243A-4797-BF2A-4981B5BAFC82}"/>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24–25 min</a:t>
            </a:r>
          </a:p>
        </p:txBody>
      </p:sp>
      <p:pic>
        <p:nvPicPr>
          <p:cNvPr id="7" name="">
            <a:extLst xmlns:a="http://schemas.openxmlformats.org/drawingml/2006/main">
              <a:ext uri="{FF2B5EF4-FFF2-40B4-BE49-F238E27FC236}">
                <a16:creationId xmlns:a16="http://schemas.microsoft.com/office/drawing/2014/main" id="{4D56D90A-D31E-41EA-9729-4EB258A6F3B4}"/>
              </a:ext>
            </a:extLst>
          </p:cNvPr>
          <p:cNvPicPr>
            <a:picLocks xmlns:a="http://schemas.openxmlformats.org/drawingml/2006/main" noChangeAspect="1"/>
          </p:cNvPicPr>
          <p:nvPr/>
        </p:nvPicPr>
        <p:blipFill>
          <a:blip xmlns:r="http://schemas.openxmlformats.org/officeDocument/2006/relationships" xmlns:a="http://schemas.openxmlformats.org/drawingml/2006/main" r:embed="R8b079cb987c747e7"/>
          <a:stretch xmlns:a="http://schemas.openxmlformats.org/drawingml/2006/main"/>
        </p:blipFill>
        <p:spPr>
          <a:xfrm xmlns:a="http://schemas.openxmlformats.org/drawingml/2006/main">
            <a:off x="1666875" y="1571625"/>
            <a:ext cx="5183219" cy="69465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DAAE226-046F-4CFE-897E-5C2A9DAA476F}"/>
              </a:ext>
            </a:extLst>
          </p:cNvPr>
          <p:cNvSpPr>
            <a:spLocks xmlns:a="http://schemas.openxmlformats.org/drawingml/2006/main" noGrp="1"/>
          </p:cNvSpPr>
          <p:nvPr/>
        </p:nvSpPr>
        <p:spPr>
          <a:xfrm xmlns:a="http://schemas.openxmlformats.org/drawingml/2006/main">
            <a:off x="714375" y="261937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950" b="1">
                <a:solidFill>
                  <a:srgbClr val="142D42"/>
                </a:solidFill>
              </a:defRPr>
            </a:defPPr>
            <a:lvl1pPr algn="l">
              <a:defRPr sz="1950" b="1">
                <a:solidFill>
                  <a:srgbClr val="142D42"/>
                </a:solidFill>
              </a:defRPr>
            </a:lvl1pPr>
            <a:lvl2pPr algn="l">
              <a:defRPr sz="1950" b="1">
                <a:solidFill>
                  <a:srgbClr val="142D42"/>
                </a:solidFill>
              </a:defRPr>
            </a:lvl2pPr>
            <a:lvl3pPr algn="l">
              <a:defRPr sz="1950" b="1">
                <a:solidFill>
                  <a:srgbClr val="142D42"/>
                </a:solidFill>
              </a:defRPr>
            </a:lvl3pPr>
            <a:lvl4pPr algn="l">
              <a:defRPr sz="1950" b="1">
                <a:solidFill>
                  <a:srgbClr val="142D42"/>
                </a:solidFill>
              </a:defRPr>
            </a:lvl4pPr>
            <a:lvl5pPr algn="l">
              <a:defRPr sz="1950" b="1">
                <a:solidFill>
                  <a:srgbClr val="142D42"/>
                </a:solidFill>
              </a:defRPr>
            </a:lvl5pPr>
            <a:lvl6pPr algn="l">
              <a:defRPr sz="1950" b="1">
                <a:solidFill>
                  <a:srgbClr val="142D42"/>
                </a:solidFill>
              </a:defRPr>
            </a:lvl6pPr>
            <a:lvl7pPr algn="l">
              <a:defRPr sz="1950" b="1">
                <a:solidFill>
                  <a:srgbClr val="142D42"/>
                </a:solidFill>
              </a:defRPr>
            </a:lvl7pPr>
            <a:lvl8pPr algn="l">
              <a:defRPr sz="1950" b="1">
                <a:solidFill>
                  <a:srgbClr val="142D42"/>
                </a:solidFill>
              </a:defRPr>
            </a:lvl8pPr>
            <a:lvl9pPr algn="l">
              <a:defRPr sz="1950" b="1">
                <a:solidFill>
                  <a:srgbClr val="142D42"/>
                </a:solidFill>
              </a:defRPr>
            </a:lvl9pPr>
          </a:lstStyle>
          <a:p xmlns:a="http://schemas.openxmlformats.org/drawingml/2006/main">
            <a:pPr algn="l">
              <a:defRPr sz="1950" b="1">
                <a:solidFill>
                  <a:srgbClr val="142D42"/>
                </a:solidFill>
              </a:defRPr>
            </a:pPr>
            <a:r>
              <a:rPr sz="1950" b="1">
                <a:solidFill>
                  <a:srgbClr val="142D42"/>
                </a:solidFill>
              </a:rPr>
              <a:t>For fixed mass and stiffness:</a:t>
            </a:r>
          </a:p>
        </p:txBody>
      </p:sp>
      <p:sp>
        <p:nvSpPr>
          <p:cNvPr id="9" name="">
            <a:extLst xmlns:a="http://schemas.openxmlformats.org/drawingml/2006/main">
              <a:ext uri="{FF2B5EF4-FFF2-40B4-BE49-F238E27FC236}">
                <a16:creationId xmlns:a16="http://schemas.microsoft.com/office/drawing/2014/main" id="{3818D799-8CCA-4539-8BFF-333B37C9570F}"/>
              </a:ext>
            </a:extLst>
          </p:cNvPr>
          <p:cNvSpPr>
            <a:spLocks xmlns:a="http://schemas.openxmlformats.org/drawingml/2006/main" noGrp="1"/>
          </p:cNvSpPr>
          <p:nvPr/>
        </p:nvSpPr>
        <p:spPr>
          <a:xfrm xmlns:a="http://schemas.openxmlformats.org/drawingml/2006/main">
            <a:off x="714375" y="3190875"/>
            <a:ext cx="4333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The undamped natural frequency stays fixed.</a:t>
            </a:r>
          </a:p>
        </p:txBody>
      </p:sp>
      <p:sp>
        <p:nvSpPr>
          <p:cNvPr id="10" name="">
            <a:extLst xmlns:a="http://schemas.openxmlformats.org/drawingml/2006/main">
              <a:ext uri="{FF2B5EF4-FFF2-40B4-BE49-F238E27FC236}">
                <a16:creationId xmlns:a16="http://schemas.microsoft.com/office/drawing/2014/main" id="{1F28B3DC-15DF-467E-87A1-ECF9743042EA}"/>
              </a:ext>
            </a:extLst>
          </p:cNvPr>
          <p:cNvSpPr>
            <a:spLocks xmlns:a="http://schemas.openxmlformats.org/drawingml/2006/main" noGrp="1"/>
          </p:cNvSpPr>
          <p:nvPr/>
        </p:nvSpPr>
        <p:spPr>
          <a:xfrm xmlns:a="http://schemas.openxmlformats.org/drawingml/2006/main">
            <a:off x="714375" y="3886200"/>
            <a:ext cx="4333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The damped frequency falls as damping increases.</a:t>
            </a:r>
          </a:p>
        </p:txBody>
      </p:sp>
      <p:sp>
        <p:nvSpPr>
          <p:cNvPr id="11" name="">
            <a:extLst xmlns:a="http://schemas.openxmlformats.org/drawingml/2006/main">
              <a:ext uri="{FF2B5EF4-FFF2-40B4-BE49-F238E27FC236}">
                <a16:creationId xmlns:a16="http://schemas.microsoft.com/office/drawing/2014/main" id="{C9DD700A-7C63-45E0-84AA-520649FD37E0}"/>
              </a:ext>
            </a:extLst>
          </p:cNvPr>
          <p:cNvSpPr>
            <a:spLocks xmlns:a="http://schemas.openxmlformats.org/drawingml/2006/main" noGrp="1"/>
          </p:cNvSpPr>
          <p:nvPr/>
        </p:nvSpPr>
        <p:spPr>
          <a:xfrm xmlns:a="http://schemas.openxmlformats.org/drawingml/2006/main">
            <a:off x="714375" y="4581525"/>
            <a:ext cx="4333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At ζ = 0.10, the frequency drop is only 0.5%.</a:t>
            </a:r>
          </a:p>
        </p:txBody>
      </p:sp>
      <p:pic>
        <p:nvPicPr>
          <p:cNvPr id="12" name="">
            <a:extLst xmlns:a="http://schemas.openxmlformats.org/drawingml/2006/main">
              <a:ext uri="{FF2B5EF4-FFF2-40B4-BE49-F238E27FC236}">
                <a16:creationId xmlns:a16="http://schemas.microsoft.com/office/drawing/2014/main" id="{6828A9C5-66DF-41A7-9FAE-8D599DD62D78}"/>
              </a:ext>
            </a:extLst>
          </p:cNvPr>
          <p:cNvPicPr>
            <a:picLocks xmlns:a="http://schemas.openxmlformats.org/drawingml/2006/main" noChangeAspect="1"/>
          </p:cNvPicPr>
          <p:nvPr/>
        </p:nvPicPr>
        <p:blipFill>
          <a:blip xmlns:r="http://schemas.openxmlformats.org/officeDocument/2006/relationships" xmlns:a="http://schemas.openxmlformats.org/drawingml/2006/main" r:embed="R697ec4a389e14ae1"/>
          <a:stretch xmlns:a="http://schemas.openxmlformats.org/drawingml/2006/main"/>
        </p:blipFill>
        <p:spPr>
          <a:xfrm xmlns:a="http://schemas.openxmlformats.org/drawingml/2006/main">
            <a:off x="5476875" y="2858582"/>
            <a:ext cx="6048375" cy="2474335"/>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3BA88BC-51D1-497F-B8F7-D71796217A44}"/>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D78B1E45-8C84-4F44-B3A3-4CB29E857F1D}"/>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Brake magnets add mass too. Measure that mass before attributing every frequency shift to damping.</a:t>
            </a:r>
          </a:p>
        </p:txBody>
      </p:sp>
    </p:spTree>
    <p:extLst>
      <p:ext uri="{BB962C8B-B14F-4D97-AF65-F5344CB8AC3E}">
        <p14:creationId xmlns:p14="http://schemas.microsoft.com/office/powerpoint/2010/main" val="560494448"/>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566928" y="164592"/>
            <a:ext cx="4114800" cy="292608"/>
          </a:xfrm>
          <a:prstGeom prst="rect">
            <a:avLst/>
          </a:prstGeom>
          <a:noFill/>
        </p:spPr>
        <p:txBody>
          <a:bodyPr wrap="square" lIns="45720" rIns="45720" tIns="27432">
            <a:spAutoFit/>
          </a:bodyPr>
          <a:lstStyle/>
          <a:p>
            <a:pPr>
              <a:spcAft>
                <a:spcPts val="600"/>
              </a:spcAft>
            </a:pPr>
            <a:r>
              <a:rPr sz="1200" b="1">
                <a:solidFill>
                  <a:srgbClr val="972D41"/>
                </a:solidFill>
                <a:latin typeface="Aptos"/>
              </a:rPr>
              <a:t>MIE 402  •  MECHANICAL ENGINEERING LAB II</a:t>
            </a:r>
          </a:p>
        </p:txBody>
      </p:sp>
      <p:sp>
        <p:nvSpPr>
          <p:cNvPr id="5" name="TextBox 4"/>
          <p:cNvSpPr txBox="1"/>
          <p:nvPr/>
        </p:nvSpPr>
        <p:spPr>
          <a:xfrm>
            <a:off x="8229600" y="164592"/>
            <a:ext cx="3291840" cy="292608"/>
          </a:xfrm>
          <a:prstGeom prst="rect">
            <a:avLst/>
          </a:prstGeom>
          <a:noFill/>
        </p:spPr>
        <p:txBody>
          <a:bodyPr wrap="square" lIns="45720" rIns="45720" tIns="27432">
            <a:spAutoFit/>
          </a:bodyPr>
          <a:lstStyle/>
          <a:p>
            <a:pPr algn="r">
              <a:spcAft>
                <a:spcPts val="600"/>
              </a:spcAft>
            </a:pPr>
            <a:r>
              <a:rPr sz="1100" b="0">
                <a:solidFill>
                  <a:srgbClr val="55646F"/>
                </a:solidFill>
                <a:latin typeface="Aptos"/>
              </a:rPr>
              <a:t>Interpretation bridge</a:t>
            </a:r>
          </a:p>
        </p:txBody>
      </p:sp>
      <p:sp>
        <p:nvSpPr>
          <p:cNvPr id="6" name="TextBox 5"/>
          <p:cNvSpPr txBox="1"/>
          <p:nvPr/>
        </p:nvSpPr>
        <p:spPr>
          <a:xfrm>
            <a:off x="566928" y="621792"/>
            <a:ext cx="11064240" cy="658368"/>
          </a:xfrm>
          <a:prstGeom prst="rect">
            <a:avLst/>
          </a:prstGeom>
          <a:noFill/>
        </p:spPr>
        <p:txBody>
          <a:bodyPr wrap="square" lIns="45720" rIns="45720" tIns="27432">
            <a:spAutoFit/>
          </a:bodyPr>
          <a:lstStyle/>
          <a:p>
            <a:pPr>
              <a:spcAft>
                <a:spcPts val="600"/>
              </a:spcAft>
            </a:pPr>
            <a:r>
              <a:rPr sz="2700" b="1">
                <a:solidFill>
                  <a:srgbClr val="193143"/>
                </a:solidFill>
                <a:latin typeface="Aptos"/>
              </a:rPr>
              <a:t>Four frequency/decay quantities are not interchangeable</a:t>
            </a:r>
          </a:p>
        </p:txBody>
      </p:sp>
      <p:sp>
        <p:nvSpPr>
          <p:cNvPr id="7" name="Rectangle 6"/>
          <p:cNvSpPr/>
          <p:nvPr/>
        </p:nvSpPr>
        <p:spPr>
          <a:xfrm>
            <a:off x="566928" y="1335024"/>
            <a:ext cx="11018520" cy="10972"/>
          </a:xfrm>
          <a:prstGeom prst="rect">
            <a:avLst/>
          </a:prstGeom>
          <a:solidFill>
            <a:srgbClr val="D8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00784"/>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ωₙ [rad/s]</a:t>
            </a:r>
          </a:p>
        </p:txBody>
      </p:sp>
      <p:sp>
        <p:nvSpPr>
          <p:cNvPr id="9" name="TextBox 8"/>
          <p:cNvSpPr txBox="1"/>
          <p:nvPr/>
        </p:nvSpPr>
        <p:spPr>
          <a:xfrm>
            <a:off x="3977639" y="1700784"/>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Undamped natural angular frequency: √(kₑq/m).</a:t>
            </a:r>
          </a:p>
        </p:txBody>
      </p:sp>
      <p:sp>
        <p:nvSpPr>
          <p:cNvPr id="10" name="TextBox 9"/>
          <p:cNvSpPr txBox="1"/>
          <p:nvPr/>
        </p:nvSpPr>
        <p:spPr>
          <a:xfrm>
            <a:off x="822960" y="2642616"/>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ω𝒹 [rad/s]</a:t>
            </a:r>
          </a:p>
        </p:txBody>
      </p:sp>
      <p:sp>
        <p:nvSpPr>
          <p:cNvPr id="11" name="TextBox 10"/>
          <p:cNvSpPr txBox="1"/>
          <p:nvPr/>
        </p:nvSpPr>
        <p:spPr>
          <a:xfrm>
            <a:off x="3977639" y="2642616"/>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Oscillation angular frequency: √(ωₙ² − α²), for 0 &lt; ζ &lt; 1.</a:t>
            </a:r>
          </a:p>
        </p:txBody>
      </p:sp>
      <p:sp>
        <p:nvSpPr>
          <p:cNvPr id="12" name="TextBox 11"/>
          <p:cNvSpPr txBox="1"/>
          <p:nvPr/>
        </p:nvSpPr>
        <p:spPr>
          <a:xfrm>
            <a:off x="822960" y="3584448"/>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α [1/s]</a:t>
            </a:r>
          </a:p>
        </p:txBody>
      </p:sp>
      <p:sp>
        <p:nvSpPr>
          <p:cNvPr id="13" name="TextBox 12"/>
          <p:cNvSpPr txBox="1"/>
          <p:nvPr/>
        </p:nvSpPr>
        <p:spPr>
          <a:xfrm>
            <a:off x="3977639" y="3584448"/>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Exponential decay rate: c/(2m), not an oscillation frequency.</a:t>
            </a:r>
          </a:p>
        </p:txBody>
      </p:sp>
      <p:sp>
        <p:nvSpPr>
          <p:cNvPr id="14" name="TextBox 13"/>
          <p:cNvSpPr txBox="1"/>
          <p:nvPr/>
        </p:nvSpPr>
        <p:spPr>
          <a:xfrm>
            <a:off x="822960" y="4526280"/>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fFFT [Hz]</a:t>
            </a:r>
          </a:p>
        </p:txBody>
      </p:sp>
      <p:sp>
        <p:nvSpPr>
          <p:cNvPr id="15" name="TextBox 14"/>
          <p:cNvSpPr txBox="1"/>
          <p:nvPr/>
        </p:nvSpPr>
        <p:spPr>
          <a:xfrm>
            <a:off x="3977639" y="4526280"/>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Location of a discrete spectrum peak: an approximate check of f𝒹 = ω𝒹/(2π).</a:t>
            </a:r>
          </a:p>
        </p:txBody>
      </p:sp>
      <p:sp>
        <p:nvSpPr>
          <p:cNvPr id="16" name="Rectangle 15"/>
          <p:cNvSpPr/>
          <p:nvPr/>
        </p:nvSpPr>
        <p:spPr>
          <a:xfrm>
            <a:off x="566928" y="5888736"/>
            <a:ext cx="11027664" cy="585216"/>
          </a:xfrm>
          <a:prstGeom prst="rect">
            <a:avLst/>
          </a:prstGeom>
          <a:solidFill>
            <a:srgbClr val="EF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989320"/>
            <a:ext cx="10661904" cy="365760"/>
          </a:xfrm>
          <a:prstGeom prst="rect">
            <a:avLst/>
          </a:prstGeom>
          <a:noFill/>
        </p:spPr>
        <p:txBody>
          <a:bodyPr wrap="square" lIns="45720" rIns="45720" tIns="27432">
            <a:spAutoFit/>
          </a:bodyPr>
          <a:lstStyle/>
          <a:p>
            <a:pPr>
              <a:spcAft>
                <a:spcPts val="600"/>
              </a:spcAft>
            </a:pPr>
            <a:r>
              <a:rPr sz="1600" b="1">
                <a:solidFill>
                  <a:srgbClr val="972D41"/>
                </a:solidFill>
                <a:latin typeface="Aptos"/>
              </a:rPr>
              <a:t>An FFT peak does not independently determine damping or stiffness.</a:t>
            </a:r>
          </a:p>
        </p:txBody>
      </p:sp>
      <p:sp>
        <p:nvSpPr>
          <p:cNvPr id="18" name="TextBox 17"/>
          <p:cNvSpPr txBox="1"/>
          <p:nvPr/>
        </p:nvSpPr>
        <p:spPr>
          <a:xfrm>
            <a:off x="594360" y="6556248"/>
            <a:ext cx="6400800" cy="182880"/>
          </a:xfrm>
          <a:prstGeom prst="rect">
            <a:avLst/>
          </a:prstGeom>
          <a:noFill/>
        </p:spPr>
        <p:txBody>
          <a:bodyPr wrap="square" lIns="45720" rIns="45720" tIns="27432">
            <a:spAutoFit/>
          </a:bodyPr>
          <a:lstStyle/>
          <a:p>
            <a:pPr>
              <a:spcAft>
                <a:spcPts val="600"/>
              </a:spcAft>
            </a:pPr>
            <a:r>
              <a:rPr sz="1000" b="0">
                <a:solidFill>
                  <a:srgbClr val="55646F"/>
                </a:solidFill>
                <a:latin typeface="Aptos"/>
              </a:rPr>
              <a:t>Ehsan Roohi  •  UMass Amherst  •  Fall 2026</a:t>
            </a:r>
          </a:p>
        </p:txBody>
      </p:sp>
      <p:sp>
        <p:nvSpPr>
          <p:cNvPr id="19" name="TextBox 18"/>
          <p:cNvSpPr txBox="1"/>
          <p:nvPr/>
        </p:nvSpPr>
        <p:spPr>
          <a:xfrm>
            <a:off x="11064240" y="6556248"/>
            <a:ext cx="566928" cy="182880"/>
          </a:xfrm>
          <a:prstGeom prst="rect">
            <a:avLst/>
          </a:prstGeom>
          <a:noFill/>
        </p:spPr>
        <p:txBody>
          <a:bodyPr wrap="square" lIns="45720" rIns="45720" tIns="27432">
            <a:spAutoFit/>
          </a:bodyPr>
          <a:lstStyle/>
          <a:p>
            <a:pPr algn="r"/>
            <a:r>
              <a:rPr sz="1000">
                <a:solidFill>
                  <a:srgbClr val="5A666E"/>
                </a:solidFill>
              </a:rPr>
              <a:t>22</a:t>
            </a:r>
          </a:p>
        </p:txBody>
      </p:sp>
      <p:sp>
        <p:nvSpPr>
          <p:cNvPr id="20" name="TextBox 19"/>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25–26 min</a:t>
            </a:r>
          </a:p>
        </p:txBody>
      </p:sp>
    </p:spTree>
  </p:cSld>
  <p:clrMapOvr>
    <a:masterClrMapping/>
  </p:clrMapOvr>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D870A4-71D8-4560-9647-EF5286D881E3}"/>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37A40956-63B2-4898-B1BE-D652AD8F9880}"/>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From solution to graph</a:t>
            </a:r>
          </a:p>
        </p:txBody>
      </p:sp>
      <p:sp>
        <p:nvSpPr>
          <p:cNvPr id="3" name="">
            <a:extLst xmlns:a="http://schemas.openxmlformats.org/drawingml/2006/main">
              <a:ext uri="{FF2B5EF4-FFF2-40B4-BE49-F238E27FC236}">
                <a16:creationId xmlns:a16="http://schemas.microsoft.com/office/drawing/2014/main" id="{57D7E5A3-8C44-4766-9AAF-7779B2DFD616}"/>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envelope shows the size of the remaining oscillation</a:t>
            </a:r>
          </a:p>
        </p:txBody>
      </p:sp>
      <p:sp>
        <p:nvSpPr>
          <p:cNvPr id="4" name="">
            <a:extLst xmlns:a="http://schemas.openxmlformats.org/drawingml/2006/main">
              <a:ext uri="{FF2B5EF4-FFF2-40B4-BE49-F238E27FC236}">
                <a16:creationId xmlns:a16="http://schemas.microsoft.com/office/drawing/2014/main" id="{CD9A8181-5870-4107-841E-DEE7B8540CFC}"/>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88769AC-DA88-4CFC-86B6-9975698469B8}"/>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23</a:t>
            </a:r>
          </a:p>
        </p:txBody>
      </p:sp>
      <p:sp>
        <p:nvSpPr>
          <p:cNvPr id="6" name="">
            <a:extLst xmlns:a="http://schemas.openxmlformats.org/drawingml/2006/main">
              <a:ext uri="{FF2B5EF4-FFF2-40B4-BE49-F238E27FC236}">
                <a16:creationId xmlns:a16="http://schemas.microsoft.com/office/drawing/2014/main" id="{BBA9CAAA-D71C-48C5-AD72-059286A6A70F}"/>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26–27 min</a:t>
            </a:r>
          </a:p>
        </p:txBody>
      </p:sp>
      <p:pic>
        <p:nvPicPr>
          <p:cNvPr id="7" name="">
            <a:extLst xmlns:a="http://schemas.openxmlformats.org/drawingml/2006/main">
              <a:ext uri="{FF2B5EF4-FFF2-40B4-BE49-F238E27FC236}">
                <a16:creationId xmlns:a16="http://schemas.microsoft.com/office/drawing/2014/main" id="{C0D198EF-C09B-4E42-A9FE-C1028A46EC15}"/>
              </a:ext>
            </a:extLst>
          </p:cNvPr>
          <p:cNvPicPr>
            <a:picLocks xmlns:a="http://schemas.openxmlformats.org/drawingml/2006/main" noChangeAspect="1"/>
          </p:cNvPicPr>
          <p:nvPr/>
        </p:nvPicPr>
        <p:blipFill>
          <a:blip xmlns:r="http://schemas.openxmlformats.org/officeDocument/2006/relationships" xmlns:a="http://schemas.openxmlformats.org/drawingml/2006/main" r:embed="Rd7549f4aed404c14"/>
          <a:stretch xmlns:a="http://schemas.openxmlformats.org/drawingml/2006/main"/>
        </p:blipFill>
        <p:spPr>
          <a:xfrm xmlns:a="http://schemas.openxmlformats.org/drawingml/2006/main">
            <a:off x="523875" y="1938073"/>
            <a:ext cx="7667625" cy="2981854"/>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ACCEEA8-219C-46B3-B2F6-F36FC3125A40}"/>
              </a:ext>
            </a:extLst>
          </p:cNvPr>
          <p:cNvPicPr>
            <a:picLocks xmlns:a="http://schemas.openxmlformats.org/drawingml/2006/main" noChangeAspect="1"/>
          </p:cNvPicPr>
          <p:nvPr/>
        </p:nvPicPr>
        <p:blipFill>
          <a:blip xmlns:r="http://schemas.openxmlformats.org/officeDocument/2006/relationships" xmlns:a="http://schemas.openxmlformats.org/drawingml/2006/main" r:embed="Racc6b4ef4f7c4a7b"/>
          <a:stretch xmlns:a="http://schemas.openxmlformats.org/drawingml/2006/main"/>
        </p:blipFill>
        <p:spPr>
          <a:xfrm xmlns:a="http://schemas.openxmlformats.org/drawingml/2006/main">
            <a:off x="8382000" y="1809750"/>
            <a:ext cx="1600200" cy="369570"/>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FDD35CA0-B2B3-413D-AABD-AEA1BABF2069}"/>
              </a:ext>
            </a:extLst>
          </p:cNvPr>
          <p:cNvPicPr>
            <a:picLocks xmlns:a="http://schemas.openxmlformats.org/drawingml/2006/main" noChangeAspect="1"/>
          </p:cNvPicPr>
          <p:nvPr/>
        </p:nvPicPr>
        <p:blipFill>
          <a:blip xmlns:r="http://schemas.openxmlformats.org/officeDocument/2006/relationships" xmlns:a="http://schemas.openxmlformats.org/drawingml/2006/main" r:embed="R953be229f7714356"/>
          <a:stretch xmlns:a="http://schemas.openxmlformats.org/drawingml/2006/main"/>
        </p:blipFill>
        <p:spPr>
          <a:xfrm xmlns:a="http://schemas.openxmlformats.org/drawingml/2006/main">
            <a:off x="8382000" y="2857500"/>
            <a:ext cx="1558290" cy="35052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349C0B78-8AE4-44C8-B44A-2B805ED82C3A}"/>
              </a:ext>
            </a:extLst>
          </p:cNvPr>
          <p:cNvSpPr>
            <a:spLocks xmlns:a="http://schemas.openxmlformats.org/drawingml/2006/main" noGrp="1"/>
          </p:cNvSpPr>
          <p:nvPr/>
        </p:nvSpPr>
        <p:spPr>
          <a:xfrm xmlns:a="http://schemas.openxmlformats.org/drawingml/2006/main">
            <a:off x="8429625" y="3857625"/>
            <a:ext cx="304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α [1/s] sets the decay rate.</a:t>
            </a:r>
          </a:p>
          <a:p xmlns:a="http://schemas.openxmlformats.org/drawingml/2006/main">
            <a:pPr algn="l">
              <a:defRPr sz="1725" b="0">
                <a:solidFill>
                  <a:srgbClr val="142D42"/>
                </a:solidFill>
              </a:defRPr>
            </a:pPr>
            <a:r>
              <a:rPr sz="1725" b="0">
                <a:solidFill>
                  <a:srgbClr val="142D42"/>
                </a:solidFill>
              </a:rPr>
              <a:t>Equal-sign peaks have the same exponential decay factor.</a:t>
            </a:r>
          </a:p>
        </p:txBody>
      </p:sp>
      <p:sp>
        <p:nvSpPr>
          <p:cNvPr id="11" name="">
            <a:extLst xmlns:a="http://schemas.openxmlformats.org/drawingml/2006/main">
              <a:ext uri="{FF2B5EF4-FFF2-40B4-BE49-F238E27FC236}">
                <a16:creationId xmlns:a16="http://schemas.microsoft.com/office/drawing/2014/main" id="{CFBB282B-1E1F-4050-A8A7-8657B7CF7668}"/>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C511446F-8A3D-4DEE-B731-64F8D2590184}"/>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Blue: displacement. Red dashed curves: exponential bounds. Red dots: selected positive peaks (not necessarily on the envelope).</a:t>
            </a:r>
          </a:p>
        </p:txBody>
      </p:sp>
    </p:spTree>
    <p:extLst>
      <p:ext uri="{BB962C8B-B14F-4D97-AF65-F5344CB8AC3E}">
        <p14:creationId xmlns:p14="http://schemas.microsoft.com/office/powerpoint/2010/main" val="74857180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979A412-92BB-4766-9859-90D188AE20AE}"/>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EAD5732B-B82A-4405-8A6F-6A44B3BB1050}"/>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Measurement 1: period</a:t>
            </a:r>
          </a:p>
        </p:txBody>
      </p:sp>
      <p:sp>
        <p:nvSpPr>
          <p:cNvPr id="3" name="">
            <a:extLst xmlns:a="http://schemas.openxmlformats.org/drawingml/2006/main">
              <a:ext uri="{FF2B5EF4-FFF2-40B4-BE49-F238E27FC236}">
                <a16:creationId xmlns:a16="http://schemas.microsoft.com/office/drawing/2014/main" id="{87B7E322-B409-43FD-8B2D-F20835CCAC12}"/>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Peak spacing gives the damped frequency</a:t>
            </a:r>
          </a:p>
        </p:txBody>
      </p:sp>
      <p:sp>
        <p:nvSpPr>
          <p:cNvPr id="4" name="">
            <a:extLst xmlns:a="http://schemas.openxmlformats.org/drawingml/2006/main">
              <a:ext uri="{FF2B5EF4-FFF2-40B4-BE49-F238E27FC236}">
                <a16:creationId xmlns:a16="http://schemas.microsoft.com/office/drawing/2014/main" id="{2EA48F6C-FAF2-4128-B30A-21C5E0091E7E}"/>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58D53B6-DD0D-4B79-82EB-988B98698AA5}"/>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24</a:t>
            </a:r>
          </a:p>
        </p:txBody>
      </p:sp>
      <p:sp>
        <p:nvSpPr>
          <p:cNvPr id="6" name="">
            <a:extLst xmlns:a="http://schemas.openxmlformats.org/drawingml/2006/main">
              <a:ext uri="{FF2B5EF4-FFF2-40B4-BE49-F238E27FC236}">
                <a16:creationId xmlns:a16="http://schemas.microsoft.com/office/drawing/2014/main" id="{4EA0D1F1-91A1-4FAD-B1E9-59D00D151F39}"/>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27–28 min</a:t>
            </a:r>
          </a:p>
        </p:txBody>
      </p:sp>
      <p:pic>
        <p:nvPicPr>
          <p:cNvPr id="7" name="">
            <a:extLst xmlns:a="http://schemas.openxmlformats.org/drawingml/2006/main">
              <a:ext uri="{FF2B5EF4-FFF2-40B4-BE49-F238E27FC236}">
                <a16:creationId xmlns:a16="http://schemas.microsoft.com/office/drawing/2014/main" id="{3A1DE6C2-0122-40C7-86D3-9208347731BD}"/>
              </a:ext>
            </a:extLst>
          </p:cNvPr>
          <p:cNvPicPr>
            <a:picLocks xmlns:a="http://schemas.openxmlformats.org/drawingml/2006/main" noChangeAspect="1"/>
          </p:cNvPicPr>
          <p:nvPr/>
        </p:nvPicPr>
        <p:blipFill>
          <a:blip xmlns:r="http://schemas.openxmlformats.org/officeDocument/2006/relationships" xmlns:a="http://schemas.openxmlformats.org/drawingml/2006/main" r:embed="Rb9d8aa86f9e34c12"/>
          <a:stretch xmlns:a="http://schemas.openxmlformats.org/drawingml/2006/main"/>
        </p:blipFill>
        <p:spPr>
          <a:xfrm xmlns:a="http://schemas.openxmlformats.org/drawingml/2006/main">
            <a:off x="1143000" y="1762125"/>
            <a:ext cx="1763363" cy="505206"/>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3E8F3309-1923-4C96-87AE-757D12EBF51D}"/>
              </a:ext>
            </a:extLst>
          </p:cNvPr>
          <p:cNvPicPr>
            <a:picLocks xmlns:a="http://schemas.openxmlformats.org/drawingml/2006/main" noChangeAspect="1"/>
          </p:cNvPicPr>
          <p:nvPr/>
        </p:nvPicPr>
        <p:blipFill>
          <a:blip xmlns:r="http://schemas.openxmlformats.org/officeDocument/2006/relationships" xmlns:a="http://schemas.openxmlformats.org/drawingml/2006/main" r:embed="Ra496d45609114957"/>
          <a:stretch xmlns:a="http://schemas.openxmlformats.org/drawingml/2006/main"/>
        </p:blipFill>
        <p:spPr>
          <a:xfrm xmlns:a="http://schemas.openxmlformats.org/drawingml/2006/main">
            <a:off x="6762750" y="1762125"/>
            <a:ext cx="3067050" cy="477584"/>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4EEB1968-E2F3-4E15-A423-4F3E5D25E7C7}"/>
              </a:ext>
            </a:extLst>
          </p:cNvPr>
          <p:cNvSpPr>
            <a:spLocks xmlns:a="http://schemas.openxmlformats.org/drawingml/2006/main" noGrp="1"/>
          </p:cNvSpPr>
          <p:nvPr/>
        </p:nvSpPr>
        <p:spPr>
          <a:xfrm xmlns:a="http://schemas.openxmlformats.org/drawingml/2006/main">
            <a:off x="714375" y="300037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Use the recorded times of two equal-sign peaks, in seconds.</a:t>
            </a:r>
          </a:p>
        </p:txBody>
      </p:sp>
      <p:sp>
        <p:nvSpPr>
          <p:cNvPr id="10" name="">
            <a:extLst xmlns:a="http://schemas.openxmlformats.org/drawingml/2006/main">
              <a:ext uri="{FF2B5EF4-FFF2-40B4-BE49-F238E27FC236}">
                <a16:creationId xmlns:a16="http://schemas.microsoft.com/office/drawing/2014/main" id="{2935A73A-AA83-4298-83A2-E0782207A125}"/>
              </a:ext>
            </a:extLst>
          </p:cNvPr>
          <p:cNvSpPr>
            <a:spLocks xmlns:a="http://schemas.openxmlformats.org/drawingml/2006/main" noGrp="1"/>
          </p:cNvSpPr>
          <p:nvPr/>
        </p:nvSpPr>
        <p:spPr>
          <a:xfrm xmlns:a="http://schemas.openxmlformats.org/drawingml/2006/main">
            <a:off x="714375" y="36576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N counts complete cycles between the selected peaks.</a:t>
            </a:r>
          </a:p>
        </p:txBody>
      </p:sp>
      <p:sp>
        <p:nvSpPr>
          <p:cNvPr id="11" name="">
            <a:extLst xmlns:a="http://schemas.openxmlformats.org/drawingml/2006/main">
              <a:ext uri="{FF2B5EF4-FFF2-40B4-BE49-F238E27FC236}">
                <a16:creationId xmlns:a16="http://schemas.microsoft.com/office/drawing/2014/main" id="{FE835D7A-005E-441C-97F3-5DCFA7B7B409}"/>
              </a:ext>
            </a:extLst>
          </p:cNvPr>
          <p:cNvSpPr>
            <a:spLocks xmlns:a="http://schemas.openxmlformats.org/drawingml/2006/main" noGrp="1"/>
          </p:cNvSpPr>
          <p:nvPr/>
        </p:nvSpPr>
        <p:spPr>
          <a:xfrm xmlns:a="http://schemas.openxmlformats.org/drawingml/2006/main">
            <a:off x="714375" y="431482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Example: six peaks contain five complete cycles.</a:t>
            </a:r>
          </a:p>
        </p:txBody>
      </p:sp>
      <p:sp>
        <p:nvSpPr>
          <p:cNvPr id="12" name="">
            <a:extLst xmlns:a="http://schemas.openxmlformats.org/drawingml/2006/main">
              <a:ext uri="{FF2B5EF4-FFF2-40B4-BE49-F238E27FC236}">
                <a16:creationId xmlns:a16="http://schemas.microsoft.com/office/drawing/2014/main" id="{C6E225B9-635F-419A-B87B-38C8BD131853}"/>
              </a:ext>
            </a:extLst>
          </p:cNvPr>
          <p:cNvSpPr>
            <a:spLocks xmlns:a="http://schemas.openxmlformats.org/drawingml/2006/main" noGrp="1"/>
          </p:cNvSpPr>
          <p:nvPr/>
        </p:nvSpPr>
        <p:spPr>
          <a:xfrm xmlns:a="http://schemas.openxmlformats.org/drawingml/2006/main">
            <a:off x="714375" y="49720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Average over several cycles to reduce cursor and sampling error.</a:t>
            </a:r>
          </a:p>
        </p:txBody>
      </p:sp>
      <p:sp>
        <p:nvSpPr>
          <p:cNvPr id="13" name="">
            <a:extLst xmlns:a="http://schemas.openxmlformats.org/drawingml/2006/main">
              <a:ext uri="{FF2B5EF4-FFF2-40B4-BE49-F238E27FC236}">
                <a16:creationId xmlns:a16="http://schemas.microsoft.com/office/drawing/2014/main" id="{4D557713-194F-4DBF-A29F-88FABE26BF17}"/>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AFBB852E-AD84-4DD3-B481-53D26497AED9}"/>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Peak spacing measures the damped frequency. Recovering the undamped frequency requires damping.</a:t>
            </a:r>
          </a:p>
        </p:txBody>
      </p:sp>
    </p:spTree>
    <p:extLst>
      <p:ext uri="{BB962C8B-B14F-4D97-AF65-F5344CB8AC3E}">
        <p14:creationId xmlns:p14="http://schemas.microsoft.com/office/powerpoint/2010/main" val="149865565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FBC550D-DD54-4716-AEFC-CEFF1DC706AE}"/>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D9FBB761-8708-417D-95F0-50CDAE6C88F3}"/>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Measurement 2: logarithmic decrement</a:t>
            </a:r>
          </a:p>
        </p:txBody>
      </p:sp>
      <p:sp>
        <p:nvSpPr>
          <p:cNvPr id="3" name="">
            <a:extLst xmlns:a="http://schemas.openxmlformats.org/drawingml/2006/main">
              <a:ext uri="{FF2B5EF4-FFF2-40B4-BE49-F238E27FC236}">
                <a16:creationId xmlns:a16="http://schemas.microsoft.com/office/drawing/2014/main" id="{8CB1DCE8-7A92-4868-9CB7-4F5AE59152C8}"/>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Peak-height ratios isolate the decay rate</a:t>
            </a:r>
          </a:p>
        </p:txBody>
      </p:sp>
      <p:sp>
        <p:nvSpPr>
          <p:cNvPr id="4" name="">
            <a:extLst xmlns:a="http://schemas.openxmlformats.org/drawingml/2006/main">
              <a:ext uri="{FF2B5EF4-FFF2-40B4-BE49-F238E27FC236}">
                <a16:creationId xmlns:a16="http://schemas.microsoft.com/office/drawing/2014/main" id="{38B8C79F-C98F-474F-9D5F-CC822478BB0A}"/>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456994D-DD4E-49EB-BF04-42BD76367671}"/>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25</a:t>
            </a:r>
          </a:p>
        </p:txBody>
      </p:sp>
      <p:sp>
        <p:nvSpPr>
          <p:cNvPr id="6" name="">
            <a:extLst xmlns:a="http://schemas.openxmlformats.org/drawingml/2006/main">
              <a:ext uri="{FF2B5EF4-FFF2-40B4-BE49-F238E27FC236}">
                <a16:creationId xmlns:a16="http://schemas.microsoft.com/office/drawing/2014/main" id="{CB00B1FE-B0BA-463B-9955-E25B2507FBB1}"/>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28–30 min</a:t>
            </a:r>
          </a:p>
        </p:txBody>
      </p:sp>
      <p:pic>
        <p:nvPicPr>
          <p:cNvPr id="7" name="">
            <a:extLst xmlns:a="http://schemas.openxmlformats.org/drawingml/2006/main">
              <a:ext uri="{FF2B5EF4-FFF2-40B4-BE49-F238E27FC236}">
                <a16:creationId xmlns:a16="http://schemas.microsoft.com/office/drawing/2014/main" id="{C252A2A5-D153-44C4-9B7A-982010F3EC12}"/>
              </a:ext>
            </a:extLst>
          </p:cNvPr>
          <p:cNvPicPr>
            <a:picLocks xmlns:a="http://schemas.openxmlformats.org/drawingml/2006/main" noChangeAspect="1"/>
          </p:cNvPicPr>
          <p:nvPr/>
        </p:nvPicPr>
        <p:blipFill>
          <a:blip xmlns:r="http://schemas.openxmlformats.org/officeDocument/2006/relationships" xmlns:a="http://schemas.openxmlformats.org/drawingml/2006/main" r:embed="R2b1a2f371c754789"/>
          <a:stretch xmlns:a="http://schemas.openxmlformats.org/drawingml/2006/main"/>
        </p:blipFill>
        <p:spPr>
          <a:xfrm xmlns:a="http://schemas.openxmlformats.org/drawingml/2006/main">
            <a:off x="1095375" y="1619250"/>
            <a:ext cx="5094541" cy="443198"/>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6AE3632-DE9E-4783-93E3-B21449B6CB8A}"/>
              </a:ext>
            </a:extLst>
          </p:cNvPr>
          <p:cNvPicPr>
            <a:picLocks xmlns:a="http://schemas.openxmlformats.org/drawingml/2006/main" noChangeAspect="1"/>
          </p:cNvPicPr>
          <p:nvPr/>
        </p:nvPicPr>
        <p:blipFill>
          <a:blip xmlns:r="http://schemas.openxmlformats.org/officeDocument/2006/relationships" xmlns:a="http://schemas.openxmlformats.org/drawingml/2006/main" r:embed="R733338d547cc49cd"/>
          <a:stretch xmlns:a="http://schemas.openxmlformats.org/drawingml/2006/main"/>
        </p:blipFill>
        <p:spPr>
          <a:xfrm xmlns:a="http://schemas.openxmlformats.org/drawingml/2006/main">
            <a:off x="4048125" y="2809875"/>
            <a:ext cx="1821656" cy="544068"/>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4220B037-7543-4A02-9A89-B70533094C26}"/>
              </a:ext>
            </a:extLst>
          </p:cNvPr>
          <p:cNvSpPr>
            <a:spLocks xmlns:a="http://schemas.openxmlformats.org/drawingml/2006/main" noGrp="1"/>
          </p:cNvSpPr>
          <p:nvPr/>
        </p:nvSpPr>
        <p:spPr>
          <a:xfrm xmlns:a="http://schemas.openxmlformats.org/drawingml/2006/main">
            <a:off x="714375" y="390525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Take the natural logarithm and divide by N:</a:t>
            </a:r>
          </a:p>
        </p:txBody>
      </p:sp>
      <p:pic>
        <p:nvPicPr>
          <p:cNvPr id="10" name="">
            <a:extLst xmlns:a="http://schemas.openxmlformats.org/drawingml/2006/main">
              <a:ext uri="{FF2B5EF4-FFF2-40B4-BE49-F238E27FC236}">
                <a16:creationId xmlns:a16="http://schemas.microsoft.com/office/drawing/2014/main" id="{FF75CD54-1571-4974-9190-A8B1435CBD45}"/>
              </a:ext>
            </a:extLst>
          </p:cNvPr>
          <p:cNvPicPr>
            <a:picLocks xmlns:a="http://schemas.openxmlformats.org/drawingml/2006/main" noChangeAspect="1"/>
          </p:cNvPicPr>
          <p:nvPr/>
        </p:nvPicPr>
        <p:blipFill>
          <a:blip xmlns:r="http://schemas.openxmlformats.org/officeDocument/2006/relationships" xmlns:a="http://schemas.openxmlformats.org/drawingml/2006/main" r:embed="Rb44352602c254100"/>
          <a:stretch xmlns:a="http://schemas.openxmlformats.org/drawingml/2006/main"/>
        </p:blipFill>
        <p:spPr>
          <a:xfrm xmlns:a="http://schemas.openxmlformats.org/drawingml/2006/main">
            <a:off x="2714625" y="4619625"/>
            <a:ext cx="3118676" cy="524637"/>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88D0012C-AA95-4587-9E15-B5EFC5BF6F20}"/>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D765B1C7-EA74-4B66-B4DF-1E52CF9BDBBA}"/>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p is the magnitude of a selected peak [m]. B is its constant scale [m]. δ is the dimensionless decay per cycle.</a:t>
            </a:r>
          </a:p>
        </p:txBody>
      </p:sp>
    </p:spTree>
    <p:extLst>
      <p:ext uri="{BB962C8B-B14F-4D97-AF65-F5344CB8AC3E}">
        <p14:creationId xmlns:p14="http://schemas.microsoft.com/office/powerpoint/2010/main" val="20261246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3832372-EA5C-4B47-8008-AE7A2FDEE99F}"/>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02E5AE6A-F01D-4737-814E-C256D8D5DF7B}"/>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Alternative decay estimate</a:t>
            </a:r>
          </a:p>
        </p:txBody>
      </p:sp>
      <p:sp>
        <p:nvSpPr>
          <p:cNvPr id="3" name="">
            <a:extLst xmlns:a="http://schemas.openxmlformats.org/drawingml/2006/main">
              <a:ext uri="{FF2B5EF4-FFF2-40B4-BE49-F238E27FC236}">
                <a16:creationId xmlns:a16="http://schemas.microsoft.com/office/drawing/2014/main" id="{972D4469-070D-40E4-A553-21C11FC10CD9}"/>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A log-peak fit uses more of the measured record</a:t>
            </a:r>
          </a:p>
        </p:txBody>
      </p:sp>
      <p:sp>
        <p:nvSpPr>
          <p:cNvPr id="4" name="">
            <a:extLst xmlns:a="http://schemas.openxmlformats.org/drawingml/2006/main">
              <a:ext uri="{FF2B5EF4-FFF2-40B4-BE49-F238E27FC236}">
                <a16:creationId xmlns:a16="http://schemas.microsoft.com/office/drawing/2014/main" id="{AAA53583-7777-4726-8086-97705534F6B8}"/>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CE3E7B6-44EC-445C-A15B-4330D4772A44}"/>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28</a:t>
            </a:r>
          </a:p>
        </p:txBody>
      </p:sp>
      <p:sp>
        <p:nvSpPr>
          <p:cNvPr id="6" name="">
            <a:extLst xmlns:a="http://schemas.openxmlformats.org/drawingml/2006/main">
              <a:ext uri="{FF2B5EF4-FFF2-40B4-BE49-F238E27FC236}">
                <a16:creationId xmlns:a16="http://schemas.microsoft.com/office/drawing/2014/main" id="{B1709173-3711-41E7-BD4D-DD8DBC623B45}"/>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33–34 min</a:t>
            </a:r>
          </a:p>
        </p:txBody>
      </p:sp>
      <p:pic>
        <p:nvPicPr>
          <p:cNvPr id="7" name="">
            <a:extLst xmlns:a="http://schemas.openxmlformats.org/drawingml/2006/main">
              <a:ext uri="{FF2B5EF4-FFF2-40B4-BE49-F238E27FC236}">
                <a16:creationId xmlns:a16="http://schemas.microsoft.com/office/drawing/2014/main" id="{EA543F00-4096-413E-9B90-D7942BFAE04A}"/>
              </a:ext>
            </a:extLst>
          </p:cNvPr>
          <p:cNvPicPr>
            <a:picLocks xmlns:a="http://schemas.openxmlformats.org/drawingml/2006/main" noChangeAspect="1"/>
          </p:cNvPicPr>
          <p:nvPr/>
        </p:nvPicPr>
        <p:blipFill>
          <a:blip xmlns:r="http://schemas.openxmlformats.org/officeDocument/2006/relationships" xmlns:a="http://schemas.openxmlformats.org/drawingml/2006/main" r:embed="R4f2050afa99c4729"/>
          <a:stretch xmlns:a="http://schemas.openxmlformats.org/drawingml/2006/main"/>
        </p:blipFill>
        <p:spPr>
          <a:xfrm xmlns:a="http://schemas.openxmlformats.org/drawingml/2006/main">
            <a:off x="523875" y="1845469"/>
            <a:ext cx="6810375" cy="3405188"/>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186099CE-8A8C-463E-8DFF-5454ED36C28B}"/>
              </a:ext>
            </a:extLst>
          </p:cNvPr>
          <p:cNvPicPr>
            <a:picLocks xmlns:a="http://schemas.openxmlformats.org/drawingml/2006/main" noChangeAspect="1"/>
          </p:cNvPicPr>
          <p:nvPr/>
        </p:nvPicPr>
        <p:blipFill>
          <a:blip xmlns:r="http://schemas.openxmlformats.org/officeDocument/2006/relationships" xmlns:a="http://schemas.openxmlformats.org/drawingml/2006/main" r:embed="R4883a89b923d4050"/>
          <a:stretch xmlns:a="http://schemas.openxmlformats.org/drawingml/2006/main"/>
        </p:blipFill>
        <p:spPr>
          <a:xfrm xmlns:a="http://schemas.openxmlformats.org/drawingml/2006/main">
            <a:off x="7572375" y="1905000"/>
            <a:ext cx="2244280" cy="356044"/>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909844C-A4C7-45D4-9CBF-5081F03DAB95}"/>
              </a:ext>
            </a:extLst>
          </p:cNvPr>
          <p:cNvSpPr>
            <a:spLocks xmlns:a="http://schemas.openxmlformats.org/drawingml/2006/main" noGrp="1"/>
          </p:cNvSpPr>
          <p:nvPr/>
        </p:nvSpPr>
        <p:spPr>
          <a:xfrm xmlns:a="http://schemas.openxmlformats.org/drawingml/2006/main">
            <a:off x="7620000" y="2952750"/>
            <a:ext cx="3762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Fit a straight line through several reliable peaks.</a:t>
            </a:r>
          </a:p>
        </p:txBody>
      </p:sp>
      <p:sp>
        <p:nvSpPr>
          <p:cNvPr id="10" name="">
            <a:extLst xmlns:a="http://schemas.openxmlformats.org/drawingml/2006/main">
              <a:ext uri="{FF2B5EF4-FFF2-40B4-BE49-F238E27FC236}">
                <a16:creationId xmlns:a16="http://schemas.microsoft.com/office/drawing/2014/main" id="{AF7C1D8D-3355-484F-A2F1-582F88A84894}"/>
              </a:ext>
            </a:extLst>
          </p:cNvPr>
          <p:cNvSpPr>
            <a:spLocks xmlns:a="http://schemas.openxmlformats.org/drawingml/2006/main" noGrp="1"/>
          </p:cNvSpPr>
          <p:nvPr/>
        </p:nvSpPr>
        <p:spPr>
          <a:xfrm xmlns:a="http://schemas.openxmlformats.org/drawingml/2006/main">
            <a:off x="7620000" y="4000500"/>
            <a:ext cx="3762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Slope = −α [1/s]</a:t>
            </a:r>
          </a:p>
          <a:p xmlns:a="http://schemas.openxmlformats.org/drawingml/2006/main">
            <a:pPr algn="l">
              <a:defRPr sz="1725" b="0">
                <a:solidFill>
                  <a:srgbClr val="142D42"/>
                </a:solidFill>
              </a:defRPr>
            </a:pPr>
            <a:r>
              <a:rPr sz="1725" b="0">
                <a:solidFill>
                  <a:srgbClr val="142D42"/>
                </a:solidFill>
              </a:rPr>
              <a:t>Intercept b sets the starting level.</a:t>
            </a:r>
          </a:p>
        </p:txBody>
      </p:sp>
      <p:sp>
        <p:nvSpPr>
          <p:cNvPr id="11" name="">
            <a:extLst xmlns:a="http://schemas.openxmlformats.org/drawingml/2006/main">
              <a:ext uri="{FF2B5EF4-FFF2-40B4-BE49-F238E27FC236}">
                <a16:creationId xmlns:a16="http://schemas.microsoft.com/office/drawing/2014/main" id="{EE585F2F-D7F3-430E-B782-82996A6C90E3}"/>
              </a:ext>
            </a:extLst>
          </p:cNvPr>
          <p:cNvSpPr>
            <a:spLocks xmlns:a="http://schemas.openxmlformats.org/drawingml/2006/main" noGrp="1"/>
          </p:cNvSpPr>
          <p:nvPr/>
        </p:nvSpPr>
        <p:spPr>
          <a:xfrm xmlns:a="http://schemas.openxmlformats.org/drawingml/2006/main">
            <a:off x="7620000" y="5334000"/>
            <a:ext cx="3762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350" b="0">
                <a:solidFill>
                  <a:srgbClr val="536575"/>
                </a:solidFill>
              </a:defRPr>
            </a:defPPr>
            <a:lvl1pPr algn="l">
              <a:defRPr sz="1350" b="0">
                <a:solidFill>
                  <a:srgbClr val="536575"/>
                </a:solidFill>
              </a:defRPr>
            </a:lvl1pPr>
            <a:lvl2pPr algn="l">
              <a:defRPr sz="1350" b="0">
                <a:solidFill>
                  <a:srgbClr val="536575"/>
                </a:solidFill>
              </a:defRPr>
            </a:lvl2pPr>
            <a:lvl3pPr algn="l">
              <a:defRPr sz="1350" b="0">
                <a:solidFill>
                  <a:srgbClr val="536575"/>
                </a:solidFill>
              </a:defRPr>
            </a:lvl3pPr>
            <a:lvl4pPr algn="l">
              <a:defRPr sz="1350" b="0">
                <a:solidFill>
                  <a:srgbClr val="536575"/>
                </a:solidFill>
              </a:defRPr>
            </a:lvl4pPr>
            <a:lvl5pPr algn="l">
              <a:defRPr sz="1350" b="0">
                <a:solidFill>
                  <a:srgbClr val="536575"/>
                </a:solidFill>
              </a:defRPr>
            </a:lvl5pPr>
            <a:lvl6pPr algn="l">
              <a:defRPr sz="1350" b="0">
                <a:solidFill>
                  <a:srgbClr val="536575"/>
                </a:solidFill>
              </a:defRPr>
            </a:lvl6pPr>
            <a:lvl7pPr algn="l">
              <a:defRPr sz="1350" b="0">
                <a:solidFill>
                  <a:srgbClr val="536575"/>
                </a:solidFill>
              </a:defRPr>
            </a:lvl7pPr>
            <a:lvl8pPr algn="l">
              <a:defRPr sz="1350" b="0">
                <a:solidFill>
                  <a:srgbClr val="536575"/>
                </a:solidFill>
              </a:defRPr>
            </a:lvl8pPr>
            <a:lvl9pPr algn="l">
              <a:defRPr sz="1350" b="0">
                <a:solidFill>
                  <a:srgbClr val="536575"/>
                </a:solidFill>
              </a:defRPr>
            </a:lvl9pPr>
          </a:lstStyle>
          <a:p xmlns:a="http://schemas.openxmlformats.org/drawingml/2006/main">
            <a:pPr algn="l">
              <a:defRPr sz="1350" b="0">
                <a:solidFill>
                  <a:srgbClr val="536575"/>
                </a:solidFill>
              </a:defRPr>
            </a:pPr>
            <a:r>
              <a:rPr sz="1350" b="0">
                <a:solidFill>
                  <a:srgbClr val="536575"/>
                </a:solidFill>
              </a:rPr>
              <a:t>Reference amplitude: 1 m, so the logarithm has a dimensionless argument.</a:t>
            </a:r>
          </a:p>
        </p:txBody>
      </p:sp>
      <p:sp>
        <p:nvSpPr>
          <p:cNvPr id="12" name="">
            <a:extLst xmlns:a="http://schemas.openxmlformats.org/drawingml/2006/main">
              <a:ext uri="{FF2B5EF4-FFF2-40B4-BE49-F238E27FC236}">
                <a16:creationId xmlns:a16="http://schemas.microsoft.com/office/drawing/2014/main" id="{046EC655-0E18-4DDD-98C0-AA13C0E6B963}"/>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F4B4AD39-8956-427A-AAE6-49123BC343C4}"/>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Exclude late peaks near the noise floor. Curvature signals drift or a poor damping model.</a:t>
            </a:r>
          </a:p>
        </p:txBody>
      </p:sp>
    </p:spTree>
    <p:extLst>
      <p:ext uri="{BB962C8B-B14F-4D97-AF65-F5344CB8AC3E}">
        <p14:creationId xmlns:p14="http://schemas.microsoft.com/office/powerpoint/2010/main" val="87594265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3D87F66-BFCC-41A3-B79D-FC8B94061AA8}"/>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8DCC46FF-B71C-4E51-ACE0-B9A7AA2516C1}"/>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What the code calculates</a:t>
            </a:r>
          </a:p>
        </p:txBody>
      </p:sp>
      <p:sp>
        <p:nvSpPr>
          <p:cNvPr id="3" name="">
            <a:extLst xmlns:a="http://schemas.openxmlformats.org/drawingml/2006/main">
              <a:ext uri="{FF2B5EF4-FFF2-40B4-BE49-F238E27FC236}">
                <a16:creationId xmlns:a16="http://schemas.microsoft.com/office/drawing/2014/main" id="{D9812712-41D1-400A-82F1-922C3F4F5CAB}"/>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From measured decay and period to physical parameters</a:t>
            </a:r>
          </a:p>
        </p:txBody>
      </p:sp>
      <p:sp>
        <p:nvSpPr>
          <p:cNvPr id="4" name="">
            <a:extLst xmlns:a="http://schemas.openxmlformats.org/drawingml/2006/main">
              <a:ext uri="{FF2B5EF4-FFF2-40B4-BE49-F238E27FC236}">
                <a16:creationId xmlns:a16="http://schemas.microsoft.com/office/drawing/2014/main" id="{298D2CCE-DC15-4AC4-8690-E9247D0A0360}"/>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1EB9B0A-C922-4042-AFCE-7556A949B9D3}"/>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29</a:t>
            </a:r>
          </a:p>
        </p:txBody>
      </p:sp>
      <p:sp>
        <p:nvSpPr>
          <p:cNvPr id="6" name="">
            <a:extLst xmlns:a="http://schemas.openxmlformats.org/drawingml/2006/main">
              <a:ext uri="{FF2B5EF4-FFF2-40B4-BE49-F238E27FC236}">
                <a16:creationId xmlns:a16="http://schemas.microsoft.com/office/drawing/2014/main" id="{7ABB8DCD-A54E-4353-9C3D-3540B84D1E03}"/>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34–35 min</a:t>
            </a:r>
          </a:p>
        </p:txBody>
      </p:sp>
      <p:sp>
        <p:nvSpPr>
          <p:cNvPr id="7" name="">
            <a:extLst xmlns:a="http://schemas.openxmlformats.org/drawingml/2006/main">
              <a:ext uri="{FF2B5EF4-FFF2-40B4-BE49-F238E27FC236}">
                <a16:creationId xmlns:a16="http://schemas.microsoft.com/office/drawing/2014/main" id="{72F0DA80-300F-4B1E-AAB4-EE9D52C3EA9E}"/>
              </a:ext>
            </a:extLst>
          </p:cNvPr>
          <p:cNvSpPr>
            <a:spLocks xmlns:a="http://schemas.openxmlformats.org/drawingml/2006/main" noGrp="1"/>
          </p:cNvSpPr>
          <p:nvPr/>
        </p:nvSpPr>
        <p:spPr>
          <a:xfrm xmlns:a="http://schemas.openxmlformats.org/drawingml/2006/main">
            <a:off x="714375" y="1762125"/>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2467A5"/>
                </a:solidFill>
              </a:defRPr>
            </a:defPPr>
            <a:lvl1pPr algn="l">
              <a:defRPr sz="1875" b="1">
                <a:solidFill>
                  <a:srgbClr val="2467A5"/>
                </a:solidFill>
              </a:defRPr>
            </a:lvl1pPr>
            <a:lvl2pPr algn="l">
              <a:defRPr sz="1875" b="1">
                <a:solidFill>
                  <a:srgbClr val="2467A5"/>
                </a:solidFill>
              </a:defRPr>
            </a:lvl2pPr>
            <a:lvl3pPr algn="l">
              <a:defRPr sz="1875" b="1">
                <a:solidFill>
                  <a:srgbClr val="2467A5"/>
                </a:solidFill>
              </a:defRPr>
            </a:lvl3pPr>
            <a:lvl4pPr algn="l">
              <a:defRPr sz="1875" b="1">
                <a:solidFill>
                  <a:srgbClr val="2467A5"/>
                </a:solidFill>
              </a:defRPr>
            </a:lvl4pPr>
            <a:lvl5pPr algn="l">
              <a:defRPr sz="1875" b="1">
                <a:solidFill>
                  <a:srgbClr val="2467A5"/>
                </a:solidFill>
              </a:defRPr>
            </a:lvl5pPr>
            <a:lvl6pPr algn="l">
              <a:defRPr sz="1875" b="1">
                <a:solidFill>
                  <a:srgbClr val="2467A5"/>
                </a:solidFill>
              </a:defRPr>
            </a:lvl6pPr>
            <a:lvl7pPr algn="l">
              <a:defRPr sz="1875" b="1">
                <a:solidFill>
                  <a:srgbClr val="2467A5"/>
                </a:solidFill>
              </a:defRPr>
            </a:lvl7pPr>
            <a:lvl8pPr algn="l">
              <a:defRPr sz="1875" b="1">
                <a:solidFill>
                  <a:srgbClr val="2467A5"/>
                </a:solidFill>
              </a:defRPr>
            </a:lvl8pPr>
            <a:lvl9pPr algn="l">
              <a:defRPr sz="1875" b="1">
                <a:solidFill>
                  <a:srgbClr val="2467A5"/>
                </a:solidFill>
              </a:defRPr>
            </a:lvl9pPr>
          </a:lstStyle>
          <a:p xmlns:a="http://schemas.openxmlformats.org/drawingml/2006/main">
            <a:pPr algn="l">
              <a:defRPr sz="1875" b="1">
                <a:solidFill>
                  <a:srgbClr val="2467A5"/>
                </a:solidFill>
              </a:defRPr>
            </a:pPr>
            <a:r>
              <a:rPr sz="1875" b="1">
                <a:solidFill>
                  <a:srgbClr val="2467A5"/>
                </a:solidFill>
              </a:rPr>
              <a:t>From peak timing</a:t>
            </a:r>
          </a:p>
        </p:txBody>
      </p:sp>
      <p:pic>
        <p:nvPicPr>
          <p:cNvPr id="8" name="">
            <a:extLst xmlns:a="http://schemas.openxmlformats.org/drawingml/2006/main">
              <a:ext uri="{FF2B5EF4-FFF2-40B4-BE49-F238E27FC236}">
                <a16:creationId xmlns:a16="http://schemas.microsoft.com/office/drawing/2014/main" id="{BA94EC7F-9386-4F52-ABC6-95CCEA7442EB}"/>
              </a:ext>
            </a:extLst>
          </p:cNvPr>
          <p:cNvPicPr>
            <a:picLocks xmlns:a="http://schemas.openxmlformats.org/drawingml/2006/main" noChangeAspect="1"/>
          </p:cNvPicPr>
          <p:nvPr/>
        </p:nvPicPr>
        <p:blipFill>
          <a:blip xmlns:r="http://schemas.openxmlformats.org/officeDocument/2006/relationships" xmlns:a="http://schemas.openxmlformats.org/drawingml/2006/main" r:embed="Redc9a993582647c9"/>
          <a:stretch xmlns:a="http://schemas.openxmlformats.org/drawingml/2006/main"/>
        </p:blipFill>
        <p:spPr>
          <a:xfrm xmlns:a="http://schemas.openxmlformats.org/drawingml/2006/main">
            <a:off x="6191250" y="1714500"/>
            <a:ext cx="1190149" cy="53435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33D80418-DA19-4E9D-8DC2-08A7BB6F44F4}"/>
              </a:ext>
            </a:extLst>
          </p:cNvPr>
          <p:cNvSpPr>
            <a:spLocks xmlns:a="http://schemas.openxmlformats.org/drawingml/2006/main" noGrp="1"/>
          </p:cNvSpPr>
          <p:nvPr/>
        </p:nvSpPr>
        <p:spPr>
          <a:xfrm xmlns:a="http://schemas.openxmlformats.org/drawingml/2006/main">
            <a:off x="714375" y="2762250"/>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A82C3C"/>
                </a:solidFill>
              </a:defRPr>
            </a:defPPr>
            <a:lvl1pPr algn="l">
              <a:defRPr sz="1875" b="1">
                <a:solidFill>
                  <a:srgbClr val="A82C3C"/>
                </a:solidFill>
              </a:defRPr>
            </a:lvl1pPr>
            <a:lvl2pPr algn="l">
              <a:defRPr sz="1875" b="1">
                <a:solidFill>
                  <a:srgbClr val="A82C3C"/>
                </a:solidFill>
              </a:defRPr>
            </a:lvl2pPr>
            <a:lvl3pPr algn="l">
              <a:defRPr sz="1875" b="1">
                <a:solidFill>
                  <a:srgbClr val="A82C3C"/>
                </a:solidFill>
              </a:defRPr>
            </a:lvl3pPr>
            <a:lvl4pPr algn="l">
              <a:defRPr sz="1875" b="1">
                <a:solidFill>
                  <a:srgbClr val="A82C3C"/>
                </a:solidFill>
              </a:defRPr>
            </a:lvl4pPr>
            <a:lvl5pPr algn="l">
              <a:defRPr sz="1875" b="1">
                <a:solidFill>
                  <a:srgbClr val="A82C3C"/>
                </a:solidFill>
              </a:defRPr>
            </a:lvl5pPr>
            <a:lvl6pPr algn="l">
              <a:defRPr sz="1875" b="1">
                <a:solidFill>
                  <a:srgbClr val="A82C3C"/>
                </a:solidFill>
              </a:defRPr>
            </a:lvl6pPr>
            <a:lvl7pPr algn="l">
              <a:defRPr sz="1875" b="1">
                <a:solidFill>
                  <a:srgbClr val="A82C3C"/>
                </a:solidFill>
              </a:defRPr>
            </a:lvl7pPr>
            <a:lvl8pPr algn="l">
              <a:defRPr sz="1875" b="1">
                <a:solidFill>
                  <a:srgbClr val="A82C3C"/>
                </a:solidFill>
              </a:defRPr>
            </a:lvl8pPr>
            <a:lvl9pPr algn="l">
              <a:defRPr sz="1875" b="1">
                <a:solidFill>
                  <a:srgbClr val="A82C3C"/>
                </a:solidFill>
              </a:defRPr>
            </a:lvl9pPr>
          </a:lstStyle>
          <a:p xmlns:a="http://schemas.openxmlformats.org/drawingml/2006/main">
            <a:pPr algn="l">
              <a:defRPr sz="1875" b="1">
                <a:solidFill>
                  <a:srgbClr val="A82C3C"/>
                </a:solidFill>
              </a:defRPr>
            </a:pPr>
            <a:r>
              <a:rPr sz="1875" b="1">
                <a:solidFill>
                  <a:srgbClr val="A82C3C"/>
                </a:solidFill>
              </a:rPr>
              <a:t>From the log-peak slope</a:t>
            </a:r>
          </a:p>
        </p:txBody>
      </p:sp>
      <p:pic>
        <p:nvPicPr>
          <p:cNvPr id="10" name="">
            <a:extLst xmlns:a="http://schemas.openxmlformats.org/drawingml/2006/main">
              <a:ext uri="{FF2B5EF4-FFF2-40B4-BE49-F238E27FC236}">
                <a16:creationId xmlns:a16="http://schemas.microsoft.com/office/drawing/2014/main" id="{52E651AB-5514-4567-A19C-BDD01E167F74}"/>
              </a:ext>
            </a:extLst>
          </p:cNvPr>
          <p:cNvPicPr>
            <a:picLocks xmlns:a="http://schemas.openxmlformats.org/drawingml/2006/main" noChangeAspect="1"/>
          </p:cNvPicPr>
          <p:nvPr/>
        </p:nvPicPr>
        <p:blipFill>
          <a:blip xmlns:r="http://schemas.openxmlformats.org/officeDocument/2006/relationships" xmlns:a="http://schemas.openxmlformats.org/drawingml/2006/main" r:embed="R10ac777a24ae4397"/>
          <a:stretch xmlns:a="http://schemas.openxmlformats.org/drawingml/2006/main"/>
        </p:blipFill>
        <p:spPr>
          <a:xfrm xmlns:a="http://schemas.openxmlformats.org/drawingml/2006/main">
            <a:off x="6191250" y="2714625"/>
            <a:ext cx="1734217" cy="43234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EA2AEA5E-360C-4B3B-91BB-1B254954B68C}"/>
              </a:ext>
            </a:extLst>
          </p:cNvPr>
          <p:cNvSpPr>
            <a:spLocks xmlns:a="http://schemas.openxmlformats.org/drawingml/2006/main" noGrp="1"/>
          </p:cNvSpPr>
          <p:nvPr/>
        </p:nvSpPr>
        <p:spPr>
          <a:xfrm xmlns:a="http://schemas.openxmlformats.org/drawingml/2006/main">
            <a:off x="714375" y="38100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142D42"/>
                </a:solidFill>
              </a:defRPr>
            </a:defPPr>
            <a:lvl1pPr algn="l">
              <a:defRPr sz="1875" b="1">
                <a:solidFill>
                  <a:srgbClr val="142D42"/>
                </a:solidFill>
              </a:defRPr>
            </a:lvl1pPr>
            <a:lvl2pPr algn="l">
              <a:defRPr sz="1875" b="1">
                <a:solidFill>
                  <a:srgbClr val="142D42"/>
                </a:solidFill>
              </a:defRPr>
            </a:lvl2pPr>
            <a:lvl3pPr algn="l">
              <a:defRPr sz="1875" b="1">
                <a:solidFill>
                  <a:srgbClr val="142D42"/>
                </a:solidFill>
              </a:defRPr>
            </a:lvl3pPr>
            <a:lvl4pPr algn="l">
              <a:defRPr sz="1875" b="1">
                <a:solidFill>
                  <a:srgbClr val="142D42"/>
                </a:solidFill>
              </a:defRPr>
            </a:lvl4pPr>
            <a:lvl5pPr algn="l">
              <a:defRPr sz="1875" b="1">
                <a:solidFill>
                  <a:srgbClr val="142D42"/>
                </a:solidFill>
              </a:defRPr>
            </a:lvl5pPr>
            <a:lvl6pPr algn="l">
              <a:defRPr sz="1875" b="1">
                <a:solidFill>
                  <a:srgbClr val="142D42"/>
                </a:solidFill>
              </a:defRPr>
            </a:lvl6pPr>
            <a:lvl7pPr algn="l">
              <a:defRPr sz="1875" b="1">
                <a:solidFill>
                  <a:srgbClr val="142D42"/>
                </a:solidFill>
              </a:defRPr>
            </a:lvl7pPr>
            <a:lvl8pPr algn="l">
              <a:defRPr sz="1875" b="1">
                <a:solidFill>
                  <a:srgbClr val="142D42"/>
                </a:solidFill>
              </a:defRPr>
            </a:lvl8pPr>
            <a:lvl9pPr algn="l">
              <a:defRPr sz="1875" b="1">
                <a:solidFill>
                  <a:srgbClr val="142D42"/>
                </a:solidFill>
              </a:defRPr>
            </a:lvl9pPr>
          </a:lstStyle>
          <a:p xmlns:a="http://schemas.openxmlformats.org/drawingml/2006/main">
            <a:pPr algn="l">
              <a:defRPr sz="1875" b="1">
                <a:solidFill>
                  <a:srgbClr val="142D42"/>
                </a:solidFill>
              </a:defRPr>
            </a:pPr>
            <a:r>
              <a:rPr sz="1875" b="1">
                <a:solidFill>
                  <a:srgbClr val="142D42"/>
                </a:solidFill>
              </a:rPr>
              <a:t>Combine the two measurements</a:t>
            </a:r>
          </a:p>
        </p:txBody>
      </p:sp>
      <p:pic>
        <p:nvPicPr>
          <p:cNvPr id="12" name="">
            <a:extLst xmlns:a="http://schemas.openxmlformats.org/drawingml/2006/main">
              <a:ext uri="{FF2B5EF4-FFF2-40B4-BE49-F238E27FC236}">
                <a16:creationId xmlns:a16="http://schemas.microsoft.com/office/drawing/2014/main" id="{9736E4E2-17AE-47E5-A914-8222DF911053}"/>
              </a:ext>
            </a:extLst>
          </p:cNvPr>
          <p:cNvPicPr>
            <a:picLocks xmlns:a="http://schemas.openxmlformats.org/drawingml/2006/main" noChangeAspect="1"/>
          </p:cNvPicPr>
          <p:nvPr/>
        </p:nvPicPr>
        <p:blipFill>
          <a:blip xmlns:r="http://schemas.openxmlformats.org/officeDocument/2006/relationships" xmlns:a="http://schemas.openxmlformats.org/drawingml/2006/main" r:embed="Rf548e5dec6614852"/>
          <a:stretch xmlns:a="http://schemas.openxmlformats.org/drawingml/2006/main"/>
        </p:blipFill>
        <p:spPr>
          <a:xfrm xmlns:a="http://schemas.openxmlformats.org/drawingml/2006/main">
            <a:off x="6191250" y="3714750"/>
            <a:ext cx="2526030" cy="660654"/>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E6E9F1B7-AA48-49FE-8DBD-60C11DE1459A}"/>
              </a:ext>
            </a:extLst>
          </p:cNvPr>
          <p:cNvPicPr>
            <a:picLocks xmlns:a="http://schemas.openxmlformats.org/drawingml/2006/main" noChangeAspect="1"/>
          </p:cNvPicPr>
          <p:nvPr/>
        </p:nvPicPr>
        <p:blipFill>
          <a:blip xmlns:r="http://schemas.openxmlformats.org/officeDocument/2006/relationships" xmlns:a="http://schemas.openxmlformats.org/drawingml/2006/main" r:embed="R13a07232c2ed4986"/>
          <a:stretch xmlns:a="http://schemas.openxmlformats.org/drawingml/2006/main"/>
        </p:blipFill>
        <p:spPr>
          <a:xfrm xmlns:a="http://schemas.openxmlformats.org/drawingml/2006/main">
            <a:off x="3619500" y="4953000"/>
            <a:ext cx="3147822" cy="48577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A8780638-3C12-4C3C-91B0-3C23CDCC3B7F}"/>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4B93B67F-9058-40A2-B1DB-8848309EF557}"/>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Measured period and decay rate now give the undamped frequency, damping ratio, and damping coefficient.</a:t>
            </a:r>
          </a:p>
        </p:txBody>
      </p:sp>
    </p:spTree>
    <p:extLst>
      <p:ext uri="{BB962C8B-B14F-4D97-AF65-F5344CB8AC3E}">
        <p14:creationId xmlns:p14="http://schemas.microsoft.com/office/powerpoint/2010/main" val="112974428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682263-7B0D-4447-9609-BECE4C169F45}"/>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F5D214E4-67B8-4545-B512-03786ECE7B82}"/>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Frequency check</a:t>
            </a:r>
          </a:p>
        </p:txBody>
      </p:sp>
      <p:sp>
        <p:nvSpPr>
          <p:cNvPr id="3" name="">
            <a:extLst xmlns:a="http://schemas.openxmlformats.org/drawingml/2006/main">
              <a:ext uri="{FF2B5EF4-FFF2-40B4-BE49-F238E27FC236}">
                <a16:creationId xmlns:a16="http://schemas.microsoft.com/office/drawing/2014/main" id="{6C186D10-E58E-4B7D-971B-2BE93F1A23A4}"/>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FFT checks which frequency dominates the motion</a:t>
            </a:r>
          </a:p>
        </p:txBody>
      </p:sp>
      <p:sp>
        <p:nvSpPr>
          <p:cNvPr id="4" name="">
            <a:extLst xmlns:a="http://schemas.openxmlformats.org/drawingml/2006/main">
              <a:ext uri="{FF2B5EF4-FFF2-40B4-BE49-F238E27FC236}">
                <a16:creationId xmlns:a16="http://schemas.microsoft.com/office/drawing/2014/main" id="{9F66815B-F730-4600-AC76-D93B78F5EF06}"/>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A7FAEA4-E2C4-4158-8C55-539D1350D8D9}"/>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30</a:t>
            </a:r>
          </a:p>
        </p:txBody>
      </p:sp>
      <p:sp>
        <p:nvSpPr>
          <p:cNvPr id="6" name="">
            <a:extLst xmlns:a="http://schemas.openxmlformats.org/drawingml/2006/main">
              <a:ext uri="{FF2B5EF4-FFF2-40B4-BE49-F238E27FC236}">
                <a16:creationId xmlns:a16="http://schemas.microsoft.com/office/drawing/2014/main" id="{0C381D5E-7B9E-4337-9DD6-00F8E996CB43}"/>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35–36 min</a:t>
            </a:r>
          </a:p>
        </p:txBody>
      </p:sp>
      <p:pic>
        <p:nvPicPr>
          <p:cNvPr id="7" name="">
            <a:extLst xmlns:a="http://schemas.openxmlformats.org/drawingml/2006/main">
              <a:ext uri="{FF2B5EF4-FFF2-40B4-BE49-F238E27FC236}">
                <a16:creationId xmlns:a16="http://schemas.microsoft.com/office/drawing/2014/main" id="{AAFC8ADE-B9C8-44BC-92C6-1620A8EEEE13}"/>
              </a:ext>
            </a:extLst>
          </p:cNvPr>
          <p:cNvPicPr>
            <a:picLocks xmlns:a="http://schemas.openxmlformats.org/drawingml/2006/main" noChangeAspect="1"/>
          </p:cNvPicPr>
          <p:nvPr/>
        </p:nvPicPr>
        <p:blipFill>
          <a:blip xmlns:r="http://schemas.openxmlformats.org/officeDocument/2006/relationships" xmlns:a="http://schemas.openxmlformats.org/drawingml/2006/main" r:embed="R466cf80dda934965"/>
          <a:stretch xmlns:a="http://schemas.openxmlformats.org/drawingml/2006/main"/>
        </p:blipFill>
        <p:spPr>
          <a:xfrm xmlns:a="http://schemas.openxmlformats.org/drawingml/2006/main">
            <a:off x="1221052" y="1619250"/>
            <a:ext cx="9749896" cy="31908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0C1A8FD2-B8CC-464B-AB71-944C9CFCCCC8}"/>
              </a:ext>
            </a:extLst>
          </p:cNvPr>
          <p:cNvSpPr>
            <a:spLocks xmlns:a="http://schemas.openxmlformats.org/drawingml/2006/main" noGrp="1"/>
          </p:cNvSpPr>
          <p:nvPr/>
        </p:nvSpPr>
        <p:spPr>
          <a:xfrm xmlns:a="http://schemas.openxmlformats.org/drawingml/2006/main">
            <a:off x="762000" y="5000625"/>
            <a:ext cx="5095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1">
                <a:solidFill>
                  <a:srgbClr val="2467A5"/>
                </a:solidFill>
              </a:defRPr>
            </a:defPPr>
            <a:lvl1pPr algn="l">
              <a:defRPr sz="1725" b="1">
                <a:solidFill>
                  <a:srgbClr val="2467A5"/>
                </a:solidFill>
              </a:defRPr>
            </a:lvl1pPr>
            <a:lvl2pPr algn="l">
              <a:defRPr sz="1725" b="1">
                <a:solidFill>
                  <a:srgbClr val="2467A5"/>
                </a:solidFill>
              </a:defRPr>
            </a:lvl2pPr>
            <a:lvl3pPr algn="l">
              <a:defRPr sz="1725" b="1">
                <a:solidFill>
                  <a:srgbClr val="2467A5"/>
                </a:solidFill>
              </a:defRPr>
            </a:lvl3pPr>
            <a:lvl4pPr algn="l">
              <a:defRPr sz="1725" b="1">
                <a:solidFill>
                  <a:srgbClr val="2467A5"/>
                </a:solidFill>
              </a:defRPr>
            </a:lvl4pPr>
            <a:lvl5pPr algn="l">
              <a:defRPr sz="1725" b="1">
                <a:solidFill>
                  <a:srgbClr val="2467A5"/>
                </a:solidFill>
              </a:defRPr>
            </a:lvl5pPr>
            <a:lvl6pPr algn="l">
              <a:defRPr sz="1725" b="1">
                <a:solidFill>
                  <a:srgbClr val="2467A5"/>
                </a:solidFill>
              </a:defRPr>
            </a:lvl6pPr>
            <a:lvl7pPr algn="l">
              <a:defRPr sz="1725" b="1">
                <a:solidFill>
                  <a:srgbClr val="2467A5"/>
                </a:solidFill>
              </a:defRPr>
            </a:lvl7pPr>
            <a:lvl8pPr algn="l">
              <a:defRPr sz="1725" b="1">
                <a:solidFill>
                  <a:srgbClr val="2467A5"/>
                </a:solidFill>
              </a:defRPr>
            </a:lvl8pPr>
            <a:lvl9pPr algn="l">
              <a:defRPr sz="1725" b="1">
                <a:solidFill>
                  <a:srgbClr val="2467A5"/>
                </a:solidFill>
              </a:defRPr>
            </a:lvl9pPr>
          </a:lstStyle>
          <a:p xmlns:a="http://schemas.openxmlformats.org/drawingml/2006/main">
            <a:pPr algn="l">
              <a:defRPr sz="1725" b="1">
                <a:solidFill>
                  <a:srgbClr val="2467A5"/>
                </a:solidFill>
              </a:defRPr>
            </a:pPr>
            <a:r>
              <a:rPr sz="1725" b="1">
                <a:solidFill>
                  <a:srgbClr val="2467A5"/>
                </a:solidFill>
              </a:rPr>
              <a:t>Blue: first 8 s of a 20 s model record.</a:t>
            </a:r>
          </a:p>
        </p:txBody>
      </p:sp>
      <p:sp>
        <p:nvSpPr>
          <p:cNvPr id="9" name="">
            <a:extLst xmlns:a="http://schemas.openxmlformats.org/drawingml/2006/main">
              <a:ext uri="{FF2B5EF4-FFF2-40B4-BE49-F238E27FC236}">
                <a16:creationId xmlns:a16="http://schemas.microsoft.com/office/drawing/2014/main" id="{A75027E1-FE72-49DF-88B4-3053ABD027D1}"/>
              </a:ext>
            </a:extLst>
          </p:cNvPr>
          <p:cNvSpPr>
            <a:spLocks xmlns:a="http://schemas.openxmlformats.org/drawingml/2006/main" noGrp="1"/>
          </p:cNvSpPr>
          <p:nvPr/>
        </p:nvSpPr>
        <p:spPr>
          <a:xfrm xmlns:a="http://schemas.openxmlformats.org/drawingml/2006/main">
            <a:off x="6524625" y="50006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1">
                <a:solidFill>
                  <a:srgbClr val="A82C3C"/>
                </a:solidFill>
              </a:defRPr>
            </a:defPPr>
            <a:lvl1pPr algn="l">
              <a:defRPr sz="1725" b="1">
                <a:solidFill>
                  <a:srgbClr val="A82C3C"/>
                </a:solidFill>
              </a:defRPr>
            </a:lvl1pPr>
            <a:lvl2pPr algn="l">
              <a:defRPr sz="1725" b="1">
                <a:solidFill>
                  <a:srgbClr val="A82C3C"/>
                </a:solidFill>
              </a:defRPr>
            </a:lvl2pPr>
            <a:lvl3pPr algn="l">
              <a:defRPr sz="1725" b="1">
                <a:solidFill>
                  <a:srgbClr val="A82C3C"/>
                </a:solidFill>
              </a:defRPr>
            </a:lvl3pPr>
            <a:lvl4pPr algn="l">
              <a:defRPr sz="1725" b="1">
                <a:solidFill>
                  <a:srgbClr val="A82C3C"/>
                </a:solidFill>
              </a:defRPr>
            </a:lvl4pPr>
            <a:lvl5pPr algn="l">
              <a:defRPr sz="1725" b="1">
                <a:solidFill>
                  <a:srgbClr val="A82C3C"/>
                </a:solidFill>
              </a:defRPr>
            </a:lvl5pPr>
            <a:lvl6pPr algn="l">
              <a:defRPr sz="1725" b="1">
                <a:solidFill>
                  <a:srgbClr val="A82C3C"/>
                </a:solidFill>
              </a:defRPr>
            </a:lvl6pPr>
            <a:lvl7pPr algn="l">
              <a:defRPr sz="1725" b="1">
                <a:solidFill>
                  <a:srgbClr val="A82C3C"/>
                </a:solidFill>
              </a:defRPr>
            </a:lvl7pPr>
            <a:lvl8pPr algn="l">
              <a:defRPr sz="1725" b="1">
                <a:solidFill>
                  <a:srgbClr val="A82C3C"/>
                </a:solidFill>
              </a:defRPr>
            </a:lvl8pPr>
            <a:lvl9pPr algn="l">
              <a:defRPr sz="1725" b="1">
                <a:solidFill>
                  <a:srgbClr val="A82C3C"/>
                </a:solidFill>
              </a:defRPr>
            </a:lvl9pPr>
          </a:lstStyle>
          <a:p xmlns:a="http://schemas.openxmlformats.org/drawingml/2006/main">
            <a:pPr algn="l">
              <a:defRPr sz="1725" b="1">
                <a:solidFill>
                  <a:srgbClr val="A82C3C"/>
                </a:solidFill>
              </a:defRPr>
            </a:pPr>
            <a:r>
              <a:rPr sz="1725" b="1">
                <a:solidFill>
                  <a:srgbClr val="A82C3C"/>
                </a:solidFill>
              </a:rPr>
              <a:t>Red: its computed FFT magnitude.</a:t>
            </a:r>
          </a:p>
        </p:txBody>
      </p:sp>
      <p:sp>
        <p:nvSpPr>
          <p:cNvPr id="10" name="">
            <a:extLst xmlns:a="http://schemas.openxmlformats.org/drawingml/2006/main">
              <a:ext uri="{FF2B5EF4-FFF2-40B4-BE49-F238E27FC236}">
                <a16:creationId xmlns:a16="http://schemas.microsoft.com/office/drawing/2014/main" id="{10406E40-5886-4B14-A953-1A5D12AF25A0}"/>
              </a:ext>
            </a:extLst>
          </p:cNvPr>
          <p:cNvSpPr>
            <a:spLocks xmlns:a="http://schemas.openxmlformats.org/drawingml/2006/main" noGrp="1"/>
          </p:cNvSpPr>
          <p:nvPr/>
        </p:nvSpPr>
        <p:spPr>
          <a:xfrm xmlns:a="http://schemas.openxmlformats.org/drawingml/2006/main">
            <a:off x="714375" y="54673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0">
                <a:solidFill>
                  <a:srgbClr val="536575"/>
                </a:solidFill>
              </a:defRPr>
            </a:defPPr>
            <a:lvl1pPr algn="l">
              <a:defRPr sz="1500" b="0">
                <a:solidFill>
                  <a:srgbClr val="536575"/>
                </a:solidFill>
              </a:defRPr>
            </a:lvl1pPr>
            <a:lvl2pPr algn="l">
              <a:defRPr sz="1500" b="0">
                <a:solidFill>
                  <a:srgbClr val="536575"/>
                </a:solidFill>
              </a:defRPr>
            </a:lvl2pPr>
            <a:lvl3pPr algn="l">
              <a:defRPr sz="1500" b="0">
                <a:solidFill>
                  <a:srgbClr val="536575"/>
                </a:solidFill>
              </a:defRPr>
            </a:lvl3pPr>
            <a:lvl4pPr algn="l">
              <a:defRPr sz="1500" b="0">
                <a:solidFill>
                  <a:srgbClr val="536575"/>
                </a:solidFill>
              </a:defRPr>
            </a:lvl4pPr>
            <a:lvl5pPr algn="l">
              <a:defRPr sz="1500" b="0">
                <a:solidFill>
                  <a:srgbClr val="536575"/>
                </a:solidFill>
              </a:defRPr>
            </a:lvl5pPr>
            <a:lvl6pPr algn="l">
              <a:defRPr sz="1500" b="0">
                <a:solidFill>
                  <a:srgbClr val="536575"/>
                </a:solidFill>
              </a:defRPr>
            </a:lvl6pPr>
            <a:lvl7pPr algn="l">
              <a:defRPr sz="1500" b="0">
                <a:solidFill>
                  <a:srgbClr val="536575"/>
                </a:solidFill>
              </a:defRPr>
            </a:lvl7pPr>
            <a:lvl8pPr algn="l">
              <a:defRPr sz="1500" b="0">
                <a:solidFill>
                  <a:srgbClr val="536575"/>
                </a:solidFill>
              </a:defRPr>
            </a:lvl8pPr>
            <a:lvl9pPr algn="l">
              <a:defRPr sz="1500" b="0">
                <a:solidFill>
                  <a:srgbClr val="536575"/>
                </a:solidFill>
              </a:defRPr>
            </a:lvl9pPr>
          </a:lstStyle>
          <a:p xmlns:a="http://schemas.openxmlformats.org/drawingml/2006/main">
            <a:pPr algn="l">
              <a:defRPr sz="1500" b="0">
                <a:solidFill>
                  <a:srgbClr val="536575"/>
                </a:solidFill>
              </a:defRPr>
            </a:pPr>
            <a:r>
              <a:rPr sz="1500" b="0">
                <a:solidFill>
                  <a:srgbClr val="536575"/>
                </a:solidFill>
              </a:rPr>
              <a:t>The FFT compares the record with trial sinusoids. A matching repetition gives the strongest coefficient.</a:t>
            </a:r>
          </a:p>
        </p:txBody>
      </p:sp>
      <p:sp>
        <p:nvSpPr>
          <p:cNvPr id="11" name="">
            <a:extLst xmlns:a="http://schemas.openxmlformats.org/drawingml/2006/main">
              <a:ext uri="{FF2B5EF4-FFF2-40B4-BE49-F238E27FC236}">
                <a16:creationId xmlns:a16="http://schemas.microsoft.com/office/drawing/2014/main" id="{BA60C1A3-4D63-40AD-B042-86596725D1B6}"/>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4BBF00D3-2959-4F1A-B8B3-78861D0AF36D}"/>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The dominant peak lies near the damped frequency. Finite duration, decay, and FFT-bin spacing affect the exact peak.</a:t>
            </a:r>
          </a:p>
        </p:txBody>
      </p:sp>
    </p:spTree>
    <p:extLst>
      <p:ext uri="{BB962C8B-B14F-4D97-AF65-F5344CB8AC3E}">
        <p14:creationId xmlns:p14="http://schemas.microsoft.com/office/powerpoint/2010/main" val="1383200073"/>
      </p:ext>
    </p:extLst>
  </p:cSld>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566928" y="164592"/>
            <a:ext cx="4114800" cy="292608"/>
          </a:xfrm>
          <a:prstGeom prst="rect">
            <a:avLst/>
          </a:prstGeom>
          <a:noFill/>
        </p:spPr>
        <p:txBody>
          <a:bodyPr wrap="square" lIns="45720" rIns="45720" tIns="27432">
            <a:spAutoFit/>
          </a:bodyPr>
          <a:lstStyle/>
          <a:p>
            <a:pPr>
              <a:spcAft>
                <a:spcPts val="600"/>
              </a:spcAft>
            </a:pPr>
            <a:r>
              <a:rPr sz="1200" b="1">
                <a:solidFill>
                  <a:srgbClr val="972D41"/>
                </a:solidFill>
                <a:latin typeface="Aptos"/>
              </a:rPr>
              <a:t>MIE 402  •  MECHANICAL ENGINEERING LAB II</a:t>
            </a:r>
          </a:p>
        </p:txBody>
      </p:sp>
      <p:sp>
        <p:nvSpPr>
          <p:cNvPr id="5" name="TextBox 4"/>
          <p:cNvSpPr txBox="1"/>
          <p:nvPr/>
        </p:nvSpPr>
        <p:spPr>
          <a:xfrm>
            <a:off x="8229600" y="164592"/>
            <a:ext cx="3291840" cy="292608"/>
          </a:xfrm>
          <a:prstGeom prst="rect">
            <a:avLst/>
          </a:prstGeom>
          <a:noFill/>
        </p:spPr>
        <p:txBody>
          <a:bodyPr wrap="square" lIns="45720" rIns="45720" tIns="27432">
            <a:spAutoFit/>
          </a:bodyPr>
          <a:lstStyle/>
          <a:p>
            <a:pPr algn="r">
              <a:spcAft>
                <a:spcPts val="600"/>
              </a:spcAft>
            </a:pPr>
            <a:r>
              <a:rPr sz="1100" b="0">
                <a:solidFill>
                  <a:srgbClr val="55646F"/>
                </a:solidFill>
                <a:latin typeface="Aptos"/>
              </a:rPr>
              <a:t>Guided numerical example</a:t>
            </a:r>
          </a:p>
        </p:txBody>
      </p:sp>
      <p:sp>
        <p:nvSpPr>
          <p:cNvPr id="6" name="TextBox 5"/>
          <p:cNvSpPr txBox="1"/>
          <p:nvPr/>
        </p:nvSpPr>
        <p:spPr>
          <a:xfrm>
            <a:off x="566928" y="621792"/>
            <a:ext cx="11064240" cy="658368"/>
          </a:xfrm>
          <a:prstGeom prst="rect">
            <a:avLst/>
          </a:prstGeom>
          <a:noFill/>
        </p:spPr>
        <p:txBody>
          <a:bodyPr wrap="square" lIns="45720" rIns="45720" tIns="27432">
            <a:spAutoFit/>
          </a:bodyPr>
          <a:lstStyle/>
          <a:p>
            <a:pPr>
              <a:spcAft>
                <a:spcPts val="600"/>
              </a:spcAft>
            </a:pPr>
            <a:r>
              <a:rPr sz="2700" b="1">
                <a:solidFill>
                  <a:srgbClr val="193143"/>
                </a:solidFill>
                <a:latin typeface="Aptos"/>
              </a:rPr>
              <a:t>One measured record → parameter estimates</a:t>
            </a:r>
          </a:p>
        </p:txBody>
      </p:sp>
      <p:sp>
        <p:nvSpPr>
          <p:cNvPr id="7" name="Rectangle 6"/>
          <p:cNvSpPr/>
          <p:nvPr/>
        </p:nvSpPr>
        <p:spPr>
          <a:xfrm>
            <a:off x="566928" y="1335024"/>
            <a:ext cx="11018520" cy="10972"/>
          </a:xfrm>
          <a:prstGeom prst="rect">
            <a:avLst/>
          </a:prstGeom>
          <a:solidFill>
            <a:srgbClr val="D8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00784"/>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Peak times</a:t>
            </a:r>
          </a:p>
        </p:txBody>
      </p:sp>
      <p:sp>
        <p:nvSpPr>
          <p:cNvPr id="9" name="TextBox 8"/>
          <p:cNvSpPr txBox="1"/>
          <p:nvPr/>
        </p:nvSpPr>
        <p:spPr>
          <a:xfrm>
            <a:off x="3977639" y="1700784"/>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Six same-sign peaks span 5.00 s → T𝒹 = 1.00 s.</a:t>
            </a:r>
          </a:p>
        </p:txBody>
      </p:sp>
      <p:sp>
        <p:nvSpPr>
          <p:cNvPr id="10" name="TextBox 9"/>
          <p:cNvSpPr txBox="1"/>
          <p:nvPr/>
        </p:nvSpPr>
        <p:spPr>
          <a:xfrm>
            <a:off x="822960" y="2642616"/>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Peak decay</a:t>
            </a:r>
          </a:p>
        </p:txBody>
      </p:sp>
      <p:sp>
        <p:nvSpPr>
          <p:cNvPr id="11" name="TextBox 10"/>
          <p:cNvSpPr txBox="1"/>
          <p:nvPr/>
        </p:nvSpPr>
        <p:spPr>
          <a:xfrm>
            <a:off x="3977639" y="2642616"/>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0.040 m → 0.020 m over five cycles → δ = ln(2)/5 = 0.1386.</a:t>
            </a:r>
          </a:p>
        </p:txBody>
      </p:sp>
      <p:sp>
        <p:nvSpPr>
          <p:cNvPr id="12" name="TextBox 11"/>
          <p:cNvSpPr txBox="1"/>
          <p:nvPr/>
        </p:nvSpPr>
        <p:spPr>
          <a:xfrm>
            <a:off x="822960" y="3584448"/>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Decay rate</a:t>
            </a:r>
          </a:p>
        </p:txBody>
      </p:sp>
      <p:sp>
        <p:nvSpPr>
          <p:cNvPr id="13" name="TextBox 12"/>
          <p:cNvSpPr txBox="1"/>
          <p:nvPr/>
        </p:nvSpPr>
        <p:spPr>
          <a:xfrm>
            <a:off x="3977639" y="3584448"/>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α = δ/T𝒹 = 0.1386 s⁻¹; ω𝒹 = 2π/T𝒹 = 6.283 rad/s.</a:t>
            </a:r>
          </a:p>
        </p:txBody>
      </p:sp>
      <p:sp>
        <p:nvSpPr>
          <p:cNvPr id="14" name="TextBox 13"/>
          <p:cNvSpPr txBox="1"/>
          <p:nvPr/>
        </p:nvSpPr>
        <p:spPr>
          <a:xfrm>
            <a:off x="822960" y="4526280"/>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Model values</a:t>
            </a:r>
          </a:p>
        </p:txBody>
      </p:sp>
      <p:sp>
        <p:nvSpPr>
          <p:cNvPr id="15" name="TextBox 14"/>
          <p:cNvSpPr txBox="1"/>
          <p:nvPr/>
        </p:nvSpPr>
        <p:spPr>
          <a:xfrm>
            <a:off x="3977639" y="4526280"/>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ωₙ = √(ω𝒹² + α²) = 6.285 rad/s; c = 2mα = 0.139 N·s/m for m = 0.50 kg.</a:t>
            </a:r>
          </a:p>
        </p:txBody>
      </p:sp>
      <p:sp>
        <p:nvSpPr>
          <p:cNvPr id="16" name="Rectangle 15"/>
          <p:cNvSpPr/>
          <p:nvPr/>
        </p:nvSpPr>
        <p:spPr>
          <a:xfrm>
            <a:off x="566928" y="5888736"/>
            <a:ext cx="11027664" cy="585216"/>
          </a:xfrm>
          <a:prstGeom prst="rect">
            <a:avLst/>
          </a:prstGeom>
          <a:solidFill>
            <a:srgbClr val="EF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989320"/>
            <a:ext cx="10661904" cy="365760"/>
          </a:xfrm>
          <a:prstGeom prst="rect">
            <a:avLst/>
          </a:prstGeom>
          <a:noFill/>
        </p:spPr>
        <p:txBody>
          <a:bodyPr wrap="square" lIns="45720" rIns="45720" tIns="27432">
            <a:spAutoFit/>
          </a:bodyPr>
          <a:lstStyle/>
          <a:p>
            <a:pPr>
              <a:spcAft>
                <a:spcPts val="600"/>
              </a:spcAft>
            </a:pPr>
            <a:r>
              <a:rPr sz="1600" b="1">
                <a:solidFill>
                  <a:srgbClr val="972D41"/>
                </a:solidFill>
                <a:latin typeface="Aptos"/>
              </a:rPr>
              <a:t>Illustrative calculation only — not an experimental measurement.</a:t>
            </a:r>
          </a:p>
        </p:txBody>
      </p:sp>
      <p:sp>
        <p:nvSpPr>
          <p:cNvPr id="18" name="TextBox 17"/>
          <p:cNvSpPr txBox="1"/>
          <p:nvPr/>
        </p:nvSpPr>
        <p:spPr>
          <a:xfrm>
            <a:off x="594360" y="6556248"/>
            <a:ext cx="6400800" cy="182880"/>
          </a:xfrm>
          <a:prstGeom prst="rect">
            <a:avLst/>
          </a:prstGeom>
          <a:noFill/>
        </p:spPr>
        <p:txBody>
          <a:bodyPr wrap="square" lIns="45720" rIns="45720" tIns="27432">
            <a:spAutoFit/>
          </a:bodyPr>
          <a:lstStyle/>
          <a:p>
            <a:pPr>
              <a:spcAft>
                <a:spcPts val="600"/>
              </a:spcAft>
            </a:pPr>
            <a:r>
              <a:rPr sz="1000" b="0">
                <a:solidFill>
                  <a:srgbClr val="55646F"/>
                </a:solidFill>
                <a:latin typeface="Aptos"/>
              </a:rPr>
              <a:t>Ehsan Roohi  •  UMass Amherst  •  Fall 2026</a:t>
            </a:r>
          </a:p>
        </p:txBody>
      </p:sp>
      <p:sp>
        <p:nvSpPr>
          <p:cNvPr id="19" name="TextBox 18"/>
          <p:cNvSpPr txBox="1"/>
          <p:nvPr/>
        </p:nvSpPr>
        <p:spPr>
          <a:xfrm>
            <a:off x="11064240" y="6556248"/>
            <a:ext cx="566928" cy="182880"/>
          </a:xfrm>
          <a:prstGeom prst="rect">
            <a:avLst/>
          </a:prstGeom>
          <a:noFill/>
        </p:spPr>
        <p:txBody>
          <a:bodyPr wrap="square" lIns="45720" rIns="45720" tIns="27432">
            <a:spAutoFit/>
          </a:bodyPr>
          <a:lstStyle/>
          <a:p>
            <a:pPr algn="r"/>
            <a:r>
              <a:rPr sz="1000">
                <a:solidFill>
                  <a:srgbClr val="5A666E"/>
                </a:solidFill>
              </a:rPr>
              <a:t>27</a:t>
            </a:r>
          </a:p>
        </p:txBody>
      </p:sp>
      <p:sp>
        <p:nvSpPr>
          <p:cNvPr id="20" name="TextBox 19"/>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32–33 min</a:t>
            </a:r>
          </a:p>
        </p:txBody>
      </p:sp>
    </p:spTree>
  </p:cSld>
  <p:clrMapOvr>
    <a:masterClrMapping/>
  </p:clrMapOvr>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62AE52D-1210-4599-9935-E507BF6F76A0}"/>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53E27EE1-3004-49CD-823C-0483F0B03D12}"/>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Calibration</a:t>
            </a:r>
          </a:p>
        </p:txBody>
      </p:sp>
      <p:sp>
        <p:nvSpPr>
          <p:cNvPr id="3" name="">
            <a:extLst xmlns:a="http://schemas.openxmlformats.org/drawingml/2006/main">
              <a:ext uri="{FF2B5EF4-FFF2-40B4-BE49-F238E27FC236}">
                <a16:creationId xmlns:a16="http://schemas.microsoft.com/office/drawing/2014/main" id="{D1BC2F1A-0040-44DD-A769-AEBF41C3E791}"/>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Spring calibration is a separate vertical experiment</a:t>
            </a:r>
          </a:p>
        </p:txBody>
      </p:sp>
      <p:sp>
        <p:nvSpPr>
          <p:cNvPr id="4" name="">
            <a:extLst xmlns:a="http://schemas.openxmlformats.org/drawingml/2006/main">
              <a:ext uri="{FF2B5EF4-FFF2-40B4-BE49-F238E27FC236}">
                <a16:creationId xmlns:a16="http://schemas.microsoft.com/office/drawing/2014/main" id="{B7EC3CBF-F8E6-460F-879B-386B82210A08}"/>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2544121-910E-4366-BF3D-4399442770EB}"/>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31</a:t>
            </a:r>
          </a:p>
        </p:txBody>
      </p:sp>
      <p:sp>
        <p:nvSpPr>
          <p:cNvPr id="6" name="">
            <a:extLst xmlns:a="http://schemas.openxmlformats.org/drawingml/2006/main">
              <a:ext uri="{FF2B5EF4-FFF2-40B4-BE49-F238E27FC236}">
                <a16:creationId xmlns:a16="http://schemas.microsoft.com/office/drawing/2014/main" id="{350A1B42-F5E0-4D6A-A9AD-28C093B4BB69}"/>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36–37 min</a:t>
            </a:r>
          </a:p>
        </p:txBody>
      </p:sp>
      <p:sp>
        <p:nvSpPr>
          <p:cNvPr id="7" name="">
            <a:extLst xmlns:a="http://schemas.openxmlformats.org/drawingml/2006/main">
              <a:ext uri="{FF2B5EF4-FFF2-40B4-BE49-F238E27FC236}">
                <a16:creationId xmlns:a16="http://schemas.microsoft.com/office/drawing/2014/main" id="{D87C22CA-D0A3-4818-ABAE-DD729E1F9CE5}"/>
              </a:ext>
            </a:extLst>
          </p:cNvPr>
          <p:cNvSpPr>
            <a:spLocks xmlns:a="http://schemas.openxmlformats.org/drawingml/2006/main" noGrp="1"/>
          </p:cNvSpPr>
          <p:nvPr/>
        </p:nvSpPr>
        <p:spPr>
          <a:xfrm xmlns:a="http://schemas.openxmlformats.org/drawingml/2006/main">
            <a:off x="714375" y="16192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0">
                <a:solidFill>
                  <a:srgbClr val="142D42"/>
                </a:solidFill>
              </a:defRPr>
            </a:defPPr>
            <a:lvl1pPr algn="l">
              <a:defRPr sz="1875" b="0">
                <a:solidFill>
                  <a:srgbClr val="142D42"/>
                </a:solidFill>
              </a:defRPr>
            </a:lvl1pPr>
            <a:lvl2pPr algn="l">
              <a:defRPr sz="1875" b="0">
                <a:solidFill>
                  <a:srgbClr val="142D42"/>
                </a:solidFill>
              </a:defRPr>
            </a:lvl2pPr>
            <a:lvl3pPr algn="l">
              <a:defRPr sz="1875" b="0">
                <a:solidFill>
                  <a:srgbClr val="142D42"/>
                </a:solidFill>
              </a:defRPr>
            </a:lvl3pPr>
            <a:lvl4pPr algn="l">
              <a:defRPr sz="1875" b="0">
                <a:solidFill>
                  <a:srgbClr val="142D42"/>
                </a:solidFill>
              </a:defRPr>
            </a:lvl4pPr>
            <a:lvl5pPr algn="l">
              <a:defRPr sz="1875" b="0">
                <a:solidFill>
                  <a:srgbClr val="142D42"/>
                </a:solidFill>
              </a:defRPr>
            </a:lvl5pPr>
            <a:lvl6pPr algn="l">
              <a:defRPr sz="1875" b="0">
                <a:solidFill>
                  <a:srgbClr val="142D42"/>
                </a:solidFill>
              </a:defRPr>
            </a:lvl6pPr>
            <a:lvl7pPr algn="l">
              <a:defRPr sz="1875" b="0">
                <a:solidFill>
                  <a:srgbClr val="142D42"/>
                </a:solidFill>
              </a:defRPr>
            </a:lvl7pPr>
            <a:lvl8pPr algn="l">
              <a:defRPr sz="1875" b="0">
                <a:solidFill>
                  <a:srgbClr val="142D42"/>
                </a:solidFill>
              </a:defRPr>
            </a:lvl8pPr>
            <a:lvl9pPr algn="l">
              <a:defRPr sz="1875" b="0">
                <a:solidFill>
                  <a:srgbClr val="142D42"/>
                </a:solidFill>
              </a:defRPr>
            </a:lvl9pPr>
          </a:lstStyle>
          <a:p xmlns:a="http://schemas.openxmlformats.org/drawingml/2006/main">
            <a:pPr algn="l">
              <a:defRPr sz="1875" b="0">
                <a:solidFill>
                  <a:srgbClr val="142D42"/>
                </a:solidFill>
              </a:defRPr>
            </a:pPr>
            <a:r>
              <a:rPr sz="1875" b="0">
                <a:solidFill>
                  <a:srgbClr val="142D42"/>
                </a:solidFill>
              </a:rPr>
              <a:t>Hang a known moving mass from one spring. Use g = 9.81 m/s².</a:t>
            </a:r>
          </a:p>
        </p:txBody>
      </p:sp>
      <p:pic>
        <p:nvPicPr>
          <p:cNvPr id="8" name="">
            <a:extLst xmlns:a="http://schemas.openxmlformats.org/drawingml/2006/main">
              <a:ext uri="{FF2B5EF4-FFF2-40B4-BE49-F238E27FC236}">
                <a16:creationId xmlns:a16="http://schemas.microsoft.com/office/drawing/2014/main" id="{357B7D64-FF96-42B4-A5E0-56704FB8F59A}"/>
              </a:ext>
            </a:extLst>
          </p:cNvPr>
          <p:cNvPicPr>
            <a:picLocks xmlns:a="http://schemas.openxmlformats.org/drawingml/2006/main" noChangeAspect="1"/>
          </p:cNvPicPr>
          <p:nvPr/>
        </p:nvPicPr>
        <p:blipFill>
          <a:blip xmlns:r="http://schemas.openxmlformats.org/officeDocument/2006/relationships" xmlns:a="http://schemas.openxmlformats.org/drawingml/2006/main" r:embed="R304e400ed354463d"/>
          <a:stretch xmlns:a="http://schemas.openxmlformats.org/drawingml/2006/main"/>
        </p:blipFill>
        <p:spPr>
          <a:xfrm xmlns:a="http://schemas.openxmlformats.org/drawingml/2006/main">
            <a:off x="952500" y="2476500"/>
            <a:ext cx="1675924" cy="432340"/>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FB01E1FA-56E3-485A-BB42-B5B3D057AAAD}"/>
              </a:ext>
            </a:extLst>
          </p:cNvPr>
          <p:cNvPicPr>
            <a:picLocks xmlns:a="http://schemas.openxmlformats.org/drawingml/2006/main" noChangeAspect="1"/>
          </p:cNvPicPr>
          <p:nvPr/>
        </p:nvPicPr>
        <p:blipFill>
          <a:blip xmlns:r="http://schemas.openxmlformats.org/officeDocument/2006/relationships" xmlns:a="http://schemas.openxmlformats.org/drawingml/2006/main" r:embed="R17d0f843206146b3"/>
          <a:stretch xmlns:a="http://schemas.openxmlformats.org/drawingml/2006/main"/>
        </p:blipFill>
        <p:spPr>
          <a:xfrm xmlns:a="http://schemas.openxmlformats.org/drawingml/2006/main">
            <a:off x="5905500" y="2381250"/>
            <a:ext cx="3768471" cy="356044"/>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AA2F4136-FF54-494D-9680-D2FE1C54A092}"/>
              </a:ext>
            </a:extLst>
          </p:cNvPr>
          <p:cNvPicPr>
            <a:picLocks xmlns:a="http://schemas.openxmlformats.org/drawingml/2006/main" noChangeAspect="1"/>
          </p:cNvPicPr>
          <p:nvPr/>
        </p:nvPicPr>
        <p:blipFill>
          <a:blip xmlns:r="http://schemas.openxmlformats.org/officeDocument/2006/relationships" xmlns:a="http://schemas.openxmlformats.org/drawingml/2006/main" r:embed="R76ccba0ac46b4bc1"/>
          <a:stretch xmlns:a="http://schemas.openxmlformats.org/drawingml/2006/main"/>
        </p:blipFill>
        <p:spPr>
          <a:xfrm xmlns:a="http://schemas.openxmlformats.org/drawingml/2006/main">
            <a:off x="1143000" y="3667125"/>
            <a:ext cx="2035397" cy="43234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87DE24C9-7274-4DFC-AD46-7DD132A57733}"/>
              </a:ext>
            </a:extLst>
          </p:cNvPr>
          <p:cNvPicPr>
            <a:picLocks xmlns:a="http://schemas.openxmlformats.org/drawingml/2006/main" noChangeAspect="1"/>
          </p:cNvPicPr>
          <p:nvPr/>
        </p:nvPicPr>
        <p:blipFill>
          <a:blip xmlns:r="http://schemas.openxmlformats.org/officeDocument/2006/relationships" xmlns:a="http://schemas.openxmlformats.org/drawingml/2006/main" r:embed="R64a29f404bc34950"/>
          <a:stretch xmlns:a="http://schemas.openxmlformats.org/drawingml/2006/main"/>
        </p:blipFill>
        <p:spPr>
          <a:xfrm xmlns:a="http://schemas.openxmlformats.org/drawingml/2006/main">
            <a:off x="6572250" y="3667125"/>
            <a:ext cx="1865376" cy="655796"/>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BC8EC209-C888-42B6-82D6-8220A66005E4}"/>
              </a:ext>
            </a:extLst>
          </p:cNvPr>
          <p:cNvSpPr>
            <a:spLocks xmlns:a="http://schemas.openxmlformats.org/drawingml/2006/main" noGrp="1"/>
          </p:cNvSpPr>
          <p:nvPr/>
        </p:nvSpPr>
        <p:spPr>
          <a:xfrm xmlns:a="http://schemas.openxmlformats.org/drawingml/2006/main">
            <a:off x="762000" y="4857750"/>
            <a:ext cx="10572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q [m]: vertical displacement from the hanging equilibrium.</a:t>
            </a:r>
          </a:p>
          <a:p xmlns:a="http://schemas.openxmlformats.org/drawingml/2006/main">
            <a:pPr algn="l">
              <a:defRPr sz="1725" b="0">
                <a:solidFill>
                  <a:srgbClr val="142D42"/>
                </a:solidFill>
              </a:defRPr>
            </a:pPr>
            <a:r>
              <a:rPr sz="1725" b="0">
                <a:solidFill>
                  <a:srgbClr val="142D42"/>
                </a:solidFill>
              </a:rPr>
              <a:t>Static extension [m]: Δ₀. Include the hanger and all moving attachments in the hanging mass.</a:t>
            </a:r>
          </a:p>
        </p:txBody>
      </p:sp>
      <p:sp>
        <p:nvSpPr>
          <p:cNvPr id="13" name="">
            <a:extLst xmlns:a="http://schemas.openxmlformats.org/drawingml/2006/main">
              <a:ext uri="{FF2B5EF4-FFF2-40B4-BE49-F238E27FC236}">
                <a16:creationId xmlns:a16="http://schemas.microsoft.com/office/drawing/2014/main" id="{392960F7-CBF1-4BA4-BA51-B9FD18CF4A48}"/>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24A849DA-1F7D-4311-8960-A003C806B160}"/>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Small damping makes the measured frequency close to the undamped frequency. Spring mass must be small.</a:t>
            </a:r>
          </a:p>
        </p:txBody>
      </p:sp>
    </p:spTree>
    <p:extLst>
      <p:ext uri="{BB962C8B-B14F-4D97-AF65-F5344CB8AC3E}">
        <p14:creationId xmlns:p14="http://schemas.microsoft.com/office/powerpoint/2010/main" val="12036484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E7C858E-AC51-4708-90DF-C9930CFCEB6A}"/>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FE68B5F5-8A2C-4873-A6D6-5868A7D1A94D}"/>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Calibration software</a:t>
            </a:r>
          </a:p>
        </p:txBody>
      </p:sp>
      <p:sp>
        <p:nvSpPr>
          <p:cNvPr id="3" name="">
            <a:extLst xmlns:a="http://schemas.openxmlformats.org/drawingml/2006/main">
              <a:ext uri="{FF2B5EF4-FFF2-40B4-BE49-F238E27FC236}">
                <a16:creationId xmlns:a16="http://schemas.microsoft.com/office/drawing/2014/main" id="{95D26BCD-DAF9-49CA-8189-43AF618C83CC}"/>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What the sinusoidal fit in Graphical Analysis reports</a:t>
            </a:r>
          </a:p>
        </p:txBody>
      </p:sp>
      <p:sp>
        <p:nvSpPr>
          <p:cNvPr id="4" name="">
            <a:extLst xmlns:a="http://schemas.openxmlformats.org/drawingml/2006/main">
              <a:ext uri="{FF2B5EF4-FFF2-40B4-BE49-F238E27FC236}">
                <a16:creationId xmlns:a16="http://schemas.microsoft.com/office/drawing/2014/main" id="{F175972B-AE59-443D-A82A-97DF6F8066A4}"/>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D8F809-9531-4947-8DB0-0D9FDF0D5D9B}"/>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32</a:t>
            </a:r>
          </a:p>
        </p:txBody>
      </p:sp>
      <p:sp>
        <p:nvSpPr>
          <p:cNvPr id="6" name="">
            <a:extLst xmlns:a="http://schemas.openxmlformats.org/drawingml/2006/main">
              <a:ext uri="{FF2B5EF4-FFF2-40B4-BE49-F238E27FC236}">
                <a16:creationId xmlns:a16="http://schemas.microsoft.com/office/drawing/2014/main" id="{6F3C5393-4F63-4A03-95C1-50909495517E}"/>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37–38 min</a:t>
            </a:r>
          </a:p>
        </p:txBody>
      </p:sp>
      <p:pic>
        <p:nvPicPr>
          <p:cNvPr id="7" name="">
            <a:extLst xmlns:a="http://schemas.openxmlformats.org/drawingml/2006/main">
              <a:ext uri="{FF2B5EF4-FFF2-40B4-BE49-F238E27FC236}">
                <a16:creationId xmlns:a16="http://schemas.microsoft.com/office/drawing/2014/main" id="{5F24963A-1483-48D7-8406-383A5FE84625}"/>
              </a:ext>
            </a:extLst>
          </p:cNvPr>
          <p:cNvPicPr>
            <a:picLocks xmlns:a="http://schemas.openxmlformats.org/drawingml/2006/main" noChangeAspect="1"/>
          </p:cNvPicPr>
          <p:nvPr/>
        </p:nvPicPr>
        <p:blipFill>
          <a:blip xmlns:r="http://schemas.openxmlformats.org/officeDocument/2006/relationships" xmlns:a="http://schemas.openxmlformats.org/drawingml/2006/main" r:embed="R9c1a3ff20d094359"/>
          <a:stretch xmlns:a="http://schemas.openxmlformats.org/drawingml/2006/main"/>
        </p:blipFill>
        <p:spPr>
          <a:xfrm xmlns:a="http://schemas.openxmlformats.org/drawingml/2006/main">
            <a:off x="523875" y="1619549"/>
            <a:ext cx="7000875" cy="3476027"/>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B18FC14-ECF3-437F-A2DB-9335581ECB53}"/>
              </a:ext>
            </a:extLst>
          </p:cNvPr>
          <p:cNvPicPr>
            <a:picLocks xmlns:a="http://schemas.openxmlformats.org/drawingml/2006/main" noChangeAspect="1"/>
          </p:cNvPicPr>
          <p:nvPr/>
        </p:nvPicPr>
        <p:blipFill>
          <a:blip xmlns:r="http://schemas.openxmlformats.org/officeDocument/2006/relationships" xmlns:a="http://schemas.openxmlformats.org/drawingml/2006/main" r:embed="R0dece44f951d490c"/>
          <a:stretch xmlns:a="http://schemas.openxmlformats.org/drawingml/2006/main"/>
        </p:blipFill>
        <p:spPr>
          <a:xfrm xmlns:a="http://schemas.openxmlformats.org/drawingml/2006/main">
            <a:off x="7762875" y="1714500"/>
            <a:ext cx="2585466" cy="305181"/>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8A12355-429C-46F9-972E-5E3611103038}"/>
              </a:ext>
            </a:extLst>
          </p:cNvPr>
          <p:cNvSpPr>
            <a:spLocks xmlns:a="http://schemas.openxmlformats.org/drawingml/2006/main" noGrp="1"/>
          </p:cNvSpPr>
          <p:nvPr/>
        </p:nvSpPr>
        <p:spPr>
          <a:xfrm xmlns:a="http://schemas.openxmlformats.org/drawingml/2006/main">
            <a:off x="7762875" y="2619375"/>
            <a:ext cx="3762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a: force amplitude [N]</a:t>
            </a:r>
          </a:p>
          <a:p xmlns:a="http://schemas.openxmlformats.org/drawingml/2006/main">
            <a:pPr algn="l">
              <a:defRPr sz="1725" b="0">
                <a:solidFill>
                  <a:srgbClr val="142D42"/>
                </a:solidFill>
              </a:defRPr>
            </a:pPr>
            <a:r>
              <a:rPr sz="1725" b="0">
                <a:solidFill>
                  <a:srgbClr val="142D42"/>
                </a:solidFill>
              </a:rPr>
              <a:t>b: angular frequency [rad/s]</a:t>
            </a:r>
          </a:p>
          <a:p xmlns:a="http://schemas.openxmlformats.org/drawingml/2006/main">
            <a:pPr algn="l">
              <a:defRPr sz="1725" b="0">
                <a:solidFill>
                  <a:srgbClr val="142D42"/>
                </a:solidFill>
              </a:defRPr>
            </a:pPr>
            <a:r>
              <a:rPr sz="1725" b="0">
                <a:solidFill>
                  <a:srgbClr val="142D42"/>
                </a:solidFill>
              </a:rPr>
              <a:t>phase parameter: c in the fit window [rad]</a:t>
            </a:r>
          </a:p>
          <a:p xmlns:a="http://schemas.openxmlformats.org/drawingml/2006/main">
            <a:pPr algn="l">
              <a:defRPr sz="1725" b="0">
                <a:solidFill>
                  <a:srgbClr val="142D42"/>
                </a:solidFill>
              </a:defRPr>
            </a:pPr>
            <a:r>
              <a:rPr sz="1725" b="0">
                <a:solidFill>
                  <a:srgbClr val="142D42"/>
                </a:solidFill>
              </a:rPr>
              <a:t>d: force offset [N]</a:t>
            </a:r>
          </a:p>
        </p:txBody>
      </p:sp>
      <p:pic>
        <p:nvPicPr>
          <p:cNvPr id="10" name="">
            <a:extLst xmlns:a="http://schemas.openxmlformats.org/drawingml/2006/main">
              <a:ext uri="{FF2B5EF4-FFF2-40B4-BE49-F238E27FC236}">
                <a16:creationId xmlns:a16="http://schemas.microsoft.com/office/drawing/2014/main" id="{D10CA8F7-0D3B-4E9D-9A04-6506FAC409BD}"/>
              </a:ext>
            </a:extLst>
          </p:cNvPr>
          <p:cNvPicPr>
            <a:picLocks xmlns:a="http://schemas.openxmlformats.org/drawingml/2006/main" noChangeAspect="1"/>
          </p:cNvPicPr>
          <p:nvPr/>
        </p:nvPicPr>
        <p:blipFill>
          <a:blip xmlns:r="http://schemas.openxmlformats.org/officeDocument/2006/relationships" xmlns:a="http://schemas.openxmlformats.org/drawingml/2006/main" r:embed="R06be1123d78b4d26"/>
          <a:stretch xmlns:a="http://schemas.openxmlformats.org/drawingml/2006/main"/>
        </p:blipFill>
        <p:spPr>
          <a:xfrm xmlns:a="http://schemas.openxmlformats.org/drawingml/2006/main">
            <a:off x="8096250" y="4429125"/>
            <a:ext cx="1442752" cy="480917"/>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EF51AE55-D6DB-46C2-8D50-76F9C59FEE34}"/>
              </a:ext>
            </a:extLst>
          </p:cNvPr>
          <p:cNvSpPr>
            <a:spLocks xmlns:a="http://schemas.openxmlformats.org/drawingml/2006/main" noGrp="1"/>
          </p:cNvSpPr>
          <p:nvPr/>
        </p:nvSpPr>
        <p:spPr>
          <a:xfrm xmlns:a="http://schemas.openxmlformats.org/drawingml/2006/main">
            <a:off x="7762875" y="5191125"/>
            <a:ext cx="37623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1">
                <a:solidFill>
                  <a:srgbClr val="A82C3C"/>
                </a:solidFill>
              </a:defRPr>
            </a:defPPr>
            <a:lvl1pPr algn="l">
              <a:defRPr sz="1650" b="1">
                <a:solidFill>
                  <a:srgbClr val="A82C3C"/>
                </a:solidFill>
              </a:defRPr>
            </a:lvl1pPr>
            <a:lvl2pPr algn="l">
              <a:defRPr sz="1650" b="1">
                <a:solidFill>
                  <a:srgbClr val="A82C3C"/>
                </a:solidFill>
              </a:defRPr>
            </a:lvl2pPr>
            <a:lvl3pPr algn="l">
              <a:defRPr sz="1650" b="1">
                <a:solidFill>
                  <a:srgbClr val="A82C3C"/>
                </a:solidFill>
              </a:defRPr>
            </a:lvl3pPr>
            <a:lvl4pPr algn="l">
              <a:defRPr sz="1650" b="1">
                <a:solidFill>
                  <a:srgbClr val="A82C3C"/>
                </a:solidFill>
              </a:defRPr>
            </a:lvl4pPr>
            <a:lvl5pPr algn="l">
              <a:defRPr sz="1650" b="1">
                <a:solidFill>
                  <a:srgbClr val="A82C3C"/>
                </a:solidFill>
              </a:defRPr>
            </a:lvl5pPr>
            <a:lvl6pPr algn="l">
              <a:defRPr sz="1650" b="1">
                <a:solidFill>
                  <a:srgbClr val="A82C3C"/>
                </a:solidFill>
              </a:defRPr>
            </a:lvl6pPr>
            <a:lvl7pPr algn="l">
              <a:defRPr sz="1650" b="1">
                <a:solidFill>
                  <a:srgbClr val="A82C3C"/>
                </a:solidFill>
              </a:defRPr>
            </a:lvl7pPr>
            <a:lvl8pPr algn="l">
              <a:defRPr sz="1650" b="1">
                <a:solidFill>
                  <a:srgbClr val="A82C3C"/>
                </a:solidFill>
              </a:defRPr>
            </a:lvl8pPr>
            <a:lvl9pPr algn="l">
              <a:defRPr sz="1650" b="1">
                <a:solidFill>
                  <a:srgbClr val="A82C3C"/>
                </a:solidFill>
              </a:defRPr>
            </a:lvl9pPr>
          </a:lstStyle>
          <a:p xmlns:a="http://schemas.openxmlformats.org/drawingml/2006/main">
            <a:pPr algn="l">
              <a:defRPr sz="1650" b="1">
                <a:solidFill>
                  <a:srgbClr val="A82C3C"/>
                </a:solidFill>
              </a:defRPr>
            </a:pPr>
            <a:r>
              <a:rPr sz="1650" b="1">
                <a:solidFill>
                  <a:srgbClr val="A82C3C"/>
                </a:solidFill>
              </a:rPr>
              <a:t>Use b directly. Do not multiply b by 2π again.</a:t>
            </a:r>
          </a:p>
        </p:txBody>
      </p:sp>
      <p:sp>
        <p:nvSpPr>
          <p:cNvPr id="12" name="">
            <a:extLst xmlns:a="http://schemas.openxmlformats.org/drawingml/2006/main">
              <a:ext uri="{FF2B5EF4-FFF2-40B4-BE49-F238E27FC236}">
                <a16:creationId xmlns:a16="http://schemas.microsoft.com/office/drawing/2014/main" id="{C4F7B3E5-492E-41E9-A515-15C88DFBC127}"/>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D58F441-397D-495D-867F-DA0F4C8FD515}"/>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The screenshot uses c for phase. It is unrelated to the damping coefficient c in the motion model.</a:t>
            </a:r>
          </a:p>
        </p:txBody>
      </p:sp>
    </p:spTree>
    <p:extLst>
      <p:ext uri="{BB962C8B-B14F-4D97-AF65-F5344CB8AC3E}">
        <p14:creationId xmlns:p14="http://schemas.microsoft.com/office/powerpoint/2010/main" val="183979172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ED8D73B-B3C0-47F9-BADD-A76B7FB89F85}"/>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B7F74740-9F89-4ACD-8108-59D233E5A4DF}"/>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Predictions after theory</a:t>
            </a:r>
          </a:p>
        </p:txBody>
      </p:sp>
      <p:sp>
        <p:nvSpPr>
          <p:cNvPr id="3" name="">
            <a:extLst xmlns:a="http://schemas.openxmlformats.org/drawingml/2006/main">
              <a:ext uri="{FF2B5EF4-FFF2-40B4-BE49-F238E27FC236}">
                <a16:creationId xmlns:a16="http://schemas.microsoft.com/office/drawing/2014/main" id="{C4286D8F-DC9D-4043-AEBC-E12F60DAD84D}"/>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model now predicts the seven-case trends</a:t>
            </a:r>
          </a:p>
        </p:txBody>
      </p:sp>
      <p:sp>
        <p:nvSpPr>
          <p:cNvPr id="4" name="">
            <a:extLst xmlns:a="http://schemas.openxmlformats.org/drawingml/2006/main">
              <a:ext uri="{FF2B5EF4-FFF2-40B4-BE49-F238E27FC236}">
                <a16:creationId xmlns:a16="http://schemas.microsoft.com/office/drawing/2014/main" id="{D6B98DAA-30E3-4439-9E3C-A0A98B75D020}"/>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684ED3-1C16-4CE9-8E88-08AEEF077627}"/>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33</a:t>
            </a:r>
          </a:p>
        </p:txBody>
      </p:sp>
      <p:sp>
        <p:nvSpPr>
          <p:cNvPr id="6" name="">
            <a:extLst xmlns:a="http://schemas.openxmlformats.org/drawingml/2006/main">
              <a:ext uri="{FF2B5EF4-FFF2-40B4-BE49-F238E27FC236}">
                <a16:creationId xmlns:a16="http://schemas.microsoft.com/office/drawing/2014/main" id="{D3DBFB98-5241-44DB-BF25-464497674D86}"/>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38–39 min</a:t>
            </a:r>
          </a:p>
        </p:txBody>
      </p:sp>
      <p:sp>
        <p:nvSpPr>
          <p:cNvPr id="7" name="">
            <a:extLst xmlns:a="http://schemas.openxmlformats.org/drawingml/2006/main">
              <a:ext uri="{FF2B5EF4-FFF2-40B4-BE49-F238E27FC236}">
                <a16:creationId xmlns:a16="http://schemas.microsoft.com/office/drawing/2014/main" id="{64D23D6B-BC5E-441A-999C-46F572D3BDE3}"/>
              </a:ext>
            </a:extLst>
          </p:cNvPr>
          <p:cNvSpPr>
            <a:spLocks xmlns:a="http://schemas.openxmlformats.org/drawingml/2006/main" noGrp="1"/>
          </p:cNvSpPr>
          <p:nvPr/>
        </p:nvSpPr>
        <p:spPr>
          <a:xfrm xmlns:a="http://schemas.openxmlformats.org/drawingml/2006/main">
            <a:off x="714375" y="1714500"/>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950" b="1">
                <a:solidFill>
                  <a:srgbClr val="A82C3C"/>
                </a:solidFill>
              </a:defRPr>
            </a:defPPr>
            <a:lvl1pPr algn="l">
              <a:defRPr sz="1950" b="1">
                <a:solidFill>
                  <a:srgbClr val="A82C3C"/>
                </a:solidFill>
              </a:defRPr>
            </a:lvl1pPr>
            <a:lvl2pPr algn="l">
              <a:defRPr sz="1950" b="1">
                <a:solidFill>
                  <a:srgbClr val="A82C3C"/>
                </a:solidFill>
              </a:defRPr>
            </a:lvl2pPr>
            <a:lvl3pPr algn="l">
              <a:defRPr sz="1950" b="1">
                <a:solidFill>
                  <a:srgbClr val="A82C3C"/>
                </a:solidFill>
              </a:defRPr>
            </a:lvl3pPr>
            <a:lvl4pPr algn="l">
              <a:defRPr sz="1950" b="1">
                <a:solidFill>
                  <a:srgbClr val="A82C3C"/>
                </a:solidFill>
              </a:defRPr>
            </a:lvl4pPr>
            <a:lvl5pPr algn="l">
              <a:defRPr sz="1950" b="1">
                <a:solidFill>
                  <a:srgbClr val="A82C3C"/>
                </a:solidFill>
              </a:defRPr>
            </a:lvl5pPr>
            <a:lvl6pPr algn="l">
              <a:defRPr sz="1950" b="1">
                <a:solidFill>
                  <a:srgbClr val="A82C3C"/>
                </a:solidFill>
              </a:defRPr>
            </a:lvl6pPr>
            <a:lvl7pPr algn="l">
              <a:defRPr sz="1950" b="1">
                <a:solidFill>
                  <a:srgbClr val="A82C3C"/>
                </a:solidFill>
              </a:defRPr>
            </a:lvl7pPr>
            <a:lvl8pPr algn="l">
              <a:defRPr sz="1950" b="1">
                <a:solidFill>
                  <a:srgbClr val="A82C3C"/>
                </a:solidFill>
              </a:defRPr>
            </a:lvl8pPr>
            <a:lvl9pPr algn="l">
              <a:defRPr sz="1950" b="1">
                <a:solidFill>
                  <a:srgbClr val="A82C3C"/>
                </a:solidFill>
              </a:defRPr>
            </a:lvl9pPr>
          </a:lstStyle>
          <a:p xmlns:a="http://schemas.openxmlformats.org/drawingml/2006/main">
            <a:pPr algn="l">
              <a:defRPr sz="1950" b="1">
                <a:solidFill>
                  <a:srgbClr val="A82C3C"/>
                </a:solidFill>
              </a:defRPr>
            </a:pPr>
            <a:r>
              <a:rPr sz="1950" b="1">
                <a:solidFill>
                  <a:srgbClr val="A82C3C"/>
                </a:solidFill>
              </a:rPr>
              <a:t>Increase moving mass</a:t>
            </a:r>
          </a:p>
        </p:txBody>
      </p:sp>
      <p:sp>
        <p:nvSpPr>
          <p:cNvPr id="8" name="">
            <a:extLst xmlns:a="http://schemas.openxmlformats.org/drawingml/2006/main">
              <a:ext uri="{FF2B5EF4-FFF2-40B4-BE49-F238E27FC236}">
                <a16:creationId xmlns:a16="http://schemas.microsoft.com/office/drawing/2014/main" id="{564CEAA3-2ADC-42DF-BC82-B4CC295FEA90}"/>
              </a:ext>
            </a:extLst>
          </p:cNvPr>
          <p:cNvSpPr>
            <a:spLocks xmlns:a="http://schemas.openxmlformats.org/drawingml/2006/main" noGrp="1"/>
          </p:cNvSpPr>
          <p:nvPr/>
        </p:nvSpPr>
        <p:spPr>
          <a:xfrm xmlns:a="http://schemas.openxmlformats.org/drawingml/2006/main">
            <a:off x="3714750" y="1714500"/>
            <a:ext cx="7572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950" b="1">
                <a:solidFill>
                  <a:srgbClr val="142D42"/>
                </a:solidFill>
              </a:defRPr>
            </a:defPPr>
            <a:lvl1pPr algn="l">
              <a:defRPr sz="1950" b="1">
                <a:solidFill>
                  <a:srgbClr val="142D42"/>
                </a:solidFill>
              </a:defRPr>
            </a:lvl1pPr>
            <a:lvl2pPr algn="l">
              <a:defRPr sz="1950" b="1">
                <a:solidFill>
                  <a:srgbClr val="142D42"/>
                </a:solidFill>
              </a:defRPr>
            </a:lvl2pPr>
            <a:lvl3pPr algn="l">
              <a:defRPr sz="1950" b="1">
                <a:solidFill>
                  <a:srgbClr val="142D42"/>
                </a:solidFill>
              </a:defRPr>
            </a:lvl3pPr>
            <a:lvl4pPr algn="l">
              <a:defRPr sz="1950" b="1">
                <a:solidFill>
                  <a:srgbClr val="142D42"/>
                </a:solidFill>
              </a:defRPr>
            </a:lvl4pPr>
            <a:lvl5pPr algn="l">
              <a:defRPr sz="1950" b="1">
                <a:solidFill>
                  <a:srgbClr val="142D42"/>
                </a:solidFill>
              </a:defRPr>
            </a:lvl5pPr>
            <a:lvl6pPr algn="l">
              <a:defRPr sz="1950" b="1">
                <a:solidFill>
                  <a:srgbClr val="142D42"/>
                </a:solidFill>
              </a:defRPr>
            </a:lvl6pPr>
            <a:lvl7pPr algn="l">
              <a:defRPr sz="1950" b="1">
                <a:solidFill>
                  <a:srgbClr val="142D42"/>
                </a:solidFill>
              </a:defRPr>
            </a:lvl7pPr>
            <a:lvl8pPr algn="l">
              <a:defRPr sz="1950" b="1">
                <a:solidFill>
                  <a:srgbClr val="142D42"/>
                </a:solidFill>
              </a:defRPr>
            </a:lvl8pPr>
            <a:lvl9pPr algn="l">
              <a:defRPr sz="1950" b="1">
                <a:solidFill>
                  <a:srgbClr val="142D42"/>
                </a:solidFill>
              </a:defRPr>
            </a:lvl9pPr>
          </a:lstStyle>
          <a:p xmlns:a="http://schemas.openxmlformats.org/drawingml/2006/main">
            <a:pPr algn="l">
              <a:defRPr sz="1950" b="1">
                <a:solidFill>
                  <a:srgbClr val="142D42"/>
                </a:solidFill>
              </a:defRPr>
            </a:pPr>
            <a:r>
              <a:rPr sz="1950" b="1">
                <a:solidFill>
                  <a:srgbClr val="142D42"/>
                </a:solidFill>
              </a:rPr>
              <a:t>natural frequency decreases</a:t>
            </a:r>
          </a:p>
        </p:txBody>
      </p:sp>
      <p:sp>
        <p:nvSpPr>
          <p:cNvPr id="9" name="">
            <a:extLst xmlns:a="http://schemas.openxmlformats.org/drawingml/2006/main">
              <a:ext uri="{FF2B5EF4-FFF2-40B4-BE49-F238E27FC236}">
                <a16:creationId xmlns:a16="http://schemas.microsoft.com/office/drawing/2014/main" id="{8D37047D-70F7-4376-A944-5D9A07C7C2C7}"/>
              </a:ext>
            </a:extLst>
          </p:cNvPr>
          <p:cNvSpPr>
            <a:spLocks xmlns:a="http://schemas.openxmlformats.org/drawingml/2006/main" noGrp="1"/>
          </p:cNvSpPr>
          <p:nvPr/>
        </p:nvSpPr>
        <p:spPr>
          <a:xfrm xmlns:a="http://schemas.openxmlformats.org/drawingml/2006/main">
            <a:off x="3714750" y="2209800"/>
            <a:ext cx="7572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536575"/>
                </a:solidFill>
              </a:defRPr>
            </a:defPPr>
            <a:lvl1pPr algn="l">
              <a:defRPr sz="1650" b="0">
                <a:solidFill>
                  <a:srgbClr val="536575"/>
                </a:solidFill>
              </a:defRPr>
            </a:lvl1pPr>
            <a:lvl2pPr algn="l">
              <a:defRPr sz="1650" b="0">
                <a:solidFill>
                  <a:srgbClr val="536575"/>
                </a:solidFill>
              </a:defRPr>
            </a:lvl2pPr>
            <a:lvl3pPr algn="l">
              <a:defRPr sz="1650" b="0">
                <a:solidFill>
                  <a:srgbClr val="536575"/>
                </a:solidFill>
              </a:defRPr>
            </a:lvl3pPr>
            <a:lvl4pPr algn="l">
              <a:defRPr sz="1650" b="0">
                <a:solidFill>
                  <a:srgbClr val="536575"/>
                </a:solidFill>
              </a:defRPr>
            </a:lvl4pPr>
            <a:lvl5pPr algn="l">
              <a:defRPr sz="1650" b="0">
                <a:solidFill>
                  <a:srgbClr val="536575"/>
                </a:solidFill>
              </a:defRPr>
            </a:lvl5pPr>
            <a:lvl6pPr algn="l">
              <a:defRPr sz="1650" b="0">
                <a:solidFill>
                  <a:srgbClr val="536575"/>
                </a:solidFill>
              </a:defRPr>
            </a:lvl6pPr>
            <a:lvl7pPr algn="l">
              <a:defRPr sz="1650" b="0">
                <a:solidFill>
                  <a:srgbClr val="536575"/>
                </a:solidFill>
              </a:defRPr>
            </a:lvl7pPr>
            <a:lvl8pPr algn="l">
              <a:defRPr sz="1650" b="0">
                <a:solidFill>
                  <a:srgbClr val="536575"/>
                </a:solidFill>
              </a:defRPr>
            </a:lvl8pPr>
            <a:lvl9pPr algn="l">
              <a:defRPr sz="1650" b="0">
                <a:solidFill>
                  <a:srgbClr val="536575"/>
                </a:solidFill>
              </a:defRPr>
            </a:lvl9pPr>
          </a:lstStyle>
          <a:p xmlns:a="http://schemas.openxmlformats.org/drawingml/2006/main">
            <a:pPr algn="l">
              <a:defRPr sz="1650" b="0">
                <a:solidFill>
                  <a:srgbClr val="536575"/>
                </a:solidFill>
              </a:defRPr>
            </a:pPr>
            <a:r>
              <a:rPr sz="1650" b="0">
                <a:solidFill>
                  <a:srgbClr val="536575"/>
                </a:solidFill>
              </a:rPr>
              <a:t>The decay rate also decreases if the damping coefficient is fixed</a:t>
            </a:r>
          </a:p>
        </p:txBody>
      </p:sp>
      <p:sp>
        <p:nvSpPr>
          <p:cNvPr id="10" name="">
            <a:extLst xmlns:a="http://schemas.openxmlformats.org/drawingml/2006/main">
              <a:ext uri="{FF2B5EF4-FFF2-40B4-BE49-F238E27FC236}">
                <a16:creationId xmlns:a16="http://schemas.microsoft.com/office/drawing/2014/main" id="{F4CCF36E-577D-4F3C-9D34-9468CD9BBCAB}"/>
              </a:ext>
            </a:extLst>
          </p:cNvPr>
          <p:cNvSpPr>
            <a:spLocks xmlns:a="http://schemas.openxmlformats.org/drawingml/2006/main" noGrp="1"/>
          </p:cNvSpPr>
          <p:nvPr/>
        </p:nvSpPr>
        <p:spPr>
          <a:xfrm xmlns:a="http://schemas.openxmlformats.org/drawingml/2006/main">
            <a:off x="714375" y="3000375"/>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950" b="1">
                <a:solidFill>
                  <a:srgbClr val="A82C3C"/>
                </a:solidFill>
              </a:defRPr>
            </a:defPPr>
            <a:lvl1pPr algn="l">
              <a:defRPr sz="1950" b="1">
                <a:solidFill>
                  <a:srgbClr val="A82C3C"/>
                </a:solidFill>
              </a:defRPr>
            </a:lvl1pPr>
            <a:lvl2pPr algn="l">
              <a:defRPr sz="1950" b="1">
                <a:solidFill>
                  <a:srgbClr val="A82C3C"/>
                </a:solidFill>
              </a:defRPr>
            </a:lvl2pPr>
            <a:lvl3pPr algn="l">
              <a:defRPr sz="1950" b="1">
                <a:solidFill>
                  <a:srgbClr val="A82C3C"/>
                </a:solidFill>
              </a:defRPr>
            </a:lvl3pPr>
            <a:lvl4pPr algn="l">
              <a:defRPr sz="1950" b="1">
                <a:solidFill>
                  <a:srgbClr val="A82C3C"/>
                </a:solidFill>
              </a:defRPr>
            </a:lvl4pPr>
            <a:lvl5pPr algn="l">
              <a:defRPr sz="1950" b="1">
                <a:solidFill>
                  <a:srgbClr val="A82C3C"/>
                </a:solidFill>
              </a:defRPr>
            </a:lvl5pPr>
            <a:lvl6pPr algn="l">
              <a:defRPr sz="1950" b="1">
                <a:solidFill>
                  <a:srgbClr val="A82C3C"/>
                </a:solidFill>
              </a:defRPr>
            </a:lvl6pPr>
            <a:lvl7pPr algn="l">
              <a:defRPr sz="1950" b="1">
                <a:solidFill>
                  <a:srgbClr val="A82C3C"/>
                </a:solidFill>
              </a:defRPr>
            </a:lvl7pPr>
            <a:lvl8pPr algn="l">
              <a:defRPr sz="1950" b="1">
                <a:solidFill>
                  <a:srgbClr val="A82C3C"/>
                </a:solidFill>
              </a:defRPr>
            </a:lvl8pPr>
            <a:lvl9pPr algn="l">
              <a:defRPr sz="1950" b="1">
                <a:solidFill>
                  <a:srgbClr val="A82C3C"/>
                </a:solidFill>
              </a:defRPr>
            </a:lvl9pPr>
          </a:lstStyle>
          <a:p xmlns:a="http://schemas.openxmlformats.org/drawingml/2006/main">
            <a:pPr algn="l">
              <a:defRPr sz="1950" b="1">
                <a:solidFill>
                  <a:srgbClr val="A82C3C"/>
                </a:solidFill>
              </a:defRPr>
            </a:pPr>
            <a:r>
              <a:rPr sz="1950" b="1">
                <a:solidFill>
                  <a:srgbClr val="A82C3C"/>
                </a:solidFill>
              </a:rPr>
              <a:t>Increase stiffness</a:t>
            </a:r>
          </a:p>
        </p:txBody>
      </p:sp>
      <p:sp>
        <p:nvSpPr>
          <p:cNvPr id="11" name="">
            <a:extLst xmlns:a="http://schemas.openxmlformats.org/drawingml/2006/main">
              <a:ext uri="{FF2B5EF4-FFF2-40B4-BE49-F238E27FC236}">
                <a16:creationId xmlns:a16="http://schemas.microsoft.com/office/drawing/2014/main" id="{D310D9A5-6F02-46F4-8832-DCA2455EC06F}"/>
              </a:ext>
            </a:extLst>
          </p:cNvPr>
          <p:cNvSpPr>
            <a:spLocks xmlns:a="http://schemas.openxmlformats.org/drawingml/2006/main" noGrp="1"/>
          </p:cNvSpPr>
          <p:nvPr/>
        </p:nvSpPr>
        <p:spPr>
          <a:xfrm xmlns:a="http://schemas.openxmlformats.org/drawingml/2006/main">
            <a:off x="3714750" y="3000375"/>
            <a:ext cx="7572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950" b="1">
                <a:solidFill>
                  <a:srgbClr val="142D42"/>
                </a:solidFill>
              </a:defRPr>
            </a:defPPr>
            <a:lvl1pPr algn="l">
              <a:defRPr sz="1950" b="1">
                <a:solidFill>
                  <a:srgbClr val="142D42"/>
                </a:solidFill>
              </a:defRPr>
            </a:lvl1pPr>
            <a:lvl2pPr algn="l">
              <a:defRPr sz="1950" b="1">
                <a:solidFill>
                  <a:srgbClr val="142D42"/>
                </a:solidFill>
              </a:defRPr>
            </a:lvl2pPr>
            <a:lvl3pPr algn="l">
              <a:defRPr sz="1950" b="1">
                <a:solidFill>
                  <a:srgbClr val="142D42"/>
                </a:solidFill>
              </a:defRPr>
            </a:lvl3pPr>
            <a:lvl4pPr algn="l">
              <a:defRPr sz="1950" b="1">
                <a:solidFill>
                  <a:srgbClr val="142D42"/>
                </a:solidFill>
              </a:defRPr>
            </a:lvl4pPr>
            <a:lvl5pPr algn="l">
              <a:defRPr sz="1950" b="1">
                <a:solidFill>
                  <a:srgbClr val="142D42"/>
                </a:solidFill>
              </a:defRPr>
            </a:lvl5pPr>
            <a:lvl6pPr algn="l">
              <a:defRPr sz="1950" b="1">
                <a:solidFill>
                  <a:srgbClr val="142D42"/>
                </a:solidFill>
              </a:defRPr>
            </a:lvl6pPr>
            <a:lvl7pPr algn="l">
              <a:defRPr sz="1950" b="1">
                <a:solidFill>
                  <a:srgbClr val="142D42"/>
                </a:solidFill>
              </a:defRPr>
            </a:lvl7pPr>
            <a:lvl8pPr algn="l">
              <a:defRPr sz="1950" b="1">
                <a:solidFill>
                  <a:srgbClr val="142D42"/>
                </a:solidFill>
              </a:defRPr>
            </a:lvl8pPr>
            <a:lvl9pPr algn="l">
              <a:defRPr sz="1950" b="1">
                <a:solidFill>
                  <a:srgbClr val="142D42"/>
                </a:solidFill>
              </a:defRPr>
            </a:lvl9pPr>
          </a:lstStyle>
          <a:p xmlns:a="http://schemas.openxmlformats.org/drawingml/2006/main">
            <a:pPr algn="l">
              <a:defRPr sz="1950" b="1">
                <a:solidFill>
                  <a:srgbClr val="142D42"/>
                </a:solidFill>
              </a:defRPr>
            </a:pPr>
            <a:r>
              <a:rPr sz="1950" b="1">
                <a:solidFill>
                  <a:srgbClr val="142D42"/>
                </a:solidFill>
              </a:rPr>
              <a:t>natural frequency increases</a:t>
            </a:r>
          </a:p>
        </p:txBody>
      </p:sp>
      <p:sp>
        <p:nvSpPr>
          <p:cNvPr id="12" name="">
            <a:extLst xmlns:a="http://schemas.openxmlformats.org/drawingml/2006/main">
              <a:ext uri="{FF2B5EF4-FFF2-40B4-BE49-F238E27FC236}">
                <a16:creationId xmlns:a16="http://schemas.microsoft.com/office/drawing/2014/main" id="{F467FBC1-A3F2-4C0B-808B-4C4E4F47273B}"/>
              </a:ext>
            </a:extLst>
          </p:cNvPr>
          <p:cNvSpPr>
            <a:spLocks xmlns:a="http://schemas.openxmlformats.org/drawingml/2006/main" noGrp="1"/>
          </p:cNvSpPr>
          <p:nvPr/>
        </p:nvSpPr>
        <p:spPr>
          <a:xfrm xmlns:a="http://schemas.openxmlformats.org/drawingml/2006/main">
            <a:off x="3714750" y="3495675"/>
            <a:ext cx="7572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536575"/>
                </a:solidFill>
              </a:defRPr>
            </a:defPPr>
            <a:lvl1pPr algn="l">
              <a:defRPr sz="1650" b="0">
                <a:solidFill>
                  <a:srgbClr val="536575"/>
                </a:solidFill>
              </a:defRPr>
            </a:lvl1pPr>
            <a:lvl2pPr algn="l">
              <a:defRPr sz="1650" b="0">
                <a:solidFill>
                  <a:srgbClr val="536575"/>
                </a:solidFill>
              </a:defRPr>
            </a:lvl2pPr>
            <a:lvl3pPr algn="l">
              <a:defRPr sz="1650" b="0">
                <a:solidFill>
                  <a:srgbClr val="536575"/>
                </a:solidFill>
              </a:defRPr>
            </a:lvl3pPr>
            <a:lvl4pPr algn="l">
              <a:defRPr sz="1650" b="0">
                <a:solidFill>
                  <a:srgbClr val="536575"/>
                </a:solidFill>
              </a:defRPr>
            </a:lvl4pPr>
            <a:lvl5pPr algn="l">
              <a:defRPr sz="1650" b="0">
                <a:solidFill>
                  <a:srgbClr val="536575"/>
                </a:solidFill>
              </a:defRPr>
            </a:lvl5pPr>
            <a:lvl6pPr algn="l">
              <a:defRPr sz="1650" b="0">
                <a:solidFill>
                  <a:srgbClr val="536575"/>
                </a:solidFill>
              </a:defRPr>
            </a:lvl6pPr>
            <a:lvl7pPr algn="l">
              <a:defRPr sz="1650" b="0">
                <a:solidFill>
                  <a:srgbClr val="536575"/>
                </a:solidFill>
              </a:defRPr>
            </a:lvl7pPr>
            <a:lvl8pPr algn="l">
              <a:defRPr sz="1650" b="0">
                <a:solidFill>
                  <a:srgbClr val="536575"/>
                </a:solidFill>
              </a:defRPr>
            </a:lvl8pPr>
            <a:lvl9pPr algn="l">
              <a:defRPr sz="1650" b="0">
                <a:solidFill>
                  <a:srgbClr val="536575"/>
                </a:solidFill>
              </a:defRPr>
            </a:lvl9pPr>
          </a:lstStyle>
          <a:p xmlns:a="http://schemas.openxmlformats.org/drawingml/2006/main">
            <a:pPr algn="l">
              <a:defRPr sz="1650" b="0">
                <a:solidFill>
                  <a:srgbClr val="536575"/>
                </a:solidFill>
              </a:defRPr>
            </a:pPr>
            <a:r>
              <a:rPr sz="1650" b="0">
                <a:solidFill>
                  <a:srgbClr val="536575"/>
                </a:solidFill>
              </a:rPr>
              <a:t>The decay rate stays fixed if mass and damping coefficient stay fixed</a:t>
            </a:r>
          </a:p>
        </p:txBody>
      </p:sp>
      <p:sp>
        <p:nvSpPr>
          <p:cNvPr id="13" name="">
            <a:extLst xmlns:a="http://schemas.openxmlformats.org/drawingml/2006/main">
              <a:ext uri="{FF2B5EF4-FFF2-40B4-BE49-F238E27FC236}">
                <a16:creationId xmlns:a16="http://schemas.microsoft.com/office/drawing/2014/main" id="{15B4A0CA-3ED7-4D40-890E-A063B4C9DEAC}"/>
              </a:ext>
            </a:extLst>
          </p:cNvPr>
          <p:cNvSpPr>
            <a:spLocks xmlns:a="http://schemas.openxmlformats.org/drawingml/2006/main" noGrp="1"/>
          </p:cNvSpPr>
          <p:nvPr/>
        </p:nvSpPr>
        <p:spPr>
          <a:xfrm xmlns:a="http://schemas.openxmlformats.org/drawingml/2006/main">
            <a:off x="714375" y="4286250"/>
            <a:ext cx="2476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950" b="1">
                <a:solidFill>
                  <a:srgbClr val="A82C3C"/>
                </a:solidFill>
              </a:defRPr>
            </a:defPPr>
            <a:lvl1pPr algn="l">
              <a:defRPr sz="1950" b="1">
                <a:solidFill>
                  <a:srgbClr val="A82C3C"/>
                </a:solidFill>
              </a:defRPr>
            </a:lvl1pPr>
            <a:lvl2pPr algn="l">
              <a:defRPr sz="1950" b="1">
                <a:solidFill>
                  <a:srgbClr val="A82C3C"/>
                </a:solidFill>
              </a:defRPr>
            </a:lvl2pPr>
            <a:lvl3pPr algn="l">
              <a:defRPr sz="1950" b="1">
                <a:solidFill>
                  <a:srgbClr val="A82C3C"/>
                </a:solidFill>
              </a:defRPr>
            </a:lvl3pPr>
            <a:lvl4pPr algn="l">
              <a:defRPr sz="1950" b="1">
                <a:solidFill>
                  <a:srgbClr val="A82C3C"/>
                </a:solidFill>
              </a:defRPr>
            </a:lvl4pPr>
            <a:lvl5pPr algn="l">
              <a:defRPr sz="1950" b="1">
                <a:solidFill>
                  <a:srgbClr val="A82C3C"/>
                </a:solidFill>
              </a:defRPr>
            </a:lvl5pPr>
            <a:lvl6pPr algn="l">
              <a:defRPr sz="1950" b="1">
                <a:solidFill>
                  <a:srgbClr val="A82C3C"/>
                </a:solidFill>
              </a:defRPr>
            </a:lvl6pPr>
            <a:lvl7pPr algn="l">
              <a:defRPr sz="1950" b="1">
                <a:solidFill>
                  <a:srgbClr val="A82C3C"/>
                </a:solidFill>
              </a:defRPr>
            </a:lvl7pPr>
            <a:lvl8pPr algn="l">
              <a:defRPr sz="1950" b="1">
                <a:solidFill>
                  <a:srgbClr val="A82C3C"/>
                </a:solidFill>
              </a:defRPr>
            </a:lvl8pPr>
            <a:lvl9pPr algn="l">
              <a:defRPr sz="1950" b="1">
                <a:solidFill>
                  <a:srgbClr val="A82C3C"/>
                </a:solidFill>
              </a:defRPr>
            </a:lvl9pPr>
          </a:lstStyle>
          <a:p xmlns:a="http://schemas.openxmlformats.org/drawingml/2006/main">
            <a:pPr algn="l">
              <a:defRPr sz="1950" b="1">
                <a:solidFill>
                  <a:srgbClr val="A82C3C"/>
                </a:solidFill>
              </a:defRPr>
            </a:pPr>
            <a:r>
              <a:rPr sz="1950" b="1">
                <a:solidFill>
                  <a:srgbClr val="A82C3C"/>
                </a:solidFill>
              </a:rPr>
              <a:t>Increase damping</a:t>
            </a:r>
          </a:p>
        </p:txBody>
      </p:sp>
      <p:sp>
        <p:nvSpPr>
          <p:cNvPr id="14" name="">
            <a:extLst xmlns:a="http://schemas.openxmlformats.org/drawingml/2006/main">
              <a:ext uri="{FF2B5EF4-FFF2-40B4-BE49-F238E27FC236}">
                <a16:creationId xmlns:a16="http://schemas.microsoft.com/office/drawing/2014/main" id="{E3065CB8-0081-474D-88FB-A4A4FF5BF56E}"/>
              </a:ext>
            </a:extLst>
          </p:cNvPr>
          <p:cNvSpPr>
            <a:spLocks xmlns:a="http://schemas.openxmlformats.org/drawingml/2006/main" noGrp="1"/>
          </p:cNvSpPr>
          <p:nvPr/>
        </p:nvSpPr>
        <p:spPr>
          <a:xfrm xmlns:a="http://schemas.openxmlformats.org/drawingml/2006/main">
            <a:off x="3714750" y="4286250"/>
            <a:ext cx="7572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950" b="1">
                <a:solidFill>
                  <a:srgbClr val="142D42"/>
                </a:solidFill>
              </a:defRPr>
            </a:defPPr>
            <a:lvl1pPr algn="l">
              <a:defRPr sz="1950" b="1">
                <a:solidFill>
                  <a:srgbClr val="142D42"/>
                </a:solidFill>
              </a:defRPr>
            </a:lvl1pPr>
            <a:lvl2pPr algn="l">
              <a:defRPr sz="1950" b="1">
                <a:solidFill>
                  <a:srgbClr val="142D42"/>
                </a:solidFill>
              </a:defRPr>
            </a:lvl2pPr>
            <a:lvl3pPr algn="l">
              <a:defRPr sz="1950" b="1">
                <a:solidFill>
                  <a:srgbClr val="142D42"/>
                </a:solidFill>
              </a:defRPr>
            </a:lvl3pPr>
            <a:lvl4pPr algn="l">
              <a:defRPr sz="1950" b="1">
                <a:solidFill>
                  <a:srgbClr val="142D42"/>
                </a:solidFill>
              </a:defRPr>
            </a:lvl4pPr>
            <a:lvl5pPr algn="l">
              <a:defRPr sz="1950" b="1">
                <a:solidFill>
                  <a:srgbClr val="142D42"/>
                </a:solidFill>
              </a:defRPr>
            </a:lvl5pPr>
            <a:lvl6pPr algn="l">
              <a:defRPr sz="1950" b="1">
                <a:solidFill>
                  <a:srgbClr val="142D42"/>
                </a:solidFill>
              </a:defRPr>
            </a:lvl6pPr>
            <a:lvl7pPr algn="l">
              <a:defRPr sz="1950" b="1">
                <a:solidFill>
                  <a:srgbClr val="142D42"/>
                </a:solidFill>
              </a:defRPr>
            </a:lvl7pPr>
            <a:lvl8pPr algn="l">
              <a:defRPr sz="1950" b="1">
                <a:solidFill>
                  <a:srgbClr val="142D42"/>
                </a:solidFill>
              </a:defRPr>
            </a:lvl8pPr>
            <a:lvl9pPr algn="l">
              <a:defRPr sz="1950" b="1">
                <a:solidFill>
                  <a:srgbClr val="142D42"/>
                </a:solidFill>
              </a:defRPr>
            </a:lvl9pPr>
          </a:lstStyle>
          <a:p xmlns:a="http://schemas.openxmlformats.org/drawingml/2006/main">
            <a:pPr algn="l">
              <a:defRPr sz="1950" b="1">
                <a:solidFill>
                  <a:srgbClr val="142D42"/>
                </a:solidFill>
              </a:defRPr>
            </a:pPr>
            <a:r>
              <a:rPr sz="1950" b="1">
                <a:solidFill>
                  <a:srgbClr val="142D42"/>
                </a:solidFill>
              </a:rPr>
              <a:t>decay becomes faster</a:t>
            </a:r>
          </a:p>
        </p:txBody>
      </p:sp>
      <p:sp>
        <p:nvSpPr>
          <p:cNvPr id="15" name="">
            <a:extLst xmlns:a="http://schemas.openxmlformats.org/drawingml/2006/main">
              <a:ext uri="{FF2B5EF4-FFF2-40B4-BE49-F238E27FC236}">
                <a16:creationId xmlns:a16="http://schemas.microsoft.com/office/drawing/2014/main" id="{F7ED4C0D-DC9F-40D5-91A9-99E1338BC5B9}"/>
              </a:ext>
            </a:extLst>
          </p:cNvPr>
          <p:cNvSpPr>
            <a:spLocks xmlns:a="http://schemas.openxmlformats.org/drawingml/2006/main" noGrp="1"/>
          </p:cNvSpPr>
          <p:nvPr/>
        </p:nvSpPr>
        <p:spPr>
          <a:xfrm xmlns:a="http://schemas.openxmlformats.org/drawingml/2006/main">
            <a:off x="3714750" y="4781550"/>
            <a:ext cx="7572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536575"/>
                </a:solidFill>
              </a:defRPr>
            </a:defPPr>
            <a:lvl1pPr algn="l">
              <a:defRPr sz="1650" b="0">
                <a:solidFill>
                  <a:srgbClr val="536575"/>
                </a:solidFill>
              </a:defRPr>
            </a:lvl1pPr>
            <a:lvl2pPr algn="l">
              <a:defRPr sz="1650" b="0">
                <a:solidFill>
                  <a:srgbClr val="536575"/>
                </a:solidFill>
              </a:defRPr>
            </a:lvl2pPr>
            <a:lvl3pPr algn="l">
              <a:defRPr sz="1650" b="0">
                <a:solidFill>
                  <a:srgbClr val="536575"/>
                </a:solidFill>
              </a:defRPr>
            </a:lvl3pPr>
            <a:lvl4pPr algn="l">
              <a:defRPr sz="1650" b="0">
                <a:solidFill>
                  <a:srgbClr val="536575"/>
                </a:solidFill>
              </a:defRPr>
            </a:lvl4pPr>
            <a:lvl5pPr algn="l">
              <a:defRPr sz="1650" b="0">
                <a:solidFill>
                  <a:srgbClr val="536575"/>
                </a:solidFill>
              </a:defRPr>
            </a:lvl5pPr>
            <a:lvl6pPr algn="l">
              <a:defRPr sz="1650" b="0">
                <a:solidFill>
                  <a:srgbClr val="536575"/>
                </a:solidFill>
              </a:defRPr>
            </a:lvl6pPr>
            <a:lvl7pPr algn="l">
              <a:defRPr sz="1650" b="0">
                <a:solidFill>
                  <a:srgbClr val="536575"/>
                </a:solidFill>
              </a:defRPr>
            </a:lvl7pPr>
            <a:lvl8pPr algn="l">
              <a:defRPr sz="1650" b="0">
                <a:solidFill>
                  <a:srgbClr val="536575"/>
                </a:solidFill>
              </a:defRPr>
            </a:lvl8pPr>
            <a:lvl9pPr algn="l">
              <a:defRPr sz="1650" b="0">
                <a:solidFill>
                  <a:srgbClr val="536575"/>
                </a:solidFill>
              </a:defRPr>
            </a:lvl9pPr>
          </a:lstStyle>
          <a:p xmlns:a="http://schemas.openxmlformats.org/drawingml/2006/main">
            <a:pPr algn="l">
              <a:defRPr sz="1650" b="0">
                <a:solidFill>
                  <a:srgbClr val="536575"/>
                </a:solidFill>
              </a:defRPr>
            </a:pPr>
            <a:r>
              <a:rPr sz="1650" b="0">
                <a:solidFill>
                  <a:srgbClr val="536575"/>
                </a:solidFill>
              </a:rPr>
              <a:t>At fixed mass and stiffness, the damped frequency falls</a:t>
            </a:r>
          </a:p>
        </p:txBody>
      </p:sp>
      <p:sp>
        <p:nvSpPr>
          <p:cNvPr id="16" name="">
            <a:extLst xmlns:a="http://schemas.openxmlformats.org/drawingml/2006/main">
              <a:ext uri="{FF2B5EF4-FFF2-40B4-BE49-F238E27FC236}">
                <a16:creationId xmlns:a16="http://schemas.microsoft.com/office/drawing/2014/main" id="{0E96A7FE-0FC6-44ED-8571-D152C1DB0067}"/>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4513CEC3-576F-4FBA-8746-FE687455F22F}"/>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Changing physical hardware can change more than one parameter. Record the complete configuration.</a:t>
            </a:r>
          </a:p>
        </p:txBody>
      </p:sp>
    </p:spTree>
    <p:extLst>
      <p:ext uri="{BB962C8B-B14F-4D97-AF65-F5344CB8AC3E}">
        <p14:creationId xmlns:p14="http://schemas.microsoft.com/office/powerpoint/2010/main" val="2068164898"/>
      </p:ext>
    </p:extLst>
  </p:cSld>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566928" y="164592"/>
            <a:ext cx="4114800" cy="292608"/>
          </a:xfrm>
          <a:prstGeom prst="rect">
            <a:avLst/>
          </a:prstGeom>
          <a:noFill/>
        </p:spPr>
        <p:txBody>
          <a:bodyPr wrap="square" lIns="45720" rIns="45720" tIns="27432">
            <a:spAutoFit/>
          </a:bodyPr>
          <a:lstStyle/>
          <a:p>
            <a:pPr>
              <a:spcAft>
                <a:spcPts val="600"/>
              </a:spcAft>
            </a:pPr>
            <a:r>
              <a:rPr sz="1200" b="1">
                <a:solidFill>
                  <a:srgbClr val="972D41"/>
                </a:solidFill>
                <a:latin typeface="Aptos"/>
              </a:rPr>
              <a:t>MIE 402  •  MECHANICAL ENGINEERING LAB II</a:t>
            </a:r>
          </a:p>
        </p:txBody>
      </p:sp>
      <p:sp>
        <p:nvSpPr>
          <p:cNvPr id="5" name="TextBox 4"/>
          <p:cNvSpPr txBox="1"/>
          <p:nvPr/>
        </p:nvSpPr>
        <p:spPr>
          <a:xfrm>
            <a:off x="8229600" y="164592"/>
            <a:ext cx="3291840" cy="292608"/>
          </a:xfrm>
          <a:prstGeom prst="rect">
            <a:avLst/>
          </a:prstGeom>
          <a:noFill/>
        </p:spPr>
        <p:txBody>
          <a:bodyPr wrap="square" lIns="45720" rIns="45720" tIns="27432">
            <a:spAutoFit/>
          </a:bodyPr>
          <a:lstStyle/>
          <a:p>
            <a:pPr algn="r">
              <a:spcAft>
                <a:spcPts val="600"/>
              </a:spcAft>
            </a:pPr>
            <a:r>
              <a:rPr sz="1100" b="0">
                <a:solidFill>
                  <a:srgbClr val="55646F"/>
                </a:solidFill>
                <a:latin typeface="Aptos"/>
              </a:rPr>
              <a:t>Experimental reasoning</a:t>
            </a:r>
          </a:p>
        </p:txBody>
      </p:sp>
      <p:sp>
        <p:nvSpPr>
          <p:cNvPr id="6" name="TextBox 5"/>
          <p:cNvSpPr txBox="1"/>
          <p:nvPr/>
        </p:nvSpPr>
        <p:spPr>
          <a:xfrm>
            <a:off x="566928" y="621792"/>
            <a:ext cx="11064240" cy="658368"/>
          </a:xfrm>
          <a:prstGeom prst="rect">
            <a:avLst/>
          </a:prstGeom>
          <a:noFill/>
        </p:spPr>
        <p:txBody>
          <a:bodyPr wrap="square" lIns="45720" rIns="45720" tIns="27432">
            <a:spAutoFit/>
          </a:bodyPr>
          <a:lstStyle/>
          <a:p>
            <a:pPr>
              <a:spcAft>
                <a:spcPts val="600"/>
              </a:spcAft>
            </a:pPr>
            <a:r>
              <a:rPr sz="2700" b="1">
                <a:solidFill>
                  <a:srgbClr val="193143"/>
                </a:solidFill>
                <a:latin typeface="Aptos"/>
              </a:rPr>
              <a:t>Uncertainty follows the measurements, not just the fit</a:t>
            </a:r>
          </a:p>
        </p:txBody>
      </p:sp>
      <p:sp>
        <p:nvSpPr>
          <p:cNvPr id="7" name="Rectangle 6"/>
          <p:cNvSpPr/>
          <p:nvPr/>
        </p:nvSpPr>
        <p:spPr>
          <a:xfrm>
            <a:off x="566928" y="1335024"/>
            <a:ext cx="11018520" cy="10972"/>
          </a:xfrm>
          <a:prstGeom prst="rect">
            <a:avLst/>
          </a:prstGeom>
          <a:solidFill>
            <a:srgbClr val="D8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00784"/>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Timing</a:t>
            </a:r>
          </a:p>
        </p:txBody>
      </p:sp>
      <p:sp>
        <p:nvSpPr>
          <p:cNvPr id="9" name="TextBox 8"/>
          <p:cNvSpPr txBox="1"/>
          <p:nvPr/>
        </p:nvSpPr>
        <p:spPr>
          <a:xfrm>
            <a:off x="3977639" y="1700784"/>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Use multiple complete cycles; quantify time resolution and peak-selection variation.</a:t>
            </a:r>
          </a:p>
        </p:txBody>
      </p:sp>
      <p:sp>
        <p:nvSpPr>
          <p:cNvPr id="10" name="TextBox 9"/>
          <p:cNvSpPr txBox="1"/>
          <p:nvPr/>
        </p:nvSpPr>
        <p:spPr>
          <a:xfrm>
            <a:off x="822960" y="2642616"/>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Amplitude</a:t>
            </a:r>
          </a:p>
        </p:txBody>
      </p:sp>
      <p:sp>
        <p:nvSpPr>
          <p:cNvPr id="11" name="TextBox 10"/>
          <p:cNvSpPr txBox="1"/>
          <p:nvPr/>
        </p:nvSpPr>
        <p:spPr>
          <a:xfrm>
            <a:off x="3977639" y="2642616"/>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Subtract equilibrium offset; choose same-sign peaks well above the noise floor.</a:t>
            </a:r>
          </a:p>
        </p:txBody>
      </p:sp>
      <p:sp>
        <p:nvSpPr>
          <p:cNvPr id="12" name="TextBox 11"/>
          <p:cNvSpPr txBox="1"/>
          <p:nvPr/>
        </p:nvSpPr>
        <p:spPr>
          <a:xfrm>
            <a:off x="822960" y="3584448"/>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Hardware</a:t>
            </a:r>
          </a:p>
        </p:txBody>
      </p:sp>
      <p:sp>
        <p:nvSpPr>
          <p:cNvPr id="13" name="TextBox 12"/>
          <p:cNvSpPr txBox="1"/>
          <p:nvPr/>
        </p:nvSpPr>
        <p:spPr>
          <a:xfrm>
            <a:off x="3977639" y="3584448"/>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Include magnets, fasteners and attachments in moving mass; calibrate each spring.</a:t>
            </a:r>
          </a:p>
        </p:txBody>
      </p:sp>
      <p:sp>
        <p:nvSpPr>
          <p:cNvPr id="14" name="TextBox 13"/>
          <p:cNvSpPr txBox="1"/>
          <p:nvPr/>
        </p:nvSpPr>
        <p:spPr>
          <a:xfrm>
            <a:off x="822960" y="4526280"/>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Reporting</a:t>
            </a:r>
          </a:p>
        </p:txBody>
      </p:sp>
      <p:sp>
        <p:nvSpPr>
          <p:cNvPr id="15" name="TextBox 14"/>
          <p:cNvSpPr txBox="1"/>
          <p:nvPr/>
        </p:nvSpPr>
        <p:spPr>
          <a:xfrm>
            <a:off x="3977639" y="4526280"/>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Compare predicted and measured values with units, residual plots and defensible significant figures.</a:t>
            </a:r>
          </a:p>
        </p:txBody>
      </p:sp>
      <p:sp>
        <p:nvSpPr>
          <p:cNvPr id="16" name="Rectangle 15"/>
          <p:cNvSpPr/>
          <p:nvPr/>
        </p:nvSpPr>
        <p:spPr>
          <a:xfrm>
            <a:off x="566928" y="5888736"/>
            <a:ext cx="11027664" cy="585216"/>
          </a:xfrm>
          <a:prstGeom prst="rect">
            <a:avLst/>
          </a:prstGeom>
          <a:solidFill>
            <a:srgbClr val="EF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989320"/>
            <a:ext cx="10661904" cy="365760"/>
          </a:xfrm>
          <a:prstGeom prst="rect">
            <a:avLst/>
          </a:prstGeom>
          <a:noFill/>
        </p:spPr>
        <p:txBody>
          <a:bodyPr wrap="square" lIns="45720" rIns="45720" tIns="27432">
            <a:spAutoFit/>
          </a:bodyPr>
          <a:lstStyle/>
          <a:p>
            <a:pPr>
              <a:spcAft>
                <a:spcPts val="600"/>
              </a:spcAft>
            </a:pPr>
            <a:r>
              <a:rPr sz="1600" b="1">
                <a:solidFill>
                  <a:srgbClr val="972D41"/>
                </a:solidFill>
                <a:latin typeface="Aptos"/>
              </a:rPr>
              <a:t>A systematic mismatch is evidence about the apparatus or model, not simply “bad data.”</a:t>
            </a:r>
          </a:p>
        </p:txBody>
      </p:sp>
      <p:sp>
        <p:nvSpPr>
          <p:cNvPr id="18" name="TextBox 17"/>
          <p:cNvSpPr txBox="1"/>
          <p:nvPr/>
        </p:nvSpPr>
        <p:spPr>
          <a:xfrm>
            <a:off x="594360" y="6556248"/>
            <a:ext cx="6400800" cy="182880"/>
          </a:xfrm>
          <a:prstGeom prst="rect">
            <a:avLst/>
          </a:prstGeom>
          <a:noFill/>
        </p:spPr>
        <p:txBody>
          <a:bodyPr wrap="square" lIns="45720" rIns="45720" tIns="27432">
            <a:spAutoFit/>
          </a:bodyPr>
          <a:lstStyle/>
          <a:p>
            <a:pPr>
              <a:spcAft>
                <a:spcPts val="600"/>
              </a:spcAft>
            </a:pPr>
            <a:r>
              <a:rPr sz="1000" b="0">
                <a:solidFill>
                  <a:srgbClr val="55646F"/>
                </a:solidFill>
                <a:latin typeface="Aptos"/>
              </a:rPr>
              <a:t>Ehsan Roohi  •  UMass Amherst  •  Fall 2026</a:t>
            </a:r>
          </a:p>
        </p:txBody>
      </p:sp>
      <p:sp>
        <p:nvSpPr>
          <p:cNvPr id="19" name="TextBox 18"/>
          <p:cNvSpPr txBox="1"/>
          <p:nvPr/>
        </p:nvSpPr>
        <p:spPr>
          <a:xfrm>
            <a:off x="11064240" y="6556248"/>
            <a:ext cx="566928" cy="182880"/>
          </a:xfrm>
          <a:prstGeom prst="rect">
            <a:avLst/>
          </a:prstGeom>
          <a:noFill/>
        </p:spPr>
        <p:txBody>
          <a:bodyPr wrap="square" lIns="45720" rIns="45720" tIns="27432">
            <a:spAutoFit/>
          </a:bodyPr>
          <a:lstStyle/>
          <a:p>
            <a:pPr algn="r"/>
            <a:r>
              <a:rPr sz="1000">
                <a:solidFill>
                  <a:srgbClr val="5A666E"/>
                </a:solidFill>
              </a:rPr>
              <a:t>34</a:t>
            </a:r>
          </a:p>
        </p:txBody>
      </p:sp>
      <p:sp>
        <p:nvSpPr>
          <p:cNvPr id="20" name="TextBox 19"/>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39–40 min</a:t>
            </a:r>
          </a:p>
        </p:txBody>
      </p:sp>
    </p:spTree>
  </p:cSld>
  <p:clrMapOvr>
    <a:masterClrMapping/>
  </p:clrMapOvr>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A3E4B1E-0E37-4C26-918A-1AB1FF7A5B6C}"/>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0577C613-76B4-4AE0-801B-2C8A7A9428D8}"/>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Measured evidence</a:t>
            </a:r>
          </a:p>
        </p:txBody>
      </p:sp>
      <p:sp>
        <p:nvSpPr>
          <p:cNvPr id="3" name="">
            <a:extLst xmlns:a="http://schemas.openxmlformats.org/drawingml/2006/main">
              <a:ext uri="{FF2B5EF4-FFF2-40B4-BE49-F238E27FC236}">
                <a16:creationId xmlns:a16="http://schemas.microsoft.com/office/drawing/2014/main" id="{C01A8CF5-5FEF-43DB-872F-C81698C251C7}"/>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Prior-class measurements: mass and damping changes</a:t>
            </a:r>
          </a:p>
        </p:txBody>
      </p:sp>
      <p:sp>
        <p:nvSpPr>
          <p:cNvPr id="4" name="">
            <a:extLst xmlns:a="http://schemas.openxmlformats.org/drawingml/2006/main">
              <a:ext uri="{FF2B5EF4-FFF2-40B4-BE49-F238E27FC236}">
                <a16:creationId xmlns:a16="http://schemas.microsoft.com/office/drawing/2014/main" id="{966EA908-0367-4223-9226-7C3D4FFE63D9}"/>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962ED8-8936-43A4-AE3F-CAD8FDCB4113}"/>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35</a:t>
            </a:r>
          </a:p>
        </p:txBody>
      </p:sp>
      <p:sp>
        <p:nvSpPr>
          <p:cNvPr id="6" name="">
            <a:extLst xmlns:a="http://schemas.openxmlformats.org/drawingml/2006/main">
              <a:ext uri="{FF2B5EF4-FFF2-40B4-BE49-F238E27FC236}">
                <a16:creationId xmlns:a16="http://schemas.microsoft.com/office/drawing/2014/main" id="{A6F9F248-DF25-4C93-B84C-FC244E220FCB}"/>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40–41 min</a:t>
            </a:r>
          </a:p>
        </p:txBody>
      </p:sp>
      <p:pic>
        <p:nvPicPr>
          <p:cNvPr id="7" name="">
            <a:extLst xmlns:a="http://schemas.openxmlformats.org/drawingml/2006/main">
              <a:ext uri="{FF2B5EF4-FFF2-40B4-BE49-F238E27FC236}">
                <a16:creationId xmlns:a16="http://schemas.microsoft.com/office/drawing/2014/main" id="{7BA1529E-460F-49EC-9D62-AE9E58389827}"/>
              </a:ext>
            </a:extLst>
          </p:cNvPr>
          <p:cNvPicPr>
            <a:picLocks xmlns:a="http://schemas.openxmlformats.org/drawingml/2006/main" noChangeAspect="1"/>
          </p:cNvPicPr>
          <p:nvPr/>
        </p:nvPicPr>
        <p:blipFill>
          <a:blip xmlns:r="http://schemas.openxmlformats.org/officeDocument/2006/relationships" xmlns:a="http://schemas.openxmlformats.org/drawingml/2006/main" r:embed="Rcf0eb198526749d8"/>
          <a:stretch xmlns:a="http://schemas.openxmlformats.org/drawingml/2006/main"/>
        </p:blipFill>
        <p:spPr>
          <a:xfrm xmlns:a="http://schemas.openxmlformats.org/drawingml/2006/main">
            <a:off x="947738" y="1571625"/>
            <a:ext cx="6962775" cy="4048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3C94215-5D42-41B1-BC7D-DE6F41048588}"/>
              </a:ext>
            </a:extLst>
          </p:cNvPr>
          <p:cNvSpPr>
            <a:spLocks xmlns:a="http://schemas.openxmlformats.org/drawingml/2006/main" noGrp="1"/>
          </p:cNvSpPr>
          <p:nvPr/>
        </p:nvSpPr>
        <p:spPr>
          <a:xfrm xmlns:a="http://schemas.openxmlformats.org/drawingml/2006/main">
            <a:off x="8715375" y="166687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142D42"/>
                </a:solidFill>
              </a:defRPr>
            </a:defPPr>
            <a:lvl1pPr algn="l">
              <a:defRPr sz="1875" b="1">
                <a:solidFill>
                  <a:srgbClr val="142D42"/>
                </a:solidFill>
              </a:defRPr>
            </a:lvl1pPr>
            <a:lvl2pPr algn="l">
              <a:defRPr sz="1875" b="1">
                <a:solidFill>
                  <a:srgbClr val="142D42"/>
                </a:solidFill>
              </a:defRPr>
            </a:lvl2pPr>
            <a:lvl3pPr algn="l">
              <a:defRPr sz="1875" b="1">
                <a:solidFill>
                  <a:srgbClr val="142D42"/>
                </a:solidFill>
              </a:defRPr>
            </a:lvl3pPr>
            <a:lvl4pPr algn="l">
              <a:defRPr sz="1875" b="1">
                <a:solidFill>
                  <a:srgbClr val="142D42"/>
                </a:solidFill>
              </a:defRPr>
            </a:lvl4pPr>
            <a:lvl5pPr algn="l">
              <a:defRPr sz="1875" b="1">
                <a:solidFill>
                  <a:srgbClr val="142D42"/>
                </a:solidFill>
              </a:defRPr>
            </a:lvl5pPr>
            <a:lvl6pPr algn="l">
              <a:defRPr sz="1875" b="1">
                <a:solidFill>
                  <a:srgbClr val="142D42"/>
                </a:solidFill>
              </a:defRPr>
            </a:lvl6pPr>
            <a:lvl7pPr algn="l">
              <a:defRPr sz="1875" b="1">
                <a:solidFill>
                  <a:srgbClr val="142D42"/>
                </a:solidFill>
              </a:defRPr>
            </a:lvl7pPr>
            <a:lvl8pPr algn="l">
              <a:defRPr sz="1875" b="1">
                <a:solidFill>
                  <a:srgbClr val="142D42"/>
                </a:solidFill>
              </a:defRPr>
            </a:lvl8pPr>
            <a:lvl9pPr algn="l">
              <a:defRPr sz="1875" b="1">
                <a:solidFill>
                  <a:srgbClr val="142D42"/>
                </a:solidFill>
              </a:defRPr>
            </a:lvl9pPr>
          </a:lstStyle>
          <a:p xmlns:a="http://schemas.openxmlformats.org/drawingml/2006/main">
            <a:pPr algn="l">
              <a:defRPr sz="1875" b="1">
                <a:solidFill>
                  <a:srgbClr val="142D42"/>
                </a:solidFill>
              </a:defRPr>
            </a:pPr>
            <a:r>
              <a:rPr sz="1875" b="1">
                <a:solidFill>
                  <a:srgbClr val="142D42"/>
                </a:solidFill>
              </a:rPr>
              <a:t>Read the axes first</a:t>
            </a:r>
          </a:p>
        </p:txBody>
      </p:sp>
      <p:sp>
        <p:nvSpPr>
          <p:cNvPr id="9" name="">
            <a:extLst xmlns:a="http://schemas.openxmlformats.org/drawingml/2006/main">
              <a:ext uri="{FF2B5EF4-FFF2-40B4-BE49-F238E27FC236}">
                <a16:creationId xmlns:a16="http://schemas.microsoft.com/office/drawing/2014/main" id="{A6FAB1DA-960C-4804-8089-6EAAF731BBB0}"/>
              </a:ext>
            </a:extLst>
          </p:cNvPr>
          <p:cNvSpPr>
            <a:spLocks xmlns:a="http://schemas.openxmlformats.org/drawingml/2006/main" noGrp="1"/>
          </p:cNvSpPr>
          <p:nvPr/>
        </p:nvSpPr>
        <p:spPr>
          <a:xfrm xmlns:a="http://schemas.openxmlformats.org/drawingml/2006/main">
            <a:off x="8715375" y="2286000"/>
            <a:ext cx="2809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0">
                <a:solidFill>
                  <a:srgbClr val="142D42"/>
                </a:solidFill>
              </a:defRPr>
            </a:defPPr>
            <a:lvl1pPr algn="l">
              <a:defRPr sz="1575" b="0">
                <a:solidFill>
                  <a:srgbClr val="142D42"/>
                </a:solidFill>
              </a:defRPr>
            </a:lvl1pPr>
            <a:lvl2pPr algn="l">
              <a:defRPr sz="1575" b="0">
                <a:solidFill>
                  <a:srgbClr val="142D42"/>
                </a:solidFill>
              </a:defRPr>
            </a:lvl2pPr>
            <a:lvl3pPr algn="l">
              <a:defRPr sz="1575" b="0">
                <a:solidFill>
                  <a:srgbClr val="142D42"/>
                </a:solidFill>
              </a:defRPr>
            </a:lvl3pPr>
            <a:lvl4pPr algn="l">
              <a:defRPr sz="1575" b="0">
                <a:solidFill>
                  <a:srgbClr val="142D42"/>
                </a:solidFill>
              </a:defRPr>
            </a:lvl4pPr>
            <a:lvl5pPr algn="l">
              <a:defRPr sz="1575" b="0">
                <a:solidFill>
                  <a:srgbClr val="142D42"/>
                </a:solidFill>
              </a:defRPr>
            </a:lvl5pPr>
            <a:lvl6pPr algn="l">
              <a:defRPr sz="1575" b="0">
                <a:solidFill>
                  <a:srgbClr val="142D42"/>
                </a:solidFill>
              </a:defRPr>
            </a:lvl6pPr>
            <a:lvl7pPr algn="l">
              <a:defRPr sz="1575" b="0">
                <a:solidFill>
                  <a:srgbClr val="142D42"/>
                </a:solidFill>
              </a:defRPr>
            </a:lvl7pPr>
            <a:lvl8pPr algn="l">
              <a:defRPr sz="1575" b="0">
                <a:solidFill>
                  <a:srgbClr val="142D42"/>
                </a:solidFill>
              </a:defRPr>
            </a:lvl8pPr>
            <a:lvl9pPr algn="l">
              <a:defRPr sz="1575" b="0">
                <a:solidFill>
                  <a:srgbClr val="142D42"/>
                </a:solidFill>
              </a:defRPr>
            </a:lvl9pPr>
          </a:lstStyle>
          <a:p xmlns:a="http://schemas.openxmlformats.org/drawingml/2006/main">
            <a:pPr algn="l">
              <a:defRPr sz="1575" b="0">
                <a:solidFill>
                  <a:srgbClr val="142D42"/>
                </a:solidFill>
              </a:defRPr>
            </a:pPr>
            <a:r>
              <a:rPr sz="1575" b="0">
                <a:solidFill>
                  <a:srgbClr val="142D42"/>
                </a:solidFill>
              </a:rPr>
              <a:t>Horizontal: time [s]</a:t>
            </a:r>
          </a:p>
        </p:txBody>
      </p:sp>
      <p:sp>
        <p:nvSpPr>
          <p:cNvPr id="10" name="">
            <a:extLst xmlns:a="http://schemas.openxmlformats.org/drawingml/2006/main">
              <a:ext uri="{FF2B5EF4-FFF2-40B4-BE49-F238E27FC236}">
                <a16:creationId xmlns:a16="http://schemas.microsoft.com/office/drawing/2014/main" id="{2B810493-BDF6-43E3-A39F-C0F249A2BCE0}"/>
              </a:ext>
            </a:extLst>
          </p:cNvPr>
          <p:cNvSpPr>
            <a:spLocks xmlns:a="http://schemas.openxmlformats.org/drawingml/2006/main" noGrp="1"/>
          </p:cNvSpPr>
          <p:nvPr/>
        </p:nvSpPr>
        <p:spPr>
          <a:xfrm xmlns:a="http://schemas.openxmlformats.org/drawingml/2006/main">
            <a:off x="8715375" y="3019425"/>
            <a:ext cx="2809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0">
                <a:solidFill>
                  <a:srgbClr val="142D42"/>
                </a:solidFill>
              </a:defRPr>
            </a:defPPr>
            <a:lvl1pPr algn="l">
              <a:defRPr sz="1575" b="0">
                <a:solidFill>
                  <a:srgbClr val="142D42"/>
                </a:solidFill>
              </a:defRPr>
            </a:lvl1pPr>
            <a:lvl2pPr algn="l">
              <a:defRPr sz="1575" b="0">
                <a:solidFill>
                  <a:srgbClr val="142D42"/>
                </a:solidFill>
              </a:defRPr>
            </a:lvl2pPr>
            <a:lvl3pPr algn="l">
              <a:defRPr sz="1575" b="0">
                <a:solidFill>
                  <a:srgbClr val="142D42"/>
                </a:solidFill>
              </a:defRPr>
            </a:lvl3pPr>
            <a:lvl4pPr algn="l">
              <a:defRPr sz="1575" b="0">
                <a:solidFill>
                  <a:srgbClr val="142D42"/>
                </a:solidFill>
              </a:defRPr>
            </a:lvl4pPr>
            <a:lvl5pPr algn="l">
              <a:defRPr sz="1575" b="0">
                <a:solidFill>
                  <a:srgbClr val="142D42"/>
                </a:solidFill>
              </a:defRPr>
            </a:lvl5pPr>
            <a:lvl6pPr algn="l">
              <a:defRPr sz="1575" b="0">
                <a:solidFill>
                  <a:srgbClr val="142D42"/>
                </a:solidFill>
              </a:defRPr>
            </a:lvl6pPr>
            <a:lvl7pPr algn="l">
              <a:defRPr sz="1575" b="0">
                <a:solidFill>
                  <a:srgbClr val="142D42"/>
                </a:solidFill>
              </a:defRPr>
            </a:lvl7pPr>
            <a:lvl8pPr algn="l">
              <a:defRPr sz="1575" b="0">
                <a:solidFill>
                  <a:srgbClr val="142D42"/>
                </a:solidFill>
              </a:defRPr>
            </a:lvl8pPr>
            <a:lvl9pPr algn="l">
              <a:defRPr sz="1575" b="0">
                <a:solidFill>
                  <a:srgbClr val="142D42"/>
                </a:solidFill>
              </a:defRPr>
            </a:lvl9pPr>
          </a:lstStyle>
          <a:p xmlns:a="http://schemas.openxmlformats.org/drawingml/2006/main">
            <a:pPr algn="l">
              <a:defRPr sz="1575" b="0">
                <a:solidFill>
                  <a:srgbClr val="142D42"/>
                </a:solidFill>
              </a:defRPr>
            </a:pPr>
            <a:r>
              <a:rPr sz="1575" b="0">
                <a:solidFill>
                  <a:srgbClr val="142D42"/>
                </a:solidFill>
              </a:rPr>
              <a:t>Vertical: position [cm]</a:t>
            </a:r>
          </a:p>
        </p:txBody>
      </p:sp>
      <p:sp>
        <p:nvSpPr>
          <p:cNvPr id="11" name="">
            <a:extLst xmlns:a="http://schemas.openxmlformats.org/drawingml/2006/main">
              <a:ext uri="{FF2B5EF4-FFF2-40B4-BE49-F238E27FC236}">
                <a16:creationId xmlns:a16="http://schemas.microsoft.com/office/drawing/2014/main" id="{BAD95376-6A22-406C-AB40-7B7120BE0054}"/>
              </a:ext>
            </a:extLst>
          </p:cNvPr>
          <p:cNvSpPr>
            <a:spLocks xmlns:a="http://schemas.openxmlformats.org/drawingml/2006/main" noGrp="1"/>
          </p:cNvSpPr>
          <p:nvPr/>
        </p:nvSpPr>
        <p:spPr>
          <a:xfrm xmlns:a="http://schemas.openxmlformats.org/drawingml/2006/main">
            <a:off x="8715375" y="3752850"/>
            <a:ext cx="2809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0">
                <a:solidFill>
                  <a:srgbClr val="142D42"/>
                </a:solidFill>
              </a:defRPr>
            </a:defPPr>
            <a:lvl1pPr algn="l">
              <a:defRPr sz="1575" b="0">
                <a:solidFill>
                  <a:srgbClr val="142D42"/>
                </a:solidFill>
              </a:defRPr>
            </a:lvl1pPr>
            <a:lvl2pPr algn="l">
              <a:defRPr sz="1575" b="0">
                <a:solidFill>
                  <a:srgbClr val="142D42"/>
                </a:solidFill>
              </a:defRPr>
            </a:lvl2pPr>
            <a:lvl3pPr algn="l">
              <a:defRPr sz="1575" b="0">
                <a:solidFill>
                  <a:srgbClr val="142D42"/>
                </a:solidFill>
              </a:defRPr>
            </a:lvl3pPr>
            <a:lvl4pPr algn="l">
              <a:defRPr sz="1575" b="0">
                <a:solidFill>
                  <a:srgbClr val="142D42"/>
                </a:solidFill>
              </a:defRPr>
            </a:lvl4pPr>
            <a:lvl5pPr algn="l">
              <a:defRPr sz="1575" b="0">
                <a:solidFill>
                  <a:srgbClr val="142D42"/>
                </a:solidFill>
              </a:defRPr>
            </a:lvl5pPr>
            <a:lvl6pPr algn="l">
              <a:defRPr sz="1575" b="0">
                <a:solidFill>
                  <a:srgbClr val="142D42"/>
                </a:solidFill>
              </a:defRPr>
            </a:lvl6pPr>
            <a:lvl7pPr algn="l">
              <a:defRPr sz="1575" b="0">
                <a:solidFill>
                  <a:srgbClr val="142D42"/>
                </a:solidFill>
              </a:defRPr>
            </a:lvl7pPr>
            <a:lvl8pPr algn="l">
              <a:defRPr sz="1575" b="0">
                <a:solidFill>
                  <a:srgbClr val="142D42"/>
                </a:solidFill>
              </a:defRPr>
            </a:lvl8pPr>
            <a:lvl9pPr algn="l">
              <a:defRPr sz="1575" b="0">
                <a:solidFill>
                  <a:srgbClr val="142D42"/>
                </a:solidFill>
              </a:defRPr>
            </a:lvl9pPr>
          </a:lstStyle>
          <a:p xmlns:a="http://schemas.openxmlformats.org/drawingml/2006/main">
            <a:pPr algn="l">
              <a:defRPr sz="1575" b="0">
                <a:solidFill>
                  <a:srgbClr val="142D42"/>
                </a:solidFill>
              </a:defRPr>
            </a:pPr>
            <a:r>
              <a:rPr sz="1575" b="0">
                <a:solidFill>
                  <a:srgbClr val="142D42"/>
                </a:solidFill>
              </a:rPr>
              <a:t>Upper rows: mass changes</a:t>
            </a:r>
          </a:p>
        </p:txBody>
      </p:sp>
      <p:sp>
        <p:nvSpPr>
          <p:cNvPr id="12" name="">
            <a:extLst xmlns:a="http://schemas.openxmlformats.org/drawingml/2006/main">
              <a:ext uri="{FF2B5EF4-FFF2-40B4-BE49-F238E27FC236}">
                <a16:creationId xmlns:a16="http://schemas.microsoft.com/office/drawing/2014/main" id="{BBFCF6F3-EE92-4538-B8F2-246EEF96DC93}"/>
              </a:ext>
            </a:extLst>
          </p:cNvPr>
          <p:cNvSpPr>
            <a:spLocks xmlns:a="http://schemas.openxmlformats.org/drawingml/2006/main" noGrp="1"/>
          </p:cNvSpPr>
          <p:nvPr/>
        </p:nvSpPr>
        <p:spPr>
          <a:xfrm xmlns:a="http://schemas.openxmlformats.org/drawingml/2006/main">
            <a:off x="8715375" y="4486275"/>
            <a:ext cx="2809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0">
                <a:solidFill>
                  <a:srgbClr val="142D42"/>
                </a:solidFill>
              </a:defRPr>
            </a:defPPr>
            <a:lvl1pPr algn="l">
              <a:defRPr sz="1575" b="0">
                <a:solidFill>
                  <a:srgbClr val="142D42"/>
                </a:solidFill>
              </a:defRPr>
            </a:lvl1pPr>
            <a:lvl2pPr algn="l">
              <a:defRPr sz="1575" b="0">
                <a:solidFill>
                  <a:srgbClr val="142D42"/>
                </a:solidFill>
              </a:defRPr>
            </a:lvl2pPr>
            <a:lvl3pPr algn="l">
              <a:defRPr sz="1575" b="0">
                <a:solidFill>
                  <a:srgbClr val="142D42"/>
                </a:solidFill>
              </a:defRPr>
            </a:lvl3pPr>
            <a:lvl4pPr algn="l">
              <a:defRPr sz="1575" b="0">
                <a:solidFill>
                  <a:srgbClr val="142D42"/>
                </a:solidFill>
              </a:defRPr>
            </a:lvl4pPr>
            <a:lvl5pPr algn="l">
              <a:defRPr sz="1575" b="0">
                <a:solidFill>
                  <a:srgbClr val="142D42"/>
                </a:solidFill>
              </a:defRPr>
            </a:lvl5pPr>
            <a:lvl6pPr algn="l">
              <a:defRPr sz="1575" b="0">
                <a:solidFill>
                  <a:srgbClr val="142D42"/>
                </a:solidFill>
              </a:defRPr>
            </a:lvl6pPr>
            <a:lvl7pPr algn="l">
              <a:defRPr sz="1575" b="0">
                <a:solidFill>
                  <a:srgbClr val="142D42"/>
                </a:solidFill>
              </a:defRPr>
            </a:lvl7pPr>
            <a:lvl8pPr algn="l">
              <a:defRPr sz="1575" b="0">
                <a:solidFill>
                  <a:srgbClr val="142D42"/>
                </a:solidFill>
              </a:defRPr>
            </a:lvl8pPr>
            <a:lvl9pPr algn="l">
              <a:defRPr sz="1575" b="0">
                <a:solidFill>
                  <a:srgbClr val="142D42"/>
                </a:solidFill>
              </a:defRPr>
            </a:lvl9pPr>
          </a:lstStyle>
          <a:p xmlns:a="http://schemas.openxmlformats.org/drawingml/2006/main">
            <a:pPr algn="l">
              <a:defRPr sz="1575" b="0">
                <a:solidFill>
                  <a:srgbClr val="142D42"/>
                </a:solidFill>
              </a:defRPr>
            </a:pPr>
            <a:r>
              <a:rPr sz="1575" b="0">
                <a:solidFill>
                  <a:srgbClr val="142D42"/>
                </a:solidFill>
              </a:rPr>
              <a:t>Lower rows: brake changes</a:t>
            </a:r>
          </a:p>
        </p:txBody>
      </p:sp>
      <p:sp>
        <p:nvSpPr>
          <p:cNvPr id="13" name="">
            <a:extLst xmlns:a="http://schemas.openxmlformats.org/drawingml/2006/main">
              <a:ext uri="{FF2B5EF4-FFF2-40B4-BE49-F238E27FC236}">
                <a16:creationId xmlns:a16="http://schemas.microsoft.com/office/drawing/2014/main" id="{80CA9FB3-4306-434E-8406-84D30330EA7B}"/>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4" name="">
            <a:extLst xmlns:a="http://schemas.openxmlformats.org/drawingml/2006/main">
              <a:ext uri="{FF2B5EF4-FFF2-40B4-BE49-F238E27FC236}">
                <a16:creationId xmlns:a16="http://schemas.microsoft.com/office/drawing/2014/main" id="{0F40B917-1CDC-4F5F-A979-1C396A6C32BB}"/>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Every blue trace is displacement versus time. These are anonymized prior-class measurements.</a:t>
            </a:r>
          </a:p>
        </p:txBody>
      </p:sp>
    </p:spTree>
    <p:extLst>
      <p:ext uri="{BB962C8B-B14F-4D97-AF65-F5344CB8AC3E}">
        <p14:creationId xmlns:p14="http://schemas.microsoft.com/office/powerpoint/2010/main" val="359040774"/>
      </p:ext>
    </p:extLst>
  </p:cSld>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566928" y="164592"/>
            <a:ext cx="4114800" cy="292608"/>
          </a:xfrm>
          <a:prstGeom prst="rect">
            <a:avLst/>
          </a:prstGeom>
          <a:noFill/>
        </p:spPr>
        <p:txBody>
          <a:bodyPr wrap="square" lIns="45720" rIns="45720" tIns="27432">
            <a:spAutoFit/>
          </a:bodyPr>
          <a:lstStyle/>
          <a:p>
            <a:pPr>
              <a:spcAft>
                <a:spcPts val="600"/>
              </a:spcAft>
            </a:pPr>
            <a:r>
              <a:rPr sz="1200" b="1">
                <a:solidFill>
                  <a:srgbClr val="972D41"/>
                </a:solidFill>
                <a:latin typeface="Aptos"/>
              </a:rPr>
              <a:t>MIE 402  •  MECHANICAL ENGINEERING LAB II</a:t>
            </a:r>
          </a:p>
        </p:txBody>
      </p:sp>
      <p:sp>
        <p:nvSpPr>
          <p:cNvPr id="5" name="TextBox 4"/>
          <p:cNvSpPr txBox="1"/>
          <p:nvPr/>
        </p:nvSpPr>
        <p:spPr>
          <a:xfrm>
            <a:off x="8229600" y="164592"/>
            <a:ext cx="3291840" cy="292608"/>
          </a:xfrm>
          <a:prstGeom prst="rect">
            <a:avLst/>
          </a:prstGeom>
          <a:noFill/>
        </p:spPr>
        <p:txBody>
          <a:bodyPr wrap="square" lIns="45720" rIns="45720" tIns="27432">
            <a:spAutoFit/>
          </a:bodyPr>
          <a:lstStyle/>
          <a:p>
            <a:pPr algn="r">
              <a:spcAft>
                <a:spcPts val="600"/>
              </a:spcAft>
            </a:pPr>
            <a:r>
              <a:rPr sz="1100" b="0">
                <a:solidFill>
                  <a:srgbClr val="55646F"/>
                </a:solidFill>
                <a:latin typeface="Aptos"/>
              </a:rPr>
              <a:t>Experimental evidence</a:t>
            </a:r>
          </a:p>
        </p:txBody>
      </p:sp>
      <p:sp>
        <p:nvSpPr>
          <p:cNvPr id="6" name="TextBox 5"/>
          <p:cNvSpPr txBox="1"/>
          <p:nvPr/>
        </p:nvSpPr>
        <p:spPr>
          <a:xfrm>
            <a:off x="566928" y="621792"/>
            <a:ext cx="11064240" cy="658368"/>
          </a:xfrm>
          <a:prstGeom prst="rect">
            <a:avLst/>
          </a:prstGeom>
          <a:noFill/>
        </p:spPr>
        <p:txBody>
          <a:bodyPr wrap="square" lIns="45720" rIns="45720" tIns="27432">
            <a:spAutoFit/>
          </a:bodyPr>
          <a:lstStyle/>
          <a:p>
            <a:pPr>
              <a:spcAft>
                <a:spcPts val="600"/>
              </a:spcAft>
            </a:pPr>
            <a:r>
              <a:rPr sz="2700" b="1">
                <a:solidFill>
                  <a:srgbClr val="193143"/>
                </a:solidFill>
                <a:latin typeface="Aptos"/>
              </a:rPr>
              <a:t>Reading the historical plots: what each curve means</a:t>
            </a:r>
          </a:p>
        </p:txBody>
      </p:sp>
      <p:sp>
        <p:nvSpPr>
          <p:cNvPr id="7" name="Rectangle 6"/>
          <p:cNvSpPr/>
          <p:nvPr/>
        </p:nvSpPr>
        <p:spPr>
          <a:xfrm>
            <a:off x="566928" y="1335024"/>
            <a:ext cx="11018520" cy="10972"/>
          </a:xfrm>
          <a:prstGeom prst="rect">
            <a:avLst/>
          </a:prstGeom>
          <a:solidFill>
            <a:srgbClr val="D8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00784"/>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Blue x(t)</a:t>
            </a:r>
          </a:p>
        </p:txBody>
      </p:sp>
      <p:sp>
        <p:nvSpPr>
          <p:cNvPr id="9" name="TextBox 8"/>
          <p:cNvSpPr txBox="1"/>
          <p:nvPr/>
        </p:nvSpPr>
        <p:spPr>
          <a:xfrm>
            <a:off x="3977639" y="1700784"/>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Recorded position versus time: spacing of same-sign peaks gives T𝒹; the shrinking heights give α.</a:t>
            </a:r>
          </a:p>
        </p:txBody>
      </p:sp>
      <p:sp>
        <p:nvSpPr>
          <p:cNvPr id="10" name="TextBox 9"/>
          <p:cNvSpPr txBox="1"/>
          <p:nvPr/>
        </p:nvSpPr>
        <p:spPr>
          <a:xfrm>
            <a:off x="822960" y="2642616"/>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Red spectrum</a:t>
            </a:r>
          </a:p>
        </p:txBody>
      </p:sp>
      <p:sp>
        <p:nvSpPr>
          <p:cNvPr id="11" name="TextBox 10"/>
          <p:cNvSpPr txBox="1"/>
          <p:nvPr/>
        </p:nvSpPr>
        <p:spPr>
          <a:xfrm>
            <a:off x="3977639" y="2642616"/>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FFT magnitude of the same recorded run: horizontal location checks dominant frequency.</a:t>
            </a:r>
          </a:p>
        </p:txBody>
      </p:sp>
      <p:sp>
        <p:nvSpPr>
          <p:cNvPr id="12" name="TextBox 11"/>
          <p:cNvSpPr txBox="1"/>
          <p:nvPr/>
        </p:nvSpPr>
        <p:spPr>
          <a:xfrm>
            <a:off x="822960" y="3584448"/>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Not a damping test</a:t>
            </a:r>
          </a:p>
        </p:txBody>
      </p:sp>
      <p:sp>
        <p:nvSpPr>
          <p:cNvPr id="13" name="TextBox 12"/>
          <p:cNvSpPr txBox="1"/>
          <p:nvPr/>
        </p:nvSpPr>
        <p:spPr>
          <a:xfrm>
            <a:off x="3977639" y="3584448"/>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FFT peak HEIGHT also changes with displacement amplitude, window length and normalization.</a:t>
            </a:r>
          </a:p>
        </p:txBody>
      </p:sp>
      <p:sp>
        <p:nvSpPr>
          <p:cNvPr id="14" name="TextBox 13"/>
          <p:cNvSpPr txBox="1"/>
          <p:nvPr/>
        </p:nvSpPr>
        <p:spPr>
          <a:xfrm>
            <a:off x="822960" y="4526280"/>
            <a:ext cx="3072384" cy="685800"/>
          </a:xfrm>
          <a:prstGeom prst="rect">
            <a:avLst/>
          </a:prstGeom>
          <a:noFill/>
        </p:spPr>
        <p:txBody>
          <a:bodyPr wrap="square" lIns="45720" rIns="45720" tIns="27432">
            <a:spAutoFit/>
          </a:bodyPr>
          <a:lstStyle/>
          <a:p>
            <a:pPr>
              <a:spcAft>
                <a:spcPts val="600"/>
              </a:spcAft>
            </a:pPr>
            <a:r>
              <a:rPr sz="1900" b="1">
                <a:solidFill>
                  <a:srgbClr val="256A99"/>
                </a:solidFill>
                <a:latin typeface="Aptos"/>
              </a:rPr>
              <a:t>Provenance</a:t>
            </a:r>
          </a:p>
        </p:txBody>
      </p:sp>
      <p:sp>
        <p:nvSpPr>
          <p:cNvPr id="15" name="TextBox 14"/>
          <p:cNvSpPr txBox="1"/>
          <p:nvPr/>
        </p:nvSpPr>
        <p:spPr>
          <a:xfrm>
            <a:off x="3977639" y="4526280"/>
            <a:ext cx="7315200" cy="749808"/>
          </a:xfrm>
          <a:prstGeom prst="rect">
            <a:avLst/>
          </a:prstGeom>
          <a:noFill/>
        </p:spPr>
        <p:txBody>
          <a:bodyPr wrap="square" lIns="45720" rIns="45720" tIns="27432">
            <a:spAutoFit/>
          </a:bodyPr>
          <a:lstStyle/>
          <a:p>
            <a:pPr>
              <a:spcAft>
                <a:spcPts val="600"/>
              </a:spcAft>
            </a:pPr>
            <a:r>
              <a:rPr sz="1900" b="0">
                <a:solidFill>
                  <a:srgbClr val="193143"/>
                </a:solidFill>
                <a:latin typeface="Aptos"/>
              </a:rPr>
              <a:t>These are anonymized prior-class experimental plots, not curves generated by the ideal model.</a:t>
            </a:r>
          </a:p>
        </p:txBody>
      </p:sp>
      <p:sp>
        <p:nvSpPr>
          <p:cNvPr id="16" name="Rectangle 15"/>
          <p:cNvSpPr/>
          <p:nvPr/>
        </p:nvSpPr>
        <p:spPr>
          <a:xfrm>
            <a:off x="566928" y="5888736"/>
            <a:ext cx="11027664" cy="585216"/>
          </a:xfrm>
          <a:prstGeom prst="rect">
            <a:avLst/>
          </a:prstGeom>
          <a:solidFill>
            <a:srgbClr val="EF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989320"/>
            <a:ext cx="10661904" cy="365760"/>
          </a:xfrm>
          <a:prstGeom prst="rect">
            <a:avLst/>
          </a:prstGeom>
          <a:noFill/>
        </p:spPr>
        <p:txBody>
          <a:bodyPr wrap="square" lIns="45720" rIns="45720" tIns="27432">
            <a:spAutoFit/>
          </a:bodyPr>
          <a:lstStyle/>
          <a:p>
            <a:pPr>
              <a:spcAft>
                <a:spcPts val="600"/>
              </a:spcAft>
            </a:pPr>
            <a:r>
              <a:rPr sz="1600" b="1">
                <a:solidFill>
                  <a:srgbClr val="972D41"/>
                </a:solidFill>
                <a:latin typeface="Aptos"/>
              </a:rPr>
              <a:t>Always read axes and compare like-for-like configurations before inferring a trend.</a:t>
            </a:r>
          </a:p>
        </p:txBody>
      </p:sp>
      <p:sp>
        <p:nvSpPr>
          <p:cNvPr id="18" name="TextBox 17"/>
          <p:cNvSpPr txBox="1"/>
          <p:nvPr/>
        </p:nvSpPr>
        <p:spPr>
          <a:xfrm>
            <a:off x="594360" y="6556248"/>
            <a:ext cx="6400800" cy="182880"/>
          </a:xfrm>
          <a:prstGeom prst="rect">
            <a:avLst/>
          </a:prstGeom>
          <a:noFill/>
        </p:spPr>
        <p:txBody>
          <a:bodyPr wrap="square" lIns="45720" rIns="45720" tIns="27432">
            <a:spAutoFit/>
          </a:bodyPr>
          <a:lstStyle/>
          <a:p>
            <a:pPr>
              <a:spcAft>
                <a:spcPts val="600"/>
              </a:spcAft>
            </a:pPr>
            <a:r>
              <a:rPr sz="1000" b="0">
                <a:solidFill>
                  <a:srgbClr val="55646F"/>
                </a:solidFill>
                <a:latin typeface="Aptos"/>
              </a:rPr>
              <a:t>Ehsan Roohi  •  UMass Amherst  •  Fall 2026</a:t>
            </a:r>
          </a:p>
        </p:txBody>
      </p:sp>
      <p:sp>
        <p:nvSpPr>
          <p:cNvPr id="19" name="TextBox 18"/>
          <p:cNvSpPr txBox="1"/>
          <p:nvPr/>
        </p:nvSpPr>
        <p:spPr>
          <a:xfrm>
            <a:off x="11064240" y="6556248"/>
            <a:ext cx="566928" cy="182880"/>
          </a:xfrm>
          <a:prstGeom prst="rect">
            <a:avLst/>
          </a:prstGeom>
          <a:noFill/>
        </p:spPr>
        <p:txBody>
          <a:bodyPr wrap="square" lIns="45720" rIns="45720" tIns="27432">
            <a:spAutoFit/>
          </a:bodyPr>
          <a:lstStyle/>
          <a:p>
            <a:pPr algn="r"/>
            <a:r>
              <a:rPr sz="1000">
                <a:solidFill>
                  <a:srgbClr val="5A666E"/>
                </a:solidFill>
              </a:rPr>
              <a:t>36</a:t>
            </a:r>
          </a:p>
        </p:txBody>
      </p:sp>
      <p:sp>
        <p:nvSpPr>
          <p:cNvPr id="20" name="TextBox 19"/>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41–42 min</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0282F9F-D074-4F5E-9EA0-A566646C1149}"/>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736248EF-8829-49A0-98C1-D4A6836C17E2}"/>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Measured evidence</a:t>
            </a:r>
          </a:p>
        </p:txBody>
      </p:sp>
      <p:sp>
        <p:nvSpPr>
          <p:cNvPr id="3" name="">
            <a:extLst xmlns:a="http://schemas.openxmlformats.org/drawingml/2006/main">
              <a:ext uri="{FF2B5EF4-FFF2-40B4-BE49-F238E27FC236}">
                <a16:creationId xmlns:a16="http://schemas.microsoft.com/office/drawing/2014/main" id="{308D91D9-EBF4-49B0-811B-74C8BE27AC70}"/>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blue traces and red spectra answer different questions</a:t>
            </a:r>
          </a:p>
        </p:txBody>
      </p:sp>
      <p:sp>
        <p:nvSpPr>
          <p:cNvPr id="4" name="">
            <a:extLst xmlns:a="http://schemas.openxmlformats.org/drawingml/2006/main">
              <a:ext uri="{FF2B5EF4-FFF2-40B4-BE49-F238E27FC236}">
                <a16:creationId xmlns:a16="http://schemas.microsoft.com/office/drawing/2014/main" id="{BD485B9F-724D-480B-BF3A-B1A7E1DA2F37}"/>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158B442-BDDA-42BF-BFBE-AD3B14E8C9A3}"/>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37</a:t>
            </a:r>
          </a:p>
        </p:txBody>
      </p:sp>
      <p:sp>
        <p:nvSpPr>
          <p:cNvPr id="6" name="">
            <a:extLst xmlns:a="http://schemas.openxmlformats.org/drawingml/2006/main">
              <a:ext uri="{FF2B5EF4-FFF2-40B4-BE49-F238E27FC236}">
                <a16:creationId xmlns:a16="http://schemas.microsoft.com/office/drawing/2014/main" id="{47DBAADE-82B6-4B2B-B83C-F7B3A194BA90}"/>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42–43 min</a:t>
            </a:r>
          </a:p>
        </p:txBody>
      </p:sp>
      <p:pic>
        <p:nvPicPr>
          <p:cNvPr id="7" name="">
            <a:extLst xmlns:a="http://schemas.openxmlformats.org/drawingml/2006/main">
              <a:ext uri="{FF2B5EF4-FFF2-40B4-BE49-F238E27FC236}">
                <a16:creationId xmlns:a16="http://schemas.microsoft.com/office/drawing/2014/main" id="{F3E7CA97-07DA-4AEA-9861-093BC1791AB1}"/>
              </a:ext>
            </a:extLst>
          </p:cNvPr>
          <p:cNvPicPr>
            <a:picLocks xmlns:a="http://schemas.openxmlformats.org/drawingml/2006/main" noChangeAspect="1"/>
          </p:cNvPicPr>
          <p:nvPr/>
        </p:nvPicPr>
        <p:blipFill>
          <a:blip xmlns:r="http://schemas.openxmlformats.org/officeDocument/2006/relationships" xmlns:a="http://schemas.openxmlformats.org/drawingml/2006/main" r:embed="R1a9b8ef2b4da43ca"/>
          <a:stretch xmlns:a="http://schemas.openxmlformats.org/drawingml/2006/main"/>
        </p:blipFill>
        <p:spPr>
          <a:xfrm xmlns:a="http://schemas.openxmlformats.org/drawingml/2006/main">
            <a:off x="1662906" y="1571625"/>
            <a:ext cx="5532438" cy="4048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CD5ED97-B56C-47CE-8C0A-E3B206944880}"/>
              </a:ext>
            </a:extLst>
          </p:cNvPr>
          <p:cNvSpPr>
            <a:spLocks xmlns:a="http://schemas.openxmlformats.org/drawingml/2006/main" noGrp="1"/>
          </p:cNvSpPr>
          <p:nvPr/>
        </p:nvSpPr>
        <p:spPr>
          <a:xfrm xmlns:a="http://schemas.openxmlformats.org/drawingml/2006/main">
            <a:off x="8763000" y="1809750"/>
            <a:ext cx="2714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2467A5"/>
                </a:solidFill>
              </a:defRPr>
            </a:defPPr>
            <a:lvl1pPr algn="l">
              <a:defRPr sz="1875" b="1">
                <a:solidFill>
                  <a:srgbClr val="2467A5"/>
                </a:solidFill>
              </a:defRPr>
            </a:lvl1pPr>
            <a:lvl2pPr algn="l">
              <a:defRPr sz="1875" b="1">
                <a:solidFill>
                  <a:srgbClr val="2467A5"/>
                </a:solidFill>
              </a:defRPr>
            </a:lvl2pPr>
            <a:lvl3pPr algn="l">
              <a:defRPr sz="1875" b="1">
                <a:solidFill>
                  <a:srgbClr val="2467A5"/>
                </a:solidFill>
              </a:defRPr>
            </a:lvl3pPr>
            <a:lvl4pPr algn="l">
              <a:defRPr sz="1875" b="1">
                <a:solidFill>
                  <a:srgbClr val="2467A5"/>
                </a:solidFill>
              </a:defRPr>
            </a:lvl4pPr>
            <a:lvl5pPr algn="l">
              <a:defRPr sz="1875" b="1">
                <a:solidFill>
                  <a:srgbClr val="2467A5"/>
                </a:solidFill>
              </a:defRPr>
            </a:lvl5pPr>
            <a:lvl6pPr algn="l">
              <a:defRPr sz="1875" b="1">
                <a:solidFill>
                  <a:srgbClr val="2467A5"/>
                </a:solidFill>
              </a:defRPr>
            </a:lvl6pPr>
            <a:lvl7pPr algn="l">
              <a:defRPr sz="1875" b="1">
                <a:solidFill>
                  <a:srgbClr val="2467A5"/>
                </a:solidFill>
              </a:defRPr>
            </a:lvl7pPr>
            <a:lvl8pPr algn="l">
              <a:defRPr sz="1875" b="1">
                <a:solidFill>
                  <a:srgbClr val="2467A5"/>
                </a:solidFill>
              </a:defRPr>
            </a:lvl8pPr>
            <a:lvl9pPr algn="l">
              <a:defRPr sz="1875" b="1">
                <a:solidFill>
                  <a:srgbClr val="2467A5"/>
                </a:solidFill>
              </a:defRPr>
            </a:lvl9pPr>
          </a:lstStyle>
          <a:p xmlns:a="http://schemas.openxmlformats.org/drawingml/2006/main">
            <a:pPr algn="l">
              <a:defRPr sz="1875" b="1">
                <a:solidFill>
                  <a:srgbClr val="2467A5"/>
                </a:solidFill>
              </a:defRPr>
            </a:pPr>
            <a:r>
              <a:rPr sz="1875" b="1">
                <a:solidFill>
                  <a:srgbClr val="2467A5"/>
                </a:solidFill>
              </a:rPr>
              <a:t>Blue: x(t)</a:t>
            </a:r>
          </a:p>
        </p:txBody>
      </p:sp>
      <p:sp>
        <p:nvSpPr>
          <p:cNvPr id="9" name="">
            <a:extLst xmlns:a="http://schemas.openxmlformats.org/drawingml/2006/main">
              <a:ext uri="{FF2B5EF4-FFF2-40B4-BE49-F238E27FC236}">
                <a16:creationId xmlns:a16="http://schemas.microsoft.com/office/drawing/2014/main" id="{4D6FB385-C4EB-4510-9A56-BB00367BCB26}"/>
              </a:ext>
            </a:extLst>
          </p:cNvPr>
          <p:cNvSpPr>
            <a:spLocks xmlns:a="http://schemas.openxmlformats.org/drawingml/2006/main" noGrp="1"/>
          </p:cNvSpPr>
          <p:nvPr/>
        </p:nvSpPr>
        <p:spPr>
          <a:xfrm xmlns:a="http://schemas.openxmlformats.org/drawingml/2006/main">
            <a:off x="8763000" y="2286000"/>
            <a:ext cx="2714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Peak spacing gives Td.</a:t>
            </a:r>
          </a:p>
          <a:p xmlns:a="http://schemas.openxmlformats.org/drawingml/2006/main">
            <a:pPr algn="l">
              <a:defRPr sz="1725" b="0">
                <a:solidFill>
                  <a:srgbClr val="142D42"/>
                </a:solidFill>
              </a:defRPr>
            </a:pPr>
            <a:r>
              <a:rPr sz="1725" b="0">
                <a:solidFill>
                  <a:srgbClr val="142D42"/>
                </a:solidFill>
              </a:rPr>
              <a:t>Peak-height decay gives α.</a:t>
            </a:r>
          </a:p>
        </p:txBody>
      </p:sp>
      <p:sp>
        <p:nvSpPr>
          <p:cNvPr id="10" name="">
            <a:extLst xmlns:a="http://schemas.openxmlformats.org/drawingml/2006/main">
              <a:ext uri="{FF2B5EF4-FFF2-40B4-BE49-F238E27FC236}">
                <a16:creationId xmlns:a16="http://schemas.microsoft.com/office/drawing/2014/main" id="{4885BA4E-C536-4E9E-9909-DEF9C93ABDFF}"/>
              </a:ext>
            </a:extLst>
          </p:cNvPr>
          <p:cNvSpPr>
            <a:spLocks xmlns:a="http://schemas.openxmlformats.org/drawingml/2006/main" noGrp="1"/>
          </p:cNvSpPr>
          <p:nvPr/>
        </p:nvSpPr>
        <p:spPr>
          <a:xfrm xmlns:a="http://schemas.openxmlformats.org/drawingml/2006/main">
            <a:off x="8763000" y="3571875"/>
            <a:ext cx="2714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75" b="1">
                <a:solidFill>
                  <a:srgbClr val="A82C3C"/>
                </a:solidFill>
              </a:defRPr>
            </a:defPPr>
            <a:lvl1pPr algn="l">
              <a:defRPr sz="1875" b="1">
                <a:solidFill>
                  <a:srgbClr val="A82C3C"/>
                </a:solidFill>
              </a:defRPr>
            </a:lvl1pPr>
            <a:lvl2pPr algn="l">
              <a:defRPr sz="1875" b="1">
                <a:solidFill>
                  <a:srgbClr val="A82C3C"/>
                </a:solidFill>
              </a:defRPr>
            </a:lvl2pPr>
            <a:lvl3pPr algn="l">
              <a:defRPr sz="1875" b="1">
                <a:solidFill>
                  <a:srgbClr val="A82C3C"/>
                </a:solidFill>
              </a:defRPr>
            </a:lvl3pPr>
            <a:lvl4pPr algn="l">
              <a:defRPr sz="1875" b="1">
                <a:solidFill>
                  <a:srgbClr val="A82C3C"/>
                </a:solidFill>
              </a:defRPr>
            </a:lvl4pPr>
            <a:lvl5pPr algn="l">
              <a:defRPr sz="1875" b="1">
                <a:solidFill>
                  <a:srgbClr val="A82C3C"/>
                </a:solidFill>
              </a:defRPr>
            </a:lvl5pPr>
            <a:lvl6pPr algn="l">
              <a:defRPr sz="1875" b="1">
                <a:solidFill>
                  <a:srgbClr val="A82C3C"/>
                </a:solidFill>
              </a:defRPr>
            </a:lvl6pPr>
            <a:lvl7pPr algn="l">
              <a:defRPr sz="1875" b="1">
                <a:solidFill>
                  <a:srgbClr val="A82C3C"/>
                </a:solidFill>
              </a:defRPr>
            </a:lvl7pPr>
            <a:lvl8pPr algn="l">
              <a:defRPr sz="1875" b="1">
                <a:solidFill>
                  <a:srgbClr val="A82C3C"/>
                </a:solidFill>
              </a:defRPr>
            </a:lvl8pPr>
            <a:lvl9pPr algn="l">
              <a:defRPr sz="1875" b="1">
                <a:solidFill>
                  <a:srgbClr val="A82C3C"/>
                </a:solidFill>
              </a:defRPr>
            </a:lvl9pPr>
          </a:lstStyle>
          <a:p xmlns:a="http://schemas.openxmlformats.org/drawingml/2006/main">
            <a:pPr algn="l">
              <a:defRPr sz="1875" b="1">
                <a:solidFill>
                  <a:srgbClr val="A82C3C"/>
                </a:solidFill>
              </a:defRPr>
            </a:pPr>
            <a:r>
              <a:rPr sz="1875" b="1">
                <a:solidFill>
                  <a:srgbClr val="A82C3C"/>
                </a:solidFill>
              </a:rPr>
              <a:t>Red: FFT magnitude</a:t>
            </a:r>
          </a:p>
        </p:txBody>
      </p:sp>
      <p:sp>
        <p:nvSpPr>
          <p:cNvPr id="11" name="">
            <a:extLst xmlns:a="http://schemas.openxmlformats.org/drawingml/2006/main">
              <a:ext uri="{FF2B5EF4-FFF2-40B4-BE49-F238E27FC236}">
                <a16:creationId xmlns:a16="http://schemas.microsoft.com/office/drawing/2014/main" id="{996D7ACB-ACD2-47F1-87F5-AFCB48A751E1}"/>
              </a:ext>
            </a:extLst>
          </p:cNvPr>
          <p:cNvSpPr>
            <a:spLocks xmlns:a="http://schemas.openxmlformats.org/drawingml/2006/main" noGrp="1"/>
          </p:cNvSpPr>
          <p:nvPr/>
        </p:nvSpPr>
        <p:spPr>
          <a:xfrm xmlns:a="http://schemas.openxmlformats.org/drawingml/2006/main">
            <a:off x="8763000" y="4143375"/>
            <a:ext cx="27146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142D42"/>
                </a:solidFill>
              </a:defRPr>
            </a:defPPr>
            <a:lvl1pPr algn="l">
              <a:defRPr sz="1650" b="0">
                <a:solidFill>
                  <a:srgbClr val="142D42"/>
                </a:solidFill>
              </a:defRPr>
            </a:lvl1pPr>
            <a:lvl2pPr algn="l">
              <a:defRPr sz="1650" b="0">
                <a:solidFill>
                  <a:srgbClr val="142D42"/>
                </a:solidFill>
              </a:defRPr>
            </a:lvl2pPr>
            <a:lvl3pPr algn="l">
              <a:defRPr sz="1650" b="0">
                <a:solidFill>
                  <a:srgbClr val="142D42"/>
                </a:solidFill>
              </a:defRPr>
            </a:lvl3pPr>
            <a:lvl4pPr algn="l">
              <a:defRPr sz="1650" b="0">
                <a:solidFill>
                  <a:srgbClr val="142D42"/>
                </a:solidFill>
              </a:defRPr>
            </a:lvl4pPr>
            <a:lvl5pPr algn="l">
              <a:defRPr sz="1650" b="0">
                <a:solidFill>
                  <a:srgbClr val="142D42"/>
                </a:solidFill>
              </a:defRPr>
            </a:lvl5pPr>
            <a:lvl6pPr algn="l">
              <a:defRPr sz="1650" b="0">
                <a:solidFill>
                  <a:srgbClr val="142D42"/>
                </a:solidFill>
              </a:defRPr>
            </a:lvl6pPr>
            <a:lvl7pPr algn="l">
              <a:defRPr sz="1650" b="0">
                <a:solidFill>
                  <a:srgbClr val="142D42"/>
                </a:solidFill>
              </a:defRPr>
            </a:lvl7pPr>
            <a:lvl8pPr algn="l">
              <a:defRPr sz="1650" b="0">
                <a:solidFill>
                  <a:srgbClr val="142D42"/>
                </a:solidFill>
              </a:defRPr>
            </a:lvl8pPr>
            <a:lvl9pPr algn="l">
              <a:defRPr sz="1650" b="0">
                <a:solidFill>
                  <a:srgbClr val="142D42"/>
                </a:solidFill>
              </a:defRPr>
            </a:lvl9pPr>
          </a:lstStyle>
          <a:p xmlns:a="http://schemas.openxmlformats.org/drawingml/2006/main">
            <a:pPr algn="l">
              <a:defRPr sz="1650" b="0">
                <a:solidFill>
                  <a:srgbClr val="142D42"/>
                </a:solidFill>
              </a:defRPr>
            </a:pPr>
            <a:r>
              <a:rPr sz="1650" b="0">
                <a:solidFill>
                  <a:srgbClr val="142D42"/>
                </a:solidFill>
              </a:rPr>
              <a:t>Peak location checks fd.</a:t>
            </a:r>
          </a:p>
          <a:p xmlns:a="http://schemas.openxmlformats.org/drawingml/2006/main">
            <a:pPr algn="l">
              <a:defRPr sz="1650" b="0">
                <a:solidFill>
                  <a:srgbClr val="142D42"/>
                </a:solidFill>
              </a:defRPr>
            </a:pPr>
            <a:r>
              <a:rPr sz="1650" b="0">
                <a:solidFill>
                  <a:srgbClr val="142D42"/>
                </a:solidFill>
              </a:rPr>
              <a:t>Peak height also depends on record and initial amplitude.</a:t>
            </a:r>
          </a:p>
        </p:txBody>
      </p:sp>
      <p:sp>
        <p:nvSpPr>
          <p:cNvPr id="12" name="">
            <a:extLst xmlns:a="http://schemas.openxmlformats.org/drawingml/2006/main">
              <a:ext uri="{FF2B5EF4-FFF2-40B4-BE49-F238E27FC236}">
                <a16:creationId xmlns:a16="http://schemas.microsoft.com/office/drawing/2014/main" id="{61CF1801-DEFE-42A6-B859-BC6C00E66C5A}"/>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316D3BFB-7BD9-4296-B70A-152713C46FA8}"/>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One row represents one configuration. Time trace and spectrum describe the same recorded motion.</a:t>
            </a:r>
          </a:p>
        </p:txBody>
      </p:sp>
    </p:spTree>
    <p:extLst>
      <p:ext uri="{BB962C8B-B14F-4D97-AF65-F5344CB8AC3E}">
        <p14:creationId xmlns:p14="http://schemas.microsoft.com/office/powerpoint/2010/main" val="4639842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60DDFC8-B710-4363-8810-23C703CBAC65}"/>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D19DC7D9-2508-435E-B2D0-C8D2673480C2}"/>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At the bench</a:t>
            </a:r>
          </a:p>
        </p:txBody>
      </p:sp>
      <p:sp>
        <p:nvSpPr>
          <p:cNvPr id="3" name="">
            <a:extLst xmlns:a="http://schemas.openxmlformats.org/drawingml/2006/main">
              <a:ext uri="{FF2B5EF4-FFF2-40B4-BE49-F238E27FC236}">
                <a16:creationId xmlns:a16="http://schemas.microsoft.com/office/drawing/2014/main" id="{BBC56564-F9FA-4E48-A0E9-E9CACC16924F}"/>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Collection settings and the order of operations</a:t>
            </a:r>
          </a:p>
        </p:txBody>
      </p:sp>
      <p:sp>
        <p:nvSpPr>
          <p:cNvPr id="4" name="">
            <a:extLst xmlns:a="http://schemas.openxmlformats.org/drawingml/2006/main">
              <a:ext uri="{FF2B5EF4-FFF2-40B4-BE49-F238E27FC236}">
                <a16:creationId xmlns:a16="http://schemas.microsoft.com/office/drawing/2014/main" id="{00CEA0F2-E0CA-4D0C-B6CA-4DAA08D489CC}"/>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D41BF9-136E-4BC3-BB7D-6E3DCA3F47D9}"/>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38</a:t>
            </a:r>
          </a:p>
        </p:txBody>
      </p:sp>
      <p:sp>
        <p:nvSpPr>
          <p:cNvPr id="6" name="">
            <a:extLst xmlns:a="http://schemas.openxmlformats.org/drawingml/2006/main">
              <a:ext uri="{FF2B5EF4-FFF2-40B4-BE49-F238E27FC236}">
                <a16:creationId xmlns:a16="http://schemas.microsoft.com/office/drawing/2014/main" id="{C0CBFCCB-CD12-4C09-9F50-6C916B303882}"/>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43–44 min</a:t>
            </a:r>
          </a:p>
        </p:txBody>
      </p:sp>
      <p:pic>
        <p:nvPicPr>
          <p:cNvPr id="7" name="">
            <a:extLst xmlns:a="http://schemas.openxmlformats.org/drawingml/2006/main">
              <a:ext uri="{FF2B5EF4-FFF2-40B4-BE49-F238E27FC236}">
                <a16:creationId xmlns:a16="http://schemas.microsoft.com/office/drawing/2014/main" id="{EEB80E2D-E716-4314-8826-9C5ADB86C0E0}"/>
              </a:ext>
            </a:extLst>
          </p:cNvPr>
          <p:cNvPicPr>
            <a:picLocks xmlns:a="http://schemas.openxmlformats.org/drawingml/2006/main" noChangeAspect="1"/>
          </p:cNvPicPr>
          <p:nvPr/>
        </p:nvPicPr>
        <p:blipFill>
          <a:blip xmlns:r="http://schemas.openxmlformats.org/officeDocument/2006/relationships" xmlns:a="http://schemas.openxmlformats.org/drawingml/2006/main" r:embed="R97ca51b0df5b4fc5"/>
          <a:stretch xmlns:a="http://schemas.openxmlformats.org/drawingml/2006/main"/>
        </p:blipFill>
        <p:spPr>
          <a:xfrm xmlns:a="http://schemas.openxmlformats.org/drawingml/2006/main">
            <a:off x="2297906" y="1619250"/>
            <a:ext cx="1309688" cy="157162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76373891-E7E0-42DB-BB8A-AE76BF7455B9}"/>
              </a:ext>
            </a:extLst>
          </p:cNvPr>
          <p:cNvPicPr>
            <a:picLocks xmlns:a="http://schemas.openxmlformats.org/drawingml/2006/main" noChangeAspect="1"/>
          </p:cNvPicPr>
          <p:nvPr/>
        </p:nvPicPr>
        <p:blipFill>
          <a:blip xmlns:r="http://schemas.openxmlformats.org/officeDocument/2006/relationships" xmlns:a="http://schemas.openxmlformats.org/drawingml/2006/main" r:embed="R9b8d237eb4634b38"/>
          <a:stretch xmlns:a="http://schemas.openxmlformats.org/drawingml/2006/main"/>
        </p:blipFill>
        <p:spPr>
          <a:xfrm xmlns:a="http://schemas.openxmlformats.org/drawingml/2006/main">
            <a:off x="1547925" y="3571875"/>
            <a:ext cx="2809650" cy="14763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1842F21-D31B-49A8-BC5E-470020EC2C7F}"/>
              </a:ext>
            </a:extLst>
          </p:cNvPr>
          <p:cNvSpPr>
            <a:spLocks xmlns:a="http://schemas.openxmlformats.org/drawingml/2006/main" noGrp="1"/>
          </p:cNvSpPr>
          <p:nvPr/>
        </p:nvSpPr>
        <p:spPr>
          <a:xfrm xmlns:a="http://schemas.openxmlformats.org/drawingml/2006/main">
            <a:off x="5953125" y="1571625"/>
            <a:ext cx="55721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142D42"/>
                </a:solidFill>
              </a:defRPr>
            </a:defPPr>
            <a:lvl1pPr algn="l">
              <a:defRPr sz="1650" b="0">
                <a:solidFill>
                  <a:srgbClr val="142D42"/>
                </a:solidFill>
              </a:defRPr>
            </a:lvl1pPr>
            <a:lvl2pPr algn="l">
              <a:defRPr sz="1650" b="0">
                <a:solidFill>
                  <a:srgbClr val="142D42"/>
                </a:solidFill>
              </a:defRPr>
            </a:lvl2pPr>
            <a:lvl3pPr algn="l">
              <a:defRPr sz="1650" b="0">
                <a:solidFill>
                  <a:srgbClr val="142D42"/>
                </a:solidFill>
              </a:defRPr>
            </a:lvl3pPr>
            <a:lvl4pPr algn="l">
              <a:defRPr sz="1650" b="0">
                <a:solidFill>
                  <a:srgbClr val="142D42"/>
                </a:solidFill>
              </a:defRPr>
            </a:lvl4pPr>
            <a:lvl5pPr algn="l">
              <a:defRPr sz="1650" b="0">
                <a:solidFill>
                  <a:srgbClr val="142D42"/>
                </a:solidFill>
              </a:defRPr>
            </a:lvl5pPr>
            <a:lvl6pPr algn="l">
              <a:defRPr sz="1650" b="0">
                <a:solidFill>
                  <a:srgbClr val="142D42"/>
                </a:solidFill>
              </a:defRPr>
            </a:lvl6pPr>
            <a:lvl7pPr algn="l">
              <a:defRPr sz="1650" b="0">
                <a:solidFill>
                  <a:srgbClr val="142D42"/>
                </a:solidFill>
              </a:defRPr>
            </a:lvl7pPr>
            <a:lvl8pPr algn="l">
              <a:defRPr sz="1650" b="0">
                <a:solidFill>
                  <a:srgbClr val="142D42"/>
                </a:solidFill>
              </a:defRPr>
            </a:lvl8pPr>
            <a:lvl9pPr algn="l">
              <a:defRPr sz="1650" b="0">
                <a:solidFill>
                  <a:srgbClr val="142D42"/>
                </a:solidFill>
              </a:defRPr>
            </a:lvl9pPr>
          </a:lstStyle>
          <a:p xmlns:a="http://schemas.openxmlformats.org/drawingml/2006/main">
            <a:pPr algn="l">
              <a:defRPr sz="1650" b="0">
                <a:solidFill>
                  <a:srgbClr val="142D42"/>
                </a:solidFill>
              </a:defRPr>
            </a:pPr>
            <a:r>
              <a:rPr sz="1650" b="0">
                <a:solidFill>
                  <a:srgbClr val="142D42"/>
                </a:solidFill>
              </a:rPr>
              <a:t>1. Level the track and connect the correct serial number.</a:t>
            </a:r>
          </a:p>
        </p:txBody>
      </p:sp>
      <p:sp>
        <p:nvSpPr>
          <p:cNvPr id="10" name="">
            <a:extLst xmlns:a="http://schemas.openxmlformats.org/drawingml/2006/main">
              <a:ext uri="{FF2B5EF4-FFF2-40B4-BE49-F238E27FC236}">
                <a16:creationId xmlns:a16="http://schemas.microsoft.com/office/drawing/2014/main" id="{0535E1EA-4372-43D9-B0CE-5AF5B8319A2E}"/>
              </a:ext>
            </a:extLst>
          </p:cNvPr>
          <p:cNvSpPr>
            <a:spLocks xmlns:a="http://schemas.openxmlformats.org/drawingml/2006/main" noGrp="1"/>
          </p:cNvSpPr>
          <p:nvPr/>
        </p:nvSpPr>
        <p:spPr>
          <a:xfrm xmlns:a="http://schemas.openxmlformats.org/drawingml/2006/main">
            <a:off x="5953125" y="2257425"/>
            <a:ext cx="55721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142D42"/>
                </a:solidFill>
              </a:defRPr>
            </a:defPPr>
            <a:lvl1pPr algn="l">
              <a:defRPr sz="1650" b="0">
                <a:solidFill>
                  <a:srgbClr val="142D42"/>
                </a:solidFill>
              </a:defRPr>
            </a:lvl1pPr>
            <a:lvl2pPr algn="l">
              <a:defRPr sz="1650" b="0">
                <a:solidFill>
                  <a:srgbClr val="142D42"/>
                </a:solidFill>
              </a:defRPr>
            </a:lvl2pPr>
            <a:lvl3pPr algn="l">
              <a:defRPr sz="1650" b="0">
                <a:solidFill>
                  <a:srgbClr val="142D42"/>
                </a:solidFill>
              </a:defRPr>
            </a:lvl3pPr>
            <a:lvl4pPr algn="l">
              <a:defRPr sz="1650" b="0">
                <a:solidFill>
                  <a:srgbClr val="142D42"/>
                </a:solidFill>
              </a:defRPr>
            </a:lvl4pPr>
            <a:lvl5pPr algn="l">
              <a:defRPr sz="1650" b="0">
                <a:solidFill>
                  <a:srgbClr val="142D42"/>
                </a:solidFill>
              </a:defRPr>
            </a:lvl5pPr>
            <a:lvl6pPr algn="l">
              <a:defRPr sz="1650" b="0">
                <a:solidFill>
                  <a:srgbClr val="142D42"/>
                </a:solidFill>
              </a:defRPr>
            </a:lvl6pPr>
            <a:lvl7pPr algn="l">
              <a:defRPr sz="1650" b="0">
                <a:solidFill>
                  <a:srgbClr val="142D42"/>
                </a:solidFill>
              </a:defRPr>
            </a:lvl7pPr>
            <a:lvl8pPr algn="l">
              <a:defRPr sz="1650" b="0">
                <a:solidFill>
                  <a:srgbClr val="142D42"/>
                </a:solidFill>
              </a:defRPr>
            </a:lvl8pPr>
            <a:lvl9pPr algn="l">
              <a:defRPr sz="1650" b="0">
                <a:solidFill>
                  <a:srgbClr val="142D42"/>
                </a:solidFill>
              </a:defRPr>
            </a:lvl9pPr>
          </a:lstStyle>
          <a:p xmlns:a="http://schemas.openxmlformats.org/drawingml/2006/main">
            <a:pPr algn="l">
              <a:defRPr sz="1650" b="0">
                <a:solidFill>
                  <a:srgbClr val="142D42"/>
                </a:solidFill>
              </a:defRPr>
            </a:pPr>
            <a:r>
              <a:rPr sz="1650" b="0">
                <a:solidFill>
                  <a:srgbClr val="142D42"/>
                </a:solidFill>
              </a:rPr>
              <a:t>2. Center the cart and zero its position.</a:t>
            </a:r>
          </a:p>
        </p:txBody>
      </p:sp>
      <p:sp>
        <p:nvSpPr>
          <p:cNvPr id="11" name="">
            <a:extLst xmlns:a="http://schemas.openxmlformats.org/drawingml/2006/main">
              <a:ext uri="{FF2B5EF4-FFF2-40B4-BE49-F238E27FC236}">
                <a16:creationId xmlns:a16="http://schemas.microsoft.com/office/drawing/2014/main" id="{431DBE50-CDF5-42BB-B1F6-0B06F49B439D}"/>
              </a:ext>
            </a:extLst>
          </p:cNvPr>
          <p:cNvSpPr>
            <a:spLocks xmlns:a="http://schemas.openxmlformats.org/drawingml/2006/main" noGrp="1"/>
          </p:cNvSpPr>
          <p:nvPr/>
        </p:nvSpPr>
        <p:spPr>
          <a:xfrm xmlns:a="http://schemas.openxmlformats.org/drawingml/2006/main">
            <a:off x="5953125" y="2943225"/>
            <a:ext cx="55721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142D42"/>
                </a:solidFill>
              </a:defRPr>
            </a:defPPr>
            <a:lvl1pPr algn="l">
              <a:defRPr sz="1650" b="0">
                <a:solidFill>
                  <a:srgbClr val="142D42"/>
                </a:solidFill>
              </a:defRPr>
            </a:lvl1pPr>
            <a:lvl2pPr algn="l">
              <a:defRPr sz="1650" b="0">
                <a:solidFill>
                  <a:srgbClr val="142D42"/>
                </a:solidFill>
              </a:defRPr>
            </a:lvl2pPr>
            <a:lvl3pPr algn="l">
              <a:defRPr sz="1650" b="0">
                <a:solidFill>
                  <a:srgbClr val="142D42"/>
                </a:solidFill>
              </a:defRPr>
            </a:lvl3pPr>
            <a:lvl4pPr algn="l">
              <a:defRPr sz="1650" b="0">
                <a:solidFill>
                  <a:srgbClr val="142D42"/>
                </a:solidFill>
              </a:defRPr>
            </a:lvl4pPr>
            <a:lvl5pPr algn="l">
              <a:defRPr sz="1650" b="0">
                <a:solidFill>
                  <a:srgbClr val="142D42"/>
                </a:solidFill>
              </a:defRPr>
            </a:lvl5pPr>
            <a:lvl6pPr algn="l">
              <a:defRPr sz="1650" b="0">
                <a:solidFill>
                  <a:srgbClr val="142D42"/>
                </a:solidFill>
              </a:defRPr>
            </a:lvl6pPr>
            <a:lvl7pPr algn="l">
              <a:defRPr sz="1650" b="0">
                <a:solidFill>
                  <a:srgbClr val="142D42"/>
                </a:solidFill>
              </a:defRPr>
            </a:lvl7pPr>
            <a:lvl8pPr algn="l">
              <a:defRPr sz="1650" b="0">
                <a:solidFill>
                  <a:srgbClr val="142D42"/>
                </a:solidFill>
              </a:defRPr>
            </a:lvl8pPr>
            <a:lvl9pPr algn="l">
              <a:defRPr sz="1650" b="0">
                <a:solidFill>
                  <a:srgbClr val="142D42"/>
                </a:solidFill>
              </a:defRPr>
            </a:lvl9pPr>
          </a:lstStyle>
          <a:p xmlns:a="http://schemas.openxmlformats.org/drawingml/2006/main">
            <a:pPr algn="l">
              <a:defRPr sz="1650" b="0">
                <a:solidFill>
                  <a:srgbClr val="142D42"/>
                </a:solidFill>
              </a:defRPr>
            </a:pPr>
            <a:r>
              <a:rPr sz="1650" b="0">
                <a:solidFill>
                  <a:srgbClr val="142D42"/>
                </a:solidFill>
              </a:rPr>
              <a:t>3. Use fs ≤ 25 Hz per the stated local lab procedure; record actual fs.</a:t>
            </a:r>
          </a:p>
        </p:txBody>
      </p:sp>
      <p:sp>
        <p:nvSpPr>
          <p:cNvPr id="12" name="">
            <a:extLst xmlns:a="http://schemas.openxmlformats.org/drawingml/2006/main">
              <a:ext uri="{FF2B5EF4-FFF2-40B4-BE49-F238E27FC236}">
                <a16:creationId xmlns:a16="http://schemas.microsoft.com/office/drawing/2014/main" id="{7FDCE875-F459-493E-82AB-A83379A74C1B}"/>
              </a:ext>
            </a:extLst>
          </p:cNvPr>
          <p:cNvSpPr>
            <a:spLocks xmlns:a="http://schemas.openxmlformats.org/drawingml/2006/main" noGrp="1"/>
          </p:cNvSpPr>
          <p:nvPr/>
        </p:nvSpPr>
        <p:spPr>
          <a:xfrm xmlns:a="http://schemas.openxmlformats.org/drawingml/2006/main">
            <a:off x="5953125" y="3629025"/>
            <a:ext cx="55721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142D42"/>
                </a:solidFill>
              </a:defRPr>
            </a:defPPr>
            <a:lvl1pPr algn="l">
              <a:defRPr sz="1650" b="0">
                <a:solidFill>
                  <a:srgbClr val="142D42"/>
                </a:solidFill>
              </a:defRPr>
            </a:lvl1pPr>
            <a:lvl2pPr algn="l">
              <a:defRPr sz="1650" b="0">
                <a:solidFill>
                  <a:srgbClr val="142D42"/>
                </a:solidFill>
              </a:defRPr>
            </a:lvl2pPr>
            <a:lvl3pPr algn="l">
              <a:defRPr sz="1650" b="0">
                <a:solidFill>
                  <a:srgbClr val="142D42"/>
                </a:solidFill>
              </a:defRPr>
            </a:lvl3pPr>
            <a:lvl4pPr algn="l">
              <a:defRPr sz="1650" b="0">
                <a:solidFill>
                  <a:srgbClr val="142D42"/>
                </a:solidFill>
              </a:defRPr>
            </a:lvl4pPr>
            <a:lvl5pPr algn="l">
              <a:defRPr sz="1650" b="0">
                <a:solidFill>
                  <a:srgbClr val="142D42"/>
                </a:solidFill>
              </a:defRPr>
            </a:lvl5pPr>
            <a:lvl6pPr algn="l">
              <a:defRPr sz="1650" b="0">
                <a:solidFill>
                  <a:srgbClr val="142D42"/>
                </a:solidFill>
              </a:defRPr>
            </a:lvl6pPr>
            <a:lvl7pPr algn="l">
              <a:defRPr sz="1650" b="0">
                <a:solidFill>
                  <a:srgbClr val="142D42"/>
                </a:solidFill>
              </a:defRPr>
            </a:lvl7pPr>
            <a:lvl8pPr algn="l">
              <a:defRPr sz="1650" b="0">
                <a:solidFill>
                  <a:srgbClr val="142D42"/>
                </a:solidFill>
              </a:defRPr>
            </a:lvl8pPr>
            <a:lvl9pPr algn="l">
              <a:defRPr sz="1650" b="0">
                <a:solidFill>
                  <a:srgbClr val="142D42"/>
                </a:solidFill>
              </a:defRPr>
            </a:lvl9pPr>
          </a:lstStyle>
          <a:p xmlns:a="http://schemas.openxmlformats.org/drawingml/2006/main">
            <a:pPr algn="l">
              <a:defRPr sz="1650" b="0">
                <a:solidFill>
                  <a:srgbClr val="142D42"/>
                </a:solidFill>
              </a:defRPr>
            </a:pPr>
            <a:r>
              <a:rPr sz="1650" b="0">
                <a:solidFill>
                  <a:srgbClr val="142D42"/>
                </a:solidFill>
              </a:rPr>
              <a:t>4. Start Collect, then release without a push.</a:t>
            </a:r>
          </a:p>
        </p:txBody>
      </p:sp>
      <p:sp>
        <p:nvSpPr>
          <p:cNvPr id="13" name="">
            <a:extLst xmlns:a="http://schemas.openxmlformats.org/drawingml/2006/main">
              <a:ext uri="{FF2B5EF4-FFF2-40B4-BE49-F238E27FC236}">
                <a16:creationId xmlns:a16="http://schemas.microsoft.com/office/drawing/2014/main" id="{AC0CD9BE-EB31-4E80-AC27-92A294690DC7}"/>
              </a:ext>
            </a:extLst>
          </p:cNvPr>
          <p:cNvSpPr>
            <a:spLocks xmlns:a="http://schemas.openxmlformats.org/drawingml/2006/main" noGrp="1"/>
          </p:cNvSpPr>
          <p:nvPr/>
        </p:nvSpPr>
        <p:spPr>
          <a:xfrm xmlns:a="http://schemas.openxmlformats.org/drawingml/2006/main">
            <a:off x="5953125" y="4314825"/>
            <a:ext cx="55721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142D42"/>
                </a:solidFill>
              </a:defRPr>
            </a:defPPr>
            <a:lvl1pPr algn="l">
              <a:defRPr sz="1650" b="0">
                <a:solidFill>
                  <a:srgbClr val="142D42"/>
                </a:solidFill>
              </a:defRPr>
            </a:lvl1pPr>
            <a:lvl2pPr algn="l">
              <a:defRPr sz="1650" b="0">
                <a:solidFill>
                  <a:srgbClr val="142D42"/>
                </a:solidFill>
              </a:defRPr>
            </a:lvl2pPr>
            <a:lvl3pPr algn="l">
              <a:defRPr sz="1650" b="0">
                <a:solidFill>
                  <a:srgbClr val="142D42"/>
                </a:solidFill>
              </a:defRPr>
            </a:lvl3pPr>
            <a:lvl4pPr algn="l">
              <a:defRPr sz="1650" b="0">
                <a:solidFill>
                  <a:srgbClr val="142D42"/>
                </a:solidFill>
              </a:defRPr>
            </a:lvl4pPr>
            <a:lvl5pPr algn="l">
              <a:defRPr sz="1650" b="0">
                <a:solidFill>
                  <a:srgbClr val="142D42"/>
                </a:solidFill>
              </a:defRPr>
            </a:lvl5pPr>
            <a:lvl6pPr algn="l">
              <a:defRPr sz="1650" b="0">
                <a:solidFill>
                  <a:srgbClr val="142D42"/>
                </a:solidFill>
              </a:defRPr>
            </a:lvl6pPr>
            <a:lvl7pPr algn="l">
              <a:defRPr sz="1650" b="0">
                <a:solidFill>
                  <a:srgbClr val="142D42"/>
                </a:solidFill>
              </a:defRPr>
            </a:lvl7pPr>
            <a:lvl8pPr algn="l">
              <a:defRPr sz="1650" b="0">
                <a:solidFill>
                  <a:srgbClr val="142D42"/>
                </a:solidFill>
              </a:defRPr>
            </a:lvl8pPr>
            <a:lvl9pPr algn="l">
              <a:defRPr sz="1650" b="0">
                <a:solidFill>
                  <a:srgbClr val="142D42"/>
                </a:solidFill>
              </a:defRPr>
            </a:lvl9pPr>
          </a:lstStyle>
          <a:p xmlns:a="http://schemas.openxmlformats.org/drawingml/2006/main">
            <a:pPr algn="l">
              <a:defRPr sz="1650" b="0">
                <a:solidFill>
                  <a:srgbClr val="142D42"/>
                </a:solidFill>
              </a:defRPr>
            </a:pPr>
            <a:r>
              <a:rPr sz="1650" b="0">
                <a:solidFill>
                  <a:srgbClr val="142D42"/>
                </a:solidFill>
              </a:rPr>
              <a:t>5. Record several cycles and a measurable decay.</a:t>
            </a:r>
          </a:p>
        </p:txBody>
      </p:sp>
      <p:sp>
        <p:nvSpPr>
          <p:cNvPr id="14" name="">
            <a:extLst xmlns:a="http://schemas.openxmlformats.org/drawingml/2006/main">
              <a:ext uri="{FF2B5EF4-FFF2-40B4-BE49-F238E27FC236}">
                <a16:creationId xmlns:a16="http://schemas.microsoft.com/office/drawing/2014/main" id="{276DAF7E-A596-473C-B682-2BEBFED485EC}"/>
              </a:ext>
            </a:extLst>
          </p:cNvPr>
          <p:cNvSpPr>
            <a:spLocks xmlns:a="http://schemas.openxmlformats.org/drawingml/2006/main" noGrp="1"/>
          </p:cNvSpPr>
          <p:nvPr/>
        </p:nvSpPr>
        <p:spPr>
          <a:xfrm xmlns:a="http://schemas.openxmlformats.org/drawingml/2006/main">
            <a:off x="5953125" y="5000625"/>
            <a:ext cx="55721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650" b="0">
                <a:solidFill>
                  <a:srgbClr val="142D42"/>
                </a:solidFill>
              </a:defRPr>
            </a:defPPr>
            <a:lvl1pPr algn="l">
              <a:defRPr sz="1650" b="0">
                <a:solidFill>
                  <a:srgbClr val="142D42"/>
                </a:solidFill>
              </a:defRPr>
            </a:lvl1pPr>
            <a:lvl2pPr algn="l">
              <a:defRPr sz="1650" b="0">
                <a:solidFill>
                  <a:srgbClr val="142D42"/>
                </a:solidFill>
              </a:defRPr>
            </a:lvl2pPr>
            <a:lvl3pPr algn="l">
              <a:defRPr sz="1650" b="0">
                <a:solidFill>
                  <a:srgbClr val="142D42"/>
                </a:solidFill>
              </a:defRPr>
            </a:lvl3pPr>
            <a:lvl4pPr algn="l">
              <a:defRPr sz="1650" b="0">
                <a:solidFill>
                  <a:srgbClr val="142D42"/>
                </a:solidFill>
              </a:defRPr>
            </a:lvl4pPr>
            <a:lvl5pPr algn="l">
              <a:defRPr sz="1650" b="0">
                <a:solidFill>
                  <a:srgbClr val="142D42"/>
                </a:solidFill>
              </a:defRPr>
            </a:lvl5pPr>
            <a:lvl6pPr algn="l">
              <a:defRPr sz="1650" b="0">
                <a:solidFill>
                  <a:srgbClr val="142D42"/>
                </a:solidFill>
              </a:defRPr>
            </a:lvl6pPr>
            <a:lvl7pPr algn="l">
              <a:defRPr sz="1650" b="0">
                <a:solidFill>
                  <a:srgbClr val="142D42"/>
                </a:solidFill>
              </a:defRPr>
            </a:lvl7pPr>
            <a:lvl8pPr algn="l">
              <a:defRPr sz="1650" b="0">
                <a:solidFill>
                  <a:srgbClr val="142D42"/>
                </a:solidFill>
              </a:defRPr>
            </a:lvl8pPr>
            <a:lvl9pPr algn="l">
              <a:defRPr sz="1650" b="0">
                <a:solidFill>
                  <a:srgbClr val="142D42"/>
                </a:solidFill>
              </a:defRPr>
            </a:lvl9pPr>
          </a:lstStyle>
          <a:p xmlns:a="http://schemas.openxmlformats.org/drawingml/2006/main">
            <a:pPr algn="l">
              <a:defRPr sz="1650" b="0">
                <a:solidFill>
                  <a:srgbClr val="142D42"/>
                </a:solidFill>
              </a:defRPr>
            </a:pPr>
            <a:r>
              <a:rPr sz="1650" b="0">
                <a:solidFill>
                  <a:srgbClr val="142D42"/>
                </a:solidFill>
              </a:rPr>
              <a:t>6. Export one CSV per case and plot it immediately.</a:t>
            </a:r>
          </a:p>
        </p:txBody>
      </p:sp>
      <p:sp>
        <p:nvSpPr>
          <p:cNvPr id="15" name="">
            <a:extLst xmlns:a="http://schemas.openxmlformats.org/drawingml/2006/main">
              <a:ext uri="{FF2B5EF4-FFF2-40B4-BE49-F238E27FC236}">
                <a16:creationId xmlns:a16="http://schemas.microsoft.com/office/drawing/2014/main" id="{6FAC034D-1004-41D5-9A3D-5F722E0357F4}"/>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395E67E5-5277-41CB-8096-2F21FA71B012}"/>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Record total moving mass, spring IDs, brake count, sampling rate, initial displacement, and filename.</a:t>
            </a:r>
          </a:p>
        </p:txBody>
      </p:sp>
    </p:spTree>
    <p:extLst>
      <p:ext uri="{BB962C8B-B14F-4D97-AF65-F5344CB8AC3E}">
        <p14:creationId xmlns:p14="http://schemas.microsoft.com/office/powerpoint/2010/main" val="157227073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2141AC4-6BED-47A3-B2C2-4C81ECC2A308}"/>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94164476-E965-44AB-ABC9-A6EB5FF9DDA8}"/>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Analysis workflow</a:t>
            </a:r>
          </a:p>
        </p:txBody>
      </p:sp>
      <p:sp>
        <p:nvSpPr>
          <p:cNvPr id="3" name="">
            <a:extLst xmlns:a="http://schemas.openxmlformats.org/drawingml/2006/main">
              <a:ext uri="{FF2B5EF4-FFF2-40B4-BE49-F238E27FC236}">
                <a16:creationId xmlns:a16="http://schemas.microsoft.com/office/drawing/2014/main" id="{B0CD0F12-B5A9-4118-B28F-56B56DE3C56B}"/>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A reliable analysis begins with the raw record</a:t>
            </a:r>
          </a:p>
        </p:txBody>
      </p:sp>
      <p:sp>
        <p:nvSpPr>
          <p:cNvPr id="4" name="">
            <a:extLst xmlns:a="http://schemas.openxmlformats.org/drawingml/2006/main">
              <a:ext uri="{FF2B5EF4-FFF2-40B4-BE49-F238E27FC236}">
                <a16:creationId xmlns:a16="http://schemas.microsoft.com/office/drawing/2014/main" id="{68A19441-74B7-4FAE-B96E-30A4DFC3F30B}"/>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203DFF3-F223-4AC1-B343-AD07277C652C}"/>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39</a:t>
            </a:r>
          </a:p>
        </p:txBody>
      </p:sp>
      <p:sp>
        <p:nvSpPr>
          <p:cNvPr id="6" name="">
            <a:extLst xmlns:a="http://schemas.openxmlformats.org/drawingml/2006/main">
              <a:ext uri="{FF2B5EF4-FFF2-40B4-BE49-F238E27FC236}">
                <a16:creationId xmlns:a16="http://schemas.microsoft.com/office/drawing/2014/main" id="{364F50A0-683E-473C-9604-84B89814F680}"/>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44–45 min</a:t>
            </a:r>
          </a:p>
        </p:txBody>
      </p:sp>
      <p:sp>
        <p:nvSpPr>
          <p:cNvPr id="7" name="">
            <a:extLst xmlns:a="http://schemas.openxmlformats.org/drawingml/2006/main">
              <a:ext uri="{FF2B5EF4-FFF2-40B4-BE49-F238E27FC236}">
                <a16:creationId xmlns:a16="http://schemas.microsoft.com/office/drawing/2014/main" id="{6A8FF5E5-22E6-4132-A2D6-5157BAEB8C0F}"/>
              </a:ext>
            </a:extLst>
          </p:cNvPr>
          <p:cNvSpPr>
            <a:spLocks xmlns:a="http://schemas.openxmlformats.org/drawingml/2006/main" noGrp="1"/>
          </p:cNvSpPr>
          <p:nvPr/>
        </p:nvSpPr>
        <p:spPr>
          <a:xfrm xmlns:a="http://schemas.openxmlformats.org/drawingml/2006/main">
            <a:off x="714375" y="15716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1. Preserve the raw CSV. Select the free-response interval after release.</a:t>
            </a:r>
          </a:p>
        </p:txBody>
      </p:sp>
      <p:sp>
        <p:nvSpPr>
          <p:cNvPr id="8" name="">
            <a:extLst xmlns:a="http://schemas.openxmlformats.org/drawingml/2006/main">
              <a:ext uri="{FF2B5EF4-FFF2-40B4-BE49-F238E27FC236}">
                <a16:creationId xmlns:a16="http://schemas.microsoft.com/office/drawing/2014/main" id="{694644F5-803F-429E-BFC9-82084BCFC3DE}"/>
              </a:ext>
            </a:extLst>
          </p:cNvPr>
          <p:cNvSpPr>
            <a:spLocks xmlns:a="http://schemas.openxmlformats.org/drawingml/2006/main" noGrp="1"/>
          </p:cNvSpPr>
          <p:nvPr/>
        </p:nvSpPr>
        <p:spPr>
          <a:xfrm xmlns:a="http://schemas.openxmlformats.org/drawingml/2006/main">
            <a:off x="714375" y="231457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2. Subtract the equilibrium offset and inspect drift or clipping.</a:t>
            </a:r>
          </a:p>
        </p:txBody>
      </p:sp>
      <p:sp>
        <p:nvSpPr>
          <p:cNvPr id="9" name="">
            <a:extLst xmlns:a="http://schemas.openxmlformats.org/drawingml/2006/main">
              <a:ext uri="{FF2B5EF4-FFF2-40B4-BE49-F238E27FC236}">
                <a16:creationId xmlns:a16="http://schemas.microsoft.com/office/drawing/2014/main" id="{29DF13A3-19E7-4D64-A500-E40A90069889}"/>
              </a:ext>
            </a:extLst>
          </p:cNvPr>
          <p:cNvSpPr>
            <a:spLocks xmlns:a="http://schemas.openxmlformats.org/drawingml/2006/main" noGrp="1"/>
          </p:cNvSpPr>
          <p:nvPr/>
        </p:nvSpPr>
        <p:spPr>
          <a:xfrm xmlns:a="http://schemas.openxmlformats.org/drawingml/2006/main">
            <a:off x="714375" y="30575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3. Find reliable equal-sign peaks above the noise floor.</a:t>
            </a:r>
          </a:p>
        </p:txBody>
      </p:sp>
      <p:sp>
        <p:nvSpPr>
          <p:cNvPr id="10" name="">
            <a:extLst xmlns:a="http://schemas.openxmlformats.org/drawingml/2006/main">
              <a:ext uri="{FF2B5EF4-FFF2-40B4-BE49-F238E27FC236}">
                <a16:creationId xmlns:a16="http://schemas.microsoft.com/office/drawing/2014/main" id="{230AC58A-1142-4E46-AF20-BF3557BA3510}"/>
              </a:ext>
            </a:extLst>
          </p:cNvPr>
          <p:cNvSpPr>
            <a:spLocks xmlns:a="http://schemas.openxmlformats.org/drawingml/2006/main" noGrp="1"/>
          </p:cNvSpPr>
          <p:nvPr/>
        </p:nvSpPr>
        <p:spPr>
          <a:xfrm xmlns:a="http://schemas.openxmlformats.org/drawingml/2006/main">
            <a:off x="714375" y="380047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4. Estimate Td and α, then calculate ωn, ζ, and c.</a:t>
            </a:r>
          </a:p>
        </p:txBody>
      </p:sp>
      <p:sp>
        <p:nvSpPr>
          <p:cNvPr id="11" name="">
            <a:extLst xmlns:a="http://schemas.openxmlformats.org/drawingml/2006/main">
              <a:ext uri="{FF2B5EF4-FFF2-40B4-BE49-F238E27FC236}">
                <a16:creationId xmlns:a16="http://schemas.microsoft.com/office/drawing/2014/main" id="{2306EAB8-6F2E-49C7-9C5A-8AC9A0DFADEE}"/>
              </a:ext>
            </a:extLst>
          </p:cNvPr>
          <p:cNvSpPr>
            <a:spLocks xmlns:a="http://schemas.openxmlformats.org/drawingml/2006/main" noGrp="1"/>
          </p:cNvSpPr>
          <p:nvPr/>
        </p:nvSpPr>
        <p:spPr>
          <a:xfrm xmlns:a="http://schemas.openxmlformats.org/drawingml/2006/main">
            <a:off x="714375" y="4543425"/>
            <a:ext cx="1071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5. Compare the decay model with x(t), and check the FFT peak.</a:t>
            </a:r>
          </a:p>
        </p:txBody>
      </p:sp>
      <p:sp>
        <p:nvSpPr>
          <p:cNvPr id="12" name="">
            <a:extLst xmlns:a="http://schemas.openxmlformats.org/drawingml/2006/main">
              <a:ext uri="{FF2B5EF4-FFF2-40B4-BE49-F238E27FC236}">
                <a16:creationId xmlns:a16="http://schemas.microsoft.com/office/drawing/2014/main" id="{2539CCED-05BB-4F42-B9FF-A60F0D0F1046}"/>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2363713C-D8D4-45C7-ADB5-47F819B3E178}"/>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Run the main analysis script listed in the README. Helper functions require input arguments.</a:t>
            </a:r>
          </a:p>
        </p:txBody>
      </p:sp>
    </p:spTree>
    <p:extLst>
      <p:ext uri="{BB962C8B-B14F-4D97-AF65-F5344CB8AC3E}">
        <p14:creationId xmlns:p14="http://schemas.microsoft.com/office/powerpoint/2010/main" val="1032216517"/>
      </p:ext>
    </p:extLst>
  </p:cSld>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594360" y="228600"/>
            <a:ext cx="4572000" cy="274320"/>
          </a:xfrm>
          <a:prstGeom prst="rect">
            <a:avLst/>
          </a:prstGeom>
          <a:noFill/>
        </p:spPr>
        <p:txBody>
          <a:bodyPr wrap="square">
            <a:spAutoFit/>
          </a:bodyPr>
          <a:lstStyle/>
          <a:p>
            <a:pPr>
              <a:spcAft>
                <a:spcPts val="1100"/>
              </a:spcAft>
              <a:defRPr sz="1100" b="1">
                <a:solidFill>
                  <a:srgbClr val="9D2F44"/>
                </a:solidFill>
                <a:latin typeface="Aptos"/>
              </a:defRPr>
            </a:pPr>
            <a:r>
              <a:t>MIE 402   ME LAB II</a:t>
            </a:r>
          </a:p>
        </p:txBody>
      </p:sp>
      <p:sp>
        <p:nvSpPr>
          <p:cNvPr id="5" name="TextBox 4"/>
          <p:cNvSpPr txBox="1"/>
          <p:nvPr/>
        </p:nvSpPr>
        <p:spPr>
          <a:xfrm>
            <a:off x="9235440" y="228600"/>
            <a:ext cx="2377440" cy="274320"/>
          </a:xfrm>
          <a:prstGeom prst="rect">
            <a:avLst/>
          </a:prstGeom>
          <a:noFill/>
        </p:spPr>
        <p:txBody>
          <a:bodyPr wrap="square">
            <a:spAutoFit/>
          </a:bodyPr>
          <a:lstStyle/>
          <a:p>
            <a:pPr>
              <a:spcAft>
                <a:spcPts val="1100"/>
              </a:spcAft>
              <a:defRPr sz="1000" b="0">
                <a:solidFill>
                  <a:srgbClr val="5A6771"/>
                </a:solidFill>
                <a:latin typeface="Aptos"/>
              </a:defRPr>
            </a:pPr>
            <a:r>
              <a:t>New • uncertainty</a:t>
            </a:r>
          </a:p>
        </p:txBody>
      </p:sp>
      <p:sp>
        <p:nvSpPr>
          <p:cNvPr id="6" name="TextBox 5"/>
          <p:cNvSpPr txBox="1"/>
          <p:nvPr/>
        </p:nvSpPr>
        <p:spPr>
          <a:xfrm>
            <a:off x="594360" y="713232"/>
            <a:ext cx="10972800" cy="566928"/>
          </a:xfrm>
          <a:prstGeom prst="rect">
            <a:avLst/>
          </a:prstGeom>
          <a:noFill/>
        </p:spPr>
        <p:txBody>
          <a:bodyPr wrap="square">
            <a:spAutoFit/>
          </a:bodyPr>
          <a:lstStyle/>
          <a:p>
            <a:pPr>
              <a:spcAft>
                <a:spcPts val="1100"/>
              </a:spcAft>
              <a:defRPr sz="2700" b="1">
                <a:solidFill>
                  <a:srgbClr val="1B3448"/>
                </a:solidFill>
                <a:latin typeface="Aptos"/>
              </a:defRPr>
            </a:pPr>
            <a:r>
              <a:t>Uncertainty: what limits our parameter estimates?</a:t>
            </a:r>
          </a:p>
        </p:txBody>
      </p:sp>
      <p:sp>
        <p:nvSpPr>
          <p:cNvPr id="7" name="Rectangle 6"/>
          <p:cNvSpPr/>
          <p:nvPr/>
        </p:nvSpPr>
        <p:spPr>
          <a:xfrm>
            <a:off x="594360" y="1371600"/>
            <a:ext cx="10972800" cy="16459"/>
          </a:xfrm>
          <a:prstGeom prst="rect">
            <a:avLst/>
          </a:prstGeom>
          <a:solidFill>
            <a:srgbClr val="D7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2880360" cy="521207"/>
          </a:xfrm>
          <a:prstGeom prst="rect">
            <a:avLst/>
          </a:prstGeom>
          <a:noFill/>
        </p:spPr>
        <p:txBody>
          <a:bodyPr wrap="square">
            <a:spAutoFit/>
          </a:bodyPr>
          <a:lstStyle/>
          <a:p>
            <a:pPr>
              <a:spcAft>
                <a:spcPts val="1100"/>
              </a:spcAft>
              <a:defRPr sz="1900" b="1">
                <a:solidFill>
                  <a:srgbClr val="9D2F44"/>
                </a:solidFill>
                <a:latin typeface="Aptos"/>
              </a:defRPr>
            </a:pPr>
            <a:r>
              <a:t>Peak timing</a:t>
            </a:r>
          </a:p>
        </p:txBody>
      </p:sp>
      <p:sp>
        <p:nvSpPr>
          <p:cNvPr id="9" name="TextBox 8"/>
          <p:cNvSpPr txBox="1"/>
          <p:nvPr/>
        </p:nvSpPr>
        <p:spPr>
          <a:xfrm>
            <a:off x="3749039" y="1719072"/>
            <a:ext cx="7589520" cy="960120"/>
          </a:xfrm>
          <a:prstGeom prst="rect">
            <a:avLst/>
          </a:prstGeom>
          <a:noFill/>
        </p:spPr>
        <p:txBody>
          <a:bodyPr wrap="square">
            <a:spAutoFit/>
          </a:bodyPr>
          <a:lstStyle/>
          <a:p>
            <a:pPr>
              <a:spcAft>
                <a:spcPts val="1100"/>
              </a:spcAft>
              <a:defRPr sz="1900" b="0">
                <a:solidFill>
                  <a:srgbClr val="1B3448"/>
                </a:solidFill>
                <a:latin typeface="Aptos"/>
              </a:defRPr>
            </a:pPr>
            <a:r>
              <a:t>For N cycles: Td = (t[i+N] − t[i])/N. Longer spans reduce the influence of individual timing errors.</a:t>
            </a:r>
          </a:p>
        </p:txBody>
      </p:sp>
      <p:sp>
        <p:nvSpPr>
          <p:cNvPr id="10" name="TextBox 9"/>
          <p:cNvSpPr txBox="1"/>
          <p:nvPr/>
        </p:nvSpPr>
        <p:spPr>
          <a:xfrm>
            <a:off x="777240" y="2752344"/>
            <a:ext cx="2880360" cy="521207"/>
          </a:xfrm>
          <a:prstGeom prst="rect">
            <a:avLst/>
          </a:prstGeom>
          <a:noFill/>
        </p:spPr>
        <p:txBody>
          <a:bodyPr wrap="square">
            <a:spAutoFit/>
          </a:bodyPr>
          <a:lstStyle/>
          <a:p>
            <a:pPr>
              <a:spcAft>
                <a:spcPts val="1100"/>
              </a:spcAft>
              <a:defRPr sz="1900" b="1">
                <a:solidFill>
                  <a:srgbClr val="9D2F44"/>
                </a:solidFill>
                <a:latin typeface="Aptos"/>
              </a:defRPr>
            </a:pPr>
            <a:r>
              <a:t>Peak amplitudes</a:t>
            </a:r>
          </a:p>
        </p:txBody>
      </p:sp>
      <p:sp>
        <p:nvSpPr>
          <p:cNvPr id="11" name="TextBox 10"/>
          <p:cNvSpPr txBox="1"/>
          <p:nvPr/>
        </p:nvSpPr>
        <p:spPr>
          <a:xfrm>
            <a:off x="3749039" y="2752344"/>
            <a:ext cx="7589520" cy="960120"/>
          </a:xfrm>
          <a:prstGeom prst="rect">
            <a:avLst/>
          </a:prstGeom>
          <a:noFill/>
        </p:spPr>
        <p:txBody>
          <a:bodyPr wrap="square">
            <a:spAutoFit/>
          </a:bodyPr>
          <a:lstStyle/>
          <a:p>
            <a:pPr>
              <a:spcAft>
                <a:spcPts val="1100"/>
              </a:spcAft>
              <a:defRPr sz="1900" b="0">
                <a:solidFill>
                  <a:srgbClr val="1B3448"/>
                </a:solidFill>
                <a:latin typeface="Aptos"/>
              </a:defRPr>
            </a:pPr>
            <a:r>
              <a:t>Offset errors, sensor noise, and late low-amplitude peaks bias the logarithmic decrement and log-peak slope.</a:t>
            </a:r>
          </a:p>
        </p:txBody>
      </p:sp>
      <p:sp>
        <p:nvSpPr>
          <p:cNvPr id="12" name="TextBox 11"/>
          <p:cNvSpPr txBox="1"/>
          <p:nvPr/>
        </p:nvSpPr>
        <p:spPr>
          <a:xfrm>
            <a:off x="777240" y="3785615"/>
            <a:ext cx="2880360" cy="521207"/>
          </a:xfrm>
          <a:prstGeom prst="rect">
            <a:avLst/>
          </a:prstGeom>
          <a:noFill/>
        </p:spPr>
        <p:txBody>
          <a:bodyPr wrap="square">
            <a:spAutoFit/>
          </a:bodyPr>
          <a:lstStyle/>
          <a:p>
            <a:pPr>
              <a:spcAft>
                <a:spcPts val="1100"/>
              </a:spcAft>
              <a:defRPr sz="1900" b="1">
                <a:solidFill>
                  <a:srgbClr val="9D2F44"/>
                </a:solidFill>
                <a:latin typeface="Aptos"/>
              </a:defRPr>
            </a:pPr>
            <a:r>
              <a:t>Physical parameters</a:t>
            </a:r>
          </a:p>
        </p:txBody>
      </p:sp>
      <p:sp>
        <p:nvSpPr>
          <p:cNvPr id="13" name="TextBox 12"/>
          <p:cNvSpPr txBox="1"/>
          <p:nvPr/>
        </p:nvSpPr>
        <p:spPr>
          <a:xfrm>
            <a:off x="3749039" y="3785615"/>
            <a:ext cx="7589520" cy="960120"/>
          </a:xfrm>
          <a:prstGeom prst="rect">
            <a:avLst/>
          </a:prstGeom>
          <a:noFill/>
        </p:spPr>
        <p:txBody>
          <a:bodyPr wrap="square">
            <a:spAutoFit/>
          </a:bodyPr>
          <a:lstStyle/>
          <a:p>
            <a:pPr>
              <a:spcAft>
                <a:spcPts val="1100"/>
              </a:spcAft>
              <a:defRPr sz="1900" b="0">
                <a:solidFill>
                  <a:srgbClr val="1B3448"/>
                </a:solidFill>
                <a:latin typeface="Aptos"/>
              </a:defRPr>
            </a:pPr>
            <a:r>
              <a:t>c = 2mα: uncertainty in moving mass propagates directly into c; spring calibration affects predicted ωn.</a:t>
            </a:r>
          </a:p>
        </p:txBody>
      </p:sp>
      <p:sp>
        <p:nvSpPr>
          <p:cNvPr id="14" name="TextBox 13"/>
          <p:cNvSpPr txBox="1"/>
          <p:nvPr/>
        </p:nvSpPr>
        <p:spPr>
          <a:xfrm>
            <a:off x="777240" y="4818888"/>
            <a:ext cx="2880360" cy="521207"/>
          </a:xfrm>
          <a:prstGeom prst="rect">
            <a:avLst/>
          </a:prstGeom>
          <a:noFill/>
        </p:spPr>
        <p:txBody>
          <a:bodyPr wrap="square">
            <a:spAutoFit/>
          </a:bodyPr>
          <a:lstStyle/>
          <a:p>
            <a:pPr>
              <a:spcAft>
                <a:spcPts val="1100"/>
              </a:spcAft>
              <a:defRPr sz="1900" b="1">
                <a:solidFill>
                  <a:srgbClr val="9D2F44"/>
                </a:solidFill>
                <a:latin typeface="Aptos"/>
              </a:defRPr>
            </a:pPr>
            <a:r>
              <a:t>Report responsibly</a:t>
            </a:r>
          </a:p>
        </p:txBody>
      </p:sp>
      <p:sp>
        <p:nvSpPr>
          <p:cNvPr id="15" name="TextBox 14"/>
          <p:cNvSpPr txBox="1"/>
          <p:nvPr/>
        </p:nvSpPr>
        <p:spPr>
          <a:xfrm>
            <a:off x="3749039" y="4818888"/>
            <a:ext cx="7589520" cy="960120"/>
          </a:xfrm>
          <a:prstGeom prst="rect">
            <a:avLst/>
          </a:prstGeom>
          <a:noFill/>
        </p:spPr>
        <p:txBody>
          <a:bodyPr wrap="square">
            <a:spAutoFit/>
          </a:bodyPr>
          <a:lstStyle/>
          <a:p>
            <a:pPr>
              <a:spcAft>
                <a:spcPts val="1100"/>
              </a:spcAft>
              <a:defRPr sz="1900" b="0">
                <a:solidFill>
                  <a:srgbClr val="1B3448"/>
                </a:solidFill>
                <a:latin typeface="Aptos"/>
              </a:defRPr>
            </a:pPr>
            <a:r>
              <a:t>Use repeat trials or fit-based uncertainty estimates; report units, assumptions, and meaningful precision.</a:t>
            </a:r>
          </a:p>
        </p:txBody>
      </p:sp>
      <p:sp>
        <p:nvSpPr>
          <p:cNvPr id="16" name="Rectangle 15"/>
          <p:cNvSpPr/>
          <p:nvPr/>
        </p:nvSpPr>
        <p:spPr>
          <a:xfrm>
            <a:off x="594360" y="5925312"/>
            <a:ext cx="10972800" cy="566928"/>
          </a:xfrm>
          <a:prstGeom prst="rect">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998464"/>
            <a:ext cx="10424160" cy="384048"/>
          </a:xfrm>
          <a:prstGeom prst="rect">
            <a:avLst/>
          </a:prstGeom>
          <a:noFill/>
        </p:spPr>
        <p:txBody>
          <a:bodyPr wrap="square">
            <a:spAutoFit/>
          </a:bodyPr>
          <a:lstStyle/>
          <a:p>
            <a:pPr>
              <a:spcAft>
                <a:spcPts val="1100"/>
              </a:spcAft>
              <a:defRPr sz="1400" b="1">
                <a:solidFill>
                  <a:srgbClr val="9D2F44"/>
                </a:solidFill>
                <a:latin typeface="Aptos"/>
              </a:defRPr>
            </a:pPr>
            <a:r>
              <a:t>Do not report more digits than the measurements justify.</a:t>
            </a:r>
          </a:p>
        </p:txBody>
      </p:sp>
      <p:sp>
        <p:nvSpPr>
          <p:cNvPr id="18" name="TextBox 17"/>
          <p:cNvSpPr txBox="1"/>
          <p:nvPr/>
        </p:nvSpPr>
        <p:spPr>
          <a:xfrm>
            <a:off x="11064240" y="6510528"/>
            <a:ext cx="566928" cy="182880"/>
          </a:xfrm>
          <a:prstGeom prst="rect">
            <a:avLst/>
          </a:prstGeom>
          <a:noFill/>
        </p:spPr>
        <p:txBody>
          <a:bodyPr wrap="square">
            <a:spAutoFit/>
          </a:bodyPr>
          <a:lstStyle/>
          <a:p>
            <a:pPr algn="r"/>
            <a:r>
              <a:rPr sz="1000">
                <a:solidFill>
                  <a:srgbClr val="5A666E"/>
                </a:solidFill>
              </a:rPr>
              <a:t>40</a:t>
            </a:r>
          </a:p>
        </p:txBody>
      </p:sp>
      <p:sp>
        <p:nvSpPr>
          <p:cNvPr id="19" name="TextBox 18"/>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45–46 min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594360" y="228600"/>
            <a:ext cx="4572000" cy="274320"/>
          </a:xfrm>
          <a:prstGeom prst="rect">
            <a:avLst/>
          </a:prstGeom>
          <a:noFill/>
        </p:spPr>
        <p:txBody>
          <a:bodyPr wrap="square">
            <a:spAutoFit/>
          </a:bodyPr>
          <a:lstStyle/>
          <a:p>
            <a:pPr>
              <a:spcAft>
                <a:spcPts val="1100"/>
              </a:spcAft>
              <a:defRPr sz="1100" b="1">
                <a:solidFill>
                  <a:srgbClr val="9D2F44"/>
                </a:solidFill>
                <a:latin typeface="Aptos"/>
              </a:defRPr>
            </a:pPr>
            <a:r>
              <a:t>MIE 402   ME LAB II</a:t>
            </a:r>
          </a:p>
        </p:txBody>
      </p:sp>
      <p:sp>
        <p:nvSpPr>
          <p:cNvPr id="5" name="TextBox 4"/>
          <p:cNvSpPr txBox="1"/>
          <p:nvPr/>
        </p:nvSpPr>
        <p:spPr>
          <a:xfrm>
            <a:off x="9235440" y="228600"/>
            <a:ext cx="2377440" cy="274320"/>
          </a:xfrm>
          <a:prstGeom prst="rect">
            <a:avLst/>
          </a:prstGeom>
          <a:noFill/>
        </p:spPr>
        <p:txBody>
          <a:bodyPr wrap="square">
            <a:spAutoFit/>
          </a:bodyPr>
          <a:lstStyle/>
          <a:p>
            <a:pPr>
              <a:spcAft>
                <a:spcPts val="1100"/>
              </a:spcAft>
              <a:defRPr sz="1000" b="0">
                <a:solidFill>
                  <a:srgbClr val="5A6771"/>
                </a:solidFill>
                <a:latin typeface="Aptos"/>
              </a:defRPr>
            </a:pPr>
            <a:r>
              <a:t>New • validation</a:t>
            </a:r>
          </a:p>
        </p:txBody>
      </p:sp>
      <p:sp>
        <p:nvSpPr>
          <p:cNvPr id="6" name="TextBox 5"/>
          <p:cNvSpPr txBox="1"/>
          <p:nvPr/>
        </p:nvSpPr>
        <p:spPr>
          <a:xfrm>
            <a:off x="594360" y="713232"/>
            <a:ext cx="10972800" cy="566928"/>
          </a:xfrm>
          <a:prstGeom prst="rect">
            <a:avLst/>
          </a:prstGeom>
          <a:noFill/>
        </p:spPr>
        <p:txBody>
          <a:bodyPr wrap="square">
            <a:spAutoFit/>
          </a:bodyPr>
          <a:lstStyle/>
          <a:p>
            <a:pPr>
              <a:spcAft>
                <a:spcPts val="1100"/>
              </a:spcAft>
              <a:defRPr sz="2700" b="1">
                <a:solidFill>
                  <a:srgbClr val="1B3448"/>
                </a:solidFill>
                <a:latin typeface="Aptos"/>
              </a:defRPr>
            </a:pPr>
            <a:r>
              <a:t>A fitted curve must survive a residual check</a:t>
            </a:r>
          </a:p>
        </p:txBody>
      </p:sp>
      <p:sp>
        <p:nvSpPr>
          <p:cNvPr id="7" name="Rectangle 6"/>
          <p:cNvSpPr/>
          <p:nvPr/>
        </p:nvSpPr>
        <p:spPr>
          <a:xfrm>
            <a:off x="594360" y="1371600"/>
            <a:ext cx="10972800" cy="16459"/>
          </a:xfrm>
          <a:prstGeom prst="rect">
            <a:avLst/>
          </a:prstGeom>
          <a:solidFill>
            <a:srgbClr val="D7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2880360" cy="521207"/>
          </a:xfrm>
          <a:prstGeom prst="rect">
            <a:avLst/>
          </a:prstGeom>
          <a:noFill/>
        </p:spPr>
        <p:txBody>
          <a:bodyPr wrap="square">
            <a:spAutoFit/>
          </a:bodyPr>
          <a:lstStyle/>
          <a:p>
            <a:pPr>
              <a:spcAft>
                <a:spcPts val="1100"/>
              </a:spcAft>
              <a:defRPr sz="1900" b="1">
                <a:solidFill>
                  <a:srgbClr val="9D2F44"/>
                </a:solidFill>
                <a:latin typeface="Aptos"/>
              </a:defRPr>
            </a:pPr>
            <a:r>
              <a:t>Fit model</a:t>
            </a:r>
          </a:p>
        </p:txBody>
      </p:sp>
      <p:sp>
        <p:nvSpPr>
          <p:cNvPr id="9" name="TextBox 8"/>
          <p:cNvSpPr txBox="1"/>
          <p:nvPr/>
        </p:nvSpPr>
        <p:spPr>
          <a:xfrm>
            <a:off x="3749039" y="1719072"/>
            <a:ext cx="7589520" cy="960120"/>
          </a:xfrm>
          <a:prstGeom prst="rect">
            <a:avLst/>
          </a:prstGeom>
          <a:noFill/>
        </p:spPr>
        <p:txBody>
          <a:bodyPr wrap="square">
            <a:spAutoFit/>
          </a:bodyPr>
          <a:lstStyle/>
          <a:p>
            <a:pPr>
              <a:spcAft>
                <a:spcPts val="1100"/>
              </a:spcAft>
              <a:defRPr sz="1900" b="0">
                <a:solidFill>
                  <a:srgbClr val="1B3448"/>
                </a:solidFill>
                <a:latin typeface="Aptos"/>
              </a:defRPr>
            </a:pPr>
            <a:r>
              <a:t>X(t) = Xeq + exp(−αt)[C cos(ωdt) + D sin(ωdt)] after the release time.</a:t>
            </a:r>
          </a:p>
        </p:txBody>
      </p:sp>
      <p:sp>
        <p:nvSpPr>
          <p:cNvPr id="10" name="TextBox 9"/>
          <p:cNvSpPr txBox="1"/>
          <p:nvPr/>
        </p:nvSpPr>
        <p:spPr>
          <a:xfrm>
            <a:off x="777240" y="2752344"/>
            <a:ext cx="2880360" cy="521207"/>
          </a:xfrm>
          <a:prstGeom prst="rect">
            <a:avLst/>
          </a:prstGeom>
          <a:noFill/>
        </p:spPr>
        <p:txBody>
          <a:bodyPr wrap="square">
            <a:spAutoFit/>
          </a:bodyPr>
          <a:lstStyle/>
          <a:p>
            <a:pPr>
              <a:spcAft>
                <a:spcPts val="1100"/>
              </a:spcAft>
              <a:defRPr sz="1900" b="1">
                <a:solidFill>
                  <a:srgbClr val="9D2F44"/>
                </a:solidFill>
                <a:latin typeface="Aptos"/>
              </a:defRPr>
            </a:pPr>
            <a:r>
              <a:t>Plot residuals</a:t>
            </a:r>
          </a:p>
        </p:txBody>
      </p:sp>
      <p:sp>
        <p:nvSpPr>
          <p:cNvPr id="11" name="TextBox 10"/>
          <p:cNvSpPr txBox="1"/>
          <p:nvPr/>
        </p:nvSpPr>
        <p:spPr>
          <a:xfrm>
            <a:off x="3749039" y="2752344"/>
            <a:ext cx="7589520" cy="960120"/>
          </a:xfrm>
          <a:prstGeom prst="rect">
            <a:avLst/>
          </a:prstGeom>
          <a:noFill/>
        </p:spPr>
        <p:txBody>
          <a:bodyPr wrap="square">
            <a:spAutoFit/>
          </a:bodyPr>
          <a:lstStyle/>
          <a:p>
            <a:pPr>
              <a:spcAft>
                <a:spcPts val="1100"/>
              </a:spcAft>
              <a:defRPr sz="1900" b="0">
                <a:solidFill>
                  <a:srgbClr val="1B3448"/>
                </a:solidFill>
                <a:latin typeface="Aptos"/>
              </a:defRPr>
            </a:pPr>
            <a:r>
              <a:t>r(t) = Xmeasured(t) − Xfit(t). Inspect for drift, periodic structure, asymmetry, and changing error.</a:t>
            </a:r>
          </a:p>
        </p:txBody>
      </p:sp>
      <p:sp>
        <p:nvSpPr>
          <p:cNvPr id="12" name="TextBox 11"/>
          <p:cNvSpPr txBox="1"/>
          <p:nvPr/>
        </p:nvSpPr>
        <p:spPr>
          <a:xfrm>
            <a:off x="777240" y="3785615"/>
            <a:ext cx="2880360" cy="521207"/>
          </a:xfrm>
          <a:prstGeom prst="rect">
            <a:avLst/>
          </a:prstGeom>
          <a:noFill/>
        </p:spPr>
        <p:txBody>
          <a:bodyPr wrap="square">
            <a:spAutoFit/>
          </a:bodyPr>
          <a:lstStyle/>
          <a:p>
            <a:pPr>
              <a:spcAft>
                <a:spcPts val="1100"/>
              </a:spcAft>
              <a:defRPr sz="1900" b="1">
                <a:solidFill>
                  <a:srgbClr val="9D2F44"/>
                </a:solidFill>
                <a:latin typeface="Aptos"/>
              </a:defRPr>
            </a:pPr>
            <a:r>
              <a:t>Question assumptions</a:t>
            </a:r>
          </a:p>
        </p:txBody>
      </p:sp>
      <p:sp>
        <p:nvSpPr>
          <p:cNvPr id="13" name="TextBox 12"/>
          <p:cNvSpPr txBox="1"/>
          <p:nvPr/>
        </p:nvSpPr>
        <p:spPr>
          <a:xfrm>
            <a:off x="3749039" y="3785615"/>
            <a:ext cx="7589520" cy="960120"/>
          </a:xfrm>
          <a:prstGeom prst="rect">
            <a:avLst/>
          </a:prstGeom>
          <a:noFill/>
        </p:spPr>
        <p:txBody>
          <a:bodyPr wrap="square">
            <a:spAutoFit/>
          </a:bodyPr>
          <a:lstStyle/>
          <a:p>
            <a:pPr>
              <a:spcAft>
                <a:spcPts val="1100"/>
              </a:spcAft>
              <a:defRPr sz="1900" b="0">
                <a:solidFill>
                  <a:srgbClr val="1B3448"/>
                </a:solidFill>
                <a:latin typeface="Aptos"/>
              </a:defRPr>
            </a:pPr>
            <a:r>
              <a:t>Dry friction, wheel slip, spring slack, or nonlinear magnetic braking may invalidate a constant-c model.</a:t>
            </a:r>
          </a:p>
        </p:txBody>
      </p:sp>
      <p:sp>
        <p:nvSpPr>
          <p:cNvPr id="14" name="TextBox 13"/>
          <p:cNvSpPr txBox="1"/>
          <p:nvPr/>
        </p:nvSpPr>
        <p:spPr>
          <a:xfrm>
            <a:off x="777240" y="4818888"/>
            <a:ext cx="2880360" cy="521207"/>
          </a:xfrm>
          <a:prstGeom prst="rect">
            <a:avLst/>
          </a:prstGeom>
          <a:noFill/>
        </p:spPr>
        <p:txBody>
          <a:bodyPr wrap="square">
            <a:spAutoFit/>
          </a:bodyPr>
          <a:lstStyle/>
          <a:p>
            <a:pPr>
              <a:spcAft>
                <a:spcPts val="1100"/>
              </a:spcAft>
              <a:defRPr sz="1900" b="1">
                <a:solidFill>
                  <a:srgbClr val="9D2F44"/>
                </a:solidFill>
                <a:latin typeface="Aptos"/>
              </a:defRPr>
            </a:pPr>
            <a:r>
              <a:t>Cross-check</a:t>
            </a:r>
          </a:p>
        </p:txBody>
      </p:sp>
      <p:sp>
        <p:nvSpPr>
          <p:cNvPr id="15" name="TextBox 14"/>
          <p:cNvSpPr txBox="1"/>
          <p:nvPr/>
        </p:nvSpPr>
        <p:spPr>
          <a:xfrm>
            <a:off x="3749039" y="4818888"/>
            <a:ext cx="7589520" cy="960120"/>
          </a:xfrm>
          <a:prstGeom prst="rect">
            <a:avLst/>
          </a:prstGeom>
          <a:noFill/>
        </p:spPr>
        <p:txBody>
          <a:bodyPr wrap="square">
            <a:spAutoFit/>
          </a:bodyPr>
          <a:lstStyle/>
          <a:p>
            <a:pPr>
              <a:spcAft>
                <a:spcPts val="1100"/>
              </a:spcAft>
              <a:defRPr sz="1900" b="0">
                <a:solidFill>
                  <a:srgbClr val="1B3448"/>
                </a:solidFill>
                <a:latin typeface="Aptos"/>
              </a:defRPr>
            </a:pPr>
            <a:r>
              <a:t>Compare peak-derived fd with the FFT, and ωn with sqrt((kL+kR)/m) using measured hardware.</a:t>
            </a:r>
          </a:p>
        </p:txBody>
      </p:sp>
      <p:sp>
        <p:nvSpPr>
          <p:cNvPr id="16" name="Rectangle 15"/>
          <p:cNvSpPr/>
          <p:nvPr/>
        </p:nvSpPr>
        <p:spPr>
          <a:xfrm>
            <a:off x="594360" y="5925312"/>
            <a:ext cx="10972800" cy="566928"/>
          </a:xfrm>
          <a:prstGeom prst="rect">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998464"/>
            <a:ext cx="10424160" cy="384048"/>
          </a:xfrm>
          <a:prstGeom prst="rect">
            <a:avLst/>
          </a:prstGeom>
          <a:noFill/>
        </p:spPr>
        <p:txBody>
          <a:bodyPr wrap="square">
            <a:spAutoFit/>
          </a:bodyPr>
          <a:lstStyle/>
          <a:p>
            <a:pPr>
              <a:spcAft>
                <a:spcPts val="1100"/>
              </a:spcAft>
              <a:defRPr sz="1400" b="1">
                <a:solidFill>
                  <a:srgbClr val="9D2F44"/>
                </a:solidFill>
                <a:latin typeface="Aptos"/>
              </a:defRPr>
            </a:pPr>
            <a:r>
              <a:t>Agreement between independent checks is stronger evidence than a visually smooth fit.</a:t>
            </a:r>
          </a:p>
        </p:txBody>
      </p:sp>
      <p:sp>
        <p:nvSpPr>
          <p:cNvPr id="18" name="TextBox 17"/>
          <p:cNvSpPr txBox="1"/>
          <p:nvPr/>
        </p:nvSpPr>
        <p:spPr>
          <a:xfrm>
            <a:off x="11064240" y="6510528"/>
            <a:ext cx="566928" cy="182880"/>
          </a:xfrm>
          <a:prstGeom prst="rect">
            <a:avLst/>
          </a:prstGeom>
          <a:noFill/>
        </p:spPr>
        <p:txBody>
          <a:bodyPr wrap="square">
            <a:spAutoFit/>
          </a:bodyPr>
          <a:lstStyle/>
          <a:p>
            <a:pPr algn="r"/>
            <a:r>
              <a:rPr sz="1000">
                <a:solidFill>
                  <a:srgbClr val="5A666E"/>
                </a:solidFill>
              </a:rPr>
              <a:t>41</a:t>
            </a:r>
          </a:p>
        </p:txBody>
      </p:sp>
      <p:sp>
        <p:nvSpPr>
          <p:cNvPr id="19" name="TextBox 18"/>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46–47 min</a:t>
            </a:r>
          </a:p>
        </p:txBody>
      </p:sp>
    </p:spTree>
  </p:cSld>
  <p:clrMapOvr>
    <a:masterClrMapping/>
  </p:clrMapOvr>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44B0D8F-1909-4B55-A405-902D9CF7DFF5}"/>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4FF29F38-29C5-42EC-BE7F-D1981005CDAB}"/>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Interpretation</a:t>
            </a:r>
          </a:p>
        </p:txBody>
      </p:sp>
      <p:sp>
        <p:nvSpPr>
          <p:cNvPr id="3" name="">
            <a:extLst xmlns:a="http://schemas.openxmlformats.org/drawingml/2006/main">
              <a:ext uri="{FF2B5EF4-FFF2-40B4-BE49-F238E27FC236}">
                <a16:creationId xmlns:a16="http://schemas.microsoft.com/office/drawing/2014/main" id="{74006B31-051A-4630-BFE4-2942DB3CBEF6}"/>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Quality checks connect the mathematics to the hardware</a:t>
            </a:r>
          </a:p>
        </p:txBody>
      </p:sp>
      <p:sp>
        <p:nvSpPr>
          <p:cNvPr id="4" name="">
            <a:extLst xmlns:a="http://schemas.openxmlformats.org/drawingml/2006/main">
              <a:ext uri="{FF2B5EF4-FFF2-40B4-BE49-F238E27FC236}">
                <a16:creationId xmlns:a16="http://schemas.microsoft.com/office/drawing/2014/main" id="{67610EDB-6A8D-47E6-822B-27D3CDB20AE8}"/>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F01520-31DE-49C6-8E7A-EC238361EA06}"/>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42</a:t>
            </a:r>
          </a:p>
        </p:txBody>
      </p:sp>
      <p:sp>
        <p:nvSpPr>
          <p:cNvPr id="6" name="">
            <a:extLst xmlns:a="http://schemas.openxmlformats.org/drawingml/2006/main">
              <a:ext uri="{FF2B5EF4-FFF2-40B4-BE49-F238E27FC236}">
                <a16:creationId xmlns:a16="http://schemas.microsoft.com/office/drawing/2014/main" id="{8C53B1A1-5355-43CB-B492-FA65210AD146}"/>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47–48 min</a:t>
            </a:r>
          </a:p>
        </p:txBody>
      </p:sp>
      <p:sp>
        <p:nvSpPr>
          <p:cNvPr id="7" name="">
            <a:extLst xmlns:a="http://schemas.openxmlformats.org/drawingml/2006/main">
              <a:ext uri="{FF2B5EF4-FFF2-40B4-BE49-F238E27FC236}">
                <a16:creationId xmlns:a16="http://schemas.microsoft.com/office/drawing/2014/main" id="{AC5E0621-88F0-42D1-81B6-490BF6109C9A}"/>
              </a:ext>
            </a:extLst>
          </p:cNvPr>
          <p:cNvSpPr>
            <a:spLocks xmlns:a="http://schemas.openxmlformats.org/drawingml/2006/main" noGrp="1"/>
          </p:cNvSpPr>
          <p:nvPr/>
        </p:nvSpPr>
        <p:spPr>
          <a:xfrm xmlns:a="http://schemas.openxmlformats.org/drawingml/2006/main">
            <a:off x="714375" y="171450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1">
                <a:solidFill>
                  <a:srgbClr val="A82C3C"/>
                </a:solidFill>
              </a:defRPr>
            </a:defPPr>
            <a:lvl1pPr algn="l">
              <a:defRPr sz="1800" b="1">
                <a:solidFill>
                  <a:srgbClr val="A82C3C"/>
                </a:solidFill>
              </a:defRPr>
            </a:lvl1pPr>
            <a:lvl2pPr algn="l">
              <a:defRPr sz="1800" b="1">
                <a:solidFill>
                  <a:srgbClr val="A82C3C"/>
                </a:solidFill>
              </a:defRPr>
            </a:lvl2pPr>
            <a:lvl3pPr algn="l">
              <a:defRPr sz="1800" b="1">
                <a:solidFill>
                  <a:srgbClr val="A82C3C"/>
                </a:solidFill>
              </a:defRPr>
            </a:lvl3pPr>
            <a:lvl4pPr algn="l">
              <a:defRPr sz="1800" b="1">
                <a:solidFill>
                  <a:srgbClr val="A82C3C"/>
                </a:solidFill>
              </a:defRPr>
            </a:lvl4pPr>
            <a:lvl5pPr algn="l">
              <a:defRPr sz="1800" b="1">
                <a:solidFill>
                  <a:srgbClr val="A82C3C"/>
                </a:solidFill>
              </a:defRPr>
            </a:lvl5pPr>
            <a:lvl6pPr algn="l">
              <a:defRPr sz="1800" b="1">
                <a:solidFill>
                  <a:srgbClr val="A82C3C"/>
                </a:solidFill>
              </a:defRPr>
            </a:lvl6pPr>
            <a:lvl7pPr algn="l">
              <a:defRPr sz="1800" b="1">
                <a:solidFill>
                  <a:srgbClr val="A82C3C"/>
                </a:solidFill>
              </a:defRPr>
            </a:lvl7pPr>
            <a:lvl8pPr algn="l">
              <a:defRPr sz="1800" b="1">
                <a:solidFill>
                  <a:srgbClr val="A82C3C"/>
                </a:solidFill>
              </a:defRPr>
            </a:lvl8pPr>
            <a:lvl9pPr algn="l">
              <a:defRPr sz="1800" b="1">
                <a:solidFill>
                  <a:srgbClr val="A82C3C"/>
                </a:solidFill>
              </a:defRPr>
            </a:lvl9pPr>
          </a:lstStyle>
          <a:p xmlns:a="http://schemas.openxmlformats.org/drawingml/2006/main">
            <a:pPr algn="l">
              <a:defRPr sz="1800" b="1">
                <a:solidFill>
                  <a:srgbClr val="A82C3C"/>
                </a:solidFill>
              </a:defRPr>
            </a:pPr>
            <a:r>
              <a:rPr sz="1800" b="1">
                <a:solidFill>
                  <a:srgbClr val="A82C3C"/>
                </a:solidFill>
              </a:rPr>
              <a:t>Envelope does not decay smoothly</a:t>
            </a:r>
          </a:p>
        </p:txBody>
      </p:sp>
      <p:sp>
        <p:nvSpPr>
          <p:cNvPr id="8" name="">
            <a:extLst xmlns:a="http://schemas.openxmlformats.org/drawingml/2006/main">
              <a:ext uri="{FF2B5EF4-FFF2-40B4-BE49-F238E27FC236}">
                <a16:creationId xmlns:a16="http://schemas.microsoft.com/office/drawing/2014/main" id="{9FE2874B-1C4B-4BA5-81F7-2A1F0302150A}"/>
              </a:ext>
            </a:extLst>
          </p:cNvPr>
          <p:cNvSpPr>
            <a:spLocks xmlns:a="http://schemas.openxmlformats.org/drawingml/2006/main" noGrp="1"/>
          </p:cNvSpPr>
          <p:nvPr/>
        </p:nvSpPr>
        <p:spPr>
          <a:xfrm xmlns:a="http://schemas.openxmlformats.org/drawingml/2006/main">
            <a:off x="5715000" y="1714500"/>
            <a:ext cx="5667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Check rubbing, slack springs, drift, and the noise floor.</a:t>
            </a:r>
          </a:p>
        </p:txBody>
      </p:sp>
      <p:sp>
        <p:nvSpPr>
          <p:cNvPr id="9" name="">
            <a:extLst xmlns:a="http://schemas.openxmlformats.org/drawingml/2006/main">
              <a:ext uri="{FF2B5EF4-FFF2-40B4-BE49-F238E27FC236}">
                <a16:creationId xmlns:a16="http://schemas.microsoft.com/office/drawing/2014/main" id="{B760FD79-EA95-4FC4-9483-BD3368DFA12D}"/>
              </a:ext>
            </a:extLst>
          </p:cNvPr>
          <p:cNvSpPr>
            <a:spLocks xmlns:a="http://schemas.openxmlformats.org/drawingml/2006/main" noGrp="1"/>
          </p:cNvSpPr>
          <p:nvPr/>
        </p:nvSpPr>
        <p:spPr>
          <a:xfrm xmlns:a="http://schemas.openxmlformats.org/drawingml/2006/main">
            <a:off x="714375" y="266700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1">
                <a:solidFill>
                  <a:srgbClr val="A82C3C"/>
                </a:solidFill>
              </a:defRPr>
            </a:defPPr>
            <a:lvl1pPr algn="l">
              <a:defRPr sz="1800" b="1">
                <a:solidFill>
                  <a:srgbClr val="A82C3C"/>
                </a:solidFill>
              </a:defRPr>
            </a:lvl1pPr>
            <a:lvl2pPr algn="l">
              <a:defRPr sz="1800" b="1">
                <a:solidFill>
                  <a:srgbClr val="A82C3C"/>
                </a:solidFill>
              </a:defRPr>
            </a:lvl2pPr>
            <a:lvl3pPr algn="l">
              <a:defRPr sz="1800" b="1">
                <a:solidFill>
                  <a:srgbClr val="A82C3C"/>
                </a:solidFill>
              </a:defRPr>
            </a:lvl3pPr>
            <a:lvl4pPr algn="l">
              <a:defRPr sz="1800" b="1">
                <a:solidFill>
                  <a:srgbClr val="A82C3C"/>
                </a:solidFill>
              </a:defRPr>
            </a:lvl4pPr>
            <a:lvl5pPr algn="l">
              <a:defRPr sz="1800" b="1">
                <a:solidFill>
                  <a:srgbClr val="A82C3C"/>
                </a:solidFill>
              </a:defRPr>
            </a:lvl5pPr>
            <a:lvl6pPr algn="l">
              <a:defRPr sz="1800" b="1">
                <a:solidFill>
                  <a:srgbClr val="A82C3C"/>
                </a:solidFill>
              </a:defRPr>
            </a:lvl6pPr>
            <a:lvl7pPr algn="l">
              <a:defRPr sz="1800" b="1">
                <a:solidFill>
                  <a:srgbClr val="A82C3C"/>
                </a:solidFill>
              </a:defRPr>
            </a:lvl7pPr>
            <a:lvl8pPr algn="l">
              <a:defRPr sz="1800" b="1">
                <a:solidFill>
                  <a:srgbClr val="A82C3C"/>
                </a:solidFill>
              </a:defRPr>
            </a:lvl8pPr>
            <a:lvl9pPr algn="l">
              <a:defRPr sz="1800" b="1">
                <a:solidFill>
                  <a:srgbClr val="A82C3C"/>
                </a:solidFill>
              </a:defRPr>
            </a:lvl9pPr>
          </a:lstStyle>
          <a:p xmlns:a="http://schemas.openxmlformats.org/drawingml/2006/main">
            <a:pPr algn="l">
              <a:defRPr sz="1800" b="1">
                <a:solidFill>
                  <a:srgbClr val="A82C3C"/>
                </a:solidFill>
              </a:defRPr>
            </a:pPr>
            <a:r>
              <a:rPr sz="1800" b="1">
                <a:solidFill>
                  <a:srgbClr val="A82C3C"/>
                </a:solidFill>
              </a:rPr>
              <a:t>FFT and peak timing disagree</a:t>
            </a:r>
          </a:p>
        </p:txBody>
      </p:sp>
      <p:sp>
        <p:nvSpPr>
          <p:cNvPr id="10" name="">
            <a:extLst xmlns:a="http://schemas.openxmlformats.org/drawingml/2006/main">
              <a:ext uri="{FF2B5EF4-FFF2-40B4-BE49-F238E27FC236}">
                <a16:creationId xmlns:a16="http://schemas.microsoft.com/office/drawing/2014/main" id="{0A86F5E5-E3FE-4B77-8D28-8962CD59CAFB}"/>
              </a:ext>
            </a:extLst>
          </p:cNvPr>
          <p:cNvSpPr>
            <a:spLocks xmlns:a="http://schemas.openxmlformats.org/drawingml/2006/main" noGrp="1"/>
          </p:cNvSpPr>
          <p:nvPr/>
        </p:nvSpPr>
        <p:spPr>
          <a:xfrm xmlns:a="http://schemas.openxmlformats.org/drawingml/2006/main">
            <a:off x="5715000" y="2667000"/>
            <a:ext cx="5667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Check units, record duration, FFT bins, and peak selection.</a:t>
            </a:r>
          </a:p>
        </p:txBody>
      </p:sp>
      <p:sp>
        <p:nvSpPr>
          <p:cNvPr id="11" name="">
            <a:extLst xmlns:a="http://schemas.openxmlformats.org/drawingml/2006/main">
              <a:ext uri="{FF2B5EF4-FFF2-40B4-BE49-F238E27FC236}">
                <a16:creationId xmlns:a16="http://schemas.microsoft.com/office/drawing/2014/main" id="{398C4454-B17C-4275-A0D5-09525C5023EF}"/>
              </a:ext>
            </a:extLst>
          </p:cNvPr>
          <p:cNvSpPr>
            <a:spLocks xmlns:a="http://schemas.openxmlformats.org/drawingml/2006/main" noGrp="1"/>
          </p:cNvSpPr>
          <p:nvPr/>
        </p:nvSpPr>
        <p:spPr>
          <a:xfrm xmlns:a="http://schemas.openxmlformats.org/drawingml/2006/main">
            <a:off x="714375" y="361950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1">
                <a:solidFill>
                  <a:srgbClr val="A82C3C"/>
                </a:solidFill>
              </a:defRPr>
            </a:defPPr>
            <a:lvl1pPr algn="l">
              <a:defRPr sz="1800" b="1">
                <a:solidFill>
                  <a:srgbClr val="A82C3C"/>
                </a:solidFill>
              </a:defRPr>
            </a:lvl1pPr>
            <a:lvl2pPr algn="l">
              <a:defRPr sz="1800" b="1">
                <a:solidFill>
                  <a:srgbClr val="A82C3C"/>
                </a:solidFill>
              </a:defRPr>
            </a:lvl2pPr>
            <a:lvl3pPr algn="l">
              <a:defRPr sz="1800" b="1">
                <a:solidFill>
                  <a:srgbClr val="A82C3C"/>
                </a:solidFill>
              </a:defRPr>
            </a:lvl3pPr>
            <a:lvl4pPr algn="l">
              <a:defRPr sz="1800" b="1">
                <a:solidFill>
                  <a:srgbClr val="A82C3C"/>
                </a:solidFill>
              </a:defRPr>
            </a:lvl4pPr>
            <a:lvl5pPr algn="l">
              <a:defRPr sz="1800" b="1">
                <a:solidFill>
                  <a:srgbClr val="A82C3C"/>
                </a:solidFill>
              </a:defRPr>
            </a:lvl5pPr>
            <a:lvl6pPr algn="l">
              <a:defRPr sz="1800" b="1">
                <a:solidFill>
                  <a:srgbClr val="A82C3C"/>
                </a:solidFill>
              </a:defRPr>
            </a:lvl6pPr>
            <a:lvl7pPr algn="l">
              <a:defRPr sz="1800" b="1">
                <a:solidFill>
                  <a:srgbClr val="A82C3C"/>
                </a:solidFill>
              </a:defRPr>
            </a:lvl7pPr>
            <a:lvl8pPr algn="l">
              <a:defRPr sz="1800" b="1">
                <a:solidFill>
                  <a:srgbClr val="A82C3C"/>
                </a:solidFill>
              </a:defRPr>
            </a:lvl8pPr>
            <a:lvl9pPr algn="l">
              <a:defRPr sz="1800" b="1">
                <a:solidFill>
                  <a:srgbClr val="A82C3C"/>
                </a:solidFill>
              </a:defRPr>
            </a:lvl9pPr>
          </a:lstStyle>
          <a:p xmlns:a="http://schemas.openxmlformats.org/drawingml/2006/main">
            <a:pPr algn="l">
              <a:defRPr sz="1800" b="1">
                <a:solidFill>
                  <a:srgbClr val="A82C3C"/>
                </a:solidFill>
              </a:defRPr>
            </a:pPr>
            <a:r>
              <a:rPr sz="1800" b="1">
                <a:solidFill>
                  <a:srgbClr val="A82C3C"/>
                </a:solidFill>
              </a:rPr>
              <a:t>Theory and experiment disagree</a:t>
            </a:r>
          </a:p>
        </p:txBody>
      </p:sp>
      <p:sp>
        <p:nvSpPr>
          <p:cNvPr id="12" name="">
            <a:extLst xmlns:a="http://schemas.openxmlformats.org/drawingml/2006/main">
              <a:ext uri="{FF2B5EF4-FFF2-40B4-BE49-F238E27FC236}">
                <a16:creationId xmlns:a16="http://schemas.microsoft.com/office/drawing/2014/main" id="{201CA609-353B-44EE-975F-6250542B135D}"/>
              </a:ext>
            </a:extLst>
          </p:cNvPr>
          <p:cNvSpPr>
            <a:spLocks xmlns:a="http://schemas.openxmlformats.org/drawingml/2006/main" noGrp="1"/>
          </p:cNvSpPr>
          <p:nvPr/>
        </p:nvSpPr>
        <p:spPr>
          <a:xfrm xmlns:a="http://schemas.openxmlformats.org/drawingml/2006/main">
            <a:off x="5715000" y="3619500"/>
            <a:ext cx="5667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Check total moving mass and keq = kL + kR.</a:t>
            </a:r>
          </a:p>
        </p:txBody>
      </p:sp>
      <p:sp>
        <p:nvSpPr>
          <p:cNvPr id="13" name="">
            <a:extLst xmlns:a="http://schemas.openxmlformats.org/drawingml/2006/main">
              <a:ext uri="{FF2B5EF4-FFF2-40B4-BE49-F238E27FC236}">
                <a16:creationId xmlns:a16="http://schemas.microsoft.com/office/drawing/2014/main" id="{68881C90-DEE2-4864-932A-CF51D0BE02AE}"/>
              </a:ext>
            </a:extLst>
          </p:cNvPr>
          <p:cNvSpPr>
            <a:spLocks xmlns:a="http://schemas.openxmlformats.org/drawingml/2006/main" noGrp="1"/>
          </p:cNvSpPr>
          <p:nvPr/>
        </p:nvSpPr>
        <p:spPr>
          <a:xfrm xmlns:a="http://schemas.openxmlformats.org/drawingml/2006/main">
            <a:off x="714375" y="457200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1">
                <a:solidFill>
                  <a:srgbClr val="A82C3C"/>
                </a:solidFill>
              </a:defRPr>
            </a:defPPr>
            <a:lvl1pPr algn="l">
              <a:defRPr sz="1800" b="1">
                <a:solidFill>
                  <a:srgbClr val="A82C3C"/>
                </a:solidFill>
              </a:defRPr>
            </a:lvl1pPr>
            <a:lvl2pPr algn="l">
              <a:defRPr sz="1800" b="1">
                <a:solidFill>
                  <a:srgbClr val="A82C3C"/>
                </a:solidFill>
              </a:defRPr>
            </a:lvl2pPr>
            <a:lvl3pPr algn="l">
              <a:defRPr sz="1800" b="1">
                <a:solidFill>
                  <a:srgbClr val="A82C3C"/>
                </a:solidFill>
              </a:defRPr>
            </a:lvl3pPr>
            <a:lvl4pPr algn="l">
              <a:defRPr sz="1800" b="1">
                <a:solidFill>
                  <a:srgbClr val="A82C3C"/>
                </a:solidFill>
              </a:defRPr>
            </a:lvl4pPr>
            <a:lvl5pPr algn="l">
              <a:defRPr sz="1800" b="1">
                <a:solidFill>
                  <a:srgbClr val="A82C3C"/>
                </a:solidFill>
              </a:defRPr>
            </a:lvl5pPr>
            <a:lvl6pPr algn="l">
              <a:defRPr sz="1800" b="1">
                <a:solidFill>
                  <a:srgbClr val="A82C3C"/>
                </a:solidFill>
              </a:defRPr>
            </a:lvl6pPr>
            <a:lvl7pPr algn="l">
              <a:defRPr sz="1800" b="1">
                <a:solidFill>
                  <a:srgbClr val="A82C3C"/>
                </a:solidFill>
              </a:defRPr>
            </a:lvl7pPr>
            <a:lvl8pPr algn="l">
              <a:defRPr sz="1800" b="1">
                <a:solidFill>
                  <a:srgbClr val="A82C3C"/>
                </a:solidFill>
              </a:defRPr>
            </a:lvl8pPr>
            <a:lvl9pPr algn="l">
              <a:defRPr sz="1800" b="1">
                <a:solidFill>
                  <a:srgbClr val="A82C3C"/>
                </a:solidFill>
              </a:defRPr>
            </a:lvl9pPr>
          </a:lstStyle>
          <a:p xmlns:a="http://schemas.openxmlformats.org/drawingml/2006/main">
            <a:pPr algn="l">
              <a:defRPr sz="1800" b="1">
                <a:solidFill>
                  <a:srgbClr val="A82C3C"/>
                </a:solidFill>
              </a:defRPr>
            </a:pPr>
            <a:r>
              <a:rPr sz="1800" b="1">
                <a:solidFill>
                  <a:srgbClr val="A82C3C"/>
                </a:solidFill>
              </a:rPr>
              <a:t>Fitted curve misses the points</a:t>
            </a:r>
          </a:p>
        </p:txBody>
      </p:sp>
      <p:sp>
        <p:nvSpPr>
          <p:cNvPr id="14" name="">
            <a:extLst xmlns:a="http://schemas.openxmlformats.org/drawingml/2006/main">
              <a:ext uri="{FF2B5EF4-FFF2-40B4-BE49-F238E27FC236}">
                <a16:creationId xmlns:a16="http://schemas.microsoft.com/office/drawing/2014/main" id="{090806A7-AF29-413F-A6C6-6EF70BFB80CE}"/>
              </a:ext>
            </a:extLst>
          </p:cNvPr>
          <p:cNvSpPr>
            <a:spLocks xmlns:a="http://schemas.openxmlformats.org/drawingml/2006/main" noGrp="1"/>
          </p:cNvSpPr>
          <p:nvPr/>
        </p:nvSpPr>
        <p:spPr>
          <a:xfrm xmlns:a="http://schemas.openxmlformats.org/drawingml/2006/main">
            <a:off x="5715000" y="4572000"/>
            <a:ext cx="5667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Fit a damped response with an offset, then inspect residuals.</a:t>
            </a:r>
          </a:p>
        </p:txBody>
      </p:sp>
      <p:sp>
        <p:nvSpPr>
          <p:cNvPr id="15" name="">
            <a:extLst xmlns:a="http://schemas.openxmlformats.org/drawingml/2006/main">
              <a:ext uri="{FF2B5EF4-FFF2-40B4-BE49-F238E27FC236}">
                <a16:creationId xmlns:a16="http://schemas.microsoft.com/office/drawing/2014/main" id="{A9D92893-45AF-4AB7-BA07-9B79E0B1F009}"/>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44CAC8D3-DD44-4FF1-A328-BDF18649C548}"/>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Analyze one complete case and show the GTA before leaving.</a:t>
            </a:r>
          </a:p>
        </p:txBody>
      </p:sp>
    </p:spTree>
    <p:extLst>
      <p:ext uri="{BB962C8B-B14F-4D97-AF65-F5344CB8AC3E}">
        <p14:creationId xmlns:p14="http://schemas.microsoft.com/office/powerpoint/2010/main" val="101098181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CDA2044-8B35-46C2-9C09-AE640DB48BC7}"/>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1B945E4A-433F-4EAC-A946-2D09FAFFAC0A}"/>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Deliverables</a:t>
            </a:r>
          </a:p>
        </p:txBody>
      </p:sp>
      <p:sp>
        <p:nvSpPr>
          <p:cNvPr id="3" name="">
            <a:extLst xmlns:a="http://schemas.openxmlformats.org/drawingml/2006/main">
              <a:ext uri="{FF2B5EF4-FFF2-40B4-BE49-F238E27FC236}">
                <a16:creationId xmlns:a16="http://schemas.microsoft.com/office/drawing/2014/main" id="{04F895DC-AA75-43A9-85D6-C7A10DDA8E57}"/>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What students should explain in Pre-Lab 4 and the report</a:t>
            </a:r>
          </a:p>
        </p:txBody>
      </p:sp>
      <p:sp>
        <p:nvSpPr>
          <p:cNvPr id="4" name="">
            <a:extLst xmlns:a="http://schemas.openxmlformats.org/drawingml/2006/main">
              <a:ext uri="{FF2B5EF4-FFF2-40B4-BE49-F238E27FC236}">
                <a16:creationId xmlns:a16="http://schemas.microsoft.com/office/drawing/2014/main" id="{D3FBD784-4F45-4141-9606-F85FB1B89993}"/>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CC315F-B2F4-4D23-BB60-0AE4400CC299}"/>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43</a:t>
            </a:r>
          </a:p>
        </p:txBody>
      </p:sp>
      <p:sp>
        <p:nvSpPr>
          <p:cNvPr id="6" name="">
            <a:extLst xmlns:a="http://schemas.openxmlformats.org/drawingml/2006/main">
              <a:ext uri="{FF2B5EF4-FFF2-40B4-BE49-F238E27FC236}">
                <a16:creationId xmlns:a16="http://schemas.microsoft.com/office/drawing/2014/main" id="{DCEBBFEA-7F7F-4D26-8EBC-995EF7DCD4C9}"/>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48–49 min</a:t>
            </a:r>
          </a:p>
        </p:txBody>
      </p:sp>
      <p:sp>
        <p:nvSpPr>
          <p:cNvPr id="7" name="">
            <a:extLst xmlns:a="http://schemas.openxmlformats.org/drawingml/2006/main">
              <a:ext uri="{FF2B5EF4-FFF2-40B4-BE49-F238E27FC236}">
                <a16:creationId xmlns:a16="http://schemas.microsoft.com/office/drawing/2014/main" id="{69965EC2-2D71-45C6-AFD2-B18E1F5DDBBF}"/>
              </a:ext>
            </a:extLst>
          </p:cNvPr>
          <p:cNvSpPr>
            <a:spLocks xmlns:a="http://schemas.openxmlformats.org/drawingml/2006/main" noGrp="1"/>
          </p:cNvSpPr>
          <p:nvPr/>
        </p:nvSpPr>
        <p:spPr>
          <a:xfrm xmlns:a="http://schemas.openxmlformats.org/drawingml/2006/main">
            <a:off x="714375" y="16668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100" b="1">
                <a:solidFill>
                  <a:srgbClr val="A82C3C"/>
                </a:solidFill>
              </a:defRPr>
            </a:defPPr>
            <a:lvl1pPr algn="l">
              <a:defRPr sz="2100" b="1">
                <a:solidFill>
                  <a:srgbClr val="A82C3C"/>
                </a:solidFill>
              </a:defRPr>
            </a:lvl1pPr>
            <a:lvl2pPr algn="l">
              <a:defRPr sz="2100" b="1">
                <a:solidFill>
                  <a:srgbClr val="A82C3C"/>
                </a:solidFill>
              </a:defRPr>
            </a:lvl2pPr>
            <a:lvl3pPr algn="l">
              <a:defRPr sz="2100" b="1">
                <a:solidFill>
                  <a:srgbClr val="A82C3C"/>
                </a:solidFill>
              </a:defRPr>
            </a:lvl3pPr>
            <a:lvl4pPr algn="l">
              <a:defRPr sz="2100" b="1">
                <a:solidFill>
                  <a:srgbClr val="A82C3C"/>
                </a:solidFill>
              </a:defRPr>
            </a:lvl4pPr>
            <a:lvl5pPr algn="l">
              <a:defRPr sz="2100" b="1">
                <a:solidFill>
                  <a:srgbClr val="A82C3C"/>
                </a:solidFill>
              </a:defRPr>
            </a:lvl5pPr>
            <a:lvl6pPr algn="l">
              <a:defRPr sz="2100" b="1">
                <a:solidFill>
                  <a:srgbClr val="A82C3C"/>
                </a:solidFill>
              </a:defRPr>
            </a:lvl6pPr>
            <a:lvl7pPr algn="l">
              <a:defRPr sz="2100" b="1">
                <a:solidFill>
                  <a:srgbClr val="A82C3C"/>
                </a:solidFill>
              </a:defRPr>
            </a:lvl7pPr>
            <a:lvl8pPr algn="l">
              <a:defRPr sz="2100" b="1">
                <a:solidFill>
                  <a:srgbClr val="A82C3C"/>
                </a:solidFill>
              </a:defRPr>
            </a:lvl8pPr>
            <a:lvl9pPr algn="l">
              <a:defRPr sz="2100" b="1">
                <a:solidFill>
                  <a:srgbClr val="A82C3C"/>
                </a:solidFill>
              </a:defRPr>
            </a:lvl9pPr>
          </a:lstStyle>
          <a:p xmlns:a="http://schemas.openxmlformats.org/drawingml/2006/main">
            <a:pPr algn="l">
              <a:defRPr sz="2100" b="1">
                <a:solidFill>
                  <a:srgbClr val="A82C3C"/>
                </a:solidFill>
              </a:defRPr>
            </a:pPr>
            <a:r>
              <a:rPr sz="2100" b="1">
                <a:solidFill>
                  <a:srgbClr val="A82C3C"/>
                </a:solidFill>
              </a:rPr>
              <a:t>Pre-Lab 4</a:t>
            </a:r>
          </a:p>
        </p:txBody>
      </p:sp>
      <p:sp>
        <p:nvSpPr>
          <p:cNvPr id="8" name="">
            <a:extLst xmlns:a="http://schemas.openxmlformats.org/drawingml/2006/main">
              <a:ext uri="{FF2B5EF4-FFF2-40B4-BE49-F238E27FC236}">
                <a16:creationId xmlns:a16="http://schemas.microsoft.com/office/drawing/2014/main" id="{5D1AC0C3-49F5-4BDC-9F8A-A1D1476C3DBD}"/>
              </a:ext>
            </a:extLst>
          </p:cNvPr>
          <p:cNvSpPr>
            <a:spLocks xmlns:a="http://schemas.openxmlformats.org/drawingml/2006/main" noGrp="1"/>
          </p:cNvSpPr>
          <p:nvPr/>
        </p:nvSpPr>
        <p:spPr>
          <a:xfrm xmlns:a="http://schemas.openxmlformats.org/drawingml/2006/main">
            <a:off x="714375" y="2381250"/>
            <a:ext cx="4667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Explain each model variable and its unit.</a:t>
            </a:r>
          </a:p>
        </p:txBody>
      </p:sp>
      <p:sp>
        <p:nvSpPr>
          <p:cNvPr id="9" name="">
            <a:extLst xmlns:a="http://schemas.openxmlformats.org/drawingml/2006/main">
              <a:ext uri="{FF2B5EF4-FFF2-40B4-BE49-F238E27FC236}">
                <a16:creationId xmlns:a16="http://schemas.microsoft.com/office/drawing/2014/main" id="{27D93622-17DE-4380-973F-6607D9005A33}"/>
              </a:ext>
            </a:extLst>
          </p:cNvPr>
          <p:cNvSpPr>
            <a:spLocks xmlns:a="http://schemas.openxmlformats.org/drawingml/2006/main" noGrp="1"/>
          </p:cNvSpPr>
          <p:nvPr/>
        </p:nvSpPr>
        <p:spPr>
          <a:xfrm xmlns:a="http://schemas.openxmlformats.org/drawingml/2006/main">
            <a:off x="714375" y="3324225"/>
            <a:ext cx="4667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Predict changes in period and decay.</a:t>
            </a:r>
          </a:p>
        </p:txBody>
      </p:sp>
      <p:sp>
        <p:nvSpPr>
          <p:cNvPr id="10" name="">
            <a:extLst xmlns:a="http://schemas.openxmlformats.org/drawingml/2006/main">
              <a:ext uri="{FF2B5EF4-FFF2-40B4-BE49-F238E27FC236}">
                <a16:creationId xmlns:a16="http://schemas.microsoft.com/office/drawing/2014/main" id="{2D91081D-197F-4FAA-A09F-138C70C2809A}"/>
              </a:ext>
            </a:extLst>
          </p:cNvPr>
          <p:cNvSpPr>
            <a:spLocks xmlns:a="http://schemas.openxmlformats.org/drawingml/2006/main" noGrp="1"/>
          </p:cNvSpPr>
          <p:nvPr/>
        </p:nvSpPr>
        <p:spPr>
          <a:xfrm xmlns:a="http://schemas.openxmlformats.org/drawingml/2006/main">
            <a:off x="714375" y="4267200"/>
            <a:ext cx="4667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Run the provided notebook and interpret its plots.</a:t>
            </a:r>
          </a:p>
        </p:txBody>
      </p:sp>
      <p:sp>
        <p:nvSpPr>
          <p:cNvPr id="11" name="">
            <a:extLst xmlns:a="http://schemas.openxmlformats.org/drawingml/2006/main">
              <a:ext uri="{FF2B5EF4-FFF2-40B4-BE49-F238E27FC236}">
                <a16:creationId xmlns:a16="http://schemas.microsoft.com/office/drawing/2014/main" id="{C0DD68A9-9337-4E1C-B923-0375838EF399}"/>
              </a:ext>
            </a:extLst>
          </p:cNvPr>
          <p:cNvSpPr>
            <a:spLocks xmlns:a="http://schemas.openxmlformats.org/drawingml/2006/main" noGrp="1"/>
          </p:cNvSpPr>
          <p:nvPr/>
        </p:nvSpPr>
        <p:spPr>
          <a:xfrm xmlns:a="http://schemas.openxmlformats.org/drawingml/2006/main">
            <a:off x="6572250" y="16668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100" b="1">
                <a:solidFill>
                  <a:srgbClr val="A82C3C"/>
                </a:solidFill>
              </a:defRPr>
            </a:defPPr>
            <a:lvl1pPr algn="l">
              <a:defRPr sz="2100" b="1">
                <a:solidFill>
                  <a:srgbClr val="A82C3C"/>
                </a:solidFill>
              </a:defRPr>
            </a:lvl1pPr>
            <a:lvl2pPr algn="l">
              <a:defRPr sz="2100" b="1">
                <a:solidFill>
                  <a:srgbClr val="A82C3C"/>
                </a:solidFill>
              </a:defRPr>
            </a:lvl2pPr>
            <a:lvl3pPr algn="l">
              <a:defRPr sz="2100" b="1">
                <a:solidFill>
                  <a:srgbClr val="A82C3C"/>
                </a:solidFill>
              </a:defRPr>
            </a:lvl3pPr>
            <a:lvl4pPr algn="l">
              <a:defRPr sz="2100" b="1">
                <a:solidFill>
                  <a:srgbClr val="A82C3C"/>
                </a:solidFill>
              </a:defRPr>
            </a:lvl4pPr>
            <a:lvl5pPr algn="l">
              <a:defRPr sz="2100" b="1">
                <a:solidFill>
                  <a:srgbClr val="A82C3C"/>
                </a:solidFill>
              </a:defRPr>
            </a:lvl5pPr>
            <a:lvl6pPr algn="l">
              <a:defRPr sz="2100" b="1">
                <a:solidFill>
                  <a:srgbClr val="A82C3C"/>
                </a:solidFill>
              </a:defRPr>
            </a:lvl6pPr>
            <a:lvl7pPr algn="l">
              <a:defRPr sz="2100" b="1">
                <a:solidFill>
                  <a:srgbClr val="A82C3C"/>
                </a:solidFill>
              </a:defRPr>
            </a:lvl7pPr>
            <a:lvl8pPr algn="l">
              <a:defRPr sz="2100" b="1">
                <a:solidFill>
                  <a:srgbClr val="A82C3C"/>
                </a:solidFill>
              </a:defRPr>
            </a:lvl8pPr>
            <a:lvl9pPr algn="l">
              <a:defRPr sz="2100" b="1">
                <a:solidFill>
                  <a:srgbClr val="A82C3C"/>
                </a:solidFill>
              </a:defRPr>
            </a:lvl9pPr>
          </a:lstStyle>
          <a:p xmlns:a="http://schemas.openxmlformats.org/drawingml/2006/main">
            <a:pPr algn="l">
              <a:defRPr sz="2100" b="1">
                <a:solidFill>
                  <a:srgbClr val="A82C3C"/>
                </a:solidFill>
              </a:defRPr>
            </a:pPr>
            <a:r>
              <a:rPr sz="2100" b="1">
                <a:solidFill>
                  <a:srgbClr val="A82C3C"/>
                </a:solidFill>
              </a:rPr>
              <a:t>Laboratory report</a:t>
            </a:r>
          </a:p>
        </p:txBody>
      </p:sp>
      <p:sp>
        <p:nvSpPr>
          <p:cNvPr id="12" name="">
            <a:extLst xmlns:a="http://schemas.openxmlformats.org/drawingml/2006/main">
              <a:ext uri="{FF2B5EF4-FFF2-40B4-BE49-F238E27FC236}">
                <a16:creationId xmlns:a16="http://schemas.microsoft.com/office/drawing/2014/main" id="{F625825A-C540-4284-9336-D607A2BCD7B3}"/>
              </a:ext>
            </a:extLst>
          </p:cNvPr>
          <p:cNvSpPr>
            <a:spLocks xmlns:a="http://schemas.openxmlformats.org/drawingml/2006/main" noGrp="1"/>
          </p:cNvSpPr>
          <p:nvPr/>
        </p:nvSpPr>
        <p:spPr>
          <a:xfrm xmlns:a="http://schemas.openxmlformats.org/drawingml/2006/main">
            <a:off x="6572250" y="2381250"/>
            <a:ext cx="4667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Explain how spring stiffness was calibrated.</a:t>
            </a:r>
          </a:p>
        </p:txBody>
      </p:sp>
      <p:sp>
        <p:nvSpPr>
          <p:cNvPr id="13" name="">
            <a:extLst xmlns:a="http://schemas.openxmlformats.org/drawingml/2006/main">
              <a:ext uri="{FF2B5EF4-FFF2-40B4-BE49-F238E27FC236}">
                <a16:creationId xmlns:a16="http://schemas.microsoft.com/office/drawing/2014/main" id="{C9130408-9B3D-47DD-A8A8-B4A066C0EE7D}"/>
              </a:ext>
            </a:extLst>
          </p:cNvPr>
          <p:cNvSpPr>
            <a:spLocks xmlns:a="http://schemas.openxmlformats.org/drawingml/2006/main" noGrp="1"/>
          </p:cNvSpPr>
          <p:nvPr/>
        </p:nvSpPr>
        <p:spPr>
          <a:xfrm xmlns:a="http://schemas.openxmlformats.org/drawingml/2006/main">
            <a:off x="6572250" y="3324225"/>
            <a:ext cx="4667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Show x(t), fitted decay, and frequency spectra.</a:t>
            </a:r>
          </a:p>
        </p:txBody>
      </p:sp>
      <p:sp>
        <p:nvSpPr>
          <p:cNvPr id="14" name="">
            <a:extLst xmlns:a="http://schemas.openxmlformats.org/drawingml/2006/main">
              <a:ext uri="{FF2B5EF4-FFF2-40B4-BE49-F238E27FC236}">
                <a16:creationId xmlns:a16="http://schemas.microsoft.com/office/drawing/2014/main" id="{5F590353-835C-40E7-9F76-8127697EE89B}"/>
              </a:ext>
            </a:extLst>
          </p:cNvPr>
          <p:cNvSpPr>
            <a:spLocks xmlns:a="http://schemas.openxmlformats.org/drawingml/2006/main" noGrp="1"/>
          </p:cNvSpPr>
          <p:nvPr/>
        </p:nvSpPr>
        <p:spPr>
          <a:xfrm xmlns:a="http://schemas.openxmlformats.org/drawingml/2006/main">
            <a:off x="6572250" y="4267200"/>
            <a:ext cx="4667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Compare measured and predicted parameters for all seven cases.</a:t>
            </a:r>
          </a:p>
        </p:txBody>
      </p:sp>
      <p:sp>
        <p:nvSpPr>
          <p:cNvPr id="15" name="">
            <a:extLst xmlns:a="http://schemas.openxmlformats.org/drawingml/2006/main">
              <a:ext uri="{FF2B5EF4-FFF2-40B4-BE49-F238E27FC236}">
                <a16:creationId xmlns:a16="http://schemas.microsoft.com/office/drawing/2014/main" id="{4155F1DC-F360-4B1E-9299-591D0FB1E94D}"/>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0466E34C-A959-4522-977C-76B74F034449}"/>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Use equations that support your analysis. Submit the pre-lab Word/PDF before your own lab section.</a:t>
            </a:r>
          </a:p>
        </p:txBody>
      </p:sp>
    </p:spTree>
    <p:extLst>
      <p:ext uri="{BB962C8B-B14F-4D97-AF65-F5344CB8AC3E}">
        <p14:creationId xmlns:p14="http://schemas.microsoft.com/office/powerpoint/2010/main" val="495744056"/>
      </p:ext>
    </p:extLst>
  </p:cSld>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594360" y="228600"/>
            <a:ext cx="4572000" cy="274320"/>
          </a:xfrm>
          <a:prstGeom prst="rect">
            <a:avLst/>
          </a:prstGeom>
          <a:noFill/>
        </p:spPr>
        <p:txBody>
          <a:bodyPr wrap="square">
            <a:spAutoFit/>
          </a:bodyPr>
          <a:lstStyle/>
          <a:p>
            <a:pPr>
              <a:spcAft>
                <a:spcPts val="1100"/>
              </a:spcAft>
              <a:defRPr sz="1100" b="1">
                <a:solidFill>
                  <a:srgbClr val="9D2F44"/>
                </a:solidFill>
                <a:latin typeface="Aptos"/>
              </a:defRPr>
            </a:pPr>
            <a:r>
              <a:t>MIE 402   ME LAB II</a:t>
            </a:r>
          </a:p>
        </p:txBody>
      </p:sp>
      <p:sp>
        <p:nvSpPr>
          <p:cNvPr id="5" name="TextBox 4"/>
          <p:cNvSpPr txBox="1"/>
          <p:nvPr/>
        </p:nvSpPr>
        <p:spPr>
          <a:xfrm>
            <a:off x="9235440" y="228600"/>
            <a:ext cx="2377440" cy="274320"/>
          </a:xfrm>
          <a:prstGeom prst="rect">
            <a:avLst/>
          </a:prstGeom>
          <a:noFill/>
        </p:spPr>
        <p:txBody>
          <a:bodyPr wrap="square">
            <a:spAutoFit/>
          </a:bodyPr>
          <a:lstStyle/>
          <a:p>
            <a:pPr>
              <a:spcAft>
                <a:spcPts val="1100"/>
              </a:spcAft>
              <a:defRPr sz="1000" b="0">
                <a:solidFill>
                  <a:srgbClr val="5A6771"/>
                </a:solidFill>
                <a:latin typeface="Aptos"/>
              </a:defRPr>
            </a:pPr>
            <a:r>
              <a:t>New • active learning</a:t>
            </a:r>
          </a:p>
        </p:txBody>
      </p:sp>
      <p:sp>
        <p:nvSpPr>
          <p:cNvPr id="6" name="TextBox 5"/>
          <p:cNvSpPr txBox="1"/>
          <p:nvPr/>
        </p:nvSpPr>
        <p:spPr>
          <a:xfrm>
            <a:off x="594360" y="713232"/>
            <a:ext cx="10972800" cy="566928"/>
          </a:xfrm>
          <a:prstGeom prst="rect">
            <a:avLst/>
          </a:prstGeom>
          <a:noFill/>
        </p:spPr>
        <p:txBody>
          <a:bodyPr wrap="square">
            <a:spAutoFit/>
          </a:bodyPr>
          <a:lstStyle/>
          <a:p>
            <a:pPr>
              <a:spcAft>
                <a:spcPts val="1100"/>
              </a:spcAft>
              <a:defRPr sz="2700" b="1">
                <a:solidFill>
                  <a:srgbClr val="1B3448"/>
                </a:solidFill>
                <a:latin typeface="Aptos"/>
              </a:defRPr>
            </a:pPr>
            <a:r>
              <a:t>Exit ticket: predict, measure, defend</a:t>
            </a:r>
          </a:p>
        </p:txBody>
      </p:sp>
      <p:sp>
        <p:nvSpPr>
          <p:cNvPr id="7" name="Rectangle 6"/>
          <p:cNvSpPr/>
          <p:nvPr/>
        </p:nvSpPr>
        <p:spPr>
          <a:xfrm>
            <a:off x="594360" y="1371600"/>
            <a:ext cx="10972800" cy="16459"/>
          </a:xfrm>
          <a:prstGeom prst="rect">
            <a:avLst/>
          </a:prstGeom>
          <a:solidFill>
            <a:srgbClr val="D7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2880360" cy="521207"/>
          </a:xfrm>
          <a:prstGeom prst="rect">
            <a:avLst/>
          </a:prstGeom>
          <a:noFill/>
        </p:spPr>
        <p:txBody>
          <a:bodyPr wrap="square">
            <a:spAutoFit/>
          </a:bodyPr>
          <a:lstStyle/>
          <a:p>
            <a:pPr>
              <a:spcAft>
                <a:spcPts val="1100"/>
              </a:spcAft>
              <a:defRPr sz="1900" b="1">
                <a:solidFill>
                  <a:srgbClr val="9D2F44"/>
                </a:solidFill>
                <a:latin typeface="Aptos"/>
              </a:defRPr>
            </a:pPr>
            <a:r>
              <a:t>Prediction</a:t>
            </a:r>
          </a:p>
        </p:txBody>
      </p:sp>
      <p:sp>
        <p:nvSpPr>
          <p:cNvPr id="9" name="TextBox 8"/>
          <p:cNvSpPr txBox="1"/>
          <p:nvPr/>
        </p:nvSpPr>
        <p:spPr>
          <a:xfrm>
            <a:off x="3749039" y="1719072"/>
            <a:ext cx="7589520" cy="960120"/>
          </a:xfrm>
          <a:prstGeom prst="rect">
            <a:avLst/>
          </a:prstGeom>
          <a:noFill/>
        </p:spPr>
        <p:txBody>
          <a:bodyPr wrap="square">
            <a:spAutoFit/>
          </a:bodyPr>
          <a:lstStyle/>
          <a:p>
            <a:pPr>
              <a:spcAft>
                <a:spcPts val="1100"/>
              </a:spcAft>
              <a:defRPr sz="1900" b="0">
                <a:solidFill>
                  <a:srgbClr val="1B3448"/>
                </a:solidFill>
                <a:latin typeface="Aptos"/>
              </a:defRPr>
            </a:pPr>
            <a:r>
              <a:t>If mass increases while k and c stay fixed, what happens to ωn and α?</a:t>
            </a:r>
          </a:p>
        </p:txBody>
      </p:sp>
      <p:sp>
        <p:nvSpPr>
          <p:cNvPr id="10" name="TextBox 9"/>
          <p:cNvSpPr txBox="1"/>
          <p:nvPr/>
        </p:nvSpPr>
        <p:spPr>
          <a:xfrm>
            <a:off x="777240" y="2752344"/>
            <a:ext cx="2880360" cy="521207"/>
          </a:xfrm>
          <a:prstGeom prst="rect">
            <a:avLst/>
          </a:prstGeom>
          <a:noFill/>
        </p:spPr>
        <p:txBody>
          <a:bodyPr wrap="square">
            <a:spAutoFit/>
          </a:bodyPr>
          <a:lstStyle/>
          <a:p>
            <a:pPr>
              <a:spcAft>
                <a:spcPts val="1100"/>
              </a:spcAft>
              <a:defRPr sz="1900" b="1">
                <a:solidFill>
                  <a:srgbClr val="9D2F44"/>
                </a:solidFill>
                <a:latin typeface="Aptos"/>
              </a:defRPr>
            </a:pPr>
            <a:r>
              <a:t>Interpretation</a:t>
            </a:r>
          </a:p>
        </p:txBody>
      </p:sp>
      <p:sp>
        <p:nvSpPr>
          <p:cNvPr id="11" name="TextBox 10"/>
          <p:cNvSpPr txBox="1"/>
          <p:nvPr/>
        </p:nvSpPr>
        <p:spPr>
          <a:xfrm>
            <a:off x="3749039" y="2752344"/>
            <a:ext cx="7589520" cy="960120"/>
          </a:xfrm>
          <a:prstGeom prst="rect">
            <a:avLst/>
          </a:prstGeom>
          <a:noFill/>
        </p:spPr>
        <p:txBody>
          <a:bodyPr wrap="square">
            <a:spAutoFit/>
          </a:bodyPr>
          <a:lstStyle/>
          <a:p>
            <a:pPr>
              <a:spcAft>
                <a:spcPts val="1100"/>
              </a:spcAft>
              <a:defRPr sz="1900" b="0">
                <a:solidFill>
                  <a:srgbClr val="1B3448"/>
                </a:solidFill>
                <a:latin typeface="Aptos"/>
              </a:defRPr>
            </a:pPr>
            <a:r>
              <a:t>If damping increases at fixed m and k, which frequency remains fixed: ωn or ωd?</a:t>
            </a:r>
          </a:p>
        </p:txBody>
      </p:sp>
      <p:sp>
        <p:nvSpPr>
          <p:cNvPr id="12" name="TextBox 11"/>
          <p:cNvSpPr txBox="1"/>
          <p:nvPr/>
        </p:nvSpPr>
        <p:spPr>
          <a:xfrm>
            <a:off x="777240" y="3785615"/>
            <a:ext cx="2880360" cy="521207"/>
          </a:xfrm>
          <a:prstGeom prst="rect">
            <a:avLst/>
          </a:prstGeom>
          <a:noFill/>
        </p:spPr>
        <p:txBody>
          <a:bodyPr wrap="square">
            <a:spAutoFit/>
          </a:bodyPr>
          <a:lstStyle/>
          <a:p>
            <a:pPr>
              <a:spcAft>
                <a:spcPts val="1100"/>
              </a:spcAft>
              <a:defRPr sz="1900" b="1">
                <a:solidFill>
                  <a:srgbClr val="9D2F44"/>
                </a:solidFill>
                <a:latin typeface="Aptos"/>
              </a:defRPr>
            </a:pPr>
            <a:r>
              <a:t>Data decision</a:t>
            </a:r>
          </a:p>
        </p:txBody>
      </p:sp>
      <p:sp>
        <p:nvSpPr>
          <p:cNvPr id="13" name="TextBox 12"/>
          <p:cNvSpPr txBox="1"/>
          <p:nvPr/>
        </p:nvSpPr>
        <p:spPr>
          <a:xfrm>
            <a:off x="3749039" y="3785615"/>
            <a:ext cx="7589520" cy="960120"/>
          </a:xfrm>
          <a:prstGeom prst="rect">
            <a:avLst/>
          </a:prstGeom>
          <a:noFill/>
        </p:spPr>
        <p:txBody>
          <a:bodyPr wrap="square">
            <a:spAutoFit/>
          </a:bodyPr>
          <a:lstStyle/>
          <a:p>
            <a:pPr>
              <a:spcAft>
                <a:spcPts val="1100"/>
              </a:spcAft>
              <a:defRPr sz="1900" b="0">
                <a:solidFill>
                  <a:srgbClr val="1B3448"/>
                </a:solidFill>
                <a:latin typeface="Aptos"/>
              </a:defRPr>
            </a:pPr>
            <a:r>
              <a:t>Which peaks would you exclude from a log-peak fit, and why?</a:t>
            </a:r>
          </a:p>
        </p:txBody>
      </p:sp>
      <p:sp>
        <p:nvSpPr>
          <p:cNvPr id="14" name="TextBox 13"/>
          <p:cNvSpPr txBox="1"/>
          <p:nvPr/>
        </p:nvSpPr>
        <p:spPr>
          <a:xfrm>
            <a:off x="777240" y="4818888"/>
            <a:ext cx="2880360" cy="521207"/>
          </a:xfrm>
          <a:prstGeom prst="rect">
            <a:avLst/>
          </a:prstGeom>
          <a:noFill/>
        </p:spPr>
        <p:txBody>
          <a:bodyPr wrap="square">
            <a:spAutoFit/>
          </a:bodyPr>
          <a:lstStyle/>
          <a:p>
            <a:pPr>
              <a:spcAft>
                <a:spcPts val="1100"/>
              </a:spcAft>
              <a:defRPr sz="1900" b="1">
                <a:solidFill>
                  <a:srgbClr val="9D2F44"/>
                </a:solidFill>
                <a:latin typeface="Aptos"/>
              </a:defRPr>
            </a:pPr>
            <a:r>
              <a:t>Lab readiness</a:t>
            </a:r>
          </a:p>
        </p:txBody>
      </p:sp>
      <p:sp>
        <p:nvSpPr>
          <p:cNvPr id="15" name="TextBox 14"/>
          <p:cNvSpPr txBox="1"/>
          <p:nvPr/>
        </p:nvSpPr>
        <p:spPr>
          <a:xfrm>
            <a:off x="3749039" y="4818888"/>
            <a:ext cx="7589520" cy="960120"/>
          </a:xfrm>
          <a:prstGeom prst="rect">
            <a:avLst/>
          </a:prstGeom>
          <a:noFill/>
        </p:spPr>
        <p:txBody>
          <a:bodyPr wrap="square">
            <a:spAutoFit/>
          </a:bodyPr>
          <a:lstStyle/>
          <a:p>
            <a:pPr>
              <a:spcAft>
                <a:spcPts val="1100"/>
              </a:spcAft>
              <a:defRPr sz="1900" b="0">
                <a:solidFill>
                  <a:srgbClr val="1B3448"/>
                </a:solidFill>
                <a:latin typeface="Aptos"/>
              </a:defRPr>
            </a:pPr>
            <a:r>
              <a:t>Can you identify the release time, Xeq, actual sampling rate, and all seven configurations?</a:t>
            </a:r>
          </a:p>
        </p:txBody>
      </p:sp>
      <p:sp>
        <p:nvSpPr>
          <p:cNvPr id="16" name="Rectangle 15"/>
          <p:cNvSpPr/>
          <p:nvPr/>
        </p:nvSpPr>
        <p:spPr>
          <a:xfrm>
            <a:off x="594360" y="5925312"/>
            <a:ext cx="10972800" cy="566928"/>
          </a:xfrm>
          <a:prstGeom prst="rect">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998464"/>
            <a:ext cx="10424160" cy="384048"/>
          </a:xfrm>
          <a:prstGeom prst="rect">
            <a:avLst/>
          </a:prstGeom>
          <a:noFill/>
        </p:spPr>
        <p:txBody>
          <a:bodyPr wrap="square">
            <a:spAutoFit/>
          </a:bodyPr>
          <a:lstStyle/>
          <a:p>
            <a:pPr>
              <a:spcAft>
                <a:spcPts val="1100"/>
              </a:spcAft>
              <a:defRPr sz="1400" b="1">
                <a:solidFill>
                  <a:srgbClr val="9D2F44"/>
                </a:solidFill>
                <a:latin typeface="Aptos"/>
              </a:defRPr>
            </a:pPr>
            <a:r>
              <a:t>Answers: ωn decreases; α decreases. ωn stays fixed; ωd decreases.</a:t>
            </a:r>
          </a:p>
        </p:txBody>
      </p:sp>
      <p:sp>
        <p:nvSpPr>
          <p:cNvPr id="18" name="TextBox 17"/>
          <p:cNvSpPr txBox="1"/>
          <p:nvPr/>
        </p:nvSpPr>
        <p:spPr>
          <a:xfrm>
            <a:off x="11064240" y="6510528"/>
            <a:ext cx="566928" cy="182880"/>
          </a:xfrm>
          <a:prstGeom prst="rect">
            <a:avLst/>
          </a:prstGeom>
          <a:noFill/>
        </p:spPr>
        <p:txBody>
          <a:bodyPr wrap="square">
            <a:spAutoFit/>
          </a:bodyPr>
          <a:lstStyle/>
          <a:p>
            <a:pPr algn="r"/>
            <a:r>
              <a:rPr sz="1000">
                <a:solidFill>
                  <a:srgbClr val="5A666E"/>
                </a:solidFill>
              </a:rPr>
              <a:t>44</a:t>
            </a:r>
          </a:p>
        </p:txBody>
      </p:sp>
      <p:sp>
        <p:nvSpPr>
          <p:cNvPr id="19" name="TextBox 18"/>
          <p:cNvSpPr txBox="1"/>
          <p:nvPr/>
        </p:nvSpPr>
        <p:spPr>
          <a:xfrm>
            <a:off x="566928" y="6528816"/>
            <a:ext cx="3657600" cy="210312"/>
          </a:xfrm>
          <a:prstGeom prst="rect">
            <a:avLst/>
          </a:prstGeom>
          <a:noFill/>
        </p:spPr>
        <p:txBody>
          <a:bodyPr wrap="none" lIns="0" tIns="0">
            <a:spAutoFit/>
          </a:bodyPr>
          <a:lstStyle/>
          <a:p>
            <a:pPr>
              <a:defRPr sz="1000">
                <a:solidFill>
                  <a:srgbClr val="5A666E"/>
                </a:solidFill>
              </a:defRPr>
            </a:pPr>
            <a:r>
              <a:t>49–50 min</a:t>
            </a:r>
          </a:p>
        </p:txBody>
      </p:sp>
    </p:spTree>
  </p:cSld>
  <p:clrMapOvr>
    <a:masterClrMapping/>
  </p:clrMapOvr>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FF62DF-9E46-4BF5-AECC-2859A27217C2}"/>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572A9298-1001-450A-BA90-9BC6395670BA}"/>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Optional teaching detail</a:t>
            </a:r>
          </a:p>
        </p:txBody>
      </p:sp>
      <p:sp>
        <p:nvSpPr>
          <p:cNvPr id="3" name="">
            <a:extLst xmlns:a="http://schemas.openxmlformats.org/drawingml/2006/main">
              <a:ext uri="{FF2B5EF4-FFF2-40B4-BE49-F238E27FC236}">
                <a16:creationId xmlns:a16="http://schemas.microsoft.com/office/drawing/2014/main" id="{05F6F151-C963-4984-8677-ACA5E09F8430}"/>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Appendix: three damping regimes from the same equation</a:t>
            </a:r>
          </a:p>
        </p:txBody>
      </p:sp>
      <p:sp>
        <p:nvSpPr>
          <p:cNvPr id="4" name="">
            <a:extLst xmlns:a="http://schemas.openxmlformats.org/drawingml/2006/main">
              <a:ext uri="{FF2B5EF4-FFF2-40B4-BE49-F238E27FC236}">
                <a16:creationId xmlns:a16="http://schemas.microsoft.com/office/drawing/2014/main" id="{B300FF29-11EC-48D7-AE9E-70CE3FDBBEB7}"/>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BDCEFE-C6A5-4FE1-9774-BBE77FEE77C0}"/>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45</a:t>
            </a:r>
          </a:p>
        </p:txBody>
      </p:sp>
      <p:pic>
        <p:nvPicPr>
          <p:cNvPr id="6" name="">
            <a:extLst xmlns:a="http://schemas.openxmlformats.org/drawingml/2006/main">
              <a:ext uri="{FF2B5EF4-FFF2-40B4-BE49-F238E27FC236}">
                <a16:creationId xmlns:a16="http://schemas.microsoft.com/office/drawing/2014/main" id="{0FDAF707-A9E6-4B44-86A2-38255EF55DD4}"/>
              </a:ext>
            </a:extLst>
          </p:cNvPr>
          <p:cNvPicPr>
            <a:picLocks xmlns:a="http://schemas.openxmlformats.org/drawingml/2006/main" noChangeAspect="1"/>
          </p:cNvPicPr>
          <p:nvPr/>
        </p:nvPicPr>
        <p:blipFill>
          <a:blip xmlns:r="http://schemas.openxmlformats.org/officeDocument/2006/relationships" xmlns:a="http://schemas.openxmlformats.org/drawingml/2006/main" r:embed="R0864e04e9f894918"/>
          <a:stretch xmlns:a="http://schemas.openxmlformats.org/drawingml/2006/main"/>
        </p:blipFill>
        <p:spPr>
          <a:xfrm xmlns:a="http://schemas.openxmlformats.org/drawingml/2006/main">
            <a:off x="1758723" y="1619250"/>
            <a:ext cx="8674554" cy="35718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851A6AF-E278-427A-AABE-7AC019F6C1D8}"/>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91C46986-76A8-41BC-8EB3-E88B799633A5}"/>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The same m and keq produce different responses as c changes. Peak analysis requires underdamped motion.</a:t>
            </a:r>
          </a:p>
        </p:txBody>
      </p:sp>
    </p:spTree>
    <p:extLst>
      <p:ext uri="{BB962C8B-B14F-4D97-AF65-F5344CB8AC3E}">
        <p14:creationId xmlns:p14="http://schemas.microsoft.com/office/powerpoint/2010/main" val="201739461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79A0A7B-FEAA-4EC3-B1C8-D416A38509FC}"/>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1BEF8EFB-4DFE-4DA6-8E31-45FA21CBB619}"/>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Worked calculation</a:t>
            </a:r>
          </a:p>
        </p:txBody>
      </p:sp>
      <p:sp>
        <p:nvSpPr>
          <p:cNvPr id="3" name="">
            <a:extLst xmlns:a="http://schemas.openxmlformats.org/drawingml/2006/main">
              <a:ext uri="{FF2B5EF4-FFF2-40B4-BE49-F238E27FC236}">
                <a16:creationId xmlns:a16="http://schemas.microsoft.com/office/drawing/2014/main" id="{F8E35BC4-EB29-4606-9577-44D7B034AAE0}"/>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Appendix: a worked peak-measurement example</a:t>
            </a:r>
          </a:p>
        </p:txBody>
      </p:sp>
      <p:sp>
        <p:nvSpPr>
          <p:cNvPr id="4" name="">
            <a:extLst xmlns:a="http://schemas.openxmlformats.org/drawingml/2006/main">
              <a:ext uri="{FF2B5EF4-FFF2-40B4-BE49-F238E27FC236}">
                <a16:creationId xmlns:a16="http://schemas.microsoft.com/office/drawing/2014/main" id="{DAF4D4EE-A364-43D5-A812-B7016FA29B8B}"/>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8A4953-9133-41A8-BC98-533251D5AC77}"/>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46</a:t>
            </a:r>
          </a:p>
        </p:txBody>
      </p:sp>
      <p:pic>
        <p:nvPicPr>
          <p:cNvPr id="6" name="">
            <a:extLst xmlns:a="http://schemas.openxmlformats.org/drawingml/2006/main">
              <a:ext uri="{FF2B5EF4-FFF2-40B4-BE49-F238E27FC236}">
                <a16:creationId xmlns:a16="http://schemas.microsoft.com/office/drawing/2014/main" id="{12AD3786-C54E-44D3-A687-2ACF7BA9EC8A}"/>
              </a:ext>
            </a:extLst>
          </p:cNvPr>
          <p:cNvPicPr>
            <a:picLocks xmlns:a="http://schemas.openxmlformats.org/drawingml/2006/main" noChangeAspect="1"/>
          </p:cNvPicPr>
          <p:nvPr/>
        </p:nvPicPr>
        <p:blipFill>
          <a:blip xmlns:r="http://schemas.openxmlformats.org/officeDocument/2006/relationships" xmlns:a="http://schemas.openxmlformats.org/drawingml/2006/main" r:embed="R4454bc8541544d5e"/>
          <a:stretch xmlns:a="http://schemas.openxmlformats.org/drawingml/2006/main"/>
        </p:blipFill>
        <p:spPr>
          <a:xfrm xmlns:a="http://schemas.openxmlformats.org/drawingml/2006/main">
            <a:off x="666750" y="1666875"/>
            <a:ext cx="7490460" cy="33909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635F2086-BA0D-44EA-8E80-213E6D97EB36}"/>
              </a:ext>
            </a:extLst>
          </p:cNvPr>
          <p:cNvPicPr>
            <a:picLocks xmlns:a="http://schemas.openxmlformats.org/drawingml/2006/main" noChangeAspect="1"/>
          </p:cNvPicPr>
          <p:nvPr/>
        </p:nvPicPr>
        <p:blipFill>
          <a:blip xmlns:r="http://schemas.openxmlformats.org/officeDocument/2006/relationships" xmlns:a="http://schemas.openxmlformats.org/drawingml/2006/main" r:embed="Rce2a010a29214e85"/>
          <a:stretch xmlns:a="http://schemas.openxmlformats.org/drawingml/2006/main"/>
        </p:blipFill>
        <p:spPr>
          <a:xfrm xmlns:a="http://schemas.openxmlformats.org/drawingml/2006/main">
            <a:off x="2143125" y="2857500"/>
            <a:ext cx="4843177" cy="43234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D935611-7883-47ED-96F6-A86322CDC6F2}"/>
              </a:ext>
            </a:extLst>
          </p:cNvPr>
          <p:cNvPicPr>
            <a:picLocks xmlns:a="http://schemas.openxmlformats.org/drawingml/2006/main" noChangeAspect="1"/>
          </p:cNvPicPr>
          <p:nvPr/>
        </p:nvPicPr>
        <p:blipFill>
          <a:blip xmlns:r="http://schemas.openxmlformats.org/officeDocument/2006/relationships" xmlns:a="http://schemas.openxmlformats.org/drawingml/2006/main" r:embed="Ra8cd481afa1e4f3d"/>
          <a:stretch xmlns:a="http://schemas.openxmlformats.org/drawingml/2006/main"/>
        </p:blipFill>
        <p:spPr>
          <a:xfrm xmlns:a="http://schemas.openxmlformats.org/drawingml/2006/main">
            <a:off x="2143125" y="3905250"/>
            <a:ext cx="5066633" cy="500348"/>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F0C079B1-1BDB-418B-BAFD-C8EFCECD20B8}"/>
              </a:ext>
            </a:extLst>
          </p:cNvPr>
          <p:cNvPicPr>
            <a:picLocks xmlns:a="http://schemas.openxmlformats.org/drawingml/2006/main" noChangeAspect="1"/>
          </p:cNvPicPr>
          <p:nvPr/>
        </p:nvPicPr>
        <p:blipFill>
          <a:blip xmlns:r="http://schemas.openxmlformats.org/officeDocument/2006/relationships" xmlns:a="http://schemas.openxmlformats.org/drawingml/2006/main" r:embed="Rcad51a9672e049d4"/>
          <a:stretch xmlns:a="http://schemas.openxmlformats.org/drawingml/2006/main"/>
        </p:blipFill>
        <p:spPr>
          <a:xfrm xmlns:a="http://schemas.openxmlformats.org/drawingml/2006/main">
            <a:off x="1047750" y="4953000"/>
            <a:ext cx="7271385" cy="372999"/>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EBFD3B3-76E4-4198-8573-24B023D3F4DB}"/>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E0238469-715C-48C0-83CD-97D78343DE94}"/>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The observed and undamped frequencies are nearly equal here because damping is light.</a:t>
            </a:r>
          </a:p>
        </p:txBody>
      </p:sp>
    </p:spTree>
    <p:extLst>
      <p:ext uri="{BB962C8B-B14F-4D97-AF65-F5344CB8AC3E}">
        <p14:creationId xmlns:p14="http://schemas.microsoft.com/office/powerpoint/2010/main" val="2347156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30AE39-B995-4173-918A-7F2821878E36}"/>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04A7A3C7-4444-4A29-A6A2-7772C16675F5}"/>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Solution details</a:t>
            </a:r>
          </a:p>
        </p:txBody>
      </p:sp>
      <p:sp>
        <p:nvSpPr>
          <p:cNvPr id="3" name="">
            <a:extLst xmlns:a="http://schemas.openxmlformats.org/drawingml/2006/main">
              <a:ext uri="{FF2B5EF4-FFF2-40B4-BE49-F238E27FC236}">
                <a16:creationId xmlns:a16="http://schemas.microsoft.com/office/drawing/2014/main" id="{92582157-4228-48CF-ADB3-715868221AD3}"/>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Appendix: initial conditions determine the constants</a:t>
            </a:r>
          </a:p>
        </p:txBody>
      </p:sp>
      <p:sp>
        <p:nvSpPr>
          <p:cNvPr id="4" name="">
            <a:extLst xmlns:a="http://schemas.openxmlformats.org/drawingml/2006/main">
              <a:ext uri="{FF2B5EF4-FFF2-40B4-BE49-F238E27FC236}">
                <a16:creationId xmlns:a16="http://schemas.microsoft.com/office/drawing/2014/main" id="{A036A5CC-8108-4A9C-916B-4ED7B9669042}"/>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BE9BEB6-06BC-440B-B7DB-FA741A65C628}"/>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47</a:t>
            </a:r>
          </a:p>
        </p:txBody>
      </p:sp>
      <p:pic>
        <p:nvPicPr>
          <p:cNvPr id="6" name="">
            <a:extLst xmlns:a="http://schemas.openxmlformats.org/drawingml/2006/main">
              <a:ext uri="{FF2B5EF4-FFF2-40B4-BE49-F238E27FC236}">
                <a16:creationId xmlns:a16="http://schemas.microsoft.com/office/drawing/2014/main" id="{67A0AE79-9954-4C7E-90AA-66C3AD06DB42}"/>
              </a:ext>
            </a:extLst>
          </p:cNvPr>
          <p:cNvPicPr>
            <a:picLocks xmlns:a="http://schemas.openxmlformats.org/drawingml/2006/main" noChangeAspect="1"/>
          </p:cNvPicPr>
          <p:nvPr/>
        </p:nvPicPr>
        <p:blipFill>
          <a:blip xmlns:r="http://schemas.openxmlformats.org/officeDocument/2006/relationships" xmlns:a="http://schemas.openxmlformats.org/drawingml/2006/main" r:embed="R325a3f582b204f78"/>
          <a:stretch xmlns:a="http://schemas.openxmlformats.org/drawingml/2006/main"/>
        </p:blipFill>
        <p:spPr>
          <a:xfrm xmlns:a="http://schemas.openxmlformats.org/drawingml/2006/main">
            <a:off x="1762125" y="1714500"/>
            <a:ext cx="5780723" cy="43234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41C6AB8A-9E3B-4BCF-B47B-9BFB2E227B3A}"/>
              </a:ext>
            </a:extLst>
          </p:cNvPr>
          <p:cNvPicPr>
            <a:picLocks xmlns:a="http://schemas.openxmlformats.org/drawingml/2006/main" noChangeAspect="1"/>
          </p:cNvPicPr>
          <p:nvPr/>
        </p:nvPicPr>
        <p:blipFill>
          <a:blip xmlns:r="http://schemas.openxmlformats.org/officeDocument/2006/relationships" xmlns:a="http://schemas.openxmlformats.org/drawingml/2006/main" r:embed="Rd111001bd0b84a53"/>
          <a:stretch xmlns:a="http://schemas.openxmlformats.org/drawingml/2006/main"/>
        </p:blipFill>
        <p:spPr>
          <a:xfrm xmlns:a="http://schemas.openxmlformats.org/drawingml/2006/main">
            <a:off x="2762250" y="3048000"/>
            <a:ext cx="3570446" cy="524637"/>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EC1BCD28-7689-4018-85EE-FC1DA4CD0EB9}"/>
              </a:ext>
            </a:extLst>
          </p:cNvPr>
          <p:cNvPicPr>
            <a:picLocks xmlns:a="http://schemas.openxmlformats.org/drawingml/2006/main" noChangeAspect="1"/>
          </p:cNvPicPr>
          <p:nvPr/>
        </p:nvPicPr>
        <p:blipFill>
          <a:blip xmlns:r="http://schemas.openxmlformats.org/officeDocument/2006/relationships" xmlns:a="http://schemas.openxmlformats.org/drawingml/2006/main" r:embed="R42e1e70791fd465a"/>
          <a:stretch xmlns:a="http://schemas.openxmlformats.org/drawingml/2006/main"/>
        </p:blipFill>
        <p:spPr>
          <a:xfrm xmlns:a="http://schemas.openxmlformats.org/drawingml/2006/main">
            <a:off x="666750" y="4381500"/>
            <a:ext cx="5070539" cy="442341"/>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5E093DE-C4E8-444C-B6E1-87AFCB26F3E9}"/>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1BCDF579-6ADB-4A70-B577-D0865C4AC9F5}"/>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A release from rest means v0 = 0. It does not generally mean the sine coefficient is zero.</a:t>
            </a:r>
          </a:p>
        </p:txBody>
      </p:sp>
    </p:spTree>
    <p:extLst>
      <p:ext uri="{BB962C8B-B14F-4D97-AF65-F5344CB8AC3E}">
        <p14:creationId xmlns:p14="http://schemas.microsoft.com/office/powerpoint/2010/main" val="696880033"/>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06D6462-56AF-4161-A113-D308E97C0CAD}"/>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19D74AF1-1DA3-4116-BE83-05CDED553105}"/>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Calibration limits</a:t>
            </a:r>
          </a:p>
        </p:txBody>
      </p:sp>
      <p:sp>
        <p:nvSpPr>
          <p:cNvPr id="3" name="">
            <a:extLst xmlns:a="http://schemas.openxmlformats.org/drawingml/2006/main">
              <a:ext uri="{FF2B5EF4-FFF2-40B4-BE49-F238E27FC236}">
                <a16:creationId xmlns:a16="http://schemas.microsoft.com/office/drawing/2014/main" id="{AEC038EA-DCB3-45BE-8E38-0E17FD241A66}"/>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Appendix: exact spring correction and model limits</a:t>
            </a:r>
          </a:p>
        </p:txBody>
      </p:sp>
      <p:sp>
        <p:nvSpPr>
          <p:cNvPr id="4" name="">
            <a:extLst xmlns:a="http://schemas.openxmlformats.org/drawingml/2006/main">
              <a:ext uri="{FF2B5EF4-FFF2-40B4-BE49-F238E27FC236}">
                <a16:creationId xmlns:a16="http://schemas.microsoft.com/office/drawing/2014/main" id="{F086D282-D6BF-463F-8A83-B537B0CD771E}"/>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ACE99A6-BC39-41D0-A931-868FF7CDF0E8}"/>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48</a:t>
            </a:r>
          </a:p>
        </p:txBody>
      </p:sp>
      <p:pic>
        <p:nvPicPr>
          <p:cNvPr id="6" name="">
            <a:extLst xmlns:a="http://schemas.openxmlformats.org/drawingml/2006/main">
              <a:ext uri="{FF2B5EF4-FFF2-40B4-BE49-F238E27FC236}">
                <a16:creationId xmlns:a16="http://schemas.microsoft.com/office/drawing/2014/main" id="{201A0FC5-280C-4EE3-9842-916EFF3FC3EF}"/>
              </a:ext>
            </a:extLst>
          </p:cNvPr>
          <p:cNvPicPr>
            <a:picLocks xmlns:a="http://schemas.openxmlformats.org/drawingml/2006/main" noChangeAspect="1"/>
          </p:cNvPicPr>
          <p:nvPr/>
        </p:nvPicPr>
        <p:blipFill>
          <a:blip xmlns:r="http://schemas.openxmlformats.org/officeDocument/2006/relationships" xmlns:a="http://schemas.openxmlformats.org/drawingml/2006/main" r:embed="R1ea7fca78a584179"/>
          <a:stretch xmlns:a="http://schemas.openxmlformats.org/drawingml/2006/main"/>
        </p:blipFill>
        <p:spPr>
          <a:xfrm xmlns:a="http://schemas.openxmlformats.org/drawingml/2006/main">
            <a:off x="2000250" y="1762125"/>
            <a:ext cx="2885504" cy="796671"/>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BA97CBC-043D-47B1-A74F-B4C599178925}"/>
              </a:ext>
            </a:extLst>
          </p:cNvPr>
          <p:cNvSpPr>
            <a:spLocks xmlns:a="http://schemas.openxmlformats.org/drawingml/2006/main" noGrp="1"/>
          </p:cNvSpPr>
          <p:nvPr/>
        </p:nvSpPr>
        <p:spPr>
          <a:xfrm xmlns:a="http://schemas.openxmlformats.org/drawingml/2006/main">
            <a:off x="809625" y="32385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Ignoring ζs is reasonable only when the hanging calibration motion has light damping.</a:t>
            </a:r>
          </a:p>
        </p:txBody>
      </p:sp>
      <p:sp>
        <p:nvSpPr>
          <p:cNvPr id="8" name="">
            <a:extLst xmlns:a="http://schemas.openxmlformats.org/drawingml/2006/main">
              <a:ext uri="{FF2B5EF4-FFF2-40B4-BE49-F238E27FC236}">
                <a16:creationId xmlns:a16="http://schemas.microsoft.com/office/drawing/2014/main" id="{11AEE314-329F-4C85-A926-934652283189}"/>
              </a:ext>
            </a:extLst>
          </p:cNvPr>
          <p:cNvSpPr>
            <a:spLocks xmlns:a="http://schemas.openxmlformats.org/drawingml/2006/main" noGrp="1"/>
          </p:cNvSpPr>
          <p:nvPr/>
        </p:nvSpPr>
        <p:spPr>
          <a:xfrm xmlns:a="http://schemas.openxmlformats.org/drawingml/2006/main">
            <a:off x="809625" y="404812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A heavy spring adds distributed moving mass. Include a justified effective-mass correction if needed.</a:t>
            </a:r>
          </a:p>
        </p:txBody>
      </p:sp>
      <p:sp>
        <p:nvSpPr>
          <p:cNvPr id="9" name="">
            <a:extLst xmlns:a="http://schemas.openxmlformats.org/drawingml/2006/main">
              <a:ext uri="{FF2B5EF4-FFF2-40B4-BE49-F238E27FC236}">
                <a16:creationId xmlns:a16="http://schemas.microsoft.com/office/drawing/2014/main" id="{98DFC8E3-F465-4D71-8566-32E52159B3E8}"/>
              </a:ext>
            </a:extLst>
          </p:cNvPr>
          <p:cNvSpPr>
            <a:spLocks xmlns:a="http://schemas.openxmlformats.org/drawingml/2006/main" noGrp="1"/>
          </p:cNvSpPr>
          <p:nvPr/>
        </p:nvSpPr>
        <p:spPr>
          <a:xfrm xmlns:a="http://schemas.openxmlformats.org/drawingml/2006/main">
            <a:off x="809625" y="48577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800" b="0">
                <a:solidFill>
                  <a:srgbClr val="142D42"/>
                </a:solidFill>
              </a:defRPr>
            </a:defPPr>
            <a:lvl1pPr algn="l">
              <a:defRPr sz="1800" b="0">
                <a:solidFill>
                  <a:srgbClr val="142D42"/>
                </a:solidFill>
              </a:defRPr>
            </a:lvl1pPr>
            <a:lvl2pPr algn="l">
              <a:defRPr sz="1800" b="0">
                <a:solidFill>
                  <a:srgbClr val="142D42"/>
                </a:solidFill>
              </a:defRPr>
            </a:lvl2pPr>
            <a:lvl3pPr algn="l">
              <a:defRPr sz="1800" b="0">
                <a:solidFill>
                  <a:srgbClr val="142D42"/>
                </a:solidFill>
              </a:defRPr>
            </a:lvl3pPr>
            <a:lvl4pPr algn="l">
              <a:defRPr sz="1800" b="0">
                <a:solidFill>
                  <a:srgbClr val="142D42"/>
                </a:solidFill>
              </a:defRPr>
            </a:lvl4pPr>
            <a:lvl5pPr algn="l">
              <a:defRPr sz="1800" b="0">
                <a:solidFill>
                  <a:srgbClr val="142D42"/>
                </a:solidFill>
              </a:defRPr>
            </a:lvl5pPr>
            <a:lvl6pPr algn="l">
              <a:defRPr sz="1800" b="0">
                <a:solidFill>
                  <a:srgbClr val="142D42"/>
                </a:solidFill>
              </a:defRPr>
            </a:lvl6pPr>
            <a:lvl7pPr algn="l">
              <a:defRPr sz="1800" b="0">
                <a:solidFill>
                  <a:srgbClr val="142D42"/>
                </a:solidFill>
              </a:defRPr>
            </a:lvl7pPr>
            <a:lvl8pPr algn="l">
              <a:defRPr sz="1800" b="0">
                <a:solidFill>
                  <a:srgbClr val="142D42"/>
                </a:solidFill>
              </a:defRPr>
            </a:lvl8pPr>
            <a:lvl9pPr algn="l">
              <a:defRPr sz="1800" b="0">
                <a:solidFill>
                  <a:srgbClr val="142D42"/>
                </a:solidFill>
              </a:defRPr>
            </a:lvl9pPr>
          </a:lstStyle>
          <a:p xmlns:a="http://schemas.openxmlformats.org/drawingml/2006/main">
            <a:pPr algn="l">
              <a:defRPr sz="1800" b="0">
                <a:solidFill>
                  <a:srgbClr val="142D42"/>
                </a:solidFill>
              </a:defRPr>
            </a:pPr>
            <a:r>
              <a:rPr sz="1800" b="0">
                <a:solidFill>
                  <a:srgbClr val="142D42"/>
                </a:solidFill>
              </a:rPr>
              <a:t>A spring going slack or rubbing invalidates the simple linear model.</a:t>
            </a:r>
          </a:p>
        </p:txBody>
      </p:sp>
      <p:sp>
        <p:nvSpPr>
          <p:cNvPr id="10" name="">
            <a:extLst xmlns:a="http://schemas.openxmlformats.org/drawingml/2006/main">
              <a:ext uri="{FF2B5EF4-FFF2-40B4-BE49-F238E27FC236}">
                <a16:creationId xmlns:a16="http://schemas.microsoft.com/office/drawing/2014/main" id="{9DE99805-CA63-418C-9EF4-5C3C47F15589}"/>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F704E353-FC69-4A45-B9FA-0A06D4DE85CA}"/>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The nominal spring constant is a reference. The laboratory measures each spring separately.</a:t>
            </a:r>
          </a:p>
        </p:txBody>
      </p:sp>
    </p:spTree>
    <p:extLst>
      <p:ext uri="{BB962C8B-B14F-4D97-AF65-F5344CB8AC3E}">
        <p14:creationId xmlns:p14="http://schemas.microsoft.com/office/powerpoint/2010/main" val="146980044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A2D3CB1-76A5-4CD5-97D5-4F6BA0E47B10}"/>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1446F3DF-9211-4CD6-92A8-F0622E2E1A27}"/>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Measurement 3: damping ratio</a:t>
            </a:r>
          </a:p>
        </p:txBody>
      </p:sp>
      <p:sp>
        <p:nvSpPr>
          <p:cNvPr id="3" name="">
            <a:extLst xmlns:a="http://schemas.openxmlformats.org/drawingml/2006/main">
              <a:ext uri="{FF2B5EF4-FFF2-40B4-BE49-F238E27FC236}">
                <a16:creationId xmlns:a16="http://schemas.microsoft.com/office/drawing/2014/main" id="{796388B7-601E-4073-807D-7318CAB218D9}"/>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The damping ratio follows from δ and the period</a:t>
            </a:r>
          </a:p>
        </p:txBody>
      </p:sp>
      <p:sp>
        <p:nvSpPr>
          <p:cNvPr id="4" name="">
            <a:extLst xmlns:a="http://schemas.openxmlformats.org/drawingml/2006/main">
              <a:ext uri="{FF2B5EF4-FFF2-40B4-BE49-F238E27FC236}">
                <a16:creationId xmlns:a16="http://schemas.microsoft.com/office/drawing/2014/main" id="{ED592A10-6030-4F88-803D-401870E580E1}"/>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F217499-5A05-42C1-B3F3-94099F9D3554}"/>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26</a:t>
            </a:r>
          </a:p>
        </p:txBody>
      </p:sp>
      <p:sp>
        <p:nvSpPr>
          <p:cNvPr id="6" name="">
            <a:extLst xmlns:a="http://schemas.openxmlformats.org/drawingml/2006/main">
              <a:ext uri="{FF2B5EF4-FFF2-40B4-BE49-F238E27FC236}">
                <a16:creationId xmlns:a16="http://schemas.microsoft.com/office/drawing/2014/main" id="{90EBF7AE-75BD-4E39-A58C-C54928083706}"/>
              </a:ext>
            </a:extLst>
          </p:cNvPr>
          <p:cNvSpPr>
            <a:spLocks xmlns:a="http://schemas.openxmlformats.org/drawingml/2006/main" noGrp="1"/>
          </p:cNvSpPr>
          <p:nvPr/>
        </p:nvSpPr>
        <p:spPr>
          <a:xfrm xmlns:a="http://schemas.openxmlformats.org/drawingml/2006/main">
            <a:off x="521207" y="6534150"/>
            <a:ext cx="3657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975" b="0">
                <a:solidFill>
                  <a:srgbClr val="536575"/>
                </a:solidFill>
              </a:defRPr>
            </a:defPPr>
            <a:lvl1pPr algn="l">
              <a:defRPr sz="975" b="0">
                <a:solidFill>
                  <a:srgbClr val="536575"/>
                </a:solidFill>
              </a:defRPr>
            </a:lvl1pPr>
            <a:lvl2pPr algn="l">
              <a:defRPr sz="975" b="0">
                <a:solidFill>
                  <a:srgbClr val="536575"/>
                </a:solidFill>
              </a:defRPr>
            </a:lvl2pPr>
            <a:lvl3pPr algn="l">
              <a:defRPr sz="975" b="0">
                <a:solidFill>
                  <a:srgbClr val="536575"/>
                </a:solidFill>
              </a:defRPr>
            </a:lvl3pPr>
            <a:lvl4pPr algn="l">
              <a:defRPr sz="975" b="0">
                <a:solidFill>
                  <a:srgbClr val="536575"/>
                </a:solidFill>
              </a:defRPr>
            </a:lvl4pPr>
            <a:lvl5pPr algn="l">
              <a:defRPr sz="975" b="0">
                <a:solidFill>
                  <a:srgbClr val="536575"/>
                </a:solidFill>
              </a:defRPr>
            </a:lvl5pPr>
            <a:lvl6pPr algn="l">
              <a:defRPr sz="975" b="0">
                <a:solidFill>
                  <a:srgbClr val="536575"/>
                </a:solidFill>
              </a:defRPr>
            </a:lvl6pPr>
            <a:lvl7pPr algn="l">
              <a:defRPr sz="975" b="0">
                <a:solidFill>
                  <a:srgbClr val="536575"/>
                </a:solidFill>
              </a:defRPr>
            </a:lvl7pPr>
            <a:lvl8pPr algn="l">
              <a:defRPr sz="975" b="0">
                <a:solidFill>
                  <a:srgbClr val="536575"/>
                </a:solidFill>
              </a:defRPr>
            </a:lvl8pPr>
            <a:lvl9pPr algn="l">
              <a:defRPr sz="975" b="0">
                <a:solidFill>
                  <a:srgbClr val="536575"/>
                </a:solidFill>
              </a:defRPr>
            </a:lvl9pPr>
          </a:lstStyle>
          <a:p xmlns:a="http://schemas.openxmlformats.org/drawingml/2006/main">
            <a:r>
              <a:rPr sz="1000">
                <a:solidFill>
                  <a:srgbClr val="5A666E"/>
                </a:solidFill>
              </a:rPr>
              <a:t>30–32 min</a:t>
            </a:r>
          </a:p>
        </p:txBody>
      </p:sp>
      <p:pic>
        <p:nvPicPr>
          <p:cNvPr id="7" name="">
            <a:extLst xmlns:a="http://schemas.openxmlformats.org/drawingml/2006/main">
              <a:ext uri="{FF2B5EF4-FFF2-40B4-BE49-F238E27FC236}">
                <a16:creationId xmlns:a16="http://schemas.microsoft.com/office/drawing/2014/main" id="{47680A76-14BA-4C8B-B115-BEEA7053EAA8}"/>
              </a:ext>
            </a:extLst>
          </p:cNvPr>
          <p:cNvPicPr>
            <a:picLocks xmlns:a="http://schemas.openxmlformats.org/drawingml/2006/main" noChangeAspect="1"/>
          </p:cNvPicPr>
          <p:nvPr/>
        </p:nvPicPr>
        <p:blipFill>
          <a:blip xmlns:r="http://schemas.openxmlformats.org/officeDocument/2006/relationships" xmlns:a="http://schemas.openxmlformats.org/drawingml/2006/main" r:embed="Rc623863aa5274e69"/>
          <a:stretch xmlns:a="http://schemas.openxmlformats.org/drawingml/2006/main"/>
        </p:blipFill>
        <p:spPr>
          <a:xfrm xmlns:a="http://schemas.openxmlformats.org/drawingml/2006/main">
            <a:off x="2714625" y="1619250"/>
            <a:ext cx="2788349" cy="519779"/>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3ADB641-9E23-4EF9-922C-2A10B019198D}"/>
              </a:ext>
            </a:extLst>
          </p:cNvPr>
          <p:cNvPicPr>
            <a:picLocks xmlns:a="http://schemas.openxmlformats.org/drawingml/2006/main" noChangeAspect="1"/>
          </p:cNvPicPr>
          <p:nvPr/>
        </p:nvPicPr>
        <p:blipFill>
          <a:blip xmlns:r="http://schemas.openxmlformats.org/officeDocument/2006/relationships" xmlns:a="http://schemas.openxmlformats.org/drawingml/2006/main" r:embed="R73ba43b25cf24ffb"/>
          <a:stretch xmlns:a="http://schemas.openxmlformats.org/drawingml/2006/main"/>
        </p:blipFill>
        <p:spPr>
          <a:xfrm xmlns:a="http://schemas.openxmlformats.org/drawingml/2006/main">
            <a:off x="3952875" y="2809875"/>
            <a:ext cx="1641920" cy="743236"/>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98F579A5-9CFD-44DD-8857-E3EDF40E8490}"/>
              </a:ext>
            </a:extLst>
          </p:cNvPr>
          <p:cNvPicPr>
            <a:picLocks xmlns:a="http://schemas.openxmlformats.org/drawingml/2006/main" noChangeAspect="1"/>
          </p:cNvPicPr>
          <p:nvPr/>
        </p:nvPicPr>
        <p:blipFill>
          <a:blip xmlns:r="http://schemas.openxmlformats.org/officeDocument/2006/relationships" xmlns:a="http://schemas.openxmlformats.org/drawingml/2006/main" r:embed="R86a5cd2fabcb4cea"/>
          <a:stretch xmlns:a="http://schemas.openxmlformats.org/drawingml/2006/main"/>
        </p:blipFill>
        <p:spPr>
          <a:xfrm xmlns:a="http://schemas.openxmlformats.org/drawingml/2006/main">
            <a:off x="3238500" y="3905250"/>
            <a:ext cx="2963228" cy="480917"/>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D1FE09A8-7BAA-4D1E-857E-723440D8F698}"/>
              </a:ext>
            </a:extLst>
          </p:cNvPr>
          <p:cNvPicPr>
            <a:picLocks xmlns:a="http://schemas.openxmlformats.org/drawingml/2006/main" noChangeAspect="1"/>
          </p:cNvPicPr>
          <p:nvPr/>
        </p:nvPicPr>
        <p:blipFill>
          <a:blip xmlns:r="http://schemas.openxmlformats.org/officeDocument/2006/relationships" xmlns:a="http://schemas.openxmlformats.org/drawingml/2006/main" r:embed="R3f2cac4e70a1421c"/>
          <a:stretch xmlns:a="http://schemas.openxmlformats.org/drawingml/2006/main"/>
        </p:blipFill>
        <p:spPr>
          <a:xfrm xmlns:a="http://schemas.openxmlformats.org/drawingml/2006/main">
            <a:off x="3762375" y="4953000"/>
            <a:ext cx="1928527" cy="655796"/>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CD0E6ED-28EF-4098-B3F1-CF9386A32F36}"/>
              </a:ext>
            </a:extLst>
          </p:cNvPr>
          <p:cNvSpPr>
            <a:spLocks xmlns:a="http://schemas.openxmlformats.org/drawingml/2006/main" noGrp="1"/>
          </p:cNvSpPr>
          <p:nvPr/>
        </p:nvSpPr>
        <p:spPr>
          <a:xfrm xmlns:a="http://schemas.openxmlformats.org/drawingml/2006/main">
            <a:off x="523875" y="5924550"/>
            <a:ext cx="11144250" cy="504825"/>
          </a:xfrm>
          <a:prstGeom xmlns:a="http://schemas.openxmlformats.org/drawingml/2006/main" prst="rect">
            <a:avLst/>
          </a:prstGeom>
          <a:solidFill xmlns:a="http://schemas.openxmlformats.org/drawingml/2006/main">
            <a:srgbClr val="F3F6F8"/>
          </a:solidFill>
          <a:ln xmlns:a="http://schemas.openxmlformats.org/drawingml/2006/main" w="0">
            <a:no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1B731AD0-EA0D-4A7A-8E6F-2C2249DF3CB8}"/>
              </a:ext>
            </a:extLst>
          </p:cNvPr>
          <p:cNvSpPr>
            <a:spLocks xmlns:a="http://schemas.openxmlformats.org/drawingml/2006/main" noGrp="1"/>
          </p:cNvSpPr>
          <p:nvPr/>
        </p:nvSpPr>
        <p:spPr>
          <a:xfrm xmlns:a="http://schemas.openxmlformats.org/drawingml/2006/main">
            <a:off x="723900" y="599122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00" b="1">
                <a:solidFill>
                  <a:srgbClr val="A82C3C"/>
                </a:solidFill>
              </a:defRPr>
            </a:defPPr>
            <a:lvl1pPr algn="l">
              <a:defRPr sz="1500" b="1">
                <a:solidFill>
                  <a:srgbClr val="A82C3C"/>
                </a:solidFill>
              </a:defRPr>
            </a:lvl1pPr>
            <a:lvl2pPr algn="l">
              <a:defRPr sz="1500" b="1">
                <a:solidFill>
                  <a:srgbClr val="A82C3C"/>
                </a:solidFill>
              </a:defRPr>
            </a:lvl2pPr>
            <a:lvl3pPr algn="l">
              <a:defRPr sz="1500" b="1">
                <a:solidFill>
                  <a:srgbClr val="A82C3C"/>
                </a:solidFill>
              </a:defRPr>
            </a:lvl3pPr>
            <a:lvl4pPr algn="l">
              <a:defRPr sz="1500" b="1">
                <a:solidFill>
                  <a:srgbClr val="A82C3C"/>
                </a:solidFill>
              </a:defRPr>
            </a:lvl4pPr>
            <a:lvl5pPr algn="l">
              <a:defRPr sz="1500" b="1">
                <a:solidFill>
                  <a:srgbClr val="A82C3C"/>
                </a:solidFill>
              </a:defRPr>
            </a:lvl5pPr>
            <a:lvl6pPr algn="l">
              <a:defRPr sz="1500" b="1">
                <a:solidFill>
                  <a:srgbClr val="A82C3C"/>
                </a:solidFill>
              </a:defRPr>
            </a:lvl6pPr>
            <a:lvl7pPr algn="l">
              <a:defRPr sz="1500" b="1">
                <a:solidFill>
                  <a:srgbClr val="A82C3C"/>
                </a:solidFill>
              </a:defRPr>
            </a:lvl7pPr>
            <a:lvl8pPr algn="l">
              <a:defRPr sz="1500" b="1">
                <a:solidFill>
                  <a:srgbClr val="A82C3C"/>
                </a:solidFill>
              </a:defRPr>
            </a:lvl8pPr>
            <a:lvl9pPr algn="l">
              <a:defRPr sz="1500" b="1">
                <a:solidFill>
                  <a:srgbClr val="A82C3C"/>
                </a:solidFill>
              </a:defRPr>
            </a:lvl9pPr>
          </a:lstStyle>
          <a:p xmlns:a="http://schemas.openxmlformats.org/drawingml/2006/main">
            <a:pPr algn="l">
              <a:defRPr sz="1500" b="1">
                <a:solidFill>
                  <a:srgbClr val="A82C3C"/>
                </a:solidFill>
              </a:defRPr>
            </a:pPr>
            <a:r>
              <a:rPr sz="1500" b="1">
                <a:solidFill>
                  <a:srgbClr val="A82C3C"/>
                </a:solidFill>
              </a:rPr>
              <a:t>The final expression is an algebraic rearrangement of the envelope decay relation.</a:t>
            </a:r>
          </a:p>
        </p:txBody>
      </p:sp>
    </p:spTree>
    <p:extLst>
      <p:ext uri="{BB962C8B-B14F-4D97-AF65-F5344CB8AC3E}">
        <p14:creationId xmlns:p14="http://schemas.microsoft.com/office/powerpoint/2010/main" val="95024943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FDBC3D-02DA-450A-A713-BB09190F69F9}"/>
              </a:ext>
            </a:extLst>
          </p:cNvPr>
          <p:cNvSpPr>
            <a:spLocks xmlns:a="http://schemas.openxmlformats.org/drawingml/2006/main" noGrp="1"/>
          </p:cNvSpPr>
          <p:nvPr/>
        </p:nvSpPr>
        <p:spPr>
          <a:xfrm xmlns:a="http://schemas.openxmlformats.org/drawingml/2006/main">
            <a:off x="523875" y="2000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200" b="1">
                <a:solidFill>
                  <a:srgbClr val="A82C3C"/>
                </a:solidFill>
              </a:defRPr>
            </a:defPPr>
            <a:lvl1pPr algn="l">
              <a:defRPr sz="1200" b="1">
                <a:solidFill>
                  <a:srgbClr val="A82C3C"/>
                </a:solidFill>
              </a:defRPr>
            </a:lvl1pPr>
            <a:lvl2pPr algn="l">
              <a:defRPr sz="1200" b="1">
                <a:solidFill>
                  <a:srgbClr val="A82C3C"/>
                </a:solidFill>
              </a:defRPr>
            </a:lvl2pPr>
            <a:lvl3pPr algn="l">
              <a:defRPr sz="1200" b="1">
                <a:solidFill>
                  <a:srgbClr val="A82C3C"/>
                </a:solidFill>
              </a:defRPr>
            </a:lvl3pPr>
            <a:lvl4pPr algn="l">
              <a:defRPr sz="1200" b="1">
                <a:solidFill>
                  <a:srgbClr val="A82C3C"/>
                </a:solidFill>
              </a:defRPr>
            </a:lvl4pPr>
            <a:lvl5pPr algn="l">
              <a:defRPr sz="1200" b="1">
                <a:solidFill>
                  <a:srgbClr val="A82C3C"/>
                </a:solidFill>
              </a:defRPr>
            </a:lvl5pPr>
            <a:lvl6pPr algn="l">
              <a:defRPr sz="1200" b="1">
                <a:solidFill>
                  <a:srgbClr val="A82C3C"/>
                </a:solidFill>
              </a:defRPr>
            </a:lvl6pPr>
            <a:lvl7pPr algn="l">
              <a:defRPr sz="1200" b="1">
                <a:solidFill>
                  <a:srgbClr val="A82C3C"/>
                </a:solidFill>
              </a:defRPr>
            </a:lvl7pPr>
            <a:lvl8pPr algn="l">
              <a:defRPr sz="1200" b="1">
                <a:solidFill>
                  <a:srgbClr val="A82C3C"/>
                </a:solidFill>
              </a:defRPr>
            </a:lvl8pPr>
            <a:lvl9pPr algn="l">
              <a:defRPr sz="1200" b="1">
                <a:solidFill>
                  <a:srgbClr val="A82C3C"/>
                </a:solidFill>
              </a:defRPr>
            </a:lvl9pPr>
          </a:lstStyle>
          <a:p xmlns:a="http://schemas.openxmlformats.org/drawingml/2006/main">
            <a:pPr algn="l">
              <a:defRPr sz="1200" b="1">
                <a:solidFill>
                  <a:srgbClr val="A82C3C"/>
                </a:solidFill>
              </a:defRPr>
            </a:pPr>
            <a:r>
              <a:rPr sz="1200" b="1">
                <a:solidFill>
                  <a:srgbClr val="A82C3C"/>
                </a:solidFill>
              </a:rPr>
              <a:t>MIE 402   ME LAB II</a:t>
            </a:r>
          </a:p>
        </p:txBody>
      </p:sp>
      <p:sp>
        <p:nvSpPr>
          <p:cNvPr id="2" name="">
            <a:extLst xmlns:a="http://schemas.openxmlformats.org/drawingml/2006/main">
              <a:ext uri="{FF2B5EF4-FFF2-40B4-BE49-F238E27FC236}">
                <a16:creationId xmlns:a16="http://schemas.microsoft.com/office/drawing/2014/main" id="{C162202F-8B1E-4B20-B93D-56B5EE411220}"/>
              </a:ext>
            </a:extLst>
          </p:cNvPr>
          <p:cNvSpPr>
            <a:spLocks xmlns:a="http://schemas.openxmlformats.org/drawingml/2006/main" noGrp="1"/>
          </p:cNvSpPr>
          <p:nvPr/>
        </p:nvSpPr>
        <p:spPr>
          <a:xfrm xmlns:a="http://schemas.openxmlformats.org/drawingml/2006/main">
            <a:off x="6667500" y="200025"/>
            <a:ext cx="5000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1125" b="0">
                <a:solidFill>
                  <a:srgbClr val="536575"/>
                </a:solidFill>
              </a:defRPr>
            </a:defPPr>
            <a:lvl1pPr algn="r">
              <a:defRPr sz="1125" b="0">
                <a:solidFill>
                  <a:srgbClr val="536575"/>
                </a:solidFill>
              </a:defRPr>
            </a:lvl1pPr>
            <a:lvl2pPr algn="r">
              <a:defRPr sz="1125" b="0">
                <a:solidFill>
                  <a:srgbClr val="536575"/>
                </a:solidFill>
              </a:defRPr>
            </a:lvl2pPr>
            <a:lvl3pPr algn="r">
              <a:defRPr sz="1125" b="0">
                <a:solidFill>
                  <a:srgbClr val="536575"/>
                </a:solidFill>
              </a:defRPr>
            </a:lvl3pPr>
            <a:lvl4pPr algn="r">
              <a:defRPr sz="1125" b="0">
                <a:solidFill>
                  <a:srgbClr val="536575"/>
                </a:solidFill>
              </a:defRPr>
            </a:lvl4pPr>
            <a:lvl5pPr algn="r">
              <a:defRPr sz="1125" b="0">
                <a:solidFill>
                  <a:srgbClr val="536575"/>
                </a:solidFill>
              </a:defRPr>
            </a:lvl5pPr>
            <a:lvl6pPr algn="r">
              <a:defRPr sz="1125" b="0">
                <a:solidFill>
                  <a:srgbClr val="536575"/>
                </a:solidFill>
              </a:defRPr>
            </a:lvl6pPr>
            <a:lvl7pPr algn="r">
              <a:defRPr sz="1125" b="0">
                <a:solidFill>
                  <a:srgbClr val="536575"/>
                </a:solidFill>
              </a:defRPr>
            </a:lvl7pPr>
            <a:lvl8pPr algn="r">
              <a:defRPr sz="1125" b="0">
                <a:solidFill>
                  <a:srgbClr val="536575"/>
                </a:solidFill>
              </a:defRPr>
            </a:lvl8pPr>
            <a:lvl9pPr algn="r">
              <a:defRPr sz="1125" b="0">
                <a:solidFill>
                  <a:srgbClr val="536575"/>
                </a:solidFill>
              </a:defRPr>
            </a:lvl9pPr>
          </a:lstStyle>
          <a:p xmlns:a="http://schemas.openxmlformats.org/drawingml/2006/main">
            <a:pPr algn="r">
              <a:defRPr sz="1125" b="0">
                <a:solidFill>
                  <a:srgbClr val="536575"/>
                </a:solidFill>
              </a:defRPr>
            </a:pPr>
            <a:r>
              <a:rPr sz="1125" b="0">
                <a:solidFill>
                  <a:srgbClr val="536575"/>
                </a:solidFill>
              </a:rPr>
              <a:t>Reference</a:t>
            </a:r>
          </a:p>
        </p:txBody>
      </p:sp>
      <p:sp>
        <p:nvSpPr>
          <p:cNvPr id="3" name="">
            <a:extLst xmlns:a="http://schemas.openxmlformats.org/drawingml/2006/main">
              <a:ext uri="{FF2B5EF4-FFF2-40B4-BE49-F238E27FC236}">
                <a16:creationId xmlns:a16="http://schemas.microsoft.com/office/drawing/2014/main" id="{6BF69938-AEF0-446A-B51D-3BE1BC1EDE1D}"/>
              </a:ext>
            </a:extLst>
          </p:cNvPr>
          <p:cNvSpPr>
            <a:spLocks xmlns:a="http://schemas.openxmlformats.org/drawingml/2006/main" noGrp="1"/>
          </p:cNvSpPr>
          <p:nvPr/>
        </p:nvSpPr>
        <p:spPr>
          <a:xfrm xmlns:a="http://schemas.openxmlformats.org/drawingml/2006/main">
            <a:off x="523875" y="666750"/>
            <a:ext cx="11144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2550" b="1">
                <a:solidFill>
                  <a:srgbClr val="142D42"/>
                </a:solidFill>
              </a:defRPr>
            </a:defPPr>
            <a:lvl1pPr algn="l">
              <a:defRPr sz="2550" b="1">
                <a:solidFill>
                  <a:srgbClr val="142D42"/>
                </a:solidFill>
              </a:defRPr>
            </a:lvl1pPr>
            <a:lvl2pPr algn="l">
              <a:defRPr sz="2550" b="1">
                <a:solidFill>
                  <a:srgbClr val="142D42"/>
                </a:solidFill>
              </a:defRPr>
            </a:lvl2pPr>
            <a:lvl3pPr algn="l">
              <a:defRPr sz="2550" b="1">
                <a:solidFill>
                  <a:srgbClr val="142D42"/>
                </a:solidFill>
              </a:defRPr>
            </a:lvl3pPr>
            <a:lvl4pPr algn="l">
              <a:defRPr sz="2550" b="1">
                <a:solidFill>
                  <a:srgbClr val="142D42"/>
                </a:solidFill>
              </a:defRPr>
            </a:lvl4pPr>
            <a:lvl5pPr algn="l">
              <a:defRPr sz="2550" b="1">
                <a:solidFill>
                  <a:srgbClr val="142D42"/>
                </a:solidFill>
              </a:defRPr>
            </a:lvl5pPr>
            <a:lvl6pPr algn="l">
              <a:defRPr sz="2550" b="1">
                <a:solidFill>
                  <a:srgbClr val="142D42"/>
                </a:solidFill>
              </a:defRPr>
            </a:lvl6pPr>
            <a:lvl7pPr algn="l">
              <a:defRPr sz="2550" b="1">
                <a:solidFill>
                  <a:srgbClr val="142D42"/>
                </a:solidFill>
              </a:defRPr>
            </a:lvl7pPr>
            <a:lvl8pPr algn="l">
              <a:defRPr sz="2550" b="1">
                <a:solidFill>
                  <a:srgbClr val="142D42"/>
                </a:solidFill>
              </a:defRPr>
            </a:lvl8pPr>
            <a:lvl9pPr algn="l">
              <a:defRPr sz="2550" b="1">
                <a:solidFill>
                  <a:srgbClr val="142D42"/>
                </a:solidFill>
              </a:defRPr>
            </a:lvl9pPr>
          </a:lstStyle>
          <a:p xmlns:a="http://schemas.openxmlformats.org/drawingml/2006/main">
            <a:pPr algn="l">
              <a:defRPr sz="2550" b="1">
                <a:solidFill>
                  <a:srgbClr val="142D42"/>
                </a:solidFill>
              </a:defRPr>
            </a:pPr>
            <a:r>
              <a:rPr sz="2550" b="1">
                <a:solidFill>
                  <a:srgbClr val="142D42"/>
                </a:solidFill>
              </a:rPr>
              <a:t>Sources and how the lecture uses them</a:t>
            </a:r>
          </a:p>
        </p:txBody>
      </p:sp>
      <p:sp>
        <p:nvSpPr>
          <p:cNvPr id="4" name="">
            <a:extLst xmlns:a="http://schemas.openxmlformats.org/drawingml/2006/main">
              <a:ext uri="{FF2B5EF4-FFF2-40B4-BE49-F238E27FC236}">
                <a16:creationId xmlns:a16="http://schemas.microsoft.com/office/drawing/2014/main" id="{D6912CDC-92D1-4BF4-ACC7-83C4F0508135}"/>
              </a:ext>
            </a:extLst>
          </p:cNvPr>
          <p:cNvSpPr>
            <a:spLocks xmlns:a="http://schemas.openxmlformats.org/drawingml/2006/main" noGrp="1"/>
          </p:cNvSpPr>
          <p:nvPr/>
        </p:nvSpPr>
        <p:spPr>
          <a:xfrm xmlns:a="http://schemas.openxmlformats.org/drawingml/2006/main" rot="0">
            <a:off x="523875" y="1376363"/>
            <a:ext cx="11144250" cy="9525"/>
          </a:xfrm>
          <a:prstGeom xmlns:a="http://schemas.openxmlformats.org/drawingml/2006/main" prst="rect">
            <a:avLst/>
          </a:prstGeom>
          <a:solidFill xmlns:a="http://schemas.openxmlformats.org/drawingml/2006/main">
            <a:srgbClr val="E1E7EC"/>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4BA1F79-91C9-495B-B811-647CB9ABAE07}"/>
              </a:ext>
            </a:extLst>
          </p:cNvPr>
          <p:cNvSpPr>
            <a:spLocks xmlns:a="http://schemas.openxmlformats.org/drawingml/2006/main" noGrp="1"/>
          </p:cNvSpPr>
          <p:nvPr/>
        </p:nvSpPr>
        <p:spPr>
          <a:xfrm xmlns:a="http://schemas.openxmlformats.org/drawingml/2006/main">
            <a:off x="11064240" y="6534150"/>
            <a:ext cx="566928"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r">
              <a:defRPr sz="975" b="0">
                <a:solidFill>
                  <a:srgbClr val="536575"/>
                </a:solidFill>
              </a:defRPr>
            </a:defPPr>
            <a:lvl1pPr algn="r">
              <a:defRPr sz="975" b="0">
                <a:solidFill>
                  <a:srgbClr val="536575"/>
                </a:solidFill>
              </a:defRPr>
            </a:lvl1pPr>
            <a:lvl2pPr algn="r">
              <a:defRPr sz="975" b="0">
                <a:solidFill>
                  <a:srgbClr val="536575"/>
                </a:solidFill>
              </a:defRPr>
            </a:lvl2pPr>
            <a:lvl3pPr algn="r">
              <a:defRPr sz="975" b="0">
                <a:solidFill>
                  <a:srgbClr val="536575"/>
                </a:solidFill>
              </a:defRPr>
            </a:lvl3pPr>
            <a:lvl4pPr algn="r">
              <a:defRPr sz="975" b="0">
                <a:solidFill>
                  <a:srgbClr val="536575"/>
                </a:solidFill>
              </a:defRPr>
            </a:lvl4pPr>
            <a:lvl5pPr algn="r">
              <a:defRPr sz="975" b="0">
                <a:solidFill>
                  <a:srgbClr val="536575"/>
                </a:solidFill>
              </a:defRPr>
            </a:lvl5pPr>
            <a:lvl6pPr algn="r">
              <a:defRPr sz="975" b="0">
                <a:solidFill>
                  <a:srgbClr val="536575"/>
                </a:solidFill>
              </a:defRPr>
            </a:lvl6pPr>
            <a:lvl7pPr algn="r">
              <a:defRPr sz="975" b="0">
                <a:solidFill>
                  <a:srgbClr val="536575"/>
                </a:solidFill>
              </a:defRPr>
            </a:lvl7pPr>
            <a:lvl8pPr algn="r">
              <a:defRPr sz="975" b="0">
                <a:solidFill>
                  <a:srgbClr val="536575"/>
                </a:solidFill>
              </a:defRPr>
            </a:lvl8pPr>
            <a:lvl9pPr algn="r">
              <a:defRPr sz="975" b="0">
                <a:solidFill>
                  <a:srgbClr val="536575"/>
                </a:solidFill>
              </a:defRPr>
            </a:lvl9pPr>
          </a:lstStyle>
          <a:p xmlns:a="http://schemas.openxmlformats.org/drawingml/2006/main">
            <a:pPr algn="r"/>
            <a:r>
              <a:rPr sz="1000">
                <a:solidFill>
                  <a:srgbClr val="5A666E"/>
                </a:solidFill>
              </a:rPr>
              <a:t>49</a:t>
            </a:r>
          </a:p>
        </p:txBody>
      </p:sp>
      <p:sp>
        <p:nvSpPr>
          <p:cNvPr id="6" name="">
            <a:extLst xmlns:a="http://schemas.openxmlformats.org/drawingml/2006/main">
              <a:ext uri="{FF2B5EF4-FFF2-40B4-BE49-F238E27FC236}">
                <a16:creationId xmlns:a16="http://schemas.microsoft.com/office/drawing/2014/main" id="{A4CA76F0-46F9-436D-9655-C5C7FF32CA2F}"/>
              </a:ext>
            </a:extLst>
          </p:cNvPr>
          <p:cNvSpPr>
            <a:spLocks xmlns:a="http://schemas.openxmlformats.org/drawingml/2006/main" noGrp="1"/>
          </p:cNvSpPr>
          <p:nvPr/>
        </p:nvSpPr>
        <p:spPr>
          <a:xfrm xmlns:a="http://schemas.openxmlformats.org/drawingml/2006/main">
            <a:off x="714375" y="16192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Prior MIE 402 theory: Lecture Notes / 12_Lab4_Theory.pdf</a:t>
            </a:r>
          </a:p>
        </p:txBody>
      </p:sp>
      <p:sp>
        <p:nvSpPr>
          <p:cNvPr id="7" name="">
            <a:extLst xmlns:a="http://schemas.openxmlformats.org/drawingml/2006/main">
              <a:ext uri="{FF2B5EF4-FFF2-40B4-BE49-F238E27FC236}">
                <a16:creationId xmlns:a16="http://schemas.microsoft.com/office/drawing/2014/main" id="{1E95909F-58FA-417F-9318-63AB7FBBE6B5}"/>
              </a:ext>
            </a:extLst>
          </p:cNvPr>
          <p:cNvSpPr>
            <a:spLocks xmlns:a="http://schemas.openxmlformats.org/drawingml/2006/main" noGrp="1"/>
          </p:cNvSpPr>
          <p:nvPr/>
        </p:nvSpPr>
        <p:spPr>
          <a:xfrm xmlns:a="http://schemas.openxmlformats.org/drawingml/2006/main">
            <a:off x="714375" y="228600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Prior MIE 402 experiment: Lecture Notes / 13_Lab4_Exp.pdf</a:t>
            </a:r>
          </a:p>
        </p:txBody>
      </p:sp>
      <p:sp>
        <p:nvSpPr>
          <p:cNvPr id="8" name="">
            <a:extLst xmlns:a="http://schemas.openxmlformats.org/drawingml/2006/main">
              <a:ext uri="{FF2B5EF4-FFF2-40B4-BE49-F238E27FC236}">
                <a16:creationId xmlns:a16="http://schemas.microsoft.com/office/drawing/2014/main" id="{053BC523-B17D-443F-A708-10C94C145166}"/>
              </a:ext>
            </a:extLst>
          </p:cNvPr>
          <p:cNvSpPr>
            <a:spLocks xmlns:a="http://schemas.openxmlformats.org/drawingml/2006/main" noGrp="1"/>
          </p:cNvSpPr>
          <p:nvPr/>
        </p:nvSpPr>
        <p:spPr>
          <a:xfrm xmlns:a="http://schemas.openxmlformats.org/drawingml/2006/main">
            <a:off x="714375" y="29527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Prior laboratory procedure: LAB4_MIE402.pdf</a:t>
            </a:r>
          </a:p>
        </p:txBody>
      </p:sp>
      <p:sp>
        <p:nvSpPr>
          <p:cNvPr id="9" name="">
            <a:extLst xmlns:a="http://schemas.openxmlformats.org/drawingml/2006/main">
              <a:ext uri="{FF2B5EF4-FFF2-40B4-BE49-F238E27FC236}">
                <a16:creationId xmlns:a16="http://schemas.microsoft.com/office/drawing/2014/main" id="{56B0797C-F895-4776-B782-14607B620DD4}"/>
              </a:ext>
            </a:extLst>
          </p:cNvPr>
          <p:cNvSpPr>
            <a:spLocks xmlns:a="http://schemas.openxmlformats.org/drawingml/2006/main" noGrp="1"/>
          </p:cNvSpPr>
          <p:nvPr/>
        </p:nvSpPr>
        <p:spPr>
          <a:xfrm xmlns:a="http://schemas.openxmlformats.org/drawingml/2006/main">
            <a:off x="714375" y="361950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Vernier Go Direct Sensor Cart manual: vernier.com/manuals/gdx-cart-g/</a:t>
            </a:r>
          </a:p>
        </p:txBody>
      </p:sp>
      <p:sp>
        <p:nvSpPr>
          <p:cNvPr id="10" name="">
            <a:extLst xmlns:a="http://schemas.openxmlformats.org/drawingml/2006/main">
              <a:ext uri="{FF2B5EF4-FFF2-40B4-BE49-F238E27FC236}">
                <a16:creationId xmlns:a16="http://schemas.microsoft.com/office/drawing/2014/main" id="{A05B93C5-448A-429A-8DD8-18B51AB642B6}"/>
              </a:ext>
            </a:extLst>
          </p:cNvPr>
          <p:cNvSpPr>
            <a:spLocks xmlns:a="http://schemas.openxmlformats.org/drawingml/2006/main" noGrp="1"/>
          </p:cNvSpPr>
          <p:nvPr/>
        </p:nvSpPr>
        <p:spPr>
          <a:xfrm xmlns:a="http://schemas.openxmlformats.org/drawingml/2006/main">
            <a:off x="714375" y="42862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725" b="0">
                <a:solidFill>
                  <a:srgbClr val="142D42"/>
                </a:solidFill>
              </a:defRPr>
            </a:defPPr>
            <a:lvl1pPr algn="l">
              <a:defRPr sz="1725" b="0">
                <a:solidFill>
                  <a:srgbClr val="142D42"/>
                </a:solidFill>
              </a:defRPr>
            </a:lvl1pPr>
            <a:lvl2pPr algn="l">
              <a:defRPr sz="1725" b="0">
                <a:solidFill>
                  <a:srgbClr val="142D42"/>
                </a:solidFill>
              </a:defRPr>
            </a:lvl2pPr>
            <a:lvl3pPr algn="l">
              <a:defRPr sz="1725" b="0">
                <a:solidFill>
                  <a:srgbClr val="142D42"/>
                </a:solidFill>
              </a:defRPr>
            </a:lvl3pPr>
            <a:lvl4pPr algn="l">
              <a:defRPr sz="1725" b="0">
                <a:solidFill>
                  <a:srgbClr val="142D42"/>
                </a:solidFill>
              </a:defRPr>
            </a:lvl4pPr>
            <a:lvl5pPr algn="l">
              <a:defRPr sz="1725" b="0">
                <a:solidFill>
                  <a:srgbClr val="142D42"/>
                </a:solidFill>
              </a:defRPr>
            </a:lvl5pPr>
            <a:lvl6pPr algn="l">
              <a:defRPr sz="1725" b="0">
                <a:solidFill>
                  <a:srgbClr val="142D42"/>
                </a:solidFill>
              </a:defRPr>
            </a:lvl6pPr>
            <a:lvl7pPr algn="l">
              <a:defRPr sz="1725" b="0">
                <a:solidFill>
                  <a:srgbClr val="142D42"/>
                </a:solidFill>
              </a:defRPr>
            </a:lvl7pPr>
            <a:lvl8pPr algn="l">
              <a:defRPr sz="1725" b="0">
                <a:solidFill>
                  <a:srgbClr val="142D42"/>
                </a:solidFill>
              </a:defRPr>
            </a:lvl8pPr>
            <a:lvl9pPr algn="l">
              <a:defRPr sz="1725" b="0">
                <a:solidFill>
                  <a:srgbClr val="142D42"/>
                </a:solidFill>
              </a:defRPr>
            </a:lvl9pPr>
          </a:lstStyle>
          <a:p xmlns:a="http://schemas.openxmlformats.org/drawingml/2006/main">
            <a:pPr algn="l">
              <a:defRPr sz="1725" b="0">
                <a:solidFill>
                  <a:srgbClr val="142D42"/>
                </a:solidFill>
              </a:defRPr>
            </a:pPr>
            <a:r>
              <a:rPr sz="1725" b="0">
                <a:solidFill>
                  <a:srgbClr val="142D42"/>
                </a:solidFill>
              </a:rPr>
              <a:t>Vernier Eddy Current Brake: vernier.com/product/eddy-current-brake/</a:t>
            </a:r>
          </a:p>
        </p:txBody>
      </p:sp>
      <p:sp>
        <p:nvSpPr>
          <p:cNvPr id="11" name="">
            <a:extLst xmlns:a="http://schemas.openxmlformats.org/drawingml/2006/main">
              <a:ext uri="{FF2B5EF4-FFF2-40B4-BE49-F238E27FC236}">
                <a16:creationId xmlns:a16="http://schemas.microsoft.com/office/drawing/2014/main" id="{9FF20D3B-B4DC-4AC5-AB7E-53C49F3A832F}"/>
              </a:ext>
            </a:extLst>
          </p:cNvPr>
          <p:cNvSpPr>
            <a:spLocks xmlns:a="http://schemas.openxmlformats.org/drawingml/2006/main" noGrp="1"/>
          </p:cNvSpPr>
          <p:nvPr/>
        </p:nvSpPr>
        <p:spPr>
          <a:xfrm xmlns:a="http://schemas.openxmlformats.org/drawingml/2006/main">
            <a:off x="714375" y="5238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lgn="l">
              <a:defRPr sz="1575" b="0">
                <a:solidFill>
                  <a:srgbClr val="536575"/>
                </a:solidFill>
              </a:defRPr>
            </a:defPPr>
            <a:lvl1pPr algn="l">
              <a:defRPr sz="1575" b="0">
                <a:solidFill>
                  <a:srgbClr val="536575"/>
                </a:solidFill>
              </a:defRPr>
            </a:lvl1pPr>
            <a:lvl2pPr algn="l">
              <a:defRPr sz="1575" b="0">
                <a:solidFill>
                  <a:srgbClr val="536575"/>
                </a:solidFill>
              </a:defRPr>
            </a:lvl2pPr>
            <a:lvl3pPr algn="l">
              <a:defRPr sz="1575" b="0">
                <a:solidFill>
                  <a:srgbClr val="536575"/>
                </a:solidFill>
              </a:defRPr>
            </a:lvl3pPr>
            <a:lvl4pPr algn="l">
              <a:defRPr sz="1575" b="0">
                <a:solidFill>
                  <a:srgbClr val="536575"/>
                </a:solidFill>
              </a:defRPr>
            </a:lvl4pPr>
            <a:lvl5pPr algn="l">
              <a:defRPr sz="1575" b="0">
                <a:solidFill>
                  <a:srgbClr val="536575"/>
                </a:solidFill>
              </a:defRPr>
            </a:lvl5pPr>
            <a:lvl6pPr algn="l">
              <a:defRPr sz="1575" b="0">
                <a:solidFill>
                  <a:srgbClr val="536575"/>
                </a:solidFill>
              </a:defRPr>
            </a:lvl6pPr>
            <a:lvl7pPr algn="l">
              <a:defRPr sz="1575" b="0">
                <a:solidFill>
                  <a:srgbClr val="536575"/>
                </a:solidFill>
              </a:defRPr>
            </a:lvl7pPr>
            <a:lvl8pPr algn="l">
              <a:defRPr sz="1575" b="0">
                <a:solidFill>
                  <a:srgbClr val="536575"/>
                </a:solidFill>
              </a:defRPr>
            </a:lvl8pPr>
            <a:lvl9pPr algn="l">
              <a:defRPr sz="1575" b="0">
                <a:solidFill>
                  <a:srgbClr val="536575"/>
                </a:solidFill>
              </a:defRPr>
            </a:lvl9pPr>
          </a:lstStyle>
          <a:p xmlns:a="http://schemas.openxmlformats.org/drawingml/2006/main">
            <a:pPr algn="l">
              <a:defRPr sz="1575" b="0">
                <a:solidFill>
                  <a:srgbClr val="536575"/>
                </a:solidFill>
              </a:defRPr>
            </a:pPr>
            <a:r>
              <a:rPr sz="1575" b="0">
                <a:solidFill>
                  <a:srgbClr val="536575"/>
                </a:solidFill>
              </a:rPr>
              <a:t>Prior-class figures are anonymized. Model plots in this lecture are computed examples.</a:t>
            </a:r>
          </a:p>
          <a:p xmlns:a="http://schemas.openxmlformats.org/drawingml/2006/main">
            <a:pPr algn="l">
              <a:defRPr sz="1575" b="0">
                <a:solidFill>
                  <a:srgbClr val="536575"/>
                </a:solidFill>
              </a:defRPr>
            </a:pPr>
            <a:r>
              <a:rPr sz="1575" b="0">
                <a:solidFill>
                  <a:srgbClr val="536575"/>
                </a:solidFill>
              </a:rPr>
              <a:t>Instructor: Ehsan Roohi • Fall 2026</a:t>
            </a:r>
          </a:p>
        </p:txBody>
      </p:sp>
    </p:spTree>
    <p:extLst>
      <p:ext uri="{BB962C8B-B14F-4D97-AF65-F5344CB8AC3E}">
        <p14:creationId xmlns:p14="http://schemas.microsoft.com/office/powerpoint/2010/main" val="3577182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Dr. Ehsan Roohi, University of Massachusetts Amherst</dc:creator>
  <lastModifiedBy>Walnut Exporter</lastModifiedBy>
  <dc:title>MIE 402 Lecture 05 / Lab 4 — Free Response of a Spring–Cart System</dc:title>
  <dcterms:created xsi:type="dcterms:W3CDTF">2026-10-18T21:20:49.8730000Z</dcterms:created>
  <dcterms:modified xsi:type="dcterms:W3CDTF">2026-10-18T21:20:49.8730000Z</dcterms:modified>
  <dc:subject>50-minute core lecture with mathematical appendices, Fall 2026</dc:subject>
</coreProperties>
</file>