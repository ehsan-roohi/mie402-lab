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f94b9ad7e14db6" /><Relationship Type="http://schemas.openxmlformats.org/officeDocument/2006/relationships/extended-properties" Target="/docProps/app.xml" Id="R9c67ec79908c4970" /><Relationship Type="http://schemas.openxmlformats.org/officeDocument/2006/relationships/officeDocument" Target="/ppt/presentation.xml" Id="R764702b7c05649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4d250f92d44638"/>
  </p:sldMasterIdLst>
  <p:notesMasterIdLst>
    <p:notesMasterId xmlns:r="http://schemas.openxmlformats.org/officeDocument/2006/relationships" r:id="R8daae53def0a454b"/>
  </p:notesMasterIdLst>
  <p:sldIdLst>
    <p:sldId xmlns:r="http://schemas.openxmlformats.org/officeDocument/2006/relationships" id="256" r:id="Rfd7744aeca3c4c6b"/>
    <p:sldId xmlns:r="http://schemas.openxmlformats.org/officeDocument/2006/relationships" id="257" r:id="R1637ced64eee45d7"/>
    <p:sldId xmlns:r="http://schemas.openxmlformats.org/officeDocument/2006/relationships" id="258" r:id="R8c399f96219b4cf8"/>
    <p:sldId xmlns:r="http://schemas.openxmlformats.org/officeDocument/2006/relationships" id="259" r:id="R36d8e446157f4cdf"/>
    <p:sldId xmlns:r="http://schemas.openxmlformats.org/officeDocument/2006/relationships" id="260" r:id="R09acd8f9b15949b2"/>
    <p:sldId xmlns:r="http://schemas.openxmlformats.org/officeDocument/2006/relationships" id="261" r:id="R3224e65a6b464d8e"/>
    <p:sldId xmlns:r="http://schemas.openxmlformats.org/officeDocument/2006/relationships" id="262" r:id="Rddd32f10df514132"/>
    <p:sldId xmlns:r="http://schemas.openxmlformats.org/officeDocument/2006/relationships" id="263" r:id="R7f33502598794523"/>
    <p:sldId xmlns:r="http://schemas.openxmlformats.org/officeDocument/2006/relationships" id="264" r:id="R45e57804f5f54e9f"/>
    <p:sldId xmlns:r="http://schemas.openxmlformats.org/officeDocument/2006/relationships" id="265" r:id="R480573fccb8045bd"/>
    <p:sldId xmlns:r="http://schemas.openxmlformats.org/officeDocument/2006/relationships" id="266" r:id="R859f4335c7044888"/>
    <p:sldId xmlns:r="http://schemas.openxmlformats.org/officeDocument/2006/relationships" id="267" r:id="Rbdf52e384e214261"/>
    <p:sldId xmlns:r="http://schemas.openxmlformats.org/officeDocument/2006/relationships" id="268" r:id="Rcdee3402ffcb4f65"/>
    <p:sldId xmlns:r="http://schemas.openxmlformats.org/officeDocument/2006/relationships" id="269" r:id="R30ae12912f224fd1"/>
    <p:sldId xmlns:r="http://schemas.openxmlformats.org/officeDocument/2006/relationships" id="270" r:id="R8f1604e2e6b84988"/>
    <p:sldId xmlns:r="http://schemas.openxmlformats.org/officeDocument/2006/relationships" id="271" r:id="R64e8564f281c408d"/>
    <p:sldId xmlns:r="http://schemas.openxmlformats.org/officeDocument/2006/relationships" id="272" r:id="R1b6bcfc6262f4d7a"/>
    <p:sldId xmlns:r="http://schemas.openxmlformats.org/officeDocument/2006/relationships" id="273" r:id="R445d5c9972f24251"/>
    <p:sldId xmlns:r="http://schemas.openxmlformats.org/officeDocument/2006/relationships" id="274" r:id="Rfe1ec42c163d467c"/>
    <p:sldId xmlns:r="http://schemas.openxmlformats.org/officeDocument/2006/relationships" id="275" r:id="R25c4be36da334fff"/>
    <p:sldId xmlns:r="http://schemas.openxmlformats.org/officeDocument/2006/relationships" id="276" r:id="Rdce2803c57b746f5"/>
    <p:sldId xmlns:r="http://schemas.openxmlformats.org/officeDocument/2006/relationships" id="277" r:id="Rd1d1f01aa9d14c62"/>
    <p:sldId xmlns:r="http://schemas.openxmlformats.org/officeDocument/2006/relationships" id="278" r:id="Rf51cc23fcbe44712"/>
    <p:sldId xmlns:r="http://schemas.openxmlformats.org/officeDocument/2006/relationships" id="279" r:id="R882f7df38a3d413f"/>
    <p:sldId xmlns:r="http://schemas.openxmlformats.org/officeDocument/2006/relationships" id="280" r:id="R479c3d613b334bac"/>
    <p:sldId xmlns:r="http://schemas.openxmlformats.org/officeDocument/2006/relationships" id="281" r:id="R100b3a6ad3ea450b"/>
    <p:sldId xmlns:r="http://schemas.openxmlformats.org/officeDocument/2006/relationships" id="282" r:id="Rd0bf3740cbb149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22be858bab4cac" /><Relationship Type="http://schemas.openxmlformats.org/officeDocument/2006/relationships/slideMaster" Target="/ppt/slideMasters/slideMaster1.xml" Id="R2f4d250f92d44638" /><Relationship Type="http://schemas.openxmlformats.org/officeDocument/2006/relationships/notesMaster" Target="/ppt/notesMasters/notesMaster1.xml" Id="R8daae53def0a454b" /><Relationship Type="http://schemas.openxmlformats.org/officeDocument/2006/relationships/presProps" Target="/ppt/presProps.xml" Id="R24d234b88e304a2c" /><Relationship Type="http://schemas.openxmlformats.org/officeDocument/2006/relationships/tableStyles" Target="/ppt/tableStyles.xml" Id="Rc470836f13e94056" /><Relationship Type="http://schemas.openxmlformats.org/officeDocument/2006/relationships/slide" Target="/ppt/slides/slide1.xml" Id="Rfd7744aeca3c4c6b" /><Relationship Type="http://schemas.openxmlformats.org/officeDocument/2006/relationships/slide" Target="/ppt/slides/slide2.xml" Id="R1637ced64eee45d7" /><Relationship Type="http://schemas.openxmlformats.org/officeDocument/2006/relationships/slide" Target="/ppt/slides/slide3.xml" Id="R8c399f96219b4cf8" /><Relationship Type="http://schemas.openxmlformats.org/officeDocument/2006/relationships/slide" Target="/ppt/slides/slide4.xml" Id="R36d8e446157f4cdf" /><Relationship Type="http://schemas.openxmlformats.org/officeDocument/2006/relationships/slide" Target="/ppt/slides/slide5.xml" Id="R09acd8f9b15949b2" /><Relationship Type="http://schemas.openxmlformats.org/officeDocument/2006/relationships/slide" Target="/ppt/slides/slide6.xml" Id="R3224e65a6b464d8e" /><Relationship Type="http://schemas.openxmlformats.org/officeDocument/2006/relationships/slide" Target="/ppt/slides/slide7.xml" Id="Rddd32f10df514132" /><Relationship Type="http://schemas.openxmlformats.org/officeDocument/2006/relationships/slide" Target="/ppt/slides/slide8.xml" Id="R7f33502598794523" /><Relationship Type="http://schemas.openxmlformats.org/officeDocument/2006/relationships/slide" Target="/ppt/slides/slide9.xml" Id="R45e57804f5f54e9f" /><Relationship Type="http://schemas.openxmlformats.org/officeDocument/2006/relationships/slide" Target="/ppt/slides/slide10.xml" Id="R480573fccb8045bd" /><Relationship Type="http://schemas.openxmlformats.org/officeDocument/2006/relationships/slide" Target="/ppt/slides/slide11.xml" Id="R859f4335c7044888" /><Relationship Type="http://schemas.openxmlformats.org/officeDocument/2006/relationships/slide" Target="/ppt/slides/slide12.xml" Id="Rbdf52e384e214261" /><Relationship Type="http://schemas.openxmlformats.org/officeDocument/2006/relationships/slide" Target="/ppt/slides/slide13.xml" Id="Rcdee3402ffcb4f65" /><Relationship Type="http://schemas.openxmlformats.org/officeDocument/2006/relationships/slide" Target="/ppt/slides/slide14.xml" Id="R30ae12912f224fd1" /><Relationship Type="http://schemas.openxmlformats.org/officeDocument/2006/relationships/slide" Target="/ppt/slides/slide15.xml" Id="R8f1604e2e6b84988" /><Relationship Type="http://schemas.openxmlformats.org/officeDocument/2006/relationships/slide" Target="/ppt/slides/slide16.xml" Id="R64e8564f281c408d" /><Relationship Type="http://schemas.openxmlformats.org/officeDocument/2006/relationships/slide" Target="/ppt/slides/slide17.xml" Id="R1b6bcfc6262f4d7a" /><Relationship Type="http://schemas.openxmlformats.org/officeDocument/2006/relationships/slide" Target="/ppt/slides/slide18.xml" Id="R445d5c9972f24251" /><Relationship Type="http://schemas.openxmlformats.org/officeDocument/2006/relationships/slide" Target="/ppt/slides/slide19.xml" Id="Rfe1ec42c163d467c" /><Relationship Type="http://schemas.openxmlformats.org/officeDocument/2006/relationships/slide" Target="/ppt/slides/slide20.xml" Id="R25c4be36da334fff" /><Relationship Type="http://schemas.openxmlformats.org/officeDocument/2006/relationships/slide" Target="/ppt/slides/slide21.xml" Id="Rdce2803c57b746f5" /><Relationship Type="http://schemas.openxmlformats.org/officeDocument/2006/relationships/slide" Target="/ppt/slides/slide22.xml" Id="Rd1d1f01aa9d14c62" /><Relationship Type="http://schemas.openxmlformats.org/officeDocument/2006/relationships/slide" Target="/ppt/slides/slide23.xml" Id="Rf51cc23fcbe44712" /><Relationship Type="http://schemas.openxmlformats.org/officeDocument/2006/relationships/slide" Target="/ppt/slides/slide24.xml" Id="R882f7df38a3d413f" /><Relationship Type="http://schemas.openxmlformats.org/officeDocument/2006/relationships/slide" Target="/ppt/slides/slide25.xml" Id="R479c3d613b334bac" /><Relationship Type="http://schemas.openxmlformats.org/officeDocument/2006/relationships/slide" Target="/ppt/slides/slide26.xml" Id="R100b3a6ad3ea450b" /><Relationship Type="http://schemas.openxmlformats.org/officeDocument/2006/relationships/slide" Target="/ppt/slides/slide27.xml" Id="Rd0bf3740cbb149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b54255f34042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97a3bcef184257" /><Relationship Type="http://schemas.openxmlformats.org/officeDocument/2006/relationships/notesMaster" Target="/ppt/notesMasters/notesMaster1.xml" Id="R2316e868f1a240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5af22fa96e44bb" /><Relationship Type="http://schemas.openxmlformats.org/officeDocument/2006/relationships/notesMaster" Target="/ppt/notesMasters/notesMaster1.xml" Id="R280ccf27ebdd41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5742e099e64921" /><Relationship Type="http://schemas.openxmlformats.org/officeDocument/2006/relationships/notesMaster" Target="/ppt/notesMasters/notesMaster1.xml" Id="Rfbd04fd05ba94e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1126ba604e4979" /><Relationship Type="http://schemas.openxmlformats.org/officeDocument/2006/relationships/notesMaster" Target="/ppt/notesMasters/notesMaster1.xml" Id="R4a9c0e428a0848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30c8616b5b4245" /><Relationship Type="http://schemas.openxmlformats.org/officeDocument/2006/relationships/notesMaster" Target="/ppt/notesMasters/notesMaster1.xml" Id="R90abcd6351e941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7e5a9b5bb94652" /><Relationship Type="http://schemas.openxmlformats.org/officeDocument/2006/relationships/notesMaster" Target="/ppt/notesMasters/notesMaster1.xml" Id="R3c29393c465349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21e23872f945e9" /><Relationship Type="http://schemas.openxmlformats.org/officeDocument/2006/relationships/notesMaster" Target="/ppt/notesMasters/notesMaster1.xml" Id="Rac71baba7a8e4e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ed42037f7a4ac7" /><Relationship Type="http://schemas.openxmlformats.org/officeDocument/2006/relationships/notesMaster" Target="/ppt/notesMasters/notesMaster1.xml" Id="R7170bf345b074e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5c4f66beb14d5f" /><Relationship Type="http://schemas.openxmlformats.org/officeDocument/2006/relationships/notesMaster" Target="/ppt/notesMasters/notesMaster1.xml" Id="R9e7afeafa0cc4f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fa7adccaa84ea0" /><Relationship Type="http://schemas.openxmlformats.org/officeDocument/2006/relationships/notesMaster" Target="/ppt/notesMasters/notesMaster1.xml" Id="R3cb98a8170d24d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e6d82010604d16" /><Relationship Type="http://schemas.openxmlformats.org/officeDocument/2006/relationships/notesMaster" Target="/ppt/notesMasters/notesMaster1.xml" Id="Ra732eaf73f7844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acfa036e7841a0" /><Relationship Type="http://schemas.openxmlformats.org/officeDocument/2006/relationships/notesMaster" Target="/ppt/notesMasters/notesMaster1.xml" Id="R59048acb54144d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fd67c057c3475a" /><Relationship Type="http://schemas.openxmlformats.org/officeDocument/2006/relationships/notesMaster" Target="/ppt/notesMasters/notesMaster1.xml" Id="Rfea61620ef6145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d27521668d45c3" /><Relationship Type="http://schemas.openxmlformats.org/officeDocument/2006/relationships/notesMaster" Target="/ppt/notesMasters/notesMaster1.xml" Id="R55dc9ee2581441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0fe6115316a4d0d" /><Relationship Type="http://schemas.openxmlformats.org/officeDocument/2006/relationships/notesMaster" Target="/ppt/notesMasters/notesMaster1.xml" Id="Rca1f00dccd2c40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fc7a21b8434144" /><Relationship Type="http://schemas.openxmlformats.org/officeDocument/2006/relationships/notesMaster" Target="/ppt/notesMasters/notesMaster1.xml" Id="Re39c65943e9547a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56a8a7111064612" /><Relationship Type="http://schemas.openxmlformats.org/officeDocument/2006/relationships/notesMaster" Target="/ppt/notesMasters/notesMaster1.xml" Id="R89569ccfdd6941a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3c256f89eb49cd" /><Relationship Type="http://schemas.openxmlformats.org/officeDocument/2006/relationships/notesMaster" Target="/ppt/notesMasters/notesMaster1.xml" Id="Rd5a76a56d2aa48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dc676e98df742f4" /><Relationship Type="http://schemas.openxmlformats.org/officeDocument/2006/relationships/notesMaster" Target="/ppt/notesMasters/notesMaster1.xml" Id="Racd511a82c4543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c8a9c2a7b94bdf" /><Relationship Type="http://schemas.openxmlformats.org/officeDocument/2006/relationships/notesMaster" Target="/ppt/notesMasters/notesMaster1.xml" Id="R5347884d3ee04d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3a4e954b3544b0" /><Relationship Type="http://schemas.openxmlformats.org/officeDocument/2006/relationships/notesMaster" Target="/ppt/notesMasters/notesMaster1.xml" Id="R1a394358e2334fb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9f4de0e9a648f8" /><Relationship Type="http://schemas.openxmlformats.org/officeDocument/2006/relationships/notesMaster" Target="/ppt/notesMasters/notesMaster1.xml" Id="Rcdf2778e517141c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12227a1bc094472" /><Relationship Type="http://schemas.openxmlformats.org/officeDocument/2006/relationships/notesMaster" Target="/ppt/notesMasters/notesMaster1.xml" Id="R3feba6acb86d497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3b685338c2f4679" /><Relationship Type="http://schemas.openxmlformats.org/officeDocument/2006/relationships/notesMaster" Target="/ppt/notesMasters/notesMaster1.xml" Id="R48f0da07532d437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17568e16cde4de7" /><Relationship Type="http://schemas.openxmlformats.org/officeDocument/2006/relationships/notesMaster" Target="/ppt/notesMasters/notesMaster1.xml" Id="R6f451dc2fd914f3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ad146eafbef4e8f" /><Relationship Type="http://schemas.openxmlformats.org/officeDocument/2006/relationships/notesMaster" Target="/ppt/notesMasters/notesMaster1.xml" Id="R77517bf4310f440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968e337ce594027" /><Relationship Type="http://schemas.openxmlformats.org/officeDocument/2006/relationships/notesMaster" Target="/ppt/notesMasters/notesMaster1.xml" Id="R741d9b095c4243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3bed02300040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826fb2c9b8403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2ecf4d18d4b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dfb45ac4c0403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418bcb543742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362aa3fb2641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46E79D-6117-487B-8BEF-50029601ED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BD7E120-646E-4CBE-8E9D-23C9A1C4A6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66FEB03-024C-48F0-8966-B72749C07E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F73D24-DDE2-44B2-BEB6-37DF97E081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D98E50-FC62-40DA-A2D9-789FA6D408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7E7EEAA-358F-45FE-9554-83AD6C34F6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8905B6-5233-4E74-9CC7-06007C2D1A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1A8E5D-CA47-444A-A7D8-15E0678C34C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4EA8BB-B673-4D6F-BDE0-67FE5EE5A8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5D6320-B772-4B40-88E1-1C275EFE8F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932687aa5b4fb1" /><Relationship Type="http://schemas.openxmlformats.org/officeDocument/2006/relationships/slideLayout" Target="/ppt/slideLayouts/slideLayout1.xml" Id="Rbd22cabdf60a4ea7" /><Relationship Type="http://schemas.openxmlformats.org/officeDocument/2006/relationships/slideLayout" Target="/ppt/slideLayouts/slideLayout2.xml" Id="Rfc8fe65a9e564576" /><Relationship Type="http://schemas.openxmlformats.org/officeDocument/2006/relationships/slideLayout" Target="/ppt/slideLayouts/slideLayout3.xml" Id="Ra2b8979dbcbf47eb" /><Relationship Type="http://schemas.openxmlformats.org/officeDocument/2006/relationships/slideLayout" Target="/ppt/slideLayouts/slideLayout4.xml" Id="R42622e760ca94582" /><Relationship Type="http://schemas.openxmlformats.org/officeDocument/2006/relationships/slideLayout" Target="/ppt/slideLayouts/slideLayout5.xml" Id="R51f4b28670234705" /><Relationship Type="http://schemas.openxmlformats.org/officeDocument/2006/relationships/slideLayout" Target="/ppt/slideLayouts/slideLayout6.xml" Id="R4d9fd4939d3f45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22cabdf60a4ea7"/>
    <p:sldLayoutId xmlns:r="http://schemas.openxmlformats.org/officeDocument/2006/relationships" id="2147483650" r:id="Rfc8fe65a9e564576"/>
    <p:sldLayoutId xmlns:r="http://schemas.openxmlformats.org/officeDocument/2006/relationships" id="2147483651" r:id="Ra2b8979dbcbf47eb"/>
    <p:sldLayoutId xmlns:r="http://schemas.openxmlformats.org/officeDocument/2006/relationships" id="2147483652" r:id="R42622e760ca94582"/>
    <p:sldLayoutId xmlns:r="http://schemas.openxmlformats.org/officeDocument/2006/relationships" id="2147483653" r:id="R51f4b28670234705"/>
    <p:sldLayoutId xmlns:r="http://schemas.openxmlformats.org/officeDocument/2006/relationships" id="2147483654" r:id="R4d9fd4939d3f45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29887958e14b88" /><Relationship Type="http://schemas.openxmlformats.org/officeDocument/2006/relationships/notesSlide" Target="/ppt/notesSlides/notesSlide1.xml" Id="R825d36dbf31c40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ae6e3a4a6148cf" /><Relationship Type="http://schemas.openxmlformats.org/officeDocument/2006/relationships/notesSlide" Target="/ppt/notesSlides/notesSlide2.xml" Id="R59aed1f6e768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4493f9a2444093" /><Relationship Type="http://schemas.openxmlformats.org/officeDocument/2006/relationships/notesSlide" Target="/ppt/notesSlides/notesSlide3.xml" Id="R8af4a53cd8304f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fdbfe27134cb3" /><Relationship Type="http://schemas.openxmlformats.org/officeDocument/2006/relationships/image" Target="/ppt/media/image.jpeg" Id="R9995caa289e9478c" /><Relationship Type="http://schemas.openxmlformats.org/officeDocument/2006/relationships/notesSlide" Target="/ppt/notesSlides/notesSlide4.xml" Id="Rb49ae851b60443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031cbb99ea400c" /><Relationship Type="http://schemas.openxmlformats.org/officeDocument/2006/relationships/notesSlide" Target="/ppt/notesSlides/notesSlide5.xml" Id="R5f53ecf372ed44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b4ef26f24e4408" /><Relationship Type="http://schemas.openxmlformats.org/officeDocument/2006/relationships/notesSlide" Target="/ppt/notesSlides/notesSlide6.xml" Id="R49ce908afe1640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b02e160b3f47fc" /><Relationship Type="http://schemas.openxmlformats.org/officeDocument/2006/relationships/notesSlide" Target="/ppt/notesSlides/notesSlide7.xml" Id="R1063dc2ffc574e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5bb1eab7b047a8" /><Relationship Type="http://schemas.openxmlformats.org/officeDocument/2006/relationships/notesSlide" Target="/ppt/notesSlides/notesSlide8.xml" Id="R8b74688332ea46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728d8c698b463f" /><Relationship Type="http://schemas.openxmlformats.org/officeDocument/2006/relationships/notesSlide" Target="/ppt/notesSlides/notesSlide9.xml" Id="Rf848d2d5a67944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46a0e25b824e91" /><Relationship Type="http://schemas.openxmlformats.org/officeDocument/2006/relationships/notesSlide" Target="/ppt/notesSlides/notesSlide10.xml" Id="Rc2f42193c4d546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e83bb5f274978" /><Relationship Type="http://schemas.openxmlformats.org/officeDocument/2006/relationships/notesSlide" Target="/ppt/notesSlides/notesSlide11.xml" Id="Rd151130af84c4f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8c33f288794996" /><Relationship Type="http://schemas.openxmlformats.org/officeDocument/2006/relationships/notesSlide" Target="/ppt/notesSlides/notesSlide12.xml" Id="R380ca1b1939d42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fd68df639445a2" /><Relationship Type="http://schemas.openxmlformats.org/officeDocument/2006/relationships/notesSlide" Target="/ppt/notesSlides/notesSlide13.xml" Id="R179750588ae446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6b0c17ac0344d8" /><Relationship Type="http://schemas.openxmlformats.org/officeDocument/2006/relationships/chart" Target="/ppt/slides/charts/chart1.xml" Id="R26386b02827946e3" /><Relationship Type="http://schemas.openxmlformats.org/officeDocument/2006/relationships/notesSlide" Target="/ppt/notesSlides/notesSlide14.xml" Id="R364bbeba777e44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a4d86f3a034e83" /><Relationship Type="http://schemas.openxmlformats.org/officeDocument/2006/relationships/notesSlide" Target="/ppt/notesSlides/notesSlide15.xml" Id="R199079c77177478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a518d211364193" /><Relationship Type="http://schemas.openxmlformats.org/officeDocument/2006/relationships/notesSlide" Target="/ppt/notesSlides/notesSlide16.xml" Id="R7ee098b9d77645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a230a75dfb403b" /><Relationship Type="http://schemas.openxmlformats.org/officeDocument/2006/relationships/chart" Target="/ppt/slides/charts/chart2.xml" Id="Rb38966914b654326" /><Relationship Type="http://schemas.openxmlformats.org/officeDocument/2006/relationships/notesSlide" Target="/ppt/notesSlides/notesSlide17.xml" Id="R9df3591bf51241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0376adf5b64bc9" /><Relationship Type="http://schemas.openxmlformats.org/officeDocument/2006/relationships/notesSlide" Target="/ppt/notesSlides/notesSlide18.xml" Id="R8ac8bbe07b3a4e7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3b6b432f1d4134" /><Relationship Type="http://schemas.openxmlformats.org/officeDocument/2006/relationships/notesSlide" Target="/ppt/notesSlides/notesSlide19.xml" Id="Rf9ea1e40b00348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aae5cab1e44418" /><Relationship Type="http://schemas.openxmlformats.org/officeDocument/2006/relationships/notesSlide" Target="/ppt/notesSlides/notesSlide20.xml" Id="R78815ed6ab804f5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a10120ce2143fd" /><Relationship Type="http://schemas.openxmlformats.org/officeDocument/2006/relationships/notesSlide" Target="/ppt/notesSlides/notesSlide21.xml" Id="Re7beca1177c5468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ef1276b01a4db8" /><Relationship Type="http://schemas.openxmlformats.org/officeDocument/2006/relationships/notesSlide" Target="/ppt/notesSlides/notesSlide22.xml" Id="Rdbd7354f41c747e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94bf878f4d412c" /><Relationship Type="http://schemas.openxmlformats.org/officeDocument/2006/relationships/notesSlide" Target="/ppt/notesSlides/notesSlide23.xml" Id="R911cbcfede494ea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50895af38748a3" /><Relationship Type="http://schemas.openxmlformats.org/officeDocument/2006/relationships/notesSlide" Target="/ppt/notesSlides/notesSlide24.xml" Id="Rb23ed72d45f34f8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d9153481324e75" /><Relationship Type="http://schemas.openxmlformats.org/officeDocument/2006/relationships/notesSlide" Target="/ppt/notesSlides/notesSlide25.xml" Id="R16722713a5a843d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d9a66c540e4dac" /><Relationship Type="http://schemas.openxmlformats.org/officeDocument/2006/relationships/notesSlide" Target="/ppt/notesSlides/notesSlide26.xml" Id="Rc724476d8f6341d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539210168d4c56" /><Relationship Type="http://schemas.openxmlformats.org/officeDocument/2006/relationships/notesSlide" Target="/ppt/notesSlides/notesSlide27.xml" Id="Rb698041853544cd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x(t)</c:v>
          </c:tx>
          <c:spPr>
            <a:solidFill xmlns:a="http://schemas.openxmlformats.org/drawingml/2006/main">
              <a:srgbClr val="2C6FB7"/>
            </a:solidFill>
          </c:spPr>
          <c:marker>
            <c:symbol val="none"/>
          </c:marker>
          <c:cat>
            <c:numRef>
              <c:f>'Chart Data'!$A$2:$A$82</c:f>
              <c:numCache>
                <c:formatCode>General</c:formatCode>
                <c:ptCount val="81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2.0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3.0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4.0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5.0</c:v>
                </c:pt>
                <c:pt idx="51">
                  <c:v>5.1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6.0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7.0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8.0</c:v>
                </c:pt>
              </c:numCache>
            </c:numRef>
          </c:cat>
          <c:val>
            <c:numRef>
              <c:f>'Chart Data'!$B$2:$B$82</c:f>
              <c:numCache>
                <c:formatCode>General</c:formatCode>
                <c:ptCount val="81"/>
                <c:pt idx="0">
                  <c:v>1</c:v>
                </c:pt>
                <c:pt idx="1">
                  <c:v>0.85466</c:v>
                </c:pt>
                <c:pt idx="2">
                  <c:v>0.49625</c:v>
                </c:pt>
                <c:pt idx="3">
                  <c:v>0.02381</c:v>
                </c:pt>
                <c:pt idx="4">
                  <c:v>-0.438</c:v>
                </c:pt>
                <c:pt idx="5">
                  <c:v>-0.77166</c:v>
                </c:pt>
                <c:pt idx="6">
                  <c:v>-0.89649</c:v>
                </c:pt>
                <c:pt idx="7">
                  <c:v>-0.78802</c:v>
                </c:pt>
                <c:pt idx="8">
                  <c:v>-0.48219</c:v>
                </c:pt>
                <c:pt idx="9">
                  <c:v>-0.06406</c:v>
                </c:pt>
                <c:pt idx="10">
                  <c:v>0.35564</c:v>
                </c:pt>
                <c:pt idx="11">
                  <c:v>0.6697</c:v>
                </c:pt>
                <c:pt idx="12">
                  <c:v>0.80167</c:v>
                </c:pt>
                <c:pt idx="13">
                  <c:v>0.72429</c:v>
                </c:pt>
                <c:pt idx="14">
                  <c:v>0.46472</c:v>
                </c:pt>
                <c:pt idx="15">
                  <c:v>0.09568</c:v>
                </c:pt>
                <c:pt idx="16">
                  <c:v>-0.28474</c:v>
                </c:pt>
                <c:pt idx="17">
                  <c:v>-0.57901</c:v>
                </c:pt>
                <c:pt idx="18">
                  <c:v>-0.71504</c:v>
                </c:pt>
                <c:pt idx="19">
                  <c:v>-0.6637</c:v>
                </c:pt>
                <c:pt idx="20">
                  <c:v>-0.44472</c:v>
                </c:pt>
                <c:pt idx="21">
                  <c:v>-0.11993</c:v>
                </c:pt>
                <c:pt idx="22">
                  <c:v>0.22399</c:v>
                </c:pt>
                <c:pt idx="23">
                  <c:v>0.49856</c:v>
                </c:pt>
                <c:pt idx="24">
                  <c:v>0.63613</c:v>
                </c:pt>
                <c:pt idx="25">
                  <c:v>0.60642</c:v>
                </c:pt>
                <c:pt idx="26">
                  <c:v>0.42293</c:v>
                </c:pt>
                <c:pt idx="27">
                  <c:v>0.13794</c:v>
                </c:pt>
                <c:pt idx="28">
                  <c:v>-0.17218</c:v>
                </c:pt>
                <c:pt idx="29">
                  <c:v>-0.42738</c:v>
                </c:pt>
                <c:pt idx="30">
                  <c:v>-0.56444</c:v>
                </c:pt>
                <c:pt idx="31">
                  <c:v>-0.55254</c:v>
                </c:pt>
                <c:pt idx="32">
                  <c:v>-0.39998</c:v>
                </c:pt>
                <c:pt idx="33">
                  <c:v>-0.1507</c:v>
                </c:pt>
                <c:pt idx="34">
                  <c:v>0.12825</c:v>
                </c:pt>
                <c:pt idx="35">
                  <c:v>0.36458</c:v>
                </c:pt>
                <c:pt idx="36">
                  <c:v>0.49948</c:v>
                </c:pt>
                <c:pt idx="37">
                  <c:v>0.50208</c:v>
                </c:pt>
                <c:pt idx="38">
                  <c:v>0.3764</c:v>
                </c:pt>
                <c:pt idx="39">
                  <c:v>0.15906</c:v>
                </c:pt>
                <c:pt idx="40">
                  <c:v>-0.09121</c:v>
                </c:pt>
                <c:pt idx="41">
                  <c:v>-0.30934</c:v>
                </c:pt>
                <c:pt idx="42">
                  <c:v>-0.44077</c:v>
                </c:pt>
                <c:pt idx="43">
                  <c:v>-0.45502</c:v>
                </c:pt>
                <c:pt idx="44">
                  <c:v>-0.3526</c:v>
                </c:pt>
                <c:pt idx="45">
                  <c:v>-0.16376</c:v>
                </c:pt>
                <c:pt idx="46">
                  <c:v>0.0602</c:v>
                </c:pt>
                <c:pt idx="47">
                  <c:v>0.26088</c:v>
                </c:pt>
                <c:pt idx="48">
                  <c:v>0.38785</c:v>
                </c:pt>
                <c:pt idx="49">
                  <c:v>0.41131</c:v>
                </c:pt>
                <c:pt idx="50">
                  <c:v>0.32892</c:v>
                </c:pt>
                <c:pt idx="51">
                  <c:v>0.16547</c:v>
                </c:pt>
                <c:pt idx="52">
                  <c:v>-0.03445</c:v>
                </c:pt>
                <c:pt idx="53">
                  <c:v>-0.21851</c:v>
                </c:pt>
                <c:pt idx="54">
                  <c:v>-0.34027</c:v>
                </c:pt>
                <c:pt idx="55">
                  <c:v>-0.37084</c:v>
                </c:pt>
                <c:pt idx="56">
                  <c:v>-0.30565</c:v>
                </c:pt>
                <c:pt idx="57">
                  <c:v>-0.16473</c:v>
                </c:pt>
                <c:pt idx="58">
                  <c:v>0.01327</c:v>
                </c:pt>
                <c:pt idx="59">
                  <c:v>0.18159</c:v>
                </c:pt>
                <c:pt idx="60">
                  <c:v>0.29759</c:v>
                </c:pt>
                <c:pt idx="61">
                  <c:v>0.33351</c:v>
                </c:pt>
                <c:pt idx="62">
                  <c:v>0.28301</c:v>
                </c:pt>
                <c:pt idx="63">
                  <c:v>0.16204</c:v>
                </c:pt>
                <c:pt idx="64">
                  <c:v>0.00397</c:v>
                </c:pt>
                <c:pt idx="65">
                  <c:v>-0.14952</c:v>
                </c:pt>
                <c:pt idx="66">
                  <c:v>-0.25941</c:v>
                </c:pt>
                <c:pt idx="67">
                  <c:v>-0.29918</c:v>
                </c:pt>
                <c:pt idx="68">
                  <c:v>-0.26116</c:v>
                </c:pt>
                <c:pt idx="69">
                  <c:v>-0.1578</c:v>
                </c:pt>
                <c:pt idx="70">
                  <c:v>-0.01781</c:v>
                </c:pt>
                <c:pt idx="71">
                  <c:v>0.12178</c:v>
                </c:pt>
                <c:pt idx="72">
                  <c:v>0.22534</c:v>
                </c:pt>
                <c:pt idx="73">
                  <c:v>0.2677</c:v>
                </c:pt>
                <c:pt idx="74">
                  <c:v>0.24022</c:v>
                </c:pt>
                <c:pt idx="75">
                  <c:v>0.15238</c:v>
                </c:pt>
                <c:pt idx="76">
                  <c:v>0.02874</c:v>
                </c:pt>
                <c:pt idx="77">
                  <c:v>-0.09787</c:v>
                </c:pt>
                <c:pt idx="78">
                  <c:v>-0.19501</c:v>
                </c:pt>
                <c:pt idx="79">
                  <c:v>-0.23893</c:v>
                </c:pt>
                <c:pt idx="80">
                  <c:v>-0.22029</c:v>
                </c:pt>
              </c:numCache>
            </c:numRef>
          </c:val>
        </c:ser>
        <c:ser>
          <c:idx val="1"/>
          <c:order val="1"/>
          <c:tx>
            <c:v>+ envelope</c:v>
          </c:tx>
          <c:spPr>
            <a:solidFill xmlns:a="http://schemas.openxmlformats.org/drawingml/2006/main">
              <a:srgbClr val="B31B1B"/>
            </a:solidFill>
          </c:spPr>
          <c:marker>
            <c:symbol val="none"/>
          </c:marker>
          <c:cat>
            <c:numRef>
              <c:f>'Chart Data'!$C$2:$C$82</c:f>
              <c:numCache>
                <c:formatCode>General</c:formatCode>
                <c:ptCount val="81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2.0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3.0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4.0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5.0</c:v>
                </c:pt>
                <c:pt idx="51">
                  <c:v>5.1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6.0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7.0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8.0</c:v>
                </c:pt>
              </c:numCache>
            </c:numRef>
          </c:cat>
          <c:val>
            <c:numRef>
              <c:f>'Chart Data'!$D$2:$D$82</c:f>
              <c:numCache>
                <c:formatCode>General</c:formatCode>
                <c:ptCount val="81"/>
                <c:pt idx="0">
                  <c:v>1</c:v>
                </c:pt>
                <c:pt idx="1">
                  <c:v>0.98216</c:v>
                </c:pt>
                <c:pt idx="2">
                  <c:v>0.96464</c:v>
                </c:pt>
                <c:pt idx="3">
                  <c:v>0.94743</c:v>
                </c:pt>
                <c:pt idx="4">
                  <c:v>0.93053</c:v>
                </c:pt>
                <c:pt idx="5">
                  <c:v>0.91393</c:v>
                </c:pt>
                <c:pt idx="6">
                  <c:v>0.89763</c:v>
                </c:pt>
                <c:pt idx="7">
                  <c:v>0.88161</c:v>
                </c:pt>
                <c:pt idx="8">
                  <c:v>0.86589</c:v>
                </c:pt>
                <c:pt idx="9">
                  <c:v>0.85044</c:v>
                </c:pt>
                <c:pt idx="10">
                  <c:v>0.83527</c:v>
                </c:pt>
                <c:pt idx="11">
                  <c:v>0.82037</c:v>
                </c:pt>
                <c:pt idx="12">
                  <c:v>0.80574</c:v>
                </c:pt>
                <c:pt idx="13">
                  <c:v>0.79136</c:v>
                </c:pt>
                <c:pt idx="14">
                  <c:v>0.77724</c:v>
                </c:pt>
                <c:pt idx="15">
                  <c:v>0.76338</c:v>
                </c:pt>
                <c:pt idx="16">
                  <c:v>0.74976</c:v>
                </c:pt>
                <c:pt idx="17">
                  <c:v>0.73639</c:v>
                </c:pt>
                <c:pt idx="18">
                  <c:v>0.72325</c:v>
                </c:pt>
                <c:pt idx="19">
                  <c:v>0.71035</c:v>
                </c:pt>
                <c:pt idx="20">
                  <c:v>0.69768</c:v>
                </c:pt>
                <c:pt idx="21">
                  <c:v>0.68523</c:v>
                </c:pt>
                <c:pt idx="22">
                  <c:v>0.67301</c:v>
                </c:pt>
                <c:pt idx="23">
                  <c:v>0.661</c:v>
                </c:pt>
                <c:pt idx="24">
                  <c:v>0.64921</c:v>
                </c:pt>
                <c:pt idx="25">
                  <c:v>0.63763</c:v>
                </c:pt>
                <c:pt idx="26">
                  <c:v>0.62625</c:v>
                </c:pt>
                <c:pt idx="27">
                  <c:v>0.61508</c:v>
                </c:pt>
                <c:pt idx="28">
                  <c:v>0.60411</c:v>
                </c:pt>
                <c:pt idx="29">
                  <c:v>0.59333</c:v>
                </c:pt>
                <c:pt idx="30">
                  <c:v>0.58275</c:v>
                </c:pt>
                <c:pt idx="31">
                  <c:v>0.57235</c:v>
                </c:pt>
                <c:pt idx="32">
                  <c:v>0.56214</c:v>
                </c:pt>
                <c:pt idx="33">
                  <c:v>0.55211</c:v>
                </c:pt>
                <c:pt idx="34">
                  <c:v>0.54227</c:v>
                </c:pt>
                <c:pt idx="35">
                  <c:v>0.53259</c:v>
                </c:pt>
                <c:pt idx="36">
                  <c:v>0.52309</c:v>
                </c:pt>
                <c:pt idx="37">
                  <c:v>0.51376</c:v>
                </c:pt>
                <c:pt idx="38">
                  <c:v>0.50459</c:v>
                </c:pt>
                <c:pt idx="39">
                  <c:v>0.49559</c:v>
                </c:pt>
                <c:pt idx="40">
                  <c:v>0.48675</c:v>
                </c:pt>
                <c:pt idx="41">
                  <c:v>0.47807</c:v>
                </c:pt>
                <c:pt idx="42">
                  <c:v>0.46954</c:v>
                </c:pt>
                <c:pt idx="43">
                  <c:v>0.46116</c:v>
                </c:pt>
                <c:pt idx="44">
                  <c:v>0.45294</c:v>
                </c:pt>
                <c:pt idx="45">
                  <c:v>0.44486</c:v>
                </c:pt>
                <c:pt idx="46">
                  <c:v>0.43692</c:v>
                </c:pt>
                <c:pt idx="47">
                  <c:v>0.42913</c:v>
                </c:pt>
                <c:pt idx="48">
                  <c:v>0.42147</c:v>
                </c:pt>
                <c:pt idx="49">
                  <c:v>0.41395</c:v>
                </c:pt>
                <c:pt idx="50">
                  <c:v>0.40657</c:v>
                </c:pt>
                <c:pt idx="51">
                  <c:v>0.39932</c:v>
                </c:pt>
                <c:pt idx="52">
                  <c:v>0.39219</c:v>
                </c:pt>
                <c:pt idx="53">
                  <c:v>0.3852</c:v>
                </c:pt>
                <c:pt idx="54">
                  <c:v>0.37833</c:v>
                </c:pt>
                <c:pt idx="55">
                  <c:v>0.37158</c:v>
                </c:pt>
                <c:pt idx="56">
                  <c:v>0.36495</c:v>
                </c:pt>
                <c:pt idx="57">
                  <c:v>0.35844</c:v>
                </c:pt>
                <c:pt idx="58">
                  <c:v>0.35204</c:v>
                </c:pt>
                <c:pt idx="59">
                  <c:v>0.34576</c:v>
                </c:pt>
                <c:pt idx="60">
                  <c:v>0.3396</c:v>
                </c:pt>
                <c:pt idx="61">
                  <c:v>0.33354</c:v>
                </c:pt>
                <c:pt idx="62">
                  <c:v>0.32759</c:v>
                </c:pt>
                <c:pt idx="63">
                  <c:v>0.32174</c:v>
                </c:pt>
                <c:pt idx="64">
                  <c:v>0.316</c:v>
                </c:pt>
                <c:pt idx="65">
                  <c:v>0.31037</c:v>
                </c:pt>
                <c:pt idx="66">
                  <c:v>0.30483</c:v>
                </c:pt>
                <c:pt idx="67">
                  <c:v>0.29939</c:v>
                </c:pt>
                <c:pt idx="68">
                  <c:v>0.29405</c:v>
                </c:pt>
                <c:pt idx="69">
                  <c:v>0.28881</c:v>
                </c:pt>
                <c:pt idx="70">
                  <c:v>0.28365</c:v>
                </c:pt>
                <c:pt idx="71">
                  <c:v>0.27859</c:v>
                </c:pt>
                <c:pt idx="72">
                  <c:v>0.27362</c:v>
                </c:pt>
                <c:pt idx="73">
                  <c:v>0.26874</c:v>
                </c:pt>
                <c:pt idx="74">
                  <c:v>0.26395</c:v>
                </c:pt>
                <c:pt idx="75">
                  <c:v>0.25924</c:v>
                </c:pt>
                <c:pt idx="76">
                  <c:v>0.25462</c:v>
                </c:pt>
                <c:pt idx="77">
                  <c:v>0.25007</c:v>
                </c:pt>
                <c:pt idx="78">
                  <c:v>0.24561</c:v>
                </c:pt>
                <c:pt idx="79">
                  <c:v>0.24123</c:v>
                </c:pt>
                <c:pt idx="80">
                  <c:v>0.23693</c:v>
                </c:pt>
              </c:numCache>
            </c:numRef>
          </c:val>
        </c:ser>
        <c:ser>
          <c:idx val="2"/>
          <c:order val="2"/>
          <c:tx>
            <c:v>− envelope</c:v>
          </c:tx>
          <c:spPr>
            <a:solidFill xmlns:a="http://schemas.openxmlformats.org/drawingml/2006/main">
              <a:srgbClr val="B31B1B"/>
            </a:solidFill>
          </c:spPr>
          <c:marker>
            <c:symbol val="none"/>
          </c:marker>
          <c:cat>
            <c:numRef>
              <c:f>'Chart Data'!$E$2:$E$82</c:f>
              <c:numCache>
                <c:formatCode>General</c:formatCode>
                <c:ptCount val="81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2.0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3.0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4.0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5.0</c:v>
                </c:pt>
                <c:pt idx="51">
                  <c:v>5.1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6.0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7.0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8.0</c:v>
                </c:pt>
              </c:numCache>
            </c:numRef>
          </c:cat>
          <c:val>
            <c:numRef>
              <c:f>'Chart Data'!$F$2:$F$82</c:f>
              <c:numCache>
                <c:formatCode>General</c:formatCode>
                <c:ptCount val="81"/>
                <c:pt idx="0">
                  <c:v>-1</c:v>
                </c:pt>
                <c:pt idx="1">
                  <c:v>-0.98216</c:v>
                </c:pt>
                <c:pt idx="2">
                  <c:v>-0.96464</c:v>
                </c:pt>
                <c:pt idx="3">
                  <c:v>-0.94743</c:v>
                </c:pt>
                <c:pt idx="4">
                  <c:v>-0.93053</c:v>
                </c:pt>
                <c:pt idx="5">
                  <c:v>-0.91393</c:v>
                </c:pt>
                <c:pt idx="6">
                  <c:v>-0.89763</c:v>
                </c:pt>
                <c:pt idx="7">
                  <c:v>-0.88161</c:v>
                </c:pt>
                <c:pt idx="8">
                  <c:v>-0.86589</c:v>
                </c:pt>
                <c:pt idx="9">
                  <c:v>-0.85044</c:v>
                </c:pt>
                <c:pt idx="10">
                  <c:v>-0.83527</c:v>
                </c:pt>
                <c:pt idx="11">
                  <c:v>-0.82037</c:v>
                </c:pt>
                <c:pt idx="12">
                  <c:v>-0.80574</c:v>
                </c:pt>
                <c:pt idx="13">
                  <c:v>-0.79136</c:v>
                </c:pt>
                <c:pt idx="14">
                  <c:v>-0.77724</c:v>
                </c:pt>
                <c:pt idx="15">
                  <c:v>-0.76338</c:v>
                </c:pt>
                <c:pt idx="16">
                  <c:v>-0.74976</c:v>
                </c:pt>
                <c:pt idx="17">
                  <c:v>-0.73639</c:v>
                </c:pt>
                <c:pt idx="18">
                  <c:v>-0.72325</c:v>
                </c:pt>
                <c:pt idx="19">
                  <c:v>-0.71035</c:v>
                </c:pt>
                <c:pt idx="20">
                  <c:v>-0.69768</c:v>
                </c:pt>
                <c:pt idx="21">
                  <c:v>-0.68523</c:v>
                </c:pt>
                <c:pt idx="22">
                  <c:v>-0.67301</c:v>
                </c:pt>
                <c:pt idx="23">
                  <c:v>-0.661</c:v>
                </c:pt>
                <c:pt idx="24">
                  <c:v>-0.64921</c:v>
                </c:pt>
                <c:pt idx="25">
                  <c:v>-0.63763</c:v>
                </c:pt>
                <c:pt idx="26">
                  <c:v>-0.62625</c:v>
                </c:pt>
                <c:pt idx="27">
                  <c:v>-0.61508</c:v>
                </c:pt>
                <c:pt idx="28">
                  <c:v>-0.60411</c:v>
                </c:pt>
                <c:pt idx="29">
                  <c:v>-0.59333</c:v>
                </c:pt>
                <c:pt idx="30">
                  <c:v>-0.58275</c:v>
                </c:pt>
                <c:pt idx="31">
                  <c:v>-0.57235</c:v>
                </c:pt>
                <c:pt idx="32">
                  <c:v>-0.56214</c:v>
                </c:pt>
                <c:pt idx="33">
                  <c:v>-0.55211</c:v>
                </c:pt>
                <c:pt idx="34">
                  <c:v>-0.54227</c:v>
                </c:pt>
                <c:pt idx="35">
                  <c:v>-0.53259</c:v>
                </c:pt>
                <c:pt idx="36">
                  <c:v>-0.52309</c:v>
                </c:pt>
                <c:pt idx="37">
                  <c:v>-0.51376</c:v>
                </c:pt>
                <c:pt idx="38">
                  <c:v>-0.50459</c:v>
                </c:pt>
                <c:pt idx="39">
                  <c:v>-0.49559</c:v>
                </c:pt>
                <c:pt idx="40">
                  <c:v>-0.48675</c:v>
                </c:pt>
                <c:pt idx="41">
                  <c:v>-0.47807</c:v>
                </c:pt>
                <c:pt idx="42">
                  <c:v>-0.46954</c:v>
                </c:pt>
                <c:pt idx="43">
                  <c:v>-0.46116</c:v>
                </c:pt>
                <c:pt idx="44">
                  <c:v>-0.45294</c:v>
                </c:pt>
                <c:pt idx="45">
                  <c:v>-0.44486</c:v>
                </c:pt>
                <c:pt idx="46">
                  <c:v>-0.43692</c:v>
                </c:pt>
                <c:pt idx="47">
                  <c:v>-0.42913</c:v>
                </c:pt>
                <c:pt idx="48">
                  <c:v>-0.42147</c:v>
                </c:pt>
                <c:pt idx="49">
                  <c:v>-0.41395</c:v>
                </c:pt>
                <c:pt idx="50">
                  <c:v>-0.40657</c:v>
                </c:pt>
                <c:pt idx="51">
                  <c:v>-0.39932</c:v>
                </c:pt>
                <c:pt idx="52">
                  <c:v>-0.39219</c:v>
                </c:pt>
                <c:pt idx="53">
                  <c:v>-0.3852</c:v>
                </c:pt>
                <c:pt idx="54">
                  <c:v>-0.37833</c:v>
                </c:pt>
                <c:pt idx="55">
                  <c:v>-0.37158</c:v>
                </c:pt>
                <c:pt idx="56">
                  <c:v>-0.36495</c:v>
                </c:pt>
                <c:pt idx="57">
                  <c:v>-0.35844</c:v>
                </c:pt>
                <c:pt idx="58">
                  <c:v>-0.35204</c:v>
                </c:pt>
                <c:pt idx="59">
                  <c:v>-0.34576</c:v>
                </c:pt>
                <c:pt idx="60">
                  <c:v>-0.3396</c:v>
                </c:pt>
                <c:pt idx="61">
                  <c:v>-0.33354</c:v>
                </c:pt>
                <c:pt idx="62">
                  <c:v>-0.32759</c:v>
                </c:pt>
                <c:pt idx="63">
                  <c:v>-0.32174</c:v>
                </c:pt>
                <c:pt idx="64">
                  <c:v>-0.316</c:v>
                </c:pt>
                <c:pt idx="65">
                  <c:v>-0.31037</c:v>
                </c:pt>
                <c:pt idx="66">
                  <c:v>-0.30483</c:v>
                </c:pt>
                <c:pt idx="67">
                  <c:v>-0.29939</c:v>
                </c:pt>
                <c:pt idx="68">
                  <c:v>-0.29405</c:v>
                </c:pt>
                <c:pt idx="69">
                  <c:v>-0.28881</c:v>
                </c:pt>
                <c:pt idx="70">
                  <c:v>-0.28365</c:v>
                </c:pt>
                <c:pt idx="71">
                  <c:v>-0.27859</c:v>
                </c:pt>
                <c:pt idx="72">
                  <c:v>-0.27362</c:v>
                </c:pt>
                <c:pt idx="73">
                  <c:v>-0.26874</c:v>
                </c:pt>
                <c:pt idx="74">
                  <c:v>-0.26395</c:v>
                </c:pt>
                <c:pt idx="75">
                  <c:v>-0.25924</c:v>
                </c:pt>
                <c:pt idx="76">
                  <c:v>-0.25462</c:v>
                </c:pt>
                <c:pt idx="77">
                  <c:v>-0.25007</c:v>
                </c:pt>
                <c:pt idx="78">
                  <c:v>-0.24561</c:v>
                </c:pt>
                <c:pt idx="79">
                  <c:v>-0.24123</c:v>
                </c:pt>
                <c:pt idx="80">
                  <c:v>-0.23693</c:v>
                </c:pt>
              </c:numCache>
            </c:numRef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time (s)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displacement (relative)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|X(f)|</c:v>
          </c:tx>
          <c:spPr>
            <a:solidFill xmlns:a="http://schemas.openxmlformats.org/drawingml/2006/main">
              <a:srgbClr val="2C6FB7"/>
            </a:solidFill>
          </c:spPr>
          <c:marker>
            <c:symbol val="none"/>
          </c:marker>
          <c:cat>
            <c:numRef>
              <c:f>'Chart Data'!$A$2:$A$122</c:f>
              <c:numCache>
                <c:formatCode>General</c:formatCode>
                <c:ptCount val="121"/>
                <c:pt idx="0">
                  <c:v>0.000</c:v>
                </c:pt>
                <c:pt idx="1">
                  <c:v>0.025</c:v>
                </c:pt>
                <c:pt idx="2">
                  <c:v>0.050</c:v>
                </c:pt>
                <c:pt idx="3">
                  <c:v>0.075</c:v>
                </c:pt>
                <c:pt idx="4">
                  <c:v>0.100</c:v>
                </c:pt>
                <c:pt idx="5">
                  <c:v>0.125</c:v>
                </c:pt>
                <c:pt idx="6">
                  <c:v>0.150</c:v>
                </c:pt>
                <c:pt idx="7">
                  <c:v>0.175</c:v>
                </c:pt>
                <c:pt idx="8">
                  <c:v>0.200</c:v>
                </c:pt>
                <c:pt idx="9">
                  <c:v>0.225</c:v>
                </c:pt>
                <c:pt idx="10">
                  <c:v>0.250</c:v>
                </c:pt>
                <c:pt idx="11">
                  <c:v>0.275</c:v>
                </c:pt>
                <c:pt idx="12">
                  <c:v>0.300</c:v>
                </c:pt>
                <c:pt idx="13">
                  <c:v>0.325</c:v>
                </c:pt>
                <c:pt idx="14">
                  <c:v>0.350</c:v>
                </c:pt>
                <c:pt idx="15">
                  <c:v>0.375</c:v>
                </c:pt>
                <c:pt idx="16">
                  <c:v>0.400</c:v>
                </c:pt>
                <c:pt idx="17">
                  <c:v>0.425</c:v>
                </c:pt>
                <c:pt idx="18">
                  <c:v>0.450</c:v>
                </c:pt>
                <c:pt idx="19">
                  <c:v>0.475</c:v>
                </c:pt>
                <c:pt idx="20">
                  <c:v>0.500</c:v>
                </c:pt>
                <c:pt idx="21">
                  <c:v>0.525</c:v>
                </c:pt>
                <c:pt idx="22">
                  <c:v>0.550</c:v>
                </c:pt>
                <c:pt idx="23">
                  <c:v>0.575</c:v>
                </c:pt>
                <c:pt idx="24">
                  <c:v>0.600</c:v>
                </c:pt>
                <c:pt idx="25">
                  <c:v>0.625</c:v>
                </c:pt>
                <c:pt idx="26">
                  <c:v>0.650</c:v>
                </c:pt>
                <c:pt idx="27">
                  <c:v>0.675</c:v>
                </c:pt>
                <c:pt idx="28">
                  <c:v>0.700</c:v>
                </c:pt>
                <c:pt idx="29">
                  <c:v>0.725</c:v>
                </c:pt>
                <c:pt idx="30">
                  <c:v>0.750</c:v>
                </c:pt>
                <c:pt idx="31">
                  <c:v>0.775</c:v>
                </c:pt>
                <c:pt idx="32">
                  <c:v>0.800</c:v>
                </c:pt>
                <c:pt idx="33">
                  <c:v>0.825</c:v>
                </c:pt>
                <c:pt idx="34">
                  <c:v>0.850</c:v>
                </c:pt>
                <c:pt idx="35">
                  <c:v>0.875</c:v>
                </c:pt>
                <c:pt idx="36">
                  <c:v>0.900</c:v>
                </c:pt>
                <c:pt idx="37">
                  <c:v>0.925</c:v>
                </c:pt>
                <c:pt idx="38">
                  <c:v>0.950</c:v>
                </c:pt>
                <c:pt idx="39">
                  <c:v>0.975</c:v>
                </c:pt>
                <c:pt idx="40">
                  <c:v>1.000</c:v>
                </c:pt>
                <c:pt idx="41">
                  <c:v>1.025</c:v>
                </c:pt>
                <c:pt idx="42">
                  <c:v>1.050</c:v>
                </c:pt>
                <c:pt idx="43">
                  <c:v>1.075</c:v>
                </c:pt>
                <c:pt idx="44">
                  <c:v>1.100</c:v>
                </c:pt>
                <c:pt idx="45">
                  <c:v>1.125</c:v>
                </c:pt>
                <c:pt idx="46">
                  <c:v>1.150</c:v>
                </c:pt>
                <c:pt idx="47">
                  <c:v>1.175</c:v>
                </c:pt>
                <c:pt idx="48">
                  <c:v>1.200</c:v>
                </c:pt>
                <c:pt idx="49">
                  <c:v>1.225</c:v>
                </c:pt>
                <c:pt idx="50">
                  <c:v>1.250</c:v>
                </c:pt>
                <c:pt idx="51">
                  <c:v>1.275</c:v>
                </c:pt>
                <c:pt idx="52">
                  <c:v>1.300</c:v>
                </c:pt>
                <c:pt idx="53">
                  <c:v>1.325</c:v>
                </c:pt>
                <c:pt idx="54">
                  <c:v>1.350</c:v>
                </c:pt>
                <c:pt idx="55">
                  <c:v>1.375</c:v>
                </c:pt>
                <c:pt idx="56">
                  <c:v>1.400</c:v>
                </c:pt>
                <c:pt idx="57">
                  <c:v>1.425</c:v>
                </c:pt>
                <c:pt idx="58">
                  <c:v>1.450</c:v>
                </c:pt>
                <c:pt idx="59">
                  <c:v>1.475</c:v>
                </c:pt>
                <c:pt idx="60">
                  <c:v>1.500</c:v>
                </c:pt>
                <c:pt idx="61">
                  <c:v>1.525</c:v>
                </c:pt>
                <c:pt idx="62">
                  <c:v>1.550</c:v>
                </c:pt>
                <c:pt idx="63">
                  <c:v>1.575</c:v>
                </c:pt>
                <c:pt idx="64">
                  <c:v>1.600</c:v>
                </c:pt>
                <c:pt idx="65">
                  <c:v>1.625</c:v>
                </c:pt>
                <c:pt idx="66">
                  <c:v>1.650</c:v>
                </c:pt>
                <c:pt idx="67">
                  <c:v>1.675</c:v>
                </c:pt>
                <c:pt idx="68">
                  <c:v>1.700</c:v>
                </c:pt>
                <c:pt idx="69">
                  <c:v>1.725</c:v>
                </c:pt>
                <c:pt idx="70">
                  <c:v>1.750</c:v>
                </c:pt>
                <c:pt idx="71">
                  <c:v>1.775</c:v>
                </c:pt>
                <c:pt idx="72">
                  <c:v>1.800</c:v>
                </c:pt>
                <c:pt idx="73">
                  <c:v>1.825</c:v>
                </c:pt>
                <c:pt idx="74">
                  <c:v>1.850</c:v>
                </c:pt>
                <c:pt idx="75">
                  <c:v>1.875</c:v>
                </c:pt>
                <c:pt idx="76">
                  <c:v>1.900</c:v>
                </c:pt>
                <c:pt idx="77">
                  <c:v>1.925</c:v>
                </c:pt>
                <c:pt idx="78">
                  <c:v>1.950</c:v>
                </c:pt>
                <c:pt idx="79">
                  <c:v>1.975</c:v>
                </c:pt>
                <c:pt idx="80">
                  <c:v>2.000</c:v>
                </c:pt>
                <c:pt idx="81">
                  <c:v>2.025</c:v>
                </c:pt>
                <c:pt idx="82">
                  <c:v>2.050</c:v>
                </c:pt>
                <c:pt idx="83">
                  <c:v>2.075</c:v>
                </c:pt>
                <c:pt idx="84">
                  <c:v>2.100</c:v>
                </c:pt>
                <c:pt idx="85">
                  <c:v>2.125</c:v>
                </c:pt>
                <c:pt idx="86">
                  <c:v>2.150</c:v>
                </c:pt>
                <c:pt idx="87">
                  <c:v>2.175</c:v>
                </c:pt>
                <c:pt idx="88">
                  <c:v>2.200</c:v>
                </c:pt>
                <c:pt idx="89">
                  <c:v>2.225</c:v>
                </c:pt>
                <c:pt idx="90">
                  <c:v>2.250</c:v>
                </c:pt>
                <c:pt idx="91">
                  <c:v>2.275</c:v>
                </c:pt>
                <c:pt idx="92">
                  <c:v>2.300</c:v>
                </c:pt>
                <c:pt idx="93">
                  <c:v>2.325</c:v>
                </c:pt>
                <c:pt idx="94">
                  <c:v>2.350</c:v>
                </c:pt>
                <c:pt idx="95">
                  <c:v>2.375</c:v>
                </c:pt>
                <c:pt idx="96">
                  <c:v>2.400</c:v>
                </c:pt>
                <c:pt idx="97">
                  <c:v>2.425</c:v>
                </c:pt>
                <c:pt idx="98">
                  <c:v>2.450</c:v>
                </c:pt>
                <c:pt idx="99">
                  <c:v>2.475</c:v>
                </c:pt>
                <c:pt idx="100">
                  <c:v>2.500</c:v>
                </c:pt>
                <c:pt idx="101">
                  <c:v>2.525</c:v>
                </c:pt>
                <c:pt idx="102">
                  <c:v>2.550</c:v>
                </c:pt>
                <c:pt idx="103">
                  <c:v>2.575</c:v>
                </c:pt>
                <c:pt idx="104">
                  <c:v>2.600</c:v>
                </c:pt>
                <c:pt idx="105">
                  <c:v>2.625</c:v>
                </c:pt>
                <c:pt idx="106">
                  <c:v>2.650</c:v>
                </c:pt>
                <c:pt idx="107">
                  <c:v>2.675</c:v>
                </c:pt>
                <c:pt idx="108">
                  <c:v>2.700</c:v>
                </c:pt>
                <c:pt idx="109">
                  <c:v>2.725</c:v>
                </c:pt>
                <c:pt idx="110">
                  <c:v>2.750</c:v>
                </c:pt>
                <c:pt idx="111">
                  <c:v>2.775</c:v>
                </c:pt>
                <c:pt idx="112">
                  <c:v>2.800</c:v>
                </c:pt>
                <c:pt idx="113">
                  <c:v>2.825</c:v>
                </c:pt>
                <c:pt idx="114">
                  <c:v>2.850</c:v>
                </c:pt>
                <c:pt idx="115">
                  <c:v>2.875</c:v>
                </c:pt>
                <c:pt idx="116">
                  <c:v>2.900</c:v>
                </c:pt>
                <c:pt idx="117">
                  <c:v>2.925</c:v>
                </c:pt>
                <c:pt idx="118">
                  <c:v>2.950</c:v>
                </c:pt>
                <c:pt idx="119">
                  <c:v>2.975</c:v>
                </c:pt>
                <c:pt idx="120">
                  <c:v>3.000</c:v>
                </c:pt>
              </c:numCache>
            </c:numRef>
          </c:cat>
          <c:val>
            <c:numRef>
              <c:f>'Chart Data'!$B$2:$B$122</c:f>
              <c:numCache>
                <c:formatCode>General</c:formatCode>
                <c:ptCount val="121"/>
                <c:pt idx="0">
                  <c:v>0.00943</c:v>
                </c:pt>
                <c:pt idx="1">
                  <c:v>0.01001</c:v>
                </c:pt>
                <c:pt idx="2">
                  <c:v>0.01065</c:v>
                </c:pt>
                <c:pt idx="3">
                  <c:v>0.01136</c:v>
                </c:pt>
                <c:pt idx="4">
                  <c:v>0.01213</c:v>
                </c:pt>
                <c:pt idx="5">
                  <c:v>0.013</c:v>
                </c:pt>
                <c:pt idx="6">
                  <c:v>0.01395</c:v>
                </c:pt>
                <c:pt idx="7">
                  <c:v>0.01502</c:v>
                </c:pt>
                <c:pt idx="8">
                  <c:v>0.01621</c:v>
                </c:pt>
                <c:pt idx="9">
                  <c:v>0.01756</c:v>
                </c:pt>
                <c:pt idx="10">
                  <c:v>0.01908</c:v>
                </c:pt>
                <c:pt idx="11">
                  <c:v>0.0208</c:v>
                </c:pt>
                <c:pt idx="12">
                  <c:v>0.02278</c:v>
                </c:pt>
                <c:pt idx="13">
                  <c:v>0.02504</c:v>
                </c:pt>
                <c:pt idx="14">
                  <c:v>0.02767</c:v>
                </c:pt>
                <c:pt idx="15">
                  <c:v>0.03073</c:v>
                </c:pt>
                <c:pt idx="16">
                  <c:v>0.03432</c:v>
                </c:pt>
                <c:pt idx="17">
                  <c:v>0.03857</c:v>
                </c:pt>
                <c:pt idx="18">
                  <c:v>0.04367</c:v>
                </c:pt>
                <c:pt idx="19">
                  <c:v>0.04983</c:v>
                </c:pt>
                <c:pt idx="20">
                  <c:v>0.05737</c:v>
                </c:pt>
                <c:pt idx="21">
                  <c:v>0.06673</c:v>
                </c:pt>
                <c:pt idx="22">
                  <c:v>0.07852</c:v>
                </c:pt>
                <c:pt idx="23">
                  <c:v>0.09362</c:v>
                </c:pt>
                <c:pt idx="24">
                  <c:v>0.11334</c:v>
                </c:pt>
                <c:pt idx="25">
                  <c:v>0.13963</c:v>
                </c:pt>
                <c:pt idx="26">
                  <c:v>0.17551</c:v>
                </c:pt>
                <c:pt idx="27">
                  <c:v>0.22562</c:v>
                </c:pt>
                <c:pt idx="28">
                  <c:v>0.29711</c:v>
                </c:pt>
                <c:pt idx="29">
                  <c:v>0.40014</c:v>
                </c:pt>
                <c:pt idx="30">
                  <c:v>0.54553</c:v>
                </c:pt>
                <c:pt idx="31">
                  <c:v>0.73077</c:v>
                </c:pt>
                <c:pt idx="32">
                  <c:v>0.90427</c:v>
                </c:pt>
                <c:pt idx="33">
                  <c:v>0.95586</c:v>
                </c:pt>
                <c:pt idx="34">
                  <c:v>0.84023</c:v>
                </c:pt>
                <c:pt idx="35">
                  <c:v>0.64998</c:v>
                </c:pt>
                <c:pt idx="36">
                  <c:v>0.478</c:v>
                </c:pt>
                <c:pt idx="37">
                  <c:v>0.35069</c:v>
                </c:pt>
                <c:pt idx="38">
                  <c:v>0.26194</c:v>
                </c:pt>
                <c:pt idx="39">
                  <c:v>0.20034</c:v>
                </c:pt>
                <c:pt idx="40">
                  <c:v>0.1569</c:v>
                </c:pt>
                <c:pt idx="41">
                  <c:v>0.12556</c:v>
                </c:pt>
                <c:pt idx="42">
                  <c:v>0.10241</c:v>
                </c:pt>
                <c:pt idx="43">
                  <c:v>0.08492</c:v>
                </c:pt>
                <c:pt idx="44">
                  <c:v>0.07143</c:v>
                </c:pt>
                <c:pt idx="45">
                  <c:v>0.06085</c:v>
                </c:pt>
                <c:pt idx="46">
                  <c:v>0.05241</c:v>
                </c:pt>
                <c:pt idx="47">
                  <c:v>0.04557</c:v>
                </c:pt>
                <c:pt idx="48">
                  <c:v>0.03997</c:v>
                </c:pt>
                <c:pt idx="49">
                  <c:v>0.03532</c:v>
                </c:pt>
                <c:pt idx="50">
                  <c:v>0.03143</c:v>
                </c:pt>
                <c:pt idx="51">
                  <c:v>0.02814</c:v>
                </c:pt>
                <c:pt idx="52">
                  <c:v>0.02533</c:v>
                </c:pt>
                <c:pt idx="53">
                  <c:v>0.02291</c:v>
                </c:pt>
                <c:pt idx="54">
                  <c:v>0.02082</c:v>
                </c:pt>
                <c:pt idx="55">
                  <c:v>0.019</c:v>
                </c:pt>
                <c:pt idx="56">
                  <c:v>0.01741</c:v>
                </c:pt>
                <c:pt idx="57">
                  <c:v>0.016</c:v>
                </c:pt>
                <c:pt idx="58">
                  <c:v>0.01476</c:v>
                </c:pt>
                <c:pt idx="59">
                  <c:v>0.01365</c:v>
                </c:pt>
                <c:pt idx="60">
                  <c:v>0.01267</c:v>
                </c:pt>
                <c:pt idx="61">
                  <c:v>0.01178</c:v>
                </c:pt>
                <c:pt idx="62">
                  <c:v>0.01098</c:v>
                </c:pt>
                <c:pt idx="63">
                  <c:v>0.01026</c:v>
                </c:pt>
                <c:pt idx="64">
                  <c:v>0.00961</c:v>
                </c:pt>
                <c:pt idx="65">
                  <c:v>0.00902</c:v>
                </c:pt>
                <c:pt idx="66">
                  <c:v>0.00848</c:v>
                </c:pt>
                <c:pt idx="67">
                  <c:v>0.00798</c:v>
                </c:pt>
                <c:pt idx="68">
                  <c:v>0.00753</c:v>
                </c:pt>
                <c:pt idx="69">
                  <c:v>0.00711</c:v>
                </c:pt>
                <c:pt idx="70">
                  <c:v>0.00673</c:v>
                </c:pt>
                <c:pt idx="71">
                  <c:v>0.00638</c:v>
                </c:pt>
                <c:pt idx="72">
                  <c:v>0.00605</c:v>
                </c:pt>
                <c:pt idx="73">
                  <c:v>0.00575</c:v>
                </c:pt>
                <c:pt idx="74">
                  <c:v>0.00547</c:v>
                </c:pt>
                <c:pt idx="75">
                  <c:v>0.00521</c:v>
                </c:pt>
                <c:pt idx="76">
                  <c:v>0.00496</c:v>
                </c:pt>
                <c:pt idx="77">
                  <c:v>0.00474</c:v>
                </c:pt>
                <c:pt idx="78">
                  <c:v>0.00452</c:v>
                </c:pt>
                <c:pt idx="79">
                  <c:v>0.00433</c:v>
                </c:pt>
                <c:pt idx="80">
                  <c:v>0.00414</c:v>
                </c:pt>
                <c:pt idx="81">
                  <c:v>0.00397</c:v>
                </c:pt>
                <c:pt idx="82">
                  <c:v>0.0038</c:v>
                </c:pt>
                <c:pt idx="83">
                  <c:v>0.00365</c:v>
                </c:pt>
                <c:pt idx="84">
                  <c:v>0.0035</c:v>
                </c:pt>
                <c:pt idx="85">
                  <c:v>0.00337</c:v>
                </c:pt>
                <c:pt idx="86">
                  <c:v>0.00324</c:v>
                </c:pt>
                <c:pt idx="87">
                  <c:v>0.00312</c:v>
                </c:pt>
                <c:pt idx="88">
                  <c:v>0.003</c:v>
                </c:pt>
                <c:pt idx="89">
                  <c:v>0.00289</c:v>
                </c:pt>
                <c:pt idx="90">
                  <c:v>0.00279</c:v>
                </c:pt>
                <c:pt idx="91">
                  <c:v>0.00269</c:v>
                </c:pt>
                <c:pt idx="92">
                  <c:v>0.0026</c:v>
                </c:pt>
                <c:pt idx="93">
                  <c:v>0.00251</c:v>
                </c:pt>
                <c:pt idx="94">
                  <c:v>0.00242</c:v>
                </c:pt>
                <c:pt idx="95">
                  <c:v>0.00234</c:v>
                </c:pt>
                <c:pt idx="96">
                  <c:v>0.00227</c:v>
                </c:pt>
                <c:pt idx="97">
                  <c:v>0.0022</c:v>
                </c:pt>
                <c:pt idx="98">
                  <c:v>0.00213</c:v>
                </c:pt>
                <c:pt idx="99">
                  <c:v>0.00206</c:v>
                </c:pt>
                <c:pt idx="100">
                  <c:v>0.002</c:v>
                </c:pt>
                <c:pt idx="101">
                  <c:v>0.00194</c:v>
                </c:pt>
                <c:pt idx="102">
                  <c:v>0.00188</c:v>
                </c:pt>
                <c:pt idx="103">
                  <c:v>0.00182</c:v>
                </c:pt>
                <c:pt idx="104">
                  <c:v>0.00177</c:v>
                </c:pt>
                <c:pt idx="105">
                  <c:v>0.00172</c:v>
                </c:pt>
                <c:pt idx="106">
                  <c:v>0.00167</c:v>
                </c:pt>
                <c:pt idx="107">
                  <c:v>0.00162</c:v>
                </c:pt>
                <c:pt idx="108">
                  <c:v>0.00158</c:v>
                </c:pt>
                <c:pt idx="109">
                  <c:v>0.00154</c:v>
                </c:pt>
                <c:pt idx="110">
                  <c:v>0.00149</c:v>
                </c:pt>
                <c:pt idx="111">
                  <c:v>0.00146</c:v>
                </c:pt>
                <c:pt idx="112">
                  <c:v>0.00142</c:v>
                </c:pt>
                <c:pt idx="113">
                  <c:v>0.00138</c:v>
                </c:pt>
                <c:pt idx="114">
                  <c:v>0.00134</c:v>
                </c:pt>
                <c:pt idx="115">
                  <c:v>0.00131</c:v>
                </c:pt>
                <c:pt idx="116">
                  <c:v>0.00128</c:v>
                </c:pt>
                <c:pt idx="117">
                  <c:v>0.00125</c:v>
                </c:pt>
                <c:pt idx="118">
                  <c:v>0.00122</c:v>
                </c:pt>
                <c:pt idx="119">
                  <c:v>0.00119</c:v>
                </c:pt>
                <c:pt idx="120">
                  <c:v>0.00116</c:v>
                </c:pt>
              </c:numCache>
            </c:numRef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frequency (Hz)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amplitude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57A62-53A1-4D42-99EF-AC3521E8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2DADA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2DADA"/>
                </a:solidFill>
              </a:defRPr>
            </a:pPr>
            <a:r>
              <a:rPr sz="1200" b="1">
                <a:solidFill>
                  <a:srgbClr val="F2DADA"/>
                </a:solidFill>
              </a:rPr>
              <a:t>MIE 402  |  ME LAB II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40476-2C3F-4D94-A53E-770B2838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Lab 4: free vibration of a 1‑DOF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A32E3-5AA0-4DBC-B1E1-971BAD52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DCE6F0"/>
                </a:solidFill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DCE6F0"/>
                </a:solidFill>
              </a:defRPr>
            </a:pPr>
            <a:r>
              <a:rPr sz="1725" b="0">
                <a:solidFill>
                  <a:srgbClr val="DCE6F0"/>
                </a:solidFill>
              </a:rPr>
              <a:t>From a sensor-cart record to mass, stiffness, natural frequency, and damping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14478-9D19-40F9-92DE-C07C24D2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05300"/>
            <a:ext cx="3429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B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EFF5C-4E5A-4BB1-AD13-5E9EF648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DCE6F0"/>
                </a:solidFill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DCE6F0"/>
                </a:solidFill>
              </a:defRPr>
            </a:pPr>
            <a:r>
              <a:rPr sz="1275" b="0">
                <a:solidFill>
                  <a:srgbClr val="DCE6F0"/>
                </a:solidFill>
              </a:rPr>
              <a:t>Fall 2026  •  Lab 4 theory  •  October 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6293A-AD26-4EFE-9031-B26507C7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86375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Free response  |  natural frequency  |  damping from decay</a:t>
            </a:r>
          </a:p>
        </p:txBody>
      </p:sp>
    </p:spTree>
    <p:extLst>
      <p:ext uri="{BB962C8B-B14F-4D97-AF65-F5344CB8AC3E}">
        <p14:creationId xmlns:p14="http://schemas.microsoft.com/office/powerpoint/2010/main" val="12196137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4939C5-B54C-4769-AE3A-A3476CB0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APPLICATION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6CC4F-502A-4E82-A9CB-56AB21F8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0–3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5E822-7310-4A2A-AA9C-8735E5FA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Why this experiment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5BE10-CB57-408A-B328-12A48D9B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49AE6-1A2F-48D5-BD7B-CC1F16DE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66875"/>
            <a:ext cx="3429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86243-3E36-4D5D-8B1B-2591B3B1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8859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881C1C"/>
                </a:solidFill>
              </a:defRPr>
            </a:pPr>
            <a:r>
              <a:rPr sz="1875" b="1">
                <a:solidFill>
                  <a:srgbClr val="881C1C"/>
                </a:solidFill>
              </a:rPr>
              <a:t>Vehicles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07A8D-8F92-4D8B-B5FA-05332C70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76500"/>
            <a:ext cx="2971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A suspension rings after a bump. Engineers choose mass, stiffness, and damping to control settling.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D5BE6-1BB7-4ECE-BD4D-4DFD877E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767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5D6875"/>
                </a:solidFill>
              </a:defRPr>
            </a:pPr>
            <a:r>
              <a:rPr sz="1125" b="1">
                <a:solidFill>
                  <a:srgbClr val="5D6875"/>
                </a:solidFill>
              </a:rPr>
              <a:t>bump → ring-down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6CBD0-82E2-48BB-B6D3-A77B206A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3429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3CEE0-8161-4031-BDC5-B56F7D50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8859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263F"/>
                </a:solidFill>
              </a:defRPr>
            </a:pPr>
            <a:r>
              <a:rPr sz="1875" b="1">
                <a:solidFill>
                  <a:srgbClr val="16263F"/>
                </a:solidFill>
              </a:rPr>
              <a:t>Machines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C104D-53BE-4408-B83C-0CD65D15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76500"/>
            <a:ext cx="2971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A motor, pump, or tool can amplify vibration near a natural frequency and shorten component life.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42445-8D13-4479-AFBC-74C391F3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4767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5D6875"/>
                </a:solidFill>
              </a:defRPr>
            </a:pPr>
            <a:r>
              <a:rPr sz="1125" b="1">
                <a:solidFill>
                  <a:srgbClr val="5D6875"/>
                </a:solidFill>
              </a:rPr>
              <a:t>disturbance → free response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B5835-7BC4-43A0-A13F-9DE1753A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66875"/>
            <a:ext cx="3429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87A3EA-73C2-443F-BA0D-AA74F5C3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18859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263F"/>
                </a:solidFill>
              </a:defRPr>
            </a:pPr>
            <a:r>
              <a:rPr sz="1875" b="1">
                <a:solidFill>
                  <a:srgbClr val="16263F"/>
                </a:solidFill>
              </a:rPr>
              <a:t>Structures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5A19C-8382-400A-B0AF-BB59EAA3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476500"/>
            <a:ext cx="2971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Floors, towers, aircraft panels, and instruments must settle quickly without excessive acceleration.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8FD64-CB91-4453-A7C1-FCFA77CB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4767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5D6875"/>
                </a:solidFill>
              </a:defRPr>
            </a:pPr>
            <a:r>
              <a:rPr sz="1125" b="1">
                <a:solidFill>
                  <a:srgbClr val="5D6875"/>
                </a:solidFill>
              </a:rPr>
              <a:t>disturbance → free response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740198-A06D-48ED-B25F-D0ABFFA0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7687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Lab 4 asks the same engineering question: after a displacement and release, how fast does the system oscillate and how quickly does it settle?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875EB-5F27-4DA7-B067-9151C957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307339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6CF5D0-F862-4D3B-B2F7-6D8612A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APPLICATION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BBA7A-13E9-4241-AE98-21115BF0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3–5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8C62D-E135-4785-803F-941A11C4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laboratory question and the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B7900-3D05-4D6A-BB5C-AABEA8FF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271E3-16B0-4AFC-BBBE-FBDD7033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6263F"/>
                </a:solidFill>
              </a:defRPr>
            </a:pPr>
            <a:r>
              <a:rPr sz="2025" b="1">
                <a:solidFill>
                  <a:srgbClr val="16263F"/>
                </a:solidFill>
              </a:rPr>
              <a:t>We will change one physical parameter at a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DB9B1-C6F1-407F-B54B-80EF92D7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2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C3F3D-6E89-4E11-83C4-A287FE9A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46863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263F"/>
                </a:solidFill>
              </a:defRPr>
            </a:pPr>
            <a:r>
              <a:rPr sz="1650" b="0">
                <a:solidFill>
                  <a:srgbClr val="16263F"/>
                </a:solidFill>
              </a:rPr>
              <a:t>Mass m: cart, hex bars, and dampers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E1350-19BC-46E6-B46B-B9CB03CB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94000"/>
            <a:ext cx="22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F2BA62-03ED-40CC-8A16-6715511D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94000"/>
            <a:ext cx="46863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263F"/>
                </a:solidFill>
              </a:defRPr>
            </a:pPr>
            <a:r>
              <a:rPr sz="1650" b="0">
                <a:solidFill>
                  <a:srgbClr val="16263F"/>
                </a:solidFill>
              </a:rPr>
              <a:t>Stiffness k: two selected springs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F278F-92D5-4082-8598-5AD4BD36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92500"/>
            <a:ext cx="22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3CA5B-F0E0-469D-83A9-0BFFA497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2500"/>
            <a:ext cx="46863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263F"/>
                </a:solidFill>
              </a:defRPr>
            </a:pPr>
            <a:r>
              <a:rPr sz="1650" b="0">
                <a:solidFill>
                  <a:srgbClr val="16263F"/>
                </a:solidFill>
              </a:rPr>
              <a:t>Damping c: 0, 2, or 4 eddy-current dampers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4D098-1B9F-4B6F-8027-0E3E140E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953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FFECDB-B561-493E-B492-0DC5CE5C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7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Measured 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2A8EC-83BC-4DA7-99C5-1A9A7E3B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95525"/>
            <a:ext cx="1533525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C1287-7A89-4322-976B-E3F67315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33625"/>
            <a:ext cx="1381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x(t)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6F56D-BFB0-47B2-BB93-6193A28C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33625"/>
            <a:ext cx="47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5D6875"/>
                </a:solidFill>
              </a:defRPr>
            </a:pPr>
            <a:r>
              <a:rPr sz="2250" b="1">
                <a:solidFill>
                  <a:srgbClr val="5D6875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842DB-D03F-4F93-8182-50296A17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295525"/>
            <a:ext cx="17716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90B27-670B-4D2E-89BF-56524FF1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333625"/>
            <a:ext cx="161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111111"/>
                </a:solidFill>
              </a:defRPr>
            </a:pPr>
            <a:r>
              <a:rPr sz="2250" b="0">
                <a:solidFill>
                  <a:srgbClr val="111111"/>
                </a:solidFill>
              </a:rPr>
              <a:t>fₙ ,  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E5E2D-2581-4BDD-8607-E555F937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908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Position versus time becomes evidence for natural frequency and damping ratio.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D537-117A-4DC3-95D0-091C7B2F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38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Prediction before collection: increasing m lowers frequency; increasing k raises frequency; increasing damping shortens the visible ring-down.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5D5A8F-4E8F-41B1-8734-151C776C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22621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91BB27-08C8-438D-802F-5750AA49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MEASUREMENT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02EA0-533E-4339-A43D-B1C5A6EE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5–7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57538-173B-4831-A973-E286C2E2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apparatus records position, not “damping”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B04B3-8204-4F4D-B984-3D550EE7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F41C4-8A7A-4DB2-822D-5FCE70B2F5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5caa289e9478c"/>
          <a:srcRect xmlns:a="http://schemas.openxmlformats.org/drawingml/2006/main" l="0" t="2294" r="0" b="2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571625"/>
            <a:ext cx="5191125" cy="371475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3C9E09-3580-4788-B0B1-40A674C0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C2BC9-CC52-44E7-9930-7DF5186C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571625"/>
            <a:ext cx="48768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wheel encoder converts wheel rotation to cart position x(t).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368865-ADA0-4C1E-94C3-8F1668C0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9813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0A704-6832-4A30-A784-78F96B18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09813"/>
            <a:ext cx="48768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Graphical Analysis supplies time stamps and exports a CSV file.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31230-4B29-4E2E-812E-0234D291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A316E-2EB4-42D5-B2DC-9101FE99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48000"/>
            <a:ext cx="48768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Springs create restoring force; magnets create velocity-dependent resistance.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8B8292-AA04-4D49-A22F-06254169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86188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91BD3F-54E0-48AB-B6A7-93ECD58C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86188"/>
            <a:ext cx="48768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Your analysis converts the measured record into physical parameters.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D1487-B192-4D6F-A99E-3B029522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57750"/>
            <a:ext cx="5000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Important: record mass, spring pair, damper count, initial displacement, sample rate, and file name for every run.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83F81-67D5-4B8D-839C-18D98576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733742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067748-17BF-4EF9-84E7-7ED1F35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453A9-FB9D-4A48-AE33-235144A8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7–9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9FA51-0CF7-43BF-ABCB-D4122D9F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hardware becomes a spring–mass–damper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4ECD3-262C-4404-B7E5-7881F4CC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87AE2-4E49-44D7-B2FA-C545B64C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209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9525">
            <a:solidFill>
              <a:srgbClr val="5D687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EF80B-3B4C-4728-BDE5-C1534A3A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C354B9-5A4A-471A-8C85-836F2527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6695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72CB3-0DD7-4E8F-A7D6-21BAC8E2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2890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BA0CA-2BCB-41E4-A2BD-D848BB6F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9085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B9362-FFAE-47B6-B9FD-3574B68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5280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A5817-AACB-4D88-A10A-49F478DD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F78DBB-6AA3-472B-AE1F-9691835D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7670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3FD3F-09C3-4136-937F-370E7771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38650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E76AAF-7710-45B9-A050-0B0348E3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619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881C1C"/>
                </a:solidFill>
              </a:defRPr>
            </a:pPr>
            <a:r>
              <a:rPr sz="2025" b="1">
                <a:solidFill>
                  <a:srgbClr val="881C1C"/>
                </a:solidFill>
              </a:rPr>
              <a:t>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982C02-1D37-4532-884F-DF77E66B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904875" y="24003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DBF82-BF2A-42AC-B6DD-D0EEA119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27501">
            <a:off x="1171575" y="27432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861171-4199-47B8-AD50-346C9151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1438275" y="24003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73706-3C51-45A6-9DDC-A03D3C50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27501">
            <a:off x="1704975" y="27432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FE7C9-A35D-4C8E-BE87-49605732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1971675" y="24003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416BD9-FB6D-4308-BCE6-DB410DE1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27501">
            <a:off x="2238375" y="27432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DFD86F-8C7B-494B-8058-DA8D8300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2505075" y="24003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F2974E-8590-4C2C-939E-2BFE503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27501">
            <a:off x="2771775" y="27432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7343C-80B5-474D-9BB5-6A95ABEE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3038475" y="24003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A1411-C67F-458B-ABDB-B6855288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27501">
            <a:off x="3305175" y="2743200"/>
            <a:ext cx="43440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E1BBD-8AA0-4990-9219-CD13C075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47875"/>
            <a:ext cx="22383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5EFF8"/>
          </a:solidFill>
          <a:ln xmlns:a="http://schemas.openxmlformats.org/drawingml/2006/main" w="9525">
            <a:solidFill>
              <a:srgbClr val="2C6FB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145EB-096D-45EF-BBBF-9536896B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24125"/>
            <a:ext cx="1857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263F"/>
                </a:solidFill>
              </a:defRPr>
            </a:pPr>
            <a:r>
              <a:rPr sz="2175" b="1">
                <a:solidFill>
                  <a:srgbClr val="16263F"/>
                </a:solidFill>
              </a:rPr>
              <a:t>mass  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6868C0-22A4-4A61-BEED-ADB67F05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9525">
            <a:solidFill>
              <a:srgbClr val="5D687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F02020-FD48-4174-9193-C2D6C44A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14750"/>
            <a:ext cx="2286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D68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AEB155-E033-4BB6-8D1F-003AC13F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05250"/>
            <a:ext cx="1009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DC32C5-9FC9-4E09-B006-904ED9E5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2437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damper 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2FC297-68DB-4793-9B9D-DB5BCEF5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6263F"/>
                </a:solidFill>
              </a:defRPr>
            </a:pPr>
            <a:r>
              <a:rPr sz="1950" b="1">
                <a:solidFill>
                  <a:srgbClr val="16263F"/>
                </a:solidFill>
              </a:rPr>
              <a:t>x(t)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BC7AA9-1B97-40C5-B885-C3284829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81125"/>
            <a:ext cx="71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4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881C1C"/>
                </a:solidFill>
              </a:defRPr>
            </a:pPr>
            <a:r>
              <a:rPr sz="2400" b="1">
                <a:solidFill>
                  <a:srgbClr val="881C1C"/>
                </a:solidFill>
              </a:rPr>
              <a:t>↔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43C63F-BF27-4AC1-8CF4-FC5E027C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52650"/>
            <a:ext cx="448627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BF43A2-A84A-4556-B063-E1EC7A7D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333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m ẍ + c ẋ + k x =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6A7228-498B-43FF-9D53-CDB0BB70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86125"/>
            <a:ext cx="228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F92660-CDB4-4F56-ADEE-95665F71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286125"/>
            <a:ext cx="449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x(t): cart displacement from equilibrium [m]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FF6BFB-D62C-4935-A01E-E702EFE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10000"/>
            <a:ext cx="228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2C5814-7900-44CD-A7FE-AD6F854A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810000"/>
            <a:ext cx="449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m: total moving mass [kg]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028F35-18A3-43BB-831D-267091CE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33875"/>
            <a:ext cx="228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5E3263-3E72-43CD-90E3-FC51C586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33875"/>
            <a:ext cx="449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c: viscous-equivalent damping coefficient [N·s/m]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51A040-1F7E-4ADE-8DB4-3287029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857750"/>
            <a:ext cx="228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C8E76D-758C-40C6-B3C2-695EF7D1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857750"/>
            <a:ext cx="449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k: equivalent stiffness of both springs [N/m]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658131-CA7F-4DE1-BC27-D1506E12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43365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2A022-41FF-428D-9AEA-0B446F3D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NEWTON’S SECOND LAW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3BAE1-B563-47BE-B288-3CBBC690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9–11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E009D-BC45-4462-B77D-C747FCE5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A free-body diagram gives the equation of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3C05D-21E1-4965-92F1-471D0D8B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E00FD-6267-4CC2-A74E-DA0BE31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FF8"/>
          </a:solidFill>
          <a:ln xmlns:a="http://schemas.openxmlformats.org/drawingml/2006/main" w="9525">
            <a:solidFill>
              <a:srgbClr val="2C6FB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A771C-3E4E-4FDC-8EE4-A7F2210D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14625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16263F"/>
                </a:solidFill>
              </a:defRPr>
            </a:pPr>
            <a:r>
              <a:rPr sz="2325" b="1">
                <a:solidFill>
                  <a:srgbClr val="16263F"/>
                </a:solidFill>
              </a:rPr>
              <a:t>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C1E7E-ABDE-4278-92BA-8FAF391D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717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881C1C"/>
                </a:solidFill>
              </a:defRPr>
            </a:pPr>
            <a:r>
              <a:rPr sz="2025" b="1">
                <a:solidFill>
                  <a:srgbClr val="881C1C"/>
                </a:solidFill>
              </a:rPr>
              <a:t>←  kx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B09D6-CBA0-46FA-896D-820B7E71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432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2C6FB7"/>
                </a:solidFill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C6FB7"/>
                </a:solidFill>
              </a:defRPr>
            </a:pPr>
            <a:r>
              <a:rPr sz="2025" b="1">
                <a:solidFill>
                  <a:srgbClr val="2C6FB7"/>
                </a:solidFill>
              </a:rPr>
              <a:t>←  cẋ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BB90E-DF57-4A6B-9781-205F9556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908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263F"/>
                </a:solidFill>
              </a:defRPr>
            </a:pPr>
            <a:r>
              <a:rPr sz="1725" b="1">
                <a:solidFill>
                  <a:srgbClr val="16263F"/>
                </a:solidFill>
              </a:rPr>
              <a:t>x positive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2A444-4230-4C84-9892-16B1CADE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295775"/>
            <a:ext cx="7581900" cy="790575"/>
          </a:xfrm>
          <a:prstGeom xmlns:a="http://schemas.openxmlformats.org/drawingml/2006/main" prst="roundRect">
            <a:avLst>
              <a:gd name="adj" fmla="val 1445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F9905-A8E1-4B5C-B801-FFC2FC3F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ΣFₓ = m ẍ   ⇒   −kx − cẋ = m ẍ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01909-4B09-4892-B736-443B46ED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981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Both spring and damping forces oppose the displacement or velocity that created them. The zero on the right side of the standard form means no external force acts after release.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EC1A8-CAA5-474B-994B-E245D474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016709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6413D1-D61C-4F72-976F-CFFF4753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PHYSICAL MEANING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8CC08-FD0C-49B7-8A1D-27950CB6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11–13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30A4E-3333-44E2-9685-E3C0E209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Each parameter changes a different feature of the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CF99DC-1155-42F7-8F95-7035F17F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01ED15-AE9B-4FFF-81C5-C3AF8F1B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1109662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63F"/>
          </a:solidFill>
          <a:ln xmlns:a="http://schemas.openxmlformats.org/drawingml/2006/main" w="9525">
            <a:solidFill>
              <a:srgbClr val="16263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C7729-3470-4C82-942D-9F8E1053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symbol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9D3AC-9BE1-44B8-ABAB-78CA8CC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7162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1DF1A-6C9F-4E00-900D-712E50C0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716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force/response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3BB482-B919-46BA-9D0C-3A4AD4ED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visible effect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61C3C-B2BF-4CA7-BA55-47B38633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90750"/>
            <a:ext cx="11096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DFDFD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95EB7-C842-4B6C-83EA-EA7F54BA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881C1C"/>
                </a:solidFill>
              </a:defRPr>
            </a:pPr>
            <a:r>
              <a:rPr sz="2175" b="1">
                <a:solidFill>
                  <a:srgbClr val="881C1C"/>
                </a:solidFill>
              </a:rPr>
              <a:t>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189E3-F287-4DD7-B31C-F468F039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3622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263F"/>
                </a:solidFill>
              </a:defRPr>
            </a:pPr>
            <a:r>
              <a:rPr sz="1500" b="1">
                <a:solidFill>
                  <a:srgbClr val="16263F"/>
                </a:solidFill>
              </a:rPr>
              <a:t>inertia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7B4D6-0304-4388-AC32-F659BA6C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241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resists acceleration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9B937-0B79-47F6-A443-9806E92A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larger m → slower oscillation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BD749-AE2E-417B-B68E-F65D0580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11096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9C433-B911-4C03-82AA-CF663805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881C1C"/>
                </a:solidFill>
              </a:defRPr>
            </a:pPr>
            <a:r>
              <a:rPr sz="2175" b="1">
                <a:solidFill>
                  <a:srgbClr val="881C1C"/>
                </a:solidFill>
              </a:rPr>
              <a:t>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844F2-5E42-4387-BADA-92DBB40D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290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263F"/>
                </a:solidFill>
              </a:defRPr>
            </a:pPr>
            <a:r>
              <a:rPr sz="1500" b="1">
                <a:solidFill>
                  <a:srgbClr val="16263F"/>
                </a:solidFill>
              </a:rPr>
              <a:t>restoring stiffness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02FC3-4105-4A0B-A970-2AB3219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909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pulls toward equilibrium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8B4B84-18AC-4425-960D-E20562CB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909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larger k → faster oscillation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FAB9D8-48A7-4440-A141-F488050D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24350"/>
            <a:ext cx="11096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DFDFD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A93F2F-EF23-46D6-8CC3-C283CA26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881C1C"/>
                </a:solidFill>
              </a:defRPr>
            </a:pPr>
            <a:r>
              <a:rPr sz="2175" b="1">
                <a:solidFill>
                  <a:srgbClr val="881C1C"/>
                </a:solidFill>
              </a:rPr>
              <a:t>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C8D9B3-53E1-475A-8766-F0730070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958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263F"/>
                </a:solidFill>
              </a:defRPr>
            </a:pPr>
            <a:r>
              <a:rPr sz="1500" b="1">
                <a:solidFill>
                  <a:srgbClr val="16263F"/>
                </a:solidFill>
              </a:rPr>
              <a:t>energy dissipation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6E9114-0D5D-4676-A71E-F29770FA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removes mechanical energy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286DC-976F-42E3-81D3-E504F069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577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larger c → faster decay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5AE3BA-DF92-4A35-BDF0-D84D7CEA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258895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193F2-37CE-4274-B7DC-7266B313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UNDAMPED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EF7F8-F237-467D-B7E9-E8B4A8ED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13–15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7E142B-A526-47F3-8BA4-893E556D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Without damping, the cart exchanges energy forever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5D5D8-500D-45A1-AE92-95488B05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0655D-68A1-4816-AACE-95C0CC42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28775"/>
            <a:ext cx="41529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08F40-17A9-49DD-93BE-F7D08123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m ẍ + kx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52CC2-3507-4DD7-95BC-5AD2D9C0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24150"/>
            <a:ext cx="41529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40612-FD33-49FC-B757-575E2F94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111111"/>
                </a:solidFill>
              </a:defRPr>
            </a:pPr>
            <a:r>
              <a:rPr sz="2100" b="0">
                <a:solidFill>
                  <a:srgbClr val="111111"/>
                </a:solidFill>
              </a:rPr>
              <a:t>x(t) = A cos(ωₙt − φ)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335FB-8154-4E57-A261-D1E34FDA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28775"/>
            <a:ext cx="47244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FE1A5-92E4-49A9-8470-B9320935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ωₙ = √(k/m)     [rad/s]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E06A3-1529-4F3F-80AA-CCFE5DE9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24150"/>
            <a:ext cx="47244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C925B-4BAF-4ACB-89C6-5154F177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62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fₙ = ωₙ/(2π)     [Hz]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9BD63-5585-42EC-89C3-511F4914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ωₙ is the undamped natural angular frequency. fₙ counts cycles per second. A and φ come from the initial displacement and velocity.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F094C-D0DF-497B-A8EA-0C412FBF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9112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Dimensional check:  k/m has units s⁻², so √(k/m) has units rad/s.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0E43F-32CB-4C3B-8EE2-1341D13A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938145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494D2-AA81-4AC6-8B51-091C0196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E6A90-261B-4BE5-8C3F-1B77742F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15–16.5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AE7B0-8A2C-44DD-98DD-DB7B4F19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Natural frequency is a property of the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CB3CD-753C-4FC2-BF11-B64972AA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141E9-2561-4A0E-97B6-1AF5F0EF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381375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9FAEA-192E-46C3-9888-9B28B512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95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263F"/>
                </a:solidFill>
              </a:defRPr>
            </a:pPr>
            <a:r>
              <a:rPr sz="1725" b="1">
                <a:solidFill>
                  <a:srgbClr val="16263F"/>
                </a:solidFill>
              </a:rPr>
              <a:t>Double the mass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09C08-4F3E-4255-BFD5-1C460A96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57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fₙ becomes 1/√2 = 0.707 times the original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3AC2D-45E2-4ACF-9BED-2384F4A0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57375"/>
            <a:ext cx="3381375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FFAA8-1DC4-4C96-AFB8-2A7C1AA2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Double the stiffness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3FFA3-B4D0-4443-B084-B9F387C7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fₙ becomes √2 = 1.414 times the original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4A93D-C252-459C-AAB3-381A2436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57375"/>
            <a:ext cx="3381375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F6E0C-1696-42A9-AE2A-F1696EEC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095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263F"/>
                </a:solidFill>
              </a:defRPr>
            </a:pPr>
            <a:r>
              <a:rPr sz="1725" b="1">
                <a:solidFill>
                  <a:srgbClr val="16263F"/>
                </a:solidFill>
              </a:rPr>
              <a:t>Double m and 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CBC08-BCA8-46AE-829F-595F81AA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857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fₙ stays unchanged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163A7-FB8E-49AB-A709-B127CD7A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62525"/>
            <a:ext cx="64389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D714D-EB88-469D-B740-1D1E7637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00625"/>
            <a:ext cx="628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fₙ ∝ √k     and     fₙ ∝ 1/√m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2C6B31-3984-479B-BC38-431CFF38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564748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79477-D88A-4A20-B7B2-1FDDD041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ENERGY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30580D-7752-44D5-A930-68519F5D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16.5–18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AC210-D9EB-427F-AACB-B5D1CE77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Energy explains the repeated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F43B5-545E-4044-B435-E70444E4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763D3-69EE-45F3-A8F5-CBE0B040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628775"/>
            <a:ext cx="5010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E9225-11F2-47B5-91D9-FB2FB790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66875"/>
            <a:ext cx="485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E(t) = ½m ẋ² + ½k x²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472DC-65D4-40B5-90D9-63E577AB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4572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6A50B-04C2-4F87-9DD7-F9A2BDCE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480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turning 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70FAFA-512A-4ED2-B0D4-FC495CCA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6263F"/>
                </a:solidFill>
              </a:defRPr>
            </a:pPr>
            <a:r>
              <a:rPr sz="1875" b="1">
                <a:solidFill>
                  <a:srgbClr val="16263F"/>
                </a:solidFill>
              </a:rPr>
              <a:t>x = ±A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B4813-D0E9-4FFB-BA3D-E5FD3148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5287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spring energy maximum</a:t>
            </a:r>
          </a:p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speed =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DB404-4AF7-4B54-9E74-21D8FDE6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4572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94053E-40FD-4B1A-95A0-15C6E394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6263F"/>
                </a:solidFill>
              </a:defRPr>
            </a:pPr>
            <a:r>
              <a:rPr sz="1800" b="1">
                <a:solidFill>
                  <a:srgbClr val="16263F"/>
                </a:solidFill>
              </a:rPr>
              <a:t>equilibrium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24BB1-9687-45CD-84F6-99C779FE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052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6263F"/>
                </a:solidFill>
              </a:defRPr>
            </a:pPr>
            <a:r>
              <a:rPr sz="1875" b="1">
                <a:solidFill>
                  <a:srgbClr val="16263F"/>
                </a:solidFill>
              </a:rPr>
              <a:t>x =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06DB6-575C-42EC-81FC-9621EE61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5287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spring energy minimum</a:t>
            </a:r>
          </a:p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speed maximum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4FBED-D345-458B-A394-85375B72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76875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With c = 0, total mechanical energy stays constant. Real damping removes energy on every cycle.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A3CFA9-AF99-4F7B-A1AA-C9A2C60B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641387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33674-B983-4ABD-91ED-8FB6E753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DAMPING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606CC-B336-4542-B59E-4C1020CC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18–20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79313-7D02-4952-B988-EA7D846A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Damping removes energy fastest when the cart moves fastest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77317-BD55-4941-8305-0E0EF9DB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10A33-735A-476D-A271-B6B1B613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24025"/>
            <a:ext cx="3486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9BA8B-B5B3-412F-8E22-DD1F14FC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F_d = −c ẋ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1C904-2FC8-441F-91D5-6CCF87DB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3486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F9716-1F55-4635-AAF7-CFB38363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111111"/>
                </a:solidFill>
              </a:defRPr>
            </a:pPr>
            <a:r>
              <a:rPr sz="2100" b="0">
                <a:solidFill>
                  <a:srgbClr val="111111"/>
                </a:solidFill>
              </a:rPr>
              <a:t>P_d = F_d ẋ = −c ẋ²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ED88F-3211-4232-A04E-0D8B7B6D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925593-C21E-45A9-9C09-CED6B041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19250"/>
            <a:ext cx="54483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damping force reverses when velocity reverses.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4974E-60AA-4B62-9054-86A483D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57438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7C8FA8-9241-454F-9BAE-9633C1B2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57438"/>
            <a:ext cx="54483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damper does no work at a turning point because ẋ = 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9C7AB-5CA0-44BA-A1BE-E5D5E1D8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95625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7D24C-702E-40D2-9D46-0E18CE9F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095625"/>
            <a:ext cx="54483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magnitude of energy loss is largest near equilibrium, where speed is largest.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2AD6A8-F009-4092-8158-7EABFDDF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33813"/>
            <a:ext cx="2286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BEE64-DA7F-4EC8-9783-58B16D4C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33813"/>
            <a:ext cx="54483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magnetic dampers approximate viscous damping over the operating range.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4B968-9E8E-4E88-89E1-B219A045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962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We model several loss mechanisms with one equivalent coefficient c. The model is useful only if the measured envelope resembles an exponential.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38003-3908-4C90-A657-5D1DBAE6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482169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27C65C-1864-4F03-A182-1E213892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STANDARD 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00C38-C810-455C-B975-B0D3A19A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20–22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AC961-B6CB-4308-BEDC-378B0DDE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Damping ratio classifies the response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44A1E-B2BC-4DE6-A190-9151099D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AF73C-9B3D-4B38-8C6C-7C94620B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485900"/>
            <a:ext cx="51054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6E5A3-EAC2-46D5-9A8D-7F95EBA8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52400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ẍ + 2ζωₙ ẋ + ωₙ² x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F9002-496F-4871-B348-235B09CE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38400"/>
            <a:ext cx="3962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12F66-E006-4CB0-9DAB-03B6047E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ζ = c / (2√km)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E9423-6A5C-4E84-B435-F2D28824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D8E13-6F9C-469F-B44D-EB6A881D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76675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0 &lt; ζ &lt;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12D21-78DC-4091-B364-8740B05A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6263F"/>
                </a:solidFill>
              </a:defRPr>
            </a:pPr>
            <a:r>
              <a:rPr sz="1575" b="1">
                <a:solidFill>
                  <a:srgbClr val="16263F"/>
                </a:solidFill>
              </a:rPr>
              <a:t>underdamped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EE47A-79CC-4591-82EF-5D5444AC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339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oscillates and decays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3C428F-8553-4B3C-854F-6F2FC14D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4A744-CE2B-4459-82E8-8F3F4323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76675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ζ 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35A62-5766-4E5B-902A-03C1F7F6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6263F"/>
                </a:solidFill>
              </a:defRPr>
            </a:pPr>
            <a:r>
              <a:rPr sz="1575" b="1">
                <a:solidFill>
                  <a:srgbClr val="16263F"/>
                </a:solidFill>
              </a:rPr>
              <a:t>critical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F6C25-C101-46C2-ABE6-DE7EF72A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7339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fastest nonoscillatory return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719B1A-A509-4512-B3EC-E840FAFB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15316-AD9B-404D-AD4E-3283A650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76675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ζ &gt;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242BD-F4D7-4C32-AFD8-B8C87E3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6263F"/>
                </a:solidFill>
              </a:defRPr>
            </a:pPr>
            <a:r>
              <a:rPr sz="1575" b="1">
                <a:solidFill>
                  <a:srgbClr val="16263F"/>
                </a:solidFill>
              </a:rPr>
              <a:t>overdamped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7FD8B-C958-41B2-9FB7-29B74674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339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slow nonoscillatory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30F273-B4B9-48CD-9664-50ADD0EC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733361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1A1D62-B323-4606-A6CB-72695C2D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RESPONSE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EE1EA-F439-4EB4-95AB-DE01DF41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22–24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3C1F78-AD10-415F-AB65-FC139016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Lab 4 operates in the underdamped regime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4BF7A-2053-4EF5-9354-8F1DB8CA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55B52-EFED-41B9-BE69-BD7830D8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581150"/>
            <a:ext cx="8248650" cy="885825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3070A-EADB-47CC-9497-12A33756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19250"/>
            <a:ext cx="8096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x(t) = A exp(−ζωₙt) cos(ωd t − φ)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DC2190-3BBD-4D12-8480-3A77AFA3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19400"/>
            <a:ext cx="4914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6BFD9-12AF-4E90-92C9-7BE7B662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57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ωd = ωₙ√(1 − ζ²)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9F001-4F19-40AF-A0B7-2D7E83F8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05250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7D871-8D7C-47D8-8DB5-0BD6D2B8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905250"/>
            <a:ext cx="73533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A: response amplitude set by the initial conditions [m]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A20B3-25F8-40B6-8603-47D75041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57688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AA72A-2420-48F7-953D-39E14B0D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357688"/>
            <a:ext cx="73533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φ: phase set by initial displacement and velocity [rad]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3022F-9506-42BF-BD75-90B28BED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0125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1E651-62A2-4144-9CD1-9620992D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10125"/>
            <a:ext cx="73533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ωd: damped natural angular frequency [rad/s]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874BD-5633-4068-AF57-0800FF93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2563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04608-2D45-4266-A545-B702A026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62563"/>
            <a:ext cx="73533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exp(−ζωₙt): exponential envelope that controls decay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2D1B1B-4249-461B-BBD3-821A9424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975220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72EBF-D6C1-47C4-A2CC-73192311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DECAY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0EE6F-E6CA-42BA-85C1-FF4932BE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24–26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3D0C9-4545-4706-8BEA-ECF7F20E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peaks trace an exponential envelope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F4486-59AC-47A9-8877-873D93BC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B700B6AD-99B1-49E1-AA9D-70343937D507}"/>
              </a:ext>
            </a:extLst>
          </p:cNvPr>
          <p:cNvGraphicFramePr/>
          <p:nvPr/>
        </p:nvGraphicFramePr>
        <p:xfrm>
          <a:off xmlns:a="http://schemas.openxmlformats.org/drawingml/2006/main" x="619125" y="16192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386b02827946e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CA89E-3726-4806-AE0F-432C2DAC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95525"/>
            <a:ext cx="3295650" cy="695325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1236CC-E374-4619-80AC-847FC450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envelope = ±A exp(−ζωₙt)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7E746-0475-4E73-B4A9-7A3AF7E7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337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6263F"/>
                </a:solidFill>
              </a:defRPr>
            </a:pPr>
            <a:r>
              <a:rPr sz="1575" b="1">
                <a:solidFill>
                  <a:srgbClr val="16263F"/>
                </a:solidFill>
              </a:rPr>
              <a:t>Peak spacing gives the period.</a:t>
            </a:r>
          </a:p>
          <a:p xmlns:a="http://schemas.openxmlformats.org/drawingml/2006/main">
            <a:pPr algn="ctr">
              <a:defRPr sz="1575" b="1">
                <a:solidFill>
                  <a:srgbClr val="16263F"/>
                </a:solidFill>
              </a:defRPr>
            </a:pPr>
            <a:r>
              <a:rPr sz="1575" b="1">
                <a:solidFill>
                  <a:srgbClr val="16263F"/>
                </a:solidFill>
              </a:rPr>
              <a:t>Peak-height reduction gives damping.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73D39-1479-4BE8-BAF2-D785A390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10125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881C1C"/>
                </a:solidFill>
              </a:defRPr>
            </a:pPr>
            <a:r>
              <a:rPr sz="1350" b="1">
                <a:solidFill>
                  <a:srgbClr val="881C1C"/>
                </a:solidFill>
              </a:rPr>
              <a:t>Use peaks with the same sign, or use absolute peak magnitudes consistently.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E87BF-3D02-4CF9-84B6-BBEE2D43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9046822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5F20B-DFBD-4EA2-B990-50433B4B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DAMPING FROM PEAKS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7BBCA-B107-4F78-BB6E-A6D58D88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26–28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C9119-BBE1-46F6-AB94-26C972F1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Logarithmic decrement turns decay into a ratio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1A596-2F60-4885-ACB1-5D216CA0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D0F84-AD25-440C-880E-CCCE6D8F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581150"/>
            <a:ext cx="7677150" cy="790575"/>
          </a:xfrm>
          <a:prstGeom xmlns:a="http://schemas.openxmlformats.org/drawingml/2006/main" prst="roundRect">
            <a:avLst>
              <a:gd name="adj" fmla="val 1445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023C25-8CE8-41B5-9B60-ED493AD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619250"/>
            <a:ext cx="752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111111"/>
                </a:solidFill>
              </a:defRPr>
            </a:pPr>
            <a:r>
              <a:rPr sz="2250" b="0">
                <a:solidFill>
                  <a:srgbClr val="111111"/>
                </a:solidFill>
              </a:rPr>
              <a:t>δ = (1/N) ln(|xᵢ| / |xᵢ₊ₙ|)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CD457A-D795-4D6C-8CCB-1CB361EF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19400"/>
            <a:ext cx="53911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390C12-0A1C-477B-AF74-2A67C9B1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ζ = δ / √(4π² + δ²)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1DBC0-E755-4397-98EF-DD49A393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05250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C91A9-89BA-4021-9039-4EDDAB63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05250"/>
            <a:ext cx="782955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x_i and x_(i+N) are peak amplitudes of the same sign.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4FF1B-9687-4AA7-89B1-FC9BE65A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57688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CB06F-6869-4B4E-9180-779BC23A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57688"/>
            <a:ext cx="782955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N is the number of complete cycles between the selected peaks.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8C3262-EACC-47DC-9E48-F80E1F67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10125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11E142-BCAF-49BD-A9BF-89D992A6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0125"/>
            <a:ext cx="782955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Using several cycles reduces sensitivity to cursor placement and noise.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6824DE-3B74-467B-9643-09A58240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62563"/>
            <a:ext cx="2286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698694-2FD2-4F7E-B2F7-5E6A38EC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62563"/>
            <a:ext cx="782955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A line fit to ln|peak| versus time provides a stronger check.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BE7C7-5FEE-48C1-9C09-44B6C14A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480950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2EA23-B555-495F-B604-17EE6280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FREQUENCY FROM TIME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0812D-B886-49E7-9A2C-16EAF1FA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28–30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C91E5-1A32-4265-8733-1C0A6327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Peak timing gives damped and undamped frequency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4BD14-25C1-4FD2-AA88-A20AB17C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E8EBA-0B31-4C81-A525-B97C5385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676400"/>
            <a:ext cx="4629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9B2D7-2A53-4DA5-8AA9-538CD7E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145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Td = (tᵢ₊ₙ − tᵢ)/N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56E66-511E-4BE0-8D90-ED11855E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76400"/>
            <a:ext cx="4152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11B78-3F1E-4C55-83A2-0F1EF475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fd = 1/Td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D0334-78E0-4877-82FD-6EDBDC4D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62275"/>
            <a:ext cx="4629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4C521-3D34-4192-989D-616CBEB8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ωd = 2πfd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DF7CD-1DB2-415F-AB75-8E2D5352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62275"/>
            <a:ext cx="4152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0794C-47B4-410E-8A9C-F2F884F9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03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ωₙ = ωd / √(1 − ζ²)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099EF-CA35-440F-8468-D7AC33A1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19625"/>
            <a:ext cx="933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For light damping, f_d and fₙ are close, but they are not identical. Report which one you measured and which one you calculated.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36A9A3-3168-474A-983A-D7B29763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585808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BBCB4-52C5-4B61-8787-94C59A57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FREQUENCY DOMAIN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78E3F-3D6E-4B42-B36E-F08EC780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30–32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F4BFB-B9E0-4248-ACDD-20006B4D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FFT finds the frequency that best matches the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B9D48-F7BB-4983-A7C6-F71AC56A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547CA99F-8654-48AA-A262-7BC280CA2A23}"/>
              </a:ext>
            </a:extLst>
          </p:cNvPr>
          <p:cNvGraphicFramePr/>
          <p:nvPr/>
        </p:nvGraphicFramePr>
        <p:xfrm>
          <a:off xmlns:a="http://schemas.openxmlformats.org/drawingml/2006/main" x="619125" y="1714500"/>
          <a:ext xmlns:a="http://schemas.openxmlformats.org/drawingml/2006/main" cx="666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966914b65432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84E0C-BD83-4195-B291-1E68BB61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907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largest spectral peak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CAA59-2B93-4C29-8EE1-B0FA3A74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71775"/>
            <a:ext cx="24384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5A838-4B96-4C79-9FF5-A50A1CA3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987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111111"/>
                </a:solidFill>
              </a:defRPr>
            </a:pPr>
            <a:r>
              <a:rPr sz="2100" b="0">
                <a:solidFill>
                  <a:srgbClr val="111111"/>
                </a:solidFill>
              </a:rPr>
              <a:t>fₚₑₐₖ ≈ fd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BF54DE-E4F1-4C9A-87D9-38276CC7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14750"/>
            <a:ext cx="3381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The cart repeats most strongly at its damped natural frequency, so the correlation with that sinusoid becomes largest.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EBCD0-7CA2-4908-9880-07C07A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295118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F90EE-0DE1-40DC-B281-9B0D44A4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CROSS-CHECK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DEA81-4913-49A0-B5E9-3AD937EB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32–33.5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CA91A-81E9-4092-9558-0DF47FC7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Time-domain and FFT estimates must agree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A2E14-302F-4CEF-BCC8-6074D1A0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55376-1D9F-4AFC-AAD3-C3946D3E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33337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353DD-8211-4F38-AA5C-D2378D69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4787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peak spacing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F5ADB-9181-41BA-8186-52E975C9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6263F"/>
                </a:solidFill>
              </a:defRPr>
            </a:pPr>
            <a:r>
              <a:rPr sz="2100" b="1">
                <a:solidFill>
                  <a:srgbClr val="16263F"/>
                </a:solidFill>
              </a:rPr>
              <a:t>f_d,time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F0B4B-AF64-4AB0-A00A-5064211A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direct and intuitive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84C94-B1F8-41DC-9ADD-A9079D9A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09750"/>
            <a:ext cx="33337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C0F44-98DD-43DD-8C2A-01AA1D5A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4787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FFT peak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0B7D2-67F3-4BF3-8E34-B45B13AA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6700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6263F"/>
                </a:solidFill>
              </a:defRPr>
            </a:pPr>
            <a:r>
              <a:rPr sz="2100" b="1">
                <a:solidFill>
                  <a:srgbClr val="16263F"/>
                </a:solidFill>
              </a:rPr>
              <a:t>f_peak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54F5C-51AA-445B-8525-954BC65E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337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fast visual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493BD4-F781-404E-804E-0CB2D2DF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A58D8-FA1B-4440-B041-E94E1A0D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4787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model 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70683-D8CB-46EB-990D-A0F69060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6700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6263F"/>
                </a:solidFill>
              </a:defRPr>
            </a:pPr>
            <a:r>
              <a:rPr sz="2100" b="1">
                <a:solidFill>
                  <a:srgbClr val="16263F"/>
                </a:solidFill>
              </a:rPr>
              <a:t>f_d, 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8CAD6-5028-4250-AF73-F3F1F3A2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337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5D6875"/>
                </a:solidFill>
              </a:defRPr>
            </a:pPr>
            <a:r>
              <a:rPr sz="1425" b="0">
                <a:solidFill>
                  <a:srgbClr val="5D6875"/>
                </a:solidFill>
              </a:rPr>
              <a:t>uses the entire record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CC92A-8E6D-4134-9050-160C8855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If the estimates disagree, inspect sampling, drift, peak selection, units, and whether the record contains more than one motion.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195B63-7491-4E84-80E5-00CF2D1C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413639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B21FD-A6F1-438E-8AC6-D8382CAF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SPRING CALIBRATION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2043B2-4C2F-4C8B-AD32-270B3D7D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33.5–36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17BF6-E559-44CB-8E7C-7F0CB698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Spring stiffness comes from a separate free-vibration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4325E-ABBC-4F4E-A90D-9871204C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D2FB3-32D3-4AC6-B4FE-0747CE94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81150"/>
            <a:ext cx="51054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DB5E2C-02EC-48D0-9437-7695C3FD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192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k ≈ mₕ (2π fₛ)²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5A675-981D-4FFA-A8FD-492F923D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228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197D9-5BA0-4FBB-A154-96CCEA8C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697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Suspend one spring with a known moving mass m_h.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8A7B6-75EE-4292-BEFF-38A01106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228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822C4-6EF1-4360-B478-8834993D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76600"/>
            <a:ext cx="697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Give a small vertical displacement and record several cycles.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1F3D2-381F-4271-AD54-11287AEE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90950"/>
            <a:ext cx="228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EBB13-8919-49D1-A7D5-9100073A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697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Use Graphical Analysis sinusoidal fit or exported force-time data to obtain f_s.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219A0-9EFB-446A-8467-9D1ED5E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228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6EBA2-2AF5-4F92-B909-D82873BE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05300"/>
            <a:ext cx="697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Repeat with the two largest safe masses if time permits.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F4C86-F6A1-41D6-B46F-4A7BCA26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28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3D5F8-B4B7-4E7F-AB8C-12A0154C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697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263F"/>
                </a:solidFill>
              </a:defRPr>
            </a:pPr>
            <a:r>
              <a:rPr sz="1500" b="0">
                <a:solidFill>
                  <a:srgbClr val="16263F"/>
                </a:solidFill>
              </a:rPr>
              <a:t>State whether the hanger/attachment mass is included in m_h.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31B49D-E05F-4F42-BA23-E536314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2238375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007808-7677-4A10-BE94-46F0F0E3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527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5D6875"/>
                </a:solidFill>
              </a:defRPr>
            </a:pPr>
            <a:r>
              <a:rPr sz="1350" b="1">
                <a:solidFill>
                  <a:srgbClr val="5D6875"/>
                </a:solidFill>
              </a:rPr>
              <a:t>Nominal value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4F82A-BE88-4BC8-86D3-CE1A67AB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29000"/>
            <a:ext cx="1857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881C1C"/>
                </a:solidFill>
              </a:defRPr>
            </a:pPr>
            <a:r>
              <a:rPr sz="2175" b="1">
                <a:solidFill>
                  <a:srgbClr val="881C1C"/>
                </a:solidFill>
              </a:rPr>
              <a:t>10.7 N/m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625389-4BC6-4E8A-9CF2-38BA3B15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095750"/>
            <a:ext cx="1762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6263F"/>
                </a:solidFill>
              </a:defRPr>
            </a:pPr>
            <a:r>
              <a:rPr sz="1350" b="1">
                <a:solidFill>
                  <a:srgbClr val="16263F"/>
                </a:solidFill>
              </a:rPr>
              <a:t>Measure it.</a:t>
            </a:r>
          </a:p>
          <a:p xmlns:a="http://schemas.openxmlformats.org/drawingml/2006/main">
            <a:pPr algn="ctr">
              <a:defRPr sz="1350" b="1">
                <a:solidFill>
                  <a:srgbClr val="16263F"/>
                </a:solidFill>
              </a:defRPr>
            </a:pPr>
            <a:r>
              <a:rPr sz="1350" b="1">
                <a:solidFill>
                  <a:srgbClr val="16263F"/>
                </a:solidFill>
              </a:rPr>
              <a:t>Do not assume 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B44D8-3BBE-48B5-9D24-78F1EE77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956144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DEC58-93C3-489D-8330-B4CF17AB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EQUIVALENT STIFFNESS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9BA6C-AAD3-44FB-BCC9-E538DF1D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36–38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4D2861-78EB-42AE-8152-C70AB3C9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Two springs act together on the cart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9CB53-1567-4059-B642-2A7F5E39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3280F-095A-42F2-B34F-93F5606F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6263F"/>
                </a:solidFill>
              </a:defRPr>
            </a:pPr>
            <a:r>
              <a:rPr sz="1650" b="0">
                <a:solidFill>
                  <a:srgbClr val="16263F"/>
                </a:solidFill>
              </a:rPr>
              <a:t>For a cart between a left and right spring, a small displacement stretches one spring and compresses the other.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E2F8D-EA80-4F23-879D-E47E480E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33650"/>
            <a:ext cx="54864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41F26-58EC-4B4B-814D-03FBAD39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k = kL + kR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E0744-44CA-4520-9F18-EFF6546A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867150"/>
            <a:ext cx="72961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9DF79-F753-4CC6-86A8-E6BF9ABD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905250"/>
            <a:ext cx="714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</a:defRPr>
            </a:pPr>
            <a:r>
              <a:rPr sz="2175" b="0">
                <a:solidFill>
                  <a:srgbClr val="111111"/>
                </a:solidFill>
              </a:rPr>
              <a:t>fₙ,theory = (1/2π) √(k/m)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14B43-2C64-4AB4-86E7-C8B73C6D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Use the total moving mass, including the cart, added bars, and mounted dampers.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4860B-81BC-4371-8A72-80703790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220844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9AED74-7D48-4B0B-8F0B-F3A8D5CE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EXPERIMENT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B2DAA5-E5B4-4321-805F-B951576E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38–40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860ED-F657-4A07-A7E4-F54C688A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seven-case matrix isolates one cause at a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411A5-080E-4E4D-B7FC-DD3E5955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03B8E-C910-451C-9540-AEC6CE59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110490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263F"/>
          </a:solidFill>
          <a:ln xmlns:a="http://schemas.openxmlformats.org/drawingml/2006/main" w="9525">
            <a:solidFill>
              <a:srgbClr val="16263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B5DB2-2448-45C6-B75B-2122300D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CA0C3-C1D6-4146-B01C-ECC01AF7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71625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moving mass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725CF-B169-452C-A505-A058D005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71625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spring pair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5EA67-6CE3-40C8-8EE6-C6E84953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dampers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BE2DD-EAD9-4A8E-8BE4-C75635A0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14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9A4FD-3A71-481E-8178-02755331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38350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DF2D0-502D-4410-89BA-064F4B1B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4A3B6-05C8-4101-B399-2360F43C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859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916D5-CE30-4923-8A82-1DE666F9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859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5947D-8B1A-4F09-AE96-E0B17590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859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62439-9FFC-4548-A508-E59F8EAB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85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reference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35AA19-78C8-40B2-8191-18D7EBB6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81275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0281E7-15E7-4A0E-8E30-1FE367B6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961A2-ACED-4FE7-81EF-A9743378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289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+ mass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1B153F-6CBB-44C3-825A-45441C9A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289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EEC9BD-1B55-485A-800A-6311A33C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289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4DC62-A864-4BBD-B644-4DCC13AD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mass effect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6D491-7D89-41B5-BCFB-0E6D556E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69F99-F89F-43C5-AC3D-70801ADB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718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B2D801-8C6F-4FDA-8237-6CB9AEB6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++ mass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B3879C-B5A8-4CD8-A4F7-3D17F005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718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87649E-E979-4E76-8D67-60AFC02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718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12696F-870F-4D84-9F7E-F8EE2013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718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mass trend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D49735-4D7B-4F5E-BEF7-D460091B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52277E-FC09-4976-8433-42C16674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B0458E-C992-4EBF-BF70-4E71013B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147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5E600F-39BC-49F8-954D-59DD6F3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B7ED56-2E47-47BB-BA12-6B83DFCF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787B29-BD1F-4FCB-ADA7-1EFE82C2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damping effect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E5F940-7B89-431A-A5BF-220A5B24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0AEEC1-D562-4AAC-A845-DE6248A1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576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2819C1-63F4-4FE1-9CD5-B7C3A5F7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576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04B2E8-46ED-4ED8-AB75-B5CEAD26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57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555C7C-E34B-464C-9D83-87F2DA1A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576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17765F-00C3-45B9-AADB-7BC70076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576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damping trend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6BF46F-63FE-4EB0-82A9-899020F7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03B58B-5D28-4B85-ACC9-59B982BF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006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F21985-D1CB-4043-AF17-559CC1AE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006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D1C21D-F734-4A8A-A9AF-C87FBD33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00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softer pair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FFA180-A41A-468F-9546-E71AD6F8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006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B034A6-FB99-44AF-8304-64A4550C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006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stiffness effect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ECD3E1-2A49-4C00-AE40-552C259A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1104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77933F-8960-43EA-88DF-707EC0D6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435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881C1C"/>
                </a:solidFill>
              </a:defRPr>
            </a:pPr>
            <a:r>
              <a:rPr sz="1200" b="1">
                <a:solidFill>
                  <a:srgbClr val="881C1C"/>
                </a:solidFill>
              </a:rPr>
              <a:t>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05BA51-2F69-4452-8251-217CA972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435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base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55FF32-101D-47EE-8E84-6189812F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stiffer pair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3E5F05-292E-4B68-B208-6D7C5FC1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435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9EC3A0-0FD7-420A-9E9E-1717440D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6263F"/>
                </a:solidFill>
              </a:defRPr>
            </a:pPr>
            <a:r>
              <a:rPr sz="1200" b="0">
                <a:solidFill>
                  <a:srgbClr val="16263F"/>
                </a:solidFill>
              </a:rPr>
              <a:t>stiffness trend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A22EAD-10B5-4AE9-8394-1AA4C4A7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213747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81E8AC-8E34-4D5A-B665-4CB4F5A9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GRAPHICAL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19CF1-A482-420B-B100-88C36C2D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40–42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05E1D-D8C2-4D47-A422-487ABC6F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Collection settings must preserve the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56804-D282-4D28-BBE3-B23EFD55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841B0-7898-46A6-8640-98DC93A1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51435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74344-FAEE-4CE9-8B94-273A357E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3832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5D6875"/>
                </a:solidFill>
              </a:defRPr>
            </a:pPr>
            <a:r>
              <a:rPr sz="1425" b="1">
                <a:solidFill>
                  <a:srgbClr val="5D6875"/>
                </a:solidFill>
              </a:rPr>
              <a:t>sample 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C5DFC-D211-4268-9502-E8606981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19275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≤ 25 Hz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E8E36-101D-4BA2-91A9-7B2C9F32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667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enough samples per cycle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F936D-B87A-4880-A172-87B086E4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66875"/>
            <a:ext cx="51435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15D1C-14D4-46D2-944E-1B0ABC98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3832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5D6875"/>
                </a:solidFill>
              </a:defRPr>
            </a:pPr>
            <a:r>
              <a:rPr sz="1425" b="1">
                <a:solidFill>
                  <a:srgbClr val="5D6875"/>
                </a:solidFill>
              </a:rPr>
              <a:t>record length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1A8C1-E2D0-45C8-8823-C3ACF71D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19275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until nearly at rest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F7617C-9D1A-412E-B8AF-39CB84F7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52675"/>
            <a:ext cx="4667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captures the decay envelope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7CDE3-F3B9-4A48-A5FB-33C6E89F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51435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BB881E-9243-444C-9DB5-C20F776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5D6875"/>
                </a:solidFill>
              </a:defRPr>
            </a:pPr>
            <a:r>
              <a:rPr sz="1425" b="1">
                <a:solidFill>
                  <a:srgbClr val="5D6875"/>
                </a:solidFill>
              </a:rPr>
              <a:t>initial displacement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CAF8A-0A28-4ACE-B9BF-472DD93F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19525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measure and record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CF6912-35C8-485F-86E2-6ACB1826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4667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release without a push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047B1F-6AD3-4234-956D-29626912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67125"/>
            <a:ext cx="51435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D3750-F034-48AB-AE82-741F07BF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385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5D6875"/>
                </a:solidFill>
              </a:defRPr>
            </a:pPr>
            <a:r>
              <a:rPr sz="1425" b="1">
                <a:solidFill>
                  <a:srgbClr val="5D6875"/>
                </a:solidFill>
              </a:rPr>
              <a:t>position zero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35590-C366-4761-B373-19590599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set before each run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3B734-7D83-4227-BB21-DFB44C2E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52925"/>
            <a:ext cx="4667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prevents avoidable offsets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DC47B5-6CD4-48A5-A9AC-CC3007F0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3621511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65BDBE-FB32-4547-A786-F8010683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COLLECTION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47D20-2828-4EB4-9DFD-E7AE6A4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42–44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2B675-27EB-4A00-AD63-AEBF64E7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A reliable run follows the same sequence every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07BAE-9D66-4D9F-A223-19E4025F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8A489-01D1-40F3-9C53-EB7DF406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81F70-2F44-4938-BFA6-31E53B56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1F99A-EA06-44B1-A960-FF4DD762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C0E20-7F9D-410C-847F-ACABEC13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668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Level track and confirm clear travel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E8AEE-3DCB-4F46-AEBB-A1F54CED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716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A49B6-D480-4A0A-B75D-BCA7E086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335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A7FB7-247B-46FA-A39D-9BF50A3C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33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2A201-FA82-4359-95EB-561DBD9C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668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Pair the cart by serial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8D72A-3DA5-441F-826B-FC322606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384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8AF07-C4D5-42C2-9724-EC0A1624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F3D18-D460-4F03-AC84-B1CF7DF8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D7FDD-4F0F-43AE-B6D6-A69EB0EC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336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Zero position at 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97B99-4D91-4FD3-8211-A9C58819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384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2E827A-CFDF-469D-9AB0-114F8A99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03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EE573-E45B-45AD-89B5-21CF2D97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03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FF4C8B-47D9-44C5-863B-9CB844D8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336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Displace a measured distance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100F85-C3F7-46F6-AF02-FBEF90A8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052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6721B4-47DE-431D-B2C0-B74EC364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3552B5-9089-42B2-92B1-5528C2DD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892F63-B201-4DF0-AB1A-906E1FE4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004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263F"/>
                </a:solidFill>
              </a:defRPr>
            </a:pPr>
            <a:r>
              <a:rPr sz="1425" b="1">
                <a:solidFill>
                  <a:srgbClr val="16263F"/>
                </a:solidFill>
              </a:rPr>
              <a:t>Click Collect, then release without push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DF4688-F534-413D-BD87-07DADF8B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052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96FDA2-52EE-4904-9265-8FA3D48C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B395EE-2FFC-4710-8829-21CB985D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F4567A-80DD-4557-BFEC-47F35C4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004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Record until motion nearly stops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054CBB-6E16-47C7-8903-47AB43CA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20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6EB08F-FD40-4B73-9BA9-492AE0DC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EE47C7-4D6B-41A1-9245-E3ACC400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D16D72-A6BD-49FD-AA26-844C7EDD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672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Export CSV with a descriptive file name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2DCDCA-D829-4488-A9A3-8AEC47A3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5191125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331A1F-607D-4E53-8F16-35C1C11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39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CC5464-E8D2-4E99-BC7F-D5E7B096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39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9A52F0-A761-4DA4-97D5-BCDECE3E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67275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Plot immediately and repeat if needed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472E93-0EB4-42A3-84E2-6176E505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9967654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5F8E5-78D6-4164-B70A-CA984BB8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DATA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A9903-6E66-4EF0-BCFD-2A560B87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44–46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CF890-4EBB-4565-AE11-4CE9E3A2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The analysis code produces four pieces of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D9BA7-C449-4771-971C-3CCAF4BF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3C50A-EE6E-4CE6-A895-47692A07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524125" cy="2857500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5E08E-D007-4D79-9B77-B034120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002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6EAA7-9F5B-4CFA-943E-79E8165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04A1B-3608-4AC5-AF66-F6EBF33F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0512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6263F"/>
                </a:solidFill>
              </a:defRPr>
            </a:pPr>
            <a:r>
              <a:rPr sz="1650" b="1">
                <a:solidFill>
                  <a:srgbClr val="16263F"/>
                </a:solidFill>
              </a:rPr>
              <a:t>clean x(t)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B587E-3A84-4B7C-BC7A-E2873D1F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7662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remove offset and inspect drift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C59F4-15E5-4AD3-8587-54DACABA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809750"/>
            <a:ext cx="2524125" cy="2857500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FF88D-4510-47C0-97E6-A7502E42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9653B-6A8B-4C0D-8B86-0507458F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4C574C-E62B-4544-96B7-BFA806EC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0512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6263F"/>
                </a:solidFill>
              </a:defRPr>
            </a:pPr>
            <a:r>
              <a:rPr sz="1650" b="1">
                <a:solidFill>
                  <a:srgbClr val="16263F"/>
                </a:solidFill>
              </a:rPr>
              <a:t>peak table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B7C80-B4BA-4099-B852-DE63C6FB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7662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times, amplitudes, and cycle spacing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3E5229-22AE-4B95-B277-69817E12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524125" cy="2857500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AFE647-B9B1-4AFA-A9AE-C03F72FE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002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351F1D-CA79-4FB3-BA3B-637E7488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7AD7A-8BD2-4259-BEBA-23F0B64B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0512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6263F"/>
                </a:solidFill>
              </a:defRPr>
            </a:pPr>
            <a:r>
              <a:rPr sz="1650" b="1">
                <a:solidFill>
                  <a:srgbClr val="16263F"/>
                </a:solidFill>
              </a:rPr>
              <a:t>decay estimate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F78C95-D37E-4F93-BDC3-E501D0EE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δ, ζ, and fitted envelope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58A49A-E683-4E54-9FAB-CEC2804A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09750"/>
            <a:ext cx="2524125" cy="2857500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035D1-5D25-4E15-A795-598CD09E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881C1C"/>
          </a:solidFill>
          <a:ln xmlns:a="http://schemas.openxmlformats.org/drawingml/2006/main" w="9525">
            <a:solidFill>
              <a:srgbClr val="881C1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363DE-7867-418D-BCDF-1EE4CB1A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E4E30B-F446-42BF-B0B4-074A3CE4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90512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6263F"/>
                </a:solidFill>
              </a:defRPr>
            </a:pPr>
            <a:r>
              <a:rPr sz="1650" b="1">
                <a:solidFill>
                  <a:srgbClr val="16263F"/>
                </a:solidFill>
              </a:rPr>
              <a:t>frequency check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3D9531-7908-4ED4-AE32-A259476D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7662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D6875"/>
                </a:solidFill>
              </a:defRPr>
            </a:pPr>
            <a:r>
              <a:rPr sz="1350" b="0">
                <a:solidFill>
                  <a:srgbClr val="5D6875"/>
                </a:solidFill>
              </a:rPr>
              <a:t>time-domain f_d and FFT peak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B9686-71C7-44D5-900A-C139B33F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91125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Keep raw CSV files unchanged. The code writes figures and a summary table to a separate results folder.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799520-DE50-423E-9988-B2779C21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4570844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F7142C-0E67-4602-82E3-DB506CD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TROUBLESHOOTING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AC142-58A3-49E4-8EF9-4D66482F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46–48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13D15-384C-403B-A764-D1B8D1D8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Quality checks catch most bad runs before students leave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81685-6FFD-4159-BFD9-AC173BBF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16EED-3902-431C-863D-496AB8DE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5143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D5E7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8BAE3-1E40-45BC-9F78-533BB3CE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461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357A5A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57A5A"/>
                </a:solidFill>
              </a:defRPr>
            </a:pPr>
            <a:r>
              <a:rPr sz="1800" b="1">
                <a:solidFill>
                  <a:srgbClr val="357A5A"/>
                </a:solidFill>
              </a:rPr>
              <a:t>Accept the run when…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5B98-1D3F-430F-9C31-1EDE8F44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A0D0A-68A4-412D-99A6-AD478481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812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several complete cycles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0820A-636B-439C-9AB2-E3ECE21C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04DD1-CEE0-4A49-B274-14FC295E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384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smooth exponential-like envelope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956D4-E21F-4CFC-B78C-E6711809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59ED5-2BC0-4FA6-A846-DB8F86D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956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cart remains on track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FF477-785B-4032-8BCD-277EDF6B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47A69-FD52-430F-ADB4-3CC65340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no clipped or missing samples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D42A1-9CB3-4BBF-8022-FE6B8AA3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A4337-98D5-42BE-ABD5-9E3C6F8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metadata matches file name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540EF3-1E60-4C6F-8AE2-8A327B05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66875"/>
            <a:ext cx="5143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AEEEE"/>
          </a:solidFill>
          <a:ln xmlns:a="http://schemas.openxmlformats.org/drawingml/2006/main" w="9525">
            <a:solidFill>
              <a:srgbClr val="ECD1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56E7E5-867C-4C1D-835C-96E2D4A5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57375"/>
            <a:ext cx="461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881C1C"/>
                </a:solidFill>
              </a:defRPr>
            </a:pPr>
            <a:r>
              <a:rPr sz="1800" b="1">
                <a:solidFill>
                  <a:srgbClr val="881C1C"/>
                </a:solidFill>
              </a:rPr>
              <a:t>Repeat the run when…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D1B703-A6AC-4447-B6EB-01C73F6F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812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574D4-BC6C-4358-85E6-79414750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812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push at release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345F6A-FFCF-43FB-AD05-B2BCF5CC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384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41417D-DC90-4E62-AE7C-A521FDDA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384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spring goes slack or overstretches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F70C75-0F6C-43A0-A8B1-DB279A29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D8F9DE-827C-4A87-9515-E763B145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956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cart or cable rubs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416C17-F392-4572-95AD-B3608C45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CF08F8-A3CE-479A-B2CA-EB1EB415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528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track not level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DFA28E-3DF8-4334-BFD8-13CCFD23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8AB74C-E4AA-4580-B582-659880F5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4162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wrong mass or spring recorded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7B64D0-DF7E-4515-AE45-97D8128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76875"/>
            <a:ext cx="838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881C1C"/>
                </a:solidFill>
              </a:defRPr>
            </a:pPr>
            <a:r>
              <a:rPr sz="1575" b="1">
                <a:solidFill>
                  <a:srgbClr val="881C1C"/>
                </a:solidFill>
              </a:rPr>
              <a:t>Fully analyze one case and show the result to the GTA before leaving.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8F694C-E63D-414E-AFC3-B2878DF5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8262067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6BFBF-9FAB-46DE-A2E1-05A6C512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PRE-LAB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AF8C7-90F4-4D5C-B6BA-612CB6D8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48–49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E50737-780B-44E0-932D-604223CB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Pre‑Lab 4 prepares the decisions made at the bench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FC8D6-3A3F-45C9-826E-B5662214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214AD-6524-4B65-895A-0780E411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D415D-DEA8-45B4-9B61-1AB0C7EF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71625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Identify the industrial role of free-response testing.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26D32-BEDD-44B3-B4BD-B1E66468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5EF99-F9BA-4520-B5A4-7AB46F7C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90750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Calculate ωₙ, ζ, and ω_d for a new spring–mass–damper case.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4F3526-CB70-40F8-9866-393329BA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CA091-D0D9-4101-A824-755FFB56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09875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Predict how mass, stiffness, and damping change the record.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E44C0-D092-4D10-A608-F9A3F3A1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FD21E-F908-4038-A188-EA92E22E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Run provided code for an analytical response and a numerical solution.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E35A9-C2B8-472C-BEBE-91A89F01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48125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D93B4-CC5D-4226-9C31-FF175920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48125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Use provided peak-analysis code to estimate damping and frequency.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E5E43-A59C-4F18-BF65-E893DEEB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228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81C1C"/>
                </a:solidFill>
              </a:defRPr>
            </a:pPr>
            <a:r>
              <a:rPr sz="1725" b="1">
                <a:solidFill>
                  <a:srgbClr val="881C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7F7E1-4E44-4682-BD23-A54FFDB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67250"/>
            <a:ext cx="963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6263F"/>
                </a:solidFill>
              </a:defRPr>
            </a:pPr>
            <a:r>
              <a:rPr sz="1575" b="0">
                <a:solidFill>
                  <a:srgbClr val="16263F"/>
                </a:solidFill>
              </a:rPr>
              <a:t>Submit one Word or PDF file with answers and required figures before your own Lab 4 section begins.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BF1F83-5880-4175-853A-30E00D49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52450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881C1C"/>
                </a:solidFill>
              </a:defRPr>
            </a:pPr>
            <a:r>
              <a:rPr sz="1500" b="1">
                <a:solidFill>
                  <a:srgbClr val="881C1C"/>
                </a:solidFill>
              </a:rPr>
              <a:t>No Python or MATLAB programming is required. Students run supplied code, interpret outputs, and explain the physics.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4B0C95-BDEF-4D1F-B889-FACD355D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9509977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675992-C081-4635-A578-4EF9603A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881C1C"/>
                </a:solidFill>
              </a:defRPr>
            </a:pPr>
            <a:r>
              <a:rPr sz="1050" b="1">
                <a:solidFill>
                  <a:srgbClr val="881C1C"/>
                </a:solidFill>
              </a:rPr>
              <a:t>MIE 402  |  REPORT 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86B43-012C-48E4-94BB-F07102C8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D6875"/>
                </a:solidFill>
              </a:defRPr>
            </a:pPr>
            <a:r>
              <a:rPr sz="975" b="0">
                <a:solidFill>
                  <a:srgbClr val="5D6875"/>
                </a:solidFill>
              </a:rPr>
              <a:t>49–50 min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CFFA4-D7AB-4770-BC10-BD554CE4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1128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11111"/>
                </a:solidFill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Lab 4 evidence feeds the combined Labs 4–5 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15970-3386-4B10-971C-3098140B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57300"/>
            <a:ext cx="1133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6B3FA-DDC9-4BF8-9EEE-4390F008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2638425" cy="2762250"/>
          </a:xfrm>
          <a:prstGeom xmlns:a="http://schemas.openxmlformats.org/drawingml/2006/main" prst="roundRect">
            <a:avLst>
              <a:gd name="adj" fmla="val 433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EEB46-7BE8-4F1E-ACC4-AD099A45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257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3076-F023-4800-B976-5937D28B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21812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define m, k_eq, c, ωₙ, ζ, and assumptions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62649-D46E-4349-B895-CB099294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638425" cy="2762250"/>
          </a:xfrm>
          <a:prstGeom xmlns:a="http://schemas.openxmlformats.org/drawingml/2006/main" prst="roundRect">
            <a:avLst>
              <a:gd name="adj" fmla="val 433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340CD-C56B-40FB-9801-3D06ACCF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2257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F4667-3690-4739-BC1A-72E9A4EC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14625"/>
            <a:ext cx="21812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describe calibration, cases, sampling, and release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BF9277-1184-4A58-841A-72842DAF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2638425" cy="2762250"/>
          </a:xfrm>
          <a:prstGeom xmlns:a="http://schemas.openxmlformats.org/drawingml/2006/main" prst="roundRect">
            <a:avLst>
              <a:gd name="adj" fmla="val 4332"/>
            </a:avLst>
          </a:prstGeom>
          <a:solidFill xmlns:a="http://schemas.openxmlformats.org/drawingml/2006/main">
            <a:srgbClr val="F9ECEC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F73982-765B-4566-A277-B9C3BF1F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2257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Results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8E103-6F6F-4671-A5F1-C55FEE32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1812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time traces, spectra, parameter table, uncertainties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6974A-91B8-4BAE-805D-0B83488E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09750"/>
            <a:ext cx="2638425" cy="2762250"/>
          </a:xfrm>
          <a:prstGeom xmlns:a="http://schemas.openxmlformats.org/drawingml/2006/main" prst="roundRect">
            <a:avLst>
              <a:gd name="adj" fmla="val 433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E9EE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B95F3E-71DF-45D2-B9CA-754ECD75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019300"/>
            <a:ext cx="2257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881C1C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881C1C"/>
                </a:solidFill>
              </a:defRPr>
            </a:pPr>
            <a:r>
              <a:rPr sz="1650" b="1">
                <a:solidFill>
                  <a:srgbClr val="881C1C"/>
                </a:solidFill>
              </a:rPr>
              <a:t>Discussion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59CB5-0EC2-4E32-BD70-A582F347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14625"/>
            <a:ext cx="21812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0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6263F"/>
                </a:solidFill>
              </a:defRPr>
            </a:pPr>
            <a:r>
              <a:rPr sz="1425" b="0">
                <a:solidFill>
                  <a:srgbClr val="16263F"/>
                </a:solidFill>
              </a:rPr>
              <a:t>compare trends with theory and diagnose deviations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28286-4FA6-438D-9154-5404B8AC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6263F"/>
                </a:solidFill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6263F"/>
                </a:solidFill>
              </a:defRPr>
            </a:pPr>
            <a:r>
              <a:rPr sz="1650" b="1">
                <a:solidFill>
                  <a:srgbClr val="16263F"/>
                </a:solidFill>
              </a:rPr>
              <a:t>The central claim should answer: do the measured changes in natural frequency and damping follow the spring–mass–damper model?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16FDD7-69B5-448C-BBF0-6F5D13D2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5D6875"/>
                </a:solidFill>
              </a:defRPr>
            </a:defPPr>
          </a:lstStyle>
          <a:p xmlns:a="http://schemas.openxmlformats.org/drawingml/2006/main">
            <a:pPr algn="r">
              <a:defRPr sz="825" b="0">
                <a:solidFill>
                  <a:srgbClr val="5D6875"/>
                </a:solidFill>
              </a:defRPr>
            </a:pPr>
            <a:r>
              <a:rPr sz="825" b="0">
                <a:solidFill>
                  <a:srgbClr val="5D6875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1312533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2026-10-13T18:23:15.6190000Z</dcterms:created>
  <dcterms:modified xsi:type="dcterms:W3CDTF">2026-10-13T18:23:15.6190000Z</dcterms:modified>
</coreProperties>
</file>